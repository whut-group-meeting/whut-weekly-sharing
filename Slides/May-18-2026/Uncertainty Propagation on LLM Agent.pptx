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7" r:id="rId8"/>
    <p:sldId id="266" r:id="rId9"/>
    <p:sldId id="273" r:id="rId10"/>
    <p:sldId id="274" r:id="rId11"/>
    <p:sldId id="275" r:id="rId12"/>
    <p:sldId id="276" r:id="rId13"/>
    <p:sldId id="262" r:id="rId14"/>
    <p:sldId id="263" r:id="rId15"/>
    <p:sldId id="264" r:id="rId16"/>
    <p:sldId id="265" r:id="rId17"/>
    <p:sldId id="269" r:id="rId18"/>
    <p:sldId id="270" r:id="rId19"/>
    <p:sldId id="271" r:id="rId20"/>
    <p:sldId id="272" r:id="rId21"/>
    <p:sldId id="268"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4320" autoAdjust="0"/>
  </p:normalViewPr>
  <p:slideViewPr>
    <p:cSldViewPr snapToGrid="0" showGuides="1">
      <p:cViewPr varScale="1">
        <p:scale>
          <a:sx n="84" d="100"/>
          <a:sy n="84" d="100"/>
        </p:scale>
        <p:origin x="1374"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2026/5/18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今天我要讲的这篇论文是</a:t>
            </a:r>
            <a:r>
              <a:rPr lang="en-US" altLang="zh-CN" dirty="0"/>
              <a:t>ACL2025</a:t>
            </a:r>
            <a:r>
              <a:rPr lang="zh-CN" altLang="en-US" dirty="0"/>
              <a:t>年的文章，大模型智能体中的不确定性传播</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3781533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论文背景部分</a:t>
            </a:r>
            <a:endParaRPr lang="en-US" altLang="zh-CN" dirty="0"/>
          </a:p>
          <a:p>
            <a:r>
              <a:rPr lang="zh-CN" altLang="en-US" dirty="0"/>
              <a:t>随着大语言模型被集成到多步智能体系统中，它们能够处理复杂的决策任务和更广泛的应用。</a:t>
            </a:r>
          </a:p>
          <a:p>
            <a:r>
              <a:rPr lang="zh-CN" altLang="en-US" dirty="0"/>
              <a:t>然而，虽然基于大模型的智能体越来越有效，但它们的输出并不总是可靠的，这在医疗保健或自主系统等高风险环境中会带来重大风险。</a:t>
            </a:r>
          </a:p>
          <a:p>
            <a:r>
              <a:rPr lang="zh-CN" altLang="en-US" dirty="0"/>
              <a:t>这使得不确定性估计变得至关重要，因为它评估了智能体决策和输出的可靠性。理解和量化不确定性是至关重要的，它可以洞察系统潜在的失败风险，为敏感应用提供安全保障</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然后是面临的挑战</a:t>
            </a:r>
            <a:endParaRPr lang="en-US" altLang="zh-CN" dirty="0"/>
          </a:p>
          <a:p>
            <a:r>
              <a:rPr lang="zh-CN" altLang="en-US" dirty="0"/>
              <a:t>现有方法主要关注最后一步的输出，但是不确定性在多步骤的过程中不是孤立的而是随着时间的推移而积累。</a:t>
            </a:r>
          </a:p>
          <a:p>
            <a:r>
              <a:rPr lang="zh-CN" altLang="en-US" dirty="0"/>
              <a:t>智能体与环境的交互受外部不可控因素影响，仅观察最后一步会导致对结果的过度自信，从而导致不良后果。</a:t>
            </a:r>
            <a:r>
              <a:rPr lang="zh-CN" altLang="en-US" dirty="0">
                <a:sym typeface="+mn-ea"/>
              </a:rPr>
              <a:t>在这个例子中，中间推理过程中的高度不确定性导致其未能考虑隐私法和证据可采性规则等关键法律因素，从而导致了错误的结果。</a:t>
            </a:r>
            <a:endParaRPr lang="zh-CN" altLang="en-US" dirty="0"/>
          </a:p>
          <a:p>
            <a:r>
              <a:rPr lang="zh-CN" altLang="en-US" dirty="0"/>
              <a:t>传统方法（如预测熵、语义熵）多为单步测量，无法捕捉整个推理链条的质量</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本文的主要贡献如下：</a:t>
            </a:r>
            <a:endParaRPr lang="en-US" altLang="zh-CN" dirty="0"/>
          </a:p>
          <a:p>
            <a:r>
              <a:rPr lang="en-US" altLang="zh-CN" dirty="0"/>
              <a:t>SAUP </a:t>
            </a:r>
            <a:r>
              <a:rPr lang="zh-CN" altLang="en-US" dirty="0"/>
              <a:t>框架：提出首个针对多步智能体的情境感知不确定性传播框架</a:t>
            </a:r>
            <a:endParaRPr lang="en-US" altLang="zh-CN" dirty="0"/>
          </a:p>
          <a:p>
            <a:r>
              <a:rPr lang="zh-CN" altLang="en-US" dirty="0"/>
              <a:t>情境权重机制：通过引入情境权重</a:t>
            </a:r>
            <a:r>
              <a:rPr lang="en-US" altLang="zh-CN" dirty="0"/>
              <a:t>，</a:t>
            </a:r>
            <a:r>
              <a:rPr lang="zh-CN" altLang="en-US" dirty="0"/>
              <a:t>动态调整每一步对整体不确定性的贡献</a:t>
            </a:r>
            <a:endParaRPr lang="en-US" altLang="zh-CN" dirty="0"/>
          </a:p>
          <a:p>
            <a:r>
              <a:rPr lang="zh-CN" altLang="en-US" dirty="0"/>
              <a:t>代理指标创新：设计了查询漂移与推理间隙两个指标，用来评估不可直接观测的情境状态</a:t>
            </a:r>
            <a:endParaRPr lang="en-US" altLang="zh-CN" dirty="0"/>
          </a:p>
          <a:p>
            <a:r>
              <a:rPr lang="zh-CN" altLang="en-US" dirty="0"/>
              <a:t>性能突破：在 </a:t>
            </a:r>
            <a:r>
              <a:rPr lang="en-US" altLang="zh-CN" dirty="0" err="1"/>
              <a:t>HotpotQA、StrategyQA</a:t>
            </a:r>
            <a:r>
              <a:rPr lang="en-US" altLang="zh-CN" dirty="0"/>
              <a:t> </a:t>
            </a:r>
            <a:r>
              <a:rPr lang="zh-CN" altLang="en-US" dirty="0"/>
              <a:t>等基准上实现了 </a:t>
            </a:r>
            <a:r>
              <a:rPr lang="en-US" altLang="zh-CN" dirty="0"/>
              <a:t>AUROC</a:t>
            </a:r>
            <a:r>
              <a:rPr lang="zh-CN" altLang="en-US" dirty="0"/>
              <a:t>指标提升高达 20%</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相关工作部分</a:t>
            </a:r>
            <a:endParaRPr lang="en-US" altLang="zh-CN" dirty="0"/>
          </a:p>
          <a:p>
            <a:r>
              <a:rPr lang="zh-CN" altLang="en-US" dirty="0"/>
              <a:t>基于大模型的智能体：</a:t>
            </a:r>
            <a:r>
              <a:rPr lang="zh-CN" altLang="en-US" dirty="0">
                <a:sym typeface="+mn-ea"/>
              </a:rPr>
              <a:t>论文回顾了智能体从早期的被动工具向主动、交互式实体转变的过程，</a:t>
            </a:r>
            <a:r>
              <a:rPr lang="zh-CN" altLang="en-US" dirty="0"/>
              <a:t>从早期的作为具有网页搜索和信息检索能力的智能体到基础性的 </a:t>
            </a:r>
            <a:r>
              <a:rPr lang="en-US" altLang="zh-CN" dirty="0" err="1"/>
              <a:t>ReAct</a:t>
            </a:r>
            <a:r>
              <a:rPr lang="en-US" altLang="zh-CN" dirty="0"/>
              <a:t>（</a:t>
            </a:r>
            <a:r>
              <a:rPr lang="zh-CN" altLang="en-US" dirty="0"/>
              <a:t>思考-行动-观察）框架，随后的研究引入自我反思机制进一步增强了智能体解决问题的能力，最后再到 </a:t>
            </a:r>
            <a:r>
              <a:rPr lang="en-US" altLang="zh-CN" dirty="0" err="1"/>
              <a:t>AutoGen</a:t>
            </a:r>
            <a:r>
              <a:rPr lang="en-US" altLang="zh-CN" dirty="0"/>
              <a:t> </a:t>
            </a:r>
            <a:r>
              <a:rPr lang="zh-CN" altLang="en-US" dirty="0"/>
              <a:t>等多智能体协作框架。</a:t>
            </a:r>
          </a:p>
          <a:p>
            <a:r>
              <a:rPr lang="zh-CN" altLang="en-US" dirty="0"/>
              <a:t>大模型中的不确定性：</a:t>
            </a:r>
            <a:r>
              <a:rPr lang="zh-CN" altLang="en-US" dirty="0">
                <a:sym typeface="+mn-ea"/>
              </a:rPr>
              <a:t>尽管大模型在各个领域表现出色，但针对不确定性估计仍然是一个未被充分探索的领域，</a:t>
            </a:r>
            <a:r>
              <a:rPr lang="zh-CN" altLang="en-US" dirty="0"/>
              <a:t>目前的技术主要集中在单步输出的不确定性上，基于 </a:t>
            </a:r>
            <a:r>
              <a:rPr lang="en-US" altLang="zh-CN" dirty="0"/>
              <a:t>Token </a:t>
            </a:r>
            <a:r>
              <a:rPr lang="zh-CN" altLang="en-US" dirty="0"/>
              <a:t>概率的预测熵和改进模型校准的方法，提出语义熵来考虑语言等效性，基于大模型自评估的 </a:t>
            </a:r>
            <a:r>
              <a:rPr lang="en-US" altLang="zh-CN" dirty="0"/>
              <a:t>P(True) </a:t>
            </a:r>
            <a:r>
              <a:rPr lang="zh-CN" altLang="en-US" dirty="0"/>
              <a:t>指标使模型能够通过</a:t>
            </a:r>
            <a:r>
              <a:rPr lang="en-US" altLang="zh-CN" dirty="0"/>
              <a:t>API</a:t>
            </a:r>
            <a:r>
              <a:rPr lang="zh-CN" altLang="en-US" dirty="0"/>
              <a:t>估算自身的置信度。</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我们提出了</a:t>
            </a:r>
            <a:r>
              <a:rPr lang="en-US" altLang="zh-CN" dirty="0"/>
              <a:t>SAUP</a:t>
            </a:r>
            <a:r>
              <a:rPr lang="zh-CN" altLang="en-US" dirty="0"/>
              <a:t>框架，其目标是通过综合考虑每个步骤的不确定性和相应的情境权重权重来准确估计整体</a:t>
            </a:r>
            <a:r>
              <a:rPr lang="en-US" altLang="zh-CN" dirty="0"/>
              <a:t>Agent</a:t>
            </a:r>
            <a:r>
              <a:rPr lang="zh-CN" altLang="en-US" dirty="0"/>
              <a:t>的不确定性</a:t>
            </a:r>
            <a:endParaRPr lang="en-US" altLang="zh-CN" dirty="0"/>
          </a:p>
          <a:p>
            <a:r>
              <a:rPr lang="zh-CN" altLang="en-US" dirty="0"/>
              <a:t>这是框架的概览图</a:t>
            </a:r>
            <a:endParaRPr lang="en-US" altLang="zh-CN" dirty="0"/>
          </a:p>
          <a:p>
            <a:r>
              <a:rPr lang="zh-CN" altLang="en-US" dirty="0"/>
              <a:t>上面黑色框</a:t>
            </a:r>
            <a:r>
              <a:rPr lang="zh-CN" altLang="en-US" sz="1200" b="0" i="0" kern="1200" dirty="0">
                <a:solidFill>
                  <a:schemeClr val="tx1"/>
                </a:solidFill>
                <a:effectLst/>
                <a:latin typeface="+mn-lt"/>
                <a:ea typeface="+mn-ea"/>
                <a:cs typeface="+mn-cs"/>
              </a:rPr>
              <a:t>展示了智能体解决问题的常规生命周期，文中采用了</a:t>
            </a:r>
            <a:r>
              <a:rPr lang="en-US" altLang="zh-CN" sz="1200" b="1" i="0" kern="1200" dirty="0" err="1">
                <a:solidFill>
                  <a:schemeClr val="tx1"/>
                </a:solidFill>
                <a:effectLst/>
                <a:latin typeface="+mn-lt"/>
                <a:ea typeface="+mn-ea"/>
                <a:cs typeface="+mn-cs"/>
              </a:rPr>
              <a:t>ReAct</a:t>
            </a:r>
            <a:r>
              <a:rPr lang="zh-CN" altLang="en-US" sz="1200" b="0" i="0" kern="1200" dirty="0">
                <a:solidFill>
                  <a:schemeClr val="tx1"/>
                </a:solidFill>
                <a:effectLst/>
                <a:latin typeface="+mn-lt"/>
                <a:ea typeface="+mn-ea"/>
                <a:cs typeface="+mn-cs"/>
              </a:rPr>
              <a:t>的工作流</a:t>
            </a:r>
            <a:endParaRPr lang="en-US" altLang="zh-CN" sz="1200" b="0" i="0" kern="1200" dirty="0">
              <a:solidFill>
                <a:schemeClr val="tx1"/>
              </a:solidFill>
              <a:effectLst/>
              <a:latin typeface="+mn-lt"/>
              <a:ea typeface="+mn-ea"/>
              <a:cs typeface="+mn-cs"/>
            </a:endParaRPr>
          </a:p>
          <a:p>
            <a:r>
              <a:rPr lang="zh-CN" altLang="en-US" dirty="0"/>
              <a:t>然后不确定性传播的过程用红色箭头表示，对于智能体中的每个步骤，使用现成的方法来估计该步骤的不确定性也就是这个单步不确定性估算，同时也会产生一个全局的查询漂移</a:t>
            </a:r>
            <a:r>
              <a:rPr lang="en-US" altLang="zh-CN" dirty="0"/>
              <a:t>Da</a:t>
            </a:r>
            <a:r>
              <a:rPr lang="zh-CN" altLang="en-US" dirty="0"/>
              <a:t>（</a:t>
            </a:r>
            <a:r>
              <a:rPr lang="zh-CN" altLang="en-US" sz="1200" b="0" i="0" kern="1200" dirty="0">
                <a:solidFill>
                  <a:schemeClr val="tx1"/>
                </a:solidFill>
                <a:effectLst/>
                <a:latin typeface="+mn-lt"/>
                <a:ea typeface="+mn-ea"/>
                <a:cs typeface="+mn-cs"/>
              </a:rPr>
              <a:t>衡量当前的推理轨迹与原始问题之间的语义偏差</a:t>
            </a:r>
            <a:r>
              <a:rPr lang="zh-CN" altLang="en-US" dirty="0"/>
              <a:t>）和一个局部的推理间隙</a:t>
            </a:r>
            <a:r>
              <a:rPr lang="en-US" altLang="zh-CN" dirty="0"/>
              <a:t>Do</a:t>
            </a:r>
            <a:r>
              <a:rPr lang="zh-CN" altLang="en-US" dirty="0"/>
              <a:t>（</a:t>
            </a:r>
            <a:r>
              <a:rPr lang="zh-CN" altLang="en-US" sz="1200" b="0" i="0" kern="1200" dirty="0">
                <a:solidFill>
                  <a:schemeClr val="tx1"/>
                </a:solidFill>
                <a:effectLst/>
                <a:latin typeface="+mn-lt"/>
                <a:ea typeface="+mn-ea"/>
                <a:cs typeface="+mn-cs"/>
              </a:rPr>
              <a:t>衡量单步内“思考”与“观察结果”之间的不一致性</a:t>
            </a:r>
            <a:r>
              <a:rPr lang="zh-CN" altLang="en-US" dirty="0"/>
              <a:t>）。这两个分量共同形成连续状态，并将其输入</a:t>
            </a:r>
            <a:r>
              <a:rPr lang="en-US" altLang="zh-CN" dirty="0"/>
              <a:t>CHMM</a:t>
            </a:r>
            <a:r>
              <a:rPr lang="zh-CN" altLang="en-US" dirty="0"/>
              <a:t>（连续隐马尔可夫模型）对该步操作进行情境权重预测。</a:t>
            </a:r>
            <a:r>
              <a:rPr lang="zh-CN" altLang="en-US" sz="1200" b="0" i="0" kern="1200" dirty="0">
                <a:solidFill>
                  <a:schemeClr val="tx1"/>
                </a:solidFill>
                <a:effectLst/>
                <a:latin typeface="+mn-lt"/>
                <a:ea typeface="+mn-ea"/>
                <a:cs typeface="+mn-cs"/>
              </a:rPr>
              <a:t>最后，将所有步骤的单步不确定性 </a:t>
            </a:r>
            <a:r>
              <a:rPr lang="en-US" altLang="zh-CN" sz="1200" b="0" i="1" kern="1200" dirty="0">
                <a:solidFill>
                  <a:schemeClr val="tx1"/>
                </a:solidFill>
                <a:effectLst/>
                <a:latin typeface="+mn-lt"/>
                <a:ea typeface="+mn-ea"/>
                <a:cs typeface="+mn-cs"/>
              </a:rPr>
              <a:t>Ui</a:t>
            </a:r>
            <a:r>
              <a:rPr lang="zh-CN" altLang="en-US" sz="1200" b="0" i="0" kern="1200" dirty="0">
                <a:solidFill>
                  <a:schemeClr val="tx1"/>
                </a:solidFill>
                <a:effectLst/>
                <a:latin typeface="+mn-lt"/>
                <a:ea typeface="+mn-ea"/>
                <a:cs typeface="+mn-cs"/>
              </a:rPr>
              <a:t>​ 与对应的权重 </a:t>
            </a:r>
            <a:r>
              <a:rPr lang="en-US" altLang="zh-CN" sz="1200" b="0" i="1" kern="1200" dirty="0">
                <a:solidFill>
                  <a:schemeClr val="tx1"/>
                </a:solidFill>
                <a:effectLst/>
                <a:latin typeface="+mn-lt"/>
                <a:ea typeface="+mn-ea"/>
                <a:cs typeface="+mn-cs"/>
              </a:rPr>
              <a:t>Wi</a:t>
            </a:r>
            <a:r>
              <a:rPr lang="zh-CN" altLang="en-US" sz="1200" b="0" i="0" kern="1200" dirty="0">
                <a:solidFill>
                  <a:schemeClr val="tx1"/>
                </a:solidFill>
                <a:effectLst/>
                <a:latin typeface="+mn-lt"/>
                <a:ea typeface="+mn-ea"/>
                <a:cs typeface="+mn-cs"/>
              </a:rPr>
              <a:t>​ 结合，通过加权聚合公式（如 </a:t>
            </a:r>
            <a:r>
              <a:rPr lang="en-US" altLang="zh-CN" sz="1200" b="0" i="0" kern="1200" dirty="0">
                <a:solidFill>
                  <a:schemeClr val="tx1"/>
                </a:solidFill>
                <a:effectLst/>
                <a:latin typeface="+mn-lt"/>
                <a:ea typeface="+mn-ea"/>
                <a:cs typeface="+mn-cs"/>
              </a:rPr>
              <a:t>RMS</a:t>
            </a:r>
            <a:r>
              <a:rPr lang="zh-CN" altLang="en-US" sz="1200" b="0" i="0" kern="1200" dirty="0">
                <a:solidFill>
                  <a:schemeClr val="tx1"/>
                </a:solidFill>
                <a:effectLst/>
                <a:latin typeface="+mn-lt"/>
                <a:ea typeface="+mn-ea"/>
                <a:cs typeface="+mn-cs"/>
              </a:rPr>
              <a:t>）计算出智能体整体的不确定性得分。</a:t>
            </a:r>
            <a:endParaRPr lang="en-US" altLang="zh-CN" sz="1200" b="0" i="0" kern="1200" dirty="0">
              <a:solidFill>
                <a:schemeClr val="tx1"/>
              </a:solidFill>
              <a:effectLst/>
              <a:latin typeface="+mn-lt"/>
              <a:ea typeface="+mn-ea"/>
              <a:cs typeface="+mn-cs"/>
            </a:endParaRPr>
          </a:p>
          <a:p>
            <a:endParaRPr lang="en-US" altLang="zh-CN" dirty="0"/>
          </a:p>
          <a:p>
            <a:r>
              <a:rPr lang="zh-CN" altLang="en-US" dirty="0"/>
              <a:t>然后这个框架论文中分为了三个部分进行详细说明，分别是这个加权不确定性传播，单步不确定性估算，</a:t>
            </a:r>
            <a:r>
              <a:rPr lang="en-US" altLang="zh-CN" dirty="0"/>
              <a:t>agent</a:t>
            </a:r>
            <a:r>
              <a:rPr lang="zh-CN" altLang="en-US" dirty="0"/>
              <a:t>的不确定性估算也就是</a:t>
            </a:r>
            <a:r>
              <a:rPr lang="zh-CN" altLang="en-US" sz="1200" b="0" i="0" kern="1200" dirty="0">
                <a:solidFill>
                  <a:schemeClr val="tx1"/>
                </a:solidFill>
                <a:effectLst/>
                <a:latin typeface="+mn-lt"/>
                <a:ea typeface="+mn-ea"/>
                <a:cs typeface="+mn-cs"/>
              </a:rPr>
              <a:t>情境权重估计，接下来我会详细讲每部分的内容</a:t>
            </a:r>
            <a:endParaRPr lang="zh-CN" altLang="en-US" b="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首先是加权不确定性传播</a:t>
            </a:r>
            <a:endParaRPr lang="en-US" altLang="zh-CN" dirty="0"/>
          </a:p>
          <a:p>
            <a:r>
              <a:rPr lang="zh-CN" altLang="en-US" dirty="0"/>
              <a:t>仅考虑最后一步的不确定性作为整体的不确定性是不合理的，也是不全面的。我们应该综合考虑和传播所有步骤的不确定性。</a:t>
            </a:r>
            <a:endParaRPr lang="en-US" altLang="zh-CN" dirty="0"/>
          </a:p>
          <a:p>
            <a:r>
              <a:rPr lang="zh-CN" altLang="en-US" dirty="0"/>
              <a:t>基于信息流的直观逻辑和实验观察，我们识别出不同步骤的不确定性对总体不确定性的贡献并不是均匀的。因此还需要针对总体不确定性设计更全面的加权聚合方案</a:t>
            </a:r>
            <a:endParaRPr lang="en-US" altLang="zh-CN" dirty="0"/>
          </a:p>
          <a:p>
            <a:r>
              <a:rPr lang="zh-CN" altLang="en-US" dirty="0"/>
              <a:t>这里我们选择</a:t>
            </a:r>
            <a:r>
              <a:rPr lang="en-US" altLang="zh-CN" dirty="0"/>
              <a:t>RMS</a:t>
            </a:r>
            <a:r>
              <a:rPr lang="zh-CN" altLang="en-US" dirty="0"/>
              <a:t>作为传播方法。其中</a:t>
            </a:r>
            <a:r>
              <a:rPr lang="en-US" altLang="zh-CN" dirty="0"/>
              <a:t>Ui</a:t>
            </a:r>
            <a:r>
              <a:rPr lang="zh-CN" altLang="en-US" dirty="0"/>
              <a:t>就是单步中的不确定性，我们将当前步骤的不确定性对总体不确定性的贡献，作为情境权重，也就是这里的</a:t>
            </a:r>
            <a:r>
              <a:rPr lang="en-US" altLang="zh-CN" dirty="0"/>
              <a:t>Wi</a:t>
            </a:r>
            <a:r>
              <a:rPr lang="zh-CN" altLang="en-US" dirty="0"/>
              <a:t>。情境权重由偏离合适的逻辑路径和智能体与环境之间的交互质量等因素决定，这些因素会影响最终答案的正确性。</a:t>
            </a:r>
            <a:endParaRPr lang="en-US" altLang="zh-CN" dirty="0"/>
          </a:p>
          <a:p>
            <a:endParaRPr lang="en-US" altLang="zh-CN" dirty="0"/>
          </a:p>
          <a:p>
            <a:r>
              <a:rPr lang="zh-CN" altLang="en-US" dirty="0"/>
              <a:t>在接下来，我们将介绍单步对应的不确定性</a:t>
            </a:r>
            <a:r>
              <a:rPr lang="en-US" altLang="zh-CN" dirty="0"/>
              <a:t>Ui</a:t>
            </a:r>
            <a:r>
              <a:rPr lang="zh-CN" altLang="en-US" dirty="0"/>
              <a:t>和情境权重</a:t>
            </a:r>
            <a:r>
              <a:rPr lang="en-US" altLang="zh-CN" dirty="0"/>
              <a:t>Wi</a:t>
            </a:r>
            <a:r>
              <a:rPr lang="zh-CN" altLang="en-US" dirty="0"/>
              <a:t>的计算方法。</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1148001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这是单步不确定性估算</a:t>
            </a:r>
            <a:endParaRPr lang="en-US" altLang="zh-CN" dirty="0"/>
          </a:p>
          <a:p>
            <a:r>
              <a:rPr lang="zh-CN" altLang="en-US" dirty="0"/>
              <a:t>我们的</a:t>
            </a:r>
            <a:r>
              <a:rPr lang="en-US" altLang="zh-CN" dirty="0"/>
              <a:t>SAUP</a:t>
            </a:r>
            <a:r>
              <a:rPr lang="zh-CN" altLang="en-US" dirty="0"/>
              <a:t>是建立在这些单步不确定性估计方法的基础上的。在实际实现中，我们使用了归一化熵，并对其进行了一些修改以适应</a:t>
            </a:r>
            <a:r>
              <a:rPr lang="en-US" altLang="zh-CN" dirty="0"/>
              <a:t>React Agent</a:t>
            </a:r>
            <a:r>
              <a:rPr lang="zh-CN" altLang="en-US" dirty="0"/>
              <a:t>的特点。</a:t>
            </a:r>
            <a:endParaRPr lang="en-US" altLang="zh-CN" dirty="0"/>
          </a:p>
          <a:p>
            <a:r>
              <a:rPr lang="zh-CN" altLang="en-US" dirty="0"/>
              <a:t>对于第</a:t>
            </a:r>
            <a:r>
              <a:rPr lang="en-US" altLang="zh-CN" dirty="0"/>
              <a:t>n</a:t>
            </a:r>
            <a:r>
              <a:rPr lang="zh-CN" altLang="en-US" dirty="0"/>
              <a:t>步和问题</a:t>
            </a:r>
            <a:r>
              <a:rPr lang="en-US" altLang="zh-CN" dirty="0"/>
              <a:t>Q</a:t>
            </a:r>
            <a:r>
              <a:rPr lang="zh-CN" altLang="en-US" dirty="0"/>
              <a:t>，我们将</a:t>
            </a:r>
            <a:r>
              <a:rPr lang="en-US" altLang="zh-CN" dirty="0"/>
              <a:t>Agent</a:t>
            </a:r>
            <a:r>
              <a:rPr lang="zh-CN" altLang="en-US" dirty="0"/>
              <a:t>的</a:t>
            </a:r>
            <a:r>
              <a:rPr lang="en-US" altLang="zh-CN" dirty="0"/>
              <a:t>thinking</a:t>
            </a:r>
            <a:r>
              <a:rPr lang="zh-CN" altLang="en-US" dirty="0"/>
              <a:t>表示为</a:t>
            </a:r>
            <a:r>
              <a:rPr lang="en-US" altLang="zh-CN" dirty="0"/>
              <a:t>Tn</a:t>
            </a:r>
            <a:r>
              <a:rPr lang="zh-CN" altLang="en-US" dirty="0"/>
              <a:t>，相应的</a:t>
            </a:r>
            <a:r>
              <a:rPr lang="en-US" altLang="zh-CN" dirty="0"/>
              <a:t>action</a:t>
            </a:r>
            <a:r>
              <a:rPr lang="zh-CN" altLang="en-US" dirty="0"/>
              <a:t>表示为</a:t>
            </a:r>
            <a:r>
              <a:rPr lang="en-US" altLang="zh-CN" dirty="0"/>
              <a:t>An</a:t>
            </a:r>
            <a:r>
              <a:rPr lang="zh-CN" altLang="en-US" dirty="0"/>
              <a:t>。</a:t>
            </a:r>
            <a:endParaRPr lang="en-US" altLang="zh-CN" dirty="0"/>
          </a:p>
          <a:p>
            <a:r>
              <a:rPr lang="zh-CN" altLang="en-US" dirty="0"/>
              <a:t>观察</a:t>
            </a:r>
            <a:r>
              <a:rPr lang="en-US" altLang="zh-CN" dirty="0"/>
              <a:t>On</a:t>
            </a:r>
            <a:r>
              <a:rPr lang="zh-CN" altLang="en-US" dirty="0"/>
              <a:t>是通过动作</a:t>
            </a:r>
            <a:r>
              <a:rPr lang="en-US" altLang="zh-CN" dirty="0"/>
              <a:t>An</a:t>
            </a:r>
            <a:r>
              <a:rPr lang="zh-CN" altLang="en-US" dirty="0"/>
              <a:t>从环境中获得的信息。</a:t>
            </a:r>
            <a:endParaRPr lang="en-US" altLang="zh-CN" dirty="0"/>
          </a:p>
          <a:p>
            <a:r>
              <a:rPr lang="zh-CN" altLang="en-US" dirty="0"/>
              <a:t>这个</a:t>
            </a:r>
            <a:r>
              <a:rPr lang="en-US" altLang="zh-CN" dirty="0" err="1"/>
              <a:t>Lθ</a:t>
            </a:r>
            <a:r>
              <a:rPr lang="zh-CN" altLang="en-US" dirty="0"/>
              <a:t>表示大模型，其中</a:t>
            </a:r>
            <a:r>
              <a:rPr lang="en-US" altLang="zh-CN" dirty="0"/>
              <a:t>Zn-1</a:t>
            </a:r>
            <a:r>
              <a:rPr lang="zh-CN" altLang="en-US" dirty="0"/>
              <a:t>表示前</a:t>
            </a:r>
            <a:r>
              <a:rPr lang="en-US" altLang="zh-CN" dirty="0"/>
              <a:t>n-1</a:t>
            </a:r>
            <a:r>
              <a:rPr lang="zh-CN" altLang="en-US" dirty="0"/>
              <a:t>步的轨迹，表示为这样，大模型会根据问题和前</a:t>
            </a:r>
            <a:r>
              <a:rPr lang="en-US" altLang="zh-CN" dirty="0"/>
              <a:t>n-1</a:t>
            </a:r>
            <a:r>
              <a:rPr lang="zh-CN" altLang="en-US" dirty="0"/>
              <a:t>步的轨迹输出第</a:t>
            </a:r>
            <a:r>
              <a:rPr lang="en-US" altLang="zh-CN" dirty="0"/>
              <a:t>n</a:t>
            </a:r>
            <a:r>
              <a:rPr lang="zh-CN" altLang="en-US" dirty="0"/>
              <a:t>步的</a:t>
            </a:r>
            <a:r>
              <a:rPr lang="en-US" altLang="zh-CN" dirty="0"/>
              <a:t>T</a:t>
            </a:r>
            <a:r>
              <a:rPr lang="zh-CN" altLang="en-US" dirty="0"/>
              <a:t>和</a:t>
            </a:r>
            <a:r>
              <a:rPr lang="en-US" altLang="zh-CN" dirty="0"/>
              <a:t>A</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3885333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7CE0D-50F4-125C-C959-6FB5E4741F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EE8B74-3A57-9663-D6B0-302D757D57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FDFE3A-8474-8246-182D-120BF6E4452C}"/>
              </a:ext>
            </a:extLst>
          </p:cNvPr>
          <p:cNvSpPr>
            <a:spLocks noGrp="1"/>
          </p:cNvSpPr>
          <p:nvPr>
            <p:ph type="body" idx="1"/>
          </p:nvPr>
        </p:nvSpPr>
        <p:spPr/>
        <p:txBody>
          <a:bodyPr/>
          <a:lstStyle/>
          <a:p>
            <a:r>
              <a:rPr lang="zh-CN" altLang="en-US" dirty="0"/>
              <a:t>将单步不确定性</a:t>
            </a:r>
            <a:r>
              <a:rPr lang="en-US" altLang="zh-CN" dirty="0"/>
              <a:t>Un = </a:t>
            </a:r>
            <a:r>
              <a:rPr lang="en-US" altLang="zh-CN" dirty="0" err="1"/>
              <a:t>UnT</a:t>
            </a:r>
            <a:r>
              <a:rPr lang="en-US" altLang="zh-CN" dirty="0"/>
              <a:t> + </a:t>
            </a:r>
            <a:r>
              <a:rPr lang="en-US" altLang="zh-CN" dirty="0" err="1"/>
              <a:t>UnA</a:t>
            </a:r>
            <a:r>
              <a:rPr lang="zh-CN" altLang="en-US" dirty="0"/>
              <a:t>，这样设计为思考不确定性</a:t>
            </a:r>
            <a:r>
              <a:rPr lang="en-US" altLang="zh-CN" dirty="0" err="1"/>
              <a:t>UnT</a:t>
            </a:r>
            <a:r>
              <a:rPr lang="zh-CN" altLang="en-US" dirty="0"/>
              <a:t>和动作不确定性</a:t>
            </a:r>
            <a:r>
              <a:rPr lang="en-US" altLang="zh-CN" dirty="0" err="1"/>
              <a:t>UnA</a:t>
            </a:r>
            <a:r>
              <a:rPr lang="zh-CN" altLang="en-US" dirty="0"/>
              <a:t>的组合。</a:t>
            </a:r>
            <a:endParaRPr lang="en-US" altLang="zh-CN" dirty="0"/>
          </a:p>
          <a:p>
            <a:r>
              <a:rPr lang="zh-CN" altLang="en-US" dirty="0"/>
              <a:t>在这里，我们考虑带有长度归一化的预测熵来估计思维不确定性和动作不确定性，具体如下：其中</a:t>
            </a:r>
            <a:r>
              <a:rPr lang="en-US" altLang="zh-CN" dirty="0" err="1"/>
              <a:t>UnR</a:t>
            </a:r>
            <a:r>
              <a:rPr lang="zh-CN" altLang="en-US" dirty="0"/>
              <a:t>指的是第</a:t>
            </a:r>
            <a:r>
              <a:rPr lang="en-US" altLang="zh-CN" dirty="0"/>
              <a:t>n</a:t>
            </a:r>
            <a:r>
              <a:rPr lang="zh-CN" altLang="en-US" dirty="0"/>
              <a:t>步响应的不确定性得分，</a:t>
            </a:r>
            <a:r>
              <a:rPr lang="en-US" altLang="zh-CN" dirty="0"/>
              <a:t>R</a:t>
            </a:r>
            <a:r>
              <a:rPr lang="zh-CN" altLang="en-US" dirty="0"/>
              <a:t>代表上述思考不确定性和动作不确定性的一种，</a:t>
            </a:r>
            <a:r>
              <a:rPr lang="en-US" altLang="zh-CN" dirty="0"/>
              <a:t>H</a:t>
            </a:r>
            <a:r>
              <a:rPr lang="zh-CN" altLang="en-US" dirty="0"/>
              <a:t>是一个熵函数，</a:t>
            </a:r>
            <a:r>
              <a:rPr lang="en-US" altLang="zh-CN" dirty="0"/>
              <a:t>ai</a:t>
            </a:r>
            <a:r>
              <a:rPr lang="zh-CN" altLang="en-US" dirty="0"/>
              <a:t>是</a:t>
            </a:r>
            <a:r>
              <a:rPr lang="en-US" altLang="zh-CN" dirty="0"/>
              <a:t>token</a:t>
            </a:r>
            <a:r>
              <a:rPr lang="zh-CN" altLang="en-US" dirty="0"/>
              <a:t>的数量。</a:t>
            </a:r>
            <a:endParaRPr lang="en-US" altLang="zh-CN" dirty="0"/>
          </a:p>
          <a:p>
            <a:r>
              <a:rPr lang="zh-CN" altLang="en-US" dirty="0"/>
              <a:t>通过这种方式计算思考不确定性和动作不确定性，然后将两者组合作为这步的不确定性。</a:t>
            </a:r>
          </a:p>
        </p:txBody>
      </p:sp>
      <p:sp>
        <p:nvSpPr>
          <p:cNvPr id="4" name="灯片编号占位符 3">
            <a:extLst>
              <a:ext uri="{FF2B5EF4-FFF2-40B4-BE49-F238E27FC236}">
                <a16:creationId xmlns:a16="http://schemas.microsoft.com/office/drawing/2014/main" id="{9F9386C8-B748-CF83-0A88-468AE729EAFB}"/>
              </a:ext>
            </a:extLst>
          </p:cNvPr>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265307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73CF0-2ABF-53AF-2553-3934874423B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47DA12-F7CB-0326-BF31-E0049708CF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58DA8A-7B50-63ED-6E17-5CE025F5C553}"/>
              </a:ext>
            </a:extLst>
          </p:cNvPr>
          <p:cNvSpPr>
            <a:spLocks noGrp="1"/>
          </p:cNvSpPr>
          <p:nvPr>
            <p:ph type="body" idx="1"/>
          </p:nvPr>
        </p:nvSpPr>
        <p:spPr/>
        <p:txBody>
          <a:bodyPr/>
          <a:lstStyle/>
          <a:p>
            <a:r>
              <a:rPr lang="zh-CN" altLang="en-US" dirty="0"/>
              <a:t>这是</a:t>
            </a:r>
            <a:r>
              <a:rPr lang="en-US" altLang="zh-CN" dirty="0"/>
              <a:t>agent</a:t>
            </a:r>
            <a:r>
              <a:rPr lang="zh-CN" altLang="en-US" dirty="0"/>
              <a:t>不确定性估算，也就是情境权重估算部分</a:t>
            </a:r>
            <a:endParaRPr lang="en-US" altLang="zh-CN" dirty="0"/>
          </a:p>
          <a:p>
            <a:r>
              <a:rPr lang="zh-CN" altLang="en-US" dirty="0"/>
              <a:t>在多步推理过程中为每一步的不确定性</a:t>
            </a:r>
            <a:r>
              <a:rPr lang="en-US" altLang="zh-CN" dirty="0"/>
              <a:t>Ui</a:t>
            </a:r>
            <a:r>
              <a:rPr lang="zh-CN" altLang="en-US" dirty="0"/>
              <a:t>分配权重</a:t>
            </a:r>
            <a:r>
              <a:rPr lang="en-US" altLang="zh-CN" dirty="0"/>
              <a:t>Wi</a:t>
            </a:r>
            <a:r>
              <a:rPr lang="zh-CN" altLang="en-US" dirty="0"/>
              <a:t>，对于准确的总体不确定性估算是至关重要的。而分配权重又和当前智能体所处的情境有关，因此有必要对其所处的情境状态进行恰当的评估。</a:t>
            </a:r>
            <a:endParaRPr lang="en-US" altLang="zh-CN" dirty="0"/>
          </a:p>
          <a:p>
            <a:r>
              <a:rPr lang="zh-CN" altLang="en-US" dirty="0"/>
              <a:t>由于情境状态是不可直接观测的，因此使用代理指标来对其进行近似。</a:t>
            </a:r>
            <a:endParaRPr lang="en-US" altLang="zh-CN" dirty="0"/>
          </a:p>
          <a:p>
            <a:r>
              <a:rPr lang="zh-CN" altLang="en-US" dirty="0"/>
              <a:t>为了解决这个局限性，我们提出</a:t>
            </a:r>
            <a:r>
              <a:rPr lang="en-US" altLang="zh-CN" dirty="0"/>
              <a:t>SAUP - HMMD</a:t>
            </a:r>
            <a:r>
              <a:rPr lang="zh-CN" altLang="en-US" dirty="0"/>
              <a:t>利用隐马尔可夫模型</a:t>
            </a:r>
            <a:r>
              <a:rPr lang="en-US" altLang="zh-CN" dirty="0"/>
              <a:t>( HMMs ) </a:t>
            </a:r>
            <a:r>
              <a:rPr lang="zh-CN" altLang="en-US" dirty="0"/>
              <a:t>来学习逐步转移和自适应加权观测值</a:t>
            </a:r>
            <a:endParaRPr lang="en-US" altLang="zh-CN" dirty="0"/>
          </a:p>
        </p:txBody>
      </p:sp>
      <p:sp>
        <p:nvSpPr>
          <p:cNvPr id="4" name="灯片编号占位符 3">
            <a:extLst>
              <a:ext uri="{FF2B5EF4-FFF2-40B4-BE49-F238E27FC236}">
                <a16:creationId xmlns:a16="http://schemas.microsoft.com/office/drawing/2014/main" id="{7E1CC5EA-826C-9878-ECFC-430A2A4A2579}"/>
              </a:ext>
            </a:extLst>
          </p:cNvPr>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133799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CEA06-A602-3977-F5B7-93D35AAED8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05AB43-ECF3-8A3F-56A6-99D053DDE2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BED993-16A3-B087-C1E2-8D6FA6CA3A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将 </a:t>
            </a:r>
            <a:r>
              <a:rPr lang="en-US" altLang="zh-CN" dirty="0"/>
              <a:t>HMM </a:t>
            </a:r>
            <a:r>
              <a:rPr lang="zh-CN" altLang="en-US" dirty="0"/>
              <a:t>扩展到连续观察域， 就是</a:t>
            </a:r>
            <a:r>
              <a:rPr lang="en-US" altLang="zh-CN" dirty="0"/>
              <a:t>CHMM</a:t>
            </a:r>
            <a:r>
              <a:rPr lang="zh-CN" altLang="en-US" dirty="0"/>
              <a:t>，我们采用 </a:t>
            </a:r>
            <a:r>
              <a:rPr lang="en-US" altLang="zh-CN" dirty="0"/>
              <a:t>CHMM </a:t>
            </a:r>
            <a:r>
              <a:rPr lang="zh-CN" altLang="en-US" dirty="0"/>
              <a:t>作为 </a:t>
            </a:r>
            <a:r>
              <a:rPr lang="en-US" altLang="zh-CN" dirty="0"/>
              <a:t>HMMD </a:t>
            </a:r>
            <a:r>
              <a:rPr lang="zh-CN" altLang="en-US" dirty="0"/>
              <a:t>的骨干模型</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我们定义了三种离散的隐藏状态：正确轨迹、中等偏离轨迹和高度偏离轨迹，捕捉推理过程中不同程度的偏差。</a:t>
            </a:r>
          </a:p>
          <a:p>
            <a:r>
              <a:rPr lang="zh-CN" altLang="en-US" dirty="0"/>
              <a:t>为了系统地量化这些偏差，我们引入了两个关键的距离指标：</a:t>
            </a:r>
            <a:endParaRPr lang="en-US" altLang="zh-CN" dirty="0"/>
          </a:p>
          <a:p>
            <a:r>
              <a:rPr lang="zh-CN" altLang="en-US" sz="1200" b="1" i="0" kern="1200" dirty="0">
                <a:solidFill>
                  <a:schemeClr val="tx1"/>
                </a:solidFill>
                <a:effectLst/>
                <a:latin typeface="+mn-lt"/>
                <a:ea typeface="+mn-ea"/>
                <a:cs typeface="+mn-cs"/>
              </a:rPr>
              <a:t>查询漂移 </a:t>
            </a:r>
            <a:r>
              <a:rPr lang="en-US" altLang="zh-CN" sz="1200" b="1"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Da</a:t>
            </a:r>
            <a:r>
              <a:rPr lang="zh-CN" altLang="en-US" sz="1200" b="0" i="0" kern="1200" dirty="0">
                <a:solidFill>
                  <a:schemeClr val="tx1"/>
                </a:solidFill>
                <a:effectLst/>
                <a:latin typeface="+mn-lt"/>
                <a:ea typeface="+mn-ea"/>
                <a:cs typeface="+mn-cs"/>
              </a:rPr>
              <a:t>​</a:t>
            </a:r>
            <a:r>
              <a:rPr lang="en-US" altLang="zh-CN" sz="1200" b="1" i="0" kern="1200" dirty="0">
                <a:solidFill>
                  <a:schemeClr val="tx1"/>
                </a:solidFill>
                <a:effectLst/>
                <a:latin typeface="+mn-lt"/>
                <a:ea typeface="+mn-ea"/>
                <a:cs typeface="+mn-cs"/>
              </a:rPr>
              <a:t>, Inquiry Drift)</a:t>
            </a:r>
            <a:r>
              <a:rPr lang="zh-CN" altLang="en-US" sz="1200" b="0" i="0" kern="1200" dirty="0">
                <a:solidFill>
                  <a:schemeClr val="tx1"/>
                </a:solidFill>
                <a:effectLst/>
                <a:latin typeface="+mn-lt"/>
                <a:ea typeface="+mn-ea"/>
                <a:cs typeface="+mn-cs"/>
              </a:rPr>
              <a:t>：衡量原始问题与当前推理链条之间的语义差异，捕捉</a:t>
            </a:r>
            <a:r>
              <a:rPr lang="zh-CN" altLang="en-US" sz="1200" b="1" i="0" kern="1200" dirty="0">
                <a:solidFill>
                  <a:schemeClr val="tx1"/>
                </a:solidFill>
                <a:effectLst/>
                <a:latin typeface="+mn-lt"/>
                <a:ea typeface="+mn-ea"/>
                <a:cs typeface="+mn-cs"/>
              </a:rPr>
              <a:t>全局性</a:t>
            </a:r>
            <a:r>
              <a:rPr lang="zh-CN" altLang="en-US" sz="1200" b="0" i="0" kern="1200" dirty="0">
                <a:solidFill>
                  <a:schemeClr val="tx1"/>
                </a:solidFill>
                <a:effectLst/>
                <a:latin typeface="+mn-lt"/>
                <a:ea typeface="+mn-ea"/>
                <a:cs typeface="+mn-cs"/>
              </a:rPr>
              <a:t>的偏离。</a:t>
            </a:r>
          </a:p>
          <a:p>
            <a:r>
              <a:rPr lang="zh-CN" altLang="en-US" sz="1200" b="1" i="0" kern="1200" dirty="0">
                <a:solidFill>
                  <a:schemeClr val="tx1"/>
                </a:solidFill>
                <a:effectLst/>
                <a:latin typeface="+mn-lt"/>
                <a:ea typeface="+mn-ea"/>
                <a:cs typeface="+mn-cs"/>
              </a:rPr>
              <a:t>推理间隙 </a:t>
            </a:r>
            <a:r>
              <a:rPr lang="en-US" altLang="zh-CN" sz="1200" b="1"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Do</a:t>
            </a:r>
            <a:r>
              <a:rPr lang="zh-CN" altLang="en-US" sz="1200" b="0" i="0" kern="1200" dirty="0">
                <a:solidFill>
                  <a:schemeClr val="tx1"/>
                </a:solidFill>
                <a:effectLst/>
                <a:latin typeface="+mn-lt"/>
                <a:ea typeface="+mn-ea"/>
                <a:cs typeface="+mn-cs"/>
              </a:rPr>
              <a:t>​</a:t>
            </a:r>
            <a:r>
              <a:rPr lang="en-US" altLang="zh-CN" sz="1200" b="1" i="0" kern="1200" dirty="0">
                <a:solidFill>
                  <a:schemeClr val="tx1"/>
                </a:solidFill>
                <a:effectLst/>
                <a:latin typeface="+mn-lt"/>
                <a:ea typeface="+mn-ea"/>
                <a:cs typeface="+mn-cs"/>
              </a:rPr>
              <a:t>, Inference Gap)</a:t>
            </a:r>
            <a:r>
              <a:rPr lang="zh-CN" altLang="en-US" sz="1200" b="0" i="0" kern="1200" dirty="0">
                <a:solidFill>
                  <a:schemeClr val="tx1"/>
                </a:solidFill>
                <a:effectLst/>
                <a:latin typeface="+mn-lt"/>
                <a:ea typeface="+mn-ea"/>
                <a:cs typeface="+mn-cs"/>
              </a:rPr>
              <a:t>：衡量单步内“思考内容”与“环境观察结果”之间的矛盾，捕捉</a:t>
            </a:r>
            <a:r>
              <a:rPr lang="zh-CN" altLang="en-US" sz="1200" b="1" i="0" kern="1200" dirty="0">
                <a:solidFill>
                  <a:schemeClr val="tx1"/>
                </a:solidFill>
                <a:effectLst/>
                <a:latin typeface="+mn-lt"/>
                <a:ea typeface="+mn-ea"/>
                <a:cs typeface="+mn-cs"/>
              </a:rPr>
              <a:t>局部性</a:t>
            </a:r>
            <a:r>
              <a:rPr lang="zh-CN" altLang="en-US" sz="1200" b="0" i="0" kern="1200" dirty="0">
                <a:solidFill>
                  <a:schemeClr val="tx1"/>
                </a:solidFill>
                <a:effectLst/>
                <a:latin typeface="+mn-lt"/>
                <a:ea typeface="+mn-ea"/>
                <a:cs typeface="+mn-cs"/>
              </a:rPr>
              <a:t>的突变。</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将每一时刻的 </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Da</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Do</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作为连续观测变量输入 </a:t>
            </a:r>
            <a:r>
              <a:rPr lang="en-US" altLang="zh-CN" sz="1200" b="0" i="0" kern="1200" dirty="0">
                <a:solidFill>
                  <a:schemeClr val="tx1"/>
                </a:solidFill>
                <a:effectLst/>
                <a:latin typeface="+mn-lt"/>
                <a:ea typeface="+mn-ea"/>
                <a:cs typeface="+mn-cs"/>
              </a:rPr>
              <a:t>CHMM</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CHMM </a:t>
            </a:r>
            <a:r>
              <a:rPr lang="zh-CN" altLang="en-US" sz="1200" b="0" i="0" kern="1200" dirty="0">
                <a:solidFill>
                  <a:schemeClr val="tx1"/>
                </a:solidFill>
                <a:effectLst/>
                <a:latin typeface="+mn-lt"/>
                <a:ea typeface="+mn-ea"/>
                <a:cs typeface="+mn-cs"/>
              </a:rPr>
              <a:t>内部会根据这些数值的波动，推断隐藏状态，判定智能体目前处于三种状态之一：</a:t>
            </a:r>
            <a:r>
              <a:rPr lang="zh-CN" altLang="en-US" sz="1200" b="1" i="0" kern="1200" dirty="0">
                <a:solidFill>
                  <a:schemeClr val="tx1"/>
                </a:solidFill>
                <a:effectLst/>
                <a:latin typeface="+mn-lt"/>
                <a:ea typeface="+mn-ea"/>
                <a:cs typeface="+mn-cs"/>
              </a:rPr>
              <a:t>正确轨迹</a:t>
            </a:r>
            <a:r>
              <a:rPr lang="zh-CN" altLang="en-US" sz="1200" b="0"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中度偏离</a:t>
            </a:r>
            <a:r>
              <a:rPr lang="zh-CN" altLang="en-US" sz="1200" b="0" i="0" kern="1200" dirty="0">
                <a:solidFill>
                  <a:schemeClr val="tx1"/>
                </a:solidFill>
                <a:effectLst/>
                <a:latin typeface="+mn-lt"/>
                <a:ea typeface="+mn-ea"/>
                <a:cs typeface="+mn-cs"/>
              </a:rPr>
              <a:t>或</a:t>
            </a:r>
            <a:r>
              <a:rPr lang="zh-CN" altLang="en-US" sz="1200" b="1" i="0" kern="1200" dirty="0">
                <a:solidFill>
                  <a:schemeClr val="tx1"/>
                </a:solidFill>
                <a:effectLst/>
                <a:latin typeface="+mn-lt"/>
                <a:ea typeface="+mn-ea"/>
                <a:cs typeface="+mn-cs"/>
              </a:rPr>
              <a:t>高度偏离</a:t>
            </a:r>
            <a:r>
              <a:rPr lang="zh-CN" altLang="en-US" sz="1200" b="0" i="0" kern="1200" dirty="0">
                <a:solidFill>
                  <a:schemeClr val="tx1"/>
                </a:solidFill>
                <a:effectLst/>
                <a:latin typeface="+mn-lt"/>
                <a:ea typeface="+mn-ea"/>
                <a:cs typeface="+mn-cs"/>
              </a:rPr>
              <a:t>。根据推断出的状态赋予该步骤不同的</a:t>
            </a:r>
            <a:r>
              <a:rPr lang="zh-CN" altLang="en-US" sz="1200" b="1" i="0" kern="1200" dirty="0">
                <a:solidFill>
                  <a:schemeClr val="tx1"/>
                </a:solidFill>
                <a:effectLst/>
                <a:latin typeface="+mn-lt"/>
                <a:ea typeface="+mn-ea"/>
                <a:cs typeface="+mn-cs"/>
              </a:rPr>
              <a:t>情境权重 </a:t>
            </a:r>
            <a:r>
              <a:rPr lang="en-US" altLang="zh-CN" sz="1200" b="0" i="1" kern="1200" dirty="0">
                <a:solidFill>
                  <a:schemeClr val="tx1"/>
                </a:solidFill>
                <a:effectLst/>
                <a:latin typeface="+mn-lt"/>
                <a:ea typeface="+mn-ea"/>
                <a:cs typeface="+mn-cs"/>
              </a:rPr>
              <a:t>Wi</a:t>
            </a:r>
            <a:r>
              <a:rPr lang="zh-CN" altLang="en-US" sz="1200" b="0" i="0" kern="1200" dirty="0">
                <a:solidFill>
                  <a:schemeClr val="tx1"/>
                </a:solidFill>
                <a:effectLst/>
                <a:latin typeface="+mn-lt"/>
                <a:ea typeface="+mn-ea"/>
                <a:cs typeface="+mn-cs"/>
              </a:rPr>
              <a:t>​</a:t>
            </a:r>
          </a:p>
          <a:p>
            <a:endParaRPr lang="zh-CN" altLang="en-US" dirty="0"/>
          </a:p>
        </p:txBody>
      </p:sp>
      <p:sp>
        <p:nvSpPr>
          <p:cNvPr id="4" name="灯片编号占位符 3">
            <a:extLst>
              <a:ext uri="{FF2B5EF4-FFF2-40B4-BE49-F238E27FC236}">
                <a16:creationId xmlns:a16="http://schemas.microsoft.com/office/drawing/2014/main" id="{0F334FBB-396B-7B59-3871-A5A5ADC4733D}"/>
              </a:ext>
            </a:extLst>
          </p:cNvPr>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2509946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99504-C642-E435-F363-D1901455B8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E3AE13-92B9-192C-DAD0-D0D0D41540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06720F-988B-AA56-D35F-C06F7CE3D98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这是算法过程，</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首先是初始化阶段，问题</a:t>
            </a:r>
            <a:r>
              <a:rPr lang="en-US" altLang="zh-CN" sz="1200" b="0" i="0" kern="1200" dirty="0">
                <a:solidFill>
                  <a:schemeClr val="tx1"/>
                </a:solidFill>
                <a:effectLst/>
                <a:latin typeface="+mn-lt"/>
                <a:ea typeface="+mn-ea"/>
                <a:cs typeface="+mn-cs"/>
              </a:rPr>
              <a:t>Q</a:t>
            </a:r>
            <a:r>
              <a:rPr lang="zh-CN" altLang="en-US" sz="1200" b="0" i="0" kern="1200" dirty="0">
                <a:solidFill>
                  <a:schemeClr val="tx1"/>
                </a:solidFill>
                <a:effectLst/>
                <a:latin typeface="+mn-lt"/>
                <a:ea typeface="+mn-ea"/>
                <a:cs typeface="+mn-cs"/>
              </a:rPr>
              <a:t>，大模型</a:t>
            </a:r>
            <a:r>
              <a:rPr lang="en-US" altLang="zh-CN" sz="1200" b="0" i="0" kern="1200" dirty="0" err="1">
                <a:solidFill>
                  <a:schemeClr val="tx1"/>
                </a:solidFill>
                <a:effectLst/>
                <a:latin typeface="+mn-lt"/>
                <a:ea typeface="+mn-ea"/>
                <a:cs typeface="+mn-cs"/>
              </a:rPr>
              <a:t>Lθ</a:t>
            </a:r>
            <a:r>
              <a:rPr lang="zh-CN" altLang="en-US" sz="1200" b="0" i="0" kern="1200" dirty="0">
                <a:solidFill>
                  <a:schemeClr val="tx1"/>
                </a:solidFill>
                <a:effectLst/>
                <a:latin typeface="+mn-lt"/>
                <a:ea typeface="+mn-ea"/>
                <a:cs typeface="+mn-cs"/>
              </a:rPr>
              <a:t>，以及初始化轨迹</a:t>
            </a:r>
            <a:r>
              <a:rPr lang="en-US" altLang="zh-CN" sz="1200" b="0" i="0" kern="1200" dirty="0">
                <a:solidFill>
                  <a:schemeClr val="tx1"/>
                </a:solidFill>
                <a:effectLst/>
                <a:latin typeface="+mn-lt"/>
                <a:ea typeface="+mn-ea"/>
                <a:cs typeface="+mn-cs"/>
              </a:rPr>
              <a:t>Zn</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然后算法进入循环计算，利用前面提到的公式</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中的</a:t>
            </a:r>
            <a:r>
              <a:rPr lang="zh-CN" altLang="en-US" dirty="0"/>
              <a:t>带有长度归一化的预测熵计算当前步骤的不确定性</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然后是计算当前轨迹与原问题的语义距离和推理间隙计算当前行动与观察反馈之间的逻辑矛盾，</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接着</a:t>
            </a:r>
            <a:r>
              <a:rPr lang="en-US" altLang="zh-CN" sz="1200" b="0" i="0" kern="1200" dirty="0">
                <a:solidFill>
                  <a:schemeClr val="tx1"/>
                </a:solidFill>
                <a:effectLst/>
                <a:latin typeface="+mn-lt"/>
                <a:ea typeface="+mn-ea"/>
                <a:cs typeface="+mn-cs"/>
              </a:rPr>
              <a:t>if</a:t>
            </a:r>
            <a:r>
              <a:rPr lang="zh-CN" altLang="en-US" sz="1200" b="0" i="0" kern="1200" dirty="0">
                <a:solidFill>
                  <a:schemeClr val="tx1"/>
                </a:solidFill>
                <a:effectLst/>
                <a:latin typeface="+mn-lt"/>
                <a:ea typeface="+mn-ea"/>
                <a:cs typeface="+mn-cs"/>
              </a:rPr>
              <a:t>判断使用</a:t>
            </a:r>
            <a:r>
              <a:rPr lang="en-US" altLang="zh-CN" sz="1200" b="0" i="0" kern="1200" dirty="0">
                <a:solidFill>
                  <a:schemeClr val="tx1"/>
                </a:solidFill>
                <a:effectLst/>
                <a:latin typeface="+mn-lt"/>
                <a:ea typeface="+mn-ea"/>
                <a:cs typeface="+mn-cs"/>
              </a:rPr>
              <a:t>CHMM</a:t>
            </a:r>
            <a:r>
              <a:rPr lang="zh-CN" altLang="en-US" sz="1200" b="0" i="0" kern="1200" dirty="0">
                <a:solidFill>
                  <a:schemeClr val="tx1"/>
                </a:solidFill>
                <a:effectLst/>
                <a:latin typeface="+mn-lt"/>
                <a:ea typeface="+mn-ea"/>
                <a:cs typeface="+mn-cs"/>
              </a:rPr>
              <a:t>就将当前的观测值对 </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Dan</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Don</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加入一个序列集合 </a:t>
            </a:r>
            <a:r>
              <a:rPr lang="en-US" altLang="zh-CN" sz="1200" b="0" i="1" kern="1200" dirty="0">
                <a:solidFill>
                  <a:schemeClr val="tx1"/>
                </a:solidFill>
                <a:effectLst/>
                <a:latin typeface="+mn-lt"/>
                <a:ea typeface="+mn-ea"/>
                <a:cs typeface="+mn-cs"/>
              </a:rPr>
              <a:t>DL</a:t>
            </a:r>
            <a:r>
              <a:rPr lang="zh-CN" altLang="en-US" sz="1200" b="0" i="0" kern="1200" dirty="0">
                <a:solidFill>
                  <a:schemeClr val="tx1"/>
                </a:solidFill>
                <a:effectLst/>
                <a:latin typeface="+mn-lt"/>
                <a:ea typeface="+mn-ea"/>
                <a:cs typeface="+mn-cs"/>
              </a:rPr>
              <a:t> 中，留待循环结束后统一处理</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否则就使用简单距离作为代理指标，直接使用 </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Dan</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Don</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作为情境权重</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循环结束之后，如果选择了 </a:t>
            </a:r>
            <a:r>
              <a:rPr lang="en-US" altLang="zh-CN" sz="1200" b="0" i="0" kern="1200" dirty="0">
                <a:solidFill>
                  <a:schemeClr val="tx1"/>
                </a:solidFill>
                <a:effectLst/>
                <a:latin typeface="+mn-lt"/>
                <a:ea typeface="+mn-ea"/>
                <a:cs typeface="+mn-cs"/>
              </a:rPr>
              <a:t>CHMM </a:t>
            </a:r>
            <a:r>
              <a:rPr lang="zh-CN" altLang="en-US" sz="1200" b="0" i="0" kern="1200" dirty="0">
                <a:solidFill>
                  <a:schemeClr val="tx1"/>
                </a:solidFill>
                <a:effectLst/>
                <a:latin typeface="+mn-lt"/>
                <a:ea typeface="+mn-ea"/>
                <a:cs typeface="+mn-cs"/>
              </a:rPr>
              <a:t>方案</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算法调用 </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DL</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，利用预先训练好的 </a:t>
            </a:r>
            <a:r>
              <a:rPr lang="zh-CN" altLang="en-US" sz="1200" b="1" i="0" kern="1200" dirty="0">
                <a:solidFill>
                  <a:schemeClr val="tx1"/>
                </a:solidFill>
                <a:effectLst/>
                <a:latin typeface="+mn-lt"/>
                <a:ea typeface="+mn-ea"/>
                <a:cs typeface="+mn-cs"/>
              </a:rPr>
              <a:t>连续隐马尔可夫模型 </a:t>
            </a:r>
            <a:r>
              <a:rPr lang="en-US" altLang="zh-CN" sz="1200" b="1" i="0" kern="1200" dirty="0">
                <a:solidFill>
                  <a:schemeClr val="tx1"/>
                </a:solidFill>
                <a:effectLst/>
                <a:latin typeface="+mn-lt"/>
                <a:ea typeface="+mn-ea"/>
                <a:cs typeface="+mn-cs"/>
              </a:rPr>
              <a:t>(CHMM)</a:t>
            </a:r>
            <a:r>
              <a:rPr lang="zh-CN" altLang="en-US" sz="1200" b="0" i="0" kern="1200" dirty="0">
                <a:solidFill>
                  <a:schemeClr val="tx1"/>
                </a:solidFill>
                <a:effectLst/>
                <a:latin typeface="+mn-lt"/>
                <a:ea typeface="+mn-ea"/>
                <a:cs typeface="+mn-cs"/>
              </a:rPr>
              <a:t> 遍历整个观测序列，推断出每一步隐藏状态，从而输出最终的权重集合 </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W</a:t>
            </a:r>
            <a:r>
              <a:rPr lang="en-US" altLang="zh-CN" sz="1200" b="0" i="0" kern="1200" dirty="0">
                <a:solidFill>
                  <a:schemeClr val="tx1"/>
                </a:solidFill>
                <a:effectLst/>
                <a:latin typeface="+mn-lt"/>
                <a:ea typeface="+mn-ea"/>
                <a:cs typeface="+mn-cs"/>
              </a:rPr>
              <a:t>1​,</a:t>
            </a:r>
            <a:r>
              <a:rPr lang="en-US" altLang="zh-CN" sz="1200" b="0" i="1" kern="1200" dirty="0">
                <a:solidFill>
                  <a:schemeClr val="tx1"/>
                </a:solidFill>
                <a:effectLst/>
                <a:latin typeface="+mn-lt"/>
                <a:ea typeface="+mn-ea"/>
                <a:cs typeface="+mn-cs"/>
              </a:rPr>
              <a:t>W</a:t>
            </a:r>
            <a:r>
              <a:rPr lang="en-US" altLang="zh-CN" sz="1200" b="0" i="0" kern="1200" dirty="0">
                <a:solidFill>
                  <a:schemeClr val="tx1"/>
                </a:solidFill>
                <a:effectLst/>
                <a:latin typeface="+mn-lt"/>
                <a:ea typeface="+mn-ea"/>
                <a:cs typeface="+mn-cs"/>
              </a:rPr>
              <a:t>2​,…,</a:t>
            </a:r>
            <a:r>
              <a:rPr lang="en-US" altLang="zh-CN" sz="1200" b="0" i="1" kern="1200" dirty="0">
                <a:solidFill>
                  <a:schemeClr val="tx1"/>
                </a:solidFill>
                <a:effectLst/>
                <a:latin typeface="+mn-lt"/>
                <a:ea typeface="+mn-ea"/>
                <a:cs typeface="+mn-cs"/>
              </a:rPr>
              <a:t>WN</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最后调用最终的聚合函数（即公式 </a:t>
            </a:r>
            <a:r>
              <a:rPr lang="en-US" altLang="zh-CN" sz="1200" b="0" i="0" kern="1200" dirty="0">
                <a:solidFill>
                  <a:schemeClr val="tx1"/>
                </a:solidFill>
                <a:effectLst/>
                <a:latin typeface="+mn-lt"/>
                <a:ea typeface="+mn-ea"/>
                <a:cs typeface="+mn-cs"/>
              </a:rPr>
              <a:t>1 </a:t>
            </a:r>
            <a:r>
              <a:rPr lang="zh-CN" altLang="en-US" sz="1200" b="0" i="0" kern="1200" dirty="0">
                <a:solidFill>
                  <a:schemeClr val="tx1"/>
                </a:solidFill>
                <a:effectLst/>
                <a:latin typeface="+mn-lt"/>
                <a:ea typeface="+mn-ea"/>
                <a:cs typeface="+mn-cs"/>
              </a:rPr>
              <a:t>中的加权 </a:t>
            </a:r>
            <a:r>
              <a:rPr lang="en-US" altLang="zh-CN" sz="1200" b="0" i="0" kern="1200" dirty="0">
                <a:solidFill>
                  <a:schemeClr val="tx1"/>
                </a:solidFill>
                <a:effectLst/>
                <a:latin typeface="+mn-lt"/>
                <a:ea typeface="+mn-ea"/>
                <a:cs typeface="+mn-cs"/>
              </a:rPr>
              <a:t>RMS </a:t>
            </a:r>
            <a:r>
              <a:rPr lang="zh-CN" altLang="en-US" sz="1200" b="0" i="0" kern="1200" dirty="0">
                <a:solidFill>
                  <a:schemeClr val="tx1"/>
                </a:solidFill>
                <a:effectLst/>
                <a:latin typeface="+mn-lt"/>
                <a:ea typeface="+mn-ea"/>
                <a:cs typeface="+mn-cs"/>
              </a:rPr>
              <a:t>算法），将每步的单步不确定性 </a:t>
            </a:r>
            <a:r>
              <a:rPr lang="en-US" altLang="zh-CN" sz="1200" b="0" i="1" kern="1200" dirty="0">
                <a:solidFill>
                  <a:schemeClr val="tx1"/>
                </a:solidFill>
                <a:effectLst/>
                <a:latin typeface="+mn-lt"/>
                <a:ea typeface="+mn-ea"/>
                <a:cs typeface="+mn-cs"/>
              </a:rPr>
              <a:t>Ui</a:t>
            </a:r>
            <a:r>
              <a:rPr lang="zh-CN" altLang="en-US" sz="1200" b="0" i="0" kern="1200" dirty="0">
                <a:solidFill>
                  <a:schemeClr val="tx1"/>
                </a:solidFill>
                <a:effectLst/>
                <a:latin typeface="+mn-lt"/>
                <a:ea typeface="+mn-ea"/>
                <a:cs typeface="+mn-cs"/>
              </a:rPr>
              <a:t>​ 乘以对应的情境权重 </a:t>
            </a:r>
            <a:r>
              <a:rPr lang="en-US" altLang="zh-CN" sz="1200" b="0" i="1" kern="1200" dirty="0">
                <a:solidFill>
                  <a:schemeClr val="tx1"/>
                </a:solidFill>
                <a:effectLst/>
                <a:latin typeface="+mn-lt"/>
                <a:ea typeface="+mn-ea"/>
                <a:cs typeface="+mn-cs"/>
              </a:rPr>
              <a:t>Wi</a:t>
            </a:r>
            <a:r>
              <a:rPr lang="zh-CN" altLang="en-US" sz="1200" b="0" i="0" kern="1200" dirty="0">
                <a:solidFill>
                  <a:schemeClr val="tx1"/>
                </a:solidFill>
                <a:effectLst/>
                <a:latin typeface="+mn-lt"/>
                <a:ea typeface="+mn-ea"/>
                <a:cs typeface="+mn-cs"/>
              </a:rPr>
              <a:t>​</a:t>
            </a:r>
            <a:br>
              <a:rPr lang="zh-CN" altLang="en-US" dirty="0"/>
            </a:br>
            <a:r>
              <a:rPr lang="zh-CN" altLang="en-US" sz="1200" b="0" i="0" kern="1200" dirty="0">
                <a:solidFill>
                  <a:schemeClr val="tx1"/>
                </a:solidFill>
                <a:effectLst/>
                <a:latin typeface="+mn-lt"/>
                <a:ea typeface="+mn-ea"/>
                <a:cs typeface="+mn-cs"/>
              </a:rPr>
              <a:t>返回 </a:t>
            </a:r>
            <a:r>
              <a:rPr lang="en-US" altLang="zh-CN" sz="1200" b="0" i="1" kern="1200" dirty="0" err="1">
                <a:solidFill>
                  <a:schemeClr val="tx1"/>
                </a:solidFill>
                <a:effectLst/>
                <a:latin typeface="+mn-lt"/>
                <a:ea typeface="+mn-ea"/>
                <a:cs typeface="+mn-cs"/>
              </a:rPr>
              <a:t>Uagent</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，即最终得到的智能体整体不确定性得分</a:t>
            </a:r>
          </a:p>
          <a:p>
            <a:endParaRPr lang="zh-CN" altLang="en-US" sz="1200" b="0" i="0" kern="1200" dirty="0">
              <a:solidFill>
                <a:schemeClr val="tx1"/>
              </a:solidFill>
              <a:effectLst/>
              <a:latin typeface="+mn-lt"/>
              <a:ea typeface="+mn-ea"/>
              <a:cs typeface="+mn-cs"/>
            </a:endParaRPr>
          </a:p>
          <a:p>
            <a:endParaRPr lang="zh-CN" altLang="en-US" dirty="0"/>
          </a:p>
        </p:txBody>
      </p:sp>
      <p:sp>
        <p:nvSpPr>
          <p:cNvPr id="4" name="灯片编号占位符 3">
            <a:extLst>
              <a:ext uri="{FF2B5EF4-FFF2-40B4-BE49-F238E27FC236}">
                <a16:creationId xmlns:a16="http://schemas.microsoft.com/office/drawing/2014/main" id="{B2EAB2A5-3DC6-3CBC-AD58-4A34072C2D75}"/>
              </a:ext>
            </a:extLst>
          </p:cNvPr>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10228297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在实验部分，我们对</a:t>
            </a:r>
            <a:r>
              <a:rPr lang="en-US" altLang="zh-CN" dirty="0"/>
              <a:t>SAUP</a:t>
            </a:r>
            <a:r>
              <a:rPr lang="zh-CN" altLang="en-US" dirty="0"/>
              <a:t>框架的性能进行评估，回答以下问题：</a:t>
            </a:r>
            <a:r>
              <a:rPr lang="en-US" altLang="zh-CN" dirty="0"/>
              <a:t>Q1：SAUP</a:t>
            </a:r>
            <a:r>
              <a:rPr lang="zh-CN" altLang="en-US" dirty="0"/>
              <a:t>是否优于先前最先进的不确定性估计方法。</a:t>
            </a:r>
            <a:r>
              <a:rPr lang="en-US" altLang="zh-CN" dirty="0"/>
              <a:t>Q2：</a:t>
            </a:r>
            <a:r>
              <a:rPr lang="zh-CN" altLang="en-US" dirty="0"/>
              <a:t>考虑到不确定性传播的综合过程，</a:t>
            </a:r>
            <a:r>
              <a:rPr lang="en-US" altLang="zh-CN" dirty="0"/>
              <a:t>SAUP</a:t>
            </a:r>
            <a:r>
              <a:rPr lang="zh-CN" altLang="en-US" dirty="0"/>
              <a:t>是否比单步法提供更准确的不确定性估计? </a:t>
            </a:r>
            <a:r>
              <a:rPr lang="en-US" altLang="zh-CN" dirty="0"/>
              <a:t>Q3：</a:t>
            </a:r>
            <a:r>
              <a:rPr lang="zh-CN" altLang="en-US" dirty="0"/>
              <a:t>针对具体步骤的情境权重是否能有效改善总体不确定性估计。</a:t>
            </a:r>
          </a:p>
          <a:p>
            <a:r>
              <a:rPr lang="zh-CN" altLang="en-US" dirty="0"/>
              <a:t>由于获取精确的情境权重是不切实际的，我们设计了替代方案，包括基于距离和基于位置的方法。</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实验选择了广泛使用的  </a:t>
            </a:r>
            <a:r>
              <a:rPr lang="en-US" altLang="zh-CN"/>
              <a:t>ReAct </a:t>
            </a:r>
            <a:r>
              <a:rPr lang="zh-CN" altLang="en-US"/>
              <a:t>框架作为智能体框架</a:t>
            </a:r>
          </a:p>
          <a:p>
            <a:r>
              <a:rPr lang="zh-CN" altLang="en-US"/>
              <a:t>为了确保覆盖现实世界中的各种应用场景，研究者选择了两类模型，开源模型：</a:t>
            </a:r>
            <a:r>
              <a:rPr lang="en-US" altLang="zh-CN"/>
              <a:t>Llama3 </a:t>
            </a:r>
            <a:r>
              <a:rPr lang="zh-CN" altLang="en-US"/>
              <a:t>系列（8</a:t>
            </a:r>
            <a:r>
              <a:rPr lang="en-US" altLang="zh-CN"/>
              <a:t>B </a:t>
            </a:r>
            <a:r>
              <a:rPr lang="zh-CN" altLang="en-US"/>
              <a:t>和 70</a:t>
            </a:r>
            <a:r>
              <a:rPr lang="en-US" altLang="zh-CN"/>
              <a:t>B </a:t>
            </a:r>
            <a:r>
              <a:rPr lang="zh-CN" altLang="en-US"/>
              <a:t>版本），闭源模型</a:t>
            </a:r>
            <a:r>
              <a:rPr lang="en-US" altLang="zh-CN"/>
              <a:t>GPT-4o，</a:t>
            </a:r>
            <a:r>
              <a:rPr lang="zh-CN" altLang="en-US"/>
              <a:t>通过 </a:t>
            </a:r>
            <a:r>
              <a:rPr lang="en-US" altLang="zh-CN"/>
              <a:t>API </a:t>
            </a:r>
            <a:r>
              <a:rPr lang="zh-CN" altLang="en-US"/>
              <a:t>访问</a:t>
            </a:r>
          </a:p>
          <a:p>
            <a:r>
              <a:rPr lang="zh-CN" altLang="en-US"/>
              <a:t>实验评估了三个具有挑战性的智能体问答任务，</a:t>
            </a:r>
            <a:r>
              <a:rPr lang="en-US" altLang="zh-CN"/>
              <a:t>HotpotQA：</a:t>
            </a:r>
            <a:r>
              <a:rPr lang="zh-CN" altLang="en-US"/>
              <a:t>多跳问答任务，</a:t>
            </a:r>
            <a:r>
              <a:rPr lang="en-US" altLang="zh-CN"/>
              <a:t>MMLU：</a:t>
            </a:r>
            <a:r>
              <a:rPr lang="zh-CN" altLang="en-US"/>
              <a:t>涉及法律、数学等多个领域的选择题，</a:t>
            </a:r>
            <a:r>
              <a:rPr lang="en-US" altLang="zh-CN"/>
              <a:t>StrategyQA：</a:t>
            </a:r>
            <a:r>
              <a:rPr lang="zh-CN" altLang="en-US"/>
              <a:t>需要隐含推理的任务</a:t>
            </a:r>
          </a:p>
          <a:p>
            <a:r>
              <a:rPr lang="zh-CN" altLang="en-US"/>
              <a:t>智能体通常需要通过外部资源解决这些任务，对于 </a:t>
            </a:r>
            <a:r>
              <a:rPr lang="en-US" altLang="zh-CN"/>
              <a:t>HotpotQA </a:t>
            </a:r>
            <a:r>
              <a:rPr lang="zh-CN" altLang="en-US"/>
              <a:t>和 </a:t>
            </a:r>
            <a:r>
              <a:rPr lang="en-US" altLang="zh-CN"/>
              <a:t>StrategyQA，</a:t>
            </a:r>
            <a:r>
              <a:rPr lang="zh-CN" altLang="en-US"/>
              <a:t>智能体可以访问 </a:t>
            </a:r>
            <a:r>
              <a:rPr lang="en-US" altLang="zh-CN"/>
              <a:t>Wikipedia API </a:t>
            </a:r>
            <a:r>
              <a:rPr lang="zh-CN" altLang="en-US"/>
              <a:t>来检索相关的实体信息，对于 </a:t>
            </a:r>
            <a:r>
              <a:rPr lang="en-US" altLang="zh-CN"/>
              <a:t>MMLU，</a:t>
            </a:r>
            <a:r>
              <a:rPr lang="zh-CN" altLang="en-US"/>
              <a:t>实验使用了 </a:t>
            </a:r>
            <a:r>
              <a:rPr lang="en-US" altLang="zh-CN"/>
              <a:t>SerpAPI </a:t>
            </a:r>
            <a:r>
              <a:rPr lang="zh-CN" altLang="en-US"/>
              <a:t>来获取结构化的 </a:t>
            </a:r>
            <a:r>
              <a:rPr lang="en-US" altLang="zh-CN"/>
              <a:t>Google </a:t>
            </a:r>
            <a:r>
              <a:rPr lang="zh-CN" altLang="en-US"/>
              <a:t>搜索结果</a:t>
            </a:r>
          </a:p>
          <a:p>
            <a:r>
              <a:rPr lang="zh-CN" altLang="en-US"/>
              <a:t>为了进行公平对比，实验引入了多种现有的不确定性估计方法作为基准，基于熵的方法：预测熵和语义熵</a:t>
            </a:r>
            <a:r>
              <a:rPr lang="en-US" altLang="zh-CN"/>
              <a:t>。</a:t>
            </a:r>
            <a:r>
              <a:rPr lang="zh-CN" altLang="en-US"/>
              <a:t>基于似然值的方法：普通似然值和归一化熵</a:t>
            </a:r>
            <a:r>
              <a:rPr lang="en-US" altLang="zh-CN"/>
              <a:t>，</a:t>
            </a:r>
            <a:r>
              <a:rPr lang="zh-CN" altLang="en-US"/>
              <a:t>后者考虑了 </a:t>
            </a:r>
            <a:r>
              <a:rPr lang="en-US" altLang="zh-CN"/>
              <a:t>token </a:t>
            </a:r>
            <a:r>
              <a:rPr lang="zh-CN" altLang="en-US"/>
              <a:t>长度的影响</a:t>
            </a:r>
            <a:r>
              <a:rPr lang="en-US" altLang="zh-CN"/>
              <a:t>。</a:t>
            </a:r>
            <a:r>
              <a:rPr lang="zh-CN" altLang="en-US"/>
              <a:t>自评估方法：</a:t>
            </a:r>
            <a:r>
              <a:rPr lang="en-US" altLang="zh-CN"/>
              <a:t>P(True)，</a:t>
            </a:r>
            <a:r>
              <a:rPr lang="zh-CN" altLang="en-US"/>
              <a:t>即通过提示词让智能体对自己的信心进行自我评估</a:t>
            </a:r>
          </a:p>
          <a:p>
            <a:r>
              <a:rPr lang="zh-CN" altLang="en-US"/>
              <a:t>实验采用 </a:t>
            </a:r>
            <a:r>
              <a:rPr lang="en-US" altLang="zh-CN"/>
              <a:t>AUROC</a:t>
            </a:r>
            <a:r>
              <a:rPr lang="zh-CN" altLang="en-US"/>
              <a:t>指标来衡量不确定性估计方法区分正确和错误响应的能力</a:t>
            </a:r>
          </a:p>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在这一部分中，我们比较了各种不确定性测量方法，以评估基于</a:t>
            </a:r>
            <a:r>
              <a:rPr lang="en-US" altLang="zh-CN" dirty="0"/>
              <a:t>LLM</a:t>
            </a:r>
            <a:r>
              <a:rPr lang="zh-CN" altLang="en-US" dirty="0"/>
              <a:t>的</a:t>
            </a:r>
            <a:r>
              <a:rPr lang="en-US" altLang="zh-CN" dirty="0"/>
              <a:t>Agent</a:t>
            </a:r>
            <a:r>
              <a:rPr lang="zh-CN" altLang="en-US" dirty="0"/>
              <a:t>对问答问题的最终响应是否正确。评估涉及以下几个步骤：</a:t>
            </a:r>
          </a:p>
          <a:p>
            <a:r>
              <a:rPr lang="zh-CN" altLang="en-US" dirty="0"/>
              <a:t>智能体在 </a:t>
            </a:r>
            <a:r>
              <a:rPr lang="en-US" altLang="zh-CN" dirty="0" err="1"/>
              <a:t>ReACT</a:t>
            </a:r>
            <a:r>
              <a:rPr lang="en-US" altLang="zh-CN" dirty="0"/>
              <a:t> </a:t>
            </a:r>
            <a:r>
              <a:rPr lang="zh-CN" altLang="en-US" dirty="0"/>
              <a:t>框架下回答各数据集中的问题</a:t>
            </a:r>
            <a:r>
              <a:rPr lang="en-US" altLang="zh-CN" dirty="0"/>
              <a:t>。</a:t>
            </a:r>
          </a:p>
          <a:p>
            <a:r>
              <a:rPr lang="zh-CN" altLang="en-US" dirty="0"/>
              <a:t>利用 </a:t>
            </a:r>
            <a:r>
              <a:rPr lang="en-US" altLang="zh-CN" dirty="0"/>
              <a:t>SAUP </a:t>
            </a:r>
            <a:r>
              <a:rPr lang="zh-CN" altLang="en-US" dirty="0"/>
              <a:t>的多个变体以及各类基准方法（如预测熵、语义熵、</a:t>
            </a:r>
            <a:r>
              <a:rPr lang="en-US" altLang="zh-CN" dirty="0"/>
              <a:t>P(True) </a:t>
            </a:r>
            <a:r>
              <a:rPr lang="zh-CN" altLang="en-US" dirty="0"/>
              <a:t>等）为每个回答计算不确定性得分</a:t>
            </a:r>
            <a:r>
              <a:rPr lang="en-US" altLang="zh-CN" dirty="0"/>
              <a:t>。</a:t>
            </a:r>
          </a:p>
          <a:p>
            <a:r>
              <a:rPr lang="zh-CN" altLang="en-US" dirty="0"/>
              <a:t>将智能体的回答实际分类为“正确 (0)”或“错误 (1)”</a:t>
            </a:r>
            <a:r>
              <a:rPr lang="en-US" altLang="zh-CN" dirty="0"/>
              <a:t>。</a:t>
            </a:r>
          </a:p>
          <a:p>
            <a:r>
              <a:rPr lang="zh-CN" altLang="en-US" dirty="0"/>
              <a:t>基于分类准确性和不确定性得分计算 </a:t>
            </a:r>
            <a:r>
              <a:rPr lang="en-US" altLang="zh-CN" dirty="0"/>
              <a:t>AUROC </a:t>
            </a:r>
            <a:r>
              <a:rPr lang="zh-CN" altLang="en-US" dirty="0"/>
              <a:t>分值。</a:t>
            </a:r>
            <a:r>
              <a:rPr lang="en-US" altLang="zh-CN" dirty="0"/>
              <a:t>AUROC </a:t>
            </a:r>
            <a:r>
              <a:rPr lang="zh-CN" altLang="en-US" dirty="0"/>
              <a:t>越接近 1，说明该方法区分正误的能力越强；0.5 则代表随机猜测</a:t>
            </a:r>
          </a:p>
          <a:p>
            <a:endParaRPr lang="zh-CN" altLang="en-US" dirty="0"/>
          </a:p>
          <a:p>
            <a:r>
              <a:rPr lang="zh-CN" altLang="en-US" dirty="0"/>
              <a:t>根据论文中的 表</a:t>
            </a:r>
            <a:r>
              <a:rPr lang="en-US" altLang="zh-CN" dirty="0"/>
              <a:t>1 </a:t>
            </a:r>
            <a:r>
              <a:rPr lang="zh-CN" altLang="en-US" dirty="0"/>
              <a:t>实验数据，可以得出以下结论：</a:t>
            </a:r>
          </a:p>
          <a:p>
            <a:r>
              <a:rPr lang="zh-CN" altLang="en-US" dirty="0"/>
              <a:t>在所有测试的数据集和所有基准上，</a:t>
            </a:r>
            <a:r>
              <a:rPr lang="en-US" altLang="zh-CN" dirty="0"/>
              <a:t>SAUP </a:t>
            </a:r>
            <a:r>
              <a:rPr lang="zh-CN" altLang="en-US" dirty="0"/>
              <a:t>一致性地获得了最高的 </a:t>
            </a:r>
            <a:r>
              <a:rPr lang="en-US" altLang="zh-CN" dirty="0"/>
              <a:t>AUROC </a:t>
            </a:r>
            <a:r>
              <a:rPr lang="zh-CN" altLang="en-US" dirty="0"/>
              <a:t>分数</a:t>
            </a:r>
            <a:r>
              <a:rPr lang="en-US" altLang="zh-CN" dirty="0"/>
              <a:t>。</a:t>
            </a:r>
          </a:p>
          <a:p>
            <a:r>
              <a:rPr lang="zh-CN" altLang="en-US" dirty="0"/>
              <a:t>这说明相比于传统的单步评估方法（如语义熵或自评估 </a:t>
            </a:r>
            <a:r>
              <a:rPr lang="en-US" altLang="zh-CN" dirty="0"/>
              <a:t>P(True)），SAUP </a:t>
            </a:r>
            <a:r>
              <a:rPr lang="zh-CN" altLang="en-US" dirty="0"/>
              <a:t>能够更有效地识别出那些看似自信但实际上错误的回答</a:t>
            </a:r>
            <a:r>
              <a:rPr lang="en-US" altLang="zh-CN" dirty="0"/>
              <a:t>。</a:t>
            </a:r>
          </a:p>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鉴于我们提出的</a:t>
            </a:r>
            <a:r>
              <a:rPr lang="en-US" altLang="zh-CN" dirty="0"/>
              <a:t>SAUP</a:t>
            </a:r>
            <a:r>
              <a:rPr lang="zh-CN" altLang="en-US" dirty="0"/>
              <a:t>的优越性，我们通过解决以下问题来进一步剖析其性能。该分析突出了</a:t>
            </a:r>
            <a:r>
              <a:rPr lang="en-US" altLang="zh-CN" dirty="0"/>
              <a:t>SAUP</a:t>
            </a:r>
            <a:r>
              <a:rPr lang="zh-CN" altLang="en-US" dirty="0"/>
              <a:t>在各个方面的优势，并对其在不同条件下的适用性和性能提供了见解。</a:t>
            </a:r>
            <a:endParaRPr lang="en-US" altLang="zh-CN" dirty="0"/>
          </a:p>
          <a:p>
            <a:r>
              <a:rPr lang="zh-CN" altLang="en-US" dirty="0"/>
              <a:t>问题</a:t>
            </a:r>
            <a:r>
              <a:rPr lang="en-US" altLang="zh-CN" dirty="0"/>
              <a:t>1</a:t>
            </a:r>
            <a:r>
              <a:rPr lang="zh-CN" altLang="en-US" dirty="0"/>
              <a:t>：</a:t>
            </a:r>
            <a:r>
              <a:rPr lang="zh-CN" altLang="en-US" sz="1200" b="0" i="0" kern="1200" dirty="0">
                <a:solidFill>
                  <a:schemeClr val="tx1"/>
                </a:solidFill>
                <a:effectLst/>
                <a:latin typeface="+mn-lt"/>
                <a:ea typeface="+mn-ea"/>
                <a:cs typeface="+mn-cs"/>
              </a:rPr>
              <a:t>中间推理步骤的不确定性测量是否有效？</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可以得出的结论是中间步骤的信息对准确评估整体不确定性至关重要</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实验发现，如这个表所示，基于</a:t>
            </a:r>
            <a:r>
              <a:rPr lang="en-US" altLang="zh-CN" sz="1200" b="0" i="0" kern="1200" dirty="0">
                <a:solidFill>
                  <a:schemeClr val="tx1"/>
                </a:solidFill>
                <a:effectLst/>
                <a:latin typeface="+mn-lt"/>
                <a:ea typeface="+mn-ea"/>
                <a:cs typeface="+mn-cs"/>
              </a:rPr>
              <a:t>SAUP</a:t>
            </a:r>
            <a:r>
              <a:rPr lang="zh-CN" altLang="en-US" sz="1200" b="0" i="0" kern="1200" dirty="0">
                <a:solidFill>
                  <a:schemeClr val="tx1"/>
                </a:solidFill>
                <a:effectLst/>
                <a:latin typeface="+mn-lt"/>
                <a:ea typeface="+mn-ea"/>
                <a:cs typeface="+mn-cs"/>
              </a:rPr>
              <a:t>的方法在数据集和模型中的</a:t>
            </a:r>
            <a:r>
              <a:rPr lang="en-US" altLang="zh-CN" sz="1200" b="0" i="0" kern="1200" dirty="0">
                <a:solidFill>
                  <a:schemeClr val="tx1"/>
                </a:solidFill>
                <a:effectLst/>
                <a:latin typeface="+mn-lt"/>
                <a:ea typeface="+mn-ea"/>
                <a:cs typeface="+mn-cs"/>
              </a:rPr>
              <a:t>AUROC</a:t>
            </a:r>
            <a:r>
              <a:rPr lang="zh-CN" altLang="en-US" sz="1200" b="0" i="0" kern="1200" dirty="0">
                <a:solidFill>
                  <a:schemeClr val="tx1"/>
                </a:solidFill>
                <a:effectLst/>
                <a:latin typeface="+mn-lt"/>
                <a:ea typeface="+mn-ea"/>
                <a:cs typeface="+mn-cs"/>
              </a:rPr>
              <a:t>评分均优于传统的单步方法。并且可以看到下面这个表，即使不使用复杂的情境权重，仅仅采用简单的算术平均或均方根（</a:t>
            </a:r>
            <a:r>
              <a:rPr lang="en-US" altLang="zh-CN" sz="1200" b="0" i="0" kern="1200" dirty="0">
                <a:solidFill>
                  <a:schemeClr val="tx1"/>
                </a:solidFill>
                <a:effectLst/>
                <a:latin typeface="+mn-lt"/>
                <a:ea typeface="+mn-ea"/>
                <a:cs typeface="+mn-cs"/>
              </a:rPr>
              <a:t>RMS</a:t>
            </a:r>
            <a:r>
              <a:rPr lang="zh-CN" altLang="en-US" sz="1200" b="0" i="0" kern="1200" dirty="0">
                <a:solidFill>
                  <a:schemeClr val="tx1"/>
                </a:solidFill>
                <a:effectLst/>
                <a:latin typeface="+mn-lt"/>
                <a:ea typeface="+mn-ea"/>
                <a:cs typeface="+mn-cs"/>
              </a:rPr>
              <a:t>）将每一步的不确定性传播到最后，其效果也显著优于只看最后一步的传统方法。这证明了不确定性在推理链条中是</a:t>
            </a:r>
            <a:r>
              <a:rPr lang="zh-CN" altLang="en-US" sz="1200" b="1" i="0" kern="1200" dirty="0">
                <a:solidFill>
                  <a:schemeClr val="tx1"/>
                </a:solidFill>
                <a:effectLst/>
                <a:latin typeface="+mn-lt"/>
                <a:ea typeface="+mn-ea"/>
                <a:cs typeface="+mn-cs"/>
              </a:rPr>
              <a:t>累积</a:t>
            </a:r>
            <a:r>
              <a:rPr lang="zh-CN" altLang="en-US" sz="1200" b="0" i="0" kern="1200" dirty="0">
                <a:solidFill>
                  <a:schemeClr val="tx1"/>
                </a:solidFill>
                <a:effectLst/>
                <a:latin typeface="+mn-lt"/>
                <a:ea typeface="+mn-ea"/>
                <a:cs typeface="+mn-cs"/>
              </a:rPr>
              <a:t>的，忽略中间过程会导致评估不准。</a:t>
            </a:r>
            <a:endParaRPr lang="zh-CN" altLang="en-US" b="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8EFEC-4B02-FBFF-30FC-D98AB5F4EB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EA2A82-2BBC-35A2-CC16-7E7797CC849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6905441F-AB73-00C7-4B4B-FB8FACFDAFC3}"/>
              </a:ext>
            </a:extLst>
          </p:cNvPr>
          <p:cNvSpPr>
            <a:spLocks noGrp="1"/>
          </p:cNvSpPr>
          <p:nvPr>
            <p:ph type="body" idx="3"/>
          </p:nvPr>
        </p:nvSpPr>
        <p:spPr/>
        <p:txBody>
          <a:bodyPr/>
          <a:lstStyle/>
          <a:p>
            <a:r>
              <a:rPr lang="zh-CN" altLang="en-US" sz="1200" b="1" i="0" kern="1200" dirty="0">
                <a:solidFill>
                  <a:schemeClr val="tx1"/>
                </a:solidFill>
                <a:effectLst/>
                <a:latin typeface="+mn-lt"/>
                <a:ea typeface="+mn-ea"/>
                <a:cs typeface="+mn-cs"/>
              </a:rPr>
              <a:t>问题</a:t>
            </a:r>
            <a:r>
              <a:rPr lang="en-US" altLang="zh-CN" sz="1200" b="1" i="0" kern="1200" dirty="0">
                <a:solidFill>
                  <a:schemeClr val="tx1"/>
                </a:solidFill>
                <a:effectLst/>
                <a:latin typeface="+mn-lt"/>
                <a:ea typeface="+mn-ea"/>
                <a:cs typeface="+mn-cs"/>
              </a:rPr>
              <a:t>2</a:t>
            </a:r>
            <a:r>
              <a:rPr lang="zh-CN" altLang="en-US" sz="1200" b="1" i="0" kern="1200" dirty="0">
                <a:solidFill>
                  <a:schemeClr val="tx1"/>
                </a:solidFill>
                <a:effectLst/>
                <a:latin typeface="+mn-lt"/>
                <a:ea typeface="+mn-ea"/>
                <a:cs typeface="+mn-cs"/>
              </a:rPr>
              <a:t>：代理指标的质量怎么样以及它们如何有利于整体的不确定性测量</a:t>
            </a:r>
            <a:endParaRPr lang="en-US" altLang="zh-CN" sz="1200" b="1"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研究者设计了多种估算情境权重 </a:t>
            </a:r>
            <a:r>
              <a:rPr lang="en-US" altLang="zh-CN" sz="1200" b="0" i="1" kern="1200" dirty="0">
                <a:solidFill>
                  <a:schemeClr val="tx1"/>
                </a:solidFill>
                <a:effectLst/>
                <a:latin typeface="+mn-lt"/>
                <a:ea typeface="+mn-ea"/>
                <a:cs typeface="+mn-cs"/>
              </a:rPr>
              <a:t>Wi</a:t>
            </a:r>
            <a:r>
              <a:rPr lang="zh-CN" altLang="en-US" sz="1200" b="0" i="0" kern="1200" dirty="0">
                <a:solidFill>
                  <a:schemeClr val="tx1"/>
                </a:solidFill>
                <a:effectLst/>
                <a:latin typeface="+mn-lt"/>
                <a:ea typeface="+mn-ea"/>
                <a:cs typeface="+mn-cs"/>
              </a:rPr>
              <a:t>​ 的方案，分别是</a:t>
            </a:r>
            <a:endParaRPr lang="en-US" altLang="zh-CN" sz="1200" b="0" i="0" kern="1200" dirty="0">
              <a:solidFill>
                <a:schemeClr val="tx1"/>
              </a:solidFill>
              <a:effectLst/>
              <a:latin typeface="+mn-lt"/>
              <a:ea typeface="+mn-ea"/>
              <a:cs typeface="+mn-cs"/>
            </a:endParaRPr>
          </a:p>
          <a:p>
            <a:r>
              <a:rPr lang="en-US" altLang="zh-CN" sz="1200" b="1" i="0" kern="1200" dirty="0">
                <a:solidFill>
                  <a:schemeClr val="tx1"/>
                </a:solidFill>
                <a:effectLst/>
                <a:latin typeface="+mn-lt"/>
                <a:ea typeface="+mn-ea"/>
                <a:cs typeface="+mn-cs"/>
              </a:rPr>
              <a:t>SAUP-P</a:t>
            </a:r>
            <a:r>
              <a:rPr lang="zh-CN" altLang="en-US" sz="1200" b="1" i="0" kern="1200" dirty="0">
                <a:solidFill>
                  <a:schemeClr val="tx1"/>
                </a:solidFill>
                <a:effectLst/>
                <a:latin typeface="+mn-lt"/>
                <a:ea typeface="+mn-ea"/>
                <a:cs typeface="+mn-cs"/>
              </a:rPr>
              <a:t>（位置权重）</a:t>
            </a:r>
            <a:r>
              <a:rPr lang="zh-CN" altLang="en-US" sz="1200" b="0" i="0" kern="1200" dirty="0">
                <a:solidFill>
                  <a:schemeClr val="tx1"/>
                </a:solidFill>
                <a:effectLst/>
                <a:latin typeface="+mn-lt"/>
                <a:ea typeface="+mn-ea"/>
                <a:cs typeface="+mn-cs"/>
              </a:rPr>
              <a:t>：给靠近答案的步骤更高权重。</a:t>
            </a:r>
          </a:p>
          <a:p>
            <a:r>
              <a:rPr lang="en-US" altLang="zh-CN" sz="1200" b="1" i="0" kern="1200" dirty="0">
                <a:solidFill>
                  <a:schemeClr val="tx1"/>
                </a:solidFill>
                <a:effectLst/>
                <a:latin typeface="+mn-lt"/>
                <a:ea typeface="+mn-ea"/>
                <a:cs typeface="+mn-cs"/>
              </a:rPr>
              <a:t>SAUP-D</a:t>
            </a:r>
            <a:r>
              <a:rPr lang="zh-CN" altLang="en-US" sz="1200" b="1" i="0" kern="1200" dirty="0">
                <a:solidFill>
                  <a:schemeClr val="tx1"/>
                </a:solidFill>
                <a:effectLst/>
                <a:latin typeface="+mn-lt"/>
                <a:ea typeface="+mn-ea"/>
                <a:cs typeface="+mn-cs"/>
              </a:rPr>
              <a:t>（距离权重）</a:t>
            </a:r>
            <a:r>
              <a:rPr lang="zh-CN" altLang="en-US" sz="1200" b="0" i="0" kern="1200" dirty="0">
                <a:solidFill>
                  <a:schemeClr val="tx1"/>
                </a:solidFill>
                <a:effectLst/>
                <a:latin typeface="+mn-lt"/>
                <a:ea typeface="+mn-ea"/>
                <a:cs typeface="+mn-cs"/>
              </a:rPr>
              <a:t>：仅使用语义距离计算权重。</a:t>
            </a:r>
          </a:p>
          <a:p>
            <a:r>
              <a:rPr lang="en-US" altLang="zh-CN" sz="1200" b="1" i="0" kern="1200" dirty="0">
                <a:solidFill>
                  <a:schemeClr val="tx1"/>
                </a:solidFill>
                <a:effectLst/>
                <a:latin typeface="+mn-lt"/>
                <a:ea typeface="+mn-ea"/>
                <a:cs typeface="+mn-cs"/>
              </a:rPr>
              <a:t>SAUP-PD</a:t>
            </a:r>
            <a:r>
              <a:rPr lang="zh-CN" altLang="en-US" sz="1200" b="1" i="0" kern="1200" dirty="0">
                <a:solidFill>
                  <a:schemeClr val="tx1"/>
                </a:solidFill>
                <a:effectLst/>
                <a:latin typeface="+mn-lt"/>
                <a:ea typeface="+mn-ea"/>
                <a:cs typeface="+mn-cs"/>
              </a:rPr>
              <a:t>（混合权重）</a:t>
            </a:r>
            <a:r>
              <a:rPr lang="zh-CN" altLang="en-US" sz="1200" b="0" i="0" kern="1200" dirty="0">
                <a:solidFill>
                  <a:schemeClr val="tx1"/>
                </a:solidFill>
                <a:effectLst/>
                <a:latin typeface="+mn-lt"/>
                <a:ea typeface="+mn-ea"/>
                <a:cs typeface="+mn-cs"/>
              </a:rPr>
              <a:t>：结合位置和距离。</a:t>
            </a:r>
          </a:p>
          <a:p>
            <a:r>
              <a:rPr lang="en-US" altLang="zh-CN" sz="1200" b="1" i="0" kern="1200" dirty="0">
                <a:solidFill>
                  <a:schemeClr val="tx1"/>
                </a:solidFill>
                <a:effectLst/>
                <a:latin typeface="+mn-lt"/>
                <a:ea typeface="+mn-ea"/>
                <a:cs typeface="+mn-cs"/>
              </a:rPr>
              <a:t>SAUP-HMMD</a:t>
            </a:r>
            <a:r>
              <a:rPr lang="zh-CN" altLang="en-US" sz="1200" b="1" i="0" kern="1200" dirty="0">
                <a:solidFill>
                  <a:schemeClr val="tx1"/>
                </a:solidFill>
                <a:effectLst/>
                <a:latin typeface="+mn-lt"/>
                <a:ea typeface="+mn-ea"/>
                <a:cs typeface="+mn-cs"/>
              </a:rPr>
              <a:t>（学习型权重）</a:t>
            </a:r>
            <a:r>
              <a:rPr lang="zh-CN" altLang="en-US" sz="1200" b="0" i="0" kern="1200" dirty="0">
                <a:solidFill>
                  <a:schemeClr val="tx1"/>
                </a:solidFill>
                <a:effectLst/>
                <a:latin typeface="+mn-lt"/>
                <a:ea typeface="+mn-ea"/>
                <a:cs typeface="+mn-cs"/>
              </a:rPr>
              <a:t>：基于连续隐马尔可夫模型进行推断。</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从表中的结果我们可以看到，所有加权方案都优于这些对所有步骤赋予相等的权重的简单聚合，不同的这些替代方案都提高了评分。其中，</a:t>
            </a:r>
            <a:r>
              <a:rPr lang="zh-CN" altLang="en-US" sz="1200" b="1" i="0" kern="1200" dirty="0">
                <a:solidFill>
                  <a:schemeClr val="tx1"/>
                </a:solidFill>
                <a:effectLst/>
                <a:latin typeface="+mn-lt"/>
                <a:ea typeface="+mn-ea"/>
                <a:cs typeface="+mn-cs"/>
              </a:rPr>
              <a:t>基于 </a:t>
            </a:r>
            <a:r>
              <a:rPr lang="en-US" altLang="zh-CN" sz="1200" b="1" i="0" kern="1200" dirty="0">
                <a:solidFill>
                  <a:schemeClr val="tx1"/>
                </a:solidFill>
                <a:effectLst/>
                <a:latin typeface="+mn-lt"/>
                <a:ea typeface="+mn-ea"/>
                <a:cs typeface="+mn-cs"/>
              </a:rPr>
              <a:t>HMM </a:t>
            </a:r>
            <a:r>
              <a:rPr lang="zh-CN" altLang="en-US" sz="1200" b="1" i="0" kern="1200" dirty="0">
                <a:solidFill>
                  <a:schemeClr val="tx1"/>
                </a:solidFill>
                <a:effectLst/>
                <a:latin typeface="+mn-lt"/>
                <a:ea typeface="+mn-ea"/>
                <a:cs typeface="+mn-cs"/>
              </a:rPr>
              <a:t>的学习型权重表现最优</a:t>
            </a:r>
            <a:r>
              <a:rPr lang="zh-CN" altLang="en-US" sz="1200" b="0" i="0" kern="1200" dirty="0">
                <a:solidFill>
                  <a:schemeClr val="tx1"/>
                </a:solidFill>
                <a:effectLst/>
                <a:latin typeface="+mn-lt"/>
                <a:ea typeface="+mn-ea"/>
                <a:cs typeface="+mn-cs"/>
              </a:rPr>
              <a:t>。</a:t>
            </a:r>
          </a:p>
          <a:p>
            <a:endParaRPr lang="zh-CN" altLang="en-US" b="0" dirty="0"/>
          </a:p>
        </p:txBody>
      </p:sp>
    </p:spTree>
    <p:extLst>
      <p:ext uri="{BB962C8B-B14F-4D97-AF65-F5344CB8AC3E}">
        <p14:creationId xmlns:p14="http://schemas.microsoft.com/office/powerpoint/2010/main" val="7364323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66A9C-6DB0-0D9F-E0DA-74A051FC0A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5E4C86-C825-A08C-C1D8-395A48BD279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44D163B-6665-C58D-219D-BC510D7D33D3}"/>
              </a:ext>
            </a:extLst>
          </p:cNvPr>
          <p:cNvSpPr>
            <a:spLocks noGrp="1"/>
          </p:cNvSpPr>
          <p:nvPr>
            <p:ph type="body" idx="3"/>
          </p:nvPr>
        </p:nvSpPr>
        <p:spPr/>
        <p:txBody>
          <a:bodyPr/>
          <a:lstStyle/>
          <a:p>
            <a:r>
              <a:rPr lang="zh-CN" altLang="en-US" sz="1200" b="1" i="0" kern="1200" dirty="0">
                <a:solidFill>
                  <a:schemeClr val="tx1"/>
                </a:solidFill>
                <a:effectLst/>
                <a:latin typeface="+mn-lt"/>
                <a:ea typeface="+mn-ea"/>
                <a:cs typeface="+mn-cs"/>
              </a:rPr>
              <a:t>问题</a:t>
            </a:r>
            <a:r>
              <a:rPr lang="en-US" altLang="zh-CN" sz="1200" b="1" i="0" kern="1200" dirty="0">
                <a:solidFill>
                  <a:schemeClr val="tx1"/>
                </a:solidFill>
                <a:effectLst/>
                <a:latin typeface="+mn-lt"/>
                <a:ea typeface="+mn-ea"/>
                <a:cs typeface="+mn-cs"/>
              </a:rPr>
              <a:t>3</a:t>
            </a:r>
            <a:r>
              <a:rPr lang="zh-CN" altLang="en-US" sz="1200" b="1" i="0" kern="1200" dirty="0">
                <a:solidFill>
                  <a:schemeClr val="tx1"/>
                </a:solidFill>
                <a:effectLst/>
                <a:latin typeface="+mn-lt"/>
                <a:ea typeface="+mn-ea"/>
                <a:cs typeface="+mn-cs"/>
              </a:rPr>
              <a:t>：</a:t>
            </a:r>
            <a:r>
              <a:rPr lang="en-US" altLang="zh-CN" sz="1200" b="1" i="0" kern="1200" dirty="0">
                <a:solidFill>
                  <a:schemeClr val="tx1"/>
                </a:solidFill>
                <a:effectLst/>
                <a:latin typeface="+mn-lt"/>
                <a:ea typeface="+mn-ea"/>
                <a:cs typeface="+mn-cs"/>
              </a:rPr>
              <a:t>SAUP</a:t>
            </a:r>
            <a:r>
              <a:rPr lang="zh-CN" altLang="en-US" sz="1200" b="1" i="0" kern="1200" dirty="0">
                <a:solidFill>
                  <a:schemeClr val="tx1"/>
                </a:solidFill>
                <a:effectLst/>
                <a:latin typeface="+mn-lt"/>
                <a:ea typeface="+mn-ea"/>
                <a:cs typeface="+mn-cs"/>
              </a:rPr>
              <a:t>能否显示其在分离正确和错误结果方面的优越性</a:t>
            </a:r>
            <a:r>
              <a:rPr lang="en-US" altLang="zh-CN" sz="1200" b="1" i="0" kern="1200" dirty="0">
                <a:solidFill>
                  <a:schemeClr val="tx1"/>
                </a:solidFill>
                <a:effectLst/>
                <a:latin typeface="+mn-lt"/>
                <a:ea typeface="+mn-ea"/>
                <a:cs typeface="+mn-cs"/>
              </a:rPr>
              <a:t>?</a:t>
            </a:r>
          </a:p>
          <a:p>
            <a:r>
              <a:rPr lang="zh-CN" altLang="en-US" sz="1200" b="0" i="0" kern="1200" dirty="0">
                <a:solidFill>
                  <a:schemeClr val="tx1"/>
                </a:solidFill>
                <a:effectLst/>
                <a:latin typeface="+mn-lt"/>
                <a:ea typeface="+mn-ea"/>
                <a:cs typeface="+mn-cs"/>
              </a:rPr>
              <a:t>论文通过这个图 </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展示了在 </a:t>
            </a:r>
            <a:r>
              <a:rPr lang="en-US" altLang="zh-CN" sz="1200" b="0" i="0" kern="1200" dirty="0" err="1">
                <a:solidFill>
                  <a:schemeClr val="tx1"/>
                </a:solidFill>
                <a:effectLst/>
                <a:latin typeface="+mn-lt"/>
                <a:ea typeface="+mn-ea"/>
                <a:cs typeface="+mn-cs"/>
              </a:rPr>
              <a:t>StrategyQA</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数据集上的可视化对比，</a:t>
            </a:r>
            <a:endParaRPr lang="en-US" altLang="zh-CN"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左图（单步法）</a:t>
            </a:r>
            <a:r>
              <a:rPr lang="zh-CN" altLang="en-US" sz="1200" b="0" i="0" kern="1200" dirty="0">
                <a:solidFill>
                  <a:schemeClr val="tx1"/>
                </a:solidFill>
                <a:effectLst/>
                <a:latin typeface="+mn-lt"/>
                <a:ea typeface="+mn-ea"/>
                <a:cs typeface="+mn-cs"/>
              </a:rPr>
              <a:t>：代表正确答案（蓝色）和错误答案（红色）的点高度重叠，难以区分。</a:t>
            </a:r>
          </a:p>
          <a:p>
            <a:r>
              <a:rPr lang="zh-CN" altLang="en-US" sz="1200" b="1" i="0" kern="1200" dirty="0">
                <a:solidFill>
                  <a:schemeClr val="tx1"/>
                </a:solidFill>
                <a:effectLst/>
                <a:latin typeface="+mn-lt"/>
                <a:ea typeface="+mn-ea"/>
                <a:cs typeface="+mn-cs"/>
              </a:rPr>
              <a:t>中图（简单不确定性传播）</a:t>
            </a:r>
            <a:r>
              <a:rPr lang="zh-CN" altLang="en-US" sz="1200" b="0" i="0" kern="1200" dirty="0">
                <a:solidFill>
                  <a:schemeClr val="tx1"/>
                </a:solidFill>
                <a:effectLst/>
                <a:latin typeface="+mn-lt"/>
                <a:ea typeface="+mn-ea"/>
                <a:cs typeface="+mn-cs"/>
              </a:rPr>
              <a:t>：重叠情况有所改善，但区分度仍不够。</a:t>
            </a:r>
          </a:p>
          <a:p>
            <a:r>
              <a:rPr lang="zh-CN" altLang="en-US" sz="1200" b="1" i="0" kern="1200" dirty="0">
                <a:solidFill>
                  <a:schemeClr val="tx1"/>
                </a:solidFill>
                <a:effectLst/>
                <a:latin typeface="+mn-lt"/>
                <a:ea typeface="+mn-ea"/>
                <a:cs typeface="+mn-cs"/>
              </a:rPr>
              <a:t>右图（</a:t>
            </a:r>
            <a:r>
              <a:rPr lang="en-US" altLang="zh-CN" sz="1200" b="1" i="0" kern="1200" dirty="0">
                <a:solidFill>
                  <a:schemeClr val="tx1"/>
                </a:solidFill>
                <a:effectLst/>
                <a:latin typeface="+mn-lt"/>
                <a:ea typeface="+mn-ea"/>
                <a:cs typeface="+mn-cs"/>
              </a:rPr>
              <a:t>SAUP</a:t>
            </a:r>
            <a:r>
              <a:rPr lang="zh-CN" altLang="en-US" sz="1200" b="1"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红蓝两类点实现了最清晰的分离</a:t>
            </a:r>
            <a:r>
              <a:rPr lang="zh-CN" altLang="en-US" sz="1200" b="0" i="0" kern="1200" dirty="0">
                <a:solidFill>
                  <a:schemeClr val="tx1"/>
                </a:solidFill>
                <a:effectLst/>
                <a:latin typeface="+mn-lt"/>
                <a:ea typeface="+mn-ea"/>
                <a:cs typeface="+mn-cs"/>
              </a:rPr>
              <a:t>，这意味着 </a:t>
            </a:r>
            <a:r>
              <a:rPr lang="en-US" altLang="zh-CN" sz="1200" b="0" i="0" kern="1200" dirty="0">
                <a:solidFill>
                  <a:schemeClr val="tx1"/>
                </a:solidFill>
                <a:effectLst/>
                <a:latin typeface="+mn-lt"/>
                <a:ea typeface="+mn-ea"/>
                <a:cs typeface="+mn-cs"/>
              </a:rPr>
              <a:t>SAUP </a:t>
            </a:r>
            <a:r>
              <a:rPr lang="zh-CN" altLang="en-US" sz="1200" b="0" i="0" kern="1200" dirty="0">
                <a:solidFill>
                  <a:schemeClr val="tx1"/>
                </a:solidFill>
                <a:effectLst/>
                <a:latin typeface="+mn-lt"/>
                <a:ea typeface="+mn-ea"/>
                <a:cs typeface="+mn-cs"/>
              </a:rPr>
              <a:t>给出的高分几乎全是错题，低分基本全是全对题，判别性能最强（因为这个是不确定性得分，如果不确定性高说明答案极有可能是错的）。</a:t>
            </a:r>
          </a:p>
          <a:p>
            <a:endParaRPr lang="zh-CN" altLang="en-US" sz="1200" b="0" i="0" kern="1200" dirty="0">
              <a:solidFill>
                <a:schemeClr val="tx1"/>
              </a:solidFill>
              <a:effectLst/>
              <a:latin typeface="+mn-lt"/>
              <a:ea typeface="+mn-ea"/>
              <a:cs typeface="+mn-cs"/>
            </a:endParaRPr>
          </a:p>
          <a:p>
            <a:endParaRPr lang="zh-CN" altLang="en-US" b="0" dirty="0"/>
          </a:p>
        </p:txBody>
      </p:sp>
    </p:spTree>
    <p:extLst>
      <p:ext uri="{BB962C8B-B14F-4D97-AF65-F5344CB8AC3E}">
        <p14:creationId xmlns:p14="http://schemas.microsoft.com/office/powerpoint/2010/main" val="10017266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AC38C-FBC7-6F9D-E295-51017FA850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37AFFC-4808-221C-0340-370A0FD534E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FDB50B9-C906-1D8F-0752-8F4E671880E7}"/>
              </a:ext>
            </a:extLst>
          </p:cNvPr>
          <p:cNvSpPr>
            <a:spLocks noGrp="1"/>
          </p:cNvSpPr>
          <p:nvPr>
            <p:ph type="body" idx="3"/>
          </p:nvPr>
        </p:nvSpPr>
        <p:spPr/>
        <p:txBody>
          <a:bodyPr/>
          <a:lstStyle/>
          <a:p>
            <a:r>
              <a:rPr lang="zh-CN" altLang="en-US" sz="1200" b="1" i="0" kern="1200" dirty="0">
                <a:solidFill>
                  <a:schemeClr val="tx1"/>
                </a:solidFill>
                <a:effectLst/>
                <a:latin typeface="+mn-lt"/>
                <a:ea typeface="+mn-ea"/>
                <a:cs typeface="+mn-cs"/>
              </a:rPr>
              <a:t>问题</a:t>
            </a:r>
            <a:r>
              <a:rPr lang="en-US" altLang="zh-CN" sz="1200" b="1" i="0" kern="1200" dirty="0">
                <a:solidFill>
                  <a:schemeClr val="tx1"/>
                </a:solidFill>
                <a:effectLst/>
                <a:latin typeface="+mn-lt"/>
                <a:ea typeface="+mn-ea"/>
                <a:cs typeface="+mn-cs"/>
              </a:rPr>
              <a:t>4</a:t>
            </a:r>
            <a:r>
              <a:rPr lang="zh-CN" altLang="en-US" sz="1200" b="1" i="0" kern="1200" dirty="0">
                <a:solidFill>
                  <a:schemeClr val="tx1"/>
                </a:solidFill>
                <a:effectLst/>
                <a:latin typeface="+mn-lt"/>
                <a:ea typeface="+mn-ea"/>
                <a:cs typeface="+mn-cs"/>
              </a:rPr>
              <a:t>：</a:t>
            </a:r>
            <a:r>
              <a:rPr lang="en-US" altLang="zh-CN" sz="1200" b="1" i="0" kern="1200" dirty="0">
                <a:solidFill>
                  <a:schemeClr val="tx1"/>
                </a:solidFill>
                <a:effectLst/>
                <a:latin typeface="+mn-lt"/>
                <a:ea typeface="+mn-ea"/>
                <a:cs typeface="+mn-cs"/>
              </a:rPr>
              <a:t>HMM</a:t>
            </a:r>
            <a:r>
              <a:rPr lang="zh-CN" altLang="en-US" sz="1200" b="1" i="0" kern="1200" dirty="0">
                <a:solidFill>
                  <a:schemeClr val="tx1"/>
                </a:solidFill>
                <a:effectLst/>
                <a:latin typeface="+mn-lt"/>
                <a:ea typeface="+mn-ea"/>
                <a:cs typeface="+mn-cs"/>
              </a:rPr>
              <a:t>是否合理，其性能如何随着数据集规模的不同而变化。为什么不使用基于梯度的模型，如</a:t>
            </a:r>
            <a:r>
              <a:rPr lang="en-US" altLang="zh-CN" sz="1200" b="1" i="0" kern="1200" dirty="0">
                <a:solidFill>
                  <a:schemeClr val="tx1"/>
                </a:solidFill>
                <a:effectLst/>
                <a:latin typeface="+mn-lt"/>
                <a:ea typeface="+mn-ea"/>
                <a:cs typeface="+mn-cs"/>
              </a:rPr>
              <a:t>RNN</a:t>
            </a:r>
            <a:r>
              <a:rPr lang="zh-CN" altLang="en-US" sz="1200" b="1" i="0" kern="1200" dirty="0">
                <a:solidFill>
                  <a:schemeClr val="tx1"/>
                </a:solidFill>
                <a:effectLst/>
                <a:latin typeface="+mn-lt"/>
                <a:ea typeface="+mn-ea"/>
                <a:cs typeface="+mn-cs"/>
              </a:rPr>
              <a:t>或</a:t>
            </a:r>
            <a:r>
              <a:rPr lang="en-US" altLang="zh-CN" sz="1200" b="1" i="0" kern="1200" dirty="0">
                <a:solidFill>
                  <a:schemeClr val="tx1"/>
                </a:solidFill>
                <a:effectLst/>
                <a:latin typeface="+mn-lt"/>
                <a:ea typeface="+mn-ea"/>
                <a:cs typeface="+mn-cs"/>
              </a:rPr>
              <a:t>Transformers</a:t>
            </a:r>
            <a:r>
              <a:rPr lang="zh-CN" altLang="en-US" sz="1200" b="1" i="0" kern="1200" dirty="0">
                <a:solidFill>
                  <a:schemeClr val="tx1"/>
                </a:solidFill>
                <a:effectLst/>
                <a:latin typeface="+mn-lt"/>
                <a:ea typeface="+mn-ea"/>
                <a:cs typeface="+mn-cs"/>
              </a:rPr>
              <a:t>。</a:t>
            </a:r>
            <a:endParaRPr lang="en-US" altLang="zh-CN" sz="1200" b="1"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在</a:t>
            </a:r>
            <a:r>
              <a:rPr lang="en-US" altLang="zh-CN" sz="1200" b="0" i="0" kern="1200" dirty="0">
                <a:solidFill>
                  <a:schemeClr val="tx1"/>
                </a:solidFill>
                <a:effectLst/>
                <a:latin typeface="+mn-lt"/>
                <a:ea typeface="+mn-ea"/>
                <a:cs typeface="+mn-cs"/>
              </a:rPr>
              <a:t>Strategy QA</a:t>
            </a:r>
            <a:r>
              <a:rPr lang="zh-CN" altLang="en-US" sz="1200" b="0" i="0" kern="1200" dirty="0">
                <a:solidFill>
                  <a:schemeClr val="tx1"/>
                </a:solidFill>
                <a:effectLst/>
                <a:latin typeface="+mn-lt"/>
                <a:ea typeface="+mn-ea"/>
                <a:cs typeface="+mn-cs"/>
              </a:rPr>
              <a:t>数据集上，我们评估了基于</a:t>
            </a:r>
            <a:r>
              <a:rPr lang="en-US" altLang="zh-CN" sz="1200" b="0" i="0" kern="1200" dirty="0">
                <a:solidFill>
                  <a:schemeClr val="tx1"/>
                </a:solidFill>
                <a:effectLst/>
                <a:latin typeface="+mn-lt"/>
                <a:ea typeface="+mn-ea"/>
                <a:cs typeface="+mn-cs"/>
              </a:rPr>
              <a:t>HMM</a:t>
            </a:r>
            <a:r>
              <a:rPr lang="zh-CN" altLang="en-US" sz="1200" b="0" i="0" kern="1200" dirty="0">
                <a:solidFill>
                  <a:schemeClr val="tx1"/>
                </a:solidFill>
                <a:effectLst/>
                <a:latin typeface="+mn-lt"/>
                <a:ea typeface="+mn-ea"/>
                <a:cs typeface="+mn-cs"/>
              </a:rPr>
              <a:t>、基于</a:t>
            </a:r>
            <a:r>
              <a:rPr lang="en-US" altLang="zh-CN" sz="1200" b="0" i="0" kern="1200" dirty="0">
                <a:solidFill>
                  <a:schemeClr val="tx1"/>
                </a:solidFill>
                <a:effectLst/>
                <a:latin typeface="+mn-lt"/>
                <a:ea typeface="+mn-ea"/>
                <a:cs typeface="+mn-cs"/>
              </a:rPr>
              <a:t>LSTM</a:t>
            </a:r>
            <a:r>
              <a:rPr lang="zh-CN" altLang="en-US" sz="1200" b="0" i="0" kern="1200" dirty="0">
                <a:solidFill>
                  <a:schemeClr val="tx1"/>
                </a:solidFill>
                <a:effectLst/>
                <a:latin typeface="+mn-lt"/>
                <a:ea typeface="+mn-ea"/>
                <a:cs typeface="+mn-cs"/>
              </a:rPr>
              <a:t>和基于</a:t>
            </a:r>
            <a:r>
              <a:rPr lang="en-US" altLang="zh-CN" sz="1200" b="0" i="0" kern="1200" dirty="0">
                <a:solidFill>
                  <a:schemeClr val="tx1"/>
                </a:solidFill>
                <a:effectLst/>
                <a:latin typeface="+mn-lt"/>
                <a:ea typeface="+mn-ea"/>
                <a:cs typeface="+mn-cs"/>
              </a:rPr>
              <a:t>Transformer</a:t>
            </a:r>
            <a:r>
              <a:rPr lang="zh-CN" altLang="en-US" sz="1200" b="0" i="0" kern="1200" dirty="0">
                <a:solidFill>
                  <a:schemeClr val="tx1"/>
                </a:solidFill>
                <a:effectLst/>
                <a:latin typeface="+mn-lt"/>
                <a:ea typeface="+mn-ea"/>
                <a:cs typeface="+mn-cs"/>
              </a:rPr>
              <a:t>的替代方法在不同训练数据集大小下的表现。</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从图</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可以看出，</a:t>
            </a:r>
            <a:r>
              <a:rPr lang="en-US" altLang="zh-CN" sz="1200" b="0" i="0" kern="1200" dirty="0">
                <a:solidFill>
                  <a:schemeClr val="tx1"/>
                </a:solidFill>
                <a:effectLst/>
                <a:latin typeface="+mn-lt"/>
                <a:ea typeface="+mn-ea"/>
                <a:cs typeface="+mn-cs"/>
              </a:rPr>
              <a:t>HMMs</a:t>
            </a:r>
            <a:r>
              <a:rPr lang="zh-CN" altLang="en-US" sz="1200" b="0" i="0" kern="1200" dirty="0">
                <a:solidFill>
                  <a:schemeClr val="tx1"/>
                </a:solidFill>
                <a:effectLst/>
                <a:latin typeface="+mn-lt"/>
                <a:ea typeface="+mn-ea"/>
                <a:cs typeface="+mn-cs"/>
              </a:rPr>
              <a:t>在数据集较小的情况下表现较好，而</a:t>
            </a:r>
            <a:r>
              <a:rPr lang="en-US" altLang="zh-CN" sz="1200" b="0" i="0" kern="1200" dirty="0">
                <a:solidFill>
                  <a:schemeClr val="tx1"/>
                </a:solidFill>
                <a:effectLst/>
                <a:latin typeface="+mn-lt"/>
                <a:ea typeface="+mn-ea"/>
                <a:cs typeface="+mn-cs"/>
              </a:rPr>
              <a:t>LSTMs</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Transformers</a:t>
            </a:r>
            <a:r>
              <a:rPr lang="zh-CN" altLang="en-US" sz="1200" b="0" i="0" kern="1200" dirty="0">
                <a:solidFill>
                  <a:schemeClr val="tx1"/>
                </a:solidFill>
                <a:effectLst/>
                <a:latin typeface="+mn-lt"/>
                <a:ea typeface="+mn-ea"/>
                <a:cs typeface="+mn-cs"/>
              </a:rPr>
              <a:t>在数据较多的情况下表现较好。由于简单有效，特别是在数据有限的情况下，</a:t>
            </a:r>
            <a:r>
              <a:rPr lang="en-US" altLang="zh-CN" sz="1200" b="0" i="0" kern="1200" dirty="0">
                <a:solidFill>
                  <a:schemeClr val="tx1"/>
                </a:solidFill>
                <a:effectLst/>
                <a:latin typeface="+mn-lt"/>
                <a:ea typeface="+mn-ea"/>
                <a:cs typeface="+mn-cs"/>
              </a:rPr>
              <a:t>HMMs</a:t>
            </a:r>
            <a:r>
              <a:rPr lang="zh-CN" altLang="en-US" sz="1200" b="0" i="0" kern="1200" dirty="0">
                <a:solidFill>
                  <a:schemeClr val="tx1"/>
                </a:solidFill>
                <a:effectLst/>
                <a:latin typeface="+mn-lt"/>
                <a:ea typeface="+mn-ea"/>
                <a:cs typeface="+mn-cs"/>
              </a:rPr>
              <a:t>在基于</a:t>
            </a:r>
            <a:r>
              <a:rPr lang="en-US" altLang="zh-CN" sz="1200" b="0" i="0" kern="1200" dirty="0">
                <a:solidFill>
                  <a:schemeClr val="tx1"/>
                </a:solidFill>
                <a:effectLst/>
                <a:latin typeface="+mn-lt"/>
                <a:ea typeface="+mn-ea"/>
                <a:cs typeface="+mn-cs"/>
              </a:rPr>
              <a:t>LLM</a:t>
            </a:r>
            <a:r>
              <a:rPr lang="zh-CN" altLang="en-US" sz="1200" b="0" i="0" kern="1200" dirty="0">
                <a:solidFill>
                  <a:schemeClr val="tx1"/>
                </a:solidFill>
                <a:effectLst/>
                <a:latin typeface="+mn-lt"/>
                <a:ea typeface="+mn-ea"/>
                <a:cs typeface="+mn-cs"/>
              </a:rPr>
              <a:t>的</a:t>
            </a:r>
            <a:r>
              <a:rPr lang="en-US" altLang="zh-CN" sz="1200" b="0" i="0" kern="1200" dirty="0">
                <a:solidFill>
                  <a:schemeClr val="tx1"/>
                </a:solidFill>
                <a:effectLst/>
                <a:latin typeface="+mn-lt"/>
                <a:ea typeface="+mn-ea"/>
                <a:cs typeface="+mn-cs"/>
              </a:rPr>
              <a:t>agent</a:t>
            </a:r>
            <a:r>
              <a:rPr lang="zh-CN" altLang="en-US" sz="1200" b="0" i="0" kern="1200" dirty="0">
                <a:solidFill>
                  <a:schemeClr val="tx1"/>
                </a:solidFill>
                <a:effectLst/>
                <a:latin typeface="+mn-lt"/>
                <a:ea typeface="+mn-ea"/>
                <a:cs typeface="+mn-cs"/>
              </a:rPr>
              <a:t>中的不确定性传播中是实用的</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endParaRPr lang="zh-CN" altLang="en-US" sz="1200" b="0" i="0" kern="1200" dirty="0">
              <a:solidFill>
                <a:schemeClr val="tx1"/>
              </a:solidFill>
              <a:effectLst/>
              <a:latin typeface="+mn-lt"/>
              <a:ea typeface="+mn-ea"/>
              <a:cs typeface="+mn-cs"/>
            </a:endParaRPr>
          </a:p>
          <a:p>
            <a:endParaRPr lang="zh-CN" altLang="en-US" b="0" dirty="0"/>
          </a:p>
        </p:txBody>
      </p:sp>
    </p:spTree>
    <p:extLst>
      <p:ext uri="{BB962C8B-B14F-4D97-AF65-F5344CB8AC3E}">
        <p14:creationId xmlns:p14="http://schemas.microsoft.com/office/powerpoint/2010/main" val="5206569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F60A5-DF4C-7C23-BECE-D2DB51D1C6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5AEAD3-E518-983A-4522-E1C29B4D40A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37DD6882-76C1-4AAA-651D-0750154BA36F}"/>
              </a:ext>
            </a:extLst>
          </p:cNvPr>
          <p:cNvSpPr>
            <a:spLocks noGrp="1"/>
          </p:cNvSpPr>
          <p:nvPr>
            <p:ph type="body" idx="3"/>
          </p:nvPr>
        </p:nvSpPr>
        <p:spPr/>
        <p:txBody>
          <a:bodyPr/>
          <a:lstStyle/>
          <a:p>
            <a:r>
              <a:rPr lang="zh-CN" altLang="en-US" sz="1200" b="1" i="0" kern="1200" dirty="0">
                <a:solidFill>
                  <a:schemeClr val="tx1"/>
                </a:solidFill>
                <a:effectLst/>
                <a:latin typeface="+mn-lt"/>
                <a:ea typeface="+mn-ea"/>
                <a:cs typeface="+mn-cs"/>
              </a:rPr>
              <a:t>问题</a:t>
            </a:r>
            <a:r>
              <a:rPr lang="en-US" altLang="zh-CN" sz="1200" b="1" i="0" kern="1200" dirty="0">
                <a:solidFill>
                  <a:schemeClr val="tx1"/>
                </a:solidFill>
                <a:effectLst/>
                <a:latin typeface="+mn-lt"/>
                <a:ea typeface="+mn-ea"/>
                <a:cs typeface="+mn-cs"/>
              </a:rPr>
              <a:t>5</a:t>
            </a:r>
            <a:r>
              <a:rPr lang="zh-CN" altLang="en-US" sz="1200" b="1" i="0" kern="1200" dirty="0">
                <a:solidFill>
                  <a:schemeClr val="tx1"/>
                </a:solidFill>
                <a:effectLst/>
                <a:latin typeface="+mn-lt"/>
                <a:ea typeface="+mn-ea"/>
                <a:cs typeface="+mn-cs"/>
              </a:rPr>
              <a:t>：问题难度是否影响不确定性传播的有效性。</a:t>
            </a:r>
            <a:endParaRPr lang="en-US" altLang="zh-CN" sz="1200" b="1"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复杂的问题导致更长的、细致入微的决策，增加了不确定性的积累。</a:t>
            </a:r>
            <a:r>
              <a:rPr lang="en-US" altLang="zh-CN" sz="1200" b="0" i="0" kern="1200" dirty="0">
                <a:solidFill>
                  <a:schemeClr val="tx1"/>
                </a:solidFill>
                <a:effectLst/>
                <a:latin typeface="+mn-lt"/>
                <a:ea typeface="+mn-ea"/>
                <a:cs typeface="+mn-cs"/>
              </a:rPr>
              <a:t>SAUP</a:t>
            </a:r>
            <a:r>
              <a:rPr lang="zh-CN" altLang="en-US" sz="1200" b="0" i="0" kern="1200" dirty="0">
                <a:solidFill>
                  <a:schemeClr val="tx1"/>
                </a:solidFill>
                <a:effectLst/>
                <a:latin typeface="+mn-lt"/>
                <a:ea typeface="+mn-ea"/>
                <a:cs typeface="+mn-cs"/>
              </a:rPr>
              <a:t>的情境感知框架在这种情况下表现得尤为出色，有效地在每个步骤中传播不确定性。</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如表</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所示，</a:t>
            </a:r>
            <a:r>
              <a:rPr lang="en-US" altLang="zh-CN" sz="1200" b="0" i="0" kern="1200" dirty="0">
                <a:solidFill>
                  <a:schemeClr val="tx1"/>
                </a:solidFill>
                <a:effectLst/>
                <a:latin typeface="+mn-lt"/>
                <a:ea typeface="+mn-ea"/>
                <a:cs typeface="+mn-cs"/>
              </a:rPr>
              <a:t>SAUP</a:t>
            </a:r>
            <a:r>
              <a:rPr lang="zh-CN" altLang="en-US" sz="1200" b="0" i="0" kern="1200" dirty="0">
                <a:solidFill>
                  <a:schemeClr val="tx1"/>
                </a:solidFill>
                <a:effectLst/>
                <a:latin typeface="+mn-lt"/>
                <a:ea typeface="+mn-ea"/>
                <a:cs typeface="+mn-cs"/>
              </a:rPr>
              <a:t>的优势在更有挑战性的数据集</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如</a:t>
            </a:r>
            <a:r>
              <a:rPr lang="en-US" altLang="zh-CN" sz="1200" b="0" i="0" kern="1200" dirty="0">
                <a:solidFill>
                  <a:schemeClr val="tx1"/>
                </a:solidFill>
                <a:effectLst/>
                <a:latin typeface="+mn-lt"/>
                <a:ea typeface="+mn-ea"/>
                <a:cs typeface="+mn-cs"/>
              </a:rPr>
              <a:t>Strategy QA )</a:t>
            </a:r>
            <a:r>
              <a:rPr lang="zh-CN" altLang="en-US" sz="1200" b="0" i="0" kern="1200" dirty="0">
                <a:solidFill>
                  <a:schemeClr val="tx1"/>
                </a:solidFill>
                <a:effectLst/>
                <a:latin typeface="+mn-lt"/>
                <a:ea typeface="+mn-ea"/>
                <a:cs typeface="+mn-cs"/>
              </a:rPr>
              <a:t>中最为明显，</a:t>
            </a:r>
            <a:r>
              <a:rPr lang="en-US" altLang="zh-CN" sz="1200" b="0" i="0" kern="1200" dirty="0">
                <a:solidFill>
                  <a:schemeClr val="tx1"/>
                </a:solidFill>
                <a:effectLst/>
                <a:latin typeface="+mn-lt"/>
                <a:ea typeface="+mn-ea"/>
                <a:cs typeface="+mn-cs"/>
              </a:rPr>
              <a:t>AUROC</a:t>
            </a:r>
            <a:r>
              <a:rPr lang="zh-CN" altLang="en-US" sz="1200" b="0" i="0" kern="1200" dirty="0">
                <a:solidFill>
                  <a:schemeClr val="tx1"/>
                </a:solidFill>
                <a:effectLst/>
                <a:latin typeface="+mn-lt"/>
                <a:ea typeface="+mn-ea"/>
                <a:cs typeface="+mn-cs"/>
              </a:rPr>
              <a:t>的提升也更大。</a:t>
            </a:r>
            <a:endParaRPr lang="en-US" altLang="zh-CN" sz="1200" b="0" i="0" kern="1200" dirty="0">
              <a:solidFill>
                <a:schemeClr val="tx1"/>
              </a:solidFill>
              <a:effectLst/>
              <a:latin typeface="+mn-lt"/>
              <a:ea typeface="+mn-ea"/>
              <a:cs typeface="+mn-cs"/>
            </a:endParaRPr>
          </a:p>
          <a:p>
            <a:endParaRPr lang="zh-CN" altLang="en-US" sz="1200" b="0" i="0" kern="1200" dirty="0">
              <a:solidFill>
                <a:schemeClr val="tx1"/>
              </a:solidFill>
              <a:effectLst/>
              <a:latin typeface="+mn-lt"/>
              <a:ea typeface="+mn-ea"/>
              <a:cs typeface="+mn-cs"/>
            </a:endParaRPr>
          </a:p>
          <a:p>
            <a:endParaRPr lang="zh-CN" altLang="en-US" b="0" dirty="0"/>
          </a:p>
        </p:txBody>
      </p:sp>
    </p:spTree>
    <p:extLst>
      <p:ext uri="{BB962C8B-B14F-4D97-AF65-F5344CB8AC3E}">
        <p14:creationId xmlns:p14="http://schemas.microsoft.com/office/powerpoint/2010/main" val="41476240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最后是总结与局限性部分</a:t>
            </a:r>
            <a:endParaRPr lang="en-US" altLang="zh-CN" dirty="0"/>
          </a:p>
          <a:p>
            <a:r>
              <a:rPr lang="zh-CN" altLang="en-US" dirty="0"/>
              <a:t>在本文中，我们提出了情境感知不确定性传播这种框架，该框架显著提升了 </a:t>
            </a:r>
            <a:r>
              <a:rPr lang="en-US" altLang="zh-CN" dirty="0"/>
              <a:t>LLM </a:t>
            </a:r>
            <a:r>
              <a:rPr lang="zh-CN" altLang="en-US" dirty="0"/>
              <a:t>智能体在复杂决策中的可靠性与判别性能</a:t>
            </a:r>
          </a:p>
          <a:p>
            <a:r>
              <a:rPr lang="zh-CN" altLang="en-US" dirty="0"/>
              <a:t>尽管</a:t>
            </a:r>
            <a:r>
              <a:rPr lang="en-US" altLang="zh-CN" dirty="0"/>
              <a:t>SAUP</a:t>
            </a:r>
            <a:r>
              <a:rPr lang="zh-CN" altLang="en-US" dirty="0"/>
              <a:t>在改善基于多步</a:t>
            </a:r>
            <a:r>
              <a:rPr lang="en-US" altLang="zh-CN" dirty="0"/>
              <a:t>LLM</a:t>
            </a:r>
            <a:r>
              <a:rPr lang="zh-CN" altLang="en-US" dirty="0"/>
              <a:t>的智能体的不确定性估计方面是有效的，但仍然存在一些局限性。</a:t>
            </a:r>
          </a:p>
          <a:p>
            <a:r>
              <a:rPr lang="en-US" altLang="zh-CN" dirty="0"/>
              <a:t>	</a:t>
            </a:r>
            <a:r>
              <a:rPr lang="zh-CN" altLang="en-US" dirty="0"/>
              <a:t>首先是基于学习的情境权重目前依赖人工标注的数据，这一过程既费钱又耗时。</a:t>
            </a:r>
          </a:p>
          <a:p>
            <a:r>
              <a:rPr lang="en-US" altLang="zh-CN" dirty="0"/>
              <a:t>	</a:t>
            </a:r>
            <a:r>
              <a:rPr lang="zh-CN" altLang="en-US" dirty="0"/>
              <a:t>其次该框架假设能够准确捕捉单步不确定性；步骤层面的误差会损害不确定性的传播。</a:t>
            </a:r>
          </a:p>
          <a:p>
            <a:r>
              <a:rPr lang="zh-CN" altLang="en-US" dirty="0"/>
              <a:t>未来工作应该致力于探索更稳健的权重估计方法，可考虑利用大语言模型生成的标签以降低对人工标注的依赖。</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2026/5/18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995170"/>
            <a:ext cx="9144000" cy="892175"/>
          </a:xfrm>
        </p:spPr>
        <p:txBody>
          <a:bodyPr/>
          <a:lstStyle/>
          <a:p>
            <a:r>
              <a:rPr lang="en-US" altLang="zh-CN" sz="4000">
                <a:latin typeface="Times New Roman" panose="02020603050405020304" charset="0"/>
                <a:cs typeface="Times New Roman" panose="02020603050405020304" charset="0"/>
              </a:rPr>
              <a:t>Uncertainty Propagation on LLM Agent</a:t>
            </a:r>
          </a:p>
        </p:txBody>
      </p:sp>
      <p:sp>
        <p:nvSpPr>
          <p:cNvPr id="3" name="副标题 2"/>
          <p:cNvSpPr>
            <a:spLocks noGrp="1"/>
          </p:cNvSpPr>
          <p:nvPr>
            <p:ph type="subTitle" idx="1"/>
          </p:nvPr>
        </p:nvSpPr>
        <p:spPr>
          <a:xfrm>
            <a:off x="1524000" y="3528378"/>
            <a:ext cx="9144000" cy="1655762"/>
          </a:xfrm>
        </p:spPr>
        <p:txBody>
          <a:bodyPr/>
          <a:lstStyle/>
          <a:p>
            <a:r>
              <a:rPr lang="en-US" altLang="zh-CN"/>
              <a:t>Qiwei Zhao1*, Dong Li2*, Yanchi Liu3, Wei Cheng3, Yiyou Sun3, Mika Oishi4, Takao Osaki4, Katsushi Matsuda4, Huaxiu Yao3, Chen Zhao2,  Haifeng Chen3, Xujiang Zhao3</a:t>
            </a:r>
          </a:p>
          <a:p>
            <a:r>
              <a:rPr lang="en-US" altLang="zh-CN"/>
              <a:t>ACL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Times New Roman" panose="02020603050405020304" charset="0"/>
                <a:cs typeface="Times New Roman" panose="02020603050405020304" charset="0"/>
              </a:rPr>
              <a:t>Background</a:t>
            </a:r>
          </a:p>
        </p:txBody>
      </p:sp>
      <p:sp>
        <p:nvSpPr>
          <p:cNvPr id="3" name="内容占位符 2"/>
          <p:cNvSpPr>
            <a:spLocks noGrp="1"/>
          </p:cNvSpPr>
          <p:nvPr>
            <p:ph idx="1"/>
          </p:nvPr>
        </p:nvSpPr>
        <p:spPr/>
        <p:txBody>
          <a:bodyPr/>
          <a:lstStyle/>
          <a:p>
            <a:r>
              <a:rPr lang="en-US" altLang="zh-CN" dirty="0">
                <a:latin typeface="Times New Roman" panose="02020603050405020304" charset="0"/>
                <a:cs typeface="Times New Roman" panose="02020603050405020304" charset="0"/>
              </a:rPr>
              <a:t>When LLMs are integrated into agent systems, they enable complex decision-making processes and broader applications.</a:t>
            </a:r>
          </a:p>
          <a:p>
            <a:r>
              <a:rPr lang="en-US" altLang="zh-CN" dirty="0">
                <a:latin typeface="Times New Roman" panose="02020603050405020304" charset="0"/>
                <a:cs typeface="Times New Roman" panose="02020603050405020304" charset="0"/>
              </a:rPr>
              <a:t>Agent outputs are not always reliable, which poses significant risks in high-stakes environments like healthcare or autonomous systems.</a:t>
            </a:r>
          </a:p>
          <a:p>
            <a:r>
              <a:rPr lang="en-US" altLang="zh-CN" dirty="0">
                <a:latin typeface="Times New Roman" panose="02020603050405020304" charset="0"/>
                <a:cs typeface="Times New Roman" panose="02020603050405020304" charset="0"/>
              </a:rPr>
              <a:t>Quantifying uncertainty provides critical insights into potential system failures and serves as a safeguard for sensitive applications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Times New Roman" panose="02020603050405020304" charset="0"/>
                <a:cs typeface="Times New Roman" panose="02020603050405020304" charset="0"/>
              </a:rPr>
              <a:t>Challenge</a:t>
            </a:r>
          </a:p>
        </p:txBody>
      </p:sp>
      <p:sp>
        <p:nvSpPr>
          <p:cNvPr id="3" name="内容占位符 2"/>
          <p:cNvSpPr>
            <a:spLocks noGrp="1"/>
          </p:cNvSpPr>
          <p:nvPr>
            <p:ph idx="1"/>
          </p:nvPr>
        </p:nvSpPr>
        <p:spPr>
          <a:xfrm>
            <a:off x="686435" y="1488440"/>
            <a:ext cx="10758805" cy="1018540"/>
          </a:xfrm>
        </p:spPr>
        <p:txBody>
          <a:bodyPr>
            <a:normAutofit/>
          </a:bodyPr>
          <a:lstStyle/>
          <a:p>
            <a:r>
              <a:rPr lang="en-US" altLang="zh-CN">
                <a:latin typeface="Times New Roman" panose="02020603050405020304" charset="0"/>
                <a:cs typeface="Times New Roman" panose="02020603050405020304" charset="0"/>
              </a:rPr>
              <a:t>Existing methods primarily focus on the final-step output, failing to account for how uncertainty accumulates over a multi-step process</a:t>
            </a:r>
            <a:endParaRPr lang="en-US" altLang="zh-CN">
              <a:latin typeface="Times New Roman" panose="02020603050405020304" charset="0"/>
              <a:cs typeface="Times New Roman" panose="02020603050405020304" charset="0"/>
              <a:sym typeface="+mn-ea"/>
            </a:endParaRPr>
          </a:p>
          <a:p>
            <a:endParaRPr lang="en-US" altLang="zh-CN">
              <a:latin typeface="Times New Roman" panose="02020603050405020304" charset="0"/>
              <a:cs typeface="Times New Roman" panose="02020603050405020304" charset="0"/>
            </a:endParaRPr>
          </a:p>
        </p:txBody>
      </p:sp>
      <p:pic>
        <p:nvPicPr>
          <p:cNvPr id="4" name="图片 3"/>
          <p:cNvPicPr>
            <a:picLocks noChangeAspect="1"/>
          </p:cNvPicPr>
          <p:nvPr/>
        </p:nvPicPr>
        <p:blipFill>
          <a:blip r:embed="rId3"/>
          <a:stretch>
            <a:fillRect/>
          </a:stretch>
        </p:blipFill>
        <p:spPr>
          <a:xfrm>
            <a:off x="594360" y="2506345"/>
            <a:ext cx="4981575" cy="3561080"/>
          </a:xfrm>
          <a:prstGeom prst="rect">
            <a:avLst/>
          </a:prstGeom>
        </p:spPr>
      </p:pic>
      <p:sp>
        <p:nvSpPr>
          <p:cNvPr id="6" name="内容占位符 2"/>
          <p:cNvSpPr>
            <a:spLocks noGrp="1"/>
          </p:cNvSpPr>
          <p:nvPr/>
        </p:nvSpPr>
        <p:spPr>
          <a:xfrm>
            <a:off x="5691505" y="2506345"/>
            <a:ext cx="5425440"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latin typeface="Times New Roman" panose="02020603050405020304" charset="0"/>
                <a:cs typeface="Times New Roman" panose="02020603050405020304" charset="0"/>
                <a:sym typeface="+mn-ea"/>
              </a:rPr>
              <a:t>Overlooking the dynamic reasoning process and interactions with the environment can lead to model overconfidence</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sym typeface="+mn-ea"/>
              </a:rPr>
              <a:t>Traditional one-step metrics (e.g., predictive or semantic entropy) are not directly applicable to the complex reasoning chains of multi-step agents</a:t>
            </a:r>
            <a:endParaRPr lang="en-US" altLang="zh-CN">
              <a:latin typeface="Times New Roman" panose="02020603050405020304" charset="0"/>
              <a:cs typeface="Times New Roman" panose="02020603050405020304" charset="0"/>
            </a:endParaRPr>
          </a:p>
          <a:p>
            <a:endParaRPr lang="zh-CN" altLang="en-US"/>
          </a:p>
          <a:p>
            <a:endParaRPr lang="en-US" altLang="zh-CN">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Times New Roman" panose="02020603050405020304" charset="0"/>
                <a:cs typeface="Times New Roman" panose="02020603050405020304" charset="0"/>
              </a:rPr>
              <a:t>Contribution</a:t>
            </a:r>
          </a:p>
        </p:txBody>
      </p:sp>
      <p:sp>
        <p:nvSpPr>
          <p:cNvPr id="3" name="内容占位符 2"/>
          <p:cNvSpPr>
            <a:spLocks noGrp="1"/>
          </p:cNvSpPr>
          <p:nvPr>
            <p:ph idx="1"/>
          </p:nvPr>
        </p:nvSpPr>
        <p:spPr/>
        <p:txBody>
          <a:bodyPr>
            <a:noAutofit/>
          </a:bodyPr>
          <a:lstStyle/>
          <a:p>
            <a:r>
              <a:rPr lang="en-US" altLang="zh-CN" sz="2700" b="1">
                <a:latin typeface="Times New Roman" panose="02020603050405020304" charset="0"/>
                <a:cs typeface="Times New Roman" panose="02020603050405020304" charset="0"/>
              </a:rPr>
              <a:t>SAUP Framework:</a:t>
            </a:r>
            <a:r>
              <a:rPr lang="en-US" altLang="zh-CN" sz="2700">
                <a:latin typeface="Times New Roman" panose="02020603050405020304" charset="0"/>
                <a:cs typeface="Times New Roman" panose="02020603050405020304" charset="0"/>
              </a:rPr>
              <a:t> The first pipeline designed to propagate uncertainty through each step of an LLM-based agent's reasoning process</a:t>
            </a:r>
          </a:p>
          <a:p>
            <a:r>
              <a:rPr lang="en-US" altLang="zh-CN" sz="2700" b="1">
                <a:latin typeface="Times New Roman" panose="02020603050405020304" charset="0"/>
                <a:cs typeface="Times New Roman" panose="02020603050405020304" charset="0"/>
              </a:rPr>
              <a:t>Situational Awareness: </a:t>
            </a:r>
            <a:r>
              <a:rPr lang="en-US" altLang="zh-CN" sz="2700">
                <a:latin typeface="Times New Roman" panose="02020603050405020304" charset="0"/>
                <a:cs typeface="Times New Roman" panose="02020603050405020304" charset="0"/>
              </a:rPr>
              <a:t>Introduction of Situational Weights to adaptively adjust the contribution of each step's uncertainty based on the agent's current state</a:t>
            </a:r>
          </a:p>
          <a:p>
            <a:r>
              <a:rPr lang="en-US" altLang="zh-CN" sz="2700" b="1">
                <a:latin typeface="Times New Roman" panose="02020603050405020304" charset="0"/>
                <a:cs typeface="Times New Roman" panose="02020603050405020304" charset="0"/>
              </a:rPr>
              <a:t>Innovative Surrogates:</a:t>
            </a:r>
            <a:r>
              <a:rPr lang="en-US" altLang="zh-CN" sz="2700">
                <a:latin typeface="Times New Roman" panose="02020603050405020304" charset="0"/>
                <a:cs typeface="Times New Roman" panose="02020603050405020304" charset="0"/>
              </a:rPr>
              <a:t> Design of effective surrogate measures—Inquiry Drift and Inference Gap—to estimate unobservable situational states</a:t>
            </a:r>
          </a:p>
          <a:p>
            <a:r>
              <a:rPr lang="en-US" altLang="zh-CN" sz="2700" b="1">
                <a:latin typeface="Times New Roman" panose="02020603050405020304" charset="0"/>
                <a:cs typeface="Times New Roman" panose="02020603050405020304" charset="0"/>
              </a:rPr>
              <a:t>Performance Gains: </a:t>
            </a:r>
            <a:r>
              <a:rPr lang="en-US" altLang="zh-CN" sz="2700">
                <a:latin typeface="Times New Roman" panose="02020603050405020304" charset="0"/>
                <a:cs typeface="Times New Roman" panose="02020603050405020304" charset="0"/>
              </a:rPr>
              <a:t>Demonstrated significant improvements across benchmark datasets, achieving up to a 20% increase in AUROC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Times New Roman" panose="02020603050405020304" charset="0"/>
                <a:cs typeface="Times New Roman" panose="02020603050405020304" charset="0"/>
              </a:rPr>
              <a:t>Related Work</a:t>
            </a:r>
          </a:p>
        </p:txBody>
      </p:sp>
      <p:sp>
        <p:nvSpPr>
          <p:cNvPr id="3" name="内容占位符 2"/>
          <p:cNvSpPr>
            <a:spLocks noGrp="1"/>
          </p:cNvSpPr>
          <p:nvPr>
            <p:ph idx="1"/>
          </p:nvPr>
        </p:nvSpPr>
        <p:spPr/>
        <p:txBody>
          <a:bodyPr>
            <a:normAutofit/>
          </a:bodyPr>
          <a:lstStyle/>
          <a:p>
            <a:r>
              <a:rPr lang="en-US" altLang="zh-CN" b="1">
                <a:latin typeface="Times New Roman" panose="02020603050405020304" charset="0"/>
                <a:cs typeface="Times New Roman" panose="02020603050405020304" charset="0"/>
              </a:rPr>
              <a:t>LLM-based Agents: </a:t>
            </a:r>
            <a:r>
              <a:rPr lang="en-US" altLang="zh-CN">
                <a:latin typeface="Times New Roman" panose="02020603050405020304" charset="0"/>
                <a:cs typeface="Times New Roman" panose="02020603050405020304" charset="0"/>
              </a:rPr>
              <a:t>Research has evolved from early web-search agents to the foundational ReAct pipeline and multi-agent collaborative frameworks like AutoGen</a:t>
            </a:r>
          </a:p>
          <a:p>
            <a:r>
              <a:rPr lang="en-US" altLang="zh-CN" b="1">
                <a:latin typeface="Times New Roman" panose="02020603050405020304" charset="0"/>
                <a:cs typeface="Times New Roman" panose="02020603050405020304" charset="0"/>
              </a:rPr>
              <a:t>Uncertainty in LLMs:</a:t>
            </a:r>
            <a:endParaRPr lang="en-US" altLang="zh-CN">
              <a:latin typeface="Times New Roman" panose="02020603050405020304" charset="0"/>
              <a:cs typeface="Times New Roman" panose="02020603050405020304" charset="0"/>
            </a:endParaRPr>
          </a:p>
          <a:p>
            <a:pPr lvl="1"/>
            <a:r>
              <a:rPr lang="en-US" altLang="zh-CN">
                <a:latin typeface="Times New Roman" panose="02020603050405020304" charset="0"/>
                <a:cs typeface="Times New Roman" panose="02020603050405020304" charset="0"/>
              </a:rPr>
              <a:t>Token-level estimation using predictive entropy and model calibration techniques</a:t>
            </a:r>
          </a:p>
          <a:p>
            <a:pPr lvl="1"/>
            <a:r>
              <a:rPr lang="en-US" altLang="zh-CN">
                <a:latin typeface="Times New Roman" panose="02020603050405020304" charset="0"/>
                <a:cs typeface="Times New Roman" panose="02020603050405020304" charset="0"/>
              </a:rPr>
              <a:t>Kuhn et al. introduced semantic entropy to handle linguistic invariances</a:t>
            </a:r>
          </a:p>
          <a:p>
            <a:pPr lvl="1"/>
            <a:r>
              <a:rPr lang="en-US" altLang="zh-CN">
                <a:latin typeface="Times New Roman" panose="02020603050405020304" charset="0"/>
                <a:cs typeface="Times New Roman" panose="02020603050405020304" charset="0"/>
              </a:rPr>
              <a:t>Self-assessment techniques, such as the P(True) indicator, allow models to estimate their own confidence via API</a:t>
            </a:r>
          </a:p>
          <a:p>
            <a:endParaRPr lang="en-US" altLang="zh-CN">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713" y="280987"/>
            <a:ext cx="10515600" cy="1325563"/>
          </a:xfrm>
        </p:spPr>
        <p:txBody>
          <a:bodyPr>
            <a:normAutofit/>
          </a:bodyPr>
          <a:lstStyle/>
          <a:p>
            <a:r>
              <a:rPr lang="en-US" altLang="zh-CN" sz="3600" dirty="0">
                <a:latin typeface="Times New Roman" panose="02020603050405020304" charset="0"/>
                <a:cs typeface="Times New Roman" panose="02020603050405020304" charset="0"/>
              </a:rPr>
              <a:t>SAUP: Situational Awareness  Uncertainty Propagation</a:t>
            </a:r>
          </a:p>
        </p:txBody>
      </p:sp>
      <p:pic>
        <p:nvPicPr>
          <p:cNvPr id="4" name="图片 3"/>
          <p:cNvPicPr>
            <a:picLocks noChangeAspect="1"/>
          </p:cNvPicPr>
          <p:nvPr/>
        </p:nvPicPr>
        <p:blipFill>
          <a:blip r:embed="rId3"/>
          <a:stretch>
            <a:fillRect/>
          </a:stretch>
        </p:blipFill>
        <p:spPr>
          <a:xfrm>
            <a:off x="3924935" y="1809115"/>
            <a:ext cx="8151495" cy="3899535"/>
          </a:xfrm>
          <a:prstGeom prst="rect">
            <a:avLst/>
          </a:prstGeom>
        </p:spPr>
      </p:pic>
      <p:sp>
        <p:nvSpPr>
          <p:cNvPr id="6" name="内容占位符 5"/>
          <p:cNvSpPr>
            <a:spLocks noGrp="1"/>
          </p:cNvSpPr>
          <p:nvPr>
            <p:ph idx="1"/>
          </p:nvPr>
        </p:nvSpPr>
        <p:spPr>
          <a:xfrm>
            <a:off x="102870" y="3249930"/>
            <a:ext cx="4787900" cy="2001520"/>
          </a:xfrm>
        </p:spPr>
        <p:txBody>
          <a:bodyPr>
            <a:normAutofit/>
          </a:bodyPr>
          <a:lstStyle/>
          <a:p>
            <a:r>
              <a:rPr lang="en-US" altLang="zh-CN" sz="2000" b="1">
                <a:latin typeface="Times New Roman" panose="02020603050405020304" charset="0"/>
                <a:cs typeface="Times New Roman" panose="02020603050405020304" charset="0"/>
              </a:rPr>
              <a:t>Weighted Uncertainty Propagation</a:t>
            </a:r>
          </a:p>
          <a:p>
            <a:r>
              <a:rPr lang="en-US" altLang="zh-CN" sz="2000" b="1">
                <a:latin typeface="Times New Roman" panose="02020603050405020304" charset="0"/>
                <a:cs typeface="Times New Roman" panose="02020603050405020304" charset="0"/>
              </a:rPr>
              <a:t>Single-Step Uncertainty Estimation</a:t>
            </a:r>
          </a:p>
          <a:p>
            <a:r>
              <a:rPr lang="en-US" altLang="zh-CN" sz="2000" b="1">
                <a:latin typeface="Times New Roman" panose="02020603050405020304" charset="0"/>
                <a:cs typeface="Times New Roman" panose="02020603050405020304" charset="0"/>
              </a:rPr>
              <a:t>Agent Uncertainty Estimation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Weighted Uncertainty Propagation</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Considering only the uncertainty of the last step as the overall uncertainty is unreasonable and not comprehensive.</a:t>
            </a:r>
          </a:p>
          <a:p>
            <a:r>
              <a:rPr lang="en-US" altLang="zh-CN" dirty="0">
                <a:latin typeface="Times New Roman" panose="02020603050405020304" pitchFamily="18" charset="0"/>
                <a:cs typeface="Times New Roman" panose="02020603050405020304" pitchFamily="18" charset="0"/>
              </a:rPr>
              <a:t>Based on  the intuitive logic of information flow and experimental observations, we have identified that the contribution of uncertainty at different steps to the overall agent uncertainty is not uniform.</a:t>
            </a:r>
          </a:p>
          <a:p>
            <a:r>
              <a:rPr lang="en-US" altLang="zh-CN" dirty="0">
                <a:latin typeface="Times New Roman" panose="02020603050405020304" pitchFamily="18" charset="0"/>
                <a:cs typeface="Times New Roman" panose="02020603050405020304" pitchFamily="18" charset="0"/>
              </a:rPr>
              <a:t>Here we choose the RMS as the propagation method.</a:t>
            </a:r>
            <a:endParaRPr lang="zh-CN" altLang="en-US"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9587F3B9-50A9-B25F-E160-405C23DE6016}"/>
              </a:ext>
            </a:extLst>
          </p:cNvPr>
          <p:cNvPicPr>
            <a:picLocks noChangeAspect="1"/>
          </p:cNvPicPr>
          <p:nvPr/>
        </p:nvPicPr>
        <p:blipFill>
          <a:blip r:embed="rId3"/>
          <a:stretch>
            <a:fillRect/>
          </a:stretch>
        </p:blipFill>
        <p:spPr>
          <a:xfrm>
            <a:off x="4632260" y="4538578"/>
            <a:ext cx="4971429" cy="135238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Single-Step Uncertainty Estimation</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In the practical implementation, we utilize the normalized entropy with some modifications to adapt it to the characteristics of the React Agent pipeline.</a:t>
            </a:r>
          </a:p>
          <a:p>
            <a:r>
              <a:rPr lang="en-US" altLang="zh-CN" dirty="0">
                <a:latin typeface="Times New Roman" panose="02020603050405020304" pitchFamily="18" charset="0"/>
                <a:cs typeface="Times New Roman" panose="02020603050405020304" pitchFamily="18" charset="0"/>
              </a:rPr>
              <a:t>For step n and question Q, we denote the agent’s thinking as Tn, and the corresponding action as  An.</a:t>
            </a:r>
            <a:r>
              <a:rPr lang="pt-BR"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The observation On is the information gained  from the environment through the action An.</a:t>
            </a:r>
            <a:r>
              <a:rPr lang="pt-BR" altLang="zh-CN" dirty="0">
                <a:latin typeface="Times New Roman" panose="02020603050405020304" pitchFamily="18" charset="0"/>
                <a:cs typeface="Times New Roman" panose="02020603050405020304" pitchFamily="18" charset="0"/>
              </a:rPr>
              <a:t> Zn−1 =  {(A1, T1, O1), . . . , (An−1, Tn−1, On−1)}</a:t>
            </a:r>
            <a:endParaRPr lang="en-US" altLang="zh-CN" dirty="0">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607552FD-9774-B688-09A4-8FFDB2FF6516}"/>
              </a:ext>
            </a:extLst>
          </p:cNvPr>
          <p:cNvPicPr>
            <a:picLocks noChangeAspect="1"/>
          </p:cNvPicPr>
          <p:nvPr/>
        </p:nvPicPr>
        <p:blipFill>
          <a:blip r:embed="rId3"/>
          <a:stretch>
            <a:fillRect/>
          </a:stretch>
        </p:blipFill>
        <p:spPr>
          <a:xfrm>
            <a:off x="5193261" y="5138914"/>
            <a:ext cx="4580952" cy="64761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5DEBC-F90A-5433-D53E-3631F3DFEB0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8C798C0-456C-1C29-C195-5755E35654A9}"/>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Single-Step Uncertainty Estimation</a:t>
            </a:r>
            <a:endParaRPr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ECB8E1F-8DE3-9FF3-B00C-F12CF1BE0CEC}"/>
                  </a:ext>
                </a:extLst>
              </p:cNvPr>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the step uncertainty Un = </a:t>
                </a:r>
                <a14:m>
                  <m:oMath xmlns:m="http://schemas.openxmlformats.org/officeDocument/2006/math">
                    <m:sSubSup>
                      <m:sSubSupPr>
                        <m:ctrlPr>
                          <a:rPr lang="en-US" altLang="zh-CN" i="1" dirty="0" smtClean="0">
                            <a:latin typeface="Cambria Math" panose="02040503050406030204" pitchFamily="18" charset="0"/>
                            <a:cs typeface="Times New Roman" panose="02020603050405020304" pitchFamily="18" charset="0"/>
                          </a:rPr>
                        </m:ctrlPr>
                      </m:sSubSupPr>
                      <m:e>
                        <m:r>
                          <a:rPr lang="en-US" altLang="zh-CN" b="0" i="1" dirty="0" smtClean="0">
                            <a:latin typeface="Cambria Math" panose="02040503050406030204" pitchFamily="18" charset="0"/>
                            <a:cs typeface="Times New Roman" panose="02020603050405020304" pitchFamily="18" charset="0"/>
                          </a:rPr>
                          <m:t>𝑈</m:t>
                        </m:r>
                      </m:e>
                      <m:sub>
                        <m:r>
                          <m:rPr>
                            <m:sty m:val="p"/>
                          </m:rPr>
                          <a:rPr lang="en-US" altLang="zh-CN" i="1" dirty="0">
                            <a:latin typeface="Cambria Math" panose="02040503050406030204" pitchFamily="18" charset="0"/>
                            <a:cs typeface="Times New Roman" panose="02020603050405020304" pitchFamily="18" charset="0"/>
                          </a:rPr>
                          <m:t>n</m:t>
                        </m:r>
                      </m:sub>
                      <m:sup>
                        <m:r>
                          <a:rPr lang="en-US" altLang="zh-CN" b="0" i="1" dirty="0" smtClean="0">
                            <a:latin typeface="Cambria Math" panose="02040503050406030204" pitchFamily="18" charset="0"/>
                            <a:cs typeface="Times New Roman" panose="02020603050405020304" pitchFamily="18" charset="0"/>
                          </a:rPr>
                          <m:t>𝑇</m:t>
                        </m:r>
                      </m:sup>
                    </m:sSubSup>
                  </m:oMath>
                </a14:m>
                <a:r>
                  <a:rPr lang="en-US" altLang="zh-CN" dirty="0">
                    <a:latin typeface="Times New Roman" panose="02020603050405020304" pitchFamily="18" charset="0"/>
                    <a:cs typeface="Times New Roman" panose="02020603050405020304" pitchFamily="18" charset="0"/>
                  </a:rPr>
                  <a:t> + </a:t>
                </a:r>
                <a14:m>
                  <m:oMath xmlns:m="http://schemas.openxmlformats.org/officeDocument/2006/math">
                    <m:sSubSup>
                      <m:sSubSupPr>
                        <m:ctrlPr>
                          <a:rPr lang="en-US" altLang="zh-CN" i="1" dirty="0">
                            <a:latin typeface="Cambria Math" panose="02040503050406030204" pitchFamily="18" charset="0"/>
                            <a:cs typeface="Times New Roman" panose="02020603050405020304" pitchFamily="18" charset="0"/>
                          </a:rPr>
                        </m:ctrlPr>
                      </m:sSubSupPr>
                      <m:e>
                        <m:r>
                          <a:rPr lang="en-US" altLang="zh-CN" i="1" dirty="0">
                            <a:latin typeface="Cambria Math" panose="02040503050406030204" pitchFamily="18" charset="0"/>
                            <a:cs typeface="Times New Roman" panose="02020603050405020304" pitchFamily="18" charset="0"/>
                          </a:rPr>
                          <m:t>𝑈</m:t>
                        </m:r>
                      </m:e>
                      <m:sub>
                        <m:r>
                          <m:rPr>
                            <m:sty m:val="p"/>
                          </m:rPr>
                          <a:rPr lang="en-US" altLang="zh-CN" i="1" dirty="0">
                            <a:latin typeface="Cambria Math" panose="02040503050406030204" pitchFamily="18" charset="0"/>
                            <a:cs typeface="Times New Roman" panose="02020603050405020304" pitchFamily="18" charset="0"/>
                          </a:rPr>
                          <m:t>n</m:t>
                        </m:r>
                      </m:sub>
                      <m:sup>
                        <m:r>
                          <a:rPr lang="en-US" altLang="zh-CN" b="0" i="1" dirty="0" smtClean="0">
                            <a:latin typeface="Cambria Math" panose="02040503050406030204" pitchFamily="18" charset="0"/>
                            <a:cs typeface="Times New Roman" panose="02020603050405020304" pitchFamily="18" charset="0"/>
                          </a:rPr>
                          <m:t>𝐴</m:t>
                        </m:r>
                      </m:sup>
                    </m:sSubSup>
                  </m:oMath>
                </a14:m>
                <a:r>
                  <a:rPr lang="en-US" altLang="zh-CN" dirty="0">
                    <a:latin typeface="Times New Roman" panose="02020603050405020304" pitchFamily="18" charset="0"/>
                    <a:cs typeface="Times New Roman" panose="02020603050405020304" pitchFamily="18" charset="0"/>
                  </a:rPr>
                  <a:t> is designed as the combination of thinking uncertainty </a:t>
                </a:r>
                <a14:m>
                  <m:oMath xmlns:m="http://schemas.openxmlformats.org/officeDocument/2006/math">
                    <m:sSubSup>
                      <m:sSubSupPr>
                        <m:ctrlPr>
                          <a:rPr lang="en-US" altLang="zh-CN" i="1" dirty="0">
                            <a:latin typeface="Cambria Math" panose="02040503050406030204" pitchFamily="18" charset="0"/>
                            <a:cs typeface="Times New Roman" panose="02020603050405020304" pitchFamily="18" charset="0"/>
                          </a:rPr>
                        </m:ctrlPr>
                      </m:sSubSupPr>
                      <m:e>
                        <m:r>
                          <a:rPr lang="en-US" altLang="zh-CN" i="1" dirty="0">
                            <a:latin typeface="Cambria Math" panose="02040503050406030204" pitchFamily="18" charset="0"/>
                            <a:cs typeface="Times New Roman" panose="02020603050405020304" pitchFamily="18" charset="0"/>
                          </a:rPr>
                          <m:t>𝑈</m:t>
                        </m:r>
                      </m:e>
                      <m:sub>
                        <m:r>
                          <m:rPr>
                            <m:sty m:val="p"/>
                          </m:rPr>
                          <a:rPr lang="en-US" altLang="zh-CN" i="1" dirty="0">
                            <a:latin typeface="Cambria Math" panose="02040503050406030204" pitchFamily="18" charset="0"/>
                            <a:cs typeface="Times New Roman" panose="02020603050405020304" pitchFamily="18" charset="0"/>
                          </a:rPr>
                          <m:t>n</m:t>
                        </m:r>
                      </m:sub>
                      <m:sup>
                        <m:r>
                          <a:rPr lang="en-US" altLang="zh-CN" i="1" dirty="0">
                            <a:latin typeface="Cambria Math" panose="02040503050406030204" pitchFamily="18" charset="0"/>
                            <a:cs typeface="Times New Roman" panose="02020603050405020304" pitchFamily="18" charset="0"/>
                          </a:rPr>
                          <m:t>𝑇</m:t>
                        </m:r>
                      </m:sup>
                    </m:sSubSup>
                  </m:oMath>
                </a14:m>
                <a:r>
                  <a:rPr lang="en-US" altLang="zh-CN" dirty="0">
                    <a:latin typeface="Times New Roman" panose="02020603050405020304" pitchFamily="18" charset="0"/>
                    <a:cs typeface="Times New Roman" panose="02020603050405020304" pitchFamily="18" charset="0"/>
                  </a:rPr>
                  <a:t> and action uncertainty </a:t>
                </a:r>
                <a14:m>
                  <m:oMath xmlns:m="http://schemas.openxmlformats.org/officeDocument/2006/math">
                    <m:sSubSup>
                      <m:sSubSupPr>
                        <m:ctrlPr>
                          <a:rPr lang="en-US" altLang="zh-CN" i="1" dirty="0">
                            <a:latin typeface="Cambria Math" panose="02040503050406030204" pitchFamily="18" charset="0"/>
                            <a:cs typeface="Times New Roman" panose="02020603050405020304" pitchFamily="18" charset="0"/>
                          </a:rPr>
                        </m:ctrlPr>
                      </m:sSubSupPr>
                      <m:e>
                        <m:r>
                          <a:rPr lang="en-US" altLang="zh-CN" i="1" dirty="0">
                            <a:latin typeface="Cambria Math" panose="02040503050406030204" pitchFamily="18" charset="0"/>
                            <a:cs typeface="Times New Roman" panose="02020603050405020304" pitchFamily="18" charset="0"/>
                          </a:rPr>
                          <m:t>𝑈</m:t>
                        </m:r>
                      </m:e>
                      <m:sub>
                        <m:r>
                          <m:rPr>
                            <m:sty m:val="p"/>
                          </m:rPr>
                          <a:rPr lang="en-US" altLang="zh-CN" i="1" dirty="0">
                            <a:latin typeface="Cambria Math" panose="02040503050406030204" pitchFamily="18" charset="0"/>
                            <a:cs typeface="Times New Roman" panose="02020603050405020304" pitchFamily="18" charset="0"/>
                          </a:rPr>
                          <m:t>n</m:t>
                        </m:r>
                      </m:sub>
                      <m:sup>
                        <m:r>
                          <a:rPr lang="en-US" altLang="zh-CN" i="1" dirty="0">
                            <a:latin typeface="Cambria Math" panose="02040503050406030204" pitchFamily="18" charset="0"/>
                            <a:cs typeface="Times New Roman" panose="02020603050405020304" pitchFamily="18" charset="0"/>
                          </a:rPr>
                          <m:t>𝐴</m:t>
                        </m:r>
                      </m:sup>
                    </m:sSubSup>
                  </m:oMath>
                </a14:m>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And here we consider Predictive entropy with the length normalization to estimate the thinking uncertainty and action uncertainty as follows:</a:t>
                </a:r>
                <a:endParaRPr lang="zh-CN" altLang="en-US" dirty="0">
                  <a:latin typeface="Times New Roman" panose="02020603050405020304" pitchFamily="18" charset="0"/>
                  <a:cs typeface="Times New Roman" panose="02020603050405020304" pitchFamily="18" charset="0"/>
                </a:endParaRPr>
              </a:p>
            </p:txBody>
          </p:sp>
        </mc:Choice>
        <mc:Fallback xmlns="">
          <p:sp>
            <p:nvSpPr>
              <p:cNvPr id="3" name="内容占位符 2">
                <a:extLst>
                  <a:ext uri="{FF2B5EF4-FFF2-40B4-BE49-F238E27FC236}">
                    <a16:creationId xmlns:a16="http://schemas.microsoft.com/office/drawing/2014/main" id="{1ECB8E1F-8DE3-9FF3-B00C-F12CF1BE0CEC}"/>
                  </a:ext>
                </a:extLst>
              </p:cNvPr>
              <p:cNvSpPr>
                <a:spLocks noGrp="1" noRot="1" noChangeAspect="1" noMove="1" noResize="1" noEditPoints="1" noAdjustHandles="1" noChangeArrowheads="1" noChangeShapeType="1" noTextEdit="1"/>
              </p:cNvSpPr>
              <p:nvPr>
                <p:ph idx="1"/>
              </p:nvPr>
            </p:nvSpPr>
            <p:spPr>
              <a:blipFill>
                <a:blip r:embed="rId3"/>
                <a:stretch>
                  <a:fillRect l="-1043" t="-2241" r="-1913"/>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D65B8F32-3E0E-566C-A60E-CE0803471AFA}"/>
              </a:ext>
            </a:extLst>
          </p:cNvPr>
          <p:cNvPicPr>
            <a:picLocks noChangeAspect="1"/>
          </p:cNvPicPr>
          <p:nvPr/>
        </p:nvPicPr>
        <p:blipFill>
          <a:blip r:embed="rId4"/>
          <a:stretch>
            <a:fillRect/>
          </a:stretch>
        </p:blipFill>
        <p:spPr>
          <a:xfrm>
            <a:off x="3977433" y="3869463"/>
            <a:ext cx="5657143" cy="2066667"/>
          </a:xfrm>
          <a:prstGeom prst="rect">
            <a:avLst/>
          </a:prstGeom>
        </p:spPr>
      </p:pic>
    </p:spTree>
    <p:extLst>
      <p:ext uri="{BB962C8B-B14F-4D97-AF65-F5344CB8AC3E}">
        <p14:creationId xmlns:p14="http://schemas.microsoft.com/office/powerpoint/2010/main" val="1950541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8BB9D-F2F5-714B-26AC-0D92D55E013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86040C0-BD70-A428-B1CA-550F90A3B50D}"/>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Agent Uncertainty Estimation</a:t>
            </a:r>
            <a:endParaRPr lang="zh-CN" altLang="en-US" dirty="0">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A60C78A9-05D3-AE29-76C9-B9D99542592F}"/>
              </a:ext>
            </a:extLst>
          </p:cNvPr>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Assigning weights Wi to each step’s uncertainty Ui  in a multi-step reasoning process is crucial for accurate overall uncertainty estimation.</a:t>
            </a:r>
          </a:p>
          <a:p>
            <a:r>
              <a:rPr lang="en-US" altLang="zh-CN" dirty="0">
                <a:latin typeface="Times New Roman" panose="02020603050405020304" pitchFamily="18" charset="0"/>
                <a:cs typeface="Times New Roman" panose="02020603050405020304" pitchFamily="18" charset="0"/>
              </a:rPr>
              <a:t>Since the situational state is not directly observable, surrogate measures are used to approximate it.</a:t>
            </a:r>
          </a:p>
          <a:p>
            <a:r>
              <a:rPr lang="en-US" altLang="zh-CN" dirty="0">
                <a:latin typeface="Times New Roman" panose="02020603050405020304" pitchFamily="18" charset="0"/>
                <a:cs typeface="Times New Roman" panose="02020603050405020304" pitchFamily="18" charset="0"/>
              </a:rPr>
              <a:t>Our proposed SAUP-HMMD leverages Hidden Markov Models (HMMs) to learn stepwise transitions and adaptively weight observations.</a:t>
            </a:r>
          </a:p>
        </p:txBody>
      </p:sp>
    </p:spTree>
    <p:extLst>
      <p:ext uri="{BB962C8B-B14F-4D97-AF65-F5344CB8AC3E}">
        <p14:creationId xmlns:p14="http://schemas.microsoft.com/office/powerpoint/2010/main" val="3156885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BAC3C-DBF9-AC60-F62F-D946EB979B7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4649B80-1FA8-29B2-4D8B-42F4F7F9E6A9}"/>
              </a:ext>
            </a:extLst>
          </p:cNvPr>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Agent Uncertainty Estimation</a:t>
            </a:r>
            <a:endParaRPr lang="zh-CN" altLang="en-US" dirty="0">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56D3999F-0421-D65C-41F9-6C3514330A1A}"/>
              </a:ext>
            </a:extLst>
          </p:cNvPr>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We adopt CHMM as the backbone model for HMMD.</a:t>
            </a:r>
          </a:p>
          <a:p>
            <a:r>
              <a:rPr lang="en-US" altLang="zh-CN" dirty="0">
                <a:latin typeface="Times New Roman" panose="02020603050405020304" pitchFamily="18" charset="0"/>
                <a:cs typeface="Times New Roman" panose="02020603050405020304" pitchFamily="18" charset="0"/>
              </a:rPr>
              <a:t>We define three discrete hidden states: correct trajectory, moderately deviated trajectory, and highly deviated trajectory, capturing varying degrees of deviation in the reasoning process.</a:t>
            </a:r>
          </a:p>
          <a:p>
            <a:r>
              <a:rPr lang="en-US" altLang="zh-CN" dirty="0">
                <a:latin typeface="Times New Roman" panose="02020603050405020304" pitchFamily="18" charset="0"/>
                <a:cs typeface="Times New Roman" panose="02020603050405020304" pitchFamily="18" charset="0"/>
              </a:rPr>
              <a:t>To systematically quantify these deviations, we introduce two key distance metrics:</a:t>
            </a:r>
          </a:p>
          <a:p>
            <a:pPr lvl="1"/>
            <a:r>
              <a:rPr lang="en-US" altLang="zh-CN" dirty="0">
                <a:latin typeface="Times New Roman" panose="02020603050405020304" pitchFamily="18" charset="0"/>
                <a:cs typeface="Times New Roman" panose="02020603050405020304" pitchFamily="18" charset="0"/>
              </a:rPr>
              <a:t>Inquiry Drift Da</a:t>
            </a:r>
          </a:p>
          <a:p>
            <a:pPr lvl="1"/>
            <a:r>
              <a:rPr lang="en-US" altLang="zh-CN" dirty="0">
                <a:latin typeface="Times New Roman" panose="02020603050405020304" pitchFamily="18" charset="0"/>
                <a:cs typeface="Times New Roman" panose="02020603050405020304" pitchFamily="18" charset="0"/>
              </a:rPr>
              <a:t>Inference Gap Do</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2134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56597-2D52-C8D6-3D65-F598FB747E9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190908B-3F6C-46B9-2703-1CED4EC1B434}"/>
              </a:ext>
            </a:extLst>
          </p:cNvPr>
          <p:cNvSpPr>
            <a:spLocks noGrp="1"/>
          </p:cNvSpPr>
          <p:nvPr>
            <p:ph type="title"/>
          </p:nvPr>
        </p:nvSpPr>
        <p:spPr>
          <a:xfrm>
            <a:off x="838200" y="139214"/>
            <a:ext cx="10515600" cy="1325563"/>
          </a:xfrm>
        </p:spPr>
        <p:txBody>
          <a:bodyPr/>
          <a:lstStyle/>
          <a:p>
            <a:r>
              <a:rPr lang="en-US" altLang="zh-CN" dirty="0">
                <a:latin typeface="Times New Roman" panose="02020603050405020304" pitchFamily="18" charset="0"/>
                <a:cs typeface="Times New Roman" panose="02020603050405020304" pitchFamily="18" charset="0"/>
              </a:rPr>
              <a:t>Agent Uncertainty Estimation</a:t>
            </a:r>
            <a:endParaRPr lang="zh-CN" altLang="en-US"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4E14ACF3-F0C7-3D19-8292-5CBE65E4B5B2}"/>
              </a:ext>
            </a:extLst>
          </p:cNvPr>
          <p:cNvPicPr>
            <a:picLocks noChangeAspect="1"/>
          </p:cNvPicPr>
          <p:nvPr/>
        </p:nvPicPr>
        <p:blipFill>
          <a:blip r:embed="rId3"/>
          <a:stretch>
            <a:fillRect/>
          </a:stretch>
        </p:blipFill>
        <p:spPr>
          <a:xfrm>
            <a:off x="3425373" y="1108673"/>
            <a:ext cx="3484114" cy="5481021"/>
          </a:xfrm>
          <a:prstGeom prst="rect">
            <a:avLst/>
          </a:prstGeom>
        </p:spPr>
      </p:pic>
    </p:spTree>
    <p:extLst>
      <p:ext uri="{BB962C8B-B14F-4D97-AF65-F5344CB8AC3E}">
        <p14:creationId xmlns:p14="http://schemas.microsoft.com/office/powerpoint/2010/main" val="3422742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Experiments</a:t>
            </a:r>
          </a:p>
        </p:txBody>
      </p:sp>
      <p:sp>
        <p:nvSpPr>
          <p:cNvPr id="3" name="内容占位符 2"/>
          <p:cNvSpPr>
            <a:spLocks noGrp="1"/>
          </p:cNvSpPr>
          <p:nvPr>
            <p:ph idx="1"/>
          </p:nvPr>
        </p:nvSpPr>
        <p:spPr/>
        <p:txBody>
          <a:bodyPr/>
          <a:lstStyle/>
          <a:p>
            <a:r>
              <a:rPr lang="en-US" altLang="zh-CN" b="1">
                <a:latin typeface="Times New Roman" panose="02020603050405020304" charset="0"/>
                <a:cs typeface="Times New Roman" panose="02020603050405020304" charset="0"/>
              </a:rPr>
              <a:t>Q1:</a:t>
            </a:r>
            <a:r>
              <a:rPr lang="en-US" altLang="zh-CN">
                <a:latin typeface="Times New Roman" panose="02020603050405020304" charset="0"/>
                <a:cs typeface="Times New Roman" panose="02020603050405020304" charset="0"/>
              </a:rPr>
              <a:t> Does SAUP outperform previous state-of-theart approaches for uncertainty estimation? </a:t>
            </a:r>
          </a:p>
          <a:p>
            <a:r>
              <a:rPr lang="en-US" altLang="zh-CN" b="1">
                <a:latin typeface="Times New Roman" panose="02020603050405020304" charset="0"/>
                <a:cs typeface="Times New Roman" panose="02020603050405020304" charset="0"/>
              </a:rPr>
              <a:t>Q2: </a:t>
            </a:r>
            <a:r>
              <a:rPr lang="en-US" altLang="zh-CN">
                <a:latin typeface="Times New Roman" panose="02020603050405020304" charset="0"/>
                <a:cs typeface="Times New Roman" panose="02020603050405020304" charset="0"/>
              </a:rPr>
              <a:t> Given the comprehensive process of Uncertainty Propagation, does SAUP provide more accurate uncertainty estimation compared to single-step methods? </a:t>
            </a:r>
          </a:p>
          <a:p>
            <a:r>
              <a:rPr lang="en-US" altLang="zh-CN" b="1">
                <a:latin typeface="Times New Roman" panose="02020603050405020304" charset="0"/>
                <a:cs typeface="Times New Roman" panose="02020603050405020304" charset="0"/>
              </a:rPr>
              <a:t>Q3: </a:t>
            </a:r>
            <a:r>
              <a:rPr lang="en-US" altLang="zh-CN">
                <a:latin typeface="Times New Roman" panose="02020603050405020304" charset="0"/>
                <a:cs typeface="Times New Roman" panose="02020603050405020304" charset="0"/>
              </a:rPr>
              <a:t>Are the situational weights for specific  steps effective in improving overall uncertainty estimation?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Times New Roman" panose="02020603050405020304" charset="0"/>
                <a:cs typeface="Times New Roman" panose="02020603050405020304" charset="0"/>
              </a:rPr>
              <a:t>Experimental Setup</a:t>
            </a:r>
          </a:p>
        </p:txBody>
      </p:sp>
      <p:sp>
        <p:nvSpPr>
          <p:cNvPr id="3" name="内容占位符 2"/>
          <p:cNvSpPr>
            <a:spLocks noGrp="1"/>
          </p:cNvSpPr>
          <p:nvPr>
            <p:ph idx="1"/>
          </p:nvPr>
        </p:nvSpPr>
        <p:spPr>
          <a:xfrm>
            <a:off x="838200" y="1609090"/>
            <a:ext cx="10515600" cy="4351338"/>
          </a:xfrm>
        </p:spPr>
        <p:txBody>
          <a:bodyPr/>
          <a:lstStyle/>
          <a:p>
            <a:r>
              <a:rPr lang="en-US" altLang="zh-CN" b="1">
                <a:latin typeface="Times New Roman" panose="02020603050405020304" charset="0"/>
                <a:cs typeface="Times New Roman" panose="02020603050405020304" charset="0"/>
              </a:rPr>
              <a:t>A gent framework</a:t>
            </a:r>
            <a:r>
              <a:rPr lang="zh-CN" altLang="en-US" b="1">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sym typeface="+mn-ea"/>
              </a:rPr>
              <a:t>React </a:t>
            </a:r>
          </a:p>
          <a:p>
            <a:r>
              <a:rPr lang="en-US" altLang="zh-CN" b="1">
                <a:latin typeface="Times New Roman" panose="02020603050405020304" charset="0"/>
                <a:cs typeface="Times New Roman" panose="02020603050405020304" charset="0"/>
              </a:rPr>
              <a:t>LLMs</a:t>
            </a:r>
            <a:r>
              <a:rPr lang="zh-CN" altLang="en-US" b="1">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Llama3 (8B/70B)、GPT-4o</a:t>
            </a:r>
          </a:p>
          <a:p>
            <a:r>
              <a:rPr lang="en-US" altLang="zh-CN" b="1">
                <a:latin typeface="Times New Roman" panose="02020603050405020304" charset="0"/>
                <a:cs typeface="Times New Roman" panose="02020603050405020304" charset="0"/>
              </a:rPr>
              <a:t>Dataset and Task</a:t>
            </a:r>
            <a:r>
              <a:rPr lang="zh-CN" altLang="en-US" b="1">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HotpotQA</a:t>
            </a:r>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MMLU</a:t>
            </a:r>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StrategyQA</a:t>
            </a:r>
          </a:p>
          <a:p>
            <a:r>
              <a:rPr lang="en-US" altLang="zh-CN" b="1">
                <a:latin typeface="Times New Roman" panose="02020603050405020304" charset="0"/>
                <a:cs typeface="Times New Roman" panose="02020603050405020304" charset="0"/>
              </a:rPr>
              <a:t>Environment for External Information</a:t>
            </a:r>
            <a:r>
              <a:rPr lang="zh-CN" altLang="en-US" b="1">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Wikipedia API</a:t>
            </a:r>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SerpAPI</a:t>
            </a:r>
          </a:p>
          <a:p>
            <a:r>
              <a:rPr lang="en-US" altLang="zh-CN" b="1">
                <a:latin typeface="Times New Roman" panose="02020603050405020304" charset="0"/>
                <a:cs typeface="Times New Roman" panose="02020603050405020304" charset="0"/>
              </a:rPr>
              <a:t>Baselines</a:t>
            </a:r>
            <a:r>
              <a:rPr lang="zh-CN" altLang="en-US" b="1">
                <a:latin typeface="Times New Roman" panose="02020603050405020304" charset="0"/>
                <a:cs typeface="Times New Roman" panose="02020603050405020304" charset="0"/>
              </a:rPr>
              <a:t>：</a:t>
            </a:r>
            <a:endParaRPr lang="zh-CN" altLang="en-US">
              <a:latin typeface="Times New Roman" panose="02020603050405020304" charset="0"/>
              <a:cs typeface="Times New Roman" panose="02020603050405020304" charset="0"/>
            </a:endParaRPr>
          </a:p>
          <a:p>
            <a:pPr lvl="1"/>
            <a:r>
              <a:rPr lang="en-US" altLang="zh-CN">
                <a:latin typeface="Times New Roman" panose="02020603050405020304" charset="0"/>
                <a:cs typeface="Times New Roman" panose="02020603050405020304" charset="0"/>
              </a:rPr>
              <a:t>Entropybased approaches</a:t>
            </a:r>
            <a:r>
              <a:rPr lang="zh-CN" altLang="en-US">
                <a:latin typeface="Times New Roman" panose="02020603050405020304" charset="0"/>
                <a:cs typeface="Times New Roman" panose="02020603050405020304" charset="0"/>
              </a:rPr>
              <a:t>：</a:t>
            </a:r>
            <a:r>
              <a:rPr lang="en-US" altLang="zh-CN" sz="2400">
                <a:latin typeface="Times New Roman" panose="02020603050405020304" charset="0"/>
                <a:cs typeface="Times New Roman" panose="02020603050405020304" charset="0"/>
              </a:rPr>
              <a:t>predictive and semantic entropy</a:t>
            </a:r>
          </a:p>
          <a:p>
            <a:pPr lvl="1"/>
            <a:r>
              <a:rPr lang="en-US" altLang="zh-CN">
                <a:latin typeface="Times New Roman" panose="02020603050405020304" charset="0"/>
                <a:cs typeface="Times New Roman" panose="02020603050405020304" charset="0"/>
              </a:rPr>
              <a:t>Likelihood-based methods</a:t>
            </a:r>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plain likelihood and normalized entropy</a:t>
            </a:r>
          </a:p>
          <a:p>
            <a:pPr lvl="1"/>
            <a:r>
              <a:rPr lang="en-US" altLang="zh-CN">
                <a:latin typeface="Times New Roman" panose="02020603050405020304" charset="0"/>
                <a:cs typeface="Times New Roman" panose="02020603050405020304" charset="0"/>
              </a:rPr>
              <a:t>Self-assess</a:t>
            </a:r>
            <a:r>
              <a:rPr lang="zh-CN" altLang="en-US">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P(True)</a:t>
            </a:r>
          </a:p>
          <a:p>
            <a:r>
              <a:rPr lang="en-US" altLang="zh-CN" b="1">
                <a:latin typeface="Times New Roman" panose="02020603050405020304" charset="0"/>
                <a:cs typeface="Times New Roman" panose="02020603050405020304" charset="0"/>
              </a:rPr>
              <a:t>Evaluation Metrics</a:t>
            </a:r>
            <a:r>
              <a:rPr lang="zh-CN" altLang="en-US" b="1">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AUROC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61925"/>
            <a:ext cx="10515600" cy="1325563"/>
          </a:xfrm>
        </p:spPr>
        <p:txBody>
          <a:bodyPr>
            <a:normAutofit/>
          </a:bodyPr>
          <a:lstStyle/>
          <a:p>
            <a:r>
              <a:rPr lang="en-US" altLang="zh-CN">
                <a:latin typeface="Times New Roman" panose="02020603050405020304" charset="0"/>
                <a:cs typeface="Times New Roman" panose="02020603050405020304" charset="0"/>
              </a:rPr>
              <a:t>Superior Discriminative Performance of  SAUP</a:t>
            </a:r>
          </a:p>
        </p:txBody>
      </p:sp>
      <p:sp>
        <p:nvSpPr>
          <p:cNvPr id="3" name="内容占位符 2"/>
          <p:cNvSpPr>
            <a:spLocks noGrp="1"/>
          </p:cNvSpPr>
          <p:nvPr>
            <p:ph idx="1"/>
          </p:nvPr>
        </p:nvSpPr>
        <p:spPr>
          <a:xfrm>
            <a:off x="838200" y="1253490"/>
            <a:ext cx="10515600" cy="4351338"/>
          </a:xfrm>
        </p:spPr>
        <p:txBody>
          <a:bodyPr/>
          <a:lstStyle/>
          <a:p>
            <a:r>
              <a:rPr lang="en-US" altLang="zh-CN">
                <a:latin typeface="Times New Roman" panose="02020603050405020304" charset="0"/>
                <a:cs typeface="Times New Roman" panose="02020603050405020304" charset="0"/>
              </a:rPr>
              <a:t>The agent, using the ReACT framework, answers the QA questions; </a:t>
            </a:r>
          </a:p>
          <a:p>
            <a:r>
              <a:rPr lang="en-US" altLang="zh-CN">
                <a:latin typeface="Times New Roman" panose="02020603050405020304" charset="0"/>
                <a:cs typeface="Times New Roman" panose="02020603050405020304" charset="0"/>
              </a:rPr>
              <a:t>Multiple versions of our SAUP method and other baseline uncertainty estimation methods calculate uncertainty scores for each response; </a:t>
            </a:r>
          </a:p>
          <a:p>
            <a:r>
              <a:rPr lang="en-US" altLang="zh-CN">
                <a:latin typeface="Times New Roman" panose="02020603050405020304" charset="0"/>
                <a:cs typeface="Times New Roman" panose="02020603050405020304" charset="0"/>
              </a:rPr>
              <a:t>Responses are classified as correct (0) or incorrect (1); </a:t>
            </a:r>
          </a:p>
          <a:p>
            <a:r>
              <a:rPr lang="en-US" altLang="zh-CN">
                <a:latin typeface="Times New Roman" panose="02020603050405020304" charset="0"/>
                <a:cs typeface="Times New Roman" panose="02020603050405020304" charset="0"/>
              </a:rPr>
              <a:t>AUROC is calculated based on classification accuracy and uncertainty scores. Ideally, incorrect answers should correspond to higher uncertainty scores.</a:t>
            </a:r>
          </a:p>
        </p:txBody>
      </p:sp>
      <p:pic>
        <p:nvPicPr>
          <p:cNvPr id="4" name="图片 3"/>
          <p:cNvPicPr>
            <a:picLocks noChangeAspect="1"/>
          </p:cNvPicPr>
          <p:nvPr/>
        </p:nvPicPr>
        <p:blipFill>
          <a:blip r:embed="rId3"/>
          <a:stretch>
            <a:fillRect/>
          </a:stretch>
        </p:blipFill>
        <p:spPr>
          <a:xfrm>
            <a:off x="1299210" y="4410710"/>
            <a:ext cx="9593580" cy="22009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Times New Roman" panose="02020603050405020304" charset="0"/>
                <a:cs typeface="Times New Roman" panose="02020603050405020304" charset="0"/>
              </a:rPr>
              <a:t>In-Depth Dissection of SAUP</a:t>
            </a:r>
          </a:p>
        </p:txBody>
      </p:sp>
      <p:sp>
        <p:nvSpPr>
          <p:cNvPr id="3" name="内容占位符 2"/>
          <p:cNvSpPr>
            <a:spLocks noGrp="1"/>
          </p:cNvSpPr>
          <p:nvPr>
            <p:ph idx="1"/>
          </p:nvPr>
        </p:nvSpPr>
        <p:spPr>
          <a:xfrm>
            <a:off x="838200" y="1556684"/>
            <a:ext cx="10515600" cy="4351338"/>
          </a:xfrm>
        </p:spPr>
        <p:txBody>
          <a:bodyPr/>
          <a:lstStyle/>
          <a:p>
            <a:r>
              <a:rPr lang="en-US" altLang="zh-CN" dirty="0">
                <a:latin typeface="Times New Roman" panose="02020603050405020304" pitchFamily="18" charset="0"/>
                <a:cs typeface="Times New Roman" panose="02020603050405020304" pitchFamily="18" charset="0"/>
              </a:rPr>
              <a:t>Q1: Is the uncertainty measurement of the internal steps beneficial for the overall uncertainty measurement of the agent?</a:t>
            </a:r>
            <a:endParaRPr lang="zh-CN" altLang="en-US"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DE33B2DD-A88F-2747-D23E-AD4BE5898142}"/>
              </a:ext>
            </a:extLst>
          </p:cNvPr>
          <p:cNvPicPr>
            <a:picLocks noChangeAspect="1"/>
          </p:cNvPicPr>
          <p:nvPr/>
        </p:nvPicPr>
        <p:blipFill>
          <a:blip r:embed="rId3"/>
          <a:stretch>
            <a:fillRect/>
          </a:stretch>
        </p:blipFill>
        <p:spPr>
          <a:xfrm>
            <a:off x="976567" y="4872360"/>
            <a:ext cx="9899416" cy="1620515"/>
          </a:xfrm>
          <a:prstGeom prst="rect">
            <a:avLst/>
          </a:prstGeom>
        </p:spPr>
      </p:pic>
      <p:pic>
        <p:nvPicPr>
          <p:cNvPr id="7" name="图片 6">
            <a:extLst>
              <a:ext uri="{FF2B5EF4-FFF2-40B4-BE49-F238E27FC236}">
                <a16:creationId xmlns:a16="http://schemas.microsoft.com/office/drawing/2014/main" id="{7B970223-E957-AE4C-7928-F643AF6A0393}"/>
              </a:ext>
            </a:extLst>
          </p:cNvPr>
          <p:cNvPicPr>
            <a:picLocks noChangeAspect="1"/>
          </p:cNvPicPr>
          <p:nvPr/>
        </p:nvPicPr>
        <p:blipFill>
          <a:blip r:embed="rId4"/>
          <a:stretch>
            <a:fillRect/>
          </a:stretch>
        </p:blipFill>
        <p:spPr>
          <a:xfrm>
            <a:off x="976567" y="2682518"/>
            <a:ext cx="9391165" cy="177266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0B36E-99AD-28A3-7486-2D9B0EEEB7F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20D9F4E-6978-6501-AE9B-16805A5183F4}"/>
              </a:ext>
            </a:extLst>
          </p:cNvPr>
          <p:cNvSpPr>
            <a:spLocks noGrp="1"/>
          </p:cNvSpPr>
          <p:nvPr>
            <p:ph type="title"/>
          </p:nvPr>
        </p:nvSpPr>
        <p:spPr/>
        <p:txBody>
          <a:bodyPr/>
          <a:lstStyle/>
          <a:p>
            <a:r>
              <a:rPr lang="en-US" altLang="zh-CN">
                <a:latin typeface="Times New Roman" panose="02020603050405020304" charset="0"/>
                <a:cs typeface="Times New Roman" panose="02020603050405020304" charset="0"/>
              </a:rPr>
              <a:t>In-Depth Dissection of SAUP</a:t>
            </a:r>
          </a:p>
        </p:txBody>
      </p:sp>
      <p:sp>
        <p:nvSpPr>
          <p:cNvPr id="3" name="内容占位符 2">
            <a:extLst>
              <a:ext uri="{FF2B5EF4-FFF2-40B4-BE49-F238E27FC236}">
                <a16:creationId xmlns:a16="http://schemas.microsoft.com/office/drawing/2014/main" id="{5AD0572D-48E4-3323-A848-FABAC8516BAF}"/>
              </a:ext>
            </a:extLst>
          </p:cNvPr>
          <p:cNvSpPr>
            <a:spLocks noGrp="1"/>
          </p:cNvSpPr>
          <p:nvPr>
            <p:ph idx="1"/>
          </p:nvPr>
        </p:nvSpPr>
        <p:spPr>
          <a:xfrm>
            <a:off x="838200" y="1556684"/>
            <a:ext cx="10515600" cy="4351338"/>
          </a:xfrm>
        </p:spPr>
        <p:txBody>
          <a:bodyPr/>
          <a:lstStyle/>
          <a:p>
            <a:r>
              <a:rPr lang="en-US" altLang="zh-CN" dirty="0">
                <a:latin typeface="Times New Roman" panose="02020603050405020304" pitchFamily="18" charset="0"/>
                <a:cs typeface="Times New Roman" panose="02020603050405020304" pitchFamily="18" charset="0"/>
              </a:rPr>
              <a:t>Q2: What is the quality of the surrogates, and how do they benefit the overall uncertainty measurement?</a:t>
            </a:r>
          </a:p>
          <a:p>
            <a:r>
              <a:rPr lang="en-US" altLang="zh-CN" b="1" dirty="0"/>
              <a:t>SAUP-P</a:t>
            </a:r>
            <a:endParaRPr lang="zh-CN" altLang="en-US" dirty="0"/>
          </a:p>
          <a:p>
            <a:r>
              <a:rPr lang="en-US" altLang="zh-CN" b="1" dirty="0"/>
              <a:t>SAUP-D</a:t>
            </a:r>
            <a:endParaRPr lang="zh-CN" altLang="en-US" dirty="0"/>
          </a:p>
          <a:p>
            <a:r>
              <a:rPr lang="en-US" altLang="zh-CN" b="1" dirty="0"/>
              <a:t>SAUP-PD</a:t>
            </a:r>
          </a:p>
          <a:p>
            <a:r>
              <a:rPr lang="en-US" altLang="zh-CN" b="1" dirty="0"/>
              <a:t>SAUP-HMMD(Learned)</a:t>
            </a:r>
            <a:endParaRPr lang="zh-CN" altLang="en-US" dirty="0"/>
          </a:p>
          <a:p>
            <a:endParaRPr lang="zh-CN" altLang="en-US"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8039F170-0AA9-B911-604B-437B03674F9C}"/>
              </a:ext>
            </a:extLst>
          </p:cNvPr>
          <p:cNvPicPr>
            <a:picLocks noChangeAspect="1"/>
          </p:cNvPicPr>
          <p:nvPr/>
        </p:nvPicPr>
        <p:blipFill>
          <a:blip r:embed="rId3"/>
          <a:stretch>
            <a:fillRect/>
          </a:stretch>
        </p:blipFill>
        <p:spPr>
          <a:xfrm>
            <a:off x="2945052" y="2635574"/>
            <a:ext cx="8408748" cy="1340011"/>
          </a:xfrm>
          <a:prstGeom prst="rect">
            <a:avLst/>
          </a:prstGeom>
        </p:spPr>
      </p:pic>
      <p:pic>
        <p:nvPicPr>
          <p:cNvPr id="8" name="图片 7">
            <a:extLst>
              <a:ext uri="{FF2B5EF4-FFF2-40B4-BE49-F238E27FC236}">
                <a16:creationId xmlns:a16="http://schemas.microsoft.com/office/drawing/2014/main" id="{0BCE0EEA-C910-2978-EED3-F3DF840E6782}"/>
              </a:ext>
            </a:extLst>
          </p:cNvPr>
          <p:cNvPicPr>
            <a:picLocks noChangeAspect="1"/>
          </p:cNvPicPr>
          <p:nvPr/>
        </p:nvPicPr>
        <p:blipFill>
          <a:blip r:embed="rId4"/>
          <a:stretch>
            <a:fillRect/>
          </a:stretch>
        </p:blipFill>
        <p:spPr>
          <a:xfrm>
            <a:off x="1146292" y="4796810"/>
            <a:ext cx="9899416" cy="1620515"/>
          </a:xfrm>
          <a:prstGeom prst="rect">
            <a:avLst/>
          </a:prstGeom>
        </p:spPr>
      </p:pic>
    </p:spTree>
    <p:extLst>
      <p:ext uri="{BB962C8B-B14F-4D97-AF65-F5344CB8AC3E}">
        <p14:creationId xmlns:p14="http://schemas.microsoft.com/office/powerpoint/2010/main" val="2253165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1F14D-853E-5D2D-DFAE-329D381243F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113DB87-D226-53F8-9155-6D52D11B529D}"/>
              </a:ext>
            </a:extLst>
          </p:cNvPr>
          <p:cNvSpPr>
            <a:spLocks noGrp="1"/>
          </p:cNvSpPr>
          <p:nvPr>
            <p:ph type="title"/>
          </p:nvPr>
        </p:nvSpPr>
        <p:spPr/>
        <p:txBody>
          <a:bodyPr/>
          <a:lstStyle/>
          <a:p>
            <a:r>
              <a:rPr lang="en-US" altLang="zh-CN">
                <a:latin typeface="Times New Roman" panose="02020603050405020304" charset="0"/>
                <a:cs typeface="Times New Roman" panose="02020603050405020304" charset="0"/>
              </a:rPr>
              <a:t>In-Depth Dissection of SAUP</a:t>
            </a:r>
          </a:p>
        </p:txBody>
      </p:sp>
      <p:sp>
        <p:nvSpPr>
          <p:cNvPr id="3" name="内容占位符 2">
            <a:extLst>
              <a:ext uri="{FF2B5EF4-FFF2-40B4-BE49-F238E27FC236}">
                <a16:creationId xmlns:a16="http://schemas.microsoft.com/office/drawing/2014/main" id="{8F68D289-3263-9483-E9FB-14B23C25DC6F}"/>
              </a:ext>
            </a:extLst>
          </p:cNvPr>
          <p:cNvSpPr>
            <a:spLocks noGrp="1"/>
          </p:cNvSpPr>
          <p:nvPr>
            <p:ph idx="1"/>
          </p:nvPr>
        </p:nvSpPr>
        <p:spPr>
          <a:xfrm>
            <a:off x="838200" y="1556684"/>
            <a:ext cx="10515600" cy="4351338"/>
          </a:xfrm>
        </p:spPr>
        <p:txBody>
          <a:bodyPr/>
          <a:lstStyle/>
          <a:p>
            <a:r>
              <a:rPr lang="en-US" altLang="zh-CN" dirty="0">
                <a:latin typeface="Times New Roman" panose="02020603050405020304" pitchFamily="18" charset="0"/>
                <a:cs typeface="Times New Roman" panose="02020603050405020304" pitchFamily="18" charset="0"/>
              </a:rPr>
              <a:t>Q3: Can SAUP demonstrate its superiority in separating correct and incorrect results?</a:t>
            </a:r>
            <a:endParaRPr lang="zh-CN" altLang="en-US" dirty="0"/>
          </a:p>
          <a:p>
            <a:endParaRPr lang="zh-CN" altLang="en-US"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7A754112-04C4-BF0A-6154-763444C2DB99}"/>
              </a:ext>
            </a:extLst>
          </p:cNvPr>
          <p:cNvPicPr>
            <a:picLocks noChangeAspect="1"/>
          </p:cNvPicPr>
          <p:nvPr/>
        </p:nvPicPr>
        <p:blipFill>
          <a:blip r:embed="rId3"/>
          <a:stretch>
            <a:fillRect/>
          </a:stretch>
        </p:blipFill>
        <p:spPr>
          <a:xfrm>
            <a:off x="704753" y="3280281"/>
            <a:ext cx="10649047" cy="2395174"/>
          </a:xfrm>
          <a:prstGeom prst="rect">
            <a:avLst/>
          </a:prstGeom>
        </p:spPr>
      </p:pic>
    </p:spTree>
    <p:extLst>
      <p:ext uri="{BB962C8B-B14F-4D97-AF65-F5344CB8AC3E}">
        <p14:creationId xmlns:p14="http://schemas.microsoft.com/office/powerpoint/2010/main" val="171996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E7A6E-C0C4-859F-8DBE-4E6D50CB251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1F10452-EFA0-1578-AF7D-1720BBAD3605}"/>
              </a:ext>
            </a:extLst>
          </p:cNvPr>
          <p:cNvSpPr>
            <a:spLocks noGrp="1"/>
          </p:cNvSpPr>
          <p:nvPr>
            <p:ph type="title"/>
          </p:nvPr>
        </p:nvSpPr>
        <p:spPr/>
        <p:txBody>
          <a:bodyPr/>
          <a:lstStyle/>
          <a:p>
            <a:r>
              <a:rPr lang="en-US" altLang="zh-CN">
                <a:latin typeface="Times New Roman" panose="02020603050405020304" charset="0"/>
                <a:cs typeface="Times New Roman" panose="02020603050405020304" charset="0"/>
              </a:rPr>
              <a:t>In-Depth Dissection of SAUP</a:t>
            </a:r>
          </a:p>
        </p:txBody>
      </p:sp>
      <p:sp>
        <p:nvSpPr>
          <p:cNvPr id="3" name="内容占位符 2">
            <a:extLst>
              <a:ext uri="{FF2B5EF4-FFF2-40B4-BE49-F238E27FC236}">
                <a16:creationId xmlns:a16="http://schemas.microsoft.com/office/drawing/2014/main" id="{0F9EE6EA-2553-26C4-7815-266569F0EF40}"/>
              </a:ext>
            </a:extLst>
          </p:cNvPr>
          <p:cNvSpPr>
            <a:spLocks noGrp="1"/>
          </p:cNvSpPr>
          <p:nvPr>
            <p:ph idx="1"/>
          </p:nvPr>
        </p:nvSpPr>
        <p:spPr>
          <a:xfrm>
            <a:off x="838200" y="1556684"/>
            <a:ext cx="10515600" cy="4351338"/>
          </a:xfrm>
        </p:spPr>
        <p:txBody>
          <a:bodyPr/>
          <a:lstStyle/>
          <a:p>
            <a:r>
              <a:rPr lang="en-US" altLang="zh-CN" dirty="0">
                <a:latin typeface="Times New Roman" panose="02020603050405020304" pitchFamily="18" charset="0"/>
                <a:cs typeface="Times New Roman" panose="02020603050405020304" pitchFamily="18" charset="0"/>
              </a:rPr>
              <a:t>Q4: Is the HMM reasonable, and how does its performance change with different dataset sizes? Why not use gradient-based models like RNNs or Transformers?</a:t>
            </a:r>
            <a:endParaRPr lang="zh-CN" altLang="en-US"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3F672711-7DA7-326A-036F-A4C7E2640861}"/>
              </a:ext>
            </a:extLst>
          </p:cNvPr>
          <p:cNvPicPr>
            <a:picLocks noChangeAspect="1"/>
          </p:cNvPicPr>
          <p:nvPr/>
        </p:nvPicPr>
        <p:blipFill>
          <a:blip r:embed="rId3"/>
          <a:stretch>
            <a:fillRect/>
          </a:stretch>
        </p:blipFill>
        <p:spPr>
          <a:xfrm>
            <a:off x="2829006" y="2882247"/>
            <a:ext cx="5780952" cy="3685714"/>
          </a:xfrm>
          <a:prstGeom prst="rect">
            <a:avLst/>
          </a:prstGeom>
        </p:spPr>
      </p:pic>
    </p:spTree>
    <p:extLst>
      <p:ext uri="{BB962C8B-B14F-4D97-AF65-F5344CB8AC3E}">
        <p14:creationId xmlns:p14="http://schemas.microsoft.com/office/powerpoint/2010/main" val="4368488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937AF-F5CD-A2C5-5F65-0E258094785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EB0A658-7F05-1208-6A1C-5B53EDC1CA57}"/>
              </a:ext>
            </a:extLst>
          </p:cNvPr>
          <p:cNvSpPr>
            <a:spLocks noGrp="1"/>
          </p:cNvSpPr>
          <p:nvPr>
            <p:ph type="title"/>
          </p:nvPr>
        </p:nvSpPr>
        <p:spPr/>
        <p:txBody>
          <a:bodyPr/>
          <a:lstStyle/>
          <a:p>
            <a:r>
              <a:rPr lang="en-US" altLang="zh-CN">
                <a:latin typeface="Times New Roman" panose="02020603050405020304" charset="0"/>
                <a:cs typeface="Times New Roman" panose="02020603050405020304" charset="0"/>
              </a:rPr>
              <a:t>In-Depth Dissection of SAUP</a:t>
            </a:r>
          </a:p>
        </p:txBody>
      </p:sp>
      <p:sp>
        <p:nvSpPr>
          <p:cNvPr id="3" name="内容占位符 2">
            <a:extLst>
              <a:ext uri="{FF2B5EF4-FFF2-40B4-BE49-F238E27FC236}">
                <a16:creationId xmlns:a16="http://schemas.microsoft.com/office/drawing/2014/main" id="{5601FE37-32F9-A26E-5B93-EC807608DDB7}"/>
              </a:ext>
            </a:extLst>
          </p:cNvPr>
          <p:cNvSpPr>
            <a:spLocks noGrp="1"/>
          </p:cNvSpPr>
          <p:nvPr>
            <p:ph idx="1"/>
          </p:nvPr>
        </p:nvSpPr>
        <p:spPr>
          <a:xfrm>
            <a:off x="838200" y="1556684"/>
            <a:ext cx="10515600" cy="4351338"/>
          </a:xfrm>
        </p:spPr>
        <p:txBody>
          <a:bodyPr/>
          <a:lstStyle/>
          <a:p>
            <a:r>
              <a:rPr lang="en-US" altLang="zh-CN" dirty="0">
                <a:latin typeface="Times New Roman" panose="02020603050405020304" pitchFamily="18" charset="0"/>
                <a:cs typeface="Times New Roman" panose="02020603050405020304" pitchFamily="18" charset="0"/>
              </a:rPr>
              <a:t>Q5: Does the question difficulty influence the effectiveness of uncertainty propagation?</a:t>
            </a:r>
            <a:endParaRPr lang="zh-CN" altLang="en-US"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4C7126CA-F5BF-1DD6-D0ED-419C4A3275B4}"/>
              </a:ext>
            </a:extLst>
          </p:cNvPr>
          <p:cNvPicPr>
            <a:picLocks noChangeAspect="1"/>
          </p:cNvPicPr>
          <p:nvPr/>
        </p:nvPicPr>
        <p:blipFill>
          <a:blip r:embed="rId3"/>
          <a:stretch>
            <a:fillRect/>
          </a:stretch>
        </p:blipFill>
        <p:spPr>
          <a:xfrm>
            <a:off x="229333" y="3327070"/>
            <a:ext cx="11733333" cy="2580952"/>
          </a:xfrm>
          <a:prstGeom prst="rect">
            <a:avLst/>
          </a:prstGeom>
        </p:spPr>
      </p:pic>
    </p:spTree>
    <p:extLst>
      <p:ext uri="{BB962C8B-B14F-4D97-AF65-F5344CB8AC3E}">
        <p14:creationId xmlns:p14="http://schemas.microsoft.com/office/powerpoint/2010/main" val="4033443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Times New Roman" panose="02020603050405020304" charset="0"/>
                <a:cs typeface="Times New Roman" panose="02020603050405020304" charset="0"/>
              </a:rPr>
              <a:t>Conclusion &amp; Limitations</a:t>
            </a:r>
          </a:p>
        </p:txBody>
      </p:sp>
      <p:sp>
        <p:nvSpPr>
          <p:cNvPr id="3" name="内容占位符 2"/>
          <p:cNvSpPr>
            <a:spLocks noGrp="1"/>
          </p:cNvSpPr>
          <p:nvPr>
            <p:ph idx="1"/>
          </p:nvPr>
        </p:nvSpPr>
        <p:spPr/>
        <p:txBody>
          <a:bodyPr>
            <a:normAutofit lnSpcReduction="10000"/>
          </a:bodyPr>
          <a:lstStyle/>
          <a:p>
            <a:r>
              <a:rPr lang="en-US" altLang="zh-CN" b="1">
                <a:latin typeface="Times New Roman" panose="02020603050405020304" charset="0"/>
                <a:cs typeface="Times New Roman" panose="02020603050405020304" charset="0"/>
              </a:rPr>
              <a:t>Conclusion: </a:t>
            </a:r>
            <a:r>
              <a:rPr lang="en-US" altLang="zh-CN">
                <a:latin typeface="Times New Roman" panose="02020603050405020304" charset="0"/>
                <a:cs typeface="Times New Roman" panose="02020603050405020304" charset="0"/>
              </a:rPr>
              <a:t>We propose SAUP ,which enhances the reliability of LLM-based agents by propagating uncertainty across all reasoning steps with situational awareness.</a:t>
            </a:r>
          </a:p>
          <a:p>
            <a:r>
              <a:rPr lang="en-US" altLang="zh-CN" b="1">
                <a:latin typeface="Times New Roman" panose="02020603050405020304" charset="0"/>
                <a:cs typeface="Times New Roman" panose="02020603050405020304" charset="0"/>
              </a:rPr>
              <a:t>Limitations:</a:t>
            </a:r>
          </a:p>
          <a:p>
            <a:pPr lvl="1"/>
            <a:r>
              <a:rPr lang="en-US" altLang="zh-CN">
                <a:latin typeface="Times New Roman" panose="02020603050405020304" charset="0"/>
                <a:cs typeface="Times New Roman" panose="02020603050405020304" charset="0"/>
              </a:rPr>
              <a:t>Learning-based situational weights currently rely on manually annotated data, which is costly and time-consuming</a:t>
            </a:r>
          </a:p>
          <a:p>
            <a:pPr lvl="1"/>
            <a:r>
              <a:rPr lang="en-US" altLang="zh-CN">
                <a:latin typeface="Times New Roman" panose="02020603050405020304" charset="0"/>
                <a:cs typeface="Times New Roman" panose="02020603050405020304" charset="0"/>
              </a:rPr>
              <a:t>The framework assumes that single-step uncertainty can be accurately captured; errors at the step level can diminish the benefits of propagation</a:t>
            </a:r>
          </a:p>
          <a:p>
            <a:r>
              <a:rPr lang="en-US" altLang="zh-CN" b="1">
                <a:latin typeface="Times New Roman" panose="02020603050405020304" charset="0"/>
                <a:cs typeface="Times New Roman" panose="02020603050405020304" charset="0"/>
              </a:rPr>
              <a:t>Future Work: </a:t>
            </a:r>
            <a:r>
              <a:rPr lang="en-US" altLang="zh-CN">
                <a:latin typeface="Times New Roman" panose="02020603050405020304" charset="0"/>
                <a:cs typeface="Times New Roman" panose="02020603050405020304" charset="0"/>
              </a:rPr>
              <a:t>Exploring more robust weight estimation methods, potentially leveraging LLM-generated labels to reduce human dependency</a:t>
            </a:r>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1175</TotalTime>
  <Words>3992</Words>
  <Application>Microsoft Office PowerPoint</Application>
  <PresentationFormat>宽屏</PresentationFormat>
  <Paragraphs>197</Paragraphs>
  <Slides>21</Slides>
  <Notes>21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21</vt:i4>
      </vt:variant>
    </vt:vector>
  </HeadingPairs>
  <TitlesOfParts>
    <vt:vector size="26" baseType="lpstr">
      <vt:lpstr>Arial</vt:lpstr>
      <vt:lpstr>Calibri</vt:lpstr>
      <vt:lpstr>Cambria Math</vt:lpstr>
      <vt:lpstr>Times New Roman</vt:lpstr>
      <vt:lpstr>WPS</vt:lpstr>
      <vt:lpstr>Uncertainty Propagation on LLM Agent</vt:lpstr>
      <vt:lpstr>Background</vt:lpstr>
      <vt:lpstr>Challenge</vt:lpstr>
      <vt:lpstr>Contribution</vt:lpstr>
      <vt:lpstr>Related Work</vt:lpstr>
      <vt:lpstr>SAUP: Situational Awareness  Uncertainty Propagation</vt:lpstr>
      <vt:lpstr>Weighted Uncertainty Propagation</vt:lpstr>
      <vt:lpstr>Single-Step Uncertainty Estimation</vt:lpstr>
      <vt:lpstr>Single-Step Uncertainty Estimation</vt:lpstr>
      <vt:lpstr>Agent Uncertainty Estimation</vt:lpstr>
      <vt:lpstr>Agent Uncertainty Estimation</vt:lpstr>
      <vt:lpstr>Agent Uncertainty Estimation</vt:lpstr>
      <vt:lpstr>Experiments</vt:lpstr>
      <vt:lpstr>Experimental Setup</vt:lpstr>
      <vt:lpstr>Superior Discriminative Performance of  SAUP</vt:lpstr>
      <vt:lpstr>In-Depth Dissection of SAUP</vt:lpstr>
      <vt:lpstr>In-Depth Dissection of SAUP</vt:lpstr>
      <vt:lpstr>In-Depth Dissection of SAUP</vt:lpstr>
      <vt:lpstr>In-Depth Dissection of SAUP</vt:lpstr>
      <vt:lpstr>In-Depth Dissection of SAUP</vt:lpstr>
      <vt:lpstr>Conclusion &amp; Limitations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dzp</dc:creator>
  <cp:lastModifiedBy>志鹏 段</cp:lastModifiedBy>
  <cp:revision>54</cp:revision>
  <dcterms:created xsi:type="dcterms:W3CDTF">2023-08-09T12:44:00Z</dcterms:created>
  <dcterms:modified xsi:type="dcterms:W3CDTF">2026-05-18T02:45:35Z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EB8295700D524A8A8740C2F1F5C560F8_12</vt:lpwstr>
  </property>
</Properties>
</file>