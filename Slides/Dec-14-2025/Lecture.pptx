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22"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0" userDrawn="1">
          <p15:clr>
            <a:srgbClr val="A4A3A4"/>
          </p15:clr>
        </p15:guide>
        <p15:guide id="2" pos="38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00"/>
        <p:guide pos="380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8" Type="http://schemas.openxmlformats.org/officeDocument/2006/relationships/tableStyles" Target="tableStyles.xml"/><Relationship Id="rId87" Type="http://schemas.openxmlformats.org/officeDocument/2006/relationships/viewProps" Target="viewProps.xml"/><Relationship Id="rId86" Type="http://schemas.openxmlformats.org/officeDocument/2006/relationships/presProps" Target="presProps.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今天我们要讲的是数据，</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在之前的讲座，我们谈论了架构，词元化、缩放定律、并行化，那都是在固定数据集的情况下。现在，我们将讨论使用什么数据进行训练</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所以观点是，数据是让语言模型正确的关键。</a:t>
            </a:r>
            <a:endParaRPr lang="zh-CN" altLang="en-US">
              <a:sym typeface="+mn-ea"/>
            </a:endParaRPr>
          </a:p>
          <a:p>
            <a:r>
              <a:rPr lang="zh-CN" altLang="en-US">
                <a:sym typeface="+mn-ea"/>
              </a:rPr>
              <a:t>让我们看看公司在论文中披露了什么，所以你如果考虑所有开源模型，</a:t>
            </a:r>
            <a:r>
              <a:rPr lang="en-US" altLang="zh-CN">
                <a:sym typeface="+mn-ea"/>
              </a:rPr>
              <a:t>llama3</a:t>
            </a:r>
            <a:r>
              <a:rPr lang="zh-CN" altLang="en-US">
                <a:sym typeface="+mn-ea"/>
              </a:rPr>
              <a:t>甚至</a:t>
            </a:r>
            <a:r>
              <a:rPr lang="en-US" altLang="zh-CN">
                <a:sym typeface="+mn-ea"/>
              </a:rPr>
              <a:t>deepseek</a:t>
            </a:r>
            <a:r>
              <a:rPr lang="zh-CN" altLang="en-US">
                <a:sym typeface="+mn-ea"/>
              </a:rPr>
              <a:t>，他们显然披露了他们的架构，在论文中，他们实际上大量讨论了训练以及训练如何工作，</a:t>
            </a:r>
            <a:r>
              <a:rPr lang="zh-CN" altLang="en-US"/>
              <a:t>但基本上不谈数据，如果你看</a:t>
            </a:r>
            <a:r>
              <a:rPr lang="en-US" altLang="zh-CN"/>
              <a:t>llama3</a:t>
            </a:r>
            <a:r>
              <a:rPr lang="zh-CN" altLang="en-US"/>
              <a:t>论文，他对很多事都有很多细节，大量讨论了如何过滤数据，但显然，并没有提供太多关于数据集的信息。</a:t>
            </a:r>
            <a:endParaRPr lang="zh-CN" altLang="en-US"/>
          </a:p>
          <a:p>
            <a:r>
              <a:rPr lang="zh-CN" altLang="en-US"/>
              <a:t>还有一些原因保密性，由于竞争的原因。</a:t>
            </a:r>
            <a:endParaRPr lang="zh-CN" altLang="en-US"/>
          </a:p>
          <a:p>
            <a:r>
              <a:rPr lang="zh-CN" altLang="en-US"/>
              <a:t>在基础模型之前，我认为数据被明确认识到是重要的，因为你需要标注数据驱动监督学习；现在，是涉及较少的标注，仍然有数据工作，</a:t>
            </a:r>
            <a:r>
              <a:rPr lang="zh-CN" altLang="en-US"/>
              <a:t>涉及大量的策展和清洗；数据从根本上说是长尾问题，。</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所以有多个训练阶段，这是本课程大部分内容的重点</a:t>
            </a:r>
            <a:endParaRPr lang="zh-CN" altLang="en-US"/>
          </a:p>
          <a:p>
            <a:r>
              <a:rPr lang="zh-CN" altLang="en-US"/>
              <a:t>你在原始数据上训练，通常来自网络；在中期训练。你会有一个较小的高质量文档集；然后后训练，在这里你在指令遵循数据上进行微调</a:t>
            </a:r>
            <a:endParaRPr lang="zh-CN" altLang="en-US"/>
          </a:p>
          <a:p>
            <a:r>
              <a:rPr lang="zh-CN" altLang="en-US"/>
              <a:t>在实践中，界限是模糊的，在更近期的模型中，有更多阶段，但基本概念是清楚的，从大量低质量数据开始，在最后阶段使用较小量的高质量数据进行训练。</a:t>
            </a:r>
            <a:endParaRPr lang="zh-CN" altLang="en-US"/>
          </a:p>
          <a:p>
            <a:r>
              <a:rPr lang="zh-CN" altLang="en-US"/>
              <a:t>基础模型通常是指你在预训练和中期训练得到的一个检查点，指令模型时在后训练之后。</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看一个例子，来自</a:t>
            </a:r>
            <a:r>
              <a:rPr lang="en-US" altLang="zh-CN"/>
              <a:t>ai2</a:t>
            </a:r>
            <a:r>
              <a:rPr lang="zh-CN" altLang="en-US"/>
              <a:t>，他一直在发布开源模型，所以我们知道确切的数据集有什么，所以在预训练，这是一个典型的预训练数据混合，有来自</a:t>
            </a:r>
            <a:r>
              <a:rPr lang="en-US" altLang="zh-CN"/>
              <a:t>DCLM</a:t>
            </a:r>
            <a:r>
              <a:rPr lang="zh-CN" altLang="en-US"/>
              <a:t>基线网页，有代码，学术论文，数学，维基百科，大约是</a:t>
            </a:r>
            <a:r>
              <a:rPr lang="en-US" altLang="zh-CN"/>
              <a:t>3.9</a:t>
            </a:r>
            <a:r>
              <a:rPr lang="zh-CN" altLang="en-US"/>
              <a:t>万亿词元</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看中期训练，你实际上看到许多相同的来源，但他们被过滤缩减了，一些标记数据，仍然有维基百科，</a:t>
            </a:r>
            <a:r>
              <a:rPr lang="en-US" altLang="zh-CN"/>
              <a:t>DCLM-baseline</a:t>
            </a:r>
            <a:r>
              <a:rPr lang="zh-CN" altLang="en-US"/>
              <a:t>，他的词元是这么多</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然后有一些数据是合成生成的，大约是</a:t>
            </a:r>
            <a:r>
              <a:rPr lang="en-US" altLang="zh-CN"/>
              <a:t>100</a:t>
            </a:r>
            <a:r>
              <a:rPr lang="zh-CN" altLang="en-US"/>
              <a:t>亿训练词元</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有一篇单独的论文叫</a:t>
            </a:r>
            <a:r>
              <a:rPr lang="en-US" altLang="zh-CN"/>
              <a:t>tulu</a:t>
            </a:r>
            <a:r>
              <a:rPr lang="zh-CN" altLang="en-US"/>
              <a:t>，负责实际的后训练。在这里有各种数据混合，有来自各种来源的聊天数据，以及一堆合成生成的数据，捕捉了不同方面</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那么所有这些数据集是什么，他是如何选择和处理的，这是没有一个确定的答案，所以基本上，我将讨论人们随时间使用不同的数据集，讨论他们来自哪里，包含的一些</a:t>
            </a:r>
            <a:r>
              <a:rPr lang="zh-CN" altLang="en-US"/>
              <a:t>属性。</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好的我们从预训练开始，然后讨论中期训练和后训练，让我们来深入看看一些热门模型所使用的数据。我们从</a:t>
            </a:r>
            <a:r>
              <a:rPr lang="en-US" altLang="zh-CN"/>
              <a:t>Bert</a:t>
            </a:r>
            <a:r>
              <a:rPr lang="zh-CN" altLang="en-US"/>
              <a:t>模型开始，</a:t>
            </a:r>
            <a:r>
              <a:rPr lang="en-US" altLang="zh-CN"/>
              <a:t>Bert</a:t>
            </a:r>
            <a:r>
              <a:rPr lang="zh-CN" altLang="en-US"/>
              <a:t>模型是在书籍和维基百科上训练的，但在这里面可能存在一些数据中毒的问题，但那时候人们显然不太关心语言模型的数据中毒问题，总的来说，模型训练所用数据来自广泛的互联网，在那里，攻击者对语言模型的行为有很大的控制权。</a:t>
            </a:r>
            <a:r>
              <a:rPr lang="en-US" altLang="zh-CN"/>
              <a:t>Bert</a:t>
            </a:r>
            <a:r>
              <a:rPr lang="zh-CN" altLang="en-US"/>
              <a:t>模型很古老，但这是在文档而非句子上训练的一个重大转变，与上周我们讨论十亿词基准形成对比，</a:t>
            </a:r>
            <a:endParaRPr lang="zh-CN" altLang="en-US"/>
          </a:p>
          <a:p>
            <a:r>
              <a:rPr lang="en-US" altLang="zh-CN"/>
              <a:t>gpt2</a:t>
            </a:r>
            <a:r>
              <a:rPr lang="zh-CN" altLang="en-US"/>
              <a:t>收集了一个名为</a:t>
            </a:r>
            <a:r>
              <a:rPr lang="en-US" altLang="zh-CN"/>
              <a:t>WebText</a:t>
            </a:r>
            <a:r>
              <a:rPr lang="zh-CN" altLang="en-US"/>
              <a:t>的数据集，这里的想法是你有网络，规模很大但质量很低，如何获得多样化的高质量子集，如果看</a:t>
            </a:r>
            <a:r>
              <a:rPr lang="en-US" altLang="zh-CN"/>
              <a:t>Reddit</a:t>
            </a:r>
            <a:r>
              <a:rPr lang="zh-CN" altLang="en-US"/>
              <a:t>的帖子，有很多外链，这些帖子可以获得</a:t>
            </a:r>
            <a:r>
              <a:rPr lang="en-US" altLang="zh-CN"/>
              <a:t>karma</a:t>
            </a:r>
            <a:r>
              <a:rPr lang="zh-CN" altLang="en-US"/>
              <a:t>点数，为什么不采用那些获得超过三个</a:t>
            </a:r>
            <a:r>
              <a:rPr lang="en-US" altLang="zh-CN"/>
              <a:t>karma</a:t>
            </a:r>
            <a:r>
              <a:rPr lang="zh-CN" altLang="en-US"/>
              <a:t>点数的帖子数链接，这产生了</a:t>
            </a:r>
            <a:r>
              <a:rPr lang="en-US" altLang="zh-CN"/>
              <a:t>100</a:t>
            </a:r>
            <a:r>
              <a:rPr lang="zh-CN" altLang="en-US"/>
              <a:t>万个页面，</a:t>
            </a:r>
            <a:r>
              <a:rPr lang="en-US" altLang="zh-CN"/>
              <a:t>40GB</a:t>
            </a:r>
            <a:r>
              <a:rPr lang="zh-CN" altLang="en-US"/>
              <a:t>的文本，这就是他们用来训练</a:t>
            </a:r>
            <a:r>
              <a:rPr lang="en-US" altLang="zh-CN"/>
              <a:t>GPT-2</a:t>
            </a:r>
            <a:r>
              <a:rPr lang="zh-CN" altLang="en-US"/>
              <a:t>的数据，除了论文，他们没有发布数据集</a:t>
            </a:r>
            <a:endParaRPr lang="zh-CN" altLang="en-US"/>
          </a:p>
          <a:p>
            <a:r>
              <a:rPr lang="zh-CN" altLang="en-US"/>
              <a:t>从那时起，就有了</a:t>
            </a:r>
            <a:r>
              <a:rPr lang="en-US" altLang="zh-CN"/>
              <a:t>WebText</a:t>
            </a:r>
            <a:r>
              <a:rPr lang="zh-CN" altLang="en-US"/>
              <a:t>的开放复制品，用于语言模型研究</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现在让我们谈谈</a:t>
            </a:r>
            <a:r>
              <a:rPr lang="en-US" altLang="zh-CN"/>
              <a:t>Common Crawl</a:t>
            </a:r>
            <a:r>
              <a:rPr lang="zh-CN" altLang="en-US"/>
              <a:t>，他成立于</a:t>
            </a:r>
            <a:r>
              <a:rPr lang="en-US" altLang="zh-CN"/>
              <a:t>2007</a:t>
            </a:r>
            <a:r>
              <a:rPr lang="zh-CN" altLang="en-US"/>
              <a:t>年，每个月他们运行一次网络爬取，过去到现在，大约</a:t>
            </a:r>
            <a:r>
              <a:rPr lang="en-US" altLang="zh-CN"/>
              <a:t>100</a:t>
            </a:r>
            <a:r>
              <a:rPr lang="zh-CN" altLang="en-US"/>
              <a:t>次不同的网络爬取，与训练模型相比，爬取本身没有那么</a:t>
            </a:r>
            <a:r>
              <a:rPr lang="zh-CN" altLang="en-US"/>
              <a:t>昂贵，可以租用一些机器，不到两周就可以完成，每次爬取略微不同的网页，但有一些重叠。</a:t>
            </a:r>
            <a:endParaRPr lang="zh-CN" altLang="en-US"/>
          </a:p>
          <a:p>
            <a:r>
              <a:rPr lang="zh-CN" altLang="en-US"/>
              <a:t>对于爬取，他们使用一个开源库，你从一组种子</a:t>
            </a:r>
            <a:r>
              <a:rPr lang="en-US" altLang="zh-CN"/>
              <a:t>URL</a:t>
            </a:r>
            <a:r>
              <a:rPr lang="zh-CN" altLang="en-US"/>
              <a:t>开始，这个数据实际上相当大，你基本维护一个队列，其中有爬取边界，然后有一堆机器查看那个</a:t>
            </a:r>
            <a:r>
              <a:rPr lang="zh-CN" altLang="en-US"/>
              <a:t>边界并从那里开始爬取，</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关于你要下载哪些页面的问题，你必须遵守</a:t>
            </a:r>
            <a:r>
              <a:rPr lang="en-US" altLang="zh-CN"/>
              <a:t>roboxs.txt,</a:t>
            </a:r>
            <a:r>
              <a:rPr lang="zh-CN" altLang="en-US"/>
              <a:t>不应该使服务器过载，如果你已经爬取了一个网站，你什么时候再去爬取他，还有个问题是</a:t>
            </a:r>
            <a:r>
              <a:rPr lang="en-US" altLang="zh-CN"/>
              <a:t>URL</a:t>
            </a:r>
            <a:r>
              <a:rPr lang="zh-CN" altLang="en-US"/>
              <a:t>是动态的，有些长，有些短，多个</a:t>
            </a:r>
            <a:r>
              <a:rPr lang="en-US" altLang="zh-CN"/>
              <a:t>URL</a:t>
            </a:r>
            <a:r>
              <a:rPr lang="zh-CN" altLang="en-US"/>
              <a:t>可能指向相同的内容，这导致大量重复。</a:t>
            </a:r>
            <a:endParaRPr lang="zh-CN" altLang="en-US"/>
          </a:p>
          <a:p>
            <a:r>
              <a:rPr lang="zh-CN" altLang="en-US"/>
              <a:t>当</a:t>
            </a:r>
            <a:r>
              <a:rPr lang="en-US" altLang="zh-CN"/>
              <a:t>Common Crawl</a:t>
            </a:r>
            <a:r>
              <a:rPr lang="zh-CN" altLang="en-US"/>
              <a:t>爬取时，产生两种格式的数据，一种是</a:t>
            </a:r>
            <a:r>
              <a:rPr lang="en-US" altLang="zh-CN"/>
              <a:t>WARC</a:t>
            </a:r>
            <a:r>
              <a:rPr lang="zh-CN" altLang="en-US"/>
              <a:t>文件，这是你得到的原始</a:t>
            </a:r>
            <a:r>
              <a:rPr lang="en-US" altLang="zh-CN"/>
              <a:t>http</a:t>
            </a:r>
            <a:r>
              <a:rPr lang="zh-CN" altLang="en-US"/>
              <a:t>响应，这确实会被转化成文本，变成一种叫做</a:t>
            </a:r>
            <a:r>
              <a:rPr lang="en-US" altLang="zh-CN"/>
              <a:t>WET</a:t>
            </a:r>
            <a:r>
              <a:rPr lang="zh-CN" altLang="en-US"/>
              <a:t>的格式，是一个有损的过程</a:t>
            </a:r>
            <a:endParaRPr lang="zh-CN" altLang="en-US"/>
          </a:p>
          <a:p>
            <a:r>
              <a:rPr lang="zh-CN" altLang="en-US"/>
              <a:t>需要注意的是，这不是唯一的方式，你可以使用他们的网络文件，是文本</a:t>
            </a:r>
            <a:r>
              <a:rPr lang="zh-CN" altLang="en-US"/>
              <a:t>格式，或者你可以从原始的</a:t>
            </a:r>
            <a:r>
              <a:rPr lang="en-US" altLang="zh-CN"/>
              <a:t>HTML</a:t>
            </a:r>
            <a:r>
              <a:rPr lang="zh-CN" altLang="en-US"/>
              <a:t>开始，然后自己处理，这确实产生影响</a:t>
            </a:r>
            <a:endParaRPr lang="zh-CN" altLang="en-US"/>
          </a:p>
          <a:p>
            <a:r>
              <a:rPr lang="en-US" altLang="zh-CN"/>
              <a:t>DCLM</a:t>
            </a:r>
            <a:r>
              <a:rPr lang="zh-CN" altLang="en-US"/>
              <a:t>的论文，这是一个消融实验，你查看不同的</a:t>
            </a:r>
            <a:r>
              <a:rPr lang="en-US" altLang="zh-CN"/>
              <a:t>HTML</a:t>
            </a:r>
            <a:r>
              <a:rPr lang="zh-CN" altLang="en-US"/>
              <a:t>到文本转换器，使用原始网络文件比使用第一个要低四个点，数值可以理解为提出质量指标</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common Crawl</a:t>
            </a:r>
            <a:r>
              <a:rPr lang="zh-CN" altLang="en-US"/>
              <a:t>是很大的，如果只看</a:t>
            </a:r>
            <a:r>
              <a:rPr lang="en-US" altLang="zh-CN"/>
              <a:t>Common Crawl</a:t>
            </a:r>
            <a:r>
              <a:rPr lang="zh-CN" altLang="en-US"/>
              <a:t>的随机样本，他真的不好，所以有很多尝试来过滤</a:t>
            </a:r>
            <a:r>
              <a:rPr lang="en-US" altLang="zh-CN"/>
              <a:t>Common Crawl</a:t>
            </a:r>
            <a:r>
              <a:rPr lang="zh-CN" altLang="en-US"/>
              <a:t>，最早的尝试之一是</a:t>
            </a:r>
            <a:r>
              <a:rPr lang="en-US" altLang="zh-CN"/>
              <a:t>CCNet</a:t>
            </a:r>
            <a:r>
              <a:rPr lang="zh-CN" altLang="en-US"/>
              <a:t>，想法是可以接收</a:t>
            </a:r>
            <a:r>
              <a:rPr lang="en-US" altLang="zh-CN"/>
              <a:t>Common Crawl</a:t>
            </a:r>
            <a:r>
              <a:rPr lang="zh-CN" altLang="en-US"/>
              <a:t>并返回高质量的数据集，特别是，他们对多语言覆盖感兴趣</a:t>
            </a:r>
            <a:endParaRPr lang="zh-CN" altLang="en-US"/>
          </a:p>
          <a:p>
            <a:r>
              <a:rPr lang="zh-CN" altLang="en-US"/>
              <a:t>所以他们有一堆启发式方法，他们去除重复，运行语言识别，基本上是一个线性分类器，只保留目标语言的样本，然后关键部分是，为了基于质量过滤，他们查看在</a:t>
            </a:r>
            <a:r>
              <a:rPr lang="en-US" altLang="zh-CN"/>
              <a:t>5</a:t>
            </a:r>
            <a:r>
              <a:rPr lang="zh-CN" altLang="en-US"/>
              <a:t>元语法模型下看起来像维基百科的文档。所以他们取维基百科文本，训练一个</a:t>
            </a:r>
            <a:r>
              <a:rPr lang="en-US" altLang="zh-CN"/>
              <a:t>n</a:t>
            </a:r>
            <a:r>
              <a:rPr lang="zh-CN" altLang="en-US"/>
              <a:t>元语法模型，然后用它来给文档</a:t>
            </a:r>
            <a:r>
              <a:rPr lang="zh-CN" altLang="en-US"/>
              <a:t>打分。</a:t>
            </a:r>
            <a:endParaRPr lang="zh-CN" altLang="en-US"/>
          </a:p>
          <a:p>
            <a:endParaRPr lang="zh-CN" altLang="en-US"/>
          </a:p>
          <a:p>
            <a:r>
              <a:rPr lang="zh-CN" altLang="en-US"/>
              <a:t>他们当时训练了一堆</a:t>
            </a:r>
            <a:r>
              <a:rPr lang="en-US" altLang="zh-CN"/>
              <a:t>Bert</a:t>
            </a:r>
            <a:r>
              <a:rPr lang="zh-CN" altLang="en-US"/>
              <a:t>模型，并且展示了他们优于仅在维基百科上训练，而</a:t>
            </a:r>
            <a:r>
              <a:rPr lang="en-US" altLang="zh-CN"/>
              <a:t>CCnet</a:t>
            </a:r>
            <a:r>
              <a:rPr lang="zh-CN" altLang="en-US"/>
              <a:t>有时令人困惑，因为他既指工具，一个过滤功能的函数，也指他们从论文中发布的数据集。</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与此同时，谷歌也在做一些事情，他们发布了</a:t>
            </a:r>
            <a:r>
              <a:rPr lang="en-US" altLang="zh-CN"/>
              <a:t>c4</a:t>
            </a:r>
            <a:r>
              <a:rPr lang="zh-CN" altLang="en-US"/>
              <a:t>，他代表大规模清洁爬取语料库，同样的见解是你想取</a:t>
            </a:r>
            <a:r>
              <a:rPr lang="en-US" altLang="zh-CN"/>
              <a:t>Comm Crawl</a:t>
            </a:r>
            <a:r>
              <a:rPr lang="zh-CN" altLang="en-US"/>
              <a:t>，想以某种方式利用这个大文本，实际上，这篇论文介绍了</a:t>
            </a:r>
            <a:r>
              <a:rPr lang="en-US" altLang="zh-CN"/>
              <a:t>T5</a:t>
            </a:r>
            <a:r>
              <a:rPr lang="zh-CN" altLang="en-US"/>
              <a:t>模型，但他实际上介绍了</a:t>
            </a:r>
            <a:r>
              <a:rPr lang="en-US" altLang="zh-CN"/>
              <a:t>C4</a:t>
            </a:r>
            <a:r>
              <a:rPr lang="zh-CN" altLang="en-US"/>
              <a:t>数据集，这是主要贡献</a:t>
            </a:r>
            <a:endParaRPr lang="zh-CN" altLang="en-US"/>
          </a:p>
          <a:p>
            <a:r>
              <a:rPr lang="zh-CN" altLang="en-US"/>
              <a:t>观察结果是，</a:t>
            </a:r>
            <a:r>
              <a:rPr lang="en-US" altLang="zh-CN"/>
              <a:t>Common Crawl</a:t>
            </a:r>
            <a:r>
              <a:rPr lang="zh-CN" altLang="en-US"/>
              <a:t>是大部分在自然语言中没用。假设你从一个快照开始，那已经是</a:t>
            </a:r>
            <a:r>
              <a:rPr lang="en-US" altLang="zh-CN"/>
              <a:t>1.4</a:t>
            </a:r>
            <a:r>
              <a:rPr lang="zh-CN" altLang="en-US"/>
              <a:t>万亿词元</a:t>
            </a:r>
            <a:r>
              <a:rPr lang="zh-CN" altLang="en-US"/>
              <a:t>了，</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他们决定只使用启发式算法，他们保留以标点结尾的行；移除少于三个句子的页面；移除不良词语；移除了大括号，这显然移除了很多代码；并且他们只保留了英语。他们从中获得了大量词元。</a:t>
            </a:r>
            <a:endParaRPr lang="zh-CN" altLang="en-US"/>
          </a:p>
          <a:p>
            <a:r>
              <a:rPr lang="zh-CN" altLang="en-US"/>
              <a:t>他们还创建了一个类似</a:t>
            </a:r>
            <a:r>
              <a:rPr lang="en-US" altLang="zh-CN"/>
              <a:t>WebText</a:t>
            </a:r>
            <a:r>
              <a:rPr lang="zh-CN" altLang="en-US"/>
              <a:t>的数据集，他们从</a:t>
            </a:r>
            <a:r>
              <a:rPr lang="en-US" altLang="zh-CN"/>
              <a:t>OpenWebText</a:t>
            </a:r>
            <a:r>
              <a:rPr lang="zh-CN" altLang="en-US"/>
              <a:t>链接中取页面，</a:t>
            </a:r>
            <a:r>
              <a:rPr lang="en-US" altLang="zh-CN"/>
              <a:t>openWebtext</a:t>
            </a:r>
            <a:r>
              <a:rPr lang="zh-CN" altLang="en-US"/>
              <a:t>是</a:t>
            </a:r>
            <a:r>
              <a:rPr lang="en-US" altLang="zh-CN"/>
              <a:t>WebText</a:t>
            </a:r>
            <a:r>
              <a:rPr lang="zh-CN" altLang="en-US"/>
              <a:t>的开放复制，他们查看了来自</a:t>
            </a:r>
            <a:r>
              <a:rPr lang="en-US" altLang="zh-CN"/>
              <a:t>Reddit</a:t>
            </a:r>
            <a:r>
              <a:rPr lang="zh-CN" altLang="en-US"/>
              <a:t>帖子中</a:t>
            </a:r>
            <a:r>
              <a:rPr lang="en-US" altLang="zh-CN"/>
              <a:t>karma</a:t>
            </a:r>
            <a:r>
              <a:rPr lang="zh-CN" altLang="en-US"/>
              <a:t>大于</a:t>
            </a:r>
            <a:r>
              <a:rPr lang="en-US" altLang="zh-CN"/>
              <a:t>3</a:t>
            </a:r>
            <a:r>
              <a:rPr lang="zh-CN" altLang="en-US"/>
              <a:t>的链接；他们使用</a:t>
            </a:r>
            <a:r>
              <a:rPr lang="en-US" altLang="zh-CN"/>
              <a:t>12</a:t>
            </a:r>
            <a:r>
              <a:rPr lang="zh-CN" altLang="en-US"/>
              <a:t>个数据转储，也只能得到</a:t>
            </a:r>
            <a:r>
              <a:rPr lang="en-US" altLang="zh-CN"/>
              <a:t>17Gb</a:t>
            </a:r>
            <a:r>
              <a:rPr lang="zh-CN" altLang="en-US"/>
              <a:t>的文本，</a:t>
            </a:r>
            <a:r>
              <a:rPr lang="en-US" altLang="zh-CN"/>
              <a:t>webtext</a:t>
            </a:r>
            <a:r>
              <a:rPr lang="zh-CN" altLang="en-US"/>
              <a:t>是</a:t>
            </a:r>
            <a:r>
              <a:rPr lang="en-US" altLang="zh-CN"/>
              <a:t>40GB</a:t>
            </a:r>
            <a:r>
              <a:rPr lang="zh-CN" altLang="en-US"/>
              <a:t>，这表明</a:t>
            </a:r>
            <a:r>
              <a:rPr lang="en-US" altLang="zh-CN"/>
              <a:t>Common Crawl</a:t>
            </a:r>
            <a:r>
              <a:rPr lang="zh-CN" altLang="en-US"/>
              <a:t>相当不完整，尽管如此，这在当时改进一系列</a:t>
            </a:r>
            <a:r>
              <a:rPr lang="en-US" altLang="zh-CN"/>
              <a:t>NLP</a:t>
            </a:r>
            <a:r>
              <a:rPr lang="zh-CN" altLang="en-US"/>
              <a:t>基准测试非常有用</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现在回到</a:t>
            </a:r>
            <a:r>
              <a:rPr lang="en-US" altLang="zh-CN"/>
              <a:t>C4,</a:t>
            </a:r>
            <a:r>
              <a:rPr lang="zh-CN" altLang="en-US"/>
              <a:t>看他的组成，你会看到里面有维基百科，很多专利和新闻等</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现在，我们进入</a:t>
            </a:r>
            <a:r>
              <a:rPr lang="en-US" altLang="zh-CN"/>
              <a:t>GPT-3</a:t>
            </a:r>
            <a:r>
              <a:rPr lang="zh-CN" altLang="en-US"/>
              <a:t>时代，有一系列模型和数据集，所有有</a:t>
            </a:r>
            <a:r>
              <a:rPr lang="en-US" altLang="zh-CN"/>
              <a:t>GPT-3</a:t>
            </a:r>
            <a:r>
              <a:rPr lang="zh-CN" altLang="en-US"/>
              <a:t>数据集，有经过处理的</a:t>
            </a:r>
            <a:r>
              <a:rPr lang="en-US" altLang="zh-CN"/>
              <a:t>Common Crawl</a:t>
            </a:r>
            <a:r>
              <a:rPr lang="zh-CN" altLang="en-US"/>
              <a:t>，</a:t>
            </a:r>
            <a:r>
              <a:rPr lang="en-US" altLang="zh-CN"/>
              <a:t>WebText2</a:t>
            </a:r>
            <a:r>
              <a:rPr lang="zh-CN" altLang="en-US"/>
              <a:t>，基本上与他们用于</a:t>
            </a:r>
            <a:r>
              <a:rPr lang="en-US" altLang="zh-CN"/>
              <a:t>GPT-2</a:t>
            </a:r>
            <a:r>
              <a:rPr lang="zh-CN" altLang="en-US"/>
              <a:t>的概念相同，这个神秘的书籍语料库集合，</a:t>
            </a:r>
            <a:r>
              <a:rPr lang="en-US" altLang="zh-CN"/>
              <a:t>books1</a:t>
            </a:r>
            <a:r>
              <a:rPr lang="zh-CN" altLang="en-US"/>
              <a:t>和</a:t>
            </a:r>
            <a:r>
              <a:rPr lang="en-US" altLang="zh-CN"/>
              <a:t>books2</a:t>
            </a:r>
            <a:r>
              <a:rPr lang="zh-CN" altLang="en-US"/>
              <a:t>，和维基百科。结果是，我大约有</a:t>
            </a:r>
            <a:r>
              <a:rPr lang="en-US" altLang="zh-CN"/>
              <a:t>4000</a:t>
            </a:r>
            <a:r>
              <a:rPr lang="zh-CN" altLang="en-US"/>
              <a:t>亿词元。</a:t>
            </a:r>
            <a:endParaRPr lang="zh-CN" altLang="en-US"/>
          </a:p>
          <a:p>
            <a:r>
              <a:rPr lang="en-US" altLang="zh-CN"/>
              <a:t>Common Crawl</a:t>
            </a:r>
            <a:r>
              <a:rPr lang="zh-CN" altLang="en-US"/>
              <a:t>的处理方式是，他们训练了一个质量分类器来区分</a:t>
            </a:r>
            <a:r>
              <a:rPr lang="en-US" altLang="zh-CN"/>
              <a:t>WebText</a:t>
            </a:r>
            <a:r>
              <a:rPr lang="zh-CN" altLang="en-US"/>
              <a:t>，维基百科和其他内容，质量分类的理念是，识别出一些正例，然后再更大的池子中寻找更多类似的内容，所以这就是他们确定为高质量的</a:t>
            </a:r>
            <a:r>
              <a:rPr lang="zh-CN" altLang="en-US"/>
              <a:t>内容；文档的模糊去重（包括</a:t>
            </a:r>
            <a:r>
              <a:rPr lang="en-US" altLang="zh-CN"/>
              <a:t> WebText </a:t>
            </a:r>
            <a:r>
              <a:rPr lang="zh-CN" altLang="en-US"/>
              <a:t>和各类基准数据集）</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pile</a:t>
            </a:r>
            <a:r>
              <a:rPr lang="zh-CN" altLang="en-US"/>
              <a:t>不久后就出现了，某种程度上是对</a:t>
            </a:r>
            <a:r>
              <a:rPr lang="en-US" altLang="zh-CN"/>
              <a:t>GPT-3</a:t>
            </a:r>
            <a:r>
              <a:rPr lang="zh-CN" altLang="en-US"/>
              <a:t>及其封闭性的反应崛起的，他们试图复现开源语言模型，很大程度上是一种去中心化的，</a:t>
            </a:r>
            <a:r>
              <a:rPr lang="en-US" altLang="zh-CN"/>
              <a:t>discord</a:t>
            </a:r>
            <a:r>
              <a:rPr lang="zh-CN" altLang="en-US"/>
              <a:t>驱动的志愿者努力，每个人都只是投入他们认为的高质量数据，他们策划了</a:t>
            </a:r>
            <a:r>
              <a:rPr lang="en-US" altLang="zh-CN"/>
              <a:t>22</a:t>
            </a:r>
            <a:r>
              <a:rPr lang="zh-CN" altLang="en-US"/>
              <a:t>个高质量领域，所以你有</a:t>
            </a:r>
            <a:r>
              <a:rPr lang="en-US" altLang="zh-CN"/>
              <a:t>Common Crawl</a:t>
            </a:r>
            <a:r>
              <a:rPr lang="zh-CN" altLang="en-US"/>
              <a:t>、</a:t>
            </a:r>
            <a:r>
              <a:rPr lang="en-US" altLang="zh-CN"/>
              <a:t>openWebText</a:t>
            </a:r>
            <a:r>
              <a:rPr lang="zh-CN" altLang="en-US"/>
              <a:t>，</a:t>
            </a:r>
            <a:r>
              <a:rPr lang="en-US" altLang="zh-CN"/>
              <a:t>stack exchange</a:t>
            </a:r>
            <a:r>
              <a:rPr lang="zh-CN" altLang="en-US"/>
              <a:t>等等</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所以这实际上比</a:t>
            </a:r>
            <a:r>
              <a:rPr lang="en-US" altLang="zh-CN"/>
              <a:t>GPT-3</a:t>
            </a:r>
            <a:r>
              <a:rPr lang="zh-CN" altLang="en-US"/>
              <a:t>训练所用的数据更多，他们注意到</a:t>
            </a:r>
            <a:r>
              <a:rPr lang="en-US" altLang="zh-CN"/>
              <a:t>WARC</a:t>
            </a:r>
            <a:r>
              <a:rPr lang="zh-CN" altLang="en-US"/>
              <a:t>比</a:t>
            </a:r>
            <a:r>
              <a:rPr lang="en-US" altLang="zh-CN"/>
              <a:t>WET</a:t>
            </a:r>
            <a:r>
              <a:rPr lang="zh-CN" altLang="en-US"/>
              <a:t>更好，他们使用不同的工具，</a:t>
            </a:r>
            <a:r>
              <a:rPr lang="en-US" altLang="zh-CN"/>
              <a:t>just text</a:t>
            </a:r>
            <a:r>
              <a:rPr lang="zh-CN" altLang="en-US"/>
              <a:t>转换他，有一个</a:t>
            </a:r>
            <a:r>
              <a:rPr lang="en-US" altLang="zh-CN"/>
              <a:t>pubmed central</a:t>
            </a:r>
            <a:r>
              <a:rPr lang="zh-CN" altLang="en-US"/>
              <a:t>，里面有很多论文；当然有</a:t>
            </a:r>
            <a:r>
              <a:rPr lang="en-US" altLang="zh-CN"/>
              <a:t>arxiv</a:t>
            </a:r>
            <a:r>
              <a:rPr lang="zh-CN" altLang="en-US"/>
              <a:t>。然后有</a:t>
            </a:r>
            <a:r>
              <a:rPr lang="en-US" altLang="zh-CN"/>
              <a:t>Enron</a:t>
            </a:r>
            <a:r>
              <a:rPr lang="zh-CN" altLang="en-US"/>
              <a:t>邮件，但事实很难获得邮件数据集，因为邮件是私密的。所以这是探讨一下这里的不同来源</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所以</a:t>
            </a:r>
            <a:r>
              <a:rPr lang="en-US" altLang="zh-CN"/>
              <a:t>project Gutenberg</a:t>
            </a:r>
            <a:r>
              <a:rPr lang="zh-CN" altLang="en-US"/>
              <a:t>很久之前就开始了，主要是英文书籍，最大的吸引力在于是这些拥有版权许可的书，大多意味着处于公共领域；</a:t>
            </a:r>
            <a:r>
              <a:rPr lang="en-US" altLang="zh-CN"/>
              <a:t>books3</a:t>
            </a:r>
            <a:r>
              <a:rPr lang="zh-CN" altLang="en-US"/>
              <a:t>是从这个</a:t>
            </a:r>
            <a:r>
              <a:rPr lang="en-US" altLang="zh-CN"/>
              <a:t>shadow</a:t>
            </a:r>
            <a:r>
              <a:rPr lang="zh-CN" altLang="en-US"/>
              <a:t>图书馆生成大量书籍的项目，它包含著名作者的书籍，此后因版权侵权被下架，这是</a:t>
            </a:r>
            <a:r>
              <a:rPr lang="en-US" altLang="zh-CN"/>
              <a:t>pile</a:t>
            </a:r>
            <a:r>
              <a:rPr lang="zh-CN" altLang="en-US"/>
              <a:t>数据集的一部分，关于</a:t>
            </a:r>
            <a:r>
              <a:rPr lang="en-US" altLang="zh-CN"/>
              <a:t>shadow</a:t>
            </a:r>
            <a:r>
              <a:rPr lang="zh-CN" altLang="en-US"/>
              <a:t>图书馆需要说明的是，存在许多无视版权的</a:t>
            </a:r>
            <a:r>
              <a:rPr lang="en-US" altLang="zh-CN"/>
              <a:t>library</a:t>
            </a:r>
            <a:r>
              <a:rPr lang="zh-CN" altLang="en-US"/>
              <a:t>，这是非法的，有很多下架命令和诉讼，但是这些控制</a:t>
            </a:r>
            <a:r>
              <a:rPr lang="zh-CN" altLang="en-US"/>
              <a:t>通常会被规避，因为他们只是将数据放在不同国家的服务器上，特别是</a:t>
            </a:r>
            <a:r>
              <a:rPr lang="en-US" altLang="zh-CN"/>
              <a:t>libgen</a:t>
            </a:r>
            <a:r>
              <a:rPr lang="zh-CN" altLang="en-US"/>
              <a:t>拥有四百万本书籍，已经披露</a:t>
            </a:r>
            <a:r>
              <a:rPr lang="en-US" altLang="zh-CN"/>
              <a:t>meta</a:t>
            </a:r>
            <a:r>
              <a:rPr lang="zh-CN" altLang="en-US"/>
              <a:t>在</a:t>
            </a:r>
            <a:r>
              <a:rPr lang="en-US" altLang="zh-CN"/>
              <a:t>libgen</a:t>
            </a:r>
            <a:r>
              <a:rPr lang="zh-CN" altLang="en-US"/>
              <a:t>上训练模型。</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这是站点集合，最突出的是</a:t>
            </a:r>
            <a:r>
              <a:rPr lang="en-US" altLang="zh-CN"/>
              <a:t>stack overflow</a:t>
            </a:r>
            <a:r>
              <a:rPr lang="zh-CN" altLang="en-US"/>
              <a:t>，最初由此开始，但已扩展到数学和文学等其他领域，设有声望值和徽章制度以激励参与。</a:t>
            </a:r>
            <a:endParaRPr lang="zh-CN" altLang="en-US"/>
          </a:p>
          <a:p>
            <a:r>
              <a:rPr lang="en-US" altLang="zh-CN"/>
              <a:t>github</a:t>
            </a:r>
            <a:r>
              <a:rPr lang="zh-CN" altLang="en-US"/>
              <a:t>，众所周知，是获取语言模型训练代码的主要方式，代码对编程有帮助，但对推理和其他能力也有帮助。</a:t>
            </a:r>
            <a:r>
              <a:rPr lang="en-US" altLang="zh-CN"/>
              <a:t>GitHub </a:t>
            </a:r>
            <a:r>
              <a:rPr lang="zh-CN" altLang="en-US"/>
              <a:t>于</a:t>
            </a:r>
            <a:r>
              <a:rPr lang="en-US" altLang="zh-CN"/>
              <a:t> 2008 </a:t>
            </a:r>
            <a:r>
              <a:rPr lang="zh-CN" altLang="en-US"/>
              <a:t>年成立，</a:t>
            </a:r>
            <a:r>
              <a:rPr lang="en-US" altLang="zh-CN"/>
              <a:t>2018 </a:t>
            </a:r>
            <a:r>
              <a:rPr lang="zh-CN" altLang="en-US"/>
              <a:t>年被微软收购，以</a:t>
            </a:r>
            <a:r>
              <a:rPr lang="en-US" altLang="zh-CN"/>
              <a:t> 2018 </a:t>
            </a:r>
            <a:r>
              <a:rPr lang="zh-CN" altLang="en-US"/>
              <a:t>年为例（标注</a:t>
            </a:r>
            <a:r>
              <a:rPr lang="en-US" altLang="zh-CN"/>
              <a:t> “Random repository” </a:t>
            </a:r>
            <a:r>
              <a:rPr lang="zh-CN" altLang="en-US"/>
              <a:t>即随机选取该年份作为参考），当时</a:t>
            </a:r>
            <a:r>
              <a:rPr lang="en-US" altLang="zh-CN"/>
              <a:t> GitHub </a:t>
            </a:r>
            <a:r>
              <a:rPr lang="zh-CN" altLang="en-US"/>
              <a:t>至少有</a:t>
            </a:r>
            <a:r>
              <a:rPr lang="en-US" altLang="zh-CN"/>
              <a:t> 2800 </a:t>
            </a:r>
            <a:r>
              <a:rPr lang="zh-CN" altLang="en-US"/>
              <a:t>万个公共代码仓库（</a:t>
            </a:r>
            <a:r>
              <a:rPr lang="en-US" altLang="zh-CN"/>
              <a:t>public repositories</a:t>
            </a:r>
            <a:r>
              <a:rPr lang="zh-CN" altLang="en-US"/>
              <a:t>）。仓库是什么，他是一个目录，其中一些是代码，还有问题、提交历史等概念，还有很多重复，因此为了将</a:t>
            </a:r>
            <a:r>
              <a:rPr lang="en-US" altLang="zh-CN"/>
              <a:t>github</a:t>
            </a:r>
            <a:r>
              <a:rPr lang="zh-CN" altLang="en-US"/>
              <a:t>的所有原始数据转化为可训练的词元，实际上需要大量工作来思考如何最佳</a:t>
            </a:r>
            <a:r>
              <a:rPr lang="zh-CN" altLang="en-US"/>
              <a:t>实现，</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所以</a:t>
            </a:r>
            <a:r>
              <a:rPr lang="en-US" altLang="zh-CN"/>
              <a:t>GitHUb Archive</a:t>
            </a:r>
            <a:r>
              <a:rPr lang="zh-CN" altLang="en-US"/>
              <a:t>是所有</a:t>
            </a:r>
            <a:r>
              <a:rPr lang="en-US" altLang="zh-CN"/>
              <a:t>GitHUb</a:t>
            </a:r>
            <a:r>
              <a:rPr lang="zh-CN" altLang="en-US"/>
              <a:t>事件的快照，你可以使用</a:t>
            </a:r>
            <a:r>
              <a:rPr lang="en-US" altLang="zh-CN"/>
              <a:t>Google BigQuery</a:t>
            </a:r>
            <a:r>
              <a:rPr lang="zh-CN" altLang="en-US"/>
              <a:t>访问它，</a:t>
            </a:r>
            <a:endParaRPr lang="zh-CN" altLang="en-US"/>
          </a:p>
          <a:p>
            <a:r>
              <a:rPr lang="en-US" altLang="zh-CN"/>
              <a:t>the stack</a:t>
            </a:r>
            <a:r>
              <a:rPr lang="zh-CN" altLang="en-US"/>
              <a:t>是一个基于</a:t>
            </a:r>
            <a:r>
              <a:rPr lang="en-US" altLang="zh-CN"/>
              <a:t>githua</a:t>
            </a:r>
            <a:r>
              <a:rPr lang="zh-CN" altLang="en-US"/>
              <a:t>生成的开源代码版本的项目，他们从</a:t>
            </a:r>
            <a:r>
              <a:rPr lang="en-US" altLang="zh-CN"/>
              <a:t>github archive</a:t>
            </a:r>
            <a:r>
              <a:rPr lang="zh-CN" altLang="en-US"/>
              <a:t>获取所有仓库名称，</a:t>
            </a:r>
            <a:r>
              <a:rPr lang="en-US" altLang="zh-CN"/>
              <a:t>git</a:t>
            </a:r>
            <a:r>
              <a:rPr lang="zh-CN" altLang="en-US"/>
              <a:t>克隆了</a:t>
            </a:r>
            <a:r>
              <a:rPr lang="en-US" altLang="zh-CN"/>
              <a:t>137</a:t>
            </a:r>
            <a:r>
              <a:rPr lang="zh-CN" altLang="en-US"/>
              <a:t>个仓库，只保留宽松许可证并去重，结果是</a:t>
            </a:r>
            <a:r>
              <a:rPr lang="en-US" altLang="zh-CN"/>
              <a:t>3.1TB</a:t>
            </a:r>
            <a:r>
              <a:rPr lang="zh-CN" altLang="en-US"/>
              <a:t>代码</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所以，继续，在</a:t>
            </a:r>
            <a:r>
              <a:rPr lang="en-US" altLang="zh-CN"/>
              <a:t>21</a:t>
            </a:r>
            <a:r>
              <a:rPr lang="zh-CN" altLang="en-US"/>
              <a:t>年</a:t>
            </a:r>
            <a:r>
              <a:rPr lang="en-US" altLang="zh-CN"/>
              <a:t>deepmind</a:t>
            </a:r>
            <a:r>
              <a:rPr lang="zh-CN" altLang="en-US"/>
              <a:t>出来，他们训练的第一个大模型是</a:t>
            </a:r>
            <a:r>
              <a:rPr lang="en-US" altLang="zh-CN"/>
              <a:t>gopher</a:t>
            </a:r>
            <a:r>
              <a:rPr lang="zh-CN" altLang="en-US"/>
              <a:t>，基于这个大规模文本数据集，</a:t>
            </a:r>
            <a:r>
              <a:rPr lang="en-US" altLang="zh-CN"/>
              <a:t>gopher</a:t>
            </a:r>
            <a:r>
              <a:rPr lang="zh-CN" altLang="en-US"/>
              <a:t>模型实际上不是很好，但论文很好的描述了数据集，包括，</a:t>
            </a:r>
            <a:r>
              <a:rPr lang="en-US" altLang="zh-CN"/>
              <a:t>MassiveWeb</a:t>
            </a:r>
            <a:r>
              <a:rPr lang="zh-CN" altLang="en-US"/>
              <a:t>，稍后会谈到，有</a:t>
            </a:r>
            <a:r>
              <a:rPr lang="en-US" altLang="zh-CN"/>
              <a:t>C4</a:t>
            </a:r>
            <a:r>
              <a:rPr lang="zh-CN" altLang="en-US"/>
              <a:t>，然后图书，</a:t>
            </a:r>
            <a:r>
              <a:rPr lang="en-US" altLang="zh-CN"/>
              <a:t>github</a:t>
            </a:r>
            <a:r>
              <a:rPr lang="zh-CN" altLang="en-US"/>
              <a:t>，维基百科，但没有如何处理的细节，这是不可复现的。你在</a:t>
            </a:r>
            <a:r>
              <a:rPr lang="en-US" altLang="zh-CN"/>
              <a:t>github</a:t>
            </a:r>
            <a:r>
              <a:rPr lang="zh-CN" altLang="en-US"/>
              <a:t>上训练，但数据如何</a:t>
            </a:r>
            <a:r>
              <a:rPr lang="zh-CN" altLang="en-US"/>
              <a:t>处理，所以</a:t>
            </a:r>
            <a:r>
              <a:rPr lang="en-US" altLang="zh-CN"/>
              <a:t>MassiveWeb</a:t>
            </a:r>
            <a:r>
              <a:rPr lang="zh-CN" altLang="en-US"/>
              <a:t>，保留了英语，重复等，像</a:t>
            </a:r>
            <a:r>
              <a:rPr lang="en-US" altLang="zh-CN"/>
              <a:t>CCNet</a:t>
            </a:r>
            <a:r>
              <a:rPr lang="zh-CN" altLang="en-US"/>
              <a:t>一样，他们使用基于人工规则的质量过滤器，他们有规则，比如</a:t>
            </a:r>
            <a:r>
              <a:rPr lang="en-US" altLang="zh-CN"/>
              <a:t>80%</a:t>
            </a:r>
            <a:r>
              <a:rPr lang="zh-CN" altLang="en-US"/>
              <a:t>的单词必须包含至少一个字母字符，他们还使用</a:t>
            </a:r>
            <a:r>
              <a:rPr lang="en-US" altLang="zh-CN"/>
              <a:t>google safesearch</a:t>
            </a:r>
            <a:r>
              <a:rPr lang="zh-CN" altLang="en-US"/>
              <a:t>进行毒性过滤。因此他们的数据集是</a:t>
            </a:r>
            <a:r>
              <a:rPr lang="en-US" altLang="zh-CN"/>
              <a:t>10TB</a:t>
            </a:r>
            <a:r>
              <a:rPr lang="zh-CN" altLang="en-US"/>
              <a:t>的文本，尽管</a:t>
            </a:r>
            <a:r>
              <a:rPr lang="en-US" altLang="zh-CN"/>
              <a:t>gopher</a:t>
            </a:r>
            <a:r>
              <a:rPr lang="zh-CN" altLang="en-US"/>
              <a:t>只训练了</a:t>
            </a:r>
            <a:r>
              <a:rPr lang="en-US" altLang="zh-CN"/>
              <a:t>3000</a:t>
            </a:r>
            <a:r>
              <a:rPr lang="zh-CN" altLang="en-US"/>
              <a:t>亿</a:t>
            </a:r>
            <a:r>
              <a:rPr lang="en-US" altLang="zh-CN"/>
              <a:t> </a:t>
            </a:r>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所以在</a:t>
            </a:r>
            <a:r>
              <a:rPr lang="en-US" altLang="zh-CN"/>
              <a:t>22</a:t>
            </a:r>
            <a:r>
              <a:rPr lang="zh-CN" altLang="en-US"/>
              <a:t>年，我们有了</a:t>
            </a:r>
            <a:r>
              <a:rPr lang="en-US" altLang="zh-CN"/>
              <a:t>Llama</a:t>
            </a:r>
            <a:r>
              <a:rPr lang="zh-CN" altLang="en-US"/>
              <a:t>，数据集是用</a:t>
            </a:r>
            <a:r>
              <a:rPr lang="en-US" altLang="zh-CN"/>
              <a:t>CCNet</a:t>
            </a:r>
            <a:r>
              <a:rPr lang="zh-CN" altLang="en-US"/>
              <a:t>处理的</a:t>
            </a:r>
            <a:r>
              <a:rPr lang="en-US" altLang="zh-CN"/>
              <a:t>Common Crawl</a:t>
            </a:r>
            <a:r>
              <a:rPr lang="zh-CN" altLang="en-US"/>
              <a:t>，</a:t>
            </a:r>
            <a:r>
              <a:rPr lang="en-US" altLang="zh-CN"/>
              <a:t>Llama</a:t>
            </a:r>
            <a:r>
              <a:rPr lang="zh-CN" altLang="en-US"/>
              <a:t>是基于你是否看起来像维基百科引用页面分类器训练的，他们还包含</a:t>
            </a:r>
            <a:r>
              <a:rPr lang="en-US" altLang="zh-CN"/>
              <a:t>C4</a:t>
            </a:r>
            <a:r>
              <a:rPr lang="zh-CN" altLang="en-US"/>
              <a:t>，他们使用</a:t>
            </a:r>
            <a:r>
              <a:rPr lang="en-US" altLang="zh-CN"/>
              <a:t>github</a:t>
            </a:r>
            <a:r>
              <a:rPr lang="zh-CN" altLang="en-US"/>
              <a:t>，保留了基于手动规则过滤的宽松许可证，维基百科，古登堡计划以及</a:t>
            </a:r>
            <a:r>
              <a:rPr lang="en-US" altLang="zh-CN"/>
              <a:t>books3</a:t>
            </a:r>
            <a:r>
              <a:rPr lang="zh-CN" altLang="en-US"/>
              <a:t>，还有</a:t>
            </a:r>
            <a:r>
              <a:rPr lang="en-US" altLang="zh-CN"/>
              <a:t>arXiv</a:t>
            </a:r>
            <a:r>
              <a:rPr lang="zh-CN" altLang="en-US"/>
              <a:t>，</a:t>
            </a:r>
            <a:r>
              <a:rPr lang="en-US" altLang="zh-CN"/>
              <a:t>stack Exchange</a:t>
            </a:r>
            <a:r>
              <a:rPr lang="zh-CN" altLang="en-US"/>
              <a:t>。因此得到了</a:t>
            </a:r>
            <a:r>
              <a:rPr lang="en-US" altLang="zh-CN"/>
              <a:t>1.2</a:t>
            </a:r>
            <a:r>
              <a:rPr lang="zh-CN" altLang="en-US"/>
              <a:t>万亿词元。</a:t>
            </a:r>
            <a:endParaRPr lang="zh-CN" altLang="en-US"/>
          </a:p>
          <a:p>
            <a:r>
              <a:rPr lang="zh-CN" altLang="en-US"/>
              <a:t>他们没有发布数据集，但共同复制了这个数据集和一个叫</a:t>
            </a:r>
            <a:r>
              <a:rPr lang="en-US" altLang="zh-CN"/>
              <a:t>RedPajama</a:t>
            </a:r>
            <a:r>
              <a:rPr lang="zh-CN" altLang="en-US"/>
              <a:t>的东西，你有了数据处理代码和数据，你可以取出来，这是一个复制品，但显然不是最优，而</a:t>
            </a:r>
            <a:r>
              <a:rPr lang="en-US" altLang="zh-CN"/>
              <a:t>Cerebras</a:t>
            </a:r>
            <a:r>
              <a:rPr lang="zh-CN" altLang="en-US"/>
              <a:t>做了进一步去重，最终得到了一个</a:t>
            </a:r>
            <a:r>
              <a:rPr lang="en-US" altLang="zh-CN"/>
              <a:t>6270</a:t>
            </a:r>
            <a:r>
              <a:rPr lang="zh-CN" altLang="en-US"/>
              <a:t>亿参数的子集，</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然后</a:t>
            </a:r>
            <a:r>
              <a:rPr lang="en-US" altLang="zh-CN"/>
              <a:t>refinedWeb</a:t>
            </a:r>
            <a:r>
              <a:rPr lang="zh-CN" altLang="en-US"/>
              <a:t>是另一篇论文，他们的观点是，如果我们足够好的过滤网络数据，那将是你所有你需要的。，他们使用</a:t>
            </a:r>
            <a:r>
              <a:rPr lang="en-US" altLang="zh-CN"/>
              <a:t>trafilatura</a:t>
            </a:r>
            <a:r>
              <a:rPr lang="zh-CN" altLang="en-US"/>
              <a:t>来提取内容，比仅使用</a:t>
            </a:r>
            <a:r>
              <a:rPr lang="en-US" altLang="zh-CN"/>
              <a:t>Common Crawl</a:t>
            </a:r>
            <a:r>
              <a:rPr lang="zh-CN" altLang="en-US"/>
              <a:t>提供的网络文件更</a:t>
            </a:r>
            <a:r>
              <a:rPr lang="zh-CN" altLang="en-US"/>
              <a:t>好，他们使用了</a:t>
            </a:r>
            <a:r>
              <a:rPr lang="en-US" altLang="zh-CN"/>
              <a:t>gopher</a:t>
            </a:r>
            <a:r>
              <a:rPr lang="zh-CN" altLang="en-US"/>
              <a:t>规则，强调我们将避免基于机器学习的过滤以避免偏差，然后他们做了一些模糊去重，因此他们有一个</a:t>
            </a:r>
            <a:r>
              <a:rPr lang="en-US" altLang="zh-CN"/>
              <a:t>5</a:t>
            </a:r>
            <a:r>
              <a:rPr lang="zh-CN" altLang="en-US"/>
              <a:t>万亿词元的数据集，相当大，但他们只发布了其中的</a:t>
            </a:r>
            <a:r>
              <a:rPr lang="en-US" altLang="zh-CN"/>
              <a:t>6000</a:t>
            </a:r>
            <a:r>
              <a:rPr lang="zh-CN" altLang="en-US"/>
              <a:t>亿。</a:t>
            </a:r>
            <a:endParaRPr lang="zh-CN" altLang="en-US"/>
          </a:p>
          <a:p>
            <a:r>
              <a:rPr lang="en-US" altLang="zh-CN"/>
              <a:t>fineweb</a:t>
            </a:r>
            <a:r>
              <a:rPr lang="zh-CN" altLang="en-US"/>
              <a:t>是作为</a:t>
            </a:r>
            <a:r>
              <a:rPr lang="en-US" altLang="zh-CN"/>
              <a:t>refinedweb</a:t>
            </a:r>
            <a:r>
              <a:rPr lang="zh-CN" altLang="en-US"/>
              <a:t>的复制开始的，但他们试图改进它，因此他们使用了所有</a:t>
            </a:r>
            <a:r>
              <a:rPr lang="en-US" altLang="zh-CN"/>
              <a:t>Common Crawl</a:t>
            </a:r>
            <a:r>
              <a:rPr lang="zh-CN" altLang="en-US"/>
              <a:t>转储。做了一些过滤。这次仍然使用手动规则，没有基于模型的过滤，他们做了一些去重和一些基本匿名化，因此他们从中得到了</a:t>
            </a:r>
            <a:r>
              <a:rPr lang="en-US" altLang="zh-CN"/>
              <a:t>15</a:t>
            </a:r>
            <a:r>
              <a:rPr lang="zh-CN" altLang="en-US"/>
              <a:t>万亿词元</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AI2</a:t>
            </a:r>
            <a:r>
              <a:rPr lang="zh-CN" altLang="en-US"/>
              <a:t>有一个叫做</a:t>
            </a:r>
            <a:r>
              <a:rPr lang="en-US" altLang="zh-CN"/>
              <a:t>OLMO</a:t>
            </a:r>
            <a:r>
              <a:rPr lang="zh-CN" altLang="en-US"/>
              <a:t>的模型系列，初始模型是在</a:t>
            </a:r>
            <a:r>
              <a:rPr lang="en-US" altLang="zh-CN"/>
              <a:t>Dolma</a:t>
            </a:r>
            <a:r>
              <a:rPr lang="zh-CN" altLang="en-US"/>
              <a:t>数据集上训练的，这是一些组合，有</a:t>
            </a:r>
            <a:r>
              <a:rPr lang="en-US" altLang="zh-CN"/>
              <a:t>Common Crawl</a:t>
            </a:r>
            <a:r>
              <a:rPr lang="zh-CN" altLang="en-US"/>
              <a:t>，我们有</a:t>
            </a:r>
            <a:r>
              <a:rPr lang="en-US" altLang="zh-CN"/>
              <a:t>Stack</a:t>
            </a:r>
            <a:r>
              <a:rPr lang="zh-CN" altLang="en-US"/>
              <a:t>，</a:t>
            </a:r>
            <a:r>
              <a:rPr lang="en-US" altLang="zh-CN"/>
              <a:t>C4</a:t>
            </a:r>
            <a:r>
              <a:rPr lang="zh-CN" altLang="en-US"/>
              <a:t>，还有</a:t>
            </a:r>
            <a:r>
              <a:rPr lang="en-US" altLang="zh-CN"/>
              <a:t>reddit</a:t>
            </a:r>
            <a:r>
              <a:rPr lang="zh-CN" altLang="en-US"/>
              <a:t>等等</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Common Crawl</a:t>
            </a:r>
            <a:r>
              <a:rPr lang="zh-CN" altLang="en-US"/>
              <a:t>的处理，他们使用语言识别来只保留英语部分的质量过滤；同样，在</a:t>
            </a:r>
            <a:r>
              <a:rPr lang="en-US" altLang="zh-CN"/>
              <a:t>Dolma</a:t>
            </a:r>
            <a:r>
              <a:rPr lang="zh-CN" altLang="en-US"/>
              <a:t>中，为了训练初始</a:t>
            </a:r>
            <a:r>
              <a:rPr lang="zh-CN" altLang="en-US"/>
              <a:t>模型。他们避免了基于模型的过滤；然后毒性过滤，使用一个分类器，最后进行去重，从中产生了</a:t>
            </a:r>
            <a:r>
              <a:rPr lang="en-US" altLang="zh-CN"/>
              <a:t>3</a:t>
            </a:r>
            <a:r>
              <a:rPr lang="zh-CN" altLang="en-US"/>
              <a:t>万亿词元</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然后再同年，有一篇</a:t>
            </a:r>
            <a:r>
              <a:rPr lang="en-US" altLang="zh-CN"/>
              <a:t>DataComp</a:t>
            </a:r>
            <a:r>
              <a:rPr lang="zh-CN" altLang="en-US"/>
              <a:t>论文，是多个不同组织合作的结果，在这里他们想要做的是定义一个创建数据集的竞赛，所以他们定义了一个标准数据集，你可以用它来尝试不同的数据处理算法，所以他们处理了</a:t>
            </a:r>
            <a:r>
              <a:rPr lang="en-US" altLang="zh-CN"/>
              <a:t>Common Crawl</a:t>
            </a:r>
            <a:r>
              <a:rPr lang="zh-CN" altLang="en-US"/>
              <a:t>的所有转储来生成</a:t>
            </a:r>
            <a:r>
              <a:rPr lang="en-US" altLang="zh-CN"/>
              <a:t>DCLM-pool</a:t>
            </a:r>
            <a:r>
              <a:rPr lang="zh-CN" altLang="en-US"/>
              <a:t>，有</a:t>
            </a:r>
            <a:r>
              <a:rPr lang="en-US" altLang="zh-CN"/>
              <a:t>240</a:t>
            </a:r>
            <a:r>
              <a:rPr lang="zh-CN" altLang="en-US"/>
              <a:t>万亿词元，他们有一个特定配方来过滤这个数据集，就是将</a:t>
            </a:r>
            <a:r>
              <a:rPr lang="en-US" altLang="zh-CN"/>
              <a:t>DCLM-pool</a:t>
            </a:r>
            <a:r>
              <a:rPr lang="zh-CN" altLang="en-US"/>
              <a:t>过滤成</a:t>
            </a:r>
            <a:r>
              <a:rPr lang="en-US" altLang="zh-CN"/>
              <a:t>DCLM-baseline</a:t>
            </a:r>
            <a:r>
              <a:rPr lang="zh-CN" altLang="en-US"/>
              <a:t>，他们积极的使用了质量过滤器。看这个图，他们做了基于规则的过滤，有趣的是使用了</a:t>
            </a:r>
            <a:r>
              <a:rPr lang="en-US" altLang="zh-CN"/>
              <a:t>fastText</a:t>
            </a:r>
            <a:r>
              <a:rPr lang="zh-CN" altLang="en-US"/>
              <a:t>过滤器将</a:t>
            </a:r>
            <a:r>
              <a:rPr lang="en-US" altLang="zh-CN"/>
              <a:t>DCML-pool</a:t>
            </a:r>
            <a:r>
              <a:rPr lang="zh-CN" altLang="en-US"/>
              <a:t>过滤成</a:t>
            </a:r>
            <a:r>
              <a:rPr lang="en-US" altLang="zh-CN"/>
              <a:t>DCLM-baseline</a:t>
            </a:r>
            <a:r>
              <a:rPr lang="zh-CN" altLang="en-US"/>
              <a:t>，只保留了总数据集的</a:t>
            </a:r>
            <a:r>
              <a:rPr lang="en-US" altLang="zh-CN"/>
              <a:t>1.4%</a:t>
            </a:r>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那么他们对于这种基于模型的过滤做了什么，在质量过滤中，你定义你的正例和负例，然后训练一个分类器，所以正例有两个来源，有这个</a:t>
            </a:r>
            <a:r>
              <a:rPr lang="en-US" altLang="zh-CN"/>
              <a:t>openHermes</a:t>
            </a:r>
            <a:r>
              <a:rPr lang="zh-CN" altLang="en-US"/>
              <a:t>数据集，主要是</a:t>
            </a:r>
            <a:r>
              <a:rPr lang="en-US" altLang="zh-CN"/>
              <a:t>gpt-4</a:t>
            </a:r>
            <a:r>
              <a:rPr lang="zh-CN" altLang="en-US"/>
              <a:t>生成的指令数据，实际上在使用指令数据来策划预训练数据；然后是</a:t>
            </a:r>
            <a:r>
              <a:rPr lang="en-US" altLang="zh-CN"/>
              <a:t>ELI5</a:t>
            </a:r>
            <a:r>
              <a:rPr lang="zh-CN" altLang="en-US"/>
              <a:t>，专注于</a:t>
            </a:r>
            <a:r>
              <a:rPr lang="en-US" altLang="zh-CN"/>
              <a:t> “</a:t>
            </a:r>
            <a:r>
              <a:rPr lang="zh-CN" altLang="en-US"/>
              <a:t>好奇向问答</a:t>
            </a:r>
            <a:r>
              <a:rPr lang="en-US" altLang="zh-CN"/>
              <a:t>” </a:t>
            </a:r>
            <a:r>
              <a:rPr lang="zh-CN" altLang="en-US"/>
              <a:t>的</a:t>
            </a:r>
            <a:r>
              <a:rPr lang="en-US" altLang="zh-CN"/>
              <a:t> Reddit </a:t>
            </a:r>
            <a:r>
              <a:rPr lang="zh-CN" altLang="en-US"/>
              <a:t>子版块。负例只是从</a:t>
            </a:r>
            <a:r>
              <a:rPr lang="en-US" altLang="zh-CN"/>
              <a:t>refineWeb</a:t>
            </a:r>
            <a:r>
              <a:rPr lang="zh-CN" altLang="en-US"/>
              <a:t>中采样的，将其减少到</a:t>
            </a:r>
            <a:r>
              <a:rPr lang="en-US" altLang="zh-CN"/>
              <a:t>3.8</a:t>
            </a:r>
            <a:r>
              <a:rPr lang="zh-CN" altLang="en-US"/>
              <a:t>万亿词元，然后他们基于这些训练了一个</a:t>
            </a:r>
            <a:r>
              <a:rPr lang="en-US" altLang="zh-CN"/>
              <a:t>fastText</a:t>
            </a:r>
            <a:r>
              <a:rPr lang="zh-CN" altLang="en-US"/>
              <a:t>分类器，并在整个</a:t>
            </a:r>
            <a:r>
              <a:rPr lang="en-US" altLang="zh-CN"/>
              <a:t>DCLM-pool</a:t>
            </a:r>
            <a:r>
              <a:rPr lang="zh-CN" altLang="en-US"/>
              <a:t>运行他，这是其中一个结果表，所以这里的基准测试核心包含一堆标准的语言建模基准测试，比如</a:t>
            </a:r>
            <a:r>
              <a:rPr lang="en-US" altLang="zh-CN"/>
              <a:t>HellaSwag</a:t>
            </a:r>
            <a:r>
              <a:rPr lang="zh-CN" altLang="en-US"/>
              <a:t>，表明使用这个歌分类器，实际比</a:t>
            </a:r>
            <a:r>
              <a:rPr lang="en-US" altLang="zh-CN"/>
              <a:t>RefineWeb</a:t>
            </a:r>
            <a:r>
              <a:rPr lang="zh-CN" altLang="en-US"/>
              <a:t>高出</a:t>
            </a:r>
            <a:r>
              <a:rPr lang="en-US" altLang="zh-CN"/>
              <a:t>3%</a:t>
            </a:r>
            <a:r>
              <a:rPr lang="zh-CN" altLang="en-US"/>
              <a:t>，比其他一堆东西高出</a:t>
            </a:r>
            <a:r>
              <a:rPr lang="en-US" altLang="zh-CN"/>
              <a:t>1%</a:t>
            </a:r>
            <a:r>
              <a:rPr lang="zh-CN" altLang="en-US"/>
              <a:t>和</a:t>
            </a:r>
            <a:r>
              <a:rPr lang="en-US" altLang="zh-CN"/>
              <a:t>2%</a:t>
            </a:r>
            <a:r>
              <a:rPr lang="zh-CN" altLang="en-US"/>
              <a:t>，这是他们创建这个</a:t>
            </a:r>
            <a:r>
              <a:rPr lang="en-US" altLang="zh-CN"/>
              <a:t>DCLM-baseline</a:t>
            </a:r>
            <a:r>
              <a:rPr lang="zh-CN" altLang="en-US"/>
              <a:t>的过程，然后你可以从中训练一个相当合理的</a:t>
            </a:r>
            <a:r>
              <a:rPr lang="zh-CN" altLang="en-US"/>
              <a:t>模型，</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讨论的最后一个数据集是这个，这是来自</a:t>
            </a:r>
            <a:r>
              <a:rPr lang="en-US" altLang="zh-CN"/>
              <a:t>NVIDIA</a:t>
            </a:r>
            <a:r>
              <a:rPr lang="zh-CN" altLang="en-US"/>
              <a:t>，他们的论点是</a:t>
            </a:r>
            <a:r>
              <a:rPr lang="en-US" altLang="zh-CN"/>
              <a:t>DCML</a:t>
            </a:r>
            <a:r>
              <a:rPr lang="zh-CN" altLang="en-US"/>
              <a:t>基线数据集很好，但过滤非常激进，从</a:t>
            </a:r>
            <a:r>
              <a:rPr lang="en-US" altLang="zh-CN"/>
              <a:t>240</a:t>
            </a:r>
            <a:r>
              <a:rPr lang="zh-CN" altLang="en-US"/>
              <a:t>万亿词元到</a:t>
            </a:r>
            <a:r>
              <a:rPr lang="en-US" altLang="zh-CN"/>
              <a:t>3.8</a:t>
            </a:r>
            <a:r>
              <a:rPr lang="zh-CN" altLang="en-US"/>
              <a:t>万亿词元，如果想训练更大的模型更长时间，你需要更多词元。这种激进得到的</a:t>
            </a:r>
            <a:r>
              <a:rPr lang="en-US" altLang="zh-CN"/>
              <a:t>3.8</a:t>
            </a:r>
            <a:r>
              <a:rPr lang="zh-CN" altLang="en-US"/>
              <a:t>万亿词元，实际上不足以维持一个</a:t>
            </a:r>
            <a:r>
              <a:rPr lang="en-US" altLang="zh-CN"/>
              <a:t>4000</a:t>
            </a:r>
            <a:r>
              <a:rPr lang="zh-CN" altLang="en-US"/>
              <a:t>亿参数模型的训练</a:t>
            </a:r>
            <a:r>
              <a:rPr lang="zh-CN" altLang="en-US"/>
              <a:t>运行。</a:t>
            </a:r>
            <a:endParaRPr lang="zh-CN" altLang="en-US"/>
          </a:p>
          <a:p>
            <a:r>
              <a:rPr lang="zh-CN" altLang="en-US"/>
              <a:t>发现的第一件事情是，他们对</a:t>
            </a:r>
            <a:r>
              <a:rPr lang="en-US" altLang="zh-CN"/>
              <a:t>HTML</a:t>
            </a:r>
            <a:r>
              <a:rPr lang="zh-CN" altLang="en-US"/>
              <a:t>转文本做了消融实验，不仅基于质量还基于剩余多少词元，他们努力不丢掉词元，结果发现</a:t>
            </a:r>
            <a:r>
              <a:rPr lang="en-US" altLang="zh-CN"/>
              <a:t>jusText</a:t>
            </a:r>
            <a:r>
              <a:rPr lang="zh-CN" altLang="en-US"/>
              <a:t>而不是投入</a:t>
            </a:r>
            <a:r>
              <a:rPr lang="en-US" altLang="zh-CN"/>
              <a:t>trafilature</a:t>
            </a:r>
            <a:r>
              <a:rPr lang="zh-CN" altLang="en-US"/>
              <a:t>能保留更多词元，所以选择了</a:t>
            </a:r>
            <a:r>
              <a:rPr lang="en-US" altLang="zh-CN"/>
              <a:t>justText</a:t>
            </a:r>
            <a:endParaRPr lang="zh-CN" altLang="en-US"/>
          </a:p>
          <a:p>
            <a:r>
              <a:rPr lang="zh-CN" altLang="en-US"/>
              <a:t>然后他们使用了一系列不同的技术进行质量过滤，提示巨大的</a:t>
            </a:r>
            <a:r>
              <a:rPr lang="en-US" altLang="zh-CN"/>
              <a:t>Nemotron</a:t>
            </a:r>
            <a:r>
              <a:rPr lang="zh-CN" altLang="en-US"/>
              <a:t>模型基于教育价值给文档打分，将其蒸馏到一个更快的模型中，并用它来训练，所以这是一个基于语言模型认为的教育价值的筛选器，他们还使用了</a:t>
            </a:r>
            <a:r>
              <a:rPr lang="en-US" altLang="zh-CN"/>
              <a:t>DCML</a:t>
            </a:r>
            <a:r>
              <a:rPr lang="zh-CN" altLang="en-US"/>
              <a:t>分类器，他们基本上运行了所有折现分类器并将分数分桶。然后从每个桶中，采样了一批</a:t>
            </a:r>
            <a:r>
              <a:rPr lang="zh-CN" altLang="en-US"/>
              <a:t>数据集。</a:t>
            </a:r>
            <a:endParaRPr lang="zh-CN" altLang="en-US"/>
          </a:p>
          <a:p>
            <a:r>
              <a:rPr lang="zh-CN" altLang="en-US"/>
              <a:t>他们还做了这件事，重新表述数据集，对于低质量数据集，基本使用语言模型将其重写为更高质量的内容；对于高质量数据，使用语言模型生成看起来像任务的内容</a:t>
            </a:r>
            <a:endParaRPr lang="zh-CN" altLang="en-US"/>
          </a:p>
          <a:p>
            <a:r>
              <a:rPr lang="zh-CN" altLang="en-US"/>
              <a:t>他们从中得到了</a:t>
            </a:r>
            <a:r>
              <a:rPr lang="en-US" altLang="zh-CN"/>
              <a:t>6.3</a:t>
            </a:r>
            <a:r>
              <a:rPr lang="zh-CN" altLang="en-US"/>
              <a:t>亿万词元，这比</a:t>
            </a:r>
            <a:r>
              <a:rPr lang="en-US" altLang="zh-CN"/>
              <a:t>3</a:t>
            </a:r>
            <a:r>
              <a:rPr lang="zh-CN" altLang="en-US"/>
              <a:t>万亿词元</a:t>
            </a:r>
            <a:r>
              <a:rPr lang="zh-CN" altLang="en-US"/>
              <a:t>多，作为参考，</a:t>
            </a:r>
            <a:r>
              <a:rPr lang="en-US" altLang="zh-CN"/>
              <a:t>Llama3</a:t>
            </a:r>
            <a:r>
              <a:rPr lang="zh-CN" altLang="en-US"/>
              <a:t>是在</a:t>
            </a:r>
            <a:r>
              <a:rPr lang="en-US" altLang="zh-CN"/>
              <a:t>15</a:t>
            </a:r>
            <a:r>
              <a:rPr lang="zh-CN" altLang="en-US"/>
              <a:t>万亿词元上训练，</a:t>
            </a:r>
            <a:r>
              <a:rPr lang="en-US" altLang="zh-CN"/>
              <a:t>qwen3</a:t>
            </a:r>
            <a:r>
              <a:rPr lang="zh-CN" altLang="en-US"/>
              <a:t>是</a:t>
            </a:r>
            <a:r>
              <a:rPr lang="en-US" altLang="zh-CN"/>
              <a:t>36</a:t>
            </a:r>
            <a:r>
              <a:rPr lang="zh-CN" altLang="en-US"/>
              <a:t>万亿词元训练</a:t>
            </a: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现在转到版权问题，这是之前提出的一个问题，我们先理解版权的本质，如今有很多围绕生成式</a:t>
            </a:r>
            <a:r>
              <a:rPr lang="en-US" altLang="zh-CN"/>
              <a:t>AI</a:t>
            </a:r>
            <a:r>
              <a:rPr lang="zh-CN" altLang="en-US"/>
              <a:t>的诉讼，主要涉及版权问题。总的来说，版权法属于知识产权法的范畴，目的在于激励知识产品的创造，存在多种类型的版权，专利，商标和商业机密。因此版权法是其中与训练数据最相关的，可以追溯到</a:t>
            </a:r>
            <a:r>
              <a:rPr lang="en-US" altLang="zh-CN"/>
              <a:t>18</a:t>
            </a:r>
            <a:r>
              <a:rPr lang="zh-CN" altLang="en-US"/>
              <a:t>世纪的英格兰，</a:t>
            </a:r>
            <a:r>
              <a:rPr lang="en-US" altLang="zh-CN"/>
              <a:t>1976</a:t>
            </a:r>
            <a:r>
              <a:rPr lang="zh-CN" altLang="en-US"/>
              <a:t>年在美国有了版权法，本质上确立了版权的含义，适用于固定在有形表达媒介中的原创</a:t>
            </a:r>
            <a:r>
              <a:rPr lang="zh-CN" altLang="en-US"/>
              <a:t>产品。他必须是原创产品，如果是简单汇编，则不受版权保护，版权保护的是表达形式，不保护思想</a:t>
            </a: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此前，版权只适用于已发布的内容，现在只需满足</a:t>
            </a:r>
            <a:r>
              <a:rPr lang="en-US" altLang="zh-CN"/>
              <a:t>“</a:t>
            </a:r>
            <a:r>
              <a:rPr lang="zh-CN" altLang="en-US"/>
              <a:t>固定</a:t>
            </a:r>
            <a:r>
              <a:rPr lang="en-US" altLang="zh-CN"/>
              <a:t>”</a:t>
            </a:r>
            <a:r>
              <a:rPr lang="zh-CN" altLang="en-US"/>
              <a:t>这个更宽松的概念，范围在不断扩大，版权不需要注册即可获得，与专利不同，版权只要你将内容发布到网站，即使未明确标注也自动受保护。但有一个规定，创作者必须注册才能起诉他人侵权，注册门槛需要</a:t>
            </a:r>
            <a:r>
              <a:rPr lang="en-US" altLang="zh-CN"/>
              <a:t>65</a:t>
            </a:r>
            <a:r>
              <a:rPr lang="zh-CN" altLang="en-US"/>
              <a:t>美元，版权现在持续</a:t>
            </a:r>
            <a:r>
              <a:rPr lang="en-US" altLang="zh-CN"/>
              <a:t>75</a:t>
            </a:r>
            <a:r>
              <a:rPr lang="zh-CN" altLang="en-US"/>
              <a:t>年，到期后进入公共领域，因此所有经典作品和古德堡计划大部分内容已经过版权期。网络上大多数内容其实都受其版权保护，</a:t>
            </a:r>
            <a:r>
              <a:rPr lang="en-US" altLang="zh-CN"/>
              <a:t>  </a:t>
            </a:r>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现在是中期训练和后期训练，他们放在一起，因为界限通常不太</a:t>
            </a:r>
            <a:r>
              <a:rPr lang="zh-CN" altLang="en-US"/>
              <a:t>清晰，通常现在，我们考虑的是总体上较低的质量，但专注于如何灌输特定能力，尽管在预训练中，我们已经考虑了质量分类器和高品质。</a:t>
            </a:r>
            <a:endParaRPr lang="zh-CN" altLang="en-US"/>
          </a:p>
          <a:p>
            <a:r>
              <a:rPr lang="zh-CN" altLang="en-US"/>
              <a:t>有一件事，在这门课没有被讨论的，就是长上下文，如果你看顶级模型，他有相当大的长上下文，</a:t>
            </a:r>
            <a:r>
              <a:rPr lang="en-US" altLang="zh-CN"/>
              <a:t>TTransformer</a:t>
            </a:r>
            <a:r>
              <a:rPr lang="zh-CN" altLang="en-US"/>
              <a:t>的规模随序列长度呈二次方增长，而且很明显，你不想从一开始就在长上下文进行训练，所以人们的做法是后来才添加他，这就是为什么长上下文扩展通常出现在训练中期，因为如果模型效果不佳，你不想浪费周期在长上下文训练。</a:t>
            </a:r>
            <a:endParaRPr lang="zh-CN" altLang="en-US"/>
          </a:p>
          <a:p>
            <a:r>
              <a:rPr lang="zh-CN" altLang="en-US"/>
              <a:t>有多个方法可以做到这一点，我将讨论书籍和数学作为我们用于长上下文扩展的两个数据源，基本对于上下注意力，你只需要创建具有长距离依赖关系的数据，其中一些数据也可以合成，</a:t>
            </a:r>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人们也关注任务，有很多工作基本上将传统的</a:t>
            </a:r>
            <a:r>
              <a:rPr lang="en-US" altLang="zh-CN"/>
              <a:t>NLP</a:t>
            </a:r>
            <a:r>
              <a:rPr lang="zh-CN" altLang="en-US"/>
              <a:t>数据集基准转换为</a:t>
            </a:r>
            <a:r>
              <a:rPr lang="en-US" altLang="zh-CN"/>
              <a:t>prompt</a:t>
            </a:r>
            <a:r>
              <a:rPr lang="zh-CN" altLang="en-US"/>
              <a:t>，用于模型的微调和</a:t>
            </a:r>
            <a:r>
              <a:rPr lang="zh-CN" altLang="en-US"/>
              <a:t>训练。</a:t>
            </a:r>
            <a:endParaRPr lang="zh-CN" altLang="en-US"/>
          </a:p>
          <a:p>
            <a:r>
              <a:rPr lang="zh-CN" altLang="en-US"/>
              <a:t>所以</a:t>
            </a:r>
            <a:r>
              <a:rPr lang="en-US" altLang="zh-CN"/>
              <a:t>Supernatural INstructions</a:t>
            </a:r>
            <a:r>
              <a:rPr lang="zh-CN" altLang="en-US"/>
              <a:t>就是这样一个数据集，他利用社区共同创建了</a:t>
            </a:r>
            <a:r>
              <a:rPr lang="en-US" altLang="zh-CN"/>
              <a:t>1600</a:t>
            </a:r>
            <a:r>
              <a:rPr lang="zh-CN" altLang="en-US"/>
              <a:t>个任务，并将他们标准化为</a:t>
            </a:r>
            <a:r>
              <a:rPr lang="en-US" altLang="zh-CN"/>
              <a:t>prompt</a:t>
            </a:r>
            <a:r>
              <a:rPr lang="zh-CN" altLang="en-US"/>
              <a:t>；</a:t>
            </a:r>
            <a:r>
              <a:rPr lang="en-US" altLang="zh-CN"/>
              <a:t>FLAN</a:t>
            </a:r>
            <a:r>
              <a:rPr lang="zh-CN" altLang="en-US"/>
              <a:t>在同一年出现，他创建了</a:t>
            </a:r>
            <a:r>
              <a:rPr lang="en-US" altLang="zh-CN"/>
              <a:t>1800</a:t>
            </a:r>
            <a:r>
              <a:rPr lang="zh-CN" altLang="en-US"/>
              <a:t>个任务，这样做的一个优势是你有一个可以解决所有</a:t>
            </a:r>
            <a:r>
              <a:rPr lang="en-US" altLang="zh-CN"/>
              <a:t>NLP</a:t>
            </a:r>
            <a:r>
              <a:rPr lang="zh-CN" altLang="en-US"/>
              <a:t>任务的语言模型，并受益于迁移学习，可以追溯到</a:t>
            </a:r>
            <a:r>
              <a:rPr lang="en-US" altLang="zh-CN"/>
              <a:t>T5</a:t>
            </a:r>
            <a:r>
              <a:rPr lang="zh-CN" altLang="en-US"/>
              <a:t>。但有一个问题是，通常</a:t>
            </a:r>
            <a:r>
              <a:rPr lang="zh-CN" altLang="en-US"/>
              <a:t>你用的提示非常模板化，</a:t>
            </a:r>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这推动了指令跟随数据集的发展，自</a:t>
            </a:r>
            <a:r>
              <a:rPr lang="en-US" altLang="zh-CN"/>
              <a:t>22</a:t>
            </a:r>
            <a:r>
              <a:rPr lang="zh-CN" altLang="en-US"/>
              <a:t>年，有了这样的期望：语言模型应该能够回答你给他的任何一次性任务，甚至任务的概念都消失了，开放社区的很多工作都基于合成数据。</a:t>
            </a:r>
            <a:endParaRPr lang="zh-CN" altLang="en-US"/>
          </a:p>
          <a:p>
            <a:r>
              <a:rPr lang="zh-CN" altLang="en-US"/>
              <a:t>从</a:t>
            </a:r>
            <a:r>
              <a:rPr lang="en-US" altLang="zh-CN"/>
              <a:t>Alpaca</a:t>
            </a:r>
            <a:r>
              <a:rPr lang="zh-CN" altLang="en-US"/>
              <a:t>开始，它使用自我指导的想法来提示语言模型生成示例，然后你可以用示例进行微调。</a:t>
            </a:r>
            <a:endParaRPr lang="zh-CN" altLang="en-US"/>
          </a:p>
          <a:p>
            <a:r>
              <a:rPr lang="zh-CN" altLang="en-US"/>
              <a:t>还有</a:t>
            </a:r>
            <a:r>
              <a:rPr lang="en-US" altLang="zh-CN"/>
              <a:t>Vicuna</a:t>
            </a:r>
            <a:r>
              <a:rPr lang="zh-CN" altLang="en-US"/>
              <a:t>，它使用用户在</a:t>
            </a:r>
            <a:r>
              <a:rPr lang="en-US" altLang="zh-CN"/>
              <a:t>shareGPT</a:t>
            </a:r>
            <a:r>
              <a:rPr lang="zh-CN" altLang="en-US"/>
              <a:t>上分享的对话，但这个平台已被弃用</a:t>
            </a:r>
            <a:endParaRPr lang="zh-CN" altLang="en-US"/>
          </a:p>
          <a:p>
            <a:r>
              <a:rPr lang="en-US" altLang="zh-CN"/>
              <a:t>Baize</a:t>
            </a:r>
            <a:r>
              <a:rPr lang="zh-CN" altLang="en-US"/>
              <a:t>，可以让模型和自己聊天，以一些问题为种子，这样就创建了一些合成数据，</a:t>
            </a:r>
            <a:endParaRPr lang="zh-CN" altLang="en-US"/>
          </a:p>
          <a:p>
            <a:r>
              <a:rPr lang="zh-CN" altLang="en-US"/>
              <a:t>你可以使用</a:t>
            </a:r>
            <a:r>
              <a:rPr lang="en-US" altLang="zh-CN"/>
              <a:t>evol-instruct</a:t>
            </a:r>
            <a:r>
              <a:rPr lang="zh-CN" altLang="en-US"/>
              <a:t>方法，他们基本上是将问题变得复杂，</a:t>
            </a:r>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总结一下，关键教训是数据不会从天而降，必须努力去获取他；在这个世界上，有些实时服务如</a:t>
            </a:r>
            <a:r>
              <a:rPr lang="en-US" altLang="zh-CN"/>
              <a:t>github</a:t>
            </a:r>
            <a:r>
              <a:rPr lang="zh-CN" altLang="en-US"/>
              <a:t>，首先你必须使用它，必须先获取原始数据的转储，但你不能再原始数据上训练，你通常必须处理它；数据确实是本质上区分语言模型的关键因素；有一些法律和伦理问题，我们谈论了版权；这个流程中有很多启发式（</a:t>
            </a:r>
            <a:r>
              <a:rPr lang="en-US" altLang="zh-CN"/>
              <a:t>heuristic</a:t>
            </a:r>
            <a:r>
              <a:rPr lang="zh-CN" altLang="en-US"/>
              <a:t>）步骤，还有许多可以改进的空间！</a:t>
            </a: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这是关于数据的第二讲，</a:t>
            </a: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上讲中，我们讨论了用于训练各种语言模型的不同数据集，我们从</a:t>
            </a:r>
            <a:r>
              <a:rPr lang="en-US" altLang="zh-CN">
                <a:sym typeface="+mn-ea"/>
              </a:rPr>
              <a:t>Bert</a:t>
            </a:r>
            <a:r>
              <a:rPr lang="zh-CN" altLang="en-US">
                <a:sym typeface="+mn-ea"/>
              </a:rPr>
              <a:t>模型开始，进行了历史回顾，数据并不是凭空而来，通常存在于实时服务当中，他们必须明确地被爬取或转储，然后进行一系列处理，处理包含将原始</a:t>
            </a:r>
            <a:r>
              <a:rPr lang="en-US" altLang="zh-CN">
                <a:sym typeface="+mn-ea"/>
              </a:rPr>
              <a:t>HTML</a:t>
            </a:r>
            <a:r>
              <a:rPr lang="zh-CN" altLang="en-US">
                <a:sym typeface="+mn-ea"/>
              </a:rPr>
              <a:t>转换到文本，进行各种质量、语言和毒性过滤，去重等等。在本讲，我们将探讨质量过滤和去重的工作原理，首先会看不同的过滤算法</a:t>
            </a:r>
            <a:r>
              <a:rPr lang="en-US" altLang="zh-CN">
                <a:sym typeface="+mn-ea"/>
              </a:rPr>
              <a:t>,</a:t>
            </a:r>
            <a:r>
              <a:rPr lang="zh-CN" altLang="en-US">
                <a:sym typeface="+mn-ea"/>
              </a:rPr>
              <a:t>这些算法大多是基于模型的，因此可以训练一个分类器或某种模型来进行</a:t>
            </a:r>
            <a:r>
              <a:rPr lang="zh-CN" altLang="en-US">
                <a:sym typeface="+mn-ea"/>
              </a:rPr>
              <a:t>过滤，然后将展示这个原语可以用于各种不同类型的过滤，最后我们将看一些去重算法。</a:t>
            </a:r>
            <a:endParaRPr lang="en-US" altLang="zh-CN">
              <a:sym typeface="+mn-ea"/>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我们先从过滤算法开始，你被给予了一些目标数据，但</a:t>
            </a:r>
            <a:r>
              <a:rPr lang="zh-CN" altLang="en-US"/>
              <a:t>你没有很多，假设他是高质量的数据，并且你有很多的原始数据，你的目标是找到原始数据的一个子集，因此，这是你在任何过滤管道中应该识别的模式，</a:t>
            </a: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你希望这个过滤算法有什么特性，显然希望他能从</a:t>
            </a:r>
            <a:r>
              <a:rPr lang="en-US" altLang="zh-CN"/>
              <a:t>T</a:t>
            </a:r>
            <a:r>
              <a:rPr lang="zh-CN" altLang="en-US"/>
              <a:t>中泛化，并且他必须非常快，你必须在整个网络上运行他，这是一个运行巨大模型的过程，可能与训练一样昂贵。</a:t>
            </a:r>
            <a:endParaRPr lang="zh-CN" altLang="en-US"/>
          </a:p>
          <a:p>
            <a:r>
              <a:rPr lang="zh-CN" altLang="en-US"/>
              <a:t>因此我们将看看</a:t>
            </a:r>
            <a:r>
              <a:rPr lang="zh-CN" altLang="en-US"/>
              <a:t>实现这个高层次抽象原语的三种不同方式。因此，我们将从训练一个</a:t>
            </a:r>
            <a:r>
              <a:rPr lang="en-US" altLang="zh-CN"/>
              <a:t>n</a:t>
            </a:r>
            <a:r>
              <a:rPr lang="zh-CN" altLang="en-US"/>
              <a:t>元语法模型开始，可以用</a:t>
            </a:r>
            <a:r>
              <a:rPr lang="en-US" altLang="zh-CN"/>
              <a:t>Kneser-Ney</a:t>
            </a:r>
            <a:r>
              <a:rPr lang="zh-CN" altLang="en-US"/>
              <a:t>平滑来进行训练，这个领域中，人们倾向使用一个特定</a:t>
            </a:r>
            <a:r>
              <a:rPr lang="en-US" altLang="zh-CN"/>
              <a:t>KenLM</a:t>
            </a:r>
            <a:r>
              <a:rPr lang="zh-CN" altLang="en-US"/>
              <a:t>实现，他是开源的，他实现了</a:t>
            </a:r>
            <a:r>
              <a:rPr lang="en-US" altLang="zh-CN"/>
              <a:t>Kneser-Ney</a:t>
            </a:r>
            <a:r>
              <a:rPr lang="zh-CN" altLang="en-US"/>
              <a:t>平滑，</a:t>
            </a:r>
            <a:r>
              <a:rPr lang="en-US" altLang="zh-CN"/>
              <a:t>n</a:t>
            </a:r>
            <a:r>
              <a:rPr lang="zh-CN" altLang="en-US"/>
              <a:t>元语法模型的好处是非常简单和快，拟合模型时，只是计算</a:t>
            </a:r>
            <a:r>
              <a:rPr lang="en-US" altLang="zh-CN"/>
              <a:t>n</a:t>
            </a:r>
            <a:r>
              <a:rPr lang="zh-CN" altLang="en-US"/>
              <a:t>元语法的数量，然后进行归一化。</a:t>
            </a:r>
            <a:endParaRPr lang="zh-CN" altLang="en-US"/>
          </a:p>
          <a:p>
            <a:r>
              <a:rPr lang="zh-CN" altLang="en-US"/>
              <a:t>这里深入一点，你的出发点是语言模型的最大似然估计，因此你有一个文本语料库，你想估计条件概率，比如给定前</a:t>
            </a:r>
            <a:r>
              <a:rPr lang="en-US" altLang="zh-CN"/>
              <a:t>n-1</a:t>
            </a:r>
            <a:r>
              <a:rPr lang="zh-CN" altLang="en-US"/>
              <a:t>个词的条件概率。例如</a:t>
            </a:r>
            <a:r>
              <a:rPr lang="en-US" altLang="zh-CN"/>
              <a:t>“the cat”</a:t>
            </a:r>
            <a:r>
              <a:rPr lang="zh-CN" altLang="en-US"/>
              <a:t>，你所做的是计算</a:t>
            </a:r>
            <a:r>
              <a:rPr lang="en-US" altLang="zh-CN"/>
              <a:t>n</a:t>
            </a:r>
            <a:r>
              <a:rPr lang="zh-CN" altLang="en-US"/>
              <a:t>元语法的数量，然后除以条件上下文的</a:t>
            </a:r>
            <a:r>
              <a:rPr lang="en-US" altLang="zh-CN"/>
              <a:t>n-1</a:t>
            </a:r>
            <a:r>
              <a:rPr lang="zh-CN" altLang="en-US"/>
              <a:t>元语法的数量。主要问题是存在稀疏计数，许多</a:t>
            </a:r>
            <a:r>
              <a:rPr lang="en-US" altLang="zh-CN"/>
              <a:t>n</a:t>
            </a:r>
            <a:r>
              <a:rPr lang="zh-CN" altLang="en-US"/>
              <a:t>元语法正好出现零次，尽管非常合理，为了缓解这个问题，有人设计了</a:t>
            </a:r>
            <a:r>
              <a:rPr lang="en-US" altLang="zh-CN"/>
              <a:t>Kneser-Ney</a:t>
            </a:r>
            <a:r>
              <a:rPr lang="zh-CN" altLang="en-US"/>
              <a:t>平滑来处理未见的</a:t>
            </a:r>
            <a:r>
              <a:rPr lang="en-US" altLang="zh-CN"/>
              <a:t>n</a:t>
            </a:r>
            <a:r>
              <a:rPr lang="zh-CN" altLang="en-US"/>
              <a:t>元组，</a:t>
            </a:r>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所以</a:t>
            </a:r>
            <a:r>
              <a:rPr lang="en-US" altLang="zh-CN"/>
              <a:t>CCNet</a:t>
            </a:r>
            <a:r>
              <a:rPr lang="zh-CN" altLang="en-US"/>
              <a:t>，这是一篇论文，我们上次讨论过，他们基本上看了文本的段落，他们按困惑度递增对段落进行排序，并保留了前</a:t>
            </a:r>
            <a:r>
              <a:rPr lang="en-US" altLang="zh-CN"/>
              <a:t>1/3,</a:t>
            </a:r>
            <a:r>
              <a:rPr lang="zh-CN" altLang="en-US"/>
              <a:t>这是他们用来创建第一个</a:t>
            </a:r>
            <a:r>
              <a:rPr lang="en-US" altLang="zh-CN"/>
              <a:t>Llama</a:t>
            </a:r>
            <a:r>
              <a:rPr lang="zh-CN" altLang="en-US"/>
              <a:t>数据集的方法，所以</a:t>
            </a:r>
            <a:r>
              <a:rPr lang="en-US" altLang="zh-CN"/>
              <a:t>Kneser-Ney</a:t>
            </a:r>
            <a:r>
              <a:rPr lang="zh-CN" altLang="en-US"/>
              <a:t>语言建模很快，但很粗糙，</a:t>
            </a:r>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所以你可以将</a:t>
            </a:r>
            <a:r>
              <a:rPr lang="en-US" altLang="zh-CN"/>
              <a:t>n</a:t>
            </a:r>
            <a:r>
              <a:rPr lang="zh-CN" altLang="en-US"/>
              <a:t>元语法模型拟合到你的目标数据，然后你可以用它来评分原始数据并选择得分最高的文档。另一件你可以做的事是</a:t>
            </a:r>
            <a:r>
              <a:rPr lang="en-US" altLang="zh-CN"/>
              <a:t>fastText</a:t>
            </a:r>
            <a:r>
              <a:rPr lang="zh-CN" altLang="en-US">
                <a:highlight>
                  <a:srgbClr val="FFFF00"/>
                </a:highlight>
              </a:rPr>
              <a:t>分类器</a:t>
            </a:r>
            <a:r>
              <a:rPr lang="en-US" altLang="zh-CN">
                <a:highlight>
                  <a:srgbClr val="FFFF00"/>
                </a:highlight>
              </a:rPr>
              <a:t>,</a:t>
            </a:r>
            <a:r>
              <a:rPr lang="zh-CN" altLang="en-US">
                <a:highlight>
                  <a:srgbClr val="FFFF00"/>
                </a:highlight>
              </a:rPr>
              <a:t>某些方面更受欢迎，他们开发用于文本分类，很多人用它开发各种神经网络模型，这就是为什么这个软件包实际上变得非常受欢迎。</a:t>
            </a:r>
            <a:endParaRPr lang="zh-CN" altLang="en-US">
              <a:highlight>
                <a:srgbClr val="FFFF00"/>
              </a:highlight>
            </a:endParaRPr>
          </a:p>
          <a:p>
            <a:r>
              <a:rPr lang="zh-CN" altLang="en-US">
                <a:highlight>
                  <a:srgbClr val="FFFF00"/>
                </a:highlight>
              </a:rPr>
              <a:t>这里的动机是，如果你在做，词袋分类，你有长度为</a:t>
            </a:r>
            <a:r>
              <a:rPr lang="en-US" altLang="zh-CN">
                <a:highlight>
                  <a:srgbClr val="FFFF00"/>
                </a:highlight>
              </a:rPr>
              <a:t>L</a:t>
            </a:r>
            <a:r>
              <a:rPr lang="zh-CN" altLang="en-US">
                <a:highlight>
                  <a:srgbClr val="FFFF00"/>
                </a:highlight>
              </a:rPr>
              <a:t>的句子，词汇量是</a:t>
            </a:r>
            <a:r>
              <a:rPr lang="en-US" altLang="zh-CN">
                <a:highlight>
                  <a:srgbClr val="FFFF00"/>
                </a:highlight>
              </a:rPr>
              <a:t>V</a:t>
            </a:r>
            <a:r>
              <a:rPr lang="zh-CN" altLang="en-US">
                <a:highlight>
                  <a:srgbClr val="FFFF00"/>
                </a:highlight>
              </a:rPr>
              <a:t>，你想分类</a:t>
            </a:r>
            <a:r>
              <a:rPr lang="en-US" altLang="zh-CN">
                <a:highlight>
                  <a:srgbClr val="FFFF00"/>
                </a:highlight>
              </a:rPr>
              <a:t>64</a:t>
            </a:r>
            <a:r>
              <a:rPr lang="zh-CN" altLang="en-US">
                <a:highlight>
                  <a:srgbClr val="FFFF00"/>
                </a:highlight>
              </a:rPr>
              <a:t>个类别，那么你立即需要定义这个</a:t>
            </a:r>
            <a:r>
              <a:rPr lang="en-US" altLang="zh-CN">
                <a:highlight>
                  <a:srgbClr val="FFFF00"/>
                </a:highlight>
              </a:rPr>
              <a:t>V</a:t>
            </a:r>
            <a:r>
              <a:rPr lang="zh-CN" altLang="en-US">
                <a:highlight>
                  <a:srgbClr val="FFFF00"/>
                </a:highlight>
              </a:rPr>
              <a:t>乘以</a:t>
            </a:r>
            <a:r>
              <a:rPr lang="en-US" altLang="zh-CN">
                <a:highlight>
                  <a:srgbClr val="FFFF00"/>
                </a:highlight>
              </a:rPr>
              <a:t>K</a:t>
            </a:r>
            <a:r>
              <a:rPr lang="zh-CN" altLang="en-US">
                <a:highlight>
                  <a:srgbClr val="FFFF00"/>
                </a:highlight>
              </a:rPr>
              <a:t>的矩阵，如果</a:t>
            </a:r>
            <a:r>
              <a:rPr lang="en-US" altLang="zh-CN">
                <a:highlight>
                  <a:srgbClr val="FFFF00"/>
                </a:highlight>
              </a:rPr>
              <a:t>V</a:t>
            </a:r>
            <a:r>
              <a:rPr lang="zh-CN" altLang="en-US">
                <a:highlight>
                  <a:srgbClr val="FFFF00"/>
                </a:highlight>
              </a:rPr>
              <a:t>和</a:t>
            </a:r>
            <a:r>
              <a:rPr lang="en-US" altLang="zh-CN">
                <a:highlight>
                  <a:srgbClr val="FFFF00"/>
                </a:highlight>
              </a:rPr>
              <a:t>K</a:t>
            </a:r>
            <a:r>
              <a:rPr lang="zh-CN" altLang="en-US">
                <a:highlight>
                  <a:srgbClr val="FFFF00"/>
                </a:highlight>
              </a:rPr>
              <a:t>都很大，那么矩阵会很大，会遇到稀疏性问题，他的工作方式是，你取你的文档，然后你只需进行线性分类，问题就是参数数量巨大</a:t>
            </a:r>
            <a:r>
              <a:rPr lang="zh-CN" altLang="en-US"/>
              <a:t>，</a:t>
            </a:r>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所以</a:t>
            </a:r>
            <a:r>
              <a:rPr lang="en-US" altLang="zh-CN"/>
              <a:t>FastText</a:t>
            </a:r>
            <a:r>
              <a:rPr lang="zh-CN" altLang="en-US"/>
              <a:t>，做一个线性的，基本上是降维，我要将词汇空间映射到一个隐藏维度，该维度小于</a:t>
            </a:r>
            <a:r>
              <a:rPr lang="en-US" altLang="zh-CN"/>
              <a:t>K</a:t>
            </a:r>
            <a:r>
              <a:rPr lang="zh-CN" altLang="en-US"/>
              <a:t>，然后我将</a:t>
            </a:r>
            <a:r>
              <a:rPr lang="en-US" altLang="zh-CN"/>
              <a:t>H</a:t>
            </a:r>
            <a:r>
              <a:rPr lang="zh-CN" altLang="en-US"/>
              <a:t>进行分类，当你查看预测时，在前向传播中，没有非线性，只是一个线性分类器，并且参数数量大大减少，这是合理优化</a:t>
            </a:r>
            <a:r>
              <a:rPr lang="zh-CN" altLang="en-US">
                <a:highlight>
                  <a:srgbClr val="FFFF00"/>
                </a:highlight>
              </a:rPr>
              <a:t>的，是并行化，并且他们使用了异步</a:t>
            </a:r>
            <a:r>
              <a:rPr lang="en-US" altLang="zh-CN">
                <a:highlight>
                  <a:srgbClr val="FFFF00"/>
                </a:highlight>
              </a:rPr>
              <a:t>SGD</a:t>
            </a:r>
            <a:r>
              <a:rPr lang="zh-CN" altLang="en-US">
                <a:highlight>
                  <a:srgbClr val="FFFF00"/>
                </a:highlight>
              </a:rPr>
              <a:t>，学习率，从</a:t>
            </a:r>
            <a:r>
              <a:rPr lang="en-US" altLang="zh-CN">
                <a:highlight>
                  <a:srgbClr val="FFFF00"/>
                </a:highlight>
              </a:rPr>
              <a:t> [</a:t>
            </a:r>
            <a:r>
              <a:rPr lang="zh-CN" altLang="en-US">
                <a:highlight>
                  <a:srgbClr val="FFFF00"/>
                </a:highlight>
              </a:rPr>
              <a:t>某个数值</a:t>
            </a:r>
            <a:r>
              <a:rPr lang="en-US" altLang="zh-CN">
                <a:highlight>
                  <a:srgbClr val="FFFF00"/>
                </a:highlight>
              </a:rPr>
              <a:t>] </a:t>
            </a:r>
            <a:r>
              <a:rPr lang="zh-CN" altLang="en-US">
                <a:highlight>
                  <a:srgbClr val="FFFF00"/>
                </a:highlight>
              </a:rPr>
              <a:t>线性插值到</a:t>
            </a:r>
            <a:r>
              <a:rPr lang="en-US" altLang="zh-CN">
                <a:highlight>
                  <a:srgbClr val="FFFF00"/>
                </a:highlight>
              </a:rPr>
              <a:t> 0</a:t>
            </a:r>
            <a:r>
              <a:rPr lang="zh-CN" altLang="en-US">
                <a:highlight>
                  <a:srgbClr val="FFFF00"/>
                </a:highlight>
              </a:rPr>
              <a:t>。</a:t>
            </a:r>
            <a:endParaRPr lang="zh-CN" altLang="en-US">
              <a:highlight>
                <a:srgbClr val="FFFF00"/>
              </a:highlight>
            </a:endParaRPr>
          </a:p>
          <a:p>
            <a:r>
              <a:rPr lang="zh-CN" altLang="en-US">
                <a:highlight>
                  <a:srgbClr val="FFFF00"/>
                </a:highlight>
              </a:rPr>
              <a:t>问题是，我们不仅要看单词，我们还要看</a:t>
            </a:r>
            <a:r>
              <a:rPr lang="en-US" altLang="zh-CN"/>
              <a:t>n-gram</a:t>
            </a:r>
            <a:r>
              <a:rPr lang="zh-CN" altLang="en-US"/>
              <a:t>，这篇论文也以一种相当简单的方式扩展到</a:t>
            </a:r>
            <a:r>
              <a:rPr lang="en-US" altLang="zh-CN"/>
              <a:t>n-gram</a:t>
            </a:r>
            <a:r>
              <a:rPr lang="zh-CN" altLang="en-US"/>
              <a:t>，你得到一个句子，将其切分成</a:t>
            </a:r>
            <a:r>
              <a:rPr lang="en-US" altLang="zh-CN"/>
              <a:t>n-gram</a:t>
            </a:r>
            <a:r>
              <a:rPr lang="zh-CN" altLang="en-US"/>
              <a:t>，问题</a:t>
            </a:r>
            <a:r>
              <a:rPr lang="en-US" altLang="zh-CN"/>
              <a:t>·</a:t>
            </a:r>
            <a:r>
              <a:rPr lang="zh-CN" altLang="en-US"/>
              <a:t>是数量会变得非常大，实际上可能是无界的，解决办法是哈希，你可以定义一些桶的数学，在这里是</a:t>
            </a:r>
            <a:r>
              <a:rPr lang="en-US" altLang="zh-CN"/>
              <a:t>8</a:t>
            </a:r>
            <a:r>
              <a:rPr lang="zh-CN" altLang="en-US"/>
              <a:t>，然后只需要将每个语法哈希到其中。</a:t>
            </a:r>
            <a:endParaRPr lang="zh-CN" altLang="en-US"/>
          </a:p>
          <a:p>
            <a:r>
              <a:rPr lang="zh-CN" altLang="en-US"/>
              <a:t>对于质量过滤，我们只有两个选择，好或坏，在这种情况下，只是一个线性分类，</a:t>
            </a:r>
            <a:endParaRPr lang="zh-CN" altLang="en-US"/>
          </a:p>
          <a:p>
            <a:r>
              <a:rPr lang="zh-CN" altLang="en-US"/>
              <a:t>当然，也能使用任一分类器，如</a:t>
            </a:r>
            <a:r>
              <a:rPr lang="en-US" altLang="zh-CN"/>
              <a:t>BERT</a:t>
            </a:r>
            <a:r>
              <a:rPr lang="zh-CN" altLang="en-US"/>
              <a:t>，</a:t>
            </a:r>
            <a:r>
              <a:rPr lang="en-US" altLang="zh-CN"/>
              <a:t>Llama</a:t>
            </a:r>
            <a:r>
              <a:rPr lang="zh-CN" altLang="en-US"/>
              <a:t>，只是会比较慢。</a:t>
            </a:r>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我们要讨论的最后一个方法是使用重要性采样的语言模型数据选择，基本思想是你有你的原始数据集</a:t>
            </a:r>
            <a:r>
              <a:rPr lang="en-US" altLang="zh-CN"/>
              <a:t>R</a:t>
            </a:r>
            <a:r>
              <a:rPr lang="zh-CN" altLang="en-US"/>
              <a:t>，你的目标数据，然后我将构建一个重要性权重估计器，类似于</a:t>
            </a:r>
            <a:r>
              <a:rPr lang="en-US" altLang="zh-CN"/>
              <a:t>n-gram</a:t>
            </a:r>
            <a:r>
              <a:rPr lang="zh-CN" altLang="en-US"/>
              <a:t>语言模型和</a:t>
            </a:r>
            <a:r>
              <a:rPr lang="en-US" altLang="zh-CN"/>
              <a:t>fastText</a:t>
            </a:r>
            <a:r>
              <a:rPr lang="zh-CN" altLang="en-US"/>
              <a:t>分类器，然后我将用它获取一批文档，</a:t>
            </a:r>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highlight>
                  <a:srgbClr val="FFFF00"/>
                </a:highlight>
              </a:rPr>
              <a:t>首先，我们先快速回顾一下重要性重采样，所以你有一个目标分布</a:t>
            </a:r>
            <a:r>
              <a:rPr lang="en-US" altLang="zh-CN">
                <a:highlight>
                  <a:srgbClr val="FFFF00"/>
                </a:highlight>
              </a:rPr>
              <a:t>P</a:t>
            </a:r>
            <a:r>
              <a:rPr lang="zh-CN" altLang="en-US">
                <a:highlight>
                  <a:srgbClr val="FFFF00"/>
                </a:highlight>
              </a:rPr>
              <a:t>，只是一个分布，而非数据集，你希望从中理想的抽取样本。但你只有一个提议分布</a:t>
            </a:r>
            <a:r>
              <a:rPr lang="en-US" altLang="zh-CN">
                <a:highlight>
                  <a:srgbClr val="FFFF00"/>
                </a:highlight>
              </a:rPr>
              <a:t>Q</a:t>
            </a:r>
            <a:r>
              <a:rPr lang="zh-CN" altLang="en-US">
                <a:highlight>
                  <a:srgbClr val="FFFF00"/>
                </a:highlight>
              </a:rPr>
              <a:t>，你可以从中抽取样本。</a:t>
            </a:r>
            <a:endParaRPr lang="zh-CN" altLang="en-US">
              <a:highlight>
                <a:srgbClr val="FFFF00"/>
              </a:highlight>
            </a:endParaRPr>
          </a:p>
          <a:p>
            <a:r>
              <a:rPr lang="zh-CN" altLang="en-US">
                <a:highlight>
                  <a:srgbClr val="FFFF00"/>
                </a:highlight>
              </a:rPr>
              <a:t>例如，如果你有一个词汇表，假设这是你的目标分布</a:t>
            </a:r>
            <a:r>
              <a:rPr lang="en-US" altLang="zh-CN">
                <a:highlight>
                  <a:srgbClr val="FFFF00"/>
                </a:highlight>
              </a:rPr>
              <a:t>p</a:t>
            </a:r>
            <a:r>
              <a:rPr lang="zh-CN" altLang="en-US">
                <a:highlight>
                  <a:srgbClr val="FFFF00"/>
                </a:highlight>
              </a:rPr>
              <a:t>，你的提议分布是</a:t>
            </a:r>
            <a:r>
              <a:rPr lang="en-US" altLang="zh-CN">
                <a:highlight>
                  <a:srgbClr val="FFFF00"/>
                </a:highlight>
              </a:rPr>
              <a:t>q</a:t>
            </a:r>
            <a:r>
              <a:rPr lang="zh-CN" altLang="en-US">
                <a:highlight>
                  <a:srgbClr val="FFFF00"/>
                </a:highlight>
              </a:rPr>
              <a:t>。</a:t>
            </a:r>
            <a:endParaRPr lang="zh-CN" altLang="en-US">
              <a:highlight>
                <a:srgbClr val="FFFF00"/>
              </a:highlight>
            </a:endParaRPr>
          </a:p>
          <a:p>
            <a:r>
              <a:rPr lang="zh-CN" altLang="en-US">
                <a:highlight>
                  <a:srgbClr val="FFFF00"/>
                </a:highlight>
              </a:rPr>
              <a:t>现在，你要做的是从</a:t>
            </a:r>
            <a:r>
              <a:rPr lang="en-US" altLang="zh-CN">
                <a:highlight>
                  <a:srgbClr val="FFFF00"/>
                </a:highlight>
              </a:rPr>
              <a:t>Q</a:t>
            </a:r>
            <a:r>
              <a:rPr lang="zh-CN" altLang="en-US">
                <a:highlight>
                  <a:srgbClr val="FFFF00"/>
                </a:highlight>
              </a:rPr>
              <a:t>中采样，假设你得到一批样本，注意到</a:t>
            </a:r>
            <a:r>
              <a:rPr lang="en-US" altLang="zh-CN">
                <a:highlight>
                  <a:srgbClr val="FFFF00"/>
                </a:highlight>
              </a:rPr>
              <a:t>Q</a:t>
            </a:r>
            <a:r>
              <a:rPr lang="zh-CN" altLang="en-US">
                <a:highlight>
                  <a:srgbClr val="FFFF00"/>
                </a:highlight>
              </a:rPr>
              <a:t>在零上有更多的数量。</a:t>
            </a:r>
            <a:endParaRPr lang="zh-CN" altLang="en-US">
              <a:highlight>
                <a:srgbClr val="FFFF00"/>
              </a:highlight>
            </a:endParaRPr>
          </a:p>
          <a:p>
            <a:r>
              <a:rPr lang="zh-CN" altLang="en-US">
                <a:highlight>
                  <a:srgbClr val="FFFF00"/>
                </a:highlight>
              </a:rPr>
              <a:t>然后你要做的是通过查看这个重要性比率</a:t>
            </a:r>
            <a:r>
              <a:rPr lang="en-US" altLang="zh-CN">
                <a:highlight>
                  <a:srgbClr val="FFFF00"/>
                </a:highlight>
              </a:rPr>
              <a:t>p/q</a:t>
            </a:r>
            <a:r>
              <a:rPr lang="zh-CN" altLang="en-US">
                <a:highlight>
                  <a:srgbClr val="FFFF00"/>
                </a:highlight>
              </a:rPr>
              <a:t>来计算样本的权重，进行归一化，得到了样本的分布。</a:t>
            </a:r>
            <a:endParaRPr lang="zh-CN" altLang="en-US">
              <a:highlight>
                <a:srgbClr val="FFFF00"/>
              </a:highlight>
            </a:endParaRPr>
          </a:p>
          <a:p>
            <a:r>
              <a:rPr lang="zh-CN" altLang="en-US">
                <a:highlight>
                  <a:srgbClr val="FFFF00"/>
                </a:highlight>
              </a:rPr>
              <a:t>最后你重新采样，平衡了分布，所以你看到会有更多的</a:t>
            </a:r>
            <a:r>
              <a:rPr lang="en-US" altLang="zh-CN">
                <a:highlight>
                  <a:srgbClr val="FFFF00"/>
                </a:highlight>
              </a:rPr>
              <a:t>3</a:t>
            </a:r>
            <a:r>
              <a:rPr lang="zh-CN" altLang="en-US">
                <a:highlight>
                  <a:srgbClr val="FFFF00"/>
                </a:highlight>
              </a:rPr>
              <a:t>，因为</a:t>
            </a:r>
            <a:r>
              <a:rPr lang="en-US" altLang="zh-CN">
                <a:highlight>
                  <a:srgbClr val="FFFF00"/>
                </a:highlight>
              </a:rPr>
              <a:t>p</a:t>
            </a:r>
            <a:r>
              <a:rPr lang="zh-CN" altLang="en-US">
                <a:highlight>
                  <a:srgbClr val="FFFF00"/>
                </a:highlight>
              </a:rPr>
              <a:t>在</a:t>
            </a:r>
            <a:r>
              <a:rPr lang="en-US" altLang="zh-CN">
                <a:highlight>
                  <a:srgbClr val="FFFF00"/>
                </a:highlight>
              </a:rPr>
              <a:t>3</a:t>
            </a:r>
            <a:r>
              <a:rPr lang="zh-CN" altLang="en-US">
                <a:highlight>
                  <a:srgbClr val="FFFF00"/>
                </a:highlight>
              </a:rPr>
              <a:t>上有更多的概率分布。（</a:t>
            </a:r>
            <a:r>
              <a:rPr lang="zh-CN" altLang="en-US">
                <a:highlight>
                  <a:srgbClr val="00FF00"/>
                </a:highlight>
              </a:rPr>
              <a:t>需要听一下）</a:t>
            </a:r>
            <a:endParaRPr lang="zh-CN" altLang="en-US">
              <a:highlight>
                <a:srgbClr val="00FF00"/>
              </a:highlight>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现在我们看看如何进行数据选择，我们有一个目标数据集，也有一个原始数据集。</a:t>
            </a:r>
            <a:endParaRPr lang="zh-CN" altLang="en-US"/>
          </a:p>
          <a:p>
            <a:r>
              <a:rPr lang="zh-CN" altLang="en-US"/>
              <a:t>所以你可以将分布</a:t>
            </a:r>
            <a:r>
              <a:rPr lang="en-US" altLang="zh-CN"/>
              <a:t>p</a:t>
            </a:r>
            <a:r>
              <a:rPr lang="zh-CN" altLang="en-US"/>
              <a:t>拟合到</a:t>
            </a:r>
            <a:r>
              <a:rPr lang="en-US" altLang="zh-CN"/>
              <a:t>Dp</a:t>
            </a:r>
            <a:r>
              <a:rPr lang="zh-CN" altLang="en-US"/>
              <a:t>，将分布</a:t>
            </a:r>
            <a:r>
              <a:rPr lang="en-US" altLang="zh-CN"/>
              <a:t>q</a:t>
            </a:r>
            <a:r>
              <a:rPr lang="zh-CN" altLang="en-US"/>
              <a:t>拟合到</a:t>
            </a:r>
            <a:r>
              <a:rPr lang="en-US" altLang="zh-CN"/>
              <a:t>Dq,</a:t>
            </a:r>
            <a:r>
              <a:rPr lang="zh-CN" altLang="en-US"/>
              <a:t>并进行重要性采样，现在的问题是</a:t>
            </a:r>
            <a:r>
              <a:rPr lang="en-US" altLang="zh-CN"/>
              <a:t>Dp</a:t>
            </a:r>
            <a:r>
              <a:rPr lang="zh-CN" altLang="en-US"/>
              <a:t>非常小，目标分布是高质量的数据，你没有太多这样的数据，这就是问题关键，太小而无法估计一个好的模型。</a:t>
            </a:r>
            <a:endParaRPr lang="zh-CN" altLang="en-US"/>
          </a:p>
          <a:p>
            <a:r>
              <a:rPr lang="zh-CN" altLang="en-US"/>
              <a:t>所以再次强调，思路是使用哈希</a:t>
            </a:r>
            <a:r>
              <a:rPr lang="en-US" altLang="zh-CN"/>
              <a:t>n</a:t>
            </a:r>
            <a:r>
              <a:rPr lang="zh-CN" altLang="en-US"/>
              <a:t>元语法，取你任何的文本，进行哈希，然后估计每个哈希</a:t>
            </a:r>
            <a:r>
              <a:rPr lang="en-US" altLang="zh-CN"/>
              <a:t>n</a:t>
            </a:r>
            <a:r>
              <a:rPr lang="zh-CN" altLang="en-US"/>
              <a:t>元语法的概率</a:t>
            </a:r>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为了评估新文本的概率，你哈希新文本，并将概率相乘，论文表明确实有些帮助，与使用</a:t>
            </a:r>
            <a:r>
              <a:rPr lang="en-US" altLang="zh-CN"/>
              <a:t>FastText</a:t>
            </a:r>
            <a:r>
              <a:rPr lang="zh-CN" altLang="en-US"/>
              <a:t>的启发式分类相比，使用</a:t>
            </a:r>
            <a:r>
              <a:rPr lang="en-US" altLang="zh-CN"/>
              <a:t>BERT</a:t>
            </a:r>
            <a:r>
              <a:rPr lang="zh-CN" altLang="en-US"/>
              <a:t>在</a:t>
            </a:r>
            <a:r>
              <a:rPr lang="en-US" altLang="zh-CN"/>
              <a:t>GLUE</a:t>
            </a:r>
            <a:r>
              <a:rPr lang="zh-CN" altLang="en-US"/>
              <a:t>基准测试上有所提升</a:t>
            </a:r>
            <a:endParaRPr lang="zh-CN" altLang="en-US"/>
          </a:p>
          <a:p>
            <a:r>
              <a:rPr lang="zh-CN" altLang="en-US"/>
              <a:t>以及和</a:t>
            </a:r>
            <a:r>
              <a:rPr lang="en-US" altLang="zh-CN"/>
              <a:t>FastText1</a:t>
            </a:r>
            <a:r>
              <a:rPr lang="zh-CN" altLang="en-US"/>
              <a:t>相比，这里的主要思路是，某种意义上，对整个分布进行建模，你想从分布中采样数据，而你有一个不同的分布</a:t>
            </a:r>
            <a:r>
              <a:rPr lang="en-US" altLang="zh-CN"/>
              <a:t>q</a:t>
            </a:r>
            <a:r>
              <a:rPr lang="zh-CN" altLang="en-US"/>
              <a:t>。现在你试图进行补偿，这对多样性更好，因为你试图匹配分布，而</a:t>
            </a:r>
            <a:r>
              <a:rPr lang="en-US" altLang="zh-CN"/>
              <a:t>FastText</a:t>
            </a:r>
            <a:r>
              <a:rPr lang="zh-CN" altLang="en-US"/>
              <a:t>基本是分类某物是否在分布中，他也像</a:t>
            </a:r>
            <a:r>
              <a:rPr lang="en-US" altLang="zh-CN"/>
              <a:t>FastText</a:t>
            </a:r>
            <a:r>
              <a:rPr lang="zh-CN" altLang="en-US"/>
              <a:t>一样</a:t>
            </a:r>
            <a:r>
              <a:rPr lang="zh-CN" altLang="en-US"/>
              <a:t>块，两者都可通过更好的模型来改进。</a:t>
            </a:r>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好的总结一下这部分，我们看了</a:t>
            </a:r>
            <a:r>
              <a:rPr lang="en-US" altLang="zh-CN"/>
              <a:t>n</a:t>
            </a:r>
            <a:r>
              <a:rPr lang="zh-CN" altLang="en-US"/>
              <a:t>元模型、线性分类器，以及重要性</a:t>
            </a:r>
            <a:r>
              <a:rPr lang="zh-CN" altLang="en-US"/>
              <a:t>采样。</a:t>
            </a:r>
            <a:endParaRPr lang="zh-CN" altLang="en-US"/>
          </a:p>
          <a:p>
            <a:r>
              <a:rPr lang="zh-CN" altLang="en-US"/>
              <a:t>总的来说，有些东西可以学到，即给定目标数据集和原始数据集的情况下，找到与目标相似的子集，这些方法都有基本你的步骤，即基于原始数据集和目标数据集估计一些模型，给你一个评分函数，根据该函数保留原始数据集中的样本，通常保留高分</a:t>
            </a:r>
            <a:r>
              <a:rPr lang="zh-CN" altLang="en-US"/>
              <a:t>样本。</a:t>
            </a:r>
            <a:endParaRPr lang="zh-CN" altLang="en-US"/>
          </a:p>
          <a:p>
            <a:r>
              <a:rPr lang="zh-CN" altLang="en-US"/>
              <a:t>在</a:t>
            </a:r>
            <a:r>
              <a:rPr lang="en-US" altLang="zh-CN"/>
              <a:t>KenLM</a:t>
            </a:r>
            <a:r>
              <a:rPr lang="zh-CN" altLang="en-US"/>
              <a:t>的情况下，用生成模型计算样本</a:t>
            </a:r>
            <a:r>
              <a:rPr lang="en-US" altLang="zh-CN"/>
              <a:t> x </a:t>
            </a:r>
            <a:r>
              <a:rPr lang="zh-CN" altLang="en-US"/>
              <a:t>的概率作为得分。</a:t>
            </a:r>
            <a:r>
              <a:rPr lang="zh-CN" altLang="en-US"/>
              <a:t>然后你保留分数大于阈值的样本。</a:t>
            </a:r>
            <a:endParaRPr lang="zh-CN" altLang="en-US"/>
          </a:p>
          <a:p>
            <a:r>
              <a:rPr lang="zh-CN" altLang="en-US"/>
              <a:t>你也可以使用判别分类器，其中分数是该样本来自目标数据集而不是原始数据集的概率，然后你保留分数大于某个阈值的样本</a:t>
            </a:r>
            <a:endParaRPr lang="zh-CN" altLang="en-US"/>
          </a:p>
          <a:p>
            <a:r>
              <a:rPr lang="zh-CN" altLang="en-US"/>
              <a:t>然后重要性采样说分数是两个生成模型的比率，使用这个分数，按照该概率比例进行重</a:t>
            </a:r>
            <a:r>
              <a:rPr lang="zh-CN" altLang="en-US"/>
              <a:t>采样。</a:t>
            </a:r>
            <a:endParaRPr lang="zh-CN" altLang="en-US"/>
          </a:p>
          <a:p>
            <a:r>
              <a:rPr lang="zh-CN" altLang="en-US"/>
              <a:t>从高层次看，他们基本上都在做同样的</a:t>
            </a:r>
            <a:r>
              <a:rPr lang="zh-CN" altLang="en-US"/>
              <a:t>事情。</a:t>
            </a:r>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同样的数据过滤机制可以用于不同的任务，我们要谈谈语言识别，质量过滤和毒性过滤。</a:t>
            </a:r>
            <a:endParaRPr lang="zh-CN" altLang="en-US"/>
          </a:p>
          <a:p>
            <a:r>
              <a:rPr lang="zh-CN" altLang="en-US"/>
              <a:t>语言识别的想法是，你想找到特定语言的文本，你可能会问，你可以直接在所有语言上训练，为什么不这样做呢，问题在于，通常很难在给定语言中进行高质量数据的整理和处理；还有一个问题是，如果你训练，假设你只关心一种语言，但有其他语言的数据，你将在给定语言上花费更少的计算资源和词元，这可能损害你在该语言上的</a:t>
            </a:r>
            <a:r>
              <a:rPr lang="zh-CN" altLang="en-US"/>
              <a:t>表现。</a:t>
            </a:r>
            <a:endParaRPr lang="zh-CN" altLang="en-US"/>
          </a:p>
          <a:p>
            <a:r>
              <a:rPr lang="zh-CN" altLang="en-US"/>
              <a:t>例如</a:t>
            </a:r>
            <a:r>
              <a:rPr lang="en-US" altLang="zh-CN"/>
              <a:t>bloom</a:t>
            </a:r>
            <a:r>
              <a:rPr lang="zh-CN" altLang="en-US"/>
              <a:t>模型在</a:t>
            </a:r>
            <a:r>
              <a:rPr lang="en-US" altLang="zh-CN"/>
              <a:t>22</a:t>
            </a:r>
            <a:r>
              <a:rPr lang="zh-CN" altLang="en-US"/>
              <a:t>年训练，只训练了</a:t>
            </a:r>
            <a:r>
              <a:rPr lang="en-US" altLang="zh-CN"/>
              <a:t>30%</a:t>
            </a:r>
            <a:r>
              <a:rPr lang="zh-CN" altLang="en-US"/>
              <a:t>的英语，英语表现可能不如他本可以达到的水平，他在其他语言上表现很强，在计算资源有限的情况下，你肯定有损害语言质量的风险，不过如果你有足够大的容量并且训练大型模型，那么你肯定可以训练多语言模型，所以所有前沿模型都在大量多语言数据上训练。</a:t>
            </a:r>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一个简单方法是</a:t>
            </a:r>
            <a:r>
              <a:rPr lang="en-US" altLang="zh-CN"/>
              <a:t>fasttext</a:t>
            </a:r>
            <a:r>
              <a:rPr lang="zh-CN" altLang="en-US"/>
              <a:t>，用于训练简单分类器的工具包，他还附带了一些现成的模型，其中一个通常被使用的是他们的语言识别</a:t>
            </a:r>
            <a:r>
              <a:rPr lang="zh-CN" altLang="en-US"/>
              <a:t>模型，他只是一个现成的分类器，支持</a:t>
            </a:r>
            <a:r>
              <a:rPr lang="en-US" altLang="zh-CN"/>
              <a:t>176</a:t>
            </a:r>
            <a:r>
              <a:rPr lang="zh-CN" altLang="en-US"/>
              <a:t>种不同的语言，他基本是在多语言网站上训练的，包括维基百科，有许多不同的语言，所以</a:t>
            </a:r>
            <a:r>
              <a:rPr lang="en-US" altLang="zh-CN"/>
              <a:t>Doalma</a:t>
            </a:r>
            <a:r>
              <a:rPr lang="zh-CN" altLang="en-US"/>
              <a:t>使用了这个，基本运行了</a:t>
            </a:r>
            <a:r>
              <a:rPr lang="en-US" altLang="zh-CN"/>
              <a:t>fasttext</a:t>
            </a:r>
            <a:r>
              <a:rPr lang="zh-CN" altLang="en-US"/>
              <a:t>分类器，并保留英语概率大于</a:t>
            </a:r>
            <a:r>
              <a:rPr lang="en-US" altLang="zh-CN"/>
              <a:t>0.5</a:t>
            </a:r>
            <a:r>
              <a:rPr lang="zh-CN" altLang="en-US"/>
              <a:t>的页面</a:t>
            </a:r>
            <a:r>
              <a:rPr lang="en-US" altLang="zh-CN"/>
              <a:t>.</a:t>
            </a:r>
            <a:endParaRPr lang="en-US" altLang="zh-CN"/>
          </a:p>
          <a:p>
            <a:r>
              <a:rPr lang="zh-CN" altLang="en-US"/>
              <a:t>他的一些限制，对于短句子，可靠性很低；低资源语言很难处理；对于那些英语方言，可能被视为非英语；</a:t>
            </a:r>
            <a:r>
              <a:rPr lang="en-US" altLang="zh-CN"/>
              <a:t> </a:t>
            </a:r>
            <a:r>
              <a:rPr lang="zh-CN" altLang="en-US"/>
              <a:t>相似的语言很容易混淆；对于代码转换而言定义不明确。</a:t>
            </a:r>
            <a:endParaRPr lang="zh-CN" altLang="en-US"/>
          </a:p>
          <a:p>
            <a:r>
              <a:rPr lang="en-US" altLang="zh-CN"/>
              <a:t>openwebmath</a:t>
            </a:r>
            <a:r>
              <a:rPr lang="zh-CN" altLang="en-US"/>
              <a:t>是两年前的一篇论文，这里的目标是整理一个大型数学文本语料库，他们使用一些规则进行过滤，然后在这个大型证明数据集上训练</a:t>
            </a:r>
            <a:r>
              <a:rPr lang="en-US" altLang="zh-CN"/>
              <a:t>KenLM</a:t>
            </a:r>
            <a:r>
              <a:rPr lang="zh-CN" altLang="en-US"/>
              <a:t>，称为</a:t>
            </a:r>
            <a:r>
              <a:rPr lang="en-US" altLang="zh-CN"/>
              <a:t>ProofWiki</a:t>
            </a:r>
            <a:r>
              <a:rPr lang="zh-CN" altLang="en-US"/>
              <a:t>，如果困惑值低于某个阈值，就保留它；他们还训练了</a:t>
            </a:r>
            <a:r>
              <a:rPr lang="en-US" altLang="zh-CN"/>
              <a:t>fastText</a:t>
            </a:r>
            <a:r>
              <a:rPr lang="zh-CN" altLang="en-US"/>
              <a:t>分类器，之前</a:t>
            </a:r>
            <a:r>
              <a:rPr lang="zh-CN" altLang="en-US"/>
              <a:t>讨论用来预测数学写作，他们还设置了分类器的阈值。</a:t>
            </a:r>
            <a:endParaRPr lang="zh-CN" altLang="en-US"/>
          </a:p>
          <a:p>
            <a:r>
              <a:rPr lang="zh-CN" altLang="en-US"/>
              <a:t>结果他们生成了</a:t>
            </a:r>
            <a:r>
              <a:rPr lang="en-US" altLang="zh-CN"/>
              <a:t>150</a:t>
            </a:r>
            <a:r>
              <a:rPr lang="zh-CN" altLang="en-US"/>
              <a:t>亿个词元，并且他们训练了一些模型，这些模型比那些在</a:t>
            </a:r>
            <a:r>
              <a:rPr lang="en-US" altLang="zh-CN"/>
              <a:t>20</a:t>
            </a:r>
            <a:r>
              <a:rPr lang="zh-CN" altLang="en-US"/>
              <a:t>倍数据上训练的模型表现更优。</a:t>
            </a:r>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我们来谈谈质量过滤，他是一个涵盖许多事物的总称，一些论文明确不使用基于模型的质量过滤，但最近的论文已经妥协，所以他效果确实不错。</a:t>
            </a:r>
            <a:endParaRPr lang="zh-CN" altLang="en-US"/>
          </a:p>
          <a:p>
            <a:r>
              <a:rPr lang="en-US" altLang="zh-CN"/>
              <a:t>gpt-3</a:t>
            </a:r>
            <a:r>
              <a:rPr lang="zh-CN" altLang="en-US"/>
              <a:t>，我们上次讨论过，通过从他们拥有的高质量来源，非</a:t>
            </a:r>
            <a:r>
              <a:rPr lang="en-US" altLang="zh-CN"/>
              <a:t>Common Crawl</a:t>
            </a:r>
            <a:r>
              <a:rPr lang="zh-CN" altLang="en-US"/>
              <a:t>来源中获取正样本，</a:t>
            </a:r>
            <a:r>
              <a:rPr lang="zh-CN" altLang="en-US">
                <a:sym typeface="+mn-ea"/>
              </a:rPr>
              <a:t>训练了一个质量分类器，</a:t>
            </a:r>
            <a:r>
              <a:rPr lang="en-US" altLang="zh-CN"/>
              <a:t>Comm Crawl</a:t>
            </a:r>
            <a:r>
              <a:rPr lang="zh-CN" altLang="en-US"/>
              <a:t>中获取负样本。</a:t>
            </a:r>
            <a:endParaRPr lang="zh-CN" altLang="en-US"/>
          </a:p>
          <a:p>
            <a:r>
              <a:rPr lang="zh-CN" altLang="en-US"/>
              <a:t>他们训练了一个线性分类器，并根据分数随机保留文档。</a:t>
            </a:r>
            <a:endParaRPr lang="zh-CN" altLang="en-US"/>
          </a:p>
          <a:p>
            <a:r>
              <a:rPr lang="zh-CN" altLang="en-US"/>
              <a:t>第一篇</a:t>
            </a:r>
            <a:r>
              <a:rPr lang="en-US" altLang="zh-CN"/>
              <a:t>Llama</a:t>
            </a:r>
            <a:r>
              <a:rPr lang="zh-CN" altLang="en-US"/>
              <a:t>论文，他们使用了</a:t>
            </a:r>
            <a:r>
              <a:rPr lang="en-US" altLang="zh-CN"/>
              <a:t>wikipedia</a:t>
            </a:r>
            <a:r>
              <a:rPr lang="zh-CN" altLang="en-US"/>
              <a:t>引用的页面，不是将</a:t>
            </a:r>
            <a:r>
              <a:rPr lang="en-US" altLang="zh-CN"/>
              <a:t>Wikipedia</a:t>
            </a:r>
            <a:r>
              <a:rPr lang="zh-CN" altLang="en-US"/>
              <a:t>作为正样本，负样本只是从</a:t>
            </a:r>
            <a:r>
              <a:rPr lang="en-US" altLang="zh-CN"/>
              <a:t>Common Crawl</a:t>
            </a:r>
            <a:r>
              <a:rPr lang="zh-CN" altLang="en-US"/>
              <a:t>中抽样，他们只保留被分类为正样本的文档。</a:t>
            </a:r>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phi-1</a:t>
            </a:r>
            <a:r>
              <a:rPr lang="zh-CN" altLang="en-US"/>
              <a:t>是另一篇论文，他们的理念是真正需要教科书般的高质量数据，并且他们希望训练一个非常小的模型，因此他们使用了合成数据和过滤数据进行训练</a:t>
            </a:r>
            <a:endParaRPr lang="zh-CN" altLang="en-US"/>
          </a:p>
          <a:p>
            <a:r>
              <a:rPr lang="zh-CN" altLang="en-US"/>
              <a:t>对于过滤数据，他们选择了</a:t>
            </a:r>
            <a:r>
              <a:rPr lang="en-US" altLang="zh-CN"/>
              <a:t>the stack</a:t>
            </a:r>
            <a:r>
              <a:rPr lang="zh-CN" altLang="en-US"/>
              <a:t>中的</a:t>
            </a:r>
            <a:r>
              <a:rPr lang="en-US" altLang="zh-CN"/>
              <a:t>python</a:t>
            </a:r>
            <a:r>
              <a:rPr lang="zh-CN" altLang="en-US"/>
              <a:t>子集，然后他们定义了提示词，让</a:t>
            </a:r>
            <a:r>
              <a:rPr lang="en-US" altLang="zh-CN"/>
              <a:t>gpt-4</a:t>
            </a:r>
            <a:r>
              <a:rPr lang="zh-CN" altLang="en-US"/>
              <a:t>判断这些数据是否对学习基础编程概念的学生有教育价值，接着他们使用</a:t>
            </a:r>
            <a:r>
              <a:rPr lang="en-US" altLang="zh-CN"/>
              <a:t>gpt-4</a:t>
            </a:r>
            <a:r>
              <a:rPr lang="zh-CN" altLang="en-US"/>
              <a:t>对</a:t>
            </a:r>
            <a:r>
              <a:rPr lang="en-US" altLang="zh-CN"/>
              <a:t>python</a:t>
            </a:r>
            <a:r>
              <a:rPr lang="zh-CN" altLang="en-US"/>
              <a:t>子集中的</a:t>
            </a:r>
            <a:r>
              <a:rPr lang="en-US" altLang="zh-CN"/>
              <a:t>10</a:t>
            </a:r>
            <a:r>
              <a:rPr lang="zh-CN" altLang="en-US"/>
              <a:t>万份文档进行分类，</a:t>
            </a:r>
            <a:endParaRPr lang="zh-CN" altLang="en-US"/>
          </a:p>
          <a:p>
            <a:r>
              <a:rPr lang="zh-CN" altLang="en-US"/>
              <a:t>他们在这些示例上训练了一个随机森林分类器，其中输入到分类器的嵌入向量来自某个预训练模型，然后他们从数据集</a:t>
            </a:r>
            <a:r>
              <a:rPr lang="en-US" altLang="zh-CN"/>
              <a:t>R</a:t>
            </a:r>
            <a:r>
              <a:rPr lang="zh-CN" altLang="en-US"/>
              <a:t>中筛选出被分类器分类的数据，他们运行分类器，对整个数据集</a:t>
            </a:r>
            <a:r>
              <a:rPr lang="en-US" altLang="zh-CN"/>
              <a:t>R</a:t>
            </a:r>
            <a:r>
              <a:rPr lang="zh-CN" altLang="en-US"/>
              <a:t>进行处理，然后获取这些数据。</a:t>
            </a:r>
            <a:endParaRPr lang="zh-CN" altLang="en-US"/>
          </a:p>
          <a:p>
            <a:r>
              <a:rPr lang="zh-CN" altLang="en-US"/>
              <a:t>结果是，他们有一个基线，仅使用</a:t>
            </a:r>
            <a:r>
              <a:rPr lang="en-US" altLang="zh-CN"/>
              <a:t>the stack</a:t>
            </a:r>
            <a:r>
              <a:rPr lang="zh-CN" altLang="en-US"/>
              <a:t>的</a:t>
            </a:r>
            <a:r>
              <a:rPr lang="en-US" altLang="zh-CN"/>
              <a:t>python</a:t>
            </a:r>
            <a:r>
              <a:rPr lang="zh-CN" altLang="en-US"/>
              <a:t>子集（数据集</a:t>
            </a:r>
            <a:r>
              <a:rPr lang="en-US" altLang="zh-CN"/>
              <a:t>R),</a:t>
            </a:r>
            <a:r>
              <a:rPr lang="zh-CN" altLang="en-US"/>
              <a:t>在人类评估上的表现，经过</a:t>
            </a:r>
            <a:r>
              <a:rPr lang="en-US" altLang="zh-CN"/>
              <a:t>9.6</a:t>
            </a:r>
            <a:r>
              <a:rPr lang="zh-CN" altLang="en-US"/>
              <a:t>万步训练后仅为</a:t>
            </a:r>
            <a:r>
              <a:rPr lang="en-US" altLang="zh-CN"/>
              <a:t>12%</a:t>
            </a:r>
            <a:r>
              <a:rPr lang="zh-CN" altLang="en-US"/>
              <a:t>，然后他们在新的数据集上训练相同的模型架构，经过</a:t>
            </a:r>
            <a:r>
              <a:rPr lang="en-US" altLang="zh-CN"/>
              <a:t>3.6</a:t>
            </a:r>
            <a:r>
              <a:rPr lang="zh-CN" altLang="en-US"/>
              <a:t>万步，表现得到了</a:t>
            </a:r>
            <a:r>
              <a:rPr lang="en-US" altLang="zh-CN"/>
              <a:t>17</a:t>
            </a:r>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现在我们讨论下毒性过滤，我将介绍</a:t>
            </a:r>
            <a:r>
              <a:rPr lang="en-US" altLang="zh-CN"/>
              <a:t>DOMA</a:t>
            </a:r>
            <a:r>
              <a:rPr lang="zh-CN" altLang="en-US"/>
              <a:t>论文如何进行毒性过滤，有一个名为</a:t>
            </a:r>
            <a:r>
              <a:rPr lang="en-US" altLang="zh-CN"/>
              <a:t>jigsaw toxic Comments</a:t>
            </a:r>
            <a:r>
              <a:rPr lang="zh-CN" altLang="en-US"/>
              <a:t>的数据集，这个数据集来自一个项目，旨在帮助人们在网上进行更好的讨论，他们希望构建一个分类器，能够识别有问题的内容，他们从</a:t>
            </a:r>
            <a:r>
              <a:rPr lang="en-US" altLang="zh-CN"/>
              <a:t>Wikipedia</a:t>
            </a:r>
            <a:r>
              <a:rPr lang="zh-CN" altLang="en-US"/>
              <a:t>评论页获取了评论数据，并让标志者标注为有毒，严重有毒等等标签。</a:t>
            </a:r>
            <a:endParaRPr lang="zh-CN" altLang="en-US"/>
          </a:p>
          <a:p>
            <a:r>
              <a:rPr lang="zh-CN" altLang="en-US"/>
              <a:t>因此</a:t>
            </a:r>
            <a:r>
              <a:rPr lang="en-US" altLang="zh-CN"/>
              <a:t>DOlma</a:t>
            </a:r>
            <a:r>
              <a:rPr lang="zh-CN" altLang="en-US"/>
              <a:t>团队训练了两个</a:t>
            </a:r>
            <a:r>
              <a:rPr lang="en-US" altLang="zh-CN"/>
              <a:t>fastText</a:t>
            </a:r>
            <a:r>
              <a:rPr lang="zh-CN" altLang="en-US"/>
              <a:t>分类器，一个对于仇恨，另一个对应于</a:t>
            </a:r>
            <a:r>
              <a:rPr lang="en-US" altLang="zh-CN"/>
              <a:t>NSFW</a:t>
            </a:r>
            <a:r>
              <a:rPr lang="zh-CN" altLang="en-US"/>
              <a:t>（不适宜公开观看），</a:t>
            </a:r>
            <a:r>
              <a:rPr lang="en-US" altLang="zh-CN"/>
              <a:t>ok</a:t>
            </a:r>
            <a:r>
              <a:rPr lang="zh-CN" altLang="en-US"/>
              <a:t>过滤就讲这么多。</a:t>
            </a:r>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关于过滤我们就讲这么多，现在我们讨论去重，有两种类型的重复，一种是完全重复，网络实际上本身就存在大量基于镜像的完全重复内容，另一种是近似重复，文本基本</a:t>
            </a:r>
            <a:r>
              <a:rPr lang="zh-CN" altLang="en-US"/>
              <a:t>相同，只是少数词元不同。</a:t>
            </a:r>
            <a:endParaRPr lang="zh-CN" altLang="en-US"/>
          </a:p>
          <a:p>
            <a:r>
              <a:rPr lang="zh-CN" altLang="en-US"/>
              <a:t>我们将展示处理这两种情况的算法</a:t>
            </a:r>
            <a:endParaRPr lang="zh-CN" altLang="en-US"/>
          </a:p>
          <a:p>
            <a:r>
              <a:rPr lang="zh-CN" altLang="en-US"/>
              <a:t>那么近似重复项会发生什么，你有服务条款和许可证，在大规模语料库（如</a:t>
            </a:r>
            <a:r>
              <a:rPr lang="en-US" altLang="zh-CN"/>
              <a:t> Wiki40B</a:t>
            </a:r>
            <a:r>
              <a:rPr lang="zh-CN" altLang="en-US"/>
              <a:t>、</a:t>
            </a:r>
            <a:r>
              <a:rPr lang="en-US" altLang="zh-CN"/>
              <a:t>LM1B</a:t>
            </a:r>
            <a:r>
              <a:rPr lang="zh-CN" altLang="en-US"/>
              <a:t>、</a:t>
            </a:r>
            <a:r>
              <a:rPr lang="en-US" altLang="zh-CN"/>
              <a:t>C4</a:t>
            </a:r>
            <a:r>
              <a:rPr lang="zh-CN" altLang="en-US"/>
              <a:t>）中，</a:t>
            </a:r>
            <a:r>
              <a:rPr lang="zh-CN" altLang="en-US"/>
              <a:t>有大量几乎重复、模板化、格式稍变但内容高度相似的文本</a:t>
            </a:r>
            <a:endParaRPr lang="zh-CN" altLang="en-US"/>
          </a:p>
          <a:p>
            <a:r>
              <a:rPr lang="zh-CN" altLang="en-US"/>
              <a:t>在极端情况下，如果你看</a:t>
            </a:r>
            <a:r>
              <a:rPr lang="en-US" altLang="zh-CN"/>
              <a:t>C4</a:t>
            </a:r>
            <a:r>
              <a:rPr lang="zh-CN" altLang="en-US"/>
              <a:t>，</a:t>
            </a:r>
            <a:r>
              <a:rPr lang="en-US" altLang="zh-CN"/>
              <a:t>C4</a:t>
            </a:r>
            <a:r>
              <a:rPr lang="zh-CN" altLang="en-US"/>
              <a:t>是经过一组规则过滤的，在</a:t>
            </a:r>
            <a:r>
              <a:rPr lang="en-US" altLang="zh-CN"/>
              <a:t> C4 </a:t>
            </a:r>
            <a:r>
              <a:rPr lang="zh-CN" altLang="en-US"/>
              <a:t>数据集里，有一段商品文案居然重复了</a:t>
            </a:r>
            <a:r>
              <a:rPr lang="en-US" altLang="zh-CN"/>
              <a:t> 61036 </a:t>
            </a:r>
            <a:r>
              <a:rPr lang="zh-CN" altLang="en-US"/>
              <a:t>次。所以去重是质量过滤的补充，质量过滤是说这段数据，我不想在上面训练，去重是说，这个可能没问题，但我只需要少量这些，而不是</a:t>
            </a:r>
            <a:r>
              <a:rPr lang="en-US" altLang="zh-CN"/>
              <a:t>61000</a:t>
            </a:r>
            <a:r>
              <a:rPr lang="zh-CN" altLang="en-US"/>
              <a:t>多</a:t>
            </a:r>
            <a:r>
              <a:rPr lang="zh-CN" altLang="en-US"/>
              <a:t>份。</a:t>
            </a:r>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有研究表明，去重可以使语言模型更好，首先最明显的是你可以更高效的训练，去重减少了词元数量，如果你没有丢弃信息，你可以节省大量精力；其次你还可以避免记忆化。</a:t>
            </a:r>
            <a:endParaRPr lang="zh-CN" altLang="en-US"/>
          </a:p>
          <a:p>
            <a:r>
              <a:rPr lang="zh-CN" altLang="en-US"/>
              <a:t>从设计空间的角度思考去重，首先考虑去重的单位是什么；第二个是如何进行匹配，是精确匹配吗又或者是共同子项的一部分；最后拟采取什么行动，是删除所有实例还是只保留一个。</a:t>
            </a:r>
            <a:endParaRPr lang="zh-CN" altLang="en-US"/>
          </a:p>
          <a:p>
            <a:r>
              <a:rPr lang="zh-CN" altLang="en-US"/>
              <a:t>关键挑战，这是一个算法挑战，根本上说，去重是关于将项目与其他项目进行比较，数据集很大，所以你不能做一些二次的事情，你需要一些线性时间算法进行扩展。</a:t>
            </a:r>
            <a:endParaRPr lang="zh-CN" altLang="en-US"/>
          </a:p>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这一切的基础是哈希函数，是将一个项目（可能是一个句子），映射到哈希值的函数，可能是整数或字符串，这个值比项目小的多，但可能会遇到哈希冲突，意味着两个不同的项目映射到相同的哈希值。我们都用过字典和哈希表，哈希冲突通常是不好的，但是稍后会看到，实际上在一些情况下是</a:t>
            </a:r>
            <a:r>
              <a:rPr lang="zh-CN" altLang="en-US">
                <a:sym typeface="+mn-ea"/>
              </a:rPr>
              <a:t>有益的。</a:t>
            </a:r>
            <a:endParaRPr lang="zh-CN" altLang="en-US">
              <a:sym typeface="+mn-ea"/>
            </a:endParaRPr>
          </a:p>
          <a:p>
            <a:r>
              <a:rPr lang="zh-CN" altLang="en-US"/>
              <a:t>有很多类型的哈希函数，他们在效率和抗碰撞性进行权衡</a:t>
            </a:r>
            <a:r>
              <a:rPr lang="zh-CN" altLang="en-US"/>
              <a:t>，有加密哈希函数，他们用于安全敏感的应用，但速度慢。但还有一些哈希函数，通常用于哈希表，他们不抗碰撞但速度快，经常会使用后一类，我们希望事情快速。</a:t>
            </a:r>
            <a:endParaRPr lang="zh-CN" altLang="en-US"/>
          </a:p>
          <a:p>
            <a:r>
              <a:rPr lang="zh-CN" altLang="en-US"/>
              <a:t>我们使用叫做</a:t>
            </a:r>
            <a:r>
              <a:rPr lang="en-US" altLang="zh-CN"/>
              <a:t>MurmurHash</a:t>
            </a:r>
            <a:r>
              <a:rPr lang="zh-CN" altLang="en-US"/>
              <a:t>的东西，接收字符串并返回值。</a:t>
            </a:r>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从精确去重开始，这里有一个简单的例子，条目是一个字符串，我需要精确匹配，我只想保留一个，首先要做的是计算从哈希值到具有该哈希的项目的列表映射，一旦完成，从每组保留一个项目，每个组对应一个哈希值，在精确匹配的情况下，假设没有哈希冲突，基本上就是在做精确去重，这里的</a:t>
            </a:r>
            <a:r>
              <a:rPr lang="en-US" altLang="zh-CN"/>
              <a:t>hello</a:t>
            </a:r>
            <a:r>
              <a:rPr lang="zh-CN" altLang="en-US"/>
              <a:t>出现两次，现在他只出现一次。</a:t>
            </a:r>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这是非常简单的，你很清楚在做什么，他的精度很高</a:t>
            </a:r>
            <a:endParaRPr lang="zh-CN" altLang="en-US"/>
          </a:p>
          <a:p>
            <a:r>
              <a:rPr lang="zh-CN" altLang="en-US"/>
              <a:t>缺点是他不适用近似的重复项，另一件好事是他实现起来非常简单，我们以</a:t>
            </a:r>
            <a:r>
              <a:rPr lang="en-US" altLang="zh-CN"/>
              <a:t>MapReduce</a:t>
            </a:r>
            <a:r>
              <a:rPr lang="zh-CN" altLang="en-US"/>
              <a:t>的方式写这个，你很容易的扩展和并行化</a:t>
            </a:r>
            <a:r>
              <a:rPr lang="zh-CN" altLang="en-US"/>
              <a:t>他。</a:t>
            </a:r>
            <a:endParaRPr lang="zh-CN" altLang="en-US"/>
          </a:p>
          <a:p>
            <a:r>
              <a:rPr lang="zh-CN" altLang="en-US"/>
              <a:t>这实际上是</a:t>
            </a:r>
            <a:r>
              <a:rPr lang="en-US" altLang="zh-CN"/>
              <a:t>C4</a:t>
            </a:r>
            <a:r>
              <a:rPr lang="zh-CN" altLang="en-US"/>
              <a:t>使用的东西，来准备他们的</a:t>
            </a:r>
            <a:r>
              <a:rPr lang="zh-CN" altLang="en-US"/>
              <a:t>数据集，去重单位是三句话的跨度，使用精确匹配，并保留一个。</a:t>
            </a:r>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然后还有一种去重的办法，不像</a:t>
            </a:r>
            <a:r>
              <a:rPr lang="en-US" altLang="zh-CN"/>
              <a:t>MapReduce</a:t>
            </a:r>
            <a:r>
              <a:rPr lang="zh-CN" altLang="en-US"/>
              <a:t>，更像哈希表，就是</a:t>
            </a:r>
            <a:r>
              <a:rPr lang="en-US" altLang="zh-CN"/>
              <a:t>bloom</a:t>
            </a:r>
            <a:r>
              <a:rPr lang="zh-CN" altLang="en-US"/>
              <a:t>过滤器，他是高效的，近似</a:t>
            </a:r>
            <a:r>
              <a:rPr lang="zh-CN" altLang="en-US"/>
              <a:t>去重的。</a:t>
            </a:r>
            <a:endParaRPr lang="zh-CN" altLang="en-US"/>
          </a:p>
          <a:p>
            <a:r>
              <a:rPr lang="zh-CN" altLang="en-US"/>
              <a:t>他的一些特点：非常的节省内存；</a:t>
            </a:r>
            <a:r>
              <a:rPr lang="zh-CN" altLang="en-US"/>
              <a:t>你可以更新他，但不能删除；他基本上是一个表示集，如果你询问集合成员资格，如果你返回否，那么他肯定是否，如果他返回是，那么很可能是返回</a:t>
            </a:r>
            <a:r>
              <a:rPr lang="en-US" altLang="zh-CN"/>
              <a:t>yes</a:t>
            </a:r>
            <a:r>
              <a:rPr lang="zh-CN" altLang="en-US"/>
              <a:t>，有一个很小的概率返回</a:t>
            </a:r>
            <a:r>
              <a:rPr lang="en-US" altLang="zh-CN"/>
              <a:t>no</a:t>
            </a:r>
            <a:r>
              <a:rPr lang="zh-CN" altLang="en-US"/>
              <a:t>；你可以设置参数来降低误报率。</a:t>
            </a:r>
            <a:endParaRPr lang="zh-CN" altLang="en-US"/>
          </a:p>
          <a:p>
            <a:r>
              <a:rPr lang="zh-CN" altLang="en-US"/>
              <a:t>我们可以看例子，假设你有五个项目，稍后我们将测试不在集合中的项目。首先你要定义一个哈希函数，映射到</a:t>
            </a:r>
            <a:r>
              <a:rPr lang="en-US" altLang="zh-CN"/>
              <a:t>m</a:t>
            </a:r>
            <a:r>
              <a:rPr lang="zh-CN" altLang="en-US"/>
              <a:t>个</a:t>
            </a:r>
            <a:r>
              <a:rPr lang="en-US" altLang="zh-CN"/>
              <a:t>bin</a:t>
            </a:r>
            <a:r>
              <a:rPr lang="zh-CN" altLang="en-US"/>
              <a:t>，这里是</a:t>
            </a:r>
            <a:r>
              <a:rPr lang="en-US" altLang="zh-CN"/>
              <a:t>8</a:t>
            </a:r>
            <a:r>
              <a:rPr lang="zh-CN" altLang="en-US"/>
              <a:t>，为了构建</a:t>
            </a:r>
            <a:r>
              <a:rPr lang="en-US" altLang="zh-CN"/>
              <a:t>bloom</a:t>
            </a:r>
            <a:r>
              <a:rPr lang="zh-CN" altLang="en-US"/>
              <a:t>过滤器，我们将做一些简单的事情，然后检查我放入的每个项目是否真的在项目里面，</a:t>
            </a:r>
            <a:r>
              <a:rPr lang="en-US" altLang="zh-CN"/>
              <a:t>bloom</a:t>
            </a:r>
            <a:r>
              <a:rPr lang="zh-CN" altLang="en-US"/>
              <a:t>过滤器保证真实存在的元素返回</a:t>
            </a:r>
            <a:r>
              <a:rPr lang="en-US" altLang="zh-CN"/>
              <a:t>1</a:t>
            </a:r>
            <a:r>
              <a:rPr lang="zh-CN" altLang="en-US"/>
              <a:t>，然后再看非项目，有些返回</a:t>
            </a:r>
            <a:r>
              <a:rPr lang="en-US" altLang="zh-CN"/>
              <a:t>0</a:t>
            </a:r>
            <a:r>
              <a:rPr lang="zh-CN" altLang="en-US"/>
              <a:t>，有些返回</a:t>
            </a:r>
            <a:r>
              <a:rPr lang="en-US" altLang="zh-CN"/>
              <a:t>1</a:t>
            </a:r>
            <a:r>
              <a:rPr lang="zh-CN" altLang="en-US"/>
              <a:t>，这里的错误数量为</a:t>
            </a:r>
            <a:r>
              <a:rPr lang="en-US" altLang="zh-CN"/>
              <a:t>4</a:t>
            </a:r>
            <a:r>
              <a:rPr lang="zh-CN" altLang="en-US"/>
              <a:t>，误报率为错误数量除以次数。</a:t>
            </a:r>
            <a:endParaRPr lang="zh-CN" altLang="en-US"/>
          </a:p>
          <a:p>
            <a:r>
              <a:rPr lang="zh-CN" altLang="en-US"/>
              <a:t>解决办法是我们可以增加</a:t>
            </a:r>
            <a:r>
              <a:rPr lang="en-US" altLang="zh-CN"/>
              <a:t>bin</a:t>
            </a:r>
            <a:r>
              <a:rPr lang="zh-CN" altLang="en-US"/>
              <a:t>的数量，以减少冲突。</a:t>
            </a:r>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所以这是精确去重，问题是无法捕捉到一些近似重复。</a:t>
            </a:r>
            <a:endParaRPr lang="zh-CN" altLang="en-US"/>
          </a:p>
          <a:p>
            <a:r>
              <a:rPr lang="zh-CN" altLang="en-US"/>
              <a:t>所以现在，你如何进行近似集合成员检测，你需要一个相似度度量的概念，常用的方法是</a:t>
            </a:r>
            <a:r>
              <a:rPr lang="en-US" altLang="zh-CN"/>
              <a:t>Jaccard</a:t>
            </a:r>
            <a:r>
              <a:rPr lang="zh-CN" altLang="en-US"/>
              <a:t>相似度，两个集合的</a:t>
            </a:r>
            <a:r>
              <a:rPr lang="en-US" altLang="zh-CN"/>
              <a:t>Jaccard</a:t>
            </a:r>
            <a:r>
              <a:rPr lang="zh-CN" altLang="en-US"/>
              <a:t>相似度，是他们交集与并集的比值，如果你计算</a:t>
            </a:r>
            <a:r>
              <a:rPr lang="en-US" altLang="zh-CN"/>
              <a:t>Jaccard</a:t>
            </a:r>
            <a:r>
              <a:rPr lang="zh-CN" altLang="en-US"/>
              <a:t>相似度，交集是</a:t>
            </a:r>
            <a:r>
              <a:rPr lang="en-US" altLang="zh-CN"/>
              <a:t>3</a:t>
            </a:r>
            <a:r>
              <a:rPr lang="zh-CN" altLang="en-US"/>
              <a:t>，并集是</a:t>
            </a:r>
            <a:r>
              <a:rPr lang="en-US" altLang="zh-CN"/>
              <a:t>5</a:t>
            </a:r>
            <a:r>
              <a:rPr lang="zh-CN" altLang="en-US"/>
              <a:t>，所以他们的</a:t>
            </a:r>
            <a:r>
              <a:rPr lang="en-US" altLang="zh-CN"/>
              <a:t>jaccard</a:t>
            </a:r>
            <a:r>
              <a:rPr lang="zh-CN" altLang="en-US"/>
              <a:t>相似度为</a:t>
            </a:r>
            <a:r>
              <a:rPr lang="en-US" altLang="zh-CN"/>
              <a:t>0.6</a:t>
            </a:r>
            <a:r>
              <a:rPr lang="zh-CN" altLang="en-US"/>
              <a:t>。所以当两个文档的</a:t>
            </a:r>
            <a:r>
              <a:rPr lang="en-US" altLang="zh-CN"/>
              <a:t>Jaccard</a:t>
            </a:r>
            <a:r>
              <a:rPr lang="zh-CN" altLang="en-US"/>
              <a:t>相似度超过某一阈值，那么他们是近似重复的。</a:t>
            </a:r>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算法挑战是如何在线性时间内找到近似重复。为了达到这个目标，我们将重写</a:t>
            </a:r>
            <a:r>
              <a:rPr lang="en-US" altLang="zh-CN"/>
              <a:t>Jaccard</a:t>
            </a:r>
            <a:r>
              <a:rPr lang="zh-CN" altLang="en-US"/>
              <a:t>相似度，我们将尝试用哈希函数来写他，有一种哈希函数叫做最小哈希，他有一个很好的性质，即哈希碰撞的概率正好是</a:t>
            </a:r>
            <a:r>
              <a:rPr lang="en-US" altLang="zh-CN"/>
              <a:t>Jaccard</a:t>
            </a:r>
            <a:r>
              <a:rPr lang="zh-CN" altLang="en-US"/>
              <a:t>相似度。通常，哈希碰撞是要避免的，但在这，并不说想要更多的哈希碰撞，而是你想要控制哈希碰撞，你希望哈希碰撞的水平正好</a:t>
            </a:r>
            <a:r>
              <a:rPr lang="zh-CN" altLang="en-US"/>
              <a:t>由相似度控制。</a:t>
            </a:r>
            <a:r>
              <a:rPr lang="en-US" altLang="zh-CN"/>
              <a:t>  </a:t>
            </a:r>
            <a:endParaRPr lang="en-US" altLang="zh-CN"/>
          </a:p>
          <a:p>
            <a:r>
              <a:rPr lang="zh-CN" altLang="en-US"/>
              <a:t>最小哈希定义如下，你取一个集合，然后对所有元素进行哈希，然后返回数字，只取最小值。思考的方式是，你有五个项目，并且你有两个集合，我将以字符矩阵表示这个，所以</a:t>
            </a:r>
            <a:r>
              <a:rPr lang="en-US" altLang="zh-CN"/>
              <a:t>A</a:t>
            </a:r>
            <a:r>
              <a:rPr lang="zh-CN" altLang="en-US"/>
              <a:t>有</a:t>
            </a:r>
            <a:r>
              <a:rPr lang="en-US" altLang="zh-CN"/>
              <a:t>1234</a:t>
            </a:r>
            <a:r>
              <a:rPr lang="zh-CN" altLang="en-US"/>
              <a:t>，</a:t>
            </a:r>
            <a:r>
              <a:rPr lang="en-US" altLang="zh-CN"/>
              <a:t>B</a:t>
            </a:r>
            <a:r>
              <a:rPr lang="zh-CN" altLang="en-US"/>
              <a:t>有</a:t>
            </a:r>
            <a:r>
              <a:rPr lang="en-US" altLang="zh-CN"/>
              <a:t>1235.</a:t>
            </a:r>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现在随机哈希函数在项目上进行随机排列，排列可能是</a:t>
            </a:r>
            <a:r>
              <a:rPr lang="en-US" altLang="zh-CN"/>
              <a:t>32145</a:t>
            </a:r>
            <a:r>
              <a:rPr lang="zh-CN" altLang="en-US"/>
              <a:t>，然后我们看</a:t>
            </a:r>
            <a:r>
              <a:rPr lang="en-US" altLang="zh-CN"/>
              <a:t>A</a:t>
            </a:r>
            <a:r>
              <a:rPr lang="zh-CN" altLang="en-US"/>
              <a:t>和</a:t>
            </a:r>
            <a:r>
              <a:rPr lang="en-US" altLang="zh-CN"/>
              <a:t>B</a:t>
            </a:r>
            <a:r>
              <a:rPr lang="zh-CN" altLang="en-US"/>
              <a:t>中哪一个项目是第一个，每个项目都有概率成为第一个，如果</a:t>
            </a:r>
            <a:r>
              <a:rPr lang="en-US" altLang="zh-CN"/>
              <a:t>1,2,3</a:t>
            </a:r>
            <a:r>
              <a:rPr lang="zh-CN" altLang="en-US"/>
              <a:t>是第一个，那么最小的哈希实际上会是相同的，如果第一个是</a:t>
            </a:r>
            <a:r>
              <a:rPr lang="en-US" altLang="zh-CN"/>
              <a:t>4</a:t>
            </a:r>
            <a:r>
              <a:rPr lang="zh-CN" altLang="en-US"/>
              <a:t>或者</a:t>
            </a:r>
            <a:r>
              <a:rPr lang="en-US" altLang="zh-CN"/>
              <a:t>5</a:t>
            </a:r>
            <a:r>
              <a:rPr lang="zh-CN" altLang="en-US"/>
              <a:t>，那么</a:t>
            </a:r>
            <a:r>
              <a:rPr lang="en-US" altLang="zh-CN"/>
              <a:t>A</a:t>
            </a:r>
            <a:r>
              <a:rPr lang="zh-CN" altLang="en-US"/>
              <a:t>中的第一个将不会是</a:t>
            </a:r>
            <a:r>
              <a:rPr lang="en-US" altLang="zh-CN"/>
              <a:t>B</a:t>
            </a:r>
            <a:r>
              <a:rPr lang="zh-CN" altLang="en-US"/>
              <a:t>中的第一个</a:t>
            </a:r>
            <a:endParaRPr lang="zh-CN" altLang="en-US"/>
          </a:p>
          <a:p>
            <a:r>
              <a:rPr lang="zh-CN" altLang="en-US"/>
              <a:t>所以现在我们取得了</a:t>
            </a:r>
            <a:r>
              <a:rPr lang="en-US" altLang="zh-CN"/>
              <a:t>Jaccard</a:t>
            </a:r>
            <a:r>
              <a:rPr lang="zh-CN" altLang="en-US"/>
              <a:t>相似度，他是一个成对函数，并将其简化为某个关于项目概率的一元函数，但实际上，我们可以对项目进行哈希，但碰撞不能告诉我们这两个是相似的，只是更相似的事物更可能被哈希在一起，但我们想要一些更强的东西。</a:t>
            </a:r>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所以这就是局部敏感哈希的用武之地，到目前为止，我们只有一个哈希函数，接收两个集合，并且集合将一</a:t>
            </a:r>
            <a:r>
              <a:rPr lang="en-US" altLang="zh-CN"/>
              <a:t>Jaccard</a:t>
            </a:r>
            <a:r>
              <a:rPr lang="zh-CN" altLang="en-US"/>
              <a:t>概率碰撞，但我们真正希望</a:t>
            </a:r>
            <a:r>
              <a:rPr lang="en-US" altLang="zh-CN"/>
              <a:t>A</a:t>
            </a:r>
            <a:r>
              <a:rPr lang="zh-CN" altLang="en-US"/>
              <a:t>和</a:t>
            </a:r>
            <a:r>
              <a:rPr lang="en-US" altLang="zh-CN"/>
              <a:t>B</a:t>
            </a:r>
            <a:r>
              <a:rPr lang="zh-CN" altLang="en-US"/>
              <a:t>碰撞当且仅当，</a:t>
            </a:r>
            <a:r>
              <a:rPr lang="en-US" altLang="zh-CN"/>
              <a:t>A</a:t>
            </a:r>
            <a:r>
              <a:rPr lang="zh-CN" altLang="en-US"/>
              <a:t>和</a:t>
            </a:r>
            <a:r>
              <a:rPr lang="en-US" altLang="zh-CN"/>
              <a:t>B</a:t>
            </a:r>
            <a:r>
              <a:rPr lang="zh-CN" altLang="en-US"/>
              <a:t>的</a:t>
            </a:r>
            <a:r>
              <a:rPr lang="en-US" altLang="zh-CN"/>
              <a:t>JAccard</a:t>
            </a:r>
            <a:r>
              <a:rPr lang="zh-CN" altLang="en-US"/>
              <a:t>相似度超过某个阈值，无论如何，你必须锐化概率。如果超过某个阈值，那以概率接近</a:t>
            </a:r>
            <a:r>
              <a:rPr lang="en-US" altLang="zh-CN"/>
              <a:t>1</a:t>
            </a:r>
            <a:r>
              <a:rPr lang="zh-CN" altLang="en-US"/>
              <a:t>被哈希在一起，如果低于阈值，那么基本上以概率</a:t>
            </a:r>
            <a:r>
              <a:rPr lang="en-US" altLang="zh-CN"/>
              <a:t>0</a:t>
            </a:r>
            <a:r>
              <a:rPr lang="zh-CN" altLang="en-US"/>
              <a:t>或非常</a:t>
            </a:r>
            <a:r>
              <a:rPr lang="zh-CN" altLang="en-US"/>
              <a:t>小</a:t>
            </a:r>
            <a:endParaRPr lang="zh-CN" altLang="en-US"/>
          </a:p>
          <a:p>
            <a:r>
              <a:rPr lang="zh-CN" altLang="en-US"/>
              <a:t>我们采用了同样的技巧，但使用更多的哈希函数，在这里构造是将你的</a:t>
            </a:r>
            <a:r>
              <a:rPr lang="en-US" altLang="zh-CN"/>
              <a:t>n</a:t>
            </a:r>
            <a:r>
              <a:rPr lang="zh-CN" altLang="en-US"/>
              <a:t>个哈希函数分成</a:t>
            </a:r>
            <a:r>
              <a:rPr lang="en-US" altLang="zh-CN"/>
              <a:t>b</a:t>
            </a:r>
            <a:r>
              <a:rPr lang="zh-CN" altLang="en-US"/>
              <a:t>个带，每个带有</a:t>
            </a:r>
            <a:r>
              <a:rPr lang="en-US" altLang="zh-CN"/>
              <a:t>r</a:t>
            </a:r>
            <a:r>
              <a:rPr lang="zh-CN" altLang="en-US"/>
              <a:t>个哈希函数，</a:t>
            </a:r>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例如，如果你有</a:t>
            </a:r>
            <a:r>
              <a:rPr lang="en-US" altLang="zh-CN"/>
              <a:t>12</a:t>
            </a:r>
            <a:r>
              <a:rPr lang="zh-CN" altLang="en-US"/>
              <a:t>个哈希函数和三个带，每个带四个哈希函数</a:t>
            </a:r>
            <a:endParaRPr lang="zh-CN" altLang="en-US"/>
          </a:p>
          <a:p>
            <a:r>
              <a:rPr lang="zh-CN" altLang="en-US"/>
              <a:t>然后我们将声明，如果对于每个波段，其所有哈希函数返回相同的值，那么</a:t>
            </a:r>
            <a:r>
              <a:rPr lang="en-US" altLang="zh-CN"/>
              <a:t>A</a:t>
            </a:r>
            <a:r>
              <a:rPr lang="zh-CN" altLang="en-US"/>
              <a:t>和</a:t>
            </a:r>
            <a:r>
              <a:rPr lang="en-US" altLang="zh-CN"/>
              <a:t>B</a:t>
            </a:r>
            <a:r>
              <a:rPr lang="zh-CN" altLang="en-US"/>
              <a:t>发送碰撞，所以如果我有</a:t>
            </a:r>
            <a:r>
              <a:rPr lang="en-US" altLang="zh-CN"/>
              <a:t>A</a:t>
            </a:r>
            <a:r>
              <a:rPr lang="zh-CN" altLang="en-US"/>
              <a:t>和</a:t>
            </a:r>
            <a:r>
              <a:rPr lang="en-US" altLang="zh-CN"/>
              <a:t>B</a:t>
            </a:r>
            <a:r>
              <a:rPr lang="zh-CN" altLang="en-US"/>
              <a:t>，我将使用</a:t>
            </a:r>
            <a:r>
              <a:rPr lang="en-US" altLang="zh-CN"/>
              <a:t>MinHash</a:t>
            </a:r>
            <a:r>
              <a:rPr lang="zh-CN" altLang="en-US"/>
              <a:t>对</a:t>
            </a:r>
            <a:r>
              <a:rPr lang="en-US" altLang="zh-CN"/>
              <a:t>A</a:t>
            </a:r>
            <a:r>
              <a:rPr lang="zh-CN" altLang="en-US"/>
              <a:t>和</a:t>
            </a:r>
            <a:r>
              <a:rPr lang="en-US" altLang="zh-CN"/>
              <a:t>B</a:t>
            </a:r>
            <a:r>
              <a:rPr lang="zh-CN" altLang="en-US"/>
              <a:t>使用所有</a:t>
            </a:r>
            <a:r>
              <a:rPr lang="en-US" altLang="zh-CN"/>
              <a:t>12</a:t>
            </a:r>
            <a:r>
              <a:rPr lang="zh-CN" altLang="en-US"/>
              <a:t>个哈希函数进行哈希。如果这个波段（</a:t>
            </a:r>
            <a:r>
              <a:rPr lang="en-US" altLang="zh-CN"/>
              <a:t>h1</a:t>
            </a:r>
            <a:r>
              <a:rPr lang="zh-CN" altLang="en-US"/>
              <a:t>，</a:t>
            </a:r>
            <a:r>
              <a:rPr lang="en-US" altLang="zh-CN"/>
              <a:t>h2</a:t>
            </a:r>
            <a:r>
              <a:rPr lang="zh-CN" altLang="en-US"/>
              <a:t>，</a:t>
            </a:r>
            <a:r>
              <a:rPr lang="en-US" altLang="zh-CN"/>
              <a:t>h3</a:t>
            </a:r>
            <a:r>
              <a:rPr lang="zh-CN" altLang="en-US"/>
              <a:t>，</a:t>
            </a:r>
            <a:r>
              <a:rPr lang="en-US" altLang="zh-CN"/>
              <a:t>h4</a:t>
            </a:r>
            <a:r>
              <a:rPr lang="zh-CN" altLang="en-US"/>
              <a:t>）其所有哈希函数返回相同的值，那么</a:t>
            </a:r>
            <a:r>
              <a:rPr lang="en-US" altLang="zh-CN"/>
              <a:t>A</a:t>
            </a:r>
            <a:r>
              <a:rPr lang="zh-CN" altLang="en-US"/>
              <a:t>和</a:t>
            </a:r>
            <a:r>
              <a:rPr lang="en-US" altLang="zh-CN"/>
              <a:t>B</a:t>
            </a:r>
            <a:r>
              <a:rPr lang="zh-CN" altLang="en-US"/>
              <a:t>将发生碰撞。所以如果我有</a:t>
            </a:r>
            <a:r>
              <a:rPr lang="en-US" altLang="zh-CN"/>
              <a:t>A</a:t>
            </a:r>
            <a:r>
              <a:rPr lang="zh-CN" altLang="en-US"/>
              <a:t>和</a:t>
            </a:r>
            <a:r>
              <a:rPr lang="en-US" altLang="zh-CN"/>
              <a:t>B</a:t>
            </a:r>
            <a:r>
              <a:rPr lang="zh-CN" altLang="en-US"/>
              <a:t>，我将使用</a:t>
            </a:r>
            <a:r>
              <a:rPr lang="en-US" altLang="zh-CN"/>
              <a:t>MiniHash</a:t>
            </a:r>
            <a:r>
              <a:rPr lang="zh-CN" altLang="en-US"/>
              <a:t>对</a:t>
            </a:r>
            <a:r>
              <a:rPr lang="en-US" altLang="zh-CN"/>
              <a:t>A</a:t>
            </a:r>
            <a:r>
              <a:rPr lang="zh-CN" altLang="en-US"/>
              <a:t>和</a:t>
            </a:r>
            <a:r>
              <a:rPr lang="en-US" altLang="zh-CN"/>
              <a:t>B</a:t>
            </a:r>
            <a:r>
              <a:rPr lang="zh-CN" altLang="en-US"/>
              <a:t>使用</a:t>
            </a:r>
            <a:r>
              <a:rPr lang="en-US" altLang="zh-CN"/>
              <a:t>12</a:t>
            </a:r>
            <a:r>
              <a:rPr lang="zh-CN" altLang="en-US"/>
              <a:t>个哈希函数进行哈希。正如我们所看的，这里有一个</a:t>
            </a:r>
            <a:r>
              <a:rPr lang="en-US" altLang="zh-CN"/>
              <a:t>“</a:t>
            </a:r>
            <a:r>
              <a:rPr lang="zh-CN" altLang="en-US"/>
              <a:t>与</a:t>
            </a:r>
            <a:r>
              <a:rPr lang="en-US" altLang="zh-CN"/>
              <a:t>/</a:t>
            </a:r>
            <a:r>
              <a:rPr lang="zh-CN" altLang="en-US"/>
              <a:t>或</a:t>
            </a:r>
            <a:r>
              <a:rPr lang="en-US" altLang="zh-CN"/>
              <a:t>”</a:t>
            </a:r>
            <a:r>
              <a:rPr lang="zh-CN" altLang="en-US"/>
              <a:t>结构，这是使概率在阈值附近锐化的关键。</a:t>
            </a:r>
            <a:endParaRPr lang="zh-CN" altLang="en-US"/>
          </a:p>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所以现在，我们只需做一些分析来计算</a:t>
            </a:r>
            <a:r>
              <a:rPr lang="en-US" altLang="zh-CN">
                <a:sym typeface="+mn-ea"/>
              </a:rPr>
              <a:t>A</a:t>
            </a:r>
            <a:r>
              <a:rPr lang="zh-CN" altLang="en-US">
                <a:sym typeface="+mn-ea"/>
              </a:rPr>
              <a:t>和</a:t>
            </a:r>
            <a:r>
              <a:rPr lang="en-US" altLang="zh-CN">
                <a:sym typeface="+mn-ea"/>
              </a:rPr>
              <a:t>B</a:t>
            </a:r>
            <a:r>
              <a:rPr lang="zh-CN" altLang="en-US">
                <a:sym typeface="+mn-ea"/>
              </a:rPr>
              <a:t>碰撞的概率，我们将用</a:t>
            </a:r>
            <a:r>
              <a:rPr lang="en-US" altLang="zh-CN">
                <a:sym typeface="+mn-ea"/>
              </a:rPr>
              <a:t>sim</a:t>
            </a:r>
            <a:r>
              <a:rPr lang="zh-CN" altLang="en-US">
                <a:sym typeface="+mn-ea"/>
              </a:rPr>
              <a:t>指</a:t>
            </a:r>
            <a:r>
              <a:rPr lang="en-US" altLang="zh-CN">
                <a:sym typeface="+mn-ea"/>
              </a:rPr>
              <a:t>JAccard</a:t>
            </a:r>
            <a:r>
              <a:rPr lang="zh-CN" altLang="en-US">
                <a:sym typeface="+mn-ea"/>
              </a:rPr>
              <a:t>相似度，假设我有</a:t>
            </a:r>
            <a:r>
              <a:rPr lang="en-US" altLang="zh-CN">
                <a:sym typeface="+mn-ea"/>
              </a:rPr>
              <a:t>0.8</a:t>
            </a:r>
            <a:r>
              <a:rPr lang="zh-CN" altLang="en-US">
                <a:sym typeface="+mn-ea"/>
              </a:rPr>
              <a:t>的</a:t>
            </a:r>
            <a:r>
              <a:rPr lang="en-US" altLang="zh-CN">
                <a:sym typeface="+mn-ea"/>
              </a:rPr>
              <a:t>JAccard</a:t>
            </a:r>
            <a:r>
              <a:rPr lang="zh-CN" altLang="en-US">
                <a:sym typeface="+mn-ea"/>
              </a:rPr>
              <a:t>相似度，在这个情况下，有五个波段，每个波段十个哈希函数，那么一个固定波段匹配概率是多少，所以一个波段匹配的概率简单来说就是</a:t>
            </a:r>
            <a:r>
              <a:rPr lang="en-US" altLang="zh-CN">
                <a:sym typeface="+mn-ea"/>
              </a:rPr>
              <a:t>0.8</a:t>
            </a:r>
            <a:r>
              <a:rPr lang="zh-CN" altLang="en-US">
                <a:sym typeface="+mn-ea"/>
              </a:rPr>
              <a:t>的</a:t>
            </a:r>
            <a:r>
              <a:rPr lang="en-US" altLang="zh-CN">
                <a:sym typeface="+mn-ea"/>
              </a:rPr>
              <a:t>r</a:t>
            </a:r>
            <a:r>
              <a:rPr lang="zh-CN" altLang="en-US">
                <a:sym typeface="+mn-ea"/>
              </a:rPr>
              <a:t>次方，因为一个函数的概率就是</a:t>
            </a:r>
            <a:r>
              <a:rPr lang="en-US" altLang="zh-CN">
                <a:sym typeface="+mn-ea"/>
              </a:rPr>
              <a:t>Jarcad</a:t>
            </a:r>
            <a:r>
              <a:rPr lang="zh-CN" altLang="en-US">
                <a:sym typeface="+mn-ea"/>
              </a:rPr>
              <a:t>相似度。那么某个波段匹配的概率是多少，这是所有波段都不匹配的概率，那么这就是至少一个波段匹配的概率</a:t>
            </a:r>
            <a:r>
              <a:rPr lang="en-US" altLang="zh-CN">
                <a:sym typeface="+mn-ea"/>
              </a:rPr>
              <a:t>  </a:t>
            </a:r>
            <a:r>
              <a:rPr lang="zh-CN" altLang="en-US">
                <a:sym typeface="+mn-ea"/>
              </a:rPr>
              <a:t>。你可以看到碰撞的概率是</a:t>
            </a:r>
            <a:r>
              <a:rPr lang="en-US" altLang="zh-CN">
                <a:sym typeface="+mn-ea"/>
              </a:rPr>
              <a:t>0.43.</a:t>
            </a:r>
            <a:endParaRPr lang="en-US" altLang="zh-CN">
              <a:sym typeface="+mn-ea"/>
            </a:endParaRPr>
          </a:p>
          <a:p>
            <a:r>
              <a:rPr lang="en-US" altLang="zh-CN">
                <a:sym typeface="+mn-ea"/>
              </a:rPr>
              <a:t>x</a:t>
            </a:r>
            <a:r>
              <a:rPr lang="zh-CN" altLang="en-US">
                <a:sym typeface="+mn-ea"/>
              </a:rPr>
              <a:t>轴是相似度，我们想要的是从相似度到碰撞概率的映射看起来就像这样，如果阈值是</a:t>
            </a:r>
            <a:r>
              <a:rPr lang="en-US" altLang="zh-CN">
                <a:sym typeface="+mn-ea"/>
              </a:rPr>
              <a:t>0.5</a:t>
            </a:r>
            <a:r>
              <a:rPr lang="zh-CN" altLang="en-US">
                <a:sym typeface="+mn-ea"/>
              </a:rPr>
              <a:t>，我希望这里的一切都接近</a:t>
            </a:r>
            <a:r>
              <a:rPr lang="en-US" altLang="zh-CN">
                <a:sym typeface="+mn-ea"/>
              </a:rPr>
              <a:t>0</a:t>
            </a:r>
            <a:r>
              <a:rPr lang="zh-CN" altLang="en-US">
                <a:sym typeface="+mn-ea"/>
              </a:rPr>
              <a:t>，那边的概率接近</a:t>
            </a:r>
            <a:r>
              <a:rPr lang="en-US" altLang="zh-CN">
                <a:sym typeface="+mn-ea"/>
              </a:rPr>
              <a:t>1</a:t>
            </a:r>
            <a:endParaRPr lang="en-US" altLang="zh-CN">
              <a:sym typeface="+mn-ea"/>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所以让我们总结一下，这节课主要给你提供算法工具，我们看了</a:t>
            </a:r>
            <a:r>
              <a:rPr lang="en-US" altLang="zh-CN"/>
              <a:t>n-gram</a:t>
            </a:r>
            <a:r>
              <a:rPr lang="zh-CN" altLang="en-US"/>
              <a:t>分类器、线性分类器、以及重要性采样作为过滤的方法。通过过滤，你可以进行语言识别，质量过滤、毒性过滤。然后我们看了去重，这对于减少计算量的花费很重要，这里的算法工具是哈希，因为哈希允许你将这种成对相似性和碰撞的概念转化为一元函数，使得拥有线性时间特性。最后有了这些工具，接下来只需要花时间与数据相处，去观察他，过滤并训练模型。</a:t>
            </a:r>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上次我们，我们讲到了基于可验证奖励的强化学习，并讨论了策略梯度算法，如</a:t>
            </a:r>
            <a:r>
              <a:rPr lang="en-US" altLang="zh-CN"/>
              <a:t>PPO</a:t>
            </a:r>
            <a:r>
              <a:rPr lang="zh-CN" altLang="en-US"/>
              <a:t>和</a:t>
            </a:r>
            <a:r>
              <a:rPr lang="en-US" altLang="zh-CN"/>
              <a:t>GRPO</a:t>
            </a:r>
            <a:r>
              <a:rPr lang="zh-CN" altLang="en-US"/>
              <a:t>，这节课我们将深入探讨策略梯度</a:t>
            </a:r>
            <a:r>
              <a:rPr lang="en-US" altLang="zh-CN"/>
              <a:t>GROP</a:t>
            </a:r>
            <a:r>
              <a:rPr lang="zh-CN" altLang="en-US"/>
              <a:t>的机制</a:t>
            </a:r>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我们正在为语言模型进行强化学习，在强化学习中你需要定义状态、动作和奖励等</a:t>
            </a:r>
            <a:r>
              <a:rPr lang="en-US" altLang="zh-CN"/>
              <a:t>,</a:t>
            </a:r>
            <a:r>
              <a:rPr lang="zh-CN" altLang="en-US"/>
              <a:t>状态是提示加上你目前生成的响应，每个动作时生成一个特定的词元。奖励本质是响应的质量，我们将专注于结果奖励；我们将专注于可验证的奖励，所以计算</a:t>
            </a:r>
            <a:r>
              <a:rPr lang="zh-CN" altLang="en-US"/>
              <a:t>是确定性的，某个函数直接返回奖励，不需要询问人类；在这种设置下，通常在强化学习中你会看到折扣和自举的概念，会在多个回合中获得奖励。例如有一个数学题，语言模型会有一个思维链，最后生成一个答案，并且查看是否与某些真实值匹配。</a:t>
            </a:r>
            <a:endParaRPr lang="zh-CN" altLang="en-US"/>
          </a:p>
          <a:p>
            <a:r>
              <a:rPr lang="zh-CN" altLang="en-US"/>
              <a:t>在强化学习中，人们会谈论过渡动态，在语言模型设置中，非常重要。因为非常简单，只是一个加法操作，只需把动作附加到状态中。还有一些含义，你可以进行规划测试时间计算，另一个注意的是，状态的概念实际上是虚构的，如果你在机器人学的背景下思考强化学习，状态可能是关节角度、位置，也可能是一张图像，他确实更基于现实世界，而语言模型的状态只是语言模型生成的词元，这引入了很多灵活性和</a:t>
            </a:r>
            <a:r>
              <a:rPr lang="zh-CN" altLang="en-US"/>
              <a:t>自由度。</a:t>
            </a:r>
            <a:endParaRPr lang="zh-CN" altLang="en-US"/>
          </a:p>
          <a:p>
            <a:r>
              <a:rPr lang="zh-CN" altLang="en-US"/>
              <a:t>因此在这种情况下，策略只是一个基于状态的语言模型动作。状态是迄今为止给出的提示和响应，这通常是从现有的预训练语言模型中微调的。</a:t>
            </a:r>
            <a:endParaRPr lang="zh-CN" altLang="en-US"/>
          </a:p>
          <a:p>
            <a:r>
              <a:rPr lang="zh-CN" altLang="en-US"/>
              <a:t>然后，这个回合轨迹有多个名称，在这种结果奖励设置中，你从一个状态开始，你生成一系列动作，即词元，你得到一个单一的数字，即奖励，你的目标是最大化期望奖励，其中期望是基于环境给你的提示，以及你正在优化的策略</a:t>
            </a:r>
            <a:r>
              <a:rPr lang="en-US" altLang="zh-CN"/>
              <a:t>π</a:t>
            </a:r>
            <a:r>
              <a:rPr lang="zh-CN" altLang="en-US"/>
              <a:t>给你的响应</a:t>
            </a:r>
            <a:r>
              <a:rPr lang="zh-CN" altLang="en-US"/>
              <a:t>词元</a:t>
            </a:r>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现在让我们讨论策略梯度，这是一类用于学习策略的方法，本质是从一个策略开始，并尝试使用梯度方法来改进它。我们将使用</a:t>
            </a:r>
            <a:r>
              <a:rPr lang="en-US" altLang="zh-CN"/>
              <a:t>a</a:t>
            </a:r>
            <a:r>
              <a:rPr lang="zh-CN" altLang="en-US"/>
              <a:t>表示整个响应，而不是单个动作。我们希望最大化关于策略</a:t>
            </a:r>
            <a:r>
              <a:rPr lang="en-US" altLang="zh-CN"/>
              <a:t>π</a:t>
            </a:r>
            <a:r>
              <a:rPr lang="zh-CN" altLang="en-US"/>
              <a:t>的期望奖励，期望奖励是状态分布乘以给定状态的动作序列策略乘以奖励的积分。</a:t>
            </a:r>
            <a:endParaRPr lang="zh-CN" altLang="en-US"/>
          </a:p>
          <a:p>
            <a:r>
              <a:rPr lang="zh-CN" altLang="en-US"/>
              <a:t>显然应该做的事情就是对其求梯度：所以你开始取梯度，梯度只涉及策略，</a:t>
            </a:r>
            <a:r>
              <a:rPr lang="zh-CN" altLang="en-US"/>
              <a:t>实际只是对数的链式法则，基本上是重写为</a:t>
            </a:r>
            <a:r>
              <a:rPr lang="en-US" altLang="zh-CN"/>
              <a:t>π</a:t>
            </a:r>
            <a:r>
              <a:rPr lang="zh-CN" altLang="en-US"/>
              <a:t>，然后是对数的梯度，然后用期望来重写它，</a:t>
            </a:r>
            <a:endParaRPr lang="zh-CN" altLang="en-US"/>
          </a:p>
          <a:p>
            <a:r>
              <a:rPr lang="zh-CN" altLang="en-US"/>
              <a:t>朴素策略梯度基本上说，我将从</a:t>
            </a:r>
            <a:r>
              <a:rPr lang="en-US" altLang="zh-CN"/>
              <a:t>p</a:t>
            </a:r>
            <a:r>
              <a:rPr lang="zh-CN" altLang="en-US"/>
              <a:t>中采样一个提示，从</a:t>
            </a:r>
            <a:r>
              <a:rPr lang="en-US" altLang="zh-CN"/>
              <a:t>a</a:t>
            </a:r>
            <a:r>
              <a:rPr lang="zh-CN" altLang="en-US"/>
              <a:t>中采样一个响应，然后我将根据这个期望内的任何内容更新参数。如果你在做</a:t>
            </a:r>
            <a:r>
              <a:rPr lang="en-US" altLang="zh-CN"/>
              <a:t>SGD</a:t>
            </a:r>
            <a:r>
              <a:rPr lang="zh-CN" altLang="en-US"/>
              <a:t>，你看样本项中的期望损失，然后评估并继续。这基本上与</a:t>
            </a:r>
            <a:r>
              <a:rPr lang="en-US" altLang="zh-CN"/>
              <a:t>S</a:t>
            </a:r>
            <a:r>
              <a:rPr lang="zh-CN" altLang="en-US"/>
              <a:t>（</a:t>
            </a:r>
            <a:r>
              <a:rPr lang="en-US" altLang="zh-CN"/>
              <a:t>t</a:t>
            </a:r>
            <a:r>
              <a:rPr lang="zh-CN" altLang="en-US"/>
              <a:t>）相同，只是所有内容都由奖励加权，所以</a:t>
            </a:r>
            <a:r>
              <a:rPr lang="en-US" altLang="zh-CN"/>
              <a:t>S</a:t>
            </a:r>
            <a:r>
              <a:rPr lang="zh-CN" altLang="en-US"/>
              <a:t>（</a:t>
            </a:r>
            <a:r>
              <a:rPr lang="en-US" altLang="zh-CN"/>
              <a:t>t</a:t>
            </a:r>
            <a:r>
              <a:rPr lang="zh-CN" altLang="en-US"/>
              <a:t>）是一个人为你写下</a:t>
            </a:r>
            <a:r>
              <a:rPr lang="en-US" altLang="zh-CN"/>
              <a:t>A</a:t>
            </a:r>
            <a:r>
              <a:rPr lang="zh-CN" altLang="en-US"/>
              <a:t>，你只需模仿</a:t>
            </a:r>
            <a:r>
              <a:rPr lang="en-US" altLang="zh-CN"/>
              <a:t>A</a:t>
            </a:r>
            <a:r>
              <a:rPr lang="zh-CN" altLang="en-US"/>
              <a:t>并更新参数以最大化该动作的概率。</a:t>
            </a:r>
            <a:endParaRPr lang="zh-CN" altLang="en-US"/>
          </a:p>
          <a:p>
            <a:r>
              <a:rPr lang="zh-CN" altLang="en-US"/>
              <a:t>假设奖励设置为</a:t>
            </a:r>
            <a:r>
              <a:rPr lang="en-US" altLang="zh-CN"/>
              <a:t>0</a:t>
            </a:r>
            <a:r>
              <a:rPr lang="zh-CN" altLang="en-US"/>
              <a:t>或</a:t>
            </a:r>
            <a:r>
              <a:rPr lang="en-US" altLang="zh-CN"/>
              <a:t>1</a:t>
            </a:r>
            <a:r>
              <a:rPr lang="zh-CN" altLang="en-US"/>
              <a:t>，在这种情况下，朴素策略梯度将仅仅在正确响应时更新，对于导致错误响应的动作，会被完全忽略，唯一的区别是数据集随时间变化，因为进行更新时，你有了一个新策略，你基于该策略生成数据集。然后进行迭代等等。</a:t>
            </a:r>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这里主要的挑战是，人们谈论策略梯度时，认为它是高噪声或高方差的，特别是这个设置，其中奖励是</a:t>
            </a:r>
            <a:r>
              <a:rPr lang="en-US" altLang="zh-CN"/>
              <a:t>0</a:t>
            </a:r>
            <a:r>
              <a:rPr lang="zh-CN" altLang="en-US"/>
              <a:t>或</a:t>
            </a:r>
            <a:r>
              <a:rPr lang="en-US" altLang="zh-CN"/>
              <a:t>1</a:t>
            </a:r>
            <a:r>
              <a:rPr lang="zh-CN" altLang="en-US"/>
              <a:t>，如果解决一个困难的数学问题，在这个设定中是稀疏奖励，奖励是稀疏的，这意味很少的响应能得到奖励</a:t>
            </a:r>
            <a:r>
              <a:rPr lang="en-US" altLang="zh-CN"/>
              <a:t>1</a:t>
            </a:r>
            <a:r>
              <a:rPr lang="zh-CN" altLang="en-US"/>
              <a:t>，如果你有一个糟糕的策略，大多数奖励是</a:t>
            </a:r>
            <a:r>
              <a:rPr lang="en-US" altLang="zh-CN"/>
              <a:t>0</a:t>
            </a:r>
            <a:r>
              <a:rPr lang="zh-CN" altLang="en-US"/>
              <a:t>。这与使用</a:t>
            </a:r>
            <a:r>
              <a:rPr lang="en-US" altLang="zh-CN"/>
              <a:t>RLHF</a:t>
            </a:r>
            <a:r>
              <a:rPr lang="zh-CN" altLang="en-US"/>
              <a:t>（成对偏好的人类反馈强化学习形成对比，）形成对比，你估计一个奖励模型，而奖励模型通常更连续一些，他将为每个响应分配一个数值，表示它的好坏。这与可验证奖励设定非常不同，后者只有正确或者错误。</a:t>
            </a:r>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梯度策略方法中的一个关键思想是使用所谓的基线，这是期望奖励，你不能直接计算他，所以你转而使用无偏估计，这通常意味着估计期望，从采样并估计期望，这个无偏估计，但他的方差可能相当高。</a:t>
            </a:r>
            <a:endParaRPr lang="zh-CN" altLang="en-US"/>
          </a:p>
          <a:p>
            <a:r>
              <a:rPr lang="zh-CN" altLang="en-US"/>
              <a:t>假设你有两个状态，</a:t>
            </a:r>
            <a:r>
              <a:rPr lang="en-US" altLang="zh-CN"/>
              <a:t>S1</a:t>
            </a:r>
            <a:r>
              <a:rPr lang="zh-CN" altLang="en-US"/>
              <a:t>和</a:t>
            </a:r>
            <a:r>
              <a:rPr lang="en-US" altLang="zh-CN"/>
              <a:t>S2</a:t>
            </a:r>
            <a:r>
              <a:rPr lang="zh-CN" altLang="en-US"/>
              <a:t>，从</a:t>
            </a:r>
            <a:r>
              <a:rPr lang="en-US" altLang="zh-CN"/>
              <a:t>S1</a:t>
            </a:r>
            <a:r>
              <a:rPr lang="zh-CN" altLang="en-US"/>
              <a:t>出发，你有两个可能的动作，</a:t>
            </a:r>
            <a:r>
              <a:rPr lang="en-US" altLang="zh-CN"/>
              <a:t>A1</a:t>
            </a:r>
            <a:r>
              <a:rPr lang="zh-CN" altLang="en-US"/>
              <a:t>给你奖励</a:t>
            </a:r>
            <a:r>
              <a:rPr lang="en-US" altLang="zh-CN"/>
              <a:t>11</a:t>
            </a:r>
            <a:r>
              <a:rPr lang="zh-CN" altLang="en-US"/>
              <a:t>，</a:t>
            </a:r>
            <a:r>
              <a:rPr lang="en-US" altLang="zh-CN"/>
              <a:t>A2</a:t>
            </a:r>
            <a:r>
              <a:rPr lang="zh-CN" altLang="en-US"/>
              <a:t>给你奖励</a:t>
            </a:r>
            <a:r>
              <a:rPr lang="en-US" altLang="zh-CN"/>
              <a:t>9</a:t>
            </a:r>
            <a:r>
              <a:rPr lang="zh-CN" altLang="en-US"/>
              <a:t>；从状态</a:t>
            </a:r>
            <a:r>
              <a:rPr lang="en-US" altLang="zh-CN"/>
              <a:t>S2</a:t>
            </a:r>
            <a:r>
              <a:rPr lang="zh-CN" altLang="en-US"/>
              <a:t>出发，</a:t>
            </a:r>
            <a:r>
              <a:rPr lang="en-US" altLang="zh-CN"/>
              <a:t>A1</a:t>
            </a:r>
            <a:r>
              <a:rPr lang="zh-CN" altLang="en-US"/>
              <a:t>给你奖励</a:t>
            </a:r>
            <a:r>
              <a:rPr lang="en-US" altLang="zh-CN"/>
              <a:t>0</a:t>
            </a:r>
            <a:r>
              <a:rPr lang="zh-CN" altLang="en-US"/>
              <a:t>，</a:t>
            </a:r>
            <a:r>
              <a:rPr lang="en-US" altLang="zh-CN"/>
              <a:t>A2</a:t>
            </a:r>
            <a:r>
              <a:rPr lang="zh-CN" altLang="en-US"/>
              <a:t>给你奖励</a:t>
            </a:r>
            <a:r>
              <a:rPr lang="en-US" altLang="zh-CN"/>
              <a:t>2</a:t>
            </a:r>
            <a:r>
              <a:rPr lang="zh-CN" altLang="en-US"/>
              <a:t>，</a:t>
            </a:r>
            <a:r>
              <a:rPr lang="en-US" altLang="zh-CN"/>
              <a:t>S1</a:t>
            </a:r>
            <a:r>
              <a:rPr lang="zh-CN" altLang="en-US"/>
              <a:t>从根本上给你更高的奖励，</a:t>
            </a:r>
            <a:r>
              <a:rPr lang="en-US" altLang="zh-CN"/>
              <a:t>S2</a:t>
            </a:r>
            <a:r>
              <a:rPr lang="zh-CN" altLang="en-US"/>
              <a:t>给你更低的奖励。</a:t>
            </a:r>
            <a:endParaRPr lang="zh-CN" altLang="en-US"/>
          </a:p>
          <a:p>
            <a:r>
              <a:rPr lang="en-US" altLang="zh-CN"/>
              <a:t>baseline</a:t>
            </a:r>
            <a:r>
              <a:rPr lang="zh-CN" altLang="en-US"/>
              <a:t>的关键思想是，你只需要最大化基线奖励，而不是期望奖励，我们只是减去一个称为基线函数的</a:t>
            </a:r>
            <a:r>
              <a:rPr lang="en-US" altLang="zh-CN"/>
              <a:t>B</a:t>
            </a:r>
            <a:r>
              <a:rPr lang="zh-CN" altLang="en-US"/>
              <a:t>（</a:t>
            </a:r>
            <a:r>
              <a:rPr lang="en-US" altLang="zh-CN"/>
              <a:t>S</a:t>
            </a:r>
            <a:r>
              <a:rPr lang="zh-CN" altLang="en-US"/>
              <a:t>），他的美妙之处是不依赖于策略</a:t>
            </a:r>
            <a:r>
              <a:rPr lang="en-US" altLang="zh-CN"/>
              <a:t>π</a:t>
            </a:r>
            <a:r>
              <a:rPr lang="zh-CN" altLang="en-US"/>
              <a:t>。优化期望</a:t>
            </a:r>
            <a:r>
              <a:rPr lang="en-US" altLang="zh-CN"/>
              <a:t>R</a:t>
            </a:r>
            <a:r>
              <a:rPr lang="zh-CN" altLang="en-US"/>
              <a:t>等同于</a:t>
            </a:r>
            <a:r>
              <a:rPr lang="en-US" altLang="zh-CN"/>
              <a:t>R</a:t>
            </a:r>
            <a:r>
              <a:rPr lang="zh-CN" altLang="en-US"/>
              <a:t>减去这个期望，因为他只是一个常数</a:t>
            </a:r>
            <a:endParaRPr lang="zh-CN" altLang="en-US"/>
          </a:p>
          <a:p>
            <a:r>
              <a:rPr lang="zh-CN" altLang="en-US"/>
              <a:t>在所有可能的</a:t>
            </a:r>
            <a:r>
              <a:rPr lang="en-US" altLang="zh-CN"/>
              <a:t>S</a:t>
            </a:r>
            <a:r>
              <a:rPr lang="zh-CN" altLang="en-US"/>
              <a:t>函数</a:t>
            </a:r>
            <a:r>
              <a:rPr lang="en-US" altLang="zh-CN"/>
              <a:t>P</a:t>
            </a:r>
            <a:r>
              <a:rPr lang="zh-CN" altLang="en-US"/>
              <a:t>中，我们应该使用哪一个</a:t>
            </a:r>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我们重新审视这两个状态的例子，做一些假设，假设你的初始策略是所有</a:t>
            </a:r>
            <a:r>
              <a:rPr lang="en-US" altLang="zh-CN">
                <a:sym typeface="+mn-ea"/>
              </a:rPr>
              <a:t>S</a:t>
            </a:r>
            <a:r>
              <a:rPr lang="zh-CN" altLang="en-US">
                <a:sym typeface="+mn-ea"/>
              </a:rPr>
              <a:t>和</a:t>
            </a:r>
            <a:r>
              <a:rPr lang="en-US" altLang="zh-CN">
                <a:sym typeface="+mn-ea"/>
              </a:rPr>
              <a:t>A</a:t>
            </a:r>
            <a:r>
              <a:rPr lang="zh-CN" altLang="en-US">
                <a:sym typeface="+mn-ea"/>
              </a:rPr>
              <a:t>上的均匀分布，并且你的策略的梯度最初为</a:t>
            </a:r>
            <a:r>
              <a:rPr lang="en-US" altLang="zh-CN">
                <a:sym typeface="+mn-ea"/>
              </a:rPr>
              <a:t>1</a:t>
            </a:r>
            <a:r>
              <a:rPr lang="zh-CN" altLang="en-US">
                <a:sym typeface="+mn-ea"/>
              </a:rPr>
              <a:t>，如果你看你的梯度的方差，方差大概是</a:t>
            </a:r>
            <a:r>
              <a:rPr lang="en-US" altLang="zh-CN">
                <a:sym typeface="+mn-ea"/>
              </a:rPr>
              <a:t>5.3</a:t>
            </a:r>
            <a:r>
              <a:rPr lang="zh-CN" altLang="en-US">
                <a:sym typeface="+mn-ea"/>
              </a:rPr>
              <a:t>，</a:t>
            </a:r>
            <a:endParaRPr lang="zh-CN" altLang="en-US">
              <a:sym typeface="+mn-ea"/>
            </a:endParaRPr>
          </a:p>
          <a:p>
            <a:r>
              <a:rPr lang="zh-CN" altLang="en-US">
                <a:sym typeface="+mn-ea"/>
              </a:rPr>
              <a:t>如果你定义一个基线，</a:t>
            </a:r>
            <a:r>
              <a:rPr lang="en-US" altLang="zh-CN">
                <a:sym typeface="+mn-ea"/>
              </a:rPr>
              <a:t>S1</a:t>
            </a:r>
            <a:r>
              <a:rPr lang="zh-CN" altLang="en-US">
                <a:sym typeface="+mn-ea"/>
              </a:rPr>
              <a:t>为</a:t>
            </a:r>
            <a:r>
              <a:rPr lang="en-US" altLang="zh-CN">
                <a:sym typeface="+mn-ea"/>
              </a:rPr>
              <a:t>10</a:t>
            </a:r>
            <a:r>
              <a:rPr lang="zh-CN" altLang="en-US">
                <a:sym typeface="+mn-ea"/>
              </a:rPr>
              <a:t>，</a:t>
            </a:r>
            <a:r>
              <a:rPr lang="en-US" altLang="zh-CN">
                <a:sym typeface="+mn-ea"/>
              </a:rPr>
              <a:t>S2</a:t>
            </a:r>
            <a:r>
              <a:rPr lang="zh-CN" altLang="en-US">
                <a:sym typeface="+mn-ea"/>
              </a:rPr>
              <a:t>为</a:t>
            </a:r>
            <a:r>
              <a:rPr lang="en-US" altLang="zh-CN">
                <a:sym typeface="+mn-ea"/>
              </a:rPr>
              <a:t>1</a:t>
            </a:r>
            <a:r>
              <a:rPr lang="zh-CN" altLang="en-US">
                <a:sym typeface="+mn-ea"/>
              </a:rPr>
              <a:t>，那么让我看看会发生什么，你从这些奖励值中减去基线，那么最后你的方差只有</a:t>
            </a:r>
            <a:r>
              <a:rPr lang="en-US" altLang="zh-CN">
                <a:sym typeface="+mn-ea"/>
              </a:rPr>
              <a:t>1.1</a:t>
            </a:r>
            <a:r>
              <a:rPr lang="zh-CN" altLang="en-US">
                <a:sym typeface="+mn-ea"/>
              </a:rPr>
              <a:t>，这并不会影响你的最终结果的期望，方差越低收敛</a:t>
            </a:r>
            <a:r>
              <a:rPr lang="zh-CN" altLang="en-US">
                <a:sym typeface="+mn-ea"/>
              </a:rPr>
              <a:t>越快。</a:t>
            </a:r>
            <a:endParaRPr lang="zh-CN" altLang="en-US">
              <a:sym typeface="+mn-ea"/>
            </a:endParaRPr>
          </a:p>
          <a:p>
            <a:r>
              <a:rPr lang="zh-CN" altLang="en-US">
                <a:sym typeface="+mn-ea"/>
              </a:rPr>
              <a:t>你可能会问，使用什么最优基线，如果你做数学，你会发现实际上有一个非常好的闭式子解，这在一般情况下计算起来很烦人，特别是如果你有高维度，因为这个东西将成为你的协方差。我将设置基线等于给定</a:t>
            </a:r>
            <a:r>
              <a:rPr lang="en-US" altLang="zh-CN">
                <a:sym typeface="+mn-ea"/>
              </a:rPr>
              <a:t>S</a:t>
            </a:r>
            <a:r>
              <a:rPr lang="zh-CN" altLang="en-US">
                <a:sym typeface="+mn-ea"/>
              </a:rPr>
              <a:t>的期望奖励，仍然是无法计算这个，因为带有期望的东西都无法计算，但是可以被估计。</a:t>
            </a:r>
            <a:endParaRPr lang="zh-CN" altLang="en-US">
              <a:sym typeface="+mn-ea"/>
            </a:endParaRPr>
          </a:p>
          <a:p>
            <a:r>
              <a:rPr lang="zh-CN" altLang="en-US">
                <a:sym typeface="+mn-ea"/>
              </a:rPr>
              <a:t>回顾一下，我们说过我们有朴素的策略梯度，我们可以引入这个基线，他对任何</a:t>
            </a:r>
            <a:r>
              <a:rPr lang="en-US" altLang="zh-CN">
                <a:sym typeface="+mn-ea"/>
              </a:rPr>
              <a:t>S</a:t>
            </a:r>
            <a:r>
              <a:rPr lang="zh-CN" altLang="en-US">
                <a:sym typeface="+mn-ea"/>
              </a:rPr>
              <a:t>的</a:t>
            </a:r>
            <a:r>
              <a:rPr lang="en-US" altLang="zh-CN">
                <a:sym typeface="+mn-ea"/>
              </a:rPr>
              <a:t>B</a:t>
            </a:r>
            <a:r>
              <a:rPr lang="zh-CN" altLang="en-US">
                <a:sym typeface="+mn-ea"/>
              </a:rPr>
              <a:t>都有效，现在我们得出结论，如果我们能尝试掌握给定</a:t>
            </a:r>
            <a:r>
              <a:rPr lang="en-US" altLang="zh-CN">
                <a:sym typeface="+mn-ea"/>
              </a:rPr>
              <a:t>S</a:t>
            </a:r>
            <a:r>
              <a:rPr lang="zh-CN" altLang="en-US">
                <a:sym typeface="+mn-ea"/>
              </a:rPr>
              <a:t>的期望奖励，可能是不错的选择。</a:t>
            </a:r>
            <a:endParaRPr lang="zh-CN" altLang="en-US">
              <a:sym typeface="+mn-ea"/>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这个特定的选择与优势函数有关。</a:t>
            </a:r>
            <a:endParaRPr lang="zh-CN" altLang="en-US"/>
          </a:p>
          <a:p>
            <a:r>
              <a:rPr lang="zh-CN" altLang="en-US"/>
              <a:t>在强化学习中，你通常有一个价值函数，他是给定状态的期望奖励，然后你有一个</a:t>
            </a:r>
            <a:r>
              <a:rPr lang="en-US" altLang="zh-CN"/>
              <a:t>Q</a:t>
            </a:r>
            <a:r>
              <a:rPr lang="zh-CN" altLang="en-US"/>
              <a:t>函数，是我们给定状</a:t>
            </a:r>
            <a:endParaRPr lang="zh-CN" altLang="en-US"/>
          </a:p>
          <a:p>
            <a:r>
              <a:rPr lang="zh-CN" altLang="en-US"/>
              <a:t>态下采取一些行为的期望奖励。注意这里的</a:t>
            </a:r>
            <a:r>
              <a:rPr lang="en-US" altLang="zh-CN"/>
              <a:t>Q</a:t>
            </a:r>
            <a:r>
              <a:rPr lang="zh-CN" altLang="en-US"/>
              <a:t>和</a:t>
            </a:r>
            <a:r>
              <a:rPr lang="en-US" altLang="zh-CN"/>
              <a:t>R</a:t>
            </a:r>
            <a:r>
              <a:rPr lang="zh-CN" altLang="en-US"/>
              <a:t>是相同的，因为我们假设结果奖励和</a:t>
            </a:r>
            <a:r>
              <a:rPr lang="en-US" altLang="zh-CN"/>
              <a:t>a</a:t>
            </a:r>
            <a:r>
              <a:rPr lang="zh-CN" altLang="en-US"/>
              <a:t>包含所有</a:t>
            </a:r>
            <a:r>
              <a:rPr lang="zh-CN" altLang="en-US"/>
              <a:t>行动，</a:t>
            </a:r>
            <a:endParaRPr lang="zh-CN" altLang="en-US"/>
          </a:p>
          <a:p>
            <a:r>
              <a:rPr lang="zh-CN" altLang="en-US"/>
              <a:t>一般来说，</a:t>
            </a:r>
            <a:r>
              <a:rPr lang="en-US" altLang="zh-CN"/>
              <a:t>R</a:t>
            </a:r>
            <a:r>
              <a:rPr lang="zh-CN" altLang="en-US"/>
              <a:t>将是来自该状态的</a:t>
            </a:r>
            <a:r>
              <a:rPr lang="zh-CN" altLang="en-US"/>
              <a:t>回报</a:t>
            </a:r>
            <a:endParaRPr lang="zh-CN" altLang="en-US"/>
          </a:p>
          <a:p>
            <a:r>
              <a:rPr lang="zh-CN" altLang="en-US"/>
              <a:t>优势函数定义为我采取的行为获得的奖励之间的差异，直觉是他在衡量行为</a:t>
            </a:r>
            <a:r>
              <a:rPr lang="en-US" altLang="zh-CN"/>
              <a:t>A</a:t>
            </a:r>
            <a:r>
              <a:rPr lang="zh-CN" altLang="en-US"/>
              <a:t>比我从</a:t>
            </a:r>
            <a:r>
              <a:rPr lang="en-US" altLang="zh-CN"/>
              <a:t>S</a:t>
            </a:r>
            <a:r>
              <a:rPr lang="zh-CN" altLang="en-US"/>
              <a:t>获得的期望值好</a:t>
            </a:r>
            <a:r>
              <a:rPr lang="zh-CN" altLang="en-US"/>
              <a:t>多少。</a:t>
            </a:r>
            <a:endParaRPr lang="zh-CN" altLang="en-US"/>
          </a:p>
          <a:p>
            <a:endParaRPr lang="zh-CN" altLang="en-US"/>
          </a:p>
          <a:p>
            <a:r>
              <a:rPr lang="zh-CN" altLang="en-US"/>
              <a:t>一般来说，我们无法精确计算这些期望，所以我们将做其他事情，所以特别是，我将让</a:t>
            </a:r>
            <a:r>
              <a:rPr lang="en-US" altLang="zh-CN"/>
              <a:t>delta</a:t>
            </a:r>
            <a:r>
              <a:rPr lang="zh-CN" altLang="en-US"/>
              <a:t>表示我们放入估计的任何东西，所以所有的方法基本上都会取对数策略的梯度，并乘以基于奖励的东西。</a:t>
            </a:r>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所以现在，我们更深入一点，我们将实际定义一个简单模型，一个简单任务，这部分内容大量基于</a:t>
            </a:r>
            <a:r>
              <a:rPr lang="en-US" altLang="zh-CN"/>
              <a:t>GRPO</a:t>
            </a:r>
            <a:r>
              <a:rPr lang="zh-CN" altLang="en-US"/>
              <a:t>算法。</a:t>
            </a:r>
            <a:r>
              <a:rPr lang="en-US" altLang="zh-CN"/>
              <a:t>GPRO</a:t>
            </a:r>
            <a:r>
              <a:rPr lang="zh-CN" altLang="en-US"/>
              <a:t>像上次说的，他有一个有趣的谱系，他是对</a:t>
            </a:r>
            <a:r>
              <a:rPr lang="en-US" altLang="zh-CN"/>
              <a:t>PPO</a:t>
            </a:r>
            <a:r>
              <a:rPr lang="zh-CN" altLang="en-US"/>
              <a:t>算法一个简化。实际上，</a:t>
            </a:r>
            <a:r>
              <a:rPr lang="en-US" altLang="zh-CN"/>
              <a:t>GRPO</a:t>
            </a:r>
            <a:r>
              <a:rPr lang="zh-CN" altLang="en-US"/>
              <a:t>存在于</a:t>
            </a:r>
            <a:r>
              <a:rPr lang="en-US" altLang="zh-CN"/>
              <a:t>2024</a:t>
            </a:r>
            <a:r>
              <a:rPr lang="zh-CN" altLang="en-US"/>
              <a:t>年，而不是</a:t>
            </a:r>
            <a:r>
              <a:rPr lang="en-US" altLang="zh-CN"/>
              <a:t>2000</a:t>
            </a:r>
            <a:r>
              <a:rPr lang="zh-CN" altLang="en-US"/>
              <a:t>年，</a:t>
            </a:r>
            <a:r>
              <a:rPr lang="en-US" altLang="zh-CN"/>
              <a:t>PPO</a:t>
            </a:r>
            <a:r>
              <a:rPr lang="zh-CN" altLang="en-US"/>
              <a:t>是在</a:t>
            </a:r>
            <a:r>
              <a:rPr lang="en-US" altLang="zh-CN"/>
              <a:t>17</a:t>
            </a:r>
            <a:r>
              <a:rPr lang="zh-CN" altLang="en-US"/>
              <a:t>年引入的，因为语言模型设置提供了一些自然结构，促使了</a:t>
            </a:r>
            <a:r>
              <a:rPr lang="en-US" altLang="zh-CN"/>
              <a:t>GRPO</a:t>
            </a:r>
            <a:r>
              <a:rPr lang="zh-CN" altLang="en-US"/>
              <a:t>的发展。在经典的</a:t>
            </a:r>
            <a:r>
              <a:rPr lang="en-US" altLang="zh-CN"/>
              <a:t>RL</a:t>
            </a:r>
            <a:r>
              <a:rPr lang="zh-CN" altLang="en-US"/>
              <a:t>设置中（例如机器人行走），特别在语言模型设置中，你有一个提示，你可以从提示生成一堆响应，这为你提供了一个自然组结构来计算基线，最终是奖励的平均值，关键是你试图最小方差，这个组是一个自然的比较集，这就是为什么这是相对的，而如果每次展开看起来都不同，就没有自然的组结构，那么</a:t>
            </a:r>
            <a:r>
              <a:rPr lang="en-US" altLang="zh-CN"/>
              <a:t>GRPO</a:t>
            </a:r>
            <a:r>
              <a:rPr lang="zh-CN" altLang="en-US"/>
              <a:t>就没有意义。这是伪代码</a:t>
            </a:r>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让我们定义一个简单的任务，对</a:t>
            </a:r>
            <a:r>
              <a:rPr lang="en-US" altLang="zh-CN"/>
              <a:t>n</a:t>
            </a:r>
            <a:r>
              <a:rPr lang="zh-CN" altLang="en-US"/>
              <a:t>个数进行排序，提示是</a:t>
            </a:r>
            <a:r>
              <a:rPr lang="en-US" altLang="zh-CN"/>
              <a:t>n</a:t>
            </a:r>
            <a:r>
              <a:rPr lang="zh-CN" altLang="en-US"/>
              <a:t>个数，响应是</a:t>
            </a:r>
            <a:r>
              <a:rPr lang="en-US" altLang="zh-CN"/>
              <a:t>n</a:t>
            </a:r>
            <a:r>
              <a:rPr lang="zh-CN" altLang="en-US"/>
              <a:t>个希望排序的数，你必须定义一个奖励来完成环境的定义，奖励应该捕捉响应与排序真实值的接近程度。强化学习中有趣之处是你可以用不同方式定义</a:t>
            </a:r>
            <a:r>
              <a:rPr lang="zh-CN" altLang="en-US"/>
              <a:t>奖励。</a:t>
            </a:r>
            <a:endParaRPr lang="zh-CN" altLang="en-US"/>
          </a:p>
          <a:p>
            <a:r>
              <a:rPr lang="zh-CN" altLang="en-US"/>
              <a:t>例如你定义一个奖励，如果排序则为</a:t>
            </a:r>
            <a:r>
              <a:rPr lang="en-US" altLang="zh-CN"/>
              <a:t>1</a:t>
            </a:r>
            <a:r>
              <a:rPr lang="zh-CN" altLang="en-US"/>
              <a:t>，否则为</a:t>
            </a:r>
            <a:r>
              <a:rPr lang="en-US" altLang="zh-CN"/>
              <a:t>0</a:t>
            </a:r>
            <a:r>
              <a:rPr lang="zh-CN" altLang="en-US"/>
              <a:t>，这可能是你关心的，但你会记得稀疏奖励问题，如果你从一个什么都不做的策略开始，你大多会得到</a:t>
            </a:r>
            <a:r>
              <a:rPr lang="en-US" altLang="zh-CN"/>
              <a:t>0</a:t>
            </a:r>
            <a:r>
              <a:rPr lang="zh-CN" altLang="en-US"/>
              <a:t>奖励，你不会取得多大进展，让我们定义一个给予部分奖励的奖励。我们定义一个奖励，返回响应与真实值匹配的位置数量，代码基本上是这样，你的奖励是</a:t>
            </a:r>
            <a:r>
              <a:rPr lang="en-US" altLang="zh-CN"/>
              <a:t>4</a:t>
            </a:r>
            <a:r>
              <a:rPr lang="zh-CN" altLang="en-US"/>
              <a:t>，</a:t>
            </a:r>
            <a:r>
              <a:rPr lang="en-US" altLang="zh-CN"/>
              <a:t>1</a:t>
            </a:r>
            <a:r>
              <a:rPr lang="zh-CN" altLang="en-US"/>
              <a:t>，</a:t>
            </a:r>
            <a:r>
              <a:rPr lang="en-US" altLang="zh-CN"/>
              <a:t>1</a:t>
            </a:r>
            <a:r>
              <a:rPr lang="zh-CN" altLang="en-US"/>
              <a:t>，所以这是你可以使用的</a:t>
            </a:r>
            <a:r>
              <a:rPr lang="zh-CN" altLang="en-US"/>
              <a:t>奖励。</a:t>
            </a:r>
            <a:endParaRPr lang="zh-CN" altLang="en-US"/>
          </a:p>
          <a:p>
            <a:r>
              <a:rPr lang="zh-CN" altLang="en-US"/>
              <a:t>让我们定义一个给予更多部分奖励的替代奖励，我们做的是，对于提示中出现在响应中的每个词元，我会给</a:t>
            </a:r>
            <a:r>
              <a:rPr lang="en-US" altLang="zh-CN"/>
              <a:t>1</a:t>
            </a:r>
            <a:r>
              <a:rPr lang="zh-CN" altLang="en-US"/>
              <a:t>分，所以你至少输出了输入中的词元，然后我会为响应中的每个排序的相邻对得到一分，奖励就是</a:t>
            </a:r>
            <a:r>
              <a:rPr lang="en-US" altLang="zh-CN"/>
              <a:t>7</a:t>
            </a:r>
            <a:r>
              <a:rPr lang="zh-CN" altLang="en-US"/>
              <a:t>分，第二个得到</a:t>
            </a:r>
            <a:r>
              <a:rPr lang="en-US" altLang="zh-CN"/>
              <a:t>3</a:t>
            </a:r>
            <a:r>
              <a:rPr lang="zh-CN" altLang="en-US"/>
              <a:t>分，第三个得到</a:t>
            </a:r>
            <a:r>
              <a:rPr lang="en-US" altLang="zh-CN"/>
              <a:t>6</a:t>
            </a:r>
            <a:r>
              <a:rPr lang="zh-CN" altLang="en-US"/>
              <a:t>分</a:t>
            </a:r>
            <a:endParaRPr lang="zh-CN" altLang="en-US"/>
          </a:p>
          <a:p>
            <a:r>
              <a:rPr lang="zh-CN" altLang="en-US"/>
              <a:t>这就是任务，通常我们会使用第二个奖励函数。</a:t>
            </a:r>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现在让我们定义一个简单模型，我们假设提示和响应长度是固定的，并且长度相同，当我尝试在示例上迭代时；我将尝试使用单独的位置参数来捕捉位置信息，因为显然，位置在这里是关键；我要做的一件事是独立解码响应中的每个位置，我要做的一件事是独立解码响应中的每个位置，这不是一个回归模型，我只是对序列进行编码，然后分别输出所有的</a:t>
            </a:r>
            <a:r>
              <a:rPr lang="en-US" altLang="zh-CN">
                <a:sym typeface="+mn-ea"/>
              </a:rPr>
              <a:t>token</a:t>
            </a:r>
            <a:r>
              <a:rPr lang="zh-CN" altLang="en-US">
                <a:sym typeface="+mn-ea"/>
              </a:rPr>
              <a:t>。</a:t>
            </a:r>
            <a:endParaRPr lang="zh-CN" altLang="en-US">
              <a:sym typeface="+mn-ea"/>
            </a:endParaRPr>
          </a:p>
          <a:p>
            <a:r>
              <a:rPr lang="zh-CN" altLang="en-US">
                <a:sym typeface="+mn-ea"/>
              </a:rPr>
              <a:t>这是我们模型的定义，里面有嵌入矩阵，对于每个位置，我有一个用于编码的和一个用于解码的转换矩阵。当我们查看前向传播时，这会更容易解释，我们从一个提示开始，这里面会有一个批次维度，也有他的序列</a:t>
            </a:r>
            <a:r>
              <a:rPr lang="zh-CN" altLang="en-US">
                <a:sym typeface="+mn-ea"/>
              </a:rPr>
              <a:t>长度。</a:t>
            </a:r>
            <a:endParaRPr lang="zh-CN" altLang="en-US">
              <a:sym typeface="+mn-ea"/>
            </a:endParaRPr>
          </a:p>
          <a:p>
            <a:r>
              <a:rPr lang="zh-CN" altLang="en-US">
                <a:sym typeface="+mn-ea"/>
              </a:rPr>
              <a:t>所以我生成响应，我可以计算所有这些响应的奖励，这基本上就完成了对于每个提示和每个响应，我只需要调用这个奖励</a:t>
            </a:r>
            <a:r>
              <a:rPr lang="zh-CN" altLang="en-US">
                <a:sym typeface="+mn-ea"/>
              </a:rPr>
              <a:t>函数，</a:t>
            </a:r>
            <a:endParaRPr lang="zh-CN" altLang="en-US">
              <a:sym typeface="+mn-ea"/>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有一个叫做计算增量的函数，他接收奖励并将其转换为我将用于更新的增量，框架中有很多方法，例如你可以直接返回增量等于奖励；你可以将奖励中心化，你可以计算每个提示的所有响应的均值，然后减去平均奖励，得到中心化奖励；然后你可以在</a:t>
            </a:r>
            <a:r>
              <a:rPr lang="en-US" altLang="zh-CN"/>
              <a:t>GRPO</a:t>
            </a:r>
            <a:r>
              <a:rPr lang="zh-CN" altLang="en-US"/>
              <a:t>中进行归一化，你将奖励中心化，然后除以一个标准差并加上一个小的值，保证不除</a:t>
            </a:r>
            <a:r>
              <a:rPr lang="en-US" altLang="zh-CN"/>
              <a:t>0</a:t>
            </a:r>
            <a:r>
              <a:rPr lang="zh-CN" altLang="en-US"/>
              <a:t>，然后就是归一化</a:t>
            </a:r>
            <a:r>
              <a:rPr lang="zh-CN" altLang="en-US"/>
              <a:t>奖励，</a:t>
            </a:r>
            <a:endParaRPr lang="zh-CN" altLang="en-US"/>
          </a:p>
          <a:p>
            <a:r>
              <a:rPr lang="zh-CN" altLang="en-US"/>
              <a:t>到目前为止。我们所作的是生成一堆响应，我计算奖励，这些奖励差值允许我提供</a:t>
            </a:r>
            <a:r>
              <a:rPr lang="zh-CN" altLang="en-US"/>
              <a:t>更新。</a:t>
            </a:r>
            <a:endParaRPr lang="zh-CN" altLang="en-US"/>
          </a:p>
          <a:p>
            <a:r>
              <a:rPr lang="zh-CN" altLang="en-US"/>
              <a:t>现在，我们需要看另一部分，即响应的对数概率，在梯度策略中，我们有奖励差值乘以对数策略的梯度，这部分也相当直接，我将其通过模型，将未归一化的概率转换为对数概率，现在我有特定响应的对数概率，所以现在，我们想要最终计算损失，损失将是你只取奖励差值和对数概率，然后将他们平均</a:t>
            </a:r>
            <a:r>
              <a:rPr lang="zh-CN" altLang="en-US"/>
              <a:t>相乘。</a:t>
            </a:r>
            <a:endParaRPr lang="zh-CN" altLang="en-US"/>
          </a:p>
          <a:p>
            <a:endParaRPr lang="zh-CN" altLang="en-US"/>
          </a:p>
          <a:p>
            <a:r>
              <a:rPr lang="zh-CN" altLang="en-US"/>
              <a:t>想象一下，我们有一个旧模型，使用这个旧模型，我们将计算响应的对数概率，这样我们就得到了旧的对数概率，我们跳过未裁剪的部分，这就是</a:t>
            </a:r>
            <a:r>
              <a:rPr lang="en-US" altLang="zh-CN"/>
              <a:t>GRPO</a:t>
            </a:r>
            <a:r>
              <a:rPr lang="zh-CN" altLang="en-US"/>
              <a:t>的损失，裁剪后的版本。</a:t>
            </a:r>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到目前为止，我们总结一下引入实际算法所需的组件：你在给定一个特定固定模型的情况下生成响应；从奖励中，你计算奖励和</a:t>
            </a:r>
            <a:r>
              <a:rPr lang="en-US" altLang="zh-CN"/>
              <a:t>delta</a:t>
            </a:r>
            <a:r>
              <a:rPr lang="zh-CN" altLang="en-US"/>
              <a:t>值，在</a:t>
            </a:r>
            <a:r>
              <a:rPr lang="en-US" altLang="zh-CN"/>
              <a:t>GRPO</a:t>
            </a:r>
            <a:r>
              <a:rPr lang="zh-CN" altLang="en-US"/>
              <a:t>及其相关算法的情况下，这些不依赖于模型，他只是响应的函数，如果你考虑如何设计这个系统，有时奖励会很简单，有时奖励会涉及一个代理；同时你可以计算响应对应的对数概率，然后你从这里得到的对数概率和的</a:t>
            </a:r>
            <a:r>
              <a:rPr lang="en-US" altLang="zh-CN"/>
              <a:t>delta</a:t>
            </a:r>
            <a:r>
              <a:rPr lang="zh-CN" altLang="en-US"/>
              <a:t>值计算损失，将题目组合起来，要么裁剪，要么不裁剪，要么</a:t>
            </a:r>
            <a:r>
              <a:rPr lang="zh-CN" altLang="en-US"/>
              <a:t>归一化。</a:t>
            </a:r>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那么让我们尝试把这些都整合在一起，这是完整的算法，本质是代码的体现（前面那个代码图片），有一些样板代码，这边就</a:t>
            </a:r>
            <a:r>
              <a:rPr lang="zh-CN" altLang="en-US"/>
              <a:t>跳过了</a:t>
            </a:r>
            <a:endParaRPr lang="zh-CN" altLang="en-US"/>
          </a:p>
          <a:p>
            <a:endParaRPr lang="zh-CN" altLang="en-US"/>
          </a:p>
          <a:p>
            <a:r>
              <a:rPr lang="zh-CN" altLang="en-US"/>
              <a:t>实际上，我们进行了一些实验，运行我展示的同一段代码，你的</a:t>
            </a:r>
            <a:r>
              <a:rPr lang="en-US" altLang="zh-CN"/>
              <a:t>epoch</a:t>
            </a:r>
            <a:r>
              <a:rPr lang="zh-CN" altLang="en-US"/>
              <a:t>是</a:t>
            </a:r>
            <a:r>
              <a:rPr lang="en-US" altLang="zh-CN"/>
              <a:t>100</a:t>
            </a:r>
            <a:r>
              <a:rPr lang="zh-CN" altLang="en-US"/>
              <a:t>，每个</a:t>
            </a:r>
            <a:r>
              <a:rPr lang="en-US" altLang="zh-CN"/>
              <a:t>epoch</a:t>
            </a:r>
            <a:r>
              <a:rPr lang="zh-CN" altLang="en-US"/>
              <a:t>的步数为</a:t>
            </a:r>
            <a:r>
              <a:rPr lang="en-US" altLang="zh-CN"/>
              <a:t>10</a:t>
            </a:r>
            <a:r>
              <a:rPr lang="zh-CN" altLang="en-US"/>
              <a:t>，我们看到了这个学习曲线，训练损失下降趋势，奖励在上升一段时间基本</a:t>
            </a:r>
            <a:r>
              <a:rPr lang="zh-CN" altLang="en-US"/>
              <a:t>不变</a:t>
            </a:r>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在这里，我们使用中心化奖励，看到平均奖励在增加，超过了</a:t>
            </a:r>
            <a:r>
              <a:rPr lang="en-US" altLang="zh-CN"/>
              <a:t>3</a:t>
            </a:r>
            <a:r>
              <a:rPr lang="zh-CN" altLang="en-US"/>
              <a:t>而不是</a:t>
            </a:r>
            <a:r>
              <a:rPr lang="en-US" altLang="zh-CN"/>
              <a:t>2</a:t>
            </a:r>
            <a:r>
              <a:rPr lang="zh-CN" altLang="en-US"/>
              <a:t>，一个需要注意的事情是，如果你看这些损失曲线，你会看到这个很不错，但是为什么这个看起来相当糟糕，尽管奖励在上升。在这里最小化损失不是特别适合，这不像我们在最小化一个你可以随时测量的损失函数，因为响应集随时间变化，你并没有一个真正的参考点来衡量相同的损失，你可以在一些验证集上测量损失，但如果你只有奖励，那么你就只能依赖奖励。即使你有一堆例子，模型只是生成他们，这就像损失只是与模型生成的内容有关这是一个自我循环的事情，所以监控损失并不</a:t>
            </a:r>
            <a:r>
              <a:rPr lang="zh-CN" altLang="en-US"/>
              <a:t>有意义。</a:t>
            </a:r>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在这做最后一个</a:t>
            </a:r>
            <a:r>
              <a:rPr lang="zh-CN" altLang="en-US"/>
              <a:t>总结</a:t>
            </a:r>
            <a:endParaRPr lang="zh-CN" altLang="en-US"/>
          </a:p>
          <a:p>
            <a:r>
              <a:rPr lang="zh-CN" altLang="en-US"/>
              <a:t>所以强化学习，再次出现，他是让模型在某些方面超过人类能力的关键，因为标注数据只能让你模仿标注数据中呈现的行为；模型你能测量他，那么你就能优化他；策略梯度框架他在概念上是清晰的，你写下期望奖励，减去一个</a:t>
            </a:r>
            <a:r>
              <a:rPr lang="en-US" altLang="zh-CN"/>
              <a:t>baseline</a:t>
            </a:r>
            <a:r>
              <a:rPr lang="zh-CN" altLang="en-US"/>
              <a:t>，然后你只需要尝试找到那个奖励和优势的估计；构建强化学习系统和扩展实际要比预训练复杂的多，原因在于你必须进行推理，而推理本身就是一个非常复杂的问题，你还必须管理多个</a:t>
            </a:r>
            <a:r>
              <a:rPr lang="zh-CN" altLang="en-US"/>
              <a:t>模型。</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4"/>
          <p:cNvPicPr>
            <a:picLocks noChangeAspect="1"/>
          </p:cNvPicPr>
          <p:nvPr userDrawn="1"/>
        </p:nvPicPr>
        <p:blipFill>
          <a:blip r:embed="rId2"/>
          <a:stretch>
            <a:fillRect/>
          </a:stretch>
        </p:blipFill>
        <p:spPr>
          <a:xfrm rot="21600000">
            <a:off x="0" y="6413500"/>
            <a:ext cx="12192000" cy="4445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2.xml"/><Relationship Id="rId1" Type="http://schemas.openxmlformats.org/officeDocument/2006/relationships/image" Target="../media/image1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2.xml"/><Relationship Id="rId1" Type="http://schemas.openxmlformats.org/officeDocument/2006/relationships/image" Target="../media/image16.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2.xml"/><Relationship Id="rId1" Type="http://schemas.openxmlformats.org/officeDocument/2006/relationships/image" Target="../media/image17.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12.xml"/><Relationship Id="rId2" Type="http://schemas.openxmlformats.org/officeDocument/2006/relationships/image" Target="../media/image19.png"/><Relationship Id="rId1" Type="http://schemas.openxmlformats.org/officeDocument/2006/relationships/image" Target="../media/image1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2.xml"/><Relationship Id="rId1" Type="http://schemas.openxmlformats.org/officeDocument/2006/relationships/image" Target="../media/image20.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2.xml"/><Relationship Id="rId1" Type="http://schemas.openxmlformats.org/officeDocument/2006/relationships/image" Target="../media/image21.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2.xml"/><Relationship Id="rId1" Type="http://schemas.openxmlformats.org/officeDocument/2006/relationships/image" Target="../media/image22.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2.xml"/><Relationship Id="rId1" Type="http://schemas.openxmlformats.org/officeDocument/2006/relationships/image" Target="../media/image23.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12.xml"/><Relationship Id="rId2" Type="http://schemas.openxmlformats.org/officeDocument/2006/relationships/image" Target="../media/image25.png"/><Relationship Id="rId1" Type="http://schemas.openxmlformats.org/officeDocument/2006/relationships/image" Target="../media/image24.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2.xml"/><Relationship Id="rId1" Type="http://schemas.openxmlformats.org/officeDocument/2006/relationships/image" Target="../media/image26.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2.xml"/><Relationship Id="rId1" Type="http://schemas.openxmlformats.org/officeDocument/2006/relationships/image" Target="../media/image27.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2.xml"/><Relationship Id="rId1" Type="http://schemas.openxmlformats.org/officeDocument/2006/relationships/image" Target="../media/image28.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4219547" y="2751791"/>
            <a:ext cx="3733800" cy="2264833"/>
          </a:xfrm>
          <a:prstGeom prst="rect">
            <a:avLst/>
          </a:prstGeom>
          <a:noFill/>
          <a:ln w="0" cap="flat">
            <a:noFill/>
            <a:prstDash val="solid"/>
            <a:miter lim="0"/>
          </a:ln>
        </p:spPr>
        <p:txBody>
          <a:bodyPr vert="horz" wrap="square" lIns="0" tIns="0" rIns="0" bIns="0"/>
          <a:lstStyle/>
          <a:p>
            <a:pPr algn="l" rtl="0" eaLnBrk="0">
              <a:lnSpc>
                <a:spcPct val="95000"/>
              </a:lnSpc>
            </a:pPr>
            <a:endParaRPr sz="135" dirty="0">
              <a:latin typeface="Arial" panose="020B0604020202020204"/>
              <a:ea typeface="Arial" panose="020B0604020202020204"/>
              <a:cs typeface="Arial" panose="020B0604020202020204"/>
            </a:endParaRPr>
          </a:p>
          <a:p>
            <a:pPr marL="429895" algn="l" rtl="0" eaLnBrk="0">
              <a:lnSpc>
                <a:spcPct val="78000"/>
              </a:lnSpc>
            </a:pPr>
            <a:r>
              <a:rPr sz="4800" b="1" kern="0" spc="-20" dirty="0">
                <a:solidFill>
                  <a:srgbClr val="000000">
                    <a:alpha val="100000"/>
                  </a:srgbClr>
                </a:solidFill>
                <a:latin typeface="Arial" panose="020B0604020202020204"/>
                <a:ea typeface="Arial" panose="020B0604020202020204"/>
                <a:cs typeface="Arial" panose="020B0604020202020204"/>
              </a:rPr>
              <a:t>Lecture </a:t>
            </a:r>
            <a:r>
              <a:rPr lang="en-US" sz="4800" b="1" kern="0" spc="-20" dirty="0">
                <a:solidFill>
                  <a:srgbClr val="000000">
                    <a:alpha val="100000"/>
                  </a:srgbClr>
                </a:solidFill>
                <a:latin typeface="Arial" panose="020B0604020202020204"/>
                <a:ea typeface="Arial" panose="020B0604020202020204"/>
                <a:cs typeface="Arial" panose="020B0604020202020204"/>
              </a:rPr>
              <a:t>13</a:t>
            </a:r>
            <a:endParaRPr sz="4800" dirty="0">
              <a:latin typeface="Arial" panose="020B0604020202020204"/>
              <a:ea typeface="Arial" panose="020B0604020202020204"/>
              <a:cs typeface="Arial" panose="020B0604020202020204"/>
            </a:endParaRPr>
          </a:p>
          <a:p>
            <a:pPr algn="l" rtl="0" eaLnBrk="0">
              <a:lnSpc>
                <a:spcPct val="130000"/>
              </a:lnSpc>
            </a:pPr>
            <a:endParaRPr sz="1335" dirty="0">
              <a:latin typeface="Arial" panose="020B0604020202020204"/>
              <a:ea typeface="Arial" panose="020B0604020202020204"/>
              <a:cs typeface="Arial" panose="020B0604020202020204"/>
            </a:endParaRPr>
          </a:p>
          <a:p>
            <a:pPr algn="l" rtl="0" eaLnBrk="0">
              <a:lnSpc>
                <a:spcPct val="130000"/>
              </a:lnSpc>
            </a:pPr>
            <a:endParaRPr sz="1335" dirty="0">
              <a:latin typeface="Arial" panose="020B0604020202020204"/>
              <a:ea typeface="Arial" panose="020B0604020202020204"/>
              <a:cs typeface="Arial" panose="020B0604020202020204"/>
            </a:endParaRPr>
          </a:p>
          <a:p>
            <a:pPr algn="l" rtl="0" eaLnBrk="0">
              <a:lnSpc>
                <a:spcPct val="130000"/>
              </a:lnSpc>
            </a:pPr>
            <a:endParaRPr sz="1335" dirty="0">
              <a:latin typeface="Arial" panose="020B0604020202020204"/>
              <a:ea typeface="Arial" panose="020B0604020202020204"/>
              <a:cs typeface="Arial" panose="020B0604020202020204"/>
            </a:endParaRPr>
          </a:p>
          <a:p>
            <a:pPr algn="l" rtl="0" eaLnBrk="0">
              <a:lnSpc>
                <a:spcPct val="114000"/>
              </a:lnSpc>
            </a:pPr>
            <a:endParaRPr sz="535" dirty="0">
              <a:latin typeface="Arial" panose="020B0604020202020204"/>
              <a:ea typeface="Arial" panose="020B0604020202020204"/>
              <a:cs typeface="Arial" panose="020B0604020202020204"/>
            </a:endParaRPr>
          </a:p>
          <a:p>
            <a:pPr marL="1134745" algn="l" rtl="0" eaLnBrk="0">
              <a:lnSpc>
                <a:spcPct val="74000"/>
              </a:lnSpc>
              <a:spcBef>
                <a:spcPts val="5"/>
              </a:spcBef>
            </a:pPr>
            <a:r>
              <a:rPr sz="2400" kern="0" spc="-20" dirty="0">
                <a:solidFill>
                  <a:srgbClr val="595959">
                    <a:alpha val="100000"/>
                  </a:srgbClr>
                </a:solidFill>
                <a:latin typeface="Arial" panose="020B0604020202020204"/>
                <a:ea typeface="Arial" panose="020B0604020202020204"/>
                <a:cs typeface="Arial" panose="020B0604020202020204"/>
              </a:rPr>
              <a:t>CS336</a:t>
            </a:r>
            <a:endParaRPr sz="2400" dirty="0">
              <a:latin typeface="Arial" panose="020B0604020202020204"/>
              <a:ea typeface="Arial" panose="020B0604020202020204"/>
              <a:cs typeface="Arial" panose="020B0604020202020204"/>
            </a:endParaRPr>
          </a:p>
        </p:txBody>
      </p:sp>
      <p:pic>
        <p:nvPicPr>
          <p:cNvPr id="4" name="picture 4"/>
          <p:cNvPicPr>
            <a:picLocks noChangeAspect="1"/>
          </p:cNvPicPr>
          <p:nvPr/>
        </p:nvPicPr>
        <p:blipFill>
          <a:blip r:embed="rId1"/>
          <a:stretch>
            <a:fillRect/>
          </a:stretch>
        </p:blipFill>
        <p:spPr>
          <a:xfrm rot="21600000">
            <a:off x="0" y="6413500"/>
            <a:ext cx="12192000" cy="444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09245" y="247015"/>
            <a:ext cx="9814560" cy="5978525"/>
          </a:xfrm>
          <a:prstGeom prst="rect">
            <a:avLst/>
          </a:prstGeom>
          <a:noFill/>
        </p:spPr>
        <p:txBody>
          <a:bodyPr wrap="square" rtlCol="0" anchor="t">
            <a:noAutofit/>
          </a:bodyPr>
          <a:p>
            <a:endParaRPr lang="en-US" altLang="zh-CN" sz="2400"/>
          </a:p>
          <a:p>
            <a:endParaRPr lang="en-US" altLang="zh-CN" sz="2400"/>
          </a:p>
          <a:p>
            <a:r>
              <a:rPr lang="en-US" altLang="zh-CN" sz="2400"/>
              <a:t>Previous lectures: how to train a model given data</a:t>
            </a:r>
            <a:endParaRPr lang="en-US" altLang="zh-CN" sz="2400"/>
          </a:p>
          <a:p>
            <a:endParaRPr lang="en-US" altLang="zh-CN" sz="2400"/>
          </a:p>
          <a:p>
            <a:endParaRPr lang="en-US" altLang="zh-CN" sz="2400"/>
          </a:p>
          <a:p>
            <a:r>
              <a:rPr lang="en-US" altLang="zh-CN" sz="2400"/>
              <a:t>Next two lectures: what data should we train on?</a:t>
            </a:r>
            <a:endParaRPr lang="en-US" altLang="zh-CN"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37160" y="212090"/>
            <a:ext cx="11880215" cy="2368550"/>
          </a:xfrm>
          <a:prstGeom prst="rect">
            <a:avLst/>
          </a:prstGeom>
          <a:noFill/>
        </p:spPr>
        <p:txBody>
          <a:bodyPr wrap="square" rtlCol="0" anchor="t">
            <a:spAutoFit/>
          </a:bodyPr>
          <a:p>
            <a:r>
              <a:rPr lang="en-US" altLang="zh-CN" sz="2400" b="1"/>
              <a:t>introduction()</a:t>
            </a:r>
            <a:endParaRPr lang="en-US" altLang="zh-CN" sz="2400" b="1"/>
          </a:p>
          <a:p>
            <a:endParaRPr lang="zh-CN" altLang="en-US" sz="2400" b="1"/>
          </a:p>
          <a:p>
            <a:r>
              <a:rPr lang="en-US" altLang="zh-CN" sz="2000" b="1"/>
              <a:t>One justification: </a:t>
            </a:r>
            <a:r>
              <a:rPr lang="en-US" altLang="zh-CN" sz="2000"/>
              <a:t>let's see what companies disclose.</a:t>
            </a:r>
            <a:endParaRPr lang="en-US" altLang="zh-CN" sz="2000" b="1"/>
          </a:p>
          <a:p>
            <a:r>
              <a:rPr lang="en-US" altLang="zh-CN" sz="2000" b="1"/>
              <a:t>Open-weight models (e.g., Llama 3</a:t>
            </a:r>
            <a:r>
              <a:rPr lang="zh-CN" altLang="en-US" sz="2000" b="1"/>
              <a:t>）</a:t>
            </a:r>
            <a:r>
              <a:rPr lang="en-US" altLang="zh-CN" sz="2000" b="1"/>
              <a:t>have full transparency into architecture and even training procedures</a:t>
            </a:r>
            <a:endParaRPr lang="en-US" altLang="zh-CN" sz="2000" b="1"/>
          </a:p>
          <a:p>
            <a:r>
              <a:rPr lang="en-US" altLang="zh-CN" sz="2000" b="1"/>
              <a:t>...but basically no information on data.</a:t>
            </a:r>
            <a:endParaRPr lang="en-US" altLang="zh-CN" sz="2000" b="1"/>
          </a:p>
          <a:p>
            <a:endParaRPr lang="en-US" altLang="zh-CN" sz="2000" b="1"/>
          </a:p>
        </p:txBody>
      </p:sp>
      <p:pic>
        <p:nvPicPr>
          <p:cNvPr id="5" name="图片 4"/>
          <p:cNvPicPr>
            <a:picLocks noChangeAspect="1"/>
          </p:cNvPicPr>
          <p:nvPr/>
        </p:nvPicPr>
        <p:blipFill>
          <a:blip r:embed="rId1"/>
          <a:stretch>
            <a:fillRect/>
          </a:stretch>
        </p:blipFill>
        <p:spPr>
          <a:xfrm>
            <a:off x="137160" y="2273300"/>
            <a:ext cx="11918315" cy="1697990"/>
          </a:xfrm>
          <a:prstGeom prst="rect">
            <a:avLst/>
          </a:prstGeom>
        </p:spPr>
      </p:pic>
      <p:sp>
        <p:nvSpPr>
          <p:cNvPr id="6" name="文本框 5"/>
          <p:cNvSpPr txBox="1"/>
          <p:nvPr/>
        </p:nvSpPr>
        <p:spPr>
          <a:xfrm>
            <a:off x="137160" y="4108450"/>
            <a:ext cx="12055475" cy="1630045"/>
          </a:xfrm>
          <a:prstGeom prst="rect">
            <a:avLst/>
          </a:prstGeom>
          <a:noFill/>
        </p:spPr>
        <p:txBody>
          <a:bodyPr wrap="square" rtlCol="0">
            <a:spAutoFit/>
          </a:bodyPr>
          <a:p>
            <a:pPr algn="l">
              <a:buClrTx/>
              <a:buSzTx/>
              <a:buFontTx/>
            </a:pPr>
            <a:r>
              <a:rPr lang="en-US" altLang="zh-CN" sz="2000" b="1"/>
              <a:t>Reasons for secrecy: </a:t>
            </a:r>
            <a:r>
              <a:rPr lang="en-US" altLang="zh-CN" sz="2000"/>
              <a:t>(i) competitive dynamics and (ii) copyright liability</a:t>
            </a:r>
            <a:endParaRPr lang="en-US" altLang="zh-CN" sz="2000"/>
          </a:p>
          <a:p>
            <a:pPr algn="l">
              <a:buClrTx/>
              <a:buSzTx/>
              <a:buFontTx/>
            </a:pPr>
            <a:r>
              <a:rPr lang="en-US" altLang="zh-CN" sz="2000" b="1"/>
              <a:t>Before foundation models, data work meant heavy annotation of labeled data for supervised learning.</a:t>
            </a:r>
            <a:endParaRPr lang="en-US" altLang="zh-CN" sz="2000" b="1"/>
          </a:p>
          <a:p>
            <a:pPr algn="l">
              <a:buClrTx/>
              <a:buSzTx/>
              <a:buFontTx/>
            </a:pPr>
            <a:r>
              <a:rPr lang="en-US" altLang="zh-CN" sz="2000" b="1"/>
              <a:t>Now there's less annotation, but there's still a lot of curation and cleaning.</a:t>
            </a:r>
            <a:endParaRPr lang="en-US" altLang="zh-CN" sz="2000" b="1"/>
          </a:p>
          <a:p>
            <a:pPr algn="l">
              <a:buClrTx/>
              <a:buSzTx/>
              <a:buFontTx/>
            </a:pPr>
            <a:r>
              <a:rPr lang="en-US" altLang="zh-CN" sz="2000" b="1"/>
              <a:t>Data is fundamentally a long-tail problem, scales with human effort (unlike architectures, systems).</a:t>
            </a:r>
            <a:endParaRPr lang="en-US" altLang="zh-CN" sz="20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87680" y="181610"/>
            <a:ext cx="11459210" cy="3115310"/>
          </a:xfrm>
          <a:prstGeom prst="rect">
            <a:avLst/>
          </a:prstGeom>
          <a:noFill/>
        </p:spPr>
        <p:txBody>
          <a:bodyPr wrap="square" rtlCol="0" anchor="t">
            <a:noAutofit/>
          </a:bodyPr>
          <a:p>
            <a:pPr indent="0" fontAlgn="auto">
              <a:spcBef>
                <a:spcPts val="600"/>
              </a:spcBef>
              <a:spcAft>
                <a:spcPts val="600"/>
              </a:spcAft>
            </a:pPr>
            <a:r>
              <a:rPr lang="en-US" altLang="zh-CN" sz="2400" b="1"/>
              <a:t>Stages of training:</a:t>
            </a:r>
            <a:endParaRPr lang="en-US" altLang="zh-CN" sz="2400" b="1"/>
          </a:p>
          <a:p>
            <a:pPr lvl="1" indent="0" fontAlgn="auto">
              <a:spcBef>
                <a:spcPts val="600"/>
              </a:spcBef>
              <a:spcAft>
                <a:spcPts val="600"/>
              </a:spcAft>
            </a:pPr>
            <a:r>
              <a:rPr lang="en-US" altLang="zh-CN" sz="2400"/>
              <a:t>1. Pre-training: train on raw text (e.g., documents from the web)</a:t>
            </a:r>
            <a:endParaRPr lang="en-US" altLang="zh-CN" sz="2400"/>
          </a:p>
          <a:p>
            <a:pPr lvl="1" indent="0" fontAlgn="auto">
              <a:spcBef>
                <a:spcPts val="600"/>
              </a:spcBef>
              <a:spcAft>
                <a:spcPts val="600"/>
              </a:spcAft>
            </a:pPr>
            <a:r>
              <a:rPr lang="en-US" altLang="zh-CN" sz="2400"/>
              <a:t>2. Mid-training: train more on high quality data to enhance capabilities</a:t>
            </a:r>
            <a:endParaRPr lang="en-US" altLang="zh-CN" sz="2400"/>
          </a:p>
          <a:p>
            <a:pPr lvl="1" indent="0" fontAlgn="auto">
              <a:spcBef>
                <a:spcPts val="600"/>
              </a:spcBef>
              <a:spcAft>
                <a:spcPts val="600"/>
              </a:spcAft>
            </a:pPr>
            <a:r>
              <a:rPr lang="en-US" altLang="zh-CN" sz="2400"/>
              <a:t>3. Post-training: fine-tune on instruction following data (or do reinforcement learning) for instruction following")</a:t>
            </a:r>
            <a:endParaRPr lang="en-US" altLang="zh-CN" sz="2400"/>
          </a:p>
          <a:p>
            <a:pPr lvl="1" indent="0" fontAlgn="auto">
              <a:spcBef>
                <a:spcPts val="600"/>
              </a:spcBef>
              <a:spcAft>
                <a:spcPts val="600"/>
              </a:spcAft>
            </a:pPr>
            <a:r>
              <a:rPr lang="en-US" altLang="zh-CN" sz="2400"/>
              <a:t>In practice, the lines are blurry and there could be more stages.</a:t>
            </a:r>
            <a:endParaRPr lang="en-US" altLang="zh-CN" sz="2400"/>
          </a:p>
          <a:p>
            <a:pPr lvl="1" indent="0" fontAlgn="auto">
              <a:spcBef>
                <a:spcPts val="600"/>
              </a:spcBef>
              <a:spcAft>
                <a:spcPts val="600"/>
              </a:spcAft>
            </a:pPr>
            <a:r>
              <a:rPr lang="en-US" altLang="zh-CN" sz="2400"/>
              <a:t>...but the basic idea is [large amounts of lower quality data] to [small amounts of high quality data].</a:t>
            </a:r>
            <a:endParaRPr lang="en-US" altLang="zh-CN" sz="2400"/>
          </a:p>
          <a:p>
            <a:pPr lvl="1"/>
            <a:endParaRPr lang="en-US" altLang="zh-CN" sz="2400"/>
          </a:p>
        </p:txBody>
      </p:sp>
      <p:sp>
        <p:nvSpPr>
          <p:cNvPr id="3" name="文本框 2"/>
          <p:cNvSpPr txBox="1"/>
          <p:nvPr/>
        </p:nvSpPr>
        <p:spPr>
          <a:xfrm>
            <a:off x="487680" y="4093845"/>
            <a:ext cx="10178415" cy="1198880"/>
          </a:xfrm>
          <a:prstGeom prst="rect">
            <a:avLst/>
          </a:prstGeom>
          <a:noFill/>
        </p:spPr>
        <p:txBody>
          <a:bodyPr wrap="square" rtlCol="0">
            <a:spAutoFit/>
          </a:bodyPr>
          <a:p>
            <a:r>
              <a:rPr lang="en-US" altLang="zh-CN" sz="2400" b="1"/>
              <a:t>Terminology</a:t>
            </a:r>
            <a:r>
              <a:rPr lang="zh-CN" altLang="en-US" sz="2400" b="1"/>
              <a:t>：</a:t>
            </a:r>
            <a:endParaRPr lang="zh-CN" altLang="en-US" sz="2400" b="1"/>
          </a:p>
          <a:p>
            <a:pPr lvl="1"/>
            <a:r>
              <a:rPr lang="en-US" altLang="zh-CN" sz="2400"/>
              <a:t>Base model: after pre-training + mid-training:</a:t>
            </a:r>
            <a:endParaRPr lang="en-US" altLang="zh-CN" sz="2400"/>
          </a:p>
          <a:p>
            <a:pPr lvl="1"/>
            <a:r>
              <a:rPr lang="en-US" altLang="zh-CN" sz="2400"/>
              <a:t>Instruct/chat model: after post-training</a:t>
            </a:r>
            <a:endParaRPr lang="en-US" altLang="zh-CN"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31445" y="149860"/>
            <a:ext cx="6096000" cy="706755"/>
          </a:xfrm>
          <a:prstGeom prst="rect">
            <a:avLst/>
          </a:prstGeom>
          <a:noFill/>
        </p:spPr>
        <p:txBody>
          <a:bodyPr wrap="square" rtlCol="0" anchor="t">
            <a:spAutoFit/>
          </a:bodyPr>
          <a:p>
            <a:r>
              <a:rPr lang="en-US" altLang="zh-CN" sz="2000" b="1"/>
              <a:t>Example (OLMo from AI2)</a:t>
            </a:r>
            <a:endParaRPr lang="en-US" altLang="zh-CN" sz="2000" b="1"/>
          </a:p>
          <a:p>
            <a:r>
              <a:rPr lang="en-US" altLang="zh-CN" sz="2000" b="1"/>
              <a:t>1. Pretraining</a:t>
            </a:r>
            <a:endParaRPr lang="en-US" altLang="zh-CN" sz="2000" b="1"/>
          </a:p>
        </p:txBody>
      </p:sp>
      <p:pic>
        <p:nvPicPr>
          <p:cNvPr id="3" name="图片 2"/>
          <p:cNvPicPr/>
          <p:nvPr/>
        </p:nvPicPr>
        <p:blipFill>
          <a:blip r:embed="rId1"/>
          <a:stretch>
            <a:fillRect/>
          </a:stretch>
        </p:blipFill>
        <p:spPr>
          <a:xfrm>
            <a:off x="299720" y="795020"/>
            <a:ext cx="11591925" cy="54527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131445"/>
            <a:ext cx="6096000" cy="398780"/>
          </a:xfrm>
          <a:prstGeom prst="rect">
            <a:avLst/>
          </a:prstGeom>
          <a:noFill/>
        </p:spPr>
        <p:txBody>
          <a:bodyPr wrap="square" rtlCol="0" anchor="t">
            <a:spAutoFit/>
          </a:bodyPr>
          <a:p>
            <a:r>
              <a:rPr lang="en-US" altLang="zh-CN" sz="2000" b="1"/>
              <a:t>2. Mid-training</a:t>
            </a:r>
            <a:endParaRPr lang="zh-CN" altLang="en-US" sz="2000" b="1"/>
          </a:p>
        </p:txBody>
      </p:sp>
      <p:pic>
        <p:nvPicPr>
          <p:cNvPr id="6" name="图片 5"/>
          <p:cNvPicPr>
            <a:picLocks noChangeAspect="1"/>
          </p:cNvPicPr>
          <p:nvPr/>
        </p:nvPicPr>
        <p:blipFill>
          <a:blip r:embed="rId1"/>
          <a:stretch>
            <a:fillRect/>
          </a:stretch>
        </p:blipFill>
        <p:spPr>
          <a:xfrm>
            <a:off x="456565" y="530225"/>
            <a:ext cx="10753725" cy="53625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748030" y="626745"/>
            <a:ext cx="10696575" cy="52292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87960" y="131445"/>
            <a:ext cx="6096000" cy="398780"/>
          </a:xfrm>
          <a:prstGeom prst="rect">
            <a:avLst/>
          </a:prstGeom>
          <a:noFill/>
        </p:spPr>
        <p:txBody>
          <a:bodyPr wrap="square" rtlCol="0" anchor="t">
            <a:spAutoFit/>
          </a:bodyPr>
          <a:p>
            <a:r>
              <a:rPr lang="en-US" altLang="zh-CN" sz="2000" b="1"/>
              <a:t>3. Post-training </a:t>
            </a:r>
            <a:endParaRPr lang="zh-CN" altLang="en-US" sz="2000" b="1"/>
          </a:p>
        </p:txBody>
      </p:sp>
      <p:pic>
        <p:nvPicPr>
          <p:cNvPr id="4" name="图片 3"/>
          <p:cNvPicPr>
            <a:picLocks noChangeAspect="1"/>
          </p:cNvPicPr>
          <p:nvPr/>
        </p:nvPicPr>
        <p:blipFill>
          <a:blip r:embed="rId1"/>
          <a:stretch>
            <a:fillRect/>
          </a:stretch>
        </p:blipFill>
        <p:spPr>
          <a:xfrm>
            <a:off x="1068070" y="530225"/>
            <a:ext cx="10299065" cy="55860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731520" y="434975"/>
            <a:ext cx="10729595" cy="2372995"/>
          </a:xfrm>
          <a:prstGeom prst="rect">
            <a:avLst/>
          </a:prstGeom>
        </p:spPr>
      </p:pic>
      <p:sp>
        <p:nvSpPr>
          <p:cNvPr id="3" name="文本框 2"/>
          <p:cNvSpPr txBox="1"/>
          <p:nvPr/>
        </p:nvSpPr>
        <p:spPr>
          <a:xfrm>
            <a:off x="732155" y="3106420"/>
            <a:ext cx="8411845" cy="398780"/>
          </a:xfrm>
          <a:prstGeom prst="rect">
            <a:avLst/>
          </a:prstGeom>
          <a:noFill/>
        </p:spPr>
        <p:txBody>
          <a:bodyPr wrap="square" rtlCol="0" anchor="t">
            <a:spAutoFit/>
          </a:bodyPr>
          <a:p>
            <a:r>
              <a:rPr lang="en-US" altLang="zh-CN" sz="2000" b="1"/>
              <a:t>What are these datasets?  How are they chosen and processed?</a:t>
            </a:r>
            <a:endParaRPr lang="zh-CN" altLang="en-US" sz="2000"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59385" y="168275"/>
            <a:ext cx="10034270" cy="768350"/>
          </a:xfrm>
          <a:prstGeom prst="rect">
            <a:avLst/>
          </a:prstGeom>
          <a:noFill/>
        </p:spPr>
        <p:txBody>
          <a:bodyPr wrap="square" rtlCol="0" anchor="t">
            <a:spAutoFit/>
          </a:bodyPr>
          <a:p>
            <a:r>
              <a:rPr lang="en-US" altLang="zh-CN" sz="2400" b="1"/>
              <a:t>Pretraining</a:t>
            </a:r>
            <a:endParaRPr lang="en-US" altLang="zh-CN" sz="2400" b="1"/>
          </a:p>
          <a:p>
            <a:r>
              <a:rPr lang="en-US" altLang="zh-CN" sz="2000" b="1"/>
              <a:t>Let's peer into the data of some popular models.</a:t>
            </a:r>
            <a:endParaRPr lang="en-US" altLang="zh-CN" sz="2000" b="1"/>
          </a:p>
        </p:txBody>
      </p:sp>
      <p:sp>
        <p:nvSpPr>
          <p:cNvPr id="3" name="文本框 2"/>
          <p:cNvSpPr txBox="1"/>
          <p:nvPr/>
        </p:nvSpPr>
        <p:spPr>
          <a:xfrm>
            <a:off x="159385" y="1102360"/>
            <a:ext cx="11659870" cy="2138045"/>
          </a:xfrm>
          <a:prstGeom prst="rect">
            <a:avLst/>
          </a:prstGeom>
          <a:noFill/>
        </p:spPr>
        <p:txBody>
          <a:bodyPr wrap="square" rtlCol="0">
            <a:spAutoFit/>
          </a:bodyPr>
          <a:p>
            <a:pPr fontAlgn="auto">
              <a:spcBef>
                <a:spcPts val="300"/>
              </a:spcBef>
              <a:spcAft>
                <a:spcPts val="300"/>
              </a:spcAft>
            </a:pPr>
            <a:r>
              <a:rPr lang="en-US" altLang="zh-CN" b="1"/>
              <a:t>bert():</a:t>
            </a:r>
            <a:endParaRPr lang="en-US" altLang="zh-CN" b="1"/>
          </a:p>
          <a:p>
            <a:pPr indent="457200" fontAlgn="auto">
              <a:spcBef>
                <a:spcPts val="300"/>
              </a:spcBef>
              <a:spcAft>
                <a:spcPts val="300"/>
              </a:spcAft>
            </a:pPr>
            <a:r>
              <a:rPr lang="en-US" altLang="zh-CN"/>
              <a:t>The BERT training data consists of:</a:t>
            </a:r>
            <a:endParaRPr lang="en-US" altLang="zh-CN"/>
          </a:p>
          <a:p>
            <a:pPr fontAlgn="auto">
              <a:spcBef>
                <a:spcPts val="300"/>
              </a:spcBef>
              <a:spcAft>
                <a:spcPts val="300"/>
              </a:spcAft>
            </a:pPr>
            <a:r>
              <a:rPr lang="en-US" altLang="zh-CN"/>
              <a:t>        books_corpus()</a:t>
            </a:r>
            <a:endParaRPr lang="en-US" altLang="zh-CN"/>
          </a:p>
          <a:p>
            <a:pPr fontAlgn="auto">
              <a:spcBef>
                <a:spcPts val="300"/>
              </a:spcBef>
              <a:spcAft>
                <a:spcPts val="300"/>
              </a:spcAft>
            </a:pPr>
            <a:r>
              <a:rPr lang="en-US" altLang="zh-CN"/>
              <a:t>        wikipedia()</a:t>
            </a:r>
            <a:endParaRPr lang="en-US" altLang="zh-CN"/>
          </a:p>
          <a:p>
            <a:pPr fontAlgn="auto">
              <a:spcBef>
                <a:spcPts val="300"/>
              </a:spcBef>
              <a:spcAft>
                <a:spcPts val="300"/>
              </a:spcAft>
            </a:pPr>
            <a:r>
              <a:rPr lang="en-US" altLang="zh-CN"/>
              <a:t>Important: sequences are documents rather than sentences</a:t>
            </a:r>
            <a:endParaRPr lang="en-US" altLang="zh-CN"/>
          </a:p>
          <a:p>
            <a:pPr fontAlgn="auto">
              <a:spcBef>
                <a:spcPts val="300"/>
              </a:spcBef>
              <a:spcAft>
                <a:spcPts val="300"/>
              </a:spcAft>
            </a:pPr>
            <a:r>
              <a:rPr lang="en-US" altLang="zh-CN"/>
              <a:t>Contrast: 1 billion word benchmark [Chelba+ 2013] (sentences from machine translation)</a:t>
            </a:r>
            <a:endParaRPr lang="en-US" altLang="zh-CN"/>
          </a:p>
        </p:txBody>
      </p:sp>
      <p:sp>
        <p:nvSpPr>
          <p:cNvPr id="4" name="文本框 3"/>
          <p:cNvSpPr txBox="1"/>
          <p:nvPr/>
        </p:nvSpPr>
        <p:spPr>
          <a:xfrm>
            <a:off x="159385" y="3240405"/>
            <a:ext cx="11403330" cy="2846070"/>
          </a:xfrm>
          <a:prstGeom prst="rect">
            <a:avLst/>
          </a:prstGeom>
          <a:noFill/>
        </p:spPr>
        <p:txBody>
          <a:bodyPr wrap="square" rtlCol="0" anchor="t">
            <a:spAutoFit/>
          </a:bodyPr>
          <a:p>
            <a:pPr indent="0" fontAlgn="auto">
              <a:spcBef>
                <a:spcPts val="300"/>
              </a:spcBef>
              <a:spcAft>
                <a:spcPts val="300"/>
              </a:spcAft>
            </a:pPr>
            <a:r>
              <a:rPr lang="en-US" altLang="zh-CN" b="1"/>
              <a:t>gpt2_webtext()</a:t>
            </a:r>
            <a:endParaRPr lang="en-US" altLang="zh-CN" b="1"/>
          </a:p>
          <a:p>
            <a:pPr lvl="1" indent="0" fontAlgn="auto">
              <a:spcBef>
                <a:spcPts val="300"/>
              </a:spcBef>
              <a:spcAft>
                <a:spcPts val="300"/>
              </a:spcAft>
            </a:pPr>
            <a:r>
              <a:rPr lang="en-US" altLang="zh-CN" b="1"/>
              <a:t>WebText: dataset used to train GPT-2 </a:t>
            </a:r>
            <a:endParaRPr lang="en-US" altLang="zh-CN" b="1"/>
          </a:p>
          <a:p>
            <a:pPr lvl="2" indent="0" fontAlgn="auto">
              <a:spcBef>
                <a:spcPts val="300"/>
              </a:spcBef>
              <a:spcAft>
                <a:spcPts val="300"/>
              </a:spcAft>
            </a:pPr>
            <a:r>
              <a:rPr lang="en-US" altLang="zh-CN"/>
              <a:t>Contains pages that are outgoing links from Reddit posts with &gt;= 3 karma (surrogate for quality)</a:t>
            </a:r>
            <a:endParaRPr lang="en-US" altLang="zh-CN"/>
          </a:p>
          <a:p>
            <a:pPr lvl="2" indent="0" fontAlgn="auto">
              <a:spcBef>
                <a:spcPts val="300"/>
              </a:spcBef>
              <a:spcAft>
                <a:spcPts val="300"/>
              </a:spcAft>
            </a:pPr>
            <a:r>
              <a:rPr lang="en-US" altLang="zh-CN"/>
              <a:t>8 million pages, 40GB text</a:t>
            </a:r>
            <a:endParaRPr lang="en-US" altLang="zh-CN"/>
          </a:p>
          <a:p>
            <a:pPr lvl="1" indent="0" fontAlgn="auto">
              <a:spcBef>
                <a:spcPts val="300"/>
              </a:spcBef>
              <a:spcAft>
                <a:spcPts val="300"/>
              </a:spcAft>
            </a:pPr>
            <a:r>
              <a:rPr lang="en-US" altLang="zh-CN" b="1"/>
              <a:t>OpenWebTextCorpus: open replication of WebText</a:t>
            </a:r>
            <a:endParaRPr lang="en-US" altLang="zh-CN" b="1"/>
          </a:p>
          <a:p>
            <a:pPr lvl="2" indent="0" fontAlgn="auto">
              <a:spcBef>
                <a:spcPts val="300"/>
              </a:spcBef>
              <a:spcAft>
                <a:spcPts val="300"/>
              </a:spcAft>
            </a:pPr>
            <a:r>
              <a:rPr lang="en-US" altLang="zh-CN"/>
              <a:t>Extracted all the URLs from the Reddit submissions dataset</a:t>
            </a:r>
            <a:endParaRPr lang="en-US" altLang="zh-CN"/>
          </a:p>
          <a:p>
            <a:pPr lvl="2" indent="0" fontAlgn="auto">
              <a:spcBef>
                <a:spcPts val="300"/>
              </a:spcBef>
              <a:spcAft>
                <a:spcPts val="300"/>
              </a:spcAft>
            </a:pPr>
            <a:r>
              <a:rPr lang="en-US" altLang="zh-CN"/>
              <a:t>Used Facebook's fastText to filter out non-English</a:t>
            </a:r>
            <a:endParaRPr lang="en-US" altLang="zh-CN"/>
          </a:p>
          <a:p>
            <a:pPr lvl="2" indent="0" fontAlgn="auto">
              <a:spcBef>
                <a:spcPts val="300"/>
              </a:spcBef>
              <a:spcAft>
                <a:spcPts val="300"/>
              </a:spcAft>
            </a:pPr>
            <a:r>
              <a:rPr lang="en-US" altLang="zh-CN"/>
              <a:t>Removed near duplicates</a:t>
            </a:r>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59385" y="187325"/>
            <a:ext cx="6096000" cy="398780"/>
          </a:xfrm>
          <a:prstGeom prst="rect">
            <a:avLst/>
          </a:prstGeom>
          <a:noFill/>
        </p:spPr>
        <p:txBody>
          <a:bodyPr wrap="square" rtlCol="0" anchor="t">
            <a:spAutoFit/>
          </a:bodyPr>
          <a:p>
            <a:r>
              <a:rPr lang="en-US" altLang="zh-CN" sz="2000" b="1"/>
              <a:t>common_crawl()</a:t>
            </a:r>
            <a:endParaRPr lang="zh-CN" altLang="en-US" sz="2000" b="1"/>
          </a:p>
        </p:txBody>
      </p:sp>
      <p:sp>
        <p:nvSpPr>
          <p:cNvPr id="3" name="文本框 2"/>
          <p:cNvSpPr txBox="1"/>
          <p:nvPr/>
        </p:nvSpPr>
        <p:spPr>
          <a:xfrm>
            <a:off x="224790" y="736600"/>
            <a:ext cx="10741660" cy="3861435"/>
          </a:xfrm>
          <a:prstGeom prst="rect">
            <a:avLst/>
          </a:prstGeom>
          <a:noFill/>
        </p:spPr>
        <p:txBody>
          <a:bodyPr wrap="square" rtlCol="0">
            <a:spAutoFit/>
          </a:bodyPr>
          <a:p>
            <a:pPr indent="0" fontAlgn="auto">
              <a:spcBef>
                <a:spcPts val="600"/>
              </a:spcBef>
              <a:spcAft>
                <a:spcPts val="600"/>
              </a:spcAft>
            </a:pPr>
            <a:r>
              <a:rPr lang="en-US" altLang="zh-CN" b="1"/>
              <a:t>Common Crawl is a non-profit organization founded in 2007.</a:t>
            </a:r>
            <a:endParaRPr lang="en-US" altLang="zh-CN" b="1"/>
          </a:p>
          <a:p>
            <a:pPr indent="0" fontAlgn="auto">
              <a:spcBef>
                <a:spcPts val="600"/>
              </a:spcBef>
              <a:spcAft>
                <a:spcPts val="600"/>
              </a:spcAft>
            </a:pPr>
            <a:r>
              <a:rPr lang="en-US" altLang="zh-CN" b="1"/>
              <a:t>Statistics</a:t>
            </a:r>
            <a:endParaRPr lang="en-US" altLang="zh-CN" b="1"/>
          </a:p>
          <a:p>
            <a:pPr lvl="1" indent="0" fontAlgn="auto">
              <a:spcBef>
                <a:spcPts val="600"/>
              </a:spcBef>
              <a:spcAft>
                <a:spcPts val="600"/>
              </a:spcAft>
            </a:pPr>
            <a:r>
              <a:rPr lang="en-US" altLang="zh-CN"/>
              <a:t>Every ~month, run a web crawl</a:t>
            </a:r>
            <a:endParaRPr lang="en-US" altLang="zh-CN"/>
          </a:p>
          <a:p>
            <a:pPr lvl="1" indent="0" fontAlgn="auto">
              <a:spcBef>
                <a:spcPts val="600"/>
              </a:spcBef>
              <a:spcAft>
                <a:spcPts val="600"/>
              </a:spcAft>
            </a:pPr>
            <a:r>
              <a:rPr lang="en-US" altLang="zh-CN"/>
              <a:t>So far, there have been ~100 crawls from 2008-2025</a:t>
            </a:r>
            <a:endParaRPr lang="en-US" altLang="zh-CN"/>
          </a:p>
          <a:p>
            <a:pPr lvl="1" indent="0" fontAlgn="auto">
              <a:spcBef>
                <a:spcPts val="600"/>
              </a:spcBef>
              <a:spcAft>
                <a:spcPts val="600"/>
              </a:spcAft>
            </a:pPr>
            <a:r>
              <a:rPr lang="en-US" altLang="zh-CN"/>
              <a:t>In 2016, crawl takes 10-12 days on 100 machines</a:t>
            </a:r>
            <a:endParaRPr lang="en-US" altLang="zh-CN"/>
          </a:p>
          <a:p>
            <a:pPr lvl="1" indent="0" fontAlgn="auto">
              <a:spcBef>
                <a:spcPts val="600"/>
              </a:spcBef>
              <a:spcAft>
                <a:spcPts val="600"/>
              </a:spcAft>
            </a:pPr>
            <a:r>
              <a:rPr lang="en-US" altLang="zh-CN"/>
              <a:t>Latest crawl: April 2025</a:t>
            </a:r>
            <a:endParaRPr lang="en-US" altLang="zh-CN"/>
          </a:p>
          <a:p>
            <a:pPr lvl="1" indent="0" fontAlgn="auto">
              <a:spcBef>
                <a:spcPts val="600"/>
              </a:spcBef>
              <a:spcAft>
                <a:spcPts val="600"/>
              </a:spcAft>
            </a:pPr>
            <a:r>
              <a:rPr lang="en-US" altLang="zh-CN"/>
              <a:t>Crawls have some overlap but try to diversify</a:t>
            </a:r>
            <a:endParaRPr lang="en-US" altLang="zh-CN"/>
          </a:p>
          <a:p>
            <a:endParaRPr lang="en-US" altLang="zh-CN" b="1"/>
          </a:p>
          <a:p>
            <a:r>
              <a:rPr lang="en-US" altLang="zh-CN" b="1"/>
              <a:t>Crawling</a:t>
            </a:r>
            <a:endParaRPr lang="en-US" altLang="zh-CN" b="1"/>
          </a:p>
          <a:p>
            <a:r>
              <a:rPr lang="en-US" altLang="zh-CN" b="1"/>
              <a:t>Uses Apache Nutch</a:t>
            </a:r>
            <a:endParaRPr lang="en-US" altLang="zh-CN" b="1"/>
          </a:p>
        </p:txBody>
      </p:sp>
      <p:pic>
        <p:nvPicPr>
          <p:cNvPr id="4" name="图片 3"/>
          <p:cNvPicPr>
            <a:picLocks noChangeAspect="1"/>
          </p:cNvPicPr>
          <p:nvPr/>
        </p:nvPicPr>
        <p:blipFill>
          <a:blip r:embed="rId1"/>
          <a:stretch>
            <a:fillRect/>
          </a:stretch>
        </p:blipFill>
        <p:spPr>
          <a:xfrm>
            <a:off x="7604760" y="3429000"/>
            <a:ext cx="4147185" cy="2875280"/>
          </a:xfrm>
          <a:prstGeom prst="rect">
            <a:avLst/>
          </a:prstGeom>
        </p:spPr>
      </p:pic>
      <p:sp>
        <p:nvSpPr>
          <p:cNvPr id="6" name="文本框 5"/>
          <p:cNvSpPr txBox="1"/>
          <p:nvPr/>
        </p:nvSpPr>
        <p:spPr>
          <a:xfrm>
            <a:off x="224790" y="4598035"/>
            <a:ext cx="7240270" cy="645160"/>
          </a:xfrm>
          <a:prstGeom prst="rect">
            <a:avLst/>
          </a:prstGeom>
          <a:noFill/>
        </p:spPr>
        <p:txBody>
          <a:bodyPr wrap="square" rtlCol="0">
            <a:spAutoFit/>
          </a:bodyPr>
          <a:p>
            <a:pPr lvl="1"/>
            <a:r>
              <a:rPr lang="en-US" altLang="zh-CN"/>
              <a:t>Starts with a set of seed URLs (at least hundreds of millions)</a:t>
            </a:r>
            <a:endParaRPr lang="en-US" altLang="zh-CN"/>
          </a:p>
          <a:p>
            <a:pPr lvl="1"/>
            <a:r>
              <a:rPr lang="en-US" altLang="zh-CN"/>
              <a:t>Download pages in a queue and add hyperlinks to queue</a:t>
            </a:r>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1920" y="205740"/>
            <a:ext cx="10128885" cy="1476375"/>
          </a:xfrm>
          <a:prstGeom prst="rect">
            <a:avLst/>
          </a:prstGeom>
          <a:noFill/>
        </p:spPr>
        <p:txBody>
          <a:bodyPr wrap="square" rtlCol="0" anchor="t">
            <a:spAutoFit/>
          </a:bodyPr>
          <a:p>
            <a:r>
              <a:rPr lang="en-US" altLang="zh-CN" b="1"/>
              <a:t>Policies</a:t>
            </a:r>
            <a:endParaRPr lang="en-US" altLang="zh-CN" b="1"/>
          </a:p>
          <a:p>
            <a:pPr lvl="1"/>
            <a:r>
              <a:rPr lang="en-US" altLang="zh-CN"/>
              <a:t>Selection policy: which pages to download?</a:t>
            </a:r>
            <a:endParaRPr lang="en-US" altLang="zh-CN"/>
          </a:p>
          <a:p>
            <a:pPr lvl="1"/>
            <a:r>
              <a:rPr lang="en-US" altLang="zh-CN"/>
              <a:t> Politeness policy: respect robots.txt, don't overload server</a:t>
            </a:r>
            <a:endParaRPr lang="en-US" altLang="zh-CN"/>
          </a:p>
          <a:p>
            <a:pPr lvl="1"/>
            <a:r>
              <a:rPr lang="en-US" altLang="zh-CN"/>
              <a:t>Re-visit policy: how often to check if pages change</a:t>
            </a:r>
            <a:endParaRPr lang="en-US" altLang="zh-CN"/>
          </a:p>
          <a:p>
            <a:pPr lvl="1"/>
            <a:r>
              <a:rPr lang="en-US" altLang="zh-CN"/>
              <a:t>Challenge: URLs are dynamic, many URLs lead to basically same content</a:t>
            </a:r>
            <a:endParaRPr lang="en-US" altLang="zh-CN"/>
          </a:p>
        </p:txBody>
      </p:sp>
      <p:sp>
        <p:nvSpPr>
          <p:cNvPr id="3" name="文本框 2"/>
          <p:cNvSpPr txBox="1"/>
          <p:nvPr/>
        </p:nvSpPr>
        <p:spPr>
          <a:xfrm>
            <a:off x="121920" y="1918335"/>
            <a:ext cx="7071360" cy="922020"/>
          </a:xfrm>
          <a:prstGeom prst="rect">
            <a:avLst/>
          </a:prstGeom>
          <a:noFill/>
        </p:spPr>
        <p:txBody>
          <a:bodyPr wrap="square" rtlCol="0">
            <a:spAutoFit/>
          </a:bodyPr>
          <a:p>
            <a:r>
              <a:rPr lang="en-US" altLang="zh-CN" b="1"/>
              <a:t>Two formats</a:t>
            </a:r>
            <a:endParaRPr lang="en-US" altLang="zh-CN" b="1"/>
          </a:p>
          <a:p>
            <a:pPr lvl="1"/>
            <a:r>
              <a:rPr lang="en-US" altLang="zh-CN"/>
              <a:t>WARC: raw HTTP response (e.g., HTML)</a:t>
            </a:r>
            <a:endParaRPr lang="en-US" altLang="zh-CN"/>
          </a:p>
          <a:p>
            <a:pPr lvl="1"/>
            <a:r>
              <a:rPr lang="en-US" altLang="zh-CN"/>
              <a:t>WET: converted to text (lossy process)</a:t>
            </a:r>
            <a:endParaRPr lang="en-US" altLang="zh-CN"/>
          </a:p>
        </p:txBody>
      </p:sp>
      <p:sp>
        <p:nvSpPr>
          <p:cNvPr id="4" name="文本框 3"/>
          <p:cNvSpPr txBox="1"/>
          <p:nvPr/>
        </p:nvSpPr>
        <p:spPr>
          <a:xfrm>
            <a:off x="121920" y="3109595"/>
            <a:ext cx="10484485" cy="922020"/>
          </a:xfrm>
          <a:prstGeom prst="rect">
            <a:avLst/>
          </a:prstGeom>
          <a:noFill/>
        </p:spPr>
        <p:txBody>
          <a:bodyPr wrap="square" rtlCol="0">
            <a:spAutoFit/>
          </a:bodyPr>
          <a:p>
            <a:r>
              <a:rPr lang="en-US" altLang="zh-CN" b="1"/>
              <a:t>HTML to text</a:t>
            </a:r>
            <a:endParaRPr lang="en-US" altLang="zh-CN" b="1"/>
          </a:p>
          <a:p>
            <a:pPr lvl="1"/>
            <a:r>
              <a:rPr lang="en-US" altLang="zh-CN"/>
              <a:t>Tools to convert HTML to text: </a:t>
            </a:r>
            <a:endParaRPr lang="en-US" altLang="zh-CN"/>
          </a:p>
          <a:p>
            <a:pPr lvl="1"/>
            <a:r>
              <a:rPr lang="en-US" altLang="zh-CN"/>
              <a:t>DCLM paper shows that the conversion matters for downstream task accuracy:</a:t>
            </a:r>
            <a:endParaRPr lang="en-US" altLang="zh-CN"/>
          </a:p>
        </p:txBody>
      </p:sp>
      <p:pic>
        <p:nvPicPr>
          <p:cNvPr id="5" name="图片 4"/>
          <p:cNvPicPr>
            <a:picLocks noChangeAspect="1"/>
          </p:cNvPicPr>
          <p:nvPr/>
        </p:nvPicPr>
        <p:blipFill>
          <a:blip r:embed="rId1"/>
          <a:stretch>
            <a:fillRect/>
          </a:stretch>
        </p:blipFill>
        <p:spPr>
          <a:xfrm>
            <a:off x="2362200" y="4395470"/>
            <a:ext cx="5648325" cy="19335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1920" y="206375"/>
            <a:ext cx="6096000" cy="460375"/>
          </a:xfrm>
          <a:prstGeom prst="rect">
            <a:avLst/>
          </a:prstGeom>
          <a:noFill/>
        </p:spPr>
        <p:txBody>
          <a:bodyPr wrap="square" rtlCol="0" anchor="t">
            <a:spAutoFit/>
          </a:bodyPr>
          <a:p>
            <a:r>
              <a:rPr lang="en-US" altLang="zh-CN" sz="2400" b="1"/>
              <a:t>ccnet()</a:t>
            </a:r>
            <a:endParaRPr lang="en-US" altLang="zh-CN" sz="2400" b="1"/>
          </a:p>
        </p:txBody>
      </p:sp>
      <p:sp>
        <p:nvSpPr>
          <p:cNvPr id="3" name="文本框 2"/>
          <p:cNvSpPr txBox="1"/>
          <p:nvPr/>
        </p:nvSpPr>
        <p:spPr>
          <a:xfrm>
            <a:off x="121920" y="811530"/>
            <a:ext cx="11676380" cy="5107940"/>
          </a:xfrm>
          <a:prstGeom prst="rect">
            <a:avLst/>
          </a:prstGeom>
          <a:noFill/>
        </p:spPr>
        <p:txBody>
          <a:bodyPr wrap="square" rtlCol="0">
            <a:spAutoFit/>
          </a:bodyPr>
          <a:p>
            <a:pPr indent="0" fontAlgn="auto">
              <a:spcBef>
                <a:spcPts val="600"/>
              </a:spcBef>
              <a:spcAft>
                <a:spcPts val="600"/>
              </a:spcAft>
            </a:pPr>
            <a:r>
              <a:rPr lang="en-US" altLang="zh-CN" b="1"/>
              <a:t>CCNet</a:t>
            </a:r>
            <a:endParaRPr lang="en-US" altLang="zh-CN" b="1"/>
          </a:p>
          <a:p>
            <a:pPr lvl="1" indent="0" fontAlgn="auto">
              <a:spcBef>
                <a:spcPts val="600"/>
              </a:spcBef>
              <a:spcAft>
                <a:spcPts val="600"/>
              </a:spcAft>
            </a:pPr>
            <a:r>
              <a:rPr lang="en-US" altLang="zh-CN" b="1"/>
              <a:t>Goal</a:t>
            </a:r>
            <a:r>
              <a:rPr lang="en-US" altLang="zh-CN"/>
              <a:t>: automatic way of constructing large, high-quality datasets for pre-training</a:t>
            </a:r>
            <a:endParaRPr lang="en-US" altLang="zh-CN"/>
          </a:p>
          <a:p>
            <a:pPr lvl="1" indent="0" fontAlgn="auto">
              <a:spcBef>
                <a:spcPts val="600"/>
              </a:spcBef>
              <a:spcAft>
                <a:spcPts val="600"/>
              </a:spcAft>
            </a:pPr>
            <a:r>
              <a:rPr lang="en-US" altLang="zh-CN" b="1"/>
              <a:t>Especially interested in getting more data for low-resource languages (e.g., Urdu)</a:t>
            </a:r>
            <a:endParaRPr lang="en-US" altLang="zh-CN" b="1"/>
          </a:p>
          <a:p>
            <a:pPr indent="0" fontAlgn="auto">
              <a:spcBef>
                <a:spcPts val="600"/>
              </a:spcBef>
              <a:spcAft>
                <a:spcPts val="600"/>
              </a:spcAft>
            </a:pPr>
            <a:endParaRPr lang="en-US" altLang="zh-CN"/>
          </a:p>
          <a:p>
            <a:pPr indent="0" fontAlgn="auto">
              <a:spcBef>
                <a:spcPts val="600"/>
              </a:spcBef>
              <a:spcAft>
                <a:spcPts val="600"/>
              </a:spcAft>
            </a:pPr>
            <a:r>
              <a:rPr lang="en-US" altLang="zh-CN" b="1"/>
              <a:t>Components: </a:t>
            </a:r>
            <a:endParaRPr lang="en-US" altLang="zh-CN" b="1"/>
          </a:p>
          <a:p>
            <a:pPr lvl="1" indent="0" fontAlgn="auto">
              <a:spcBef>
                <a:spcPts val="600"/>
              </a:spcBef>
              <a:spcAft>
                <a:spcPts val="600"/>
              </a:spcAft>
            </a:pPr>
            <a:r>
              <a:rPr lang="en-US" altLang="zh-CN" b="1"/>
              <a:t>Deduplication: </a:t>
            </a:r>
            <a:r>
              <a:rPr lang="en-US" altLang="zh-CN"/>
              <a:t>remove duplicate paragraphs based on light normalization</a:t>
            </a:r>
            <a:endParaRPr lang="en-US" altLang="zh-CN"/>
          </a:p>
          <a:p>
            <a:pPr lvl="1" indent="0" fontAlgn="auto">
              <a:spcBef>
                <a:spcPts val="600"/>
              </a:spcBef>
              <a:spcAft>
                <a:spcPts val="600"/>
              </a:spcAft>
            </a:pPr>
            <a:r>
              <a:rPr lang="en-US" altLang="zh-CN" b="1"/>
              <a:t>Language identification: </a:t>
            </a:r>
            <a:r>
              <a:rPr lang="en-US" altLang="zh-CN"/>
              <a:t>run language ID fastText classifier; keep only target language (e.g., English)</a:t>
            </a:r>
            <a:endParaRPr lang="en-US" altLang="zh-CN"/>
          </a:p>
          <a:p>
            <a:pPr lvl="1" indent="0" fontAlgn="auto">
              <a:spcBef>
                <a:spcPts val="600"/>
              </a:spcBef>
              <a:spcAft>
                <a:spcPts val="600"/>
              </a:spcAft>
            </a:pPr>
            <a:r>
              <a:rPr lang="en-US" altLang="zh-CN" b="1"/>
              <a:t>Quality filtering: </a:t>
            </a:r>
            <a:r>
              <a:rPr lang="en-US" altLang="zh-CN"/>
              <a:t>keep documents that look like Wikipedia under a KenLM 5-gram model</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b="1"/>
              <a:t>Results</a:t>
            </a:r>
            <a:endParaRPr lang="en-US" altLang="zh-CN" b="1"/>
          </a:p>
          <a:p>
            <a:pPr lvl="1" indent="0" fontAlgn="auto">
              <a:spcBef>
                <a:spcPts val="600"/>
              </a:spcBef>
              <a:spcAft>
                <a:spcPts val="600"/>
              </a:spcAft>
            </a:pPr>
            <a:r>
              <a:rPr lang="en-US" altLang="zh-CN" b="1"/>
              <a:t>Trained BERT models, CCNet(CommonCrawl) outperforms Wikipedia</a:t>
            </a:r>
            <a:endParaRPr lang="en-US" altLang="zh-CN" b="1"/>
          </a:p>
          <a:p>
            <a:pPr lvl="1" indent="0" fontAlgn="auto">
              <a:spcBef>
                <a:spcPts val="600"/>
              </a:spcBef>
              <a:spcAft>
                <a:spcPts val="600"/>
              </a:spcAft>
            </a:pPr>
            <a:r>
              <a:rPr lang="en-US" altLang="zh-CN" b="1"/>
              <a:t>CCNet refers both to the open-source tool and the dataset released from paper</a:t>
            </a:r>
            <a:endParaRPr lang="en-US" altLang="zh-CN"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40970" y="168910"/>
            <a:ext cx="6096000" cy="460375"/>
          </a:xfrm>
          <a:prstGeom prst="rect">
            <a:avLst/>
          </a:prstGeom>
          <a:noFill/>
        </p:spPr>
        <p:txBody>
          <a:bodyPr wrap="square" rtlCol="0" anchor="t">
            <a:spAutoFit/>
          </a:bodyPr>
          <a:p>
            <a:r>
              <a:rPr lang="en-US" altLang="zh-CN" sz="2400" b="1"/>
              <a:t>t5_c4()</a:t>
            </a:r>
            <a:endParaRPr lang="en-US" altLang="zh-CN" sz="2400" b="1"/>
          </a:p>
        </p:txBody>
      </p:sp>
      <p:sp>
        <p:nvSpPr>
          <p:cNvPr id="3" name="文本框 2"/>
          <p:cNvSpPr txBox="1"/>
          <p:nvPr/>
        </p:nvSpPr>
        <p:spPr>
          <a:xfrm>
            <a:off x="281305" y="736600"/>
            <a:ext cx="11791315" cy="922020"/>
          </a:xfrm>
          <a:prstGeom prst="rect">
            <a:avLst/>
          </a:prstGeom>
          <a:noFill/>
        </p:spPr>
        <p:txBody>
          <a:bodyPr wrap="square" rtlCol="0">
            <a:spAutoFit/>
          </a:bodyPr>
          <a:p>
            <a:r>
              <a:rPr lang="en-US" altLang="zh-CN"/>
              <a:t>Collosal Clean Crawled corpus (C4) </a:t>
            </a:r>
            <a:endParaRPr lang="en-US" altLang="zh-CN"/>
          </a:p>
          <a:p>
            <a:r>
              <a:rPr lang="en-US" altLang="zh-CN"/>
              <a:t>Paper is more famous for Text-to-text Transfer Transformer (T5), which pushes the idea of putting all NLP tasks into one format</a:t>
            </a:r>
            <a:endParaRPr lang="en-US" altLang="zh-CN"/>
          </a:p>
        </p:txBody>
      </p:sp>
      <p:pic>
        <p:nvPicPr>
          <p:cNvPr id="4" name="图片 3"/>
          <p:cNvPicPr>
            <a:picLocks noChangeAspect="1"/>
          </p:cNvPicPr>
          <p:nvPr/>
        </p:nvPicPr>
        <p:blipFill>
          <a:blip r:embed="rId1"/>
          <a:stretch>
            <a:fillRect/>
          </a:stretch>
        </p:blipFill>
        <p:spPr>
          <a:xfrm>
            <a:off x="1717040" y="2014855"/>
            <a:ext cx="6986270" cy="2851150"/>
          </a:xfrm>
          <a:prstGeom prst="rect">
            <a:avLst/>
          </a:prstGeom>
        </p:spPr>
      </p:pic>
      <p:sp>
        <p:nvSpPr>
          <p:cNvPr id="5" name="文本框 4"/>
          <p:cNvSpPr txBox="1"/>
          <p:nvPr/>
        </p:nvSpPr>
        <p:spPr>
          <a:xfrm>
            <a:off x="449580" y="5463540"/>
            <a:ext cx="10872470" cy="922020"/>
          </a:xfrm>
          <a:prstGeom prst="rect">
            <a:avLst/>
          </a:prstGeom>
          <a:noFill/>
        </p:spPr>
        <p:txBody>
          <a:bodyPr wrap="square" rtlCol="0">
            <a:spAutoFit/>
          </a:bodyPr>
          <a:p>
            <a:r>
              <a:rPr lang="en-US" altLang="zh-CN" b="1"/>
              <a:t>Observation:</a:t>
            </a:r>
            <a:r>
              <a:rPr lang="en-US" altLang="zh-CN"/>
              <a:t> Common Crawl is mostly not useful natural language</a:t>
            </a:r>
            <a:endParaRPr lang="en-US" altLang="zh-CN"/>
          </a:p>
          <a:p>
            <a:endParaRPr lang="en-US" altLang="zh-CN"/>
          </a:p>
          <a:p>
            <a:r>
              <a:rPr lang="en-US" altLang="zh-CN" b="1"/>
              <a:t>Started with one snapshot (April 2019) of Common Crawl (1.4 trillion tokens)</a:t>
            </a:r>
            <a:endParaRPr lang="en-US" altLang="zh-CN"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03225" y="187960"/>
            <a:ext cx="10578465" cy="4015105"/>
          </a:xfrm>
          <a:prstGeom prst="rect">
            <a:avLst/>
          </a:prstGeom>
          <a:noFill/>
        </p:spPr>
        <p:txBody>
          <a:bodyPr wrap="square" rtlCol="0" anchor="t">
            <a:spAutoFit/>
          </a:bodyPr>
          <a:p>
            <a:pPr indent="0" fontAlgn="auto">
              <a:spcBef>
                <a:spcPts val="600"/>
              </a:spcBef>
              <a:spcAft>
                <a:spcPts val="600"/>
              </a:spcAft>
            </a:pPr>
            <a:r>
              <a:rPr lang="en-US" altLang="zh-CN" b="1"/>
              <a:t>Manual heuristics:</a:t>
            </a:r>
            <a:endParaRPr lang="en-US" altLang="zh-CN" b="1"/>
          </a:p>
          <a:p>
            <a:pPr lvl="1" indent="0" fontAlgn="auto">
              <a:spcBef>
                <a:spcPts val="600"/>
              </a:spcBef>
              <a:spcAft>
                <a:spcPts val="600"/>
              </a:spcAft>
            </a:pPr>
            <a:r>
              <a:rPr lang="en-US" altLang="zh-CN"/>
              <a:t>Keep lines that end in punctuation and have &gt;= 5 words</a:t>
            </a:r>
            <a:endParaRPr lang="en-US" altLang="zh-CN"/>
          </a:p>
          <a:p>
            <a:pPr lvl="1" indent="0" fontAlgn="auto">
              <a:spcBef>
                <a:spcPts val="600"/>
              </a:spcBef>
              <a:spcAft>
                <a:spcPts val="600"/>
              </a:spcAft>
            </a:pPr>
            <a:r>
              <a:rPr lang="en-US" altLang="zh-CN"/>
              <a:t>Remove page with fewer than 3 sentences</a:t>
            </a:r>
            <a:endParaRPr lang="en-US" altLang="zh-CN"/>
          </a:p>
          <a:p>
            <a:pPr lvl="1" indent="0" fontAlgn="auto">
              <a:spcBef>
                <a:spcPts val="600"/>
              </a:spcBef>
              <a:spcAft>
                <a:spcPts val="600"/>
              </a:spcAft>
            </a:pPr>
            <a:r>
              <a:rPr lang="en-US" altLang="zh-CN"/>
              <a:t>Removed page that contains any 'bad words</a:t>
            </a:r>
            <a:endParaRPr lang="en-US" altLang="zh-CN"/>
          </a:p>
          <a:p>
            <a:pPr lvl="1" indent="0" fontAlgn="auto">
              <a:spcBef>
                <a:spcPts val="600"/>
              </a:spcBef>
              <a:spcAft>
                <a:spcPts val="600"/>
              </a:spcAft>
            </a:pPr>
            <a:r>
              <a:rPr lang="en-US" altLang="zh-CN"/>
              <a:t>Removed page containing '{' (no code), 'lorem ipsum', 'terms of use', etc.</a:t>
            </a:r>
            <a:endParaRPr lang="en-US" altLang="zh-CN"/>
          </a:p>
          <a:p>
            <a:pPr lvl="1" indent="0" fontAlgn="auto">
              <a:spcBef>
                <a:spcPts val="600"/>
              </a:spcBef>
              <a:spcAft>
                <a:spcPts val="600"/>
              </a:spcAft>
            </a:pPr>
            <a:r>
              <a:rPr lang="en-US" altLang="zh-CN"/>
              <a:t>Filter out non-English text using langdetect (English with probability 0.99)</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b="1"/>
              <a:t>End result: </a:t>
            </a:r>
            <a:r>
              <a:rPr lang="en-US" altLang="zh-CN"/>
              <a:t>806 GB of text (156 billion tokens)</a:t>
            </a:r>
            <a:endParaRPr lang="en-US" altLang="zh-CN"/>
          </a:p>
          <a:p>
            <a:endParaRPr lang="en-US" altLang="zh-CN"/>
          </a:p>
          <a:p>
            <a:endParaRPr lang="en-US" altLang="zh-CN"/>
          </a:p>
        </p:txBody>
      </p:sp>
      <p:sp>
        <p:nvSpPr>
          <p:cNvPr id="3" name="文本框 2"/>
          <p:cNvSpPr txBox="1"/>
          <p:nvPr/>
        </p:nvSpPr>
        <p:spPr>
          <a:xfrm>
            <a:off x="403225" y="3634105"/>
            <a:ext cx="10437495" cy="2014855"/>
          </a:xfrm>
          <a:prstGeom prst="rect">
            <a:avLst/>
          </a:prstGeom>
          <a:noFill/>
        </p:spPr>
        <p:txBody>
          <a:bodyPr wrap="square" rtlCol="0">
            <a:spAutoFit/>
          </a:bodyPr>
          <a:p>
            <a:endParaRPr lang="en-US" altLang="zh-CN"/>
          </a:p>
          <a:p>
            <a:pPr indent="0" fontAlgn="auto">
              <a:spcBef>
                <a:spcPts val="600"/>
              </a:spcBef>
              <a:spcAft>
                <a:spcPts val="600"/>
              </a:spcAft>
            </a:pPr>
            <a:r>
              <a:rPr lang="en-US" altLang="zh-CN" b="1"/>
              <a:t>Bonus</a:t>
            </a:r>
            <a:r>
              <a:rPr lang="en-US" altLang="zh-CN"/>
              <a:t>: WebText-like dataset</a:t>
            </a:r>
            <a:endParaRPr lang="en-US" altLang="zh-CN"/>
          </a:p>
          <a:p>
            <a:pPr lvl="1" indent="0" fontAlgn="auto">
              <a:spcBef>
                <a:spcPts val="600"/>
              </a:spcBef>
              <a:spcAft>
                <a:spcPts val="600"/>
              </a:spcAft>
            </a:pPr>
            <a:r>
              <a:rPr lang="en-US" altLang="zh-CN"/>
              <a:t>Filtered to pages from OpenWebText links (links in Reddit posts with &gt;= 3 karma)</a:t>
            </a:r>
            <a:endParaRPr lang="en-US" altLang="zh-CN"/>
          </a:p>
          <a:p>
            <a:pPr lvl="1" indent="0" fontAlgn="auto">
              <a:spcBef>
                <a:spcPts val="600"/>
              </a:spcBef>
              <a:spcAft>
                <a:spcPts val="600"/>
              </a:spcAft>
            </a:pPr>
            <a:r>
              <a:rPr lang="en-US" altLang="zh-CN"/>
              <a:t>Used 12 dumps to get 17 GB text (WebText was 40 GB, suggesting CommonCrawl is incomplete)</a:t>
            </a:r>
            <a:endParaRPr lang="en-US" altLang="zh-CN"/>
          </a:p>
          <a:p>
            <a:pPr lvl="1" indent="0" fontAlgn="auto">
              <a:spcBef>
                <a:spcPts val="600"/>
              </a:spcBef>
              <a:spcAft>
                <a:spcPts val="600"/>
              </a:spcAft>
            </a:pPr>
            <a:r>
              <a:rPr lang="en-US" altLang="zh-CN"/>
              <a:t>This improved on various NLP benchmarks (GLUE, SQuAD, etc.)</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48590" y="200660"/>
            <a:ext cx="6096000" cy="460375"/>
          </a:xfrm>
          <a:prstGeom prst="rect">
            <a:avLst/>
          </a:prstGeom>
          <a:noFill/>
        </p:spPr>
        <p:txBody>
          <a:bodyPr wrap="square" rtlCol="0" anchor="t">
            <a:spAutoFit/>
          </a:bodyPr>
          <a:p>
            <a:r>
              <a:rPr lang="en-US" altLang="zh-CN" sz="2400" b="1"/>
              <a:t>Analysis of C4 </a:t>
            </a:r>
            <a:endParaRPr lang="zh-CN" altLang="en-US" sz="2400" b="1"/>
          </a:p>
        </p:txBody>
      </p:sp>
      <p:pic>
        <p:nvPicPr>
          <p:cNvPr id="3" name="图片 2"/>
          <p:cNvPicPr>
            <a:picLocks noChangeAspect="1"/>
          </p:cNvPicPr>
          <p:nvPr/>
        </p:nvPicPr>
        <p:blipFill>
          <a:blip r:embed="rId1"/>
          <a:stretch>
            <a:fillRect/>
          </a:stretch>
        </p:blipFill>
        <p:spPr>
          <a:xfrm>
            <a:off x="654050" y="805815"/>
            <a:ext cx="10563225" cy="4524375"/>
          </a:xfrm>
          <a:prstGeom prst="rect">
            <a:avLst/>
          </a:prstGeom>
        </p:spPr>
      </p:pic>
      <p:sp>
        <p:nvSpPr>
          <p:cNvPr id="4" name="文本框 3"/>
          <p:cNvSpPr txBox="1"/>
          <p:nvPr/>
        </p:nvSpPr>
        <p:spPr>
          <a:xfrm>
            <a:off x="654050" y="5671820"/>
            <a:ext cx="8709660" cy="368300"/>
          </a:xfrm>
          <a:prstGeom prst="rect">
            <a:avLst/>
          </a:prstGeom>
          <a:noFill/>
        </p:spPr>
        <p:txBody>
          <a:bodyPr wrap="square" rtlCol="0">
            <a:spAutoFit/>
          </a:bodyPr>
          <a:p>
            <a:r>
              <a:rPr lang="en-US" altLang="zh-CN"/>
              <a:t>Made the actual dataset available (not just scripts)</a:t>
            </a:r>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24155" y="168910"/>
            <a:ext cx="11318240" cy="5492750"/>
          </a:xfrm>
          <a:prstGeom prst="rect">
            <a:avLst/>
          </a:prstGeom>
          <a:noFill/>
        </p:spPr>
        <p:txBody>
          <a:bodyPr wrap="square" rtlCol="0" anchor="t">
            <a:spAutoFit/>
          </a:bodyPr>
          <a:p>
            <a:r>
              <a:rPr lang="en-US" altLang="zh-CN" sz="2400" b="1"/>
              <a:t>gpt3()</a:t>
            </a:r>
            <a:endParaRPr lang="en-US" altLang="zh-CN" sz="2400" b="1"/>
          </a:p>
          <a:p>
            <a:endParaRPr lang="en-US" altLang="zh-CN" sz="2400" b="1"/>
          </a:p>
          <a:p>
            <a:pPr fontAlgn="auto">
              <a:spcBef>
                <a:spcPts val="600"/>
              </a:spcBef>
              <a:spcAft>
                <a:spcPts val="600"/>
              </a:spcAft>
            </a:pPr>
            <a:r>
              <a:rPr lang="en-US" altLang="zh-CN" b="1"/>
              <a:t>GPT-3 dataset</a:t>
            </a:r>
            <a:endParaRPr lang="en-US" altLang="zh-CN" b="1"/>
          </a:p>
          <a:p>
            <a:pPr lvl="1" fontAlgn="auto">
              <a:spcBef>
                <a:spcPts val="600"/>
              </a:spcBef>
              <a:spcAft>
                <a:spcPts val="600"/>
              </a:spcAft>
            </a:pPr>
            <a:r>
              <a:rPr lang="en-US" altLang="zh-CN"/>
              <a:t>Common Crawl (processed)</a:t>
            </a:r>
            <a:endParaRPr lang="en-US" altLang="zh-CN"/>
          </a:p>
          <a:p>
            <a:pPr lvl="1" fontAlgn="auto">
              <a:spcBef>
                <a:spcPts val="600"/>
              </a:spcBef>
              <a:spcAft>
                <a:spcPts val="600"/>
              </a:spcAft>
            </a:pPr>
            <a:r>
              <a:rPr lang="en-US" altLang="zh-CN"/>
              <a:t>WebText2 (WebText expanded with more links)</a:t>
            </a:r>
            <a:endParaRPr lang="en-US" altLang="zh-CN"/>
          </a:p>
          <a:p>
            <a:pPr lvl="1" fontAlgn="auto">
              <a:spcBef>
                <a:spcPts val="600"/>
              </a:spcBef>
              <a:spcAft>
                <a:spcPts val="600"/>
              </a:spcAft>
            </a:pPr>
            <a:r>
              <a:rPr lang="en-US" altLang="zh-CN"/>
              <a:t>(Mysterious) Internet-based books corpora (Books1, Books2)</a:t>
            </a:r>
            <a:endParaRPr lang="en-US" altLang="zh-CN"/>
          </a:p>
          <a:p>
            <a:pPr indent="457200" fontAlgn="auto">
              <a:spcBef>
                <a:spcPts val="600"/>
              </a:spcBef>
              <a:spcAft>
                <a:spcPts val="600"/>
              </a:spcAft>
            </a:pPr>
            <a:r>
              <a:rPr lang="en-US" altLang="zh-CN"/>
              <a:t>Wikipedia</a:t>
            </a:r>
            <a:endParaRPr lang="en-US" altLang="zh-CN"/>
          </a:p>
          <a:p>
            <a:pPr indent="457200" fontAlgn="auto">
              <a:spcBef>
                <a:spcPts val="600"/>
              </a:spcBef>
              <a:spcAft>
                <a:spcPts val="600"/>
              </a:spcAft>
            </a:pPr>
            <a:endParaRPr lang="en-US" altLang="zh-CN"/>
          </a:p>
          <a:p>
            <a:pPr fontAlgn="auto">
              <a:spcBef>
                <a:spcPts val="600"/>
              </a:spcBef>
              <a:spcAft>
                <a:spcPts val="600"/>
              </a:spcAft>
            </a:pPr>
            <a:r>
              <a:rPr lang="en-US" altLang="zh-CN"/>
              <a:t>Result: 570 GB (400 billion tokens)</a:t>
            </a:r>
            <a:endParaRPr lang="en-US" altLang="zh-CN"/>
          </a:p>
          <a:p>
            <a:pPr fontAlgn="auto">
              <a:spcBef>
                <a:spcPts val="600"/>
              </a:spcBef>
              <a:spcAft>
                <a:spcPts val="600"/>
              </a:spcAft>
            </a:pPr>
            <a:endParaRPr lang="en-US" altLang="zh-CN"/>
          </a:p>
          <a:p>
            <a:pPr fontAlgn="auto">
              <a:spcBef>
                <a:spcPts val="600"/>
              </a:spcBef>
              <a:spcAft>
                <a:spcPts val="600"/>
              </a:spcAft>
            </a:pPr>
            <a:r>
              <a:rPr lang="en-US" altLang="zh-CN" b="1"/>
              <a:t>Common Crawl processing:</a:t>
            </a:r>
            <a:endParaRPr lang="en-US" altLang="zh-CN" b="1"/>
          </a:p>
          <a:p>
            <a:pPr lvl="1" fontAlgn="auto">
              <a:spcBef>
                <a:spcPts val="600"/>
              </a:spcBef>
              <a:spcAft>
                <a:spcPts val="600"/>
              </a:spcAft>
            </a:pPr>
            <a:r>
              <a:rPr lang="en-US" altLang="zh-CN"/>
              <a:t>Trained quality classifier to distinguish {WebText, Wikipedia, Books1, Books2} from rest</a:t>
            </a:r>
            <a:endParaRPr lang="en-US" altLang="zh-CN"/>
          </a:p>
          <a:p>
            <a:pPr lvl="1" fontAlgn="auto">
              <a:spcBef>
                <a:spcPts val="600"/>
              </a:spcBef>
              <a:spcAft>
                <a:spcPts val="600"/>
              </a:spcAft>
            </a:pPr>
            <a:r>
              <a:rPr lang="en-US" altLang="zh-CN"/>
              <a:t>Fuzzy deduplication of documents (including WebText and benchmarks)</a:t>
            </a:r>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0330" y="104775"/>
            <a:ext cx="6096000" cy="460375"/>
          </a:xfrm>
          <a:prstGeom prst="rect">
            <a:avLst/>
          </a:prstGeom>
          <a:noFill/>
        </p:spPr>
        <p:txBody>
          <a:bodyPr wrap="square" rtlCol="0" anchor="t">
            <a:spAutoFit/>
          </a:bodyPr>
          <a:p>
            <a:r>
              <a:rPr lang="en-US" altLang="zh-CN" sz="2400" b="1"/>
              <a:t>the_pile()</a:t>
            </a:r>
            <a:endParaRPr lang="en-US" altLang="zh-CN" sz="2400" b="1"/>
          </a:p>
        </p:txBody>
      </p:sp>
      <p:sp>
        <p:nvSpPr>
          <p:cNvPr id="3" name="文本框 2"/>
          <p:cNvSpPr txBox="1"/>
          <p:nvPr/>
        </p:nvSpPr>
        <p:spPr>
          <a:xfrm>
            <a:off x="100330" y="473075"/>
            <a:ext cx="11882120" cy="1198880"/>
          </a:xfrm>
          <a:prstGeom prst="rect">
            <a:avLst/>
          </a:prstGeom>
          <a:noFill/>
        </p:spPr>
        <p:txBody>
          <a:bodyPr wrap="square" rtlCol="0">
            <a:spAutoFit/>
          </a:bodyPr>
          <a:p>
            <a:r>
              <a:rPr lang="en-US" altLang="zh-CN" b="1"/>
              <a:t>The Pile</a:t>
            </a:r>
            <a:endParaRPr lang="en-US" altLang="zh-CN" b="1"/>
          </a:p>
          <a:p>
            <a:pPr lvl="1"/>
            <a:r>
              <a:rPr lang="en-US" altLang="zh-CN"/>
              <a:t>In reaction to GPT-3, part of effort to produce open-source language models</a:t>
            </a:r>
            <a:endParaRPr lang="en-US" altLang="zh-CN"/>
          </a:p>
          <a:p>
            <a:pPr lvl="1"/>
            <a:r>
              <a:rPr lang="en-US" altLang="zh-CN"/>
              <a:t>Grassroots effort with lots of volunteers contributing/coordinating on Discord</a:t>
            </a:r>
            <a:endParaRPr lang="en-US" altLang="zh-CN"/>
          </a:p>
          <a:p>
            <a:pPr lvl="1"/>
            <a:r>
              <a:rPr lang="en-US" altLang="zh-CN"/>
              <a:t>Curated 22 high-quality domains</a:t>
            </a:r>
            <a:endParaRPr lang="en-US" altLang="zh-CN"/>
          </a:p>
        </p:txBody>
      </p:sp>
      <p:pic>
        <p:nvPicPr>
          <p:cNvPr id="4" name="图片 3"/>
          <p:cNvPicPr>
            <a:picLocks noChangeAspect="1"/>
          </p:cNvPicPr>
          <p:nvPr/>
        </p:nvPicPr>
        <p:blipFill>
          <a:blip r:embed="rId1"/>
          <a:stretch>
            <a:fillRect/>
          </a:stretch>
        </p:blipFill>
        <p:spPr>
          <a:xfrm>
            <a:off x="1880870" y="1671955"/>
            <a:ext cx="7532370" cy="464629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27965" y="265430"/>
            <a:ext cx="11767820" cy="1476375"/>
          </a:xfrm>
          <a:prstGeom prst="rect">
            <a:avLst/>
          </a:prstGeom>
          <a:noFill/>
        </p:spPr>
        <p:txBody>
          <a:bodyPr wrap="square" rtlCol="0" anchor="t">
            <a:spAutoFit/>
          </a:bodyPr>
          <a:p>
            <a:pPr indent="457200"/>
            <a:r>
              <a:rPr lang="en-US" altLang="zh-CN"/>
              <a:t>825 GB of text (~275B tokens)</a:t>
            </a:r>
            <a:endParaRPr lang="en-US" altLang="zh-CN"/>
          </a:p>
          <a:p>
            <a:pPr lvl="1"/>
            <a:r>
              <a:rPr lang="en-US" altLang="zh-CN"/>
              <a:t>Pile-CC: Common Crawl, use WARC, jusText to convert into text (better than WET)</a:t>
            </a:r>
            <a:endParaRPr lang="en-US" altLang="zh-CN"/>
          </a:p>
          <a:p>
            <a:pPr lvl="1"/>
            <a:r>
              <a:rPr lang="en-US" altLang="zh-CN"/>
              <a:t>PubMed Central: 5 million papers, mandated to be public for NIH funded work</a:t>
            </a:r>
            <a:endParaRPr lang="en-US" altLang="zh-CN"/>
          </a:p>
          <a:p>
            <a:pPr lvl="1"/>
            <a:r>
              <a:rPr lang="en-US" altLang="zh-CN"/>
              <a:t>arXiv: preprint for research papers since 1991 (use latex)</a:t>
            </a:r>
            <a:endParaRPr lang="en-US" altLang="zh-CN"/>
          </a:p>
          <a:p>
            <a:pPr lvl="1"/>
            <a:r>
              <a:rPr lang="en-US" altLang="zh-CN"/>
              <a:t>Enron emails: 500K 150 users from Enron senior management, released during Enron investigation (2002)</a:t>
            </a:r>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35915" y="308610"/>
            <a:ext cx="9992360" cy="1291590"/>
          </a:xfrm>
          <a:prstGeom prst="rect">
            <a:avLst/>
          </a:prstGeom>
          <a:noFill/>
        </p:spPr>
        <p:txBody>
          <a:bodyPr wrap="square" rtlCol="0">
            <a:spAutoFit/>
          </a:bodyPr>
          <a:p>
            <a:r>
              <a:rPr lang="en-US" altLang="zh-CN" sz="2400" b="1"/>
              <a:t>[Project Gutenberg]</a:t>
            </a:r>
            <a:endParaRPr lang="en-US" altLang="zh-CN" sz="2400" b="1"/>
          </a:p>
          <a:p>
            <a:pPr indent="457200"/>
            <a:r>
              <a:rPr lang="en-US" altLang="zh-CN"/>
              <a:t>Started in 1971 by Michael Hart, who wanted to increase access to literature</a:t>
            </a:r>
            <a:endParaRPr lang="en-US" altLang="zh-CN"/>
          </a:p>
          <a:p>
            <a:r>
              <a:rPr lang="en-US" altLang="zh-CN"/>
              <a:t>       2025: ~75K books, mostly English</a:t>
            </a:r>
            <a:endParaRPr lang="en-US" altLang="zh-CN"/>
          </a:p>
          <a:p>
            <a:pPr indent="457200"/>
            <a:r>
              <a:rPr lang="en-US" altLang="zh-CN"/>
              <a:t>Only include books that have received copyright clearance (most in the public domain)</a:t>
            </a:r>
            <a:endParaRPr lang="en-US" altLang="zh-CN"/>
          </a:p>
        </p:txBody>
      </p:sp>
      <p:sp>
        <p:nvSpPr>
          <p:cNvPr id="4" name="文本框 3"/>
          <p:cNvSpPr txBox="1"/>
          <p:nvPr/>
        </p:nvSpPr>
        <p:spPr>
          <a:xfrm>
            <a:off x="335915" y="1697990"/>
            <a:ext cx="11530330" cy="4061460"/>
          </a:xfrm>
          <a:prstGeom prst="rect">
            <a:avLst/>
          </a:prstGeom>
          <a:noFill/>
        </p:spPr>
        <p:txBody>
          <a:bodyPr wrap="square" rtlCol="0">
            <a:spAutoFit/>
          </a:bodyPr>
          <a:p>
            <a:r>
              <a:rPr lang="en-US" altLang="zh-CN" sz="2400" b="1"/>
              <a:t>books3():</a:t>
            </a:r>
            <a:endParaRPr lang="en-US" altLang="zh-CN" sz="2400" b="1"/>
          </a:p>
          <a:p>
            <a:pPr lvl="1"/>
            <a:r>
              <a:rPr lang="en-US" altLang="zh-CN"/>
              <a:t>196K books from the shadow library Bibliotik</a:t>
            </a:r>
            <a:endParaRPr lang="en-US" altLang="zh-CN"/>
          </a:p>
          <a:p>
            <a:pPr lvl="1"/>
            <a:r>
              <a:rPr lang="en-US" altLang="zh-CN"/>
              <a:t>Contained books from authors (e.g., Stephen King, Min Jin Lee, Zadie Smith)</a:t>
            </a:r>
            <a:endParaRPr lang="en-US" altLang="zh-CN"/>
          </a:p>
          <a:p>
            <a:pPr lvl="1"/>
            <a:r>
              <a:rPr lang="en-US" altLang="zh-CN"/>
              <a:t>Has been taken down due to copyright infringement / lawsuits</a:t>
            </a:r>
            <a:endParaRPr lang="en-US" altLang="zh-CN"/>
          </a:p>
          <a:p>
            <a:endParaRPr lang="en-US" altLang="zh-CN"/>
          </a:p>
          <a:p>
            <a:r>
              <a:rPr lang="en-US" altLang="zh-CN" b="1"/>
              <a:t>Shadow libraries</a:t>
            </a:r>
            <a:endParaRPr lang="en-US" altLang="zh-CN" b="1"/>
          </a:p>
          <a:p>
            <a:pPr lvl="1"/>
            <a:r>
              <a:rPr lang="en-US" altLang="zh-CN"/>
              <a:t>Examples: Library Genesis (LibGen), Z-Library, Anna's Archive, Sci-Hub</a:t>
            </a:r>
            <a:endParaRPr lang="en-US" altLang="zh-CN"/>
          </a:p>
          <a:p>
            <a:pPr lvl="1"/>
            <a:r>
              <a:rPr lang="en-US" altLang="zh-CN"/>
              <a:t>Disregards copyright and bypasses paywalls (e.g., Elsevier)</a:t>
            </a:r>
            <a:endParaRPr lang="en-US" altLang="zh-CN"/>
          </a:p>
          <a:p>
            <a:pPr lvl="1"/>
            <a:r>
              <a:rPr lang="en-US" altLang="zh-CN"/>
              <a:t>Received takedown orders, lawsuits, blocked in various countries, but usually controls are circumvented, have servers in various countries</a:t>
            </a:r>
            <a:endParaRPr lang="en-US" altLang="zh-CN"/>
          </a:p>
          <a:p>
            <a:pPr lvl="1"/>
            <a:r>
              <a:rPr lang="en-US" altLang="zh-CN"/>
              <a:t>Some argue this makes freely available what should be free</a:t>
            </a:r>
            <a:endParaRPr lang="en-US" altLang="zh-CN"/>
          </a:p>
          <a:p>
            <a:pPr lvl="1"/>
            <a:r>
              <a:rPr lang="en-US" altLang="zh-CN"/>
              <a:t>LibGen has ~4M books (2019), Sci-Hub has ~88M papers (2022)</a:t>
            </a:r>
            <a:endParaRPr lang="en-US" altLang="zh-CN"/>
          </a:p>
          <a:p>
            <a:endParaRPr lang="en-US" altLang="zh-CN"/>
          </a:p>
          <a:p>
            <a:r>
              <a:rPr lang="en-US" altLang="zh-CN" b="1"/>
              <a:t>Meta trained models on LibGen </a:t>
            </a:r>
            <a:endParaRPr lang="en-US" altLang="zh-CN"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51790" y="207645"/>
            <a:ext cx="10793095" cy="1291590"/>
          </a:xfrm>
          <a:prstGeom prst="rect">
            <a:avLst/>
          </a:prstGeom>
          <a:noFill/>
        </p:spPr>
        <p:txBody>
          <a:bodyPr wrap="square" rtlCol="0">
            <a:spAutoFit/>
          </a:bodyPr>
          <a:p>
            <a:r>
              <a:rPr lang="en-US" altLang="zh-CN" sz="2400" b="1"/>
              <a:t>stackexchange():</a:t>
            </a:r>
            <a:endParaRPr lang="en-US" altLang="zh-CN" sz="2400" b="1"/>
          </a:p>
          <a:p>
            <a:pPr lvl="1"/>
            <a:r>
              <a:rPr lang="en-US" altLang="zh-CN"/>
              <a:t>Collection of sites of user-contributed questions and answers</a:t>
            </a:r>
            <a:endParaRPr lang="en-US" altLang="zh-CN"/>
          </a:p>
          <a:p>
            <a:pPr lvl="1"/>
            <a:r>
              <a:rPr lang="en-US" altLang="zh-CN"/>
              <a:t>Started with StackOverflow in 2008, grew to other topics (e.g., math, literature) </a:t>
            </a:r>
            <a:endParaRPr lang="en-US" altLang="zh-CN"/>
          </a:p>
          <a:p>
            <a:pPr lvl="1"/>
            <a:r>
              <a:rPr lang="en-US" altLang="zh-CN"/>
              <a:t>Use reputation points and badges to incentivize participation</a:t>
            </a:r>
            <a:endParaRPr lang="en-US" altLang="zh-CN"/>
          </a:p>
        </p:txBody>
      </p:sp>
      <p:sp>
        <p:nvSpPr>
          <p:cNvPr id="4" name="文本框 3"/>
          <p:cNvSpPr txBox="1"/>
          <p:nvPr/>
        </p:nvSpPr>
        <p:spPr>
          <a:xfrm>
            <a:off x="351790" y="1861820"/>
            <a:ext cx="10536555" cy="2676525"/>
          </a:xfrm>
          <a:prstGeom prst="rect">
            <a:avLst/>
          </a:prstGeom>
          <a:noFill/>
        </p:spPr>
        <p:txBody>
          <a:bodyPr wrap="square" rtlCol="0">
            <a:spAutoFit/>
          </a:bodyPr>
          <a:p>
            <a:r>
              <a:rPr lang="en-US" altLang="zh-CN" sz="2400" b="1"/>
              <a:t>github():</a:t>
            </a:r>
            <a:endParaRPr lang="en-US" altLang="zh-CN" sz="2400" b="1"/>
          </a:p>
          <a:p>
            <a:pPr lvl="1"/>
            <a:r>
              <a:rPr lang="en-US" altLang="zh-CN"/>
              <a:t>Code is helpful for programming tasks, but also for reasoning (folklore)</a:t>
            </a:r>
            <a:endParaRPr lang="en-US" altLang="zh-CN"/>
          </a:p>
          <a:p>
            <a:pPr lvl="1"/>
            <a:r>
              <a:rPr lang="en-US" altLang="zh-CN"/>
              <a:t>GitHub started in 2008, acquired by Microsoft in 2018</a:t>
            </a:r>
            <a:endParaRPr lang="en-US" altLang="zh-CN"/>
          </a:p>
          <a:p>
            <a:pPr lvl="1"/>
            <a:r>
              <a:rPr lang="en-US" altLang="zh-CN"/>
              <a:t>[Random repository]</a:t>
            </a:r>
            <a:endParaRPr lang="en-US" altLang="zh-CN"/>
          </a:p>
          <a:p>
            <a:pPr lvl="1"/>
            <a:r>
              <a:rPr lang="en-US" altLang="zh-CN"/>
              <a:t>2018: at least 28M public repositories </a:t>
            </a:r>
            <a:endParaRPr lang="en-US" altLang="zh-CN"/>
          </a:p>
          <a:p>
            <a:endParaRPr lang="en-US" altLang="zh-CN"/>
          </a:p>
          <a:p>
            <a:pPr lvl="1"/>
            <a:r>
              <a:rPr lang="en-US" altLang="zh-CN"/>
              <a:t>Contents of a repository: a directory, not all is code</a:t>
            </a:r>
            <a:endParaRPr lang="en-US" altLang="zh-CN"/>
          </a:p>
          <a:p>
            <a:pPr lvl="1"/>
            <a:r>
              <a:rPr lang="en-US" altLang="zh-CN"/>
              <a:t>Metadata: users, issues, commit history, pull request comments, etc.</a:t>
            </a:r>
            <a:endParaRPr lang="en-US" altLang="zh-CN"/>
          </a:p>
          <a:p>
            <a:pPr lvl="1"/>
            <a:r>
              <a:rPr lang="en-US" altLang="zh-CN"/>
              <a:t>Lots of duplicates (e.g., copied code, forks, etc.</a:t>
            </a:r>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48590" y="248920"/>
            <a:ext cx="12042775" cy="4431030"/>
          </a:xfrm>
          <a:prstGeom prst="rect">
            <a:avLst/>
          </a:prstGeom>
          <a:noFill/>
        </p:spPr>
        <p:txBody>
          <a:bodyPr wrap="square" rtlCol="0" anchor="t">
            <a:spAutoFit/>
          </a:bodyPr>
          <a:p>
            <a:pPr indent="0" fontAlgn="auto">
              <a:spcBef>
                <a:spcPts val="600"/>
              </a:spcBef>
              <a:spcAft>
                <a:spcPts val="600"/>
              </a:spcAft>
            </a:pPr>
            <a:r>
              <a:rPr lang="en-US" altLang="zh-CN" sz="2400" b="1"/>
              <a:t>[GH Archive]</a:t>
            </a:r>
            <a:endParaRPr lang="en-US" altLang="zh-CN" sz="2400" b="1"/>
          </a:p>
          <a:p>
            <a:pPr lvl="1" indent="0" fontAlgn="auto">
              <a:spcBef>
                <a:spcPts val="600"/>
              </a:spcBef>
              <a:spcAft>
                <a:spcPts val="600"/>
              </a:spcAft>
            </a:pPr>
            <a:r>
              <a:rPr lang="en-US" altLang="zh-CN"/>
              <a:t>Hourly snapshots of GitHub events (commits, forks, tickets, commenting)</a:t>
            </a:r>
            <a:endParaRPr lang="en-US" altLang="zh-CN"/>
          </a:p>
          <a:p>
            <a:pPr lvl="1" indent="0" fontAlgn="auto">
              <a:spcBef>
                <a:spcPts val="600"/>
              </a:spcBef>
              <a:spcAft>
                <a:spcPts val="600"/>
              </a:spcAft>
            </a:pPr>
            <a:r>
              <a:rPr lang="en-US" altLang="zh-CN"/>
              <a:t>Also available on Google BigQuery</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sz="2400" b="1"/>
              <a:t>The Stack</a:t>
            </a:r>
            <a:endParaRPr lang="en-US" altLang="zh-CN" sz="2400" b="1"/>
          </a:p>
          <a:p>
            <a:pPr lvl="1" indent="0" fontAlgn="auto">
              <a:spcBef>
                <a:spcPts val="600"/>
              </a:spcBef>
              <a:spcAft>
                <a:spcPts val="600"/>
              </a:spcAft>
            </a:pPr>
            <a:r>
              <a:rPr lang="en-US" altLang="zh-CN"/>
              <a:t>Took repository names from GHArchive (2015-2022)</a:t>
            </a:r>
            <a:endParaRPr lang="en-US" altLang="zh-CN"/>
          </a:p>
          <a:p>
            <a:pPr lvl="1" indent="0" fontAlgn="auto">
              <a:spcBef>
                <a:spcPts val="600"/>
              </a:spcBef>
              <a:spcAft>
                <a:spcPts val="600"/>
              </a:spcAft>
            </a:pPr>
            <a:r>
              <a:rPr lang="en-US" altLang="zh-CN"/>
              <a:t>git clone'd 137M repositories, 51B files (5B unique!)</a:t>
            </a:r>
            <a:endParaRPr lang="en-US" altLang="zh-CN"/>
          </a:p>
          <a:p>
            <a:pPr lvl="1" indent="0" fontAlgn="auto">
              <a:spcBef>
                <a:spcPts val="600"/>
              </a:spcBef>
              <a:spcAft>
                <a:spcPts val="600"/>
              </a:spcAft>
            </a:pPr>
            <a:r>
              <a:rPr lang="en-US" altLang="zh-CN"/>
              <a:t>Kept only permissively licensed (MIT, Apache) using go-license-detector</a:t>
            </a:r>
            <a:endParaRPr lang="en-US" altLang="zh-CN"/>
          </a:p>
          <a:p>
            <a:pPr lvl="1" indent="0" fontAlgn="auto">
              <a:spcBef>
                <a:spcPts val="600"/>
              </a:spcBef>
              <a:spcAft>
                <a:spcPts val="600"/>
              </a:spcAft>
            </a:pPr>
            <a:r>
              <a:rPr lang="en-US" altLang="zh-CN"/>
              <a:t>Remove near-duplicates using minhash and Jaccard similarity</a:t>
            </a:r>
            <a:endParaRPr lang="en-US" altLang="zh-CN"/>
          </a:p>
          <a:p>
            <a:pPr lvl="1" indent="0" fontAlgn="auto">
              <a:spcBef>
                <a:spcPts val="600"/>
              </a:spcBef>
              <a:spcAft>
                <a:spcPts val="600"/>
              </a:spcAft>
            </a:pPr>
            <a:r>
              <a:rPr lang="en-US" altLang="zh-CN"/>
              <a:t>Result: 3.1 TB of code</a:t>
            </a:r>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08280" y="0"/>
            <a:ext cx="11654790" cy="6477635"/>
          </a:xfrm>
          <a:prstGeom prst="rect">
            <a:avLst/>
          </a:prstGeom>
          <a:noFill/>
        </p:spPr>
        <p:txBody>
          <a:bodyPr wrap="square" rtlCol="0" anchor="t">
            <a:spAutoFit/>
          </a:bodyPr>
          <a:p>
            <a:pPr indent="0" fontAlgn="auto">
              <a:spcBef>
                <a:spcPts val="300"/>
              </a:spcBef>
              <a:spcAft>
                <a:spcPts val="300"/>
              </a:spcAft>
            </a:pPr>
            <a:r>
              <a:rPr lang="en-US" altLang="zh-CN" sz="2400" b="1"/>
              <a:t>gopher_massivetext():</a:t>
            </a:r>
            <a:endParaRPr lang="en-US" altLang="zh-CN" sz="2400" b="1"/>
          </a:p>
          <a:p>
            <a:pPr lvl="1" indent="0" fontAlgn="auto">
              <a:spcBef>
                <a:spcPts val="300"/>
              </a:spcBef>
              <a:spcAft>
                <a:spcPts val="300"/>
              </a:spcAft>
            </a:pPr>
            <a:r>
              <a:rPr lang="en-US" altLang="zh-CN"/>
              <a:t>MassiveText dataset used to train Gopher</a:t>
            </a:r>
            <a:endParaRPr lang="en-US" altLang="zh-CN"/>
          </a:p>
          <a:p>
            <a:pPr lvl="1" indent="0" fontAlgn="auto">
              <a:spcBef>
                <a:spcPts val="300"/>
              </a:spcBef>
              <a:spcAft>
                <a:spcPts val="300"/>
              </a:spcAft>
            </a:pPr>
            <a:r>
              <a:rPr lang="en-US" altLang="zh-CN"/>
              <a:t>The Gopher model is subsumed by Chinchilla (also never released), but the description of data is good</a:t>
            </a:r>
            <a:endParaRPr lang="en-US" altLang="zh-CN"/>
          </a:p>
          <a:p>
            <a:pPr indent="0" fontAlgn="auto">
              <a:spcBef>
                <a:spcPts val="300"/>
              </a:spcBef>
              <a:spcAft>
                <a:spcPts val="300"/>
              </a:spcAft>
            </a:pPr>
            <a:endParaRPr lang="en-US" altLang="zh-CN"/>
          </a:p>
          <a:p>
            <a:pPr indent="0" fontAlgn="auto">
              <a:spcBef>
                <a:spcPts val="300"/>
              </a:spcBef>
              <a:spcAft>
                <a:spcPts val="300"/>
              </a:spcAft>
            </a:pPr>
            <a:r>
              <a:rPr lang="en-US" altLang="zh-CN" b="1"/>
              <a:t>Components</a:t>
            </a:r>
            <a:endParaRPr lang="en-US" altLang="zh-CN" b="1"/>
          </a:p>
          <a:p>
            <a:pPr lvl="1" indent="0" fontAlgn="auto">
              <a:spcBef>
                <a:spcPts val="300"/>
              </a:spcBef>
              <a:spcAft>
                <a:spcPts val="300"/>
              </a:spcAft>
            </a:pPr>
            <a:r>
              <a:rPr lang="en-US" altLang="zh-CN"/>
              <a:t>MassiveWeb: more on this later</a:t>
            </a:r>
            <a:endParaRPr lang="en-US" altLang="zh-CN"/>
          </a:p>
          <a:p>
            <a:pPr lvl="1" indent="0" fontAlgn="auto">
              <a:spcBef>
                <a:spcPts val="300"/>
              </a:spcBef>
              <a:spcAft>
                <a:spcPts val="300"/>
              </a:spcAft>
            </a:pPr>
            <a:r>
              <a:rPr lang="en-US" altLang="zh-CN"/>
              <a:t>C4</a:t>
            </a:r>
            <a:endParaRPr lang="en-US" altLang="zh-CN"/>
          </a:p>
          <a:p>
            <a:pPr lvl="1" indent="0" fontAlgn="auto">
              <a:spcBef>
                <a:spcPts val="300"/>
              </a:spcBef>
              <a:spcAft>
                <a:spcPts val="300"/>
              </a:spcAft>
            </a:pPr>
            <a:r>
              <a:rPr lang="en-US" altLang="zh-CN"/>
              <a:t>Books: no details</a:t>
            </a:r>
            <a:endParaRPr lang="en-US" altLang="zh-CN"/>
          </a:p>
          <a:p>
            <a:pPr lvl="1" indent="0" fontAlgn="auto">
              <a:spcBef>
                <a:spcPts val="300"/>
              </a:spcBef>
              <a:spcAft>
                <a:spcPts val="300"/>
              </a:spcAft>
            </a:pPr>
            <a:r>
              <a:rPr lang="en-US" altLang="zh-CN"/>
              <a:t>News: no details</a:t>
            </a:r>
            <a:endParaRPr lang="en-US" altLang="zh-CN"/>
          </a:p>
          <a:p>
            <a:pPr lvl="1" indent="0" fontAlgn="auto">
              <a:spcBef>
                <a:spcPts val="300"/>
              </a:spcBef>
              <a:spcAft>
                <a:spcPts val="300"/>
              </a:spcAft>
            </a:pPr>
            <a:r>
              <a:rPr lang="en-US" altLang="zh-CN"/>
              <a:t>GitHub: no details</a:t>
            </a:r>
            <a:endParaRPr lang="en-US" altLang="zh-CN"/>
          </a:p>
          <a:p>
            <a:pPr lvl="1" indent="0" fontAlgn="auto">
              <a:spcBef>
                <a:spcPts val="300"/>
              </a:spcBef>
              <a:spcAft>
                <a:spcPts val="300"/>
              </a:spcAft>
            </a:pPr>
            <a:r>
              <a:rPr lang="en-US" altLang="zh-CN"/>
              <a:t>Wikipedia: no details</a:t>
            </a:r>
            <a:endParaRPr lang="en-US" altLang="zh-CN"/>
          </a:p>
          <a:p>
            <a:pPr indent="0" fontAlgn="auto">
              <a:spcBef>
                <a:spcPts val="300"/>
              </a:spcBef>
              <a:spcAft>
                <a:spcPts val="300"/>
              </a:spcAft>
            </a:pPr>
            <a:endParaRPr lang="en-US" altLang="zh-CN"/>
          </a:p>
          <a:p>
            <a:pPr indent="0" fontAlgn="auto">
              <a:spcBef>
                <a:spcPts val="300"/>
              </a:spcBef>
              <a:spcAft>
                <a:spcPts val="300"/>
              </a:spcAft>
            </a:pPr>
            <a:r>
              <a:rPr lang="en-US" altLang="zh-CN" b="1"/>
              <a:t>MassiveWeb filtering steps</a:t>
            </a:r>
            <a:endParaRPr lang="en-US" altLang="zh-CN" b="1"/>
          </a:p>
          <a:p>
            <a:pPr lvl="1" indent="0" fontAlgn="auto">
              <a:spcBef>
                <a:spcPts val="300"/>
              </a:spcBef>
              <a:spcAft>
                <a:spcPts val="300"/>
              </a:spcAft>
            </a:pPr>
            <a:r>
              <a:rPr lang="en-US" altLang="zh-CN"/>
              <a:t>Keep English, deduplication, train-test overlap</a:t>
            </a:r>
            <a:endParaRPr lang="en-US" altLang="zh-CN"/>
          </a:p>
          <a:p>
            <a:pPr lvl="1" indent="0" fontAlgn="auto">
              <a:spcBef>
                <a:spcPts val="300"/>
              </a:spcBef>
              <a:spcAft>
                <a:spcPts val="300"/>
              </a:spcAft>
            </a:pPr>
            <a:r>
              <a:rPr lang="en-US" altLang="zh-CN"/>
              <a:t>Quality filtering using manual rules (not classifier) - e.g., 80% words contain at least one alphabetic character</a:t>
            </a:r>
            <a:endParaRPr lang="en-US" altLang="zh-CN"/>
          </a:p>
          <a:p>
            <a:pPr lvl="1" indent="0" fontAlgn="auto">
              <a:spcBef>
                <a:spcPts val="300"/>
              </a:spcBef>
              <a:spcAft>
                <a:spcPts val="300"/>
              </a:spcAft>
            </a:pPr>
            <a:r>
              <a:rPr lang="en-US" altLang="zh-CN"/>
              <a:t>Use Google SafeSearch for toxicity (not word lists)</a:t>
            </a:r>
            <a:endParaRPr lang="en-US" altLang="zh-CN"/>
          </a:p>
          <a:p>
            <a:pPr indent="0" fontAlgn="auto">
              <a:spcBef>
                <a:spcPts val="300"/>
              </a:spcBef>
              <a:spcAft>
                <a:spcPts val="300"/>
              </a:spcAft>
            </a:pPr>
            <a:endParaRPr lang="en-US" altLang="zh-CN"/>
          </a:p>
          <a:p>
            <a:pPr indent="0" fontAlgn="auto">
              <a:spcBef>
                <a:spcPts val="300"/>
              </a:spcBef>
              <a:spcAft>
                <a:spcPts val="300"/>
              </a:spcAft>
            </a:pPr>
            <a:r>
              <a:rPr lang="en-US" altLang="zh-CN" b="1"/>
              <a:t>Result: 10.5 TB of text (though Gopher only trained on 300B tokens - 12%)</a:t>
            </a:r>
            <a:endParaRPr lang="en-US" altLang="zh-CN" b="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44475" y="120650"/>
            <a:ext cx="11479530" cy="4338320"/>
          </a:xfrm>
          <a:prstGeom prst="rect">
            <a:avLst/>
          </a:prstGeom>
          <a:noFill/>
        </p:spPr>
        <p:txBody>
          <a:bodyPr wrap="square" rtlCol="0" anchor="t">
            <a:spAutoFit/>
          </a:bodyPr>
          <a:p>
            <a:pPr indent="0" fontAlgn="auto">
              <a:spcBef>
                <a:spcPts val="600"/>
              </a:spcBef>
              <a:spcAft>
                <a:spcPts val="600"/>
              </a:spcAft>
            </a:pPr>
            <a:r>
              <a:rPr lang="en-US" altLang="zh-CN" sz="2400" b="1"/>
              <a:t>llama():</a:t>
            </a:r>
            <a:endParaRPr lang="en-US" altLang="zh-CN" sz="2400" b="1"/>
          </a:p>
          <a:p>
            <a:pPr indent="0" fontAlgn="auto">
              <a:spcBef>
                <a:spcPts val="600"/>
              </a:spcBef>
              <a:spcAft>
                <a:spcPts val="600"/>
              </a:spcAft>
            </a:pPr>
            <a:r>
              <a:rPr lang="en-US" altLang="zh-CN" b="1"/>
              <a:t>Dataset for LLaMA</a:t>
            </a:r>
            <a:endParaRPr lang="en-US" altLang="zh-CN" b="1"/>
          </a:p>
          <a:p>
            <a:pPr lvl="1" indent="0" fontAlgn="auto">
              <a:spcBef>
                <a:spcPts val="600"/>
              </a:spcBef>
              <a:spcAft>
                <a:spcPts val="600"/>
              </a:spcAft>
            </a:pPr>
            <a:r>
              <a:rPr lang="en-US" altLang="zh-CN"/>
              <a:t>CommonCrawl processed with CCNet, classify *references* of Wikipedia or not</a:t>
            </a:r>
            <a:endParaRPr lang="en-US" altLang="zh-CN"/>
          </a:p>
          <a:p>
            <a:pPr lvl="1" indent="0" fontAlgn="auto">
              <a:spcBef>
                <a:spcPts val="600"/>
              </a:spcBef>
              <a:spcAft>
                <a:spcPts val="600"/>
              </a:spcAft>
            </a:pPr>
            <a:r>
              <a:rPr lang="en-US" altLang="zh-CN"/>
              <a:t>C4 (more diverse; recall: rule-based filtering)</a:t>
            </a:r>
            <a:endParaRPr lang="en-US" altLang="zh-CN"/>
          </a:p>
          <a:p>
            <a:pPr lvl="1" indent="0" fontAlgn="auto">
              <a:spcBef>
                <a:spcPts val="600"/>
              </a:spcBef>
              <a:spcAft>
                <a:spcPts val="600"/>
              </a:spcAft>
            </a:pPr>
            <a:r>
              <a:rPr lang="en-US" altLang="zh-CN"/>
              <a:t>GitHub: kept permissive licenses, filtering based on manual rules</a:t>
            </a:r>
            <a:endParaRPr lang="en-US" altLang="zh-CN"/>
          </a:p>
          <a:p>
            <a:pPr lvl="1" indent="0" fontAlgn="auto">
              <a:spcBef>
                <a:spcPts val="600"/>
              </a:spcBef>
              <a:spcAft>
                <a:spcPts val="600"/>
              </a:spcAft>
            </a:pPr>
            <a:r>
              <a:rPr lang="en-US" altLang="zh-CN"/>
              <a:t>Wikipedia: June-August 2022, 20 languages, manual filtering</a:t>
            </a:r>
            <a:endParaRPr lang="en-US" altLang="zh-CN"/>
          </a:p>
          <a:p>
            <a:pPr lvl="1" indent="0" fontAlgn="auto">
              <a:spcBef>
                <a:spcPts val="600"/>
              </a:spcBef>
              <a:spcAft>
                <a:spcPts val="600"/>
              </a:spcAft>
            </a:pPr>
            <a:r>
              <a:rPr lang="en-US" altLang="zh-CN"/>
              <a:t>Project Gutenberg and Books3 (from The Pile)</a:t>
            </a:r>
            <a:endParaRPr lang="en-US" altLang="zh-CN"/>
          </a:p>
          <a:p>
            <a:pPr lvl="1" indent="0" fontAlgn="auto">
              <a:spcBef>
                <a:spcPts val="600"/>
              </a:spcBef>
              <a:spcAft>
                <a:spcPts val="600"/>
              </a:spcAft>
            </a:pPr>
            <a:r>
              <a:rPr lang="en-US" altLang="zh-CN"/>
              <a:t>arXiv: removed comments, inline expanded macros, bibliography</a:t>
            </a:r>
            <a:endParaRPr lang="en-US" altLang="zh-CN"/>
          </a:p>
          <a:p>
            <a:pPr lvl="1" indent="0" fontAlgn="auto">
              <a:spcBef>
                <a:spcPts val="600"/>
              </a:spcBef>
              <a:spcAft>
                <a:spcPts val="600"/>
              </a:spcAft>
            </a:pPr>
            <a:r>
              <a:rPr lang="en-US" altLang="zh-CN"/>
              <a:t>Stack Exchange: 28 largest websites, sorted answers by score</a:t>
            </a:r>
            <a:endParaRPr lang="en-US" altLang="zh-CN"/>
          </a:p>
          <a:p>
            <a:pPr indent="0" fontAlgn="auto">
              <a:spcBef>
                <a:spcPts val="600"/>
              </a:spcBef>
              <a:spcAft>
                <a:spcPts val="600"/>
              </a:spcAft>
            </a:pPr>
            <a:r>
              <a:rPr lang="en-US" altLang="zh-CN" b="1"/>
              <a:t>Result: 1.2T tokens</a:t>
            </a:r>
            <a:endParaRPr lang="en-US" altLang="zh-CN" b="1"/>
          </a:p>
        </p:txBody>
      </p:sp>
      <p:sp>
        <p:nvSpPr>
          <p:cNvPr id="4" name="文本框 3"/>
          <p:cNvSpPr txBox="1"/>
          <p:nvPr/>
        </p:nvSpPr>
        <p:spPr>
          <a:xfrm>
            <a:off x="244475" y="4622800"/>
            <a:ext cx="9158605" cy="798830"/>
          </a:xfrm>
          <a:prstGeom prst="rect">
            <a:avLst/>
          </a:prstGeom>
          <a:noFill/>
        </p:spPr>
        <p:txBody>
          <a:bodyPr wrap="square" rtlCol="0">
            <a:spAutoFit/>
          </a:bodyPr>
          <a:p>
            <a:pPr indent="0" fontAlgn="auto">
              <a:spcBef>
                <a:spcPts val="600"/>
              </a:spcBef>
              <a:spcAft>
                <a:spcPts val="600"/>
              </a:spcAft>
            </a:pPr>
            <a:r>
              <a:rPr lang="en-US" altLang="zh-CN"/>
              <a:t>Reproduced by Together's RedPajama v1</a:t>
            </a:r>
            <a:endParaRPr lang="en-US" altLang="zh-CN"/>
          </a:p>
          <a:p>
            <a:pPr indent="0" fontAlgn="auto">
              <a:spcBef>
                <a:spcPts val="600"/>
              </a:spcBef>
              <a:spcAft>
                <a:spcPts val="600"/>
              </a:spcAft>
            </a:pPr>
            <a:r>
              <a:rPr lang="en-US" altLang="zh-CN"/>
              <a:t>Cerebras's [SlimPajama]: 627B subset of RedPajama v1 by deduplication (MinHashLSH)</a:t>
            </a:r>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12090" y="217170"/>
            <a:ext cx="9957435" cy="6062345"/>
          </a:xfrm>
          <a:prstGeom prst="rect">
            <a:avLst/>
          </a:prstGeom>
          <a:noFill/>
        </p:spPr>
        <p:txBody>
          <a:bodyPr wrap="square" rtlCol="0" anchor="t">
            <a:spAutoFit/>
          </a:bodyPr>
          <a:p>
            <a:pPr fontAlgn="auto">
              <a:spcBef>
                <a:spcPts val="600"/>
              </a:spcBef>
              <a:spcAft>
                <a:spcPts val="600"/>
              </a:spcAft>
            </a:pPr>
            <a:r>
              <a:rPr lang="en-US" altLang="zh-CN" sz="2400" b="1"/>
              <a:t>refinedweb():</a:t>
            </a:r>
            <a:endParaRPr lang="en-US" altLang="zh-CN" sz="2400" b="1"/>
          </a:p>
          <a:p>
            <a:pPr indent="457200" fontAlgn="auto">
              <a:spcBef>
                <a:spcPts val="600"/>
              </a:spcBef>
              <a:spcAft>
                <a:spcPts val="600"/>
              </a:spcAft>
            </a:pPr>
            <a:r>
              <a:rPr lang="en-US" altLang="zh-CN"/>
              <a:t>Point: web data is all you need</a:t>
            </a:r>
            <a:endParaRPr lang="en-US" altLang="zh-CN"/>
          </a:p>
          <a:p>
            <a:pPr lvl="1" fontAlgn="auto">
              <a:spcBef>
                <a:spcPts val="600"/>
              </a:spcBef>
              <a:spcAft>
                <a:spcPts val="600"/>
              </a:spcAft>
            </a:pPr>
            <a:r>
              <a:rPr lang="en-US" altLang="zh-CN"/>
              <a:t>trafilatura for HTML-&gt;text, extract content (WARC instead of WET files)</a:t>
            </a:r>
            <a:endParaRPr lang="en-US" altLang="zh-CN"/>
          </a:p>
          <a:p>
            <a:pPr lvl="1" fontAlgn="auto">
              <a:spcBef>
                <a:spcPts val="600"/>
              </a:spcBef>
              <a:spcAft>
                <a:spcPts val="600"/>
              </a:spcAft>
            </a:pPr>
            <a:r>
              <a:rPr lang="en-US" altLang="zh-CN"/>
              <a:t>Filtering: Gopher rules, avoid ML-based filtering to avoid biases</a:t>
            </a:r>
            <a:endParaRPr lang="en-US" altLang="zh-CN"/>
          </a:p>
          <a:p>
            <a:pPr lvl="1" fontAlgn="auto">
              <a:spcBef>
                <a:spcPts val="600"/>
              </a:spcBef>
              <a:spcAft>
                <a:spcPts val="600"/>
              </a:spcAft>
            </a:pPr>
            <a:r>
              <a:rPr lang="en-US" altLang="zh-CN"/>
              <a:t>Fuzzy deduplication using MinHash over 5-grams</a:t>
            </a:r>
            <a:endParaRPr lang="en-US" altLang="zh-CN"/>
          </a:p>
          <a:p>
            <a:pPr fontAlgn="auto">
              <a:spcBef>
                <a:spcPts val="600"/>
              </a:spcBef>
              <a:spcAft>
                <a:spcPts val="600"/>
              </a:spcAft>
            </a:pPr>
            <a:r>
              <a:rPr lang="en-US" altLang="zh-CN" b="1"/>
              <a:t>Release 600B (out of 5T) tokens</a:t>
            </a:r>
            <a:endParaRPr lang="en-US" altLang="zh-CN"/>
          </a:p>
          <a:p>
            <a:pPr fontAlgn="auto">
              <a:spcBef>
                <a:spcPts val="600"/>
              </a:spcBef>
              <a:spcAft>
                <a:spcPts val="600"/>
              </a:spcAft>
            </a:pPr>
            <a:r>
              <a:rPr lang="en-US" altLang="zh-CN" b="1"/>
              <a:t>FineWeb</a:t>
            </a:r>
            <a:endParaRPr lang="en-US" altLang="zh-CN" b="1"/>
          </a:p>
          <a:p>
            <a:pPr lvl="1" fontAlgn="auto">
              <a:spcBef>
                <a:spcPts val="600"/>
              </a:spcBef>
              <a:spcAft>
                <a:spcPts val="600"/>
              </a:spcAft>
            </a:pPr>
            <a:r>
              <a:rPr lang="en-US" altLang="zh-CN"/>
              <a:t>Started as a replication of RefinedWeb, but improved it</a:t>
            </a:r>
            <a:endParaRPr lang="en-US" altLang="zh-CN"/>
          </a:p>
          <a:p>
            <a:pPr lvl="1" fontAlgn="auto">
              <a:spcBef>
                <a:spcPts val="600"/>
              </a:spcBef>
              <a:spcAft>
                <a:spcPts val="600"/>
              </a:spcAft>
            </a:pPr>
            <a:r>
              <a:rPr lang="en-US" altLang="zh-CN"/>
              <a:t>95 Common Crawl dumps</a:t>
            </a:r>
            <a:endParaRPr lang="en-US" altLang="zh-CN"/>
          </a:p>
          <a:p>
            <a:pPr lvl="1" fontAlgn="auto">
              <a:spcBef>
                <a:spcPts val="600"/>
              </a:spcBef>
              <a:spcAft>
                <a:spcPts val="600"/>
              </a:spcAft>
            </a:pPr>
            <a:r>
              <a:rPr lang="en-US" altLang="zh-CN"/>
              <a:t>URL filtering, language ID (keep if p(en) &gt; 0.65)</a:t>
            </a:r>
            <a:endParaRPr lang="en-US" altLang="zh-CN"/>
          </a:p>
          <a:p>
            <a:pPr lvl="1" fontAlgn="auto">
              <a:spcBef>
                <a:spcPts val="600"/>
              </a:spcBef>
              <a:spcAft>
                <a:spcPts val="600"/>
              </a:spcAft>
            </a:pPr>
            <a:r>
              <a:rPr lang="en-US" altLang="zh-CN"/>
              <a:t>Filtering: Gopher, C4, more manual rules</a:t>
            </a:r>
            <a:endParaRPr lang="en-US" altLang="zh-CN"/>
          </a:p>
          <a:p>
            <a:pPr lvl="1" fontAlgn="auto">
              <a:spcBef>
                <a:spcPts val="600"/>
              </a:spcBef>
              <a:spcAft>
                <a:spcPts val="600"/>
              </a:spcAft>
            </a:pPr>
            <a:r>
              <a:rPr lang="en-US" altLang="zh-CN"/>
              <a:t>Fuzzy deduplication via MinHash</a:t>
            </a:r>
            <a:endParaRPr lang="en-US" altLang="zh-CN"/>
          </a:p>
          <a:p>
            <a:pPr lvl="1" fontAlgn="auto">
              <a:spcBef>
                <a:spcPts val="600"/>
              </a:spcBef>
              <a:spcAft>
                <a:spcPts val="600"/>
              </a:spcAft>
            </a:pPr>
            <a:r>
              <a:rPr lang="en-US" altLang="zh-CN"/>
              <a:t>Anonymize email and public IP addresses (PII)</a:t>
            </a:r>
            <a:endParaRPr lang="en-US" altLang="zh-CN"/>
          </a:p>
          <a:p>
            <a:pPr fontAlgn="auto">
              <a:spcBef>
                <a:spcPts val="600"/>
              </a:spcBef>
              <a:spcAft>
                <a:spcPts val="600"/>
              </a:spcAft>
            </a:pPr>
            <a:r>
              <a:rPr lang="en-US" altLang="zh-CN" b="1"/>
              <a:t>Result: 15T tokens</a:t>
            </a:r>
            <a:endParaRPr lang="en-US" altLang="zh-CN" b="1"/>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77800" y="224790"/>
            <a:ext cx="6096000" cy="737235"/>
          </a:xfrm>
          <a:prstGeom prst="rect">
            <a:avLst/>
          </a:prstGeom>
          <a:noFill/>
        </p:spPr>
        <p:txBody>
          <a:bodyPr wrap="square" rtlCol="0" anchor="t">
            <a:spAutoFit/>
          </a:bodyPr>
          <a:p>
            <a:r>
              <a:rPr lang="en-US" altLang="zh-CN" sz="2400" b="1"/>
              <a:t>dolma():</a:t>
            </a:r>
            <a:endParaRPr lang="en-US" altLang="zh-CN" sz="2400" b="1"/>
          </a:p>
          <a:p>
            <a:pPr indent="457200"/>
            <a:r>
              <a:rPr lang="en-US" altLang="zh-CN" b="1"/>
              <a:t>Dolma</a:t>
            </a:r>
            <a:endParaRPr lang="en-US" altLang="zh-CN" b="1"/>
          </a:p>
        </p:txBody>
      </p:sp>
      <p:pic>
        <p:nvPicPr>
          <p:cNvPr id="3" name="图片 2"/>
          <p:cNvPicPr>
            <a:picLocks noChangeAspect="1"/>
          </p:cNvPicPr>
          <p:nvPr/>
        </p:nvPicPr>
        <p:blipFill>
          <a:blip r:embed="rId1"/>
          <a:stretch>
            <a:fillRect/>
          </a:stretch>
        </p:blipFill>
        <p:spPr>
          <a:xfrm>
            <a:off x="779780" y="1041400"/>
            <a:ext cx="10144125" cy="43243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31165" y="417830"/>
            <a:ext cx="9596755" cy="2522855"/>
          </a:xfrm>
          <a:prstGeom prst="rect">
            <a:avLst/>
          </a:prstGeom>
          <a:noFill/>
        </p:spPr>
        <p:txBody>
          <a:bodyPr wrap="square" rtlCol="0">
            <a:spAutoFit/>
          </a:bodyPr>
          <a:p>
            <a:pPr indent="0" fontAlgn="auto">
              <a:spcBef>
                <a:spcPts val="600"/>
              </a:spcBef>
              <a:spcAft>
                <a:spcPts val="600"/>
              </a:spcAft>
            </a:pPr>
            <a:r>
              <a:rPr lang="en-US" altLang="zh-CN" b="1"/>
              <a:t>Common Crawl processing</a:t>
            </a:r>
            <a:endParaRPr lang="en-US" altLang="zh-CN" b="1"/>
          </a:p>
          <a:p>
            <a:pPr lvl="1" indent="0" fontAlgn="auto">
              <a:spcBef>
                <a:spcPts val="600"/>
              </a:spcBef>
              <a:spcAft>
                <a:spcPts val="600"/>
              </a:spcAft>
            </a:pPr>
            <a:r>
              <a:rPr lang="en-US" altLang="zh-CN"/>
              <a:t>Language identification (fastText classifier), keep English</a:t>
            </a:r>
            <a:endParaRPr lang="en-US" altLang="zh-CN"/>
          </a:p>
          <a:p>
            <a:pPr lvl="1" indent="0" fontAlgn="auto">
              <a:spcBef>
                <a:spcPts val="600"/>
              </a:spcBef>
              <a:spcAft>
                <a:spcPts val="600"/>
              </a:spcAft>
            </a:pPr>
            <a:r>
              <a:rPr lang="en-US" altLang="zh-CN"/>
              <a:t>Quality filtering (Gopher, C4 rules), avoid model-based filtering</a:t>
            </a:r>
            <a:endParaRPr lang="en-US" altLang="zh-CN"/>
          </a:p>
          <a:p>
            <a:pPr lvl="1" indent="0" fontAlgn="auto">
              <a:spcBef>
                <a:spcPts val="600"/>
              </a:spcBef>
              <a:spcAft>
                <a:spcPts val="600"/>
              </a:spcAft>
            </a:pPr>
            <a:r>
              <a:rPr lang="en-US" altLang="zh-CN"/>
              <a:t>Toxicity filtering using rules and Jigsaw classifier</a:t>
            </a:r>
            <a:endParaRPr lang="en-US" altLang="zh-CN"/>
          </a:p>
          <a:p>
            <a:pPr lvl="1" indent="0" fontAlgn="auto">
              <a:spcBef>
                <a:spcPts val="600"/>
              </a:spcBef>
              <a:spcAft>
                <a:spcPts val="600"/>
              </a:spcAft>
            </a:pPr>
            <a:r>
              <a:rPr lang="en-US" altLang="zh-CN"/>
              <a:t>Deduplication using Bloom filters</a:t>
            </a:r>
            <a:endParaRPr lang="en-US" altLang="zh-CN"/>
          </a:p>
          <a:p>
            <a:pPr indent="0" fontAlgn="auto">
              <a:spcBef>
                <a:spcPts val="600"/>
              </a:spcBef>
              <a:spcAft>
                <a:spcPts val="600"/>
              </a:spcAft>
            </a:pPr>
            <a:r>
              <a:rPr lang="en-US" altLang="zh-CN" b="1"/>
              <a:t>Result: 3T tokens</a:t>
            </a:r>
            <a:endParaRPr lang="en-US" altLang="zh-CN" b="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34315" y="113030"/>
            <a:ext cx="11491595" cy="1568450"/>
          </a:xfrm>
          <a:prstGeom prst="rect">
            <a:avLst/>
          </a:prstGeom>
          <a:noFill/>
        </p:spPr>
        <p:txBody>
          <a:bodyPr wrap="square" rtlCol="0" anchor="t">
            <a:spAutoFit/>
          </a:bodyPr>
          <a:p>
            <a:r>
              <a:rPr lang="en-US" altLang="zh-CN" sz="2400" b="1"/>
              <a:t>dclm():</a:t>
            </a:r>
            <a:endParaRPr lang="en-US" altLang="zh-CN"/>
          </a:p>
          <a:p>
            <a:r>
              <a:rPr lang="en-US" altLang="zh-CN" b="1"/>
              <a:t>DataComp-LM</a:t>
            </a:r>
            <a:endParaRPr lang="en-US" altLang="zh-CN" b="1"/>
          </a:p>
          <a:p>
            <a:pPr lvl="1"/>
            <a:r>
              <a:rPr lang="en-US" altLang="zh-CN"/>
              <a:t>Goal: define a standard dataset for trying out different data processing algorithms</a:t>
            </a:r>
            <a:endParaRPr lang="en-US" altLang="zh-CN"/>
          </a:p>
          <a:p>
            <a:pPr lvl="1"/>
            <a:r>
              <a:rPr lang="en-US" altLang="zh-CN"/>
              <a:t>Processed CommonCrawl to produce DCLM-pool (240T tokens)</a:t>
            </a:r>
            <a:endParaRPr lang="en-US" altLang="zh-CN"/>
          </a:p>
          <a:p>
            <a:pPr lvl="1"/>
            <a:r>
              <a:rPr lang="en-US" altLang="zh-CN"/>
              <a:t>DCLM-baseline: filtered down DCLM-pool using quality classifier</a:t>
            </a:r>
            <a:endParaRPr lang="en-US" altLang="zh-CN"/>
          </a:p>
        </p:txBody>
      </p:sp>
      <p:pic>
        <p:nvPicPr>
          <p:cNvPr id="3" name="图片 2"/>
          <p:cNvPicPr>
            <a:picLocks noChangeAspect="1"/>
          </p:cNvPicPr>
          <p:nvPr/>
        </p:nvPicPr>
        <p:blipFill>
          <a:blip r:embed="rId1"/>
          <a:stretch>
            <a:fillRect/>
          </a:stretch>
        </p:blipFill>
        <p:spPr>
          <a:xfrm>
            <a:off x="589915" y="1739265"/>
            <a:ext cx="11011535" cy="471868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59385" y="262255"/>
            <a:ext cx="9284335" cy="2183765"/>
          </a:xfrm>
          <a:prstGeom prst="rect">
            <a:avLst/>
          </a:prstGeom>
          <a:noFill/>
        </p:spPr>
        <p:txBody>
          <a:bodyPr wrap="square" rtlCol="0" anchor="t">
            <a:spAutoFit/>
          </a:bodyPr>
          <a:p>
            <a:r>
              <a:rPr lang="en-US" altLang="zh-CN" sz="2400" b="1"/>
              <a:t>Model-based filtering</a:t>
            </a:r>
            <a:endParaRPr lang="en-US" altLang="zh-CN" sz="2400" b="1"/>
          </a:p>
          <a:p>
            <a:r>
              <a:rPr lang="en-US" altLang="zh-CN" sz="2000" b="1"/>
              <a:t>       Positive examples (200K):</a:t>
            </a:r>
            <a:endParaRPr lang="en-US" altLang="zh-CN" sz="2000" b="1"/>
          </a:p>
          <a:p>
            <a:pPr lvl="2"/>
            <a:r>
              <a:rPr lang="en-US" altLang="zh-CN"/>
              <a:t>[OpenHermes-2.5] : mostly GPT-4 generated instruction data </a:t>
            </a:r>
            <a:endParaRPr lang="en-US" altLang="zh-CN"/>
          </a:p>
          <a:p>
            <a:pPr lvl="2"/>
            <a:r>
              <a:rPr lang="en-US" altLang="zh-CN"/>
              <a:t>[ELI5]: subreddit with curiosity questions and answers </a:t>
            </a:r>
            <a:endParaRPr lang="en-US" altLang="zh-CN"/>
          </a:p>
          <a:p>
            <a:pPr lvl="1"/>
            <a:r>
              <a:rPr lang="en-US" altLang="zh-CN" sz="2000" b="1"/>
              <a:t>Negative examples (200K):</a:t>
            </a:r>
            <a:endParaRPr lang="en-US" altLang="zh-CN" sz="2000" b="1"/>
          </a:p>
          <a:p>
            <a:pPr lvl="1" indent="457200"/>
            <a:r>
              <a:rPr lang="en-US" altLang="zh-CN"/>
              <a:t>[RefinedWeb]</a:t>
            </a:r>
            <a:endParaRPr lang="en-US" altLang="zh-CN"/>
          </a:p>
          <a:p>
            <a:pPr lvl="1"/>
            <a:r>
              <a:rPr lang="en-US" altLang="zh-CN"/>
              <a:t>Result: 3.8T tokens</a:t>
            </a:r>
            <a:endParaRPr lang="en-US" altLang="zh-CN"/>
          </a:p>
        </p:txBody>
      </p:sp>
      <p:sp>
        <p:nvSpPr>
          <p:cNvPr id="3" name="文本框 2"/>
          <p:cNvSpPr txBox="1"/>
          <p:nvPr/>
        </p:nvSpPr>
        <p:spPr>
          <a:xfrm>
            <a:off x="159385" y="2424430"/>
            <a:ext cx="9596755" cy="645160"/>
          </a:xfrm>
          <a:prstGeom prst="rect">
            <a:avLst/>
          </a:prstGeom>
          <a:noFill/>
        </p:spPr>
        <p:txBody>
          <a:bodyPr wrap="square" rtlCol="0">
            <a:spAutoFit/>
          </a:bodyPr>
          <a:p>
            <a:r>
              <a:rPr lang="en-US" altLang="zh-CN" b="1"/>
              <a:t>Trained a fastText classifier, run it on all of DCLM-pool</a:t>
            </a:r>
            <a:endParaRPr lang="en-US" altLang="zh-CN" b="1"/>
          </a:p>
          <a:p>
            <a:r>
              <a:rPr lang="en-US" altLang="zh-CN" b="1"/>
              <a:t>his quality classifier outperforms other filtering methods:l</a:t>
            </a:r>
            <a:endParaRPr lang="en-US" altLang="zh-CN" b="1"/>
          </a:p>
        </p:txBody>
      </p:sp>
      <p:pic>
        <p:nvPicPr>
          <p:cNvPr id="4" name="图片 3"/>
          <p:cNvPicPr>
            <a:picLocks noChangeAspect="1"/>
          </p:cNvPicPr>
          <p:nvPr/>
        </p:nvPicPr>
        <p:blipFill>
          <a:blip r:embed="rId1"/>
          <a:stretch>
            <a:fillRect/>
          </a:stretch>
        </p:blipFill>
        <p:spPr>
          <a:xfrm>
            <a:off x="1758950" y="3201670"/>
            <a:ext cx="8501380" cy="308673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96850" y="205740"/>
            <a:ext cx="6096000" cy="460375"/>
          </a:xfrm>
          <a:prstGeom prst="rect">
            <a:avLst/>
          </a:prstGeom>
          <a:noFill/>
        </p:spPr>
        <p:txBody>
          <a:bodyPr wrap="square" rtlCol="0" anchor="t">
            <a:spAutoFit/>
          </a:bodyPr>
          <a:p>
            <a:r>
              <a:rPr lang="en-US" altLang="zh-CN" sz="2400" b="1"/>
              <a:t>nemotron_cc():</a:t>
            </a:r>
            <a:endParaRPr lang="zh-CN" altLang="en-US" sz="2400" b="1"/>
          </a:p>
        </p:txBody>
      </p:sp>
      <p:sp>
        <p:nvSpPr>
          <p:cNvPr id="3" name="文本框 2"/>
          <p:cNvSpPr txBox="1"/>
          <p:nvPr/>
        </p:nvSpPr>
        <p:spPr>
          <a:xfrm>
            <a:off x="196850" y="574040"/>
            <a:ext cx="11995150" cy="4538345"/>
          </a:xfrm>
          <a:prstGeom prst="rect">
            <a:avLst/>
          </a:prstGeom>
          <a:noFill/>
        </p:spPr>
        <p:txBody>
          <a:bodyPr wrap="square" rtlCol="0" anchor="t">
            <a:spAutoFit/>
          </a:bodyPr>
          <a:p>
            <a:pPr fontAlgn="auto">
              <a:spcBef>
                <a:spcPts val="300"/>
              </a:spcBef>
              <a:spcAft>
                <a:spcPts val="300"/>
              </a:spcAft>
            </a:pPr>
            <a:r>
              <a:rPr lang="en-US" altLang="zh-CN" b="1"/>
              <a:t>Nemotron-CC</a:t>
            </a:r>
            <a:r>
              <a:rPr lang="zh-CN" altLang="en-US" b="1"/>
              <a:t>：</a:t>
            </a:r>
            <a:endParaRPr lang="zh-CN" altLang="en-US" b="1"/>
          </a:p>
          <a:p>
            <a:pPr lvl="1" fontAlgn="auto">
              <a:spcBef>
                <a:spcPts val="300"/>
              </a:spcBef>
              <a:spcAft>
                <a:spcPts val="300"/>
              </a:spcAft>
            </a:pPr>
            <a:r>
              <a:rPr lang="en-US" altLang="zh-CN"/>
              <a:t>FineWebEdu and DCLM filter too aggressively (remove 90% of data)</a:t>
            </a:r>
            <a:endParaRPr lang="en-US" altLang="zh-CN"/>
          </a:p>
          <a:p>
            <a:pPr lvl="1" fontAlgn="auto">
              <a:spcBef>
                <a:spcPts val="300"/>
              </a:spcBef>
              <a:spcAft>
                <a:spcPts val="300"/>
              </a:spcAft>
            </a:pPr>
            <a:r>
              <a:rPr lang="en-US" altLang="zh-CN"/>
              <a:t>Need moar tokens (but preserve quality)</a:t>
            </a:r>
            <a:endParaRPr lang="en-US" altLang="zh-CN"/>
          </a:p>
          <a:p>
            <a:pPr indent="457200" fontAlgn="auto">
              <a:spcBef>
                <a:spcPts val="300"/>
              </a:spcBef>
              <a:spcAft>
                <a:spcPts val="300"/>
              </a:spcAft>
            </a:pPr>
            <a:r>
              <a:rPr lang="en-US" altLang="zh-CN"/>
              <a:t>For HTML -&gt; text, used jusText (not trafilatura) because it returned more tokens</a:t>
            </a:r>
            <a:endParaRPr lang="en-US" altLang="zh-CN"/>
          </a:p>
          <a:p>
            <a:pPr fontAlgn="auto">
              <a:spcBef>
                <a:spcPts val="300"/>
              </a:spcBef>
              <a:spcAft>
                <a:spcPts val="300"/>
              </a:spcAft>
            </a:pPr>
            <a:endParaRPr lang="en-US" altLang="zh-CN"/>
          </a:p>
          <a:p>
            <a:pPr fontAlgn="auto">
              <a:spcBef>
                <a:spcPts val="300"/>
              </a:spcBef>
              <a:spcAft>
                <a:spcPts val="300"/>
              </a:spcAft>
            </a:pPr>
            <a:r>
              <a:rPr lang="en-US" altLang="zh-CN" b="1"/>
              <a:t>Classifier ensembling</a:t>
            </a:r>
            <a:endParaRPr lang="en-US" altLang="zh-CN" b="1"/>
          </a:p>
          <a:p>
            <a:pPr lvl="1" fontAlgn="auto">
              <a:spcBef>
                <a:spcPts val="300"/>
              </a:spcBef>
              <a:spcAft>
                <a:spcPts val="300"/>
              </a:spcAft>
            </a:pPr>
            <a:r>
              <a:rPr lang="en-US" altLang="zh-CN"/>
              <a:t>Prompt Nemotron-340B-instruct to score FineWeb documents based on educational value, distill into faster model</a:t>
            </a:r>
            <a:endParaRPr lang="en-US" altLang="zh-CN"/>
          </a:p>
          <a:p>
            <a:pPr lvl="1" fontAlgn="auto">
              <a:spcBef>
                <a:spcPts val="300"/>
              </a:spcBef>
              <a:spcAft>
                <a:spcPts val="300"/>
              </a:spcAft>
            </a:pPr>
            <a:r>
              <a:rPr lang="en-US" altLang="zh-CN"/>
              <a:t>DCLM classifier</a:t>
            </a:r>
            <a:endParaRPr lang="en-US" altLang="zh-CN"/>
          </a:p>
          <a:p>
            <a:pPr fontAlgn="auto">
              <a:spcBef>
                <a:spcPts val="300"/>
              </a:spcBef>
              <a:spcAft>
                <a:spcPts val="300"/>
              </a:spcAft>
            </a:pPr>
            <a:endParaRPr lang="en-US" altLang="zh-CN" b="1"/>
          </a:p>
          <a:p>
            <a:pPr fontAlgn="auto">
              <a:spcBef>
                <a:spcPts val="300"/>
              </a:spcBef>
              <a:spcAft>
                <a:spcPts val="300"/>
              </a:spcAft>
            </a:pPr>
            <a:r>
              <a:rPr lang="en-US" altLang="zh-CN" b="1"/>
              <a:t>Synthetic data rephrasing</a:t>
            </a:r>
            <a:endParaRPr lang="en-US" altLang="zh-CN" b="1"/>
          </a:p>
          <a:p>
            <a:pPr lvl="1" fontAlgn="auto">
              <a:spcBef>
                <a:spcPts val="300"/>
              </a:spcBef>
              <a:spcAft>
                <a:spcPts val="300"/>
              </a:spcAft>
            </a:pPr>
            <a:r>
              <a:rPr lang="en-US" altLang="zh-CN"/>
              <a:t>For low-quality data, use LM to rephrase </a:t>
            </a:r>
            <a:r>
              <a:rPr lang="en-US" altLang="zh-CN"/>
              <a:t>high-quality data</a:t>
            </a:r>
            <a:endParaRPr lang="en-US" altLang="zh-CN"/>
          </a:p>
          <a:p>
            <a:pPr lvl="1" fontAlgn="auto">
              <a:spcBef>
                <a:spcPts val="300"/>
              </a:spcBef>
              <a:spcAft>
                <a:spcPts val="300"/>
              </a:spcAft>
            </a:pPr>
            <a:r>
              <a:rPr lang="en-US" altLang="zh-CN"/>
              <a:t>For </a:t>
            </a:r>
            <a:r>
              <a:rPr lang="en-US" altLang="zh-CN"/>
              <a:t>high-quality data, use LM to generate tasks (QA pairs, extract key information, etc.)</a:t>
            </a:r>
            <a:endParaRPr lang="en-US" altLang="zh-CN"/>
          </a:p>
        </p:txBody>
      </p:sp>
      <p:sp>
        <p:nvSpPr>
          <p:cNvPr id="4" name="文本框 3"/>
          <p:cNvSpPr txBox="1"/>
          <p:nvPr/>
        </p:nvSpPr>
        <p:spPr>
          <a:xfrm>
            <a:off x="196850" y="5112385"/>
            <a:ext cx="10010140" cy="721995"/>
          </a:xfrm>
          <a:prstGeom prst="rect">
            <a:avLst/>
          </a:prstGeom>
          <a:noFill/>
        </p:spPr>
        <p:txBody>
          <a:bodyPr wrap="square" rtlCol="0">
            <a:spAutoFit/>
          </a:bodyPr>
          <a:p>
            <a:pPr indent="0" fontAlgn="auto">
              <a:spcBef>
                <a:spcPts val="300"/>
              </a:spcBef>
              <a:spcAft>
                <a:spcPts val="300"/>
              </a:spcAft>
            </a:pPr>
            <a:r>
              <a:rPr lang="en-US" altLang="zh-CN" b="1"/>
              <a:t>Result: 6.3T tokens (HQ subset is 1.1T)</a:t>
            </a:r>
            <a:endParaRPr lang="en-US" altLang="zh-CN" b="1"/>
          </a:p>
          <a:p>
            <a:pPr indent="0" fontAlgn="auto">
              <a:spcBef>
                <a:spcPts val="300"/>
              </a:spcBef>
              <a:spcAft>
                <a:spcPts val="300"/>
              </a:spcAft>
            </a:pPr>
            <a:r>
              <a:rPr lang="en-US" altLang="zh-CN" b="1"/>
              <a:t>For reference, Llama 3 trained on 15T, Qwen3 trained on 36T</a:t>
            </a:r>
            <a:endParaRPr lang="en-US" altLang="zh-CN"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34315" y="243840"/>
            <a:ext cx="11553825" cy="5539105"/>
          </a:xfrm>
          <a:prstGeom prst="rect">
            <a:avLst/>
          </a:prstGeom>
          <a:noFill/>
        </p:spPr>
        <p:txBody>
          <a:bodyPr wrap="square" rtlCol="0" anchor="t">
            <a:spAutoFit/>
          </a:bodyPr>
          <a:p>
            <a:pPr fontAlgn="auto">
              <a:spcBef>
                <a:spcPts val="300"/>
              </a:spcBef>
              <a:spcAft>
                <a:spcPts val="300"/>
              </a:spcAft>
            </a:pPr>
            <a:r>
              <a:rPr lang="en-US" altLang="zh-CN" sz="2400" b="1"/>
              <a:t>copyright():</a:t>
            </a:r>
            <a:endParaRPr lang="en-US" altLang="zh-CN" sz="2400" b="1"/>
          </a:p>
          <a:p>
            <a:pPr indent="457200" fontAlgn="auto">
              <a:spcBef>
                <a:spcPts val="300"/>
              </a:spcBef>
              <a:spcAft>
                <a:spcPts val="300"/>
              </a:spcAft>
            </a:pPr>
            <a:r>
              <a:rPr lang="en-US" altLang="zh-CN"/>
              <a:t>Lots of lawsuits around generative AI, mostly around copyright</a:t>
            </a:r>
            <a:endParaRPr lang="en-US" altLang="zh-CN"/>
          </a:p>
          <a:p>
            <a:pPr fontAlgn="auto">
              <a:spcBef>
                <a:spcPts val="300"/>
              </a:spcBef>
              <a:spcAft>
                <a:spcPts val="300"/>
              </a:spcAft>
            </a:pPr>
            <a:endParaRPr lang="en-US" altLang="zh-CN"/>
          </a:p>
          <a:p>
            <a:pPr fontAlgn="auto">
              <a:spcBef>
                <a:spcPts val="300"/>
              </a:spcBef>
              <a:spcAft>
                <a:spcPts val="300"/>
              </a:spcAft>
            </a:pPr>
            <a:r>
              <a:rPr lang="en-US" altLang="zh-CN" b="1"/>
              <a:t>Intellectual property law</a:t>
            </a:r>
            <a:endParaRPr lang="en-US" altLang="zh-CN" b="1"/>
          </a:p>
          <a:p>
            <a:pPr lvl="1" fontAlgn="auto">
              <a:spcBef>
                <a:spcPts val="300"/>
              </a:spcBef>
              <a:spcAft>
                <a:spcPts val="300"/>
              </a:spcAft>
            </a:pPr>
            <a:r>
              <a:rPr lang="en-US" altLang="zh-CN"/>
              <a:t>Goal: *incentivize* the creation of intellectual goods</a:t>
            </a:r>
            <a:endParaRPr lang="en-US" altLang="zh-CN"/>
          </a:p>
          <a:p>
            <a:pPr lvl="1" fontAlgn="auto">
              <a:spcBef>
                <a:spcPts val="300"/>
              </a:spcBef>
              <a:spcAft>
                <a:spcPts val="300"/>
              </a:spcAft>
            </a:pPr>
            <a:r>
              <a:rPr lang="en-US" altLang="zh-CN"/>
              <a:t>Types of intellectual property: copyright, patents, trademarks, trade secrets.</a:t>
            </a:r>
            <a:endParaRPr lang="en-US" altLang="zh-CN"/>
          </a:p>
          <a:p>
            <a:pPr fontAlgn="auto">
              <a:spcBef>
                <a:spcPts val="300"/>
              </a:spcBef>
              <a:spcAft>
                <a:spcPts val="300"/>
              </a:spcAft>
            </a:pPr>
            <a:endParaRPr lang="en-US" altLang="zh-CN"/>
          </a:p>
          <a:p>
            <a:pPr fontAlgn="auto">
              <a:spcBef>
                <a:spcPts val="300"/>
              </a:spcBef>
              <a:spcAft>
                <a:spcPts val="300"/>
              </a:spcAft>
            </a:pPr>
            <a:r>
              <a:rPr lang="en-US" altLang="zh-CN" b="1"/>
              <a:t>Copyright law</a:t>
            </a:r>
            <a:endParaRPr lang="en-US" altLang="zh-CN" b="1"/>
          </a:p>
          <a:p>
            <a:pPr lvl="1" fontAlgn="auto">
              <a:spcBef>
                <a:spcPts val="300"/>
              </a:spcBef>
              <a:spcAft>
                <a:spcPts val="300"/>
              </a:spcAft>
            </a:pPr>
            <a:r>
              <a:rPr lang="en-US" altLang="zh-CN"/>
              <a:t>Goes back to 1709 in England (Statute of Anne), first time regulated by governments and courts</a:t>
            </a:r>
            <a:endParaRPr lang="en-US" altLang="zh-CN"/>
          </a:p>
          <a:p>
            <a:pPr lvl="1" fontAlgn="auto">
              <a:spcBef>
                <a:spcPts val="300"/>
              </a:spcBef>
              <a:spcAft>
                <a:spcPts val="300"/>
              </a:spcAft>
            </a:pPr>
            <a:r>
              <a:rPr lang="en-US" altLang="zh-CN"/>
              <a:t>In United States, most recent: Copyright Act of 1976</a:t>
            </a:r>
            <a:endParaRPr lang="en-US" altLang="zh-CN"/>
          </a:p>
          <a:p>
            <a:pPr lvl="1" fontAlgn="auto">
              <a:spcBef>
                <a:spcPts val="300"/>
              </a:spcBef>
              <a:spcAft>
                <a:spcPts val="300"/>
              </a:spcAft>
            </a:pPr>
            <a:r>
              <a:rPr lang="en-US" altLang="zh-CN"/>
              <a:t>Copyright protection applies to 'original works of authorship fixed in any tangible medium of expression, now known or later developed, from which they can be perceived, reproduced, or otherwise communicated, either directly or with the aid of a machine or device</a:t>
            </a:r>
            <a:endParaRPr lang="en-US" altLang="zh-CN"/>
          </a:p>
          <a:p>
            <a:pPr lvl="1" fontAlgn="auto">
              <a:spcBef>
                <a:spcPts val="300"/>
              </a:spcBef>
              <a:spcAft>
                <a:spcPts val="300"/>
              </a:spcAft>
            </a:pPr>
            <a:r>
              <a:rPr lang="en-US" altLang="zh-CN"/>
              <a:t>Original works, so collections not copyrightable (e.g., telephone directories) unless there is some creativity in the selection or arrangement</a:t>
            </a:r>
            <a:endParaRPr lang="en-US" altLang="zh-CN"/>
          </a:p>
          <a:p>
            <a:pPr lvl="1" fontAlgn="auto">
              <a:spcBef>
                <a:spcPts val="300"/>
              </a:spcBef>
              <a:spcAft>
                <a:spcPts val="300"/>
              </a:spcAft>
            </a:pPr>
            <a:r>
              <a:rPr lang="en-US" altLang="zh-CN"/>
              <a:t>Copyright applies to expression, not ideas (e.g., quicksort)</a:t>
            </a:r>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15900" y="281305"/>
            <a:ext cx="11235055" cy="3361055"/>
          </a:xfrm>
          <a:prstGeom prst="rect">
            <a:avLst/>
          </a:prstGeom>
          <a:noFill/>
        </p:spPr>
        <p:txBody>
          <a:bodyPr wrap="square" rtlCol="0" anchor="t">
            <a:spAutoFit/>
          </a:bodyPr>
          <a:p>
            <a:pPr lvl="1" indent="0" fontAlgn="auto">
              <a:spcBef>
                <a:spcPts val="300"/>
              </a:spcBef>
              <a:spcAft>
                <a:spcPts val="300"/>
              </a:spcAft>
            </a:pPr>
            <a:r>
              <a:rPr lang="en-US" altLang="zh-CN"/>
              <a:t>Expanded scope from 'published' (1909) to 'fixed' (1976)</a:t>
            </a:r>
            <a:endParaRPr lang="en-US" altLang="zh-CN"/>
          </a:p>
          <a:p>
            <a:pPr lvl="1" indent="0" fontAlgn="auto">
              <a:spcBef>
                <a:spcPts val="300"/>
              </a:spcBef>
              <a:spcAft>
                <a:spcPts val="300"/>
              </a:spcAft>
            </a:pPr>
            <a:r>
              <a:rPr lang="en-US" altLang="zh-CN"/>
              <a:t>Registration not required for copyright protection (in contrast with patents)</a:t>
            </a:r>
            <a:endParaRPr lang="en-US" altLang="zh-CN"/>
          </a:p>
          <a:p>
            <a:pPr lvl="1" indent="0" fontAlgn="auto">
              <a:spcBef>
                <a:spcPts val="300"/>
              </a:spcBef>
              <a:spcAft>
                <a:spcPts val="300"/>
              </a:spcAft>
            </a:pPr>
            <a:r>
              <a:rPr lang="en-US" altLang="zh-CN"/>
              <a:t>Threshold for copyright is extremely low (e.g., your website is copyrighted)</a:t>
            </a:r>
            <a:endParaRPr lang="en-US" altLang="zh-CN"/>
          </a:p>
          <a:p>
            <a:pPr lvl="1" indent="0" fontAlgn="auto">
              <a:spcBef>
                <a:spcPts val="300"/>
              </a:spcBef>
              <a:spcAft>
                <a:spcPts val="300"/>
              </a:spcAft>
            </a:pPr>
            <a:endParaRPr lang="en-US" altLang="zh-CN"/>
          </a:p>
          <a:p>
            <a:pPr lvl="1" indent="0" fontAlgn="auto">
              <a:spcBef>
                <a:spcPts val="300"/>
              </a:spcBef>
              <a:spcAft>
                <a:spcPts val="300"/>
              </a:spcAft>
            </a:pPr>
            <a:r>
              <a:rPr lang="en-US" altLang="zh-CN"/>
              <a:t>Registration is required before creator can sue someone for copyright infringement</a:t>
            </a:r>
            <a:endParaRPr lang="en-US" altLang="zh-CN"/>
          </a:p>
          <a:p>
            <a:pPr lvl="1" indent="0" fontAlgn="auto">
              <a:spcBef>
                <a:spcPts val="300"/>
              </a:spcBef>
              <a:spcAft>
                <a:spcPts val="300"/>
              </a:spcAft>
            </a:pPr>
            <a:r>
              <a:rPr lang="en-US" altLang="zh-CN"/>
              <a:t>Costs $65 to register</a:t>
            </a:r>
            <a:endParaRPr lang="en-US" altLang="zh-CN"/>
          </a:p>
          <a:p>
            <a:pPr lvl="1" indent="0" fontAlgn="auto">
              <a:spcBef>
                <a:spcPts val="300"/>
              </a:spcBef>
              <a:spcAft>
                <a:spcPts val="300"/>
              </a:spcAft>
            </a:pPr>
            <a:r>
              <a:rPr lang="en-US" altLang="zh-CN"/>
              <a:t> Lasts for 75 years, and then the copyright expires and it becomes part of the public domain (works of Shakespeare, Beethoven, most of Project Gutenberg, etc.)</a:t>
            </a:r>
            <a:endParaRPr lang="en-US" altLang="zh-CN"/>
          </a:p>
          <a:p>
            <a:endParaRPr lang="en-US" altLang="zh-CN"/>
          </a:p>
          <a:p>
            <a:r>
              <a:rPr lang="en-US" altLang="zh-CN" b="1"/>
              <a:t>Summary: </a:t>
            </a:r>
            <a:r>
              <a:rPr lang="en-US" altLang="zh-CN"/>
              <a:t>most things on the Internet are actually copyrighted.</a:t>
            </a:r>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34315" y="187325"/>
            <a:ext cx="6096000" cy="737235"/>
          </a:xfrm>
          <a:prstGeom prst="rect">
            <a:avLst/>
          </a:prstGeom>
          <a:noFill/>
        </p:spPr>
        <p:txBody>
          <a:bodyPr wrap="square" rtlCol="0" anchor="t">
            <a:spAutoFit/>
          </a:bodyPr>
          <a:p>
            <a:r>
              <a:rPr lang="en-US" altLang="zh-CN" sz="2400" b="1"/>
              <a:t>Mid-training + post-training</a:t>
            </a:r>
            <a:endParaRPr lang="en-US" altLang="zh-CN" sz="2400" b="1"/>
          </a:p>
          <a:p>
            <a:pPr lvl="1"/>
            <a:r>
              <a:rPr lang="en-US" altLang="zh-CN"/>
              <a:t>Let's focus on particular capabilities.</a:t>
            </a:r>
            <a:endParaRPr lang="en-US" altLang="zh-CN"/>
          </a:p>
        </p:txBody>
      </p:sp>
      <p:sp>
        <p:nvSpPr>
          <p:cNvPr id="4" name="文本框 3"/>
          <p:cNvSpPr txBox="1"/>
          <p:nvPr/>
        </p:nvSpPr>
        <p:spPr>
          <a:xfrm>
            <a:off x="318770" y="1019175"/>
            <a:ext cx="11104880" cy="4677410"/>
          </a:xfrm>
          <a:prstGeom prst="rect">
            <a:avLst/>
          </a:prstGeom>
          <a:noFill/>
        </p:spPr>
        <p:txBody>
          <a:bodyPr wrap="square" rtlCol="0">
            <a:spAutoFit/>
          </a:bodyPr>
          <a:p>
            <a:pPr indent="0" fontAlgn="auto">
              <a:spcBef>
                <a:spcPts val="600"/>
              </a:spcBef>
              <a:spcAft>
                <a:spcPts val="600"/>
              </a:spcAft>
            </a:pPr>
            <a:r>
              <a:rPr lang="en-US" altLang="zh-CN" b="1"/>
              <a:t>long_context():</a:t>
            </a:r>
            <a:endParaRPr lang="en-US" altLang="zh-CN" b="1"/>
          </a:p>
          <a:p>
            <a:pPr indent="0" fontAlgn="auto">
              <a:spcBef>
                <a:spcPts val="600"/>
              </a:spcBef>
              <a:spcAft>
                <a:spcPts val="600"/>
              </a:spcAft>
            </a:pPr>
            <a:r>
              <a:rPr lang="en-US" altLang="zh-CN"/>
              <a:t>Demand for long contexts (want to do QA on books)</a:t>
            </a:r>
            <a:endParaRPr lang="en-US" altLang="zh-CN"/>
          </a:p>
          <a:p>
            <a:pPr lvl="1" indent="0" fontAlgn="auto">
              <a:spcBef>
                <a:spcPts val="600"/>
              </a:spcBef>
              <a:spcAft>
                <a:spcPts val="600"/>
              </a:spcAft>
            </a:pPr>
            <a:r>
              <a:rPr lang="en-US" altLang="zh-CN"/>
              <a:t>DeepSeek v3 has 128K tokens</a:t>
            </a:r>
            <a:endParaRPr lang="en-US" altLang="zh-CN"/>
          </a:p>
          <a:p>
            <a:pPr lvl="1" indent="0" fontAlgn="auto">
              <a:spcBef>
                <a:spcPts val="600"/>
              </a:spcBef>
              <a:spcAft>
                <a:spcPts val="600"/>
              </a:spcAft>
            </a:pPr>
            <a:r>
              <a:rPr lang="en-US" altLang="zh-CN"/>
              <a:t>Claude 3.5 Sonnet has 200K tokens</a:t>
            </a:r>
            <a:endParaRPr lang="en-US" altLang="zh-CN"/>
          </a:p>
          <a:p>
            <a:pPr lvl="1" indent="0" fontAlgn="auto">
              <a:spcBef>
                <a:spcPts val="600"/>
              </a:spcBef>
              <a:spcAft>
                <a:spcPts val="600"/>
              </a:spcAft>
            </a:pPr>
            <a:r>
              <a:rPr lang="en-US" altLang="zh-CN"/>
              <a:t>Gemini 1.5 Pro has 1.5M tokens</a:t>
            </a:r>
            <a:endParaRPr lang="en-US" altLang="zh-CN"/>
          </a:p>
          <a:p>
            <a:pPr indent="0" fontAlgn="auto">
              <a:spcBef>
                <a:spcPts val="600"/>
              </a:spcBef>
              <a:spcAft>
                <a:spcPts val="600"/>
              </a:spcAft>
            </a:pPr>
            <a:r>
              <a:rPr lang="en-US" altLang="zh-CN"/>
              <a:t>Transformers scales quadratically with sequence length</a:t>
            </a:r>
            <a:endParaRPr lang="en-US" altLang="zh-CN"/>
          </a:p>
          <a:p>
            <a:pPr indent="0" fontAlgn="auto">
              <a:spcBef>
                <a:spcPts val="600"/>
              </a:spcBef>
              <a:spcAft>
                <a:spcPts val="600"/>
              </a:spcAft>
            </a:pPr>
            <a:r>
              <a:rPr lang="en-US" altLang="zh-CN"/>
              <a:t>Not efficient to pre-train on long contexts, want to add long context later</a:t>
            </a:r>
            <a:endParaRPr lang="en-US" altLang="zh-CN"/>
          </a:p>
          <a:p>
            <a:pPr indent="0" fontAlgn="auto">
              <a:spcBef>
                <a:spcPts val="600"/>
              </a:spcBef>
              <a:spcAft>
                <a:spcPts val="600"/>
              </a:spcAft>
            </a:pPr>
            <a:r>
              <a:rPr lang="en-US" altLang="zh-CN" b="1"/>
              <a:t>LongLoRA</a:t>
            </a:r>
            <a:endParaRPr lang="en-US" altLang="zh-CN" b="1"/>
          </a:p>
          <a:p>
            <a:pPr lvl="1" indent="0" fontAlgn="auto">
              <a:spcBef>
                <a:spcPts val="600"/>
              </a:spcBef>
              <a:spcAft>
                <a:spcPts val="600"/>
              </a:spcAft>
            </a:pPr>
            <a:r>
              <a:rPr lang="en-US" altLang="zh-CN"/>
              <a:t>Extends context length of Llama2 7B from 4K to 100K tokens</a:t>
            </a:r>
            <a:endParaRPr lang="en-US" altLang="zh-CN"/>
          </a:p>
          <a:p>
            <a:pPr lvl="1" indent="0" fontAlgn="auto">
              <a:spcBef>
                <a:spcPts val="600"/>
              </a:spcBef>
              <a:spcAft>
                <a:spcPts val="600"/>
              </a:spcAft>
            </a:pPr>
            <a:r>
              <a:rPr lang="en-US" altLang="zh-CN"/>
              <a:t>Use shifted sparse attention (Figure 2), positional interpolation [Chen+ 2023]</a:t>
            </a:r>
            <a:endParaRPr lang="en-US" altLang="zh-CN"/>
          </a:p>
          <a:p>
            <a:pPr lvl="1" indent="0" fontAlgn="auto">
              <a:spcBef>
                <a:spcPts val="600"/>
              </a:spcBef>
              <a:spcAft>
                <a:spcPts val="600"/>
              </a:spcAft>
            </a:pPr>
            <a:r>
              <a:rPr lang="en-US" altLang="zh-CN"/>
              <a:t>Trained on long documents: PG-19 (books) and Proof-Pile (math)</a:t>
            </a:r>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90195" y="225425"/>
            <a:ext cx="10746740" cy="5631180"/>
          </a:xfrm>
          <a:prstGeom prst="rect">
            <a:avLst/>
          </a:prstGeom>
          <a:noFill/>
        </p:spPr>
        <p:txBody>
          <a:bodyPr wrap="square" rtlCol="0" anchor="t">
            <a:spAutoFit/>
          </a:bodyPr>
          <a:p>
            <a:pPr fontAlgn="auto">
              <a:spcBef>
                <a:spcPts val="600"/>
              </a:spcBef>
              <a:spcAft>
                <a:spcPts val="600"/>
              </a:spcAft>
            </a:pPr>
            <a:r>
              <a:rPr lang="en-US" altLang="zh-CN" sz="2400" b="1"/>
              <a:t>tasks():</a:t>
            </a:r>
            <a:endParaRPr lang="en-US" altLang="zh-CN" sz="2400" b="1"/>
          </a:p>
          <a:p>
            <a:pPr indent="457200" fontAlgn="auto">
              <a:spcBef>
                <a:spcPts val="600"/>
              </a:spcBef>
              <a:spcAft>
                <a:spcPts val="600"/>
              </a:spcAft>
            </a:pPr>
            <a:r>
              <a:rPr lang="en-US" altLang="zh-CN"/>
              <a:t>TL;DR: convert lots of existing NLP datasets into prompts</a:t>
            </a:r>
            <a:endParaRPr lang="en-US" altLang="zh-CN"/>
          </a:p>
          <a:p>
            <a:pPr fontAlgn="auto">
              <a:spcBef>
                <a:spcPts val="600"/>
              </a:spcBef>
              <a:spcAft>
                <a:spcPts val="600"/>
              </a:spcAft>
            </a:pPr>
            <a:endParaRPr lang="en-US" altLang="zh-CN"/>
          </a:p>
          <a:p>
            <a:pPr fontAlgn="auto">
              <a:spcBef>
                <a:spcPts val="600"/>
              </a:spcBef>
              <a:spcAft>
                <a:spcPts val="600"/>
              </a:spcAft>
            </a:pPr>
            <a:r>
              <a:rPr lang="en-US" altLang="zh-CN" b="1"/>
              <a:t>Super-Natural Instructions</a:t>
            </a:r>
            <a:endParaRPr lang="en-US" altLang="zh-CN" b="1"/>
          </a:p>
          <a:p>
            <a:pPr lvl="1" fontAlgn="auto">
              <a:spcBef>
                <a:spcPts val="600"/>
              </a:spcBef>
              <a:spcAft>
                <a:spcPts val="600"/>
              </a:spcAft>
            </a:pPr>
            <a:r>
              <a:rPr lang="en-US" altLang="zh-CN"/>
              <a:t>Dataset: 1.6K+ tasks (Figure 2)</a:t>
            </a:r>
            <a:endParaRPr lang="en-US" altLang="zh-CN"/>
          </a:p>
          <a:p>
            <a:pPr lvl="1" fontAlgn="auto">
              <a:spcBef>
                <a:spcPts val="600"/>
              </a:spcBef>
              <a:spcAft>
                <a:spcPts val="600"/>
              </a:spcAft>
            </a:pPr>
            <a:r>
              <a:rPr lang="en-US" altLang="zh-CN"/>
              <a:t>Fine-tune T5 on k-shot learning (Tk-instruct)</a:t>
            </a:r>
            <a:endParaRPr lang="en-US" altLang="zh-CN"/>
          </a:p>
          <a:p>
            <a:pPr lvl="1" fontAlgn="auto">
              <a:spcBef>
                <a:spcPts val="600"/>
              </a:spcBef>
              <a:spcAft>
                <a:spcPts val="600"/>
              </a:spcAft>
            </a:pPr>
            <a:r>
              <a:rPr lang="en-US" altLang="zh-CN"/>
              <a:t>Tasks contributed by community (via GitHub)</a:t>
            </a:r>
            <a:endParaRPr lang="en-US" altLang="zh-CN"/>
          </a:p>
          <a:p>
            <a:pPr lvl="1" fontAlgn="auto">
              <a:spcBef>
                <a:spcPts val="600"/>
              </a:spcBef>
              <a:spcAft>
                <a:spcPts val="600"/>
              </a:spcAft>
            </a:pPr>
            <a:r>
              <a:rPr lang="en-US" altLang="zh-CN"/>
              <a:t>Examples for each task are derived from existing datasets and converted into templatized prompts</a:t>
            </a:r>
            <a:endParaRPr lang="en-US" altLang="zh-CN"/>
          </a:p>
          <a:p>
            <a:pPr lvl="1" fontAlgn="auto">
              <a:spcBef>
                <a:spcPts val="600"/>
              </a:spcBef>
              <a:spcAft>
                <a:spcPts val="600"/>
              </a:spcAft>
            </a:pPr>
            <a:r>
              <a:rPr lang="en-US" altLang="zh-CN"/>
              <a:t>Outperforms InstructGPT despite being much smaller(?)</a:t>
            </a:r>
            <a:endParaRPr lang="en-US" altLang="zh-CN"/>
          </a:p>
          <a:p>
            <a:pPr fontAlgn="auto">
              <a:spcBef>
                <a:spcPts val="600"/>
              </a:spcBef>
              <a:spcAft>
                <a:spcPts val="600"/>
              </a:spcAft>
            </a:pPr>
            <a:endParaRPr lang="en-US" altLang="zh-CN" b="1"/>
          </a:p>
          <a:p>
            <a:pPr fontAlgn="auto">
              <a:spcBef>
                <a:spcPts val="600"/>
              </a:spcBef>
              <a:spcAft>
                <a:spcPts val="600"/>
              </a:spcAft>
            </a:pPr>
            <a:r>
              <a:rPr lang="en-US" altLang="zh-CN" b="1"/>
              <a:t>Flan 2022</a:t>
            </a:r>
            <a:endParaRPr lang="en-US" altLang="zh-CN" b="1"/>
          </a:p>
          <a:p>
            <a:pPr lvl="1" fontAlgn="auto">
              <a:spcBef>
                <a:spcPts val="600"/>
              </a:spcBef>
              <a:spcAft>
                <a:spcPts val="600"/>
              </a:spcAft>
            </a:pPr>
            <a:r>
              <a:rPr lang="en-US" altLang="zh-CN"/>
              <a:t>Dataset: 1.8K+ tasks</a:t>
            </a:r>
            <a:endParaRPr lang="en-US" altLang="zh-CN"/>
          </a:p>
          <a:p>
            <a:pPr lvl="1" fontAlgn="auto">
              <a:spcBef>
                <a:spcPts val="600"/>
              </a:spcBef>
              <a:spcAft>
                <a:spcPts val="600"/>
              </a:spcAft>
            </a:pPr>
            <a:r>
              <a:rPr lang="en-US" altLang="zh-CN"/>
              <a:t>Fine-tune T5 on zero-shot, few-shot, chain-of-thought versions of the dataset (Figure 7)</a:t>
            </a:r>
            <a:endParaRPr lang="en-US" alt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78435" y="149225"/>
            <a:ext cx="12012930" cy="6400800"/>
          </a:xfrm>
          <a:prstGeom prst="rect">
            <a:avLst/>
          </a:prstGeom>
          <a:noFill/>
        </p:spPr>
        <p:txBody>
          <a:bodyPr wrap="square" rtlCol="0" anchor="t">
            <a:spAutoFit/>
          </a:bodyPr>
          <a:p>
            <a:pPr indent="0" fontAlgn="auto">
              <a:spcBef>
                <a:spcPts val="300"/>
              </a:spcBef>
              <a:spcAft>
                <a:spcPts val="300"/>
              </a:spcAft>
            </a:pPr>
            <a:r>
              <a:rPr lang="en-US" altLang="zh-CN" sz="2400" b="1"/>
              <a:t>instruction_chat():</a:t>
            </a:r>
            <a:endParaRPr lang="en-US" altLang="zh-CN" sz="2400" b="1"/>
          </a:p>
          <a:p>
            <a:pPr lvl="1" indent="0" fontAlgn="auto">
              <a:spcBef>
                <a:spcPts val="300"/>
              </a:spcBef>
              <a:spcAft>
                <a:spcPts val="300"/>
              </a:spcAft>
            </a:pPr>
            <a:r>
              <a:rPr lang="en-US" altLang="zh-CN"/>
              <a:t>TL;DR: more open-ended instructions, heavy use of synthetic data</a:t>
            </a:r>
            <a:endParaRPr lang="en-US" altLang="zh-CN"/>
          </a:p>
          <a:p>
            <a:pPr indent="0" fontAlgn="auto">
              <a:spcBef>
                <a:spcPts val="300"/>
              </a:spcBef>
              <a:spcAft>
                <a:spcPts val="300"/>
              </a:spcAft>
            </a:pPr>
            <a:endParaRPr lang="en-US" altLang="zh-CN"/>
          </a:p>
          <a:p>
            <a:pPr indent="0" fontAlgn="auto">
              <a:spcBef>
                <a:spcPts val="300"/>
              </a:spcBef>
              <a:spcAft>
                <a:spcPts val="300"/>
              </a:spcAft>
            </a:pPr>
            <a:r>
              <a:rPr lang="en-US" altLang="zh-CN" b="1"/>
              <a:t>Alpaca</a:t>
            </a:r>
            <a:endParaRPr lang="en-US" altLang="zh-CN" b="1"/>
          </a:p>
          <a:p>
            <a:pPr lvl="1" indent="0" fontAlgn="auto">
              <a:spcBef>
                <a:spcPts val="300"/>
              </a:spcBef>
              <a:spcAft>
                <a:spcPts val="300"/>
              </a:spcAft>
            </a:pPr>
            <a:r>
              <a:rPr lang="en-US" altLang="zh-CN"/>
              <a:t>Dataset of 52K examples from text-davinci-003 using self-instruct</a:t>
            </a:r>
            <a:endParaRPr lang="en-US" altLang="zh-CN"/>
          </a:p>
          <a:p>
            <a:pPr lvl="1" indent="0" fontAlgn="auto">
              <a:spcBef>
                <a:spcPts val="300"/>
              </a:spcBef>
              <a:spcAft>
                <a:spcPts val="300"/>
              </a:spcAft>
            </a:pPr>
            <a:r>
              <a:rPr lang="en-US" altLang="zh-CN"/>
              <a:t>Fine-tune LLaMA 7B on this dataset</a:t>
            </a:r>
            <a:endParaRPr lang="en-US" altLang="zh-CN"/>
          </a:p>
          <a:p>
            <a:pPr indent="0" fontAlgn="auto">
              <a:spcBef>
                <a:spcPts val="300"/>
              </a:spcBef>
              <a:spcAft>
                <a:spcPts val="300"/>
              </a:spcAft>
            </a:pPr>
            <a:endParaRPr lang="en-US" altLang="zh-CN"/>
          </a:p>
          <a:p>
            <a:pPr indent="0" fontAlgn="auto">
              <a:spcBef>
                <a:spcPts val="300"/>
              </a:spcBef>
              <a:spcAft>
                <a:spcPts val="300"/>
              </a:spcAft>
            </a:pPr>
            <a:r>
              <a:rPr lang="en-US" altLang="zh-CN" b="1"/>
              <a:t>Vicuna</a:t>
            </a:r>
            <a:endParaRPr lang="en-US" altLang="zh-CN" b="1"/>
          </a:p>
          <a:p>
            <a:pPr lvl="1" indent="0" fontAlgn="auto">
              <a:spcBef>
                <a:spcPts val="300"/>
              </a:spcBef>
              <a:spcAft>
                <a:spcPts val="300"/>
              </a:spcAft>
            </a:pPr>
            <a:r>
              <a:rPr lang="en-US" altLang="zh-CN"/>
              <a:t> Fine-tuned LLaMA on 70K conversations from [ShareGPT]</a:t>
            </a:r>
            <a:endParaRPr lang="en-US" altLang="zh-CN"/>
          </a:p>
          <a:p>
            <a:pPr indent="0" fontAlgn="auto">
              <a:spcBef>
                <a:spcPts val="300"/>
              </a:spcBef>
              <a:spcAft>
                <a:spcPts val="300"/>
              </a:spcAft>
            </a:pPr>
            <a:endParaRPr lang="en-US" altLang="zh-CN"/>
          </a:p>
          <a:p>
            <a:pPr indent="0" fontAlgn="auto">
              <a:spcBef>
                <a:spcPts val="300"/>
              </a:spcBef>
              <a:spcAft>
                <a:spcPts val="300"/>
              </a:spcAft>
            </a:pPr>
            <a:r>
              <a:rPr lang="en-US" altLang="zh-CN" b="1"/>
              <a:t>Baize</a:t>
            </a:r>
            <a:endParaRPr lang="en-US" altLang="zh-CN" b="1"/>
          </a:p>
          <a:p>
            <a:pPr lvl="1" indent="0" fontAlgn="auto">
              <a:spcBef>
                <a:spcPts val="300"/>
              </a:spcBef>
              <a:spcAft>
                <a:spcPts val="300"/>
              </a:spcAft>
            </a:pPr>
            <a:r>
              <a:rPr lang="en-US" altLang="zh-CN"/>
              <a:t>Generate dataset (111.5K examples) from GPT-3.5 using self-chat (seeded with Quora and StackOverflow questions)</a:t>
            </a:r>
            <a:endParaRPr lang="en-US" altLang="zh-CN"/>
          </a:p>
          <a:p>
            <a:pPr lvl="1" indent="0" fontAlgn="auto">
              <a:spcBef>
                <a:spcPts val="300"/>
              </a:spcBef>
              <a:spcAft>
                <a:spcPts val="300"/>
              </a:spcAft>
            </a:pPr>
            <a:r>
              <a:rPr lang="en-US" altLang="zh-CN"/>
              <a:t>Fine-tuned LLaMA on this dataset</a:t>
            </a:r>
            <a:endParaRPr lang="en-US" altLang="zh-CN"/>
          </a:p>
          <a:p>
            <a:pPr indent="0" fontAlgn="auto">
              <a:spcBef>
                <a:spcPts val="300"/>
              </a:spcBef>
              <a:spcAft>
                <a:spcPts val="300"/>
              </a:spcAft>
            </a:pPr>
            <a:endParaRPr lang="en-US" altLang="zh-CN"/>
          </a:p>
          <a:p>
            <a:pPr indent="0" fontAlgn="auto">
              <a:spcBef>
                <a:spcPts val="300"/>
              </a:spcBef>
              <a:spcAft>
                <a:spcPts val="300"/>
              </a:spcAft>
            </a:pPr>
            <a:r>
              <a:rPr lang="en-US" altLang="zh-CN" b="1"/>
              <a:t>WizardLM</a:t>
            </a:r>
            <a:endParaRPr lang="en-US" altLang="zh-CN"/>
          </a:p>
          <a:p>
            <a:pPr lvl="1" indent="0" fontAlgn="auto">
              <a:spcBef>
                <a:spcPts val="300"/>
              </a:spcBef>
              <a:spcAft>
                <a:spcPts val="300"/>
              </a:spcAft>
            </a:pPr>
            <a:r>
              <a:rPr lang="en-US" altLang="zh-CN"/>
              <a:t>Evol-Instruct dataset ('evolve' questions to increase breadth/difficulty) (Figure 1)</a:t>
            </a:r>
            <a:endParaRPr lang="en-US" altLang="zh-CN"/>
          </a:p>
          <a:p>
            <a:pPr lvl="1" indent="0" fontAlgn="auto">
              <a:spcBef>
                <a:spcPts val="300"/>
              </a:spcBef>
              <a:spcAft>
                <a:spcPts val="300"/>
              </a:spcAft>
            </a:pPr>
            <a:r>
              <a:rPr lang="en-US" altLang="zh-CN"/>
              <a:t>Fine-tuned LLaMA on this dataset</a:t>
            </a:r>
            <a:endParaRPr lang="en-US" alt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78435" y="225425"/>
            <a:ext cx="10822305" cy="2522855"/>
          </a:xfrm>
          <a:prstGeom prst="rect">
            <a:avLst/>
          </a:prstGeom>
          <a:noFill/>
        </p:spPr>
        <p:txBody>
          <a:bodyPr wrap="square" rtlCol="0" anchor="t">
            <a:spAutoFit/>
          </a:bodyPr>
          <a:p>
            <a:pPr indent="0" fontAlgn="auto">
              <a:spcBef>
                <a:spcPts val="600"/>
              </a:spcBef>
              <a:spcAft>
                <a:spcPts val="600"/>
              </a:spcAft>
            </a:pPr>
            <a:r>
              <a:rPr lang="en-US" altLang="zh-CN" b="1"/>
              <a:t>Summary</a:t>
            </a:r>
            <a:endParaRPr lang="en-US" altLang="zh-CN" b="1"/>
          </a:p>
          <a:p>
            <a:pPr lvl="1" indent="0" fontAlgn="auto">
              <a:spcBef>
                <a:spcPts val="600"/>
              </a:spcBef>
              <a:spcAft>
                <a:spcPts val="600"/>
              </a:spcAft>
            </a:pPr>
            <a:r>
              <a:rPr lang="en-US" altLang="zh-CN"/>
              <a:t>Key lesson: Data does not fall from the sky. You have to work to get it.</a:t>
            </a:r>
            <a:endParaRPr lang="en-US" altLang="zh-CN"/>
          </a:p>
          <a:p>
            <a:pPr lvl="1" indent="0" fontAlgn="auto">
              <a:spcBef>
                <a:spcPts val="600"/>
              </a:spcBef>
              <a:spcAft>
                <a:spcPts val="600"/>
              </a:spcAft>
            </a:pPr>
            <a:r>
              <a:rPr lang="en-US" altLang="zh-CN"/>
              <a:t>Live service =&gt; raw data =&gt; processed data (conversion, filtering, deduplication)</a:t>
            </a:r>
            <a:endParaRPr lang="en-US" altLang="zh-CN"/>
          </a:p>
          <a:p>
            <a:pPr lvl="1" indent="0" fontAlgn="auto">
              <a:spcBef>
                <a:spcPts val="600"/>
              </a:spcBef>
              <a:spcAft>
                <a:spcPts val="600"/>
              </a:spcAft>
            </a:pPr>
            <a:r>
              <a:rPr lang="en-US" altLang="zh-CN"/>
              <a:t>Data is the key ingredient that differentiates language models</a:t>
            </a:r>
            <a:endParaRPr lang="en-US" altLang="zh-CN"/>
          </a:p>
          <a:p>
            <a:pPr lvl="1" indent="0" fontAlgn="auto">
              <a:spcBef>
                <a:spcPts val="600"/>
              </a:spcBef>
              <a:spcAft>
                <a:spcPts val="600"/>
              </a:spcAft>
            </a:pPr>
            <a:r>
              <a:rPr lang="en-US" altLang="zh-CN"/>
              <a:t>Legal and ethical issues (e.g., copyright and privacy)</a:t>
            </a:r>
            <a:endParaRPr lang="en-US" altLang="zh-CN"/>
          </a:p>
          <a:p>
            <a:pPr lvl="1" indent="0" fontAlgn="auto">
              <a:spcBef>
                <a:spcPts val="600"/>
              </a:spcBef>
              <a:spcAft>
                <a:spcPts val="600"/>
              </a:spcAft>
            </a:pPr>
            <a:r>
              <a:rPr lang="en-US" altLang="zh-CN"/>
              <a:t>Much of this pipeline is heuristic, many opportunities to improve!</a:t>
            </a:r>
            <a:endParaRPr lang="en-US"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4219547" y="2751791"/>
            <a:ext cx="3733800" cy="2264833"/>
          </a:xfrm>
          <a:prstGeom prst="rect">
            <a:avLst/>
          </a:prstGeom>
          <a:noFill/>
          <a:ln w="0" cap="flat">
            <a:noFill/>
            <a:prstDash val="solid"/>
            <a:miter lim="0"/>
          </a:ln>
        </p:spPr>
        <p:txBody>
          <a:bodyPr vert="horz" wrap="square" lIns="0" tIns="0" rIns="0" bIns="0"/>
          <a:lstStyle/>
          <a:p>
            <a:pPr algn="l" rtl="0" eaLnBrk="0">
              <a:lnSpc>
                <a:spcPct val="95000"/>
              </a:lnSpc>
            </a:pPr>
            <a:endParaRPr sz="135" dirty="0">
              <a:latin typeface="Arial" panose="020B0604020202020204"/>
              <a:ea typeface="Arial" panose="020B0604020202020204"/>
              <a:cs typeface="Arial" panose="020B0604020202020204"/>
            </a:endParaRPr>
          </a:p>
          <a:p>
            <a:pPr marL="429895" algn="l" rtl="0" eaLnBrk="0">
              <a:lnSpc>
                <a:spcPct val="78000"/>
              </a:lnSpc>
            </a:pPr>
            <a:r>
              <a:rPr sz="4800" b="1" kern="0" spc="-20" dirty="0">
                <a:solidFill>
                  <a:srgbClr val="000000">
                    <a:alpha val="100000"/>
                  </a:srgbClr>
                </a:solidFill>
                <a:latin typeface="Arial" panose="020B0604020202020204"/>
                <a:ea typeface="Arial" panose="020B0604020202020204"/>
                <a:cs typeface="Arial" panose="020B0604020202020204"/>
              </a:rPr>
              <a:t>Lecture </a:t>
            </a:r>
            <a:r>
              <a:rPr lang="en-US" sz="4800" b="1" kern="0" spc="-20" dirty="0">
                <a:solidFill>
                  <a:srgbClr val="000000">
                    <a:alpha val="100000"/>
                  </a:srgbClr>
                </a:solidFill>
                <a:latin typeface="Arial" panose="020B0604020202020204"/>
                <a:ea typeface="Arial" panose="020B0604020202020204"/>
                <a:cs typeface="Arial" panose="020B0604020202020204"/>
              </a:rPr>
              <a:t>14</a:t>
            </a:r>
            <a:endParaRPr sz="4800" dirty="0">
              <a:latin typeface="Arial" panose="020B0604020202020204"/>
              <a:ea typeface="Arial" panose="020B0604020202020204"/>
              <a:cs typeface="Arial" panose="020B0604020202020204"/>
            </a:endParaRPr>
          </a:p>
          <a:p>
            <a:pPr algn="l" rtl="0" eaLnBrk="0">
              <a:lnSpc>
                <a:spcPct val="130000"/>
              </a:lnSpc>
            </a:pPr>
            <a:endParaRPr sz="1335" dirty="0">
              <a:latin typeface="Arial" panose="020B0604020202020204"/>
              <a:ea typeface="Arial" panose="020B0604020202020204"/>
              <a:cs typeface="Arial" panose="020B0604020202020204"/>
            </a:endParaRPr>
          </a:p>
          <a:p>
            <a:pPr algn="l" rtl="0" eaLnBrk="0">
              <a:lnSpc>
                <a:spcPct val="130000"/>
              </a:lnSpc>
            </a:pPr>
            <a:endParaRPr sz="1335" dirty="0">
              <a:latin typeface="Arial" panose="020B0604020202020204"/>
              <a:ea typeface="Arial" panose="020B0604020202020204"/>
              <a:cs typeface="Arial" panose="020B0604020202020204"/>
            </a:endParaRPr>
          </a:p>
          <a:p>
            <a:pPr algn="l" rtl="0" eaLnBrk="0">
              <a:lnSpc>
                <a:spcPct val="130000"/>
              </a:lnSpc>
            </a:pPr>
            <a:endParaRPr sz="1335" dirty="0">
              <a:latin typeface="Arial" panose="020B0604020202020204"/>
              <a:ea typeface="Arial" panose="020B0604020202020204"/>
              <a:cs typeface="Arial" panose="020B0604020202020204"/>
            </a:endParaRPr>
          </a:p>
          <a:p>
            <a:pPr algn="l" rtl="0" eaLnBrk="0">
              <a:lnSpc>
                <a:spcPct val="114000"/>
              </a:lnSpc>
            </a:pPr>
            <a:endParaRPr sz="535" dirty="0">
              <a:latin typeface="Arial" panose="020B0604020202020204"/>
              <a:ea typeface="Arial" panose="020B0604020202020204"/>
              <a:cs typeface="Arial" panose="020B0604020202020204"/>
            </a:endParaRPr>
          </a:p>
          <a:p>
            <a:pPr marL="1134745" algn="l" rtl="0" eaLnBrk="0">
              <a:lnSpc>
                <a:spcPct val="74000"/>
              </a:lnSpc>
              <a:spcBef>
                <a:spcPts val="5"/>
              </a:spcBef>
            </a:pPr>
            <a:r>
              <a:rPr sz="2400" kern="0" spc="-20" dirty="0">
                <a:solidFill>
                  <a:srgbClr val="595959">
                    <a:alpha val="100000"/>
                  </a:srgbClr>
                </a:solidFill>
                <a:latin typeface="Arial" panose="020B0604020202020204"/>
                <a:ea typeface="Arial" panose="020B0604020202020204"/>
                <a:cs typeface="Arial" panose="020B0604020202020204"/>
              </a:rPr>
              <a:t>CS336</a:t>
            </a:r>
            <a:endParaRPr sz="2400" dirty="0">
              <a:latin typeface="Arial" panose="020B0604020202020204"/>
              <a:ea typeface="Arial" panose="020B0604020202020204"/>
              <a:cs typeface="Arial" panose="020B0604020202020204"/>
            </a:endParaRPr>
          </a:p>
        </p:txBody>
      </p:sp>
      <p:pic>
        <p:nvPicPr>
          <p:cNvPr id="4" name="picture 4"/>
          <p:cNvPicPr>
            <a:picLocks noChangeAspect="1"/>
          </p:cNvPicPr>
          <p:nvPr/>
        </p:nvPicPr>
        <p:blipFill>
          <a:blip r:embed="rId1"/>
          <a:stretch>
            <a:fillRect/>
          </a:stretch>
        </p:blipFill>
        <p:spPr>
          <a:xfrm rot="21600000">
            <a:off x="0" y="6413500"/>
            <a:ext cx="12192000" cy="4445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34315" y="386715"/>
            <a:ext cx="10353675" cy="5107940"/>
          </a:xfrm>
          <a:prstGeom prst="rect">
            <a:avLst/>
          </a:prstGeom>
          <a:noFill/>
        </p:spPr>
        <p:txBody>
          <a:bodyPr wrap="square" rtlCol="0" anchor="t">
            <a:spAutoFit/>
          </a:bodyPr>
          <a:p>
            <a:pPr indent="0" fontAlgn="auto">
              <a:spcBef>
                <a:spcPts val="600"/>
              </a:spcBef>
              <a:spcAft>
                <a:spcPts val="600"/>
              </a:spcAft>
            </a:pPr>
            <a:r>
              <a:rPr lang="en-US" altLang="zh-CN" b="1"/>
              <a:t>Last lecture: </a:t>
            </a:r>
            <a:r>
              <a:rPr lang="en-US" altLang="zh-CN"/>
              <a:t>overview of datasets used for training language models</a:t>
            </a:r>
            <a:endParaRPr lang="en-US" altLang="zh-CN"/>
          </a:p>
          <a:p>
            <a:pPr lvl="1" indent="0" fontAlgn="auto">
              <a:spcBef>
                <a:spcPts val="600"/>
              </a:spcBef>
              <a:spcAft>
                <a:spcPts val="600"/>
              </a:spcAft>
            </a:pPr>
            <a:r>
              <a:rPr lang="en-US" altLang="zh-CN"/>
              <a:t>Live service (GitHub) </a:t>
            </a:r>
            <a:r>
              <a:rPr lang="en-US" altLang="en-US"/>
              <a:t>→</a:t>
            </a:r>
            <a:r>
              <a:rPr lang="en-US" altLang="zh-CN"/>
              <a:t> dump/crawl (GH Archive) </a:t>
            </a:r>
            <a:r>
              <a:rPr lang="en-US" altLang="en-US"/>
              <a:t>→</a:t>
            </a:r>
            <a:r>
              <a:rPr lang="en-US" altLang="zh-CN"/>
              <a:t> processed data (The Stack)</a:t>
            </a:r>
            <a:endParaRPr lang="en-US" altLang="zh-CN"/>
          </a:p>
          <a:p>
            <a:pPr lvl="1" indent="0" fontAlgn="auto">
              <a:spcBef>
                <a:spcPts val="600"/>
              </a:spcBef>
              <a:spcAft>
                <a:spcPts val="600"/>
              </a:spcAft>
            </a:pPr>
            <a:r>
              <a:rPr lang="en-US" altLang="zh-CN"/>
              <a:t>Processing: HTML to text, language/quality/toxicity filtering, deduplication</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b="1"/>
              <a:t>This lecture: </a:t>
            </a:r>
            <a:r>
              <a:rPr lang="en-US" altLang="zh-CN"/>
              <a:t>deep dive into the mechanics</a:t>
            </a:r>
            <a:endParaRPr lang="en-US" altLang="zh-CN"/>
          </a:p>
          <a:p>
            <a:pPr lvl="1" indent="0" fontAlgn="auto">
              <a:spcBef>
                <a:spcPts val="600"/>
              </a:spcBef>
              <a:spcAft>
                <a:spcPts val="600"/>
              </a:spcAft>
            </a:pPr>
            <a:r>
              <a:rPr lang="en-US" altLang="zh-CN"/>
              <a:t>Algorithms for filtering (e.g., classifiers)</a:t>
            </a:r>
            <a:endParaRPr lang="en-US" altLang="zh-CN"/>
          </a:p>
          <a:p>
            <a:pPr lvl="1" indent="0" fontAlgn="auto">
              <a:spcBef>
                <a:spcPts val="600"/>
              </a:spcBef>
              <a:spcAft>
                <a:spcPts val="600"/>
              </a:spcAft>
            </a:pPr>
            <a:r>
              <a:rPr lang="en-US" altLang="zh-CN"/>
              <a:t>Applications of filtering (e.g., language, quality, toxicity)</a:t>
            </a:r>
            <a:endParaRPr lang="en-US" altLang="zh-CN"/>
          </a:p>
          <a:p>
            <a:pPr lvl="1" indent="0" fontAlgn="auto">
              <a:spcBef>
                <a:spcPts val="600"/>
              </a:spcBef>
              <a:spcAft>
                <a:spcPts val="600"/>
              </a:spcAft>
            </a:pPr>
            <a:r>
              <a:rPr lang="en-US" altLang="zh-CN"/>
              <a:t>Deduplication (e.g., Bloom filters, MinHash, LSH)</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b="1"/>
              <a:t>filtering_algorithms()</a:t>
            </a:r>
            <a:endParaRPr lang="en-US" altLang="zh-CN" b="1"/>
          </a:p>
          <a:p>
            <a:pPr indent="0" fontAlgn="auto">
              <a:spcBef>
                <a:spcPts val="600"/>
              </a:spcBef>
              <a:spcAft>
                <a:spcPts val="600"/>
              </a:spcAft>
            </a:pPr>
            <a:r>
              <a:rPr lang="en-US" altLang="zh-CN" b="1"/>
              <a:t>filtering_applications()</a:t>
            </a:r>
            <a:endParaRPr lang="en-US" altLang="zh-CN" b="1"/>
          </a:p>
          <a:p>
            <a:pPr indent="0" fontAlgn="auto">
              <a:spcBef>
                <a:spcPts val="600"/>
              </a:spcBef>
              <a:spcAft>
                <a:spcPts val="600"/>
              </a:spcAft>
            </a:pPr>
            <a:r>
              <a:rPr lang="en-US" altLang="zh-CN" b="1"/>
              <a:t>deduplication()</a:t>
            </a:r>
            <a:endParaRPr lang="en-US" altLang="zh-CN" b="1"/>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96850" y="262890"/>
            <a:ext cx="10878185" cy="1014730"/>
          </a:xfrm>
          <a:prstGeom prst="rect">
            <a:avLst/>
          </a:prstGeom>
          <a:noFill/>
        </p:spPr>
        <p:txBody>
          <a:bodyPr wrap="square" rtlCol="0" anchor="t">
            <a:spAutoFit/>
          </a:bodyPr>
          <a:p>
            <a:r>
              <a:rPr lang="en-US" altLang="zh-CN" sz="2400" b="1"/>
              <a:t>filtering_algorithms():</a:t>
            </a:r>
            <a:endParaRPr lang="en-US" altLang="zh-CN" sz="2400" b="1"/>
          </a:p>
          <a:p>
            <a:r>
              <a:rPr lang="en-US" altLang="zh-CN" b="1"/>
              <a:t>Algorithmic building block:</a:t>
            </a:r>
            <a:endParaRPr lang="en-US" altLang="zh-CN" b="1"/>
          </a:p>
          <a:p>
            <a:pPr indent="457200"/>
            <a:r>
              <a:rPr lang="en-US" altLang="zh-CN"/>
              <a:t>Given some **target data** T and lots of **raw data** R, find subset T' of R similar to T.</a:t>
            </a:r>
            <a:endParaRPr lang="en-US" altLang="zh-CN"/>
          </a:p>
        </p:txBody>
      </p:sp>
      <p:pic>
        <p:nvPicPr>
          <p:cNvPr id="3" name="图片 2"/>
          <p:cNvPicPr>
            <a:picLocks noChangeAspect="1"/>
          </p:cNvPicPr>
          <p:nvPr/>
        </p:nvPicPr>
        <p:blipFill>
          <a:blip r:embed="rId1"/>
          <a:stretch>
            <a:fillRect/>
          </a:stretch>
        </p:blipFill>
        <p:spPr>
          <a:xfrm>
            <a:off x="726440" y="1318895"/>
            <a:ext cx="9777730" cy="480631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96850" y="168910"/>
            <a:ext cx="11103610" cy="922020"/>
          </a:xfrm>
          <a:prstGeom prst="rect">
            <a:avLst/>
          </a:prstGeom>
          <a:noFill/>
        </p:spPr>
        <p:txBody>
          <a:bodyPr wrap="square" rtlCol="0" anchor="t">
            <a:spAutoFit/>
          </a:bodyPr>
          <a:p>
            <a:r>
              <a:rPr lang="en-US" altLang="zh-CN" b="1"/>
              <a:t>Desiderata for filtering algorithm:</a:t>
            </a:r>
            <a:endParaRPr lang="zh-CN" altLang="en-US" b="1"/>
          </a:p>
          <a:p>
            <a:pPr lvl="1"/>
            <a:r>
              <a:rPr lang="en-US" altLang="zh-CN"/>
              <a:t>Generalize from the target data (want T and T' to be different)</a:t>
            </a:r>
            <a:endParaRPr lang="en-US" altLang="zh-CN"/>
          </a:p>
          <a:p>
            <a:pPr lvl="1"/>
            <a:r>
              <a:rPr lang="en-US" altLang="zh-CN"/>
              <a:t>Extremely fast (have to run it on R, which is huge)</a:t>
            </a:r>
            <a:endParaRPr lang="en-US" altLang="zh-CN"/>
          </a:p>
        </p:txBody>
      </p:sp>
      <p:sp>
        <p:nvSpPr>
          <p:cNvPr id="3" name="文本框 2"/>
          <p:cNvSpPr txBox="1"/>
          <p:nvPr/>
        </p:nvSpPr>
        <p:spPr>
          <a:xfrm>
            <a:off x="196850" y="1191260"/>
            <a:ext cx="10840720" cy="1198880"/>
          </a:xfrm>
          <a:prstGeom prst="rect">
            <a:avLst/>
          </a:prstGeom>
          <a:noFill/>
        </p:spPr>
        <p:txBody>
          <a:bodyPr wrap="square" rtlCol="0" anchor="t">
            <a:spAutoFit/>
          </a:bodyPr>
          <a:p>
            <a:r>
              <a:rPr lang="en-US" altLang="zh-CN" b="1"/>
              <a:t>kenlm_main()         </a:t>
            </a:r>
            <a:endParaRPr lang="en-US" altLang="zh-CN" b="1"/>
          </a:p>
          <a:p>
            <a:r>
              <a:rPr lang="en-US" altLang="zh-CN" b="1"/>
              <a:t>fasttext_main()      </a:t>
            </a:r>
            <a:endParaRPr lang="en-US" altLang="zh-CN" b="1"/>
          </a:p>
          <a:p>
            <a:r>
              <a:rPr lang="en-US" altLang="zh-CN" b="1"/>
              <a:t>dsir_main()          </a:t>
            </a:r>
            <a:endParaRPr lang="en-US" altLang="zh-CN" b="1"/>
          </a:p>
          <a:p>
            <a:r>
              <a:rPr lang="en-US" altLang="zh-CN" b="1"/>
              <a:t>filtering_summary()</a:t>
            </a:r>
            <a:endParaRPr lang="zh-CN" altLang="en-US" b="1"/>
          </a:p>
        </p:txBody>
      </p:sp>
      <p:sp>
        <p:nvSpPr>
          <p:cNvPr id="4" name="文本框 3"/>
          <p:cNvSpPr txBox="1"/>
          <p:nvPr/>
        </p:nvSpPr>
        <p:spPr>
          <a:xfrm>
            <a:off x="196850" y="2490470"/>
            <a:ext cx="10015855" cy="4223385"/>
          </a:xfrm>
          <a:prstGeom prst="rect">
            <a:avLst/>
          </a:prstGeom>
          <a:noFill/>
        </p:spPr>
        <p:txBody>
          <a:bodyPr wrap="square" rtlCol="0" anchor="t">
            <a:spAutoFit/>
          </a:bodyPr>
          <a:p>
            <a:pPr indent="0" fontAlgn="auto">
              <a:spcBef>
                <a:spcPts val="300"/>
              </a:spcBef>
              <a:spcAft>
                <a:spcPts val="300"/>
              </a:spcAft>
            </a:pPr>
            <a:r>
              <a:rPr lang="en-US" altLang="zh-CN" b="1"/>
              <a:t>kenlm_main():</a:t>
            </a:r>
            <a:endParaRPr lang="en-US" altLang="zh-CN" b="1"/>
          </a:p>
          <a:p>
            <a:pPr indent="0" fontAlgn="auto">
              <a:spcBef>
                <a:spcPts val="300"/>
              </a:spcBef>
              <a:spcAft>
                <a:spcPts val="300"/>
              </a:spcAft>
            </a:pPr>
            <a:r>
              <a:rPr lang="en-US" altLang="zh-CN" b="1"/>
              <a:t>n-gram model with Kneser-Ney smoothing</a:t>
            </a:r>
            <a:endParaRPr lang="en-US" altLang="zh-CN" b="1"/>
          </a:p>
          <a:p>
            <a:pPr lvl="1" indent="0" fontAlgn="auto">
              <a:spcBef>
                <a:spcPts val="300"/>
              </a:spcBef>
              <a:spcAft>
                <a:spcPts val="300"/>
              </a:spcAft>
            </a:pPr>
            <a:r>
              <a:rPr lang="en-US" altLang="zh-CN" b="1"/>
              <a:t>KenLM</a:t>
            </a:r>
            <a:r>
              <a:rPr lang="en-US" altLang="zh-CN"/>
              <a:t>: fast implementation originally for machine translation</a:t>
            </a:r>
            <a:endParaRPr lang="en-US" altLang="zh-CN"/>
          </a:p>
          <a:p>
            <a:pPr lvl="1" indent="0" fontAlgn="auto">
              <a:spcBef>
                <a:spcPts val="300"/>
              </a:spcBef>
              <a:spcAft>
                <a:spcPts val="300"/>
              </a:spcAft>
            </a:pPr>
            <a:r>
              <a:rPr lang="en-US" altLang="zh-CN"/>
              <a:t>Common language model used for data filtering</a:t>
            </a:r>
            <a:endParaRPr lang="en-US" altLang="zh-CN"/>
          </a:p>
          <a:p>
            <a:pPr lvl="1" indent="0" fontAlgn="auto">
              <a:spcBef>
                <a:spcPts val="300"/>
              </a:spcBef>
              <a:spcAft>
                <a:spcPts val="300"/>
              </a:spcAft>
            </a:pPr>
            <a:r>
              <a:rPr lang="en-US" altLang="zh-CN"/>
              <a:t>Extremely simple / fast - just count and normalize</a:t>
            </a:r>
            <a:endParaRPr lang="en-US" altLang="zh-CN"/>
          </a:p>
          <a:p>
            <a:pPr indent="0" fontAlgn="auto">
              <a:spcBef>
                <a:spcPts val="300"/>
              </a:spcBef>
              <a:spcAft>
                <a:spcPts val="300"/>
              </a:spcAft>
            </a:pPr>
            <a:endParaRPr lang="en-US" altLang="zh-CN" b="1"/>
          </a:p>
          <a:p>
            <a:pPr indent="0" fontAlgn="auto">
              <a:spcBef>
                <a:spcPts val="300"/>
              </a:spcBef>
              <a:spcAft>
                <a:spcPts val="300"/>
              </a:spcAft>
            </a:pPr>
            <a:r>
              <a:rPr lang="en-US" altLang="zh-CN" b="1"/>
              <a:t>Concepts</a:t>
            </a:r>
            <a:endParaRPr lang="en-US" altLang="zh-CN" b="1"/>
          </a:p>
          <a:p>
            <a:pPr lvl="1" indent="0" fontAlgn="auto">
              <a:spcBef>
                <a:spcPts val="300"/>
              </a:spcBef>
              <a:spcAft>
                <a:spcPts val="300"/>
              </a:spcAft>
            </a:pPr>
            <a:r>
              <a:rPr lang="en-US" altLang="zh-CN"/>
              <a:t>Maximum likelihood estimation of n-gram language model:</a:t>
            </a:r>
            <a:endParaRPr lang="en-US" altLang="zh-CN"/>
          </a:p>
          <a:p>
            <a:pPr lvl="2" indent="0" fontAlgn="auto">
              <a:spcBef>
                <a:spcPts val="300"/>
              </a:spcBef>
              <a:spcAft>
                <a:spcPts val="300"/>
              </a:spcAft>
            </a:pPr>
            <a:r>
              <a:rPr lang="en-US" altLang="zh-CN"/>
              <a:t>n = 3: p(in | the cat) = count(the cat in) / count(the cat)</a:t>
            </a:r>
            <a:endParaRPr lang="en-US" altLang="zh-CN"/>
          </a:p>
          <a:p>
            <a:pPr lvl="1" indent="0" fontAlgn="auto">
              <a:spcBef>
                <a:spcPts val="300"/>
              </a:spcBef>
              <a:spcAft>
                <a:spcPts val="300"/>
              </a:spcAft>
            </a:pPr>
            <a:r>
              <a:rPr lang="en-US" altLang="zh-CN"/>
              <a:t>Problem: sparse counts (count of many n-grams is 0 for large n)</a:t>
            </a:r>
            <a:endParaRPr lang="en-US" altLang="zh-CN"/>
          </a:p>
          <a:p>
            <a:pPr lvl="1" indent="0" fontAlgn="auto">
              <a:spcBef>
                <a:spcPts val="300"/>
              </a:spcBef>
              <a:spcAft>
                <a:spcPts val="300"/>
              </a:spcAft>
            </a:pPr>
            <a:r>
              <a:rPr lang="en-US" altLang="zh-CN" b="1"/>
              <a:t>Solution</a:t>
            </a:r>
            <a:r>
              <a:rPr lang="en-US" altLang="zh-CN"/>
              <a:t>: Use Kneser-Ney smoothing to handle unseen n-grams</a:t>
            </a:r>
            <a:endParaRPr lang="en-US" altLang="zh-CN"/>
          </a:p>
          <a:p>
            <a:pPr lvl="2"/>
            <a:endParaRPr lang="en-US" altLang="zh-C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34315" y="243840"/>
            <a:ext cx="8290560" cy="2091690"/>
          </a:xfrm>
          <a:prstGeom prst="rect">
            <a:avLst/>
          </a:prstGeom>
          <a:noFill/>
        </p:spPr>
        <p:txBody>
          <a:bodyPr wrap="square" rtlCol="0" anchor="t">
            <a:spAutoFit/>
          </a:bodyPr>
          <a:p>
            <a:pPr indent="0" fontAlgn="auto">
              <a:spcBef>
                <a:spcPts val="600"/>
              </a:spcBef>
              <a:spcAft>
                <a:spcPts val="600"/>
              </a:spcAft>
            </a:pPr>
            <a:r>
              <a:rPr lang="en-US" altLang="zh-CN" b="1"/>
              <a:t>CCNet</a:t>
            </a:r>
            <a:endParaRPr lang="en-US" altLang="zh-CN" b="1"/>
          </a:p>
          <a:p>
            <a:pPr lvl="1" indent="0" fontAlgn="auto">
              <a:spcBef>
                <a:spcPts val="600"/>
              </a:spcBef>
              <a:spcAft>
                <a:spcPts val="600"/>
              </a:spcAft>
            </a:pPr>
            <a:r>
              <a:rPr lang="en-US" altLang="zh-CN"/>
              <a:t>Items are paragraphs of text</a:t>
            </a:r>
            <a:endParaRPr lang="en-US" altLang="zh-CN"/>
          </a:p>
          <a:p>
            <a:pPr lvl="1" indent="0" fontAlgn="auto">
              <a:spcBef>
                <a:spcPts val="600"/>
              </a:spcBef>
              <a:spcAft>
                <a:spcPts val="600"/>
              </a:spcAft>
            </a:pPr>
            <a:r>
              <a:rPr lang="en-US" altLang="zh-CN"/>
              <a:t>Sort paragraphs by increasing perplexity</a:t>
            </a:r>
            <a:endParaRPr lang="en-US" altLang="zh-CN"/>
          </a:p>
          <a:p>
            <a:pPr lvl="1" indent="0" fontAlgn="auto">
              <a:spcBef>
                <a:spcPts val="600"/>
              </a:spcBef>
              <a:spcAft>
                <a:spcPts val="600"/>
              </a:spcAft>
            </a:pPr>
            <a:r>
              <a:rPr lang="en-US" altLang="zh-CN"/>
              <a:t>Keep the top 1/3</a:t>
            </a:r>
            <a:endParaRPr lang="en-US" altLang="zh-CN"/>
          </a:p>
          <a:p>
            <a:pPr lvl="1" indent="0" fontAlgn="auto">
              <a:spcBef>
                <a:spcPts val="600"/>
              </a:spcBef>
              <a:spcAft>
                <a:spcPts val="600"/>
              </a:spcAft>
            </a:pPr>
            <a:r>
              <a:rPr lang="en-US" altLang="zh-CN"/>
              <a:t>Was used in LLaMA</a:t>
            </a:r>
            <a:endParaRPr lang="en-US" altLang="zh-CN"/>
          </a:p>
        </p:txBody>
      </p:sp>
      <p:sp>
        <p:nvSpPr>
          <p:cNvPr id="5" name="文本框 4"/>
          <p:cNvSpPr txBox="1"/>
          <p:nvPr/>
        </p:nvSpPr>
        <p:spPr>
          <a:xfrm>
            <a:off x="234315" y="2458720"/>
            <a:ext cx="11309350" cy="387350"/>
          </a:xfrm>
          <a:prstGeom prst="rect">
            <a:avLst/>
          </a:prstGeom>
          <a:noFill/>
        </p:spPr>
        <p:txBody>
          <a:bodyPr wrap="square" rtlCol="0" anchor="t">
            <a:noAutofit/>
          </a:bodyPr>
          <a:p>
            <a:r>
              <a:rPr lang="en-US" altLang="zh-CN" b="1"/>
              <a:t>Summary</a:t>
            </a:r>
            <a:r>
              <a:rPr lang="en-US" altLang="zh-CN"/>
              <a:t>: Kneser-Ney n-gram language models (with KenLM implementation) is fast but crude</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8765" y="276860"/>
            <a:ext cx="10770870" cy="6062345"/>
          </a:xfrm>
          <a:prstGeom prst="rect">
            <a:avLst/>
          </a:prstGeom>
          <a:noFill/>
        </p:spPr>
        <p:txBody>
          <a:bodyPr wrap="square" rtlCol="0">
            <a:spAutoFit/>
          </a:bodyPr>
          <a:p>
            <a:pPr indent="0" fontAlgn="auto">
              <a:spcBef>
                <a:spcPts val="600"/>
              </a:spcBef>
              <a:spcAft>
                <a:spcPts val="600"/>
              </a:spcAft>
            </a:pPr>
            <a:r>
              <a:rPr lang="en-US" altLang="zh-CN" sz="2400" b="1"/>
              <a:t>fasttext_main():</a:t>
            </a:r>
            <a:endParaRPr lang="en-US" altLang="zh-CN" sz="2400" b="1"/>
          </a:p>
          <a:p>
            <a:pPr indent="0" fontAlgn="auto">
              <a:spcBef>
                <a:spcPts val="600"/>
              </a:spcBef>
              <a:spcAft>
                <a:spcPts val="600"/>
              </a:spcAft>
            </a:pPr>
            <a:r>
              <a:rPr lang="en-US" altLang="zh-CN" b="1"/>
              <a:t>fastText classifier</a:t>
            </a:r>
            <a:endParaRPr lang="en-US" altLang="zh-CN" b="1"/>
          </a:p>
          <a:p>
            <a:pPr lvl="1" indent="0" fontAlgn="auto">
              <a:spcBef>
                <a:spcPts val="600"/>
              </a:spcBef>
              <a:spcAft>
                <a:spcPts val="600"/>
              </a:spcAft>
            </a:pPr>
            <a:r>
              <a:rPr lang="en-US" altLang="zh-CN"/>
              <a:t>Task: text classification (e.g., sentiment classification)</a:t>
            </a:r>
            <a:endParaRPr lang="en-US" altLang="zh-CN"/>
          </a:p>
          <a:p>
            <a:pPr lvl="1" indent="0" fontAlgn="auto">
              <a:spcBef>
                <a:spcPts val="600"/>
              </a:spcBef>
              <a:spcAft>
                <a:spcPts val="600"/>
              </a:spcAft>
            </a:pPr>
            <a:r>
              <a:rPr lang="en-US" altLang="zh-CN"/>
              <a:t>Goal was to train a fast classifier for text classification</a:t>
            </a:r>
            <a:endParaRPr lang="en-US" altLang="zh-CN"/>
          </a:p>
          <a:p>
            <a:pPr lvl="1" indent="0" fontAlgn="auto">
              <a:spcBef>
                <a:spcPts val="600"/>
              </a:spcBef>
              <a:spcAft>
                <a:spcPts val="600"/>
              </a:spcAft>
            </a:pPr>
            <a:r>
              <a:rPr lang="en-US" altLang="zh-CN"/>
              <a:t>They found it was as good as much slower neural network classifiers</a:t>
            </a:r>
            <a:endParaRPr lang="en-US" altLang="zh-CN"/>
          </a:p>
          <a:p>
            <a:pPr lvl="1" indent="0" fontAlgn="auto">
              <a:spcBef>
                <a:spcPts val="600"/>
              </a:spcBef>
              <a:spcAft>
                <a:spcPts val="600"/>
              </a:spcAft>
            </a:pPr>
            <a:endParaRPr lang="en-US" altLang="zh-CN" b="1"/>
          </a:p>
          <a:p>
            <a:pPr indent="0" fontAlgn="auto">
              <a:spcBef>
                <a:spcPts val="600"/>
              </a:spcBef>
              <a:spcAft>
                <a:spcPts val="600"/>
              </a:spcAft>
            </a:pPr>
            <a:r>
              <a:rPr lang="en-US" altLang="zh-CN" b="1"/>
              <a:t>Baseline: bag of words (not what they did)</a:t>
            </a:r>
            <a:endParaRPr lang="en-US" altLang="zh-CN" b="1"/>
          </a:p>
          <a:p>
            <a:pPr lvl="1" indent="0" fontAlgn="auto">
              <a:spcBef>
                <a:spcPts val="600"/>
              </a:spcBef>
              <a:spcAft>
                <a:spcPts val="600"/>
              </a:spcAft>
            </a:pPr>
            <a:r>
              <a:rPr lang="en-US" altLang="zh-CN"/>
              <a:t>L = 32 </a:t>
            </a:r>
            <a:endParaRPr lang="en-US" altLang="zh-CN"/>
          </a:p>
          <a:p>
            <a:pPr lvl="1" indent="0" fontAlgn="auto">
              <a:spcBef>
                <a:spcPts val="600"/>
              </a:spcBef>
              <a:spcAft>
                <a:spcPts val="600"/>
              </a:spcAft>
            </a:pPr>
            <a:r>
              <a:rPr lang="en-US" altLang="zh-CN"/>
              <a:t>V = 8192</a:t>
            </a:r>
            <a:endParaRPr lang="en-US" altLang="zh-CN"/>
          </a:p>
          <a:p>
            <a:pPr lvl="1" indent="0" fontAlgn="auto">
              <a:spcBef>
                <a:spcPts val="600"/>
              </a:spcBef>
              <a:spcAft>
                <a:spcPts val="600"/>
              </a:spcAft>
            </a:pPr>
            <a:r>
              <a:rPr lang="en-US" altLang="zh-CN"/>
              <a:t>K = 64 </a:t>
            </a:r>
            <a:endParaRPr lang="en-US" altLang="zh-CN"/>
          </a:p>
          <a:p>
            <a:pPr lvl="1" indent="0" fontAlgn="auto">
              <a:spcBef>
                <a:spcPts val="600"/>
              </a:spcBef>
              <a:spcAft>
                <a:spcPts val="600"/>
              </a:spcAft>
            </a:pPr>
            <a:r>
              <a:rPr lang="en-US" altLang="zh-CN"/>
              <a:t>W = nn.Embedding(V, K)</a:t>
            </a:r>
            <a:endParaRPr lang="en-US" altLang="zh-CN"/>
          </a:p>
          <a:p>
            <a:pPr lvl="1" indent="0" fontAlgn="auto">
              <a:spcBef>
                <a:spcPts val="600"/>
              </a:spcBef>
              <a:spcAft>
                <a:spcPts val="600"/>
              </a:spcAft>
            </a:pPr>
            <a:r>
              <a:rPr lang="en-US" altLang="zh-CN"/>
              <a:t>x = torch.randint(V, (L,))</a:t>
            </a:r>
            <a:endParaRPr lang="en-US" altLang="zh-CN"/>
          </a:p>
          <a:p>
            <a:pPr lvl="1" indent="0" fontAlgn="auto">
              <a:spcBef>
                <a:spcPts val="600"/>
              </a:spcBef>
              <a:spcAft>
                <a:spcPts val="600"/>
              </a:spcAft>
            </a:pPr>
            <a:r>
              <a:rPr lang="en-US" altLang="zh-CN"/>
              <a:t>y = softmax(W(x).mean(dim=0))</a:t>
            </a:r>
            <a:endParaRPr lang="en-US" altLang="zh-CN"/>
          </a:p>
          <a:p>
            <a:pPr lvl="1" indent="0" fontAlgn="auto">
              <a:spcBef>
                <a:spcPts val="600"/>
              </a:spcBef>
              <a:spcAft>
                <a:spcPts val="600"/>
              </a:spcAft>
            </a:pPr>
            <a:r>
              <a:rPr lang="en-US" altLang="zh-CN"/>
              <a:t>Problem: V*K parameters (could be huge)</a:t>
            </a:r>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15900" y="299720"/>
            <a:ext cx="10578465" cy="2030095"/>
          </a:xfrm>
          <a:prstGeom prst="rect">
            <a:avLst/>
          </a:prstGeom>
          <a:noFill/>
        </p:spPr>
        <p:txBody>
          <a:bodyPr wrap="square" rtlCol="0" anchor="t">
            <a:spAutoFit/>
          </a:bodyPr>
          <a:p>
            <a:r>
              <a:rPr lang="en-US" altLang="zh-CN" b="1"/>
              <a:t>fastText classifier: bag of word embeddings</a:t>
            </a:r>
            <a:endParaRPr lang="en-US" altLang="zh-CN" b="1"/>
          </a:p>
          <a:p>
            <a:pPr indent="457200"/>
            <a:r>
              <a:rPr lang="en-US" altLang="zh-CN"/>
              <a:t>H = 16                            </a:t>
            </a:r>
            <a:endParaRPr lang="en-US" altLang="zh-CN"/>
          </a:p>
          <a:p>
            <a:r>
              <a:rPr lang="en-US" altLang="zh-CN"/>
              <a:t>       W = nn.Embedding(V, H)             </a:t>
            </a:r>
            <a:endParaRPr lang="en-US" altLang="zh-CN"/>
          </a:p>
          <a:p>
            <a:r>
              <a:rPr lang="en-US" altLang="zh-CN"/>
              <a:t>       parameters (V x H)</a:t>
            </a:r>
            <a:endParaRPr lang="en-US" altLang="zh-CN"/>
          </a:p>
          <a:p>
            <a:r>
              <a:rPr lang="en-US" altLang="zh-CN"/>
              <a:t>       U = nn.Linear(H, K)               </a:t>
            </a:r>
            <a:endParaRPr lang="en-US" altLang="zh-CN"/>
          </a:p>
          <a:p>
            <a:r>
              <a:rPr lang="en-US" altLang="zh-CN"/>
              <a:t>       y = softmax(U(W(x).mean(dim=0)))    </a:t>
            </a:r>
            <a:endParaRPr lang="en-US" altLang="zh-CN"/>
          </a:p>
          <a:p>
            <a:r>
              <a:rPr lang="en-US" altLang="zh-CN"/>
              <a:t>      Only H*(V + K) parameters</a:t>
            </a:r>
            <a:endParaRPr lang="en-US" altLang="zh-CN"/>
          </a:p>
        </p:txBody>
      </p:sp>
      <p:sp>
        <p:nvSpPr>
          <p:cNvPr id="3" name="文本框 2"/>
          <p:cNvSpPr txBox="1"/>
          <p:nvPr/>
        </p:nvSpPr>
        <p:spPr>
          <a:xfrm>
            <a:off x="215900" y="2329815"/>
            <a:ext cx="9521825" cy="922020"/>
          </a:xfrm>
          <a:prstGeom prst="rect">
            <a:avLst/>
          </a:prstGeom>
          <a:noFill/>
        </p:spPr>
        <p:txBody>
          <a:bodyPr wrap="square" rtlCol="0">
            <a:spAutoFit/>
          </a:bodyPr>
          <a:p>
            <a:r>
              <a:rPr lang="en-US" altLang="zh-CN" b="1"/>
              <a:t>Implementation:</a:t>
            </a:r>
            <a:endParaRPr lang="en-US" altLang="zh-CN" b="1"/>
          </a:p>
          <a:p>
            <a:pPr lvl="1"/>
            <a:r>
              <a:rPr lang="en-US" altLang="zh-CN"/>
              <a:t>Parallelized, asynchronous SGD</a:t>
            </a:r>
            <a:endParaRPr lang="en-US" altLang="zh-CN"/>
          </a:p>
          <a:p>
            <a:pPr lvl="1"/>
            <a:r>
              <a:rPr lang="en-US" altLang="zh-CN"/>
              <a:t>Learning rate: linear interpolation from [some number] to 0</a:t>
            </a:r>
            <a:endParaRPr lang="en-US" altLang="zh-CN"/>
          </a:p>
        </p:txBody>
      </p:sp>
      <p:sp>
        <p:nvSpPr>
          <p:cNvPr id="4" name="文本框 3"/>
          <p:cNvSpPr txBox="1"/>
          <p:nvPr/>
        </p:nvSpPr>
        <p:spPr>
          <a:xfrm>
            <a:off x="224790" y="3251835"/>
            <a:ext cx="9800590" cy="1753235"/>
          </a:xfrm>
          <a:prstGeom prst="rect">
            <a:avLst/>
          </a:prstGeom>
          <a:noFill/>
        </p:spPr>
        <p:txBody>
          <a:bodyPr wrap="square" rtlCol="0">
            <a:spAutoFit/>
          </a:bodyPr>
          <a:p>
            <a:r>
              <a:rPr lang="en-US" altLang="zh-CN" b="1"/>
              <a:t>Bag of n-grams</a:t>
            </a:r>
            <a:endParaRPr lang="en-US" altLang="zh-CN" b="1"/>
          </a:p>
          <a:p>
            <a:pPr lvl="1"/>
            <a:r>
              <a:rPr lang="en-US" altLang="zh-CN"/>
              <a:t>x = ["the cat", "cat in", "in the", "the hat"]</a:t>
            </a:r>
            <a:endParaRPr lang="en-US" altLang="zh-CN"/>
          </a:p>
          <a:p>
            <a:pPr lvl="1"/>
            <a:r>
              <a:rPr lang="en-US" altLang="zh-CN"/>
              <a:t>Problem: number of bigrams can get large (and also be unbounded)</a:t>
            </a:r>
            <a:endParaRPr lang="en-US" altLang="zh-CN"/>
          </a:p>
          <a:p>
            <a:pPr lvl="1"/>
            <a:r>
              <a:rPr lang="en-US" altLang="zh-CN"/>
              <a:t>Solution: hashing trick</a:t>
            </a:r>
            <a:endParaRPr lang="en-US" altLang="zh-CN"/>
          </a:p>
          <a:p>
            <a:pPr lvl="1"/>
            <a:r>
              <a:rPr lang="en-US" altLang="zh-CN"/>
              <a:t>num_bins = 8</a:t>
            </a:r>
            <a:endParaRPr lang="en-US" altLang="zh-CN"/>
          </a:p>
          <a:p>
            <a:pPr lvl="1"/>
            <a:r>
              <a:rPr lang="en-US" altLang="zh-CN"/>
              <a:t>hashed_x = [mmh3.hash(bigram) % num_bins for bigram in x]</a:t>
            </a:r>
            <a:endParaRPr lang="en-US" altLang="zh-CN"/>
          </a:p>
        </p:txBody>
      </p:sp>
      <p:sp>
        <p:nvSpPr>
          <p:cNvPr id="5" name="文本框 4"/>
          <p:cNvSpPr txBox="1"/>
          <p:nvPr/>
        </p:nvSpPr>
        <p:spPr>
          <a:xfrm>
            <a:off x="215900" y="5155565"/>
            <a:ext cx="8584565" cy="1198880"/>
          </a:xfrm>
          <a:prstGeom prst="rect">
            <a:avLst/>
          </a:prstGeom>
          <a:noFill/>
        </p:spPr>
        <p:txBody>
          <a:bodyPr wrap="square" rtlCol="0">
            <a:spAutoFit/>
          </a:bodyPr>
          <a:p>
            <a:pPr lvl="1"/>
            <a:r>
              <a:rPr lang="en-US" altLang="zh-CN"/>
              <a:t>For quality filtering, we have K = 2 classes (good versus bad)</a:t>
            </a:r>
            <a:endParaRPr lang="en-US" altLang="zh-CN"/>
          </a:p>
          <a:p>
            <a:pPr lvl="1"/>
            <a:r>
              <a:rPr lang="en-US" altLang="zh-CN"/>
              <a:t>In that case, fastText is just a linear classifier (H = K = 2)</a:t>
            </a:r>
            <a:endParaRPr lang="en-US" altLang="zh-CN"/>
          </a:p>
          <a:p>
            <a:endParaRPr lang="en-US" altLang="zh-CN"/>
          </a:p>
          <a:p>
            <a:r>
              <a:rPr lang="en-US" altLang="zh-CN" b="1"/>
              <a:t>In general, can use any classifier (e.g., BERT, Llama), it's just slower</a:t>
            </a:r>
            <a:endParaRPr lang="en-US" altLang="zh-CN" b="1"/>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15900" y="187960"/>
            <a:ext cx="9152890" cy="737235"/>
          </a:xfrm>
          <a:prstGeom prst="rect">
            <a:avLst/>
          </a:prstGeom>
          <a:noFill/>
        </p:spPr>
        <p:txBody>
          <a:bodyPr wrap="square" rtlCol="0" anchor="t">
            <a:spAutoFit/>
          </a:bodyPr>
          <a:p>
            <a:r>
              <a:rPr lang="en-US" altLang="zh-CN" sz="2400" b="1"/>
              <a:t>dsir_main():</a:t>
            </a:r>
            <a:endParaRPr lang="en-US" altLang="zh-CN" sz="2400" b="1"/>
          </a:p>
          <a:p>
            <a:pPr indent="457200"/>
            <a:r>
              <a:rPr lang="en-US" altLang="zh-CN"/>
              <a:t>Data Selection for Language Models via Importance Resampling (DSIR)</a:t>
            </a:r>
            <a:endParaRPr lang="en-US" altLang="zh-CN"/>
          </a:p>
        </p:txBody>
      </p:sp>
      <p:pic>
        <p:nvPicPr>
          <p:cNvPr id="3" name="图片 2"/>
          <p:cNvPicPr>
            <a:picLocks noChangeAspect="1"/>
          </p:cNvPicPr>
          <p:nvPr/>
        </p:nvPicPr>
        <p:blipFill>
          <a:blip r:embed="rId1"/>
          <a:stretch>
            <a:fillRect/>
          </a:stretch>
        </p:blipFill>
        <p:spPr>
          <a:xfrm>
            <a:off x="1125855" y="1020445"/>
            <a:ext cx="9453245" cy="514540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1920" y="225425"/>
            <a:ext cx="6096000" cy="1291590"/>
          </a:xfrm>
          <a:prstGeom prst="rect">
            <a:avLst/>
          </a:prstGeom>
          <a:noFill/>
        </p:spPr>
        <p:txBody>
          <a:bodyPr wrap="square" rtlCol="0" anchor="t">
            <a:spAutoFit/>
          </a:bodyPr>
          <a:p>
            <a:r>
              <a:rPr lang="en-US" altLang="zh-CN" sz="2400" b="1"/>
              <a:t>importance_sampling():</a:t>
            </a:r>
            <a:endParaRPr lang="en-US" altLang="zh-CN" sz="2400" b="1"/>
          </a:p>
          <a:p>
            <a:r>
              <a:rPr lang="en-US" altLang="zh-CN" b="1"/>
              <a:t>Setup:</a:t>
            </a:r>
            <a:endParaRPr lang="en-US" altLang="zh-CN" b="1"/>
          </a:p>
          <a:p>
            <a:pPr lvl="1"/>
            <a:r>
              <a:rPr lang="en-US" altLang="zh-CN"/>
              <a:t>Target distribution p (want samples from here)</a:t>
            </a:r>
            <a:endParaRPr lang="en-US" altLang="zh-CN"/>
          </a:p>
          <a:p>
            <a:pPr lvl="1"/>
            <a:r>
              <a:rPr lang="en-US" altLang="zh-CN"/>
              <a:t>Proposal distribution q (have samples from here)</a:t>
            </a:r>
            <a:endParaRPr lang="en-US" altLang="zh-CN"/>
          </a:p>
        </p:txBody>
      </p:sp>
      <p:sp>
        <p:nvSpPr>
          <p:cNvPr id="3" name="文本框 2"/>
          <p:cNvSpPr txBox="1"/>
          <p:nvPr/>
        </p:nvSpPr>
        <p:spPr>
          <a:xfrm>
            <a:off x="121920" y="1424305"/>
            <a:ext cx="9578340" cy="5131435"/>
          </a:xfrm>
          <a:prstGeom prst="rect">
            <a:avLst/>
          </a:prstGeom>
          <a:noFill/>
        </p:spPr>
        <p:txBody>
          <a:bodyPr wrap="square" rtlCol="0">
            <a:spAutoFit/>
          </a:bodyPr>
          <a:p>
            <a:pPr lvl="1"/>
            <a:r>
              <a:rPr lang="en-US" altLang="zh-CN"/>
              <a:t>vocabulary = [0, 1, 2, 3]</a:t>
            </a:r>
            <a:endParaRPr lang="en-US" altLang="zh-CN"/>
          </a:p>
          <a:p>
            <a:pPr lvl="1"/>
            <a:r>
              <a:rPr lang="en-US" altLang="zh-CN"/>
              <a:t>p = [0.1, 0.2, 0.3, 0.4]</a:t>
            </a:r>
            <a:endParaRPr lang="en-US" altLang="zh-CN"/>
          </a:p>
          <a:p>
            <a:pPr lvl="1"/>
            <a:r>
              <a:rPr lang="en-US" altLang="zh-CN"/>
              <a:t>q = [0.4, 0.3, 0.2, 0.1]</a:t>
            </a:r>
            <a:endParaRPr lang="en-US" altLang="zh-CN"/>
          </a:p>
          <a:p>
            <a:pPr indent="0" fontAlgn="auto">
              <a:spcBef>
                <a:spcPts val="300"/>
              </a:spcBef>
              <a:spcAft>
                <a:spcPts val="300"/>
              </a:spcAft>
            </a:pPr>
            <a:r>
              <a:rPr lang="en-US" altLang="zh-CN" b="1"/>
              <a:t> # 1. Sample from q</a:t>
            </a:r>
            <a:endParaRPr lang="en-US" altLang="zh-CN" b="1"/>
          </a:p>
          <a:p>
            <a:pPr indent="0" fontAlgn="auto">
              <a:spcBef>
                <a:spcPts val="300"/>
              </a:spcBef>
              <a:spcAft>
                <a:spcPts val="300"/>
              </a:spcAft>
            </a:pPr>
            <a:r>
              <a:rPr lang="en-US" altLang="zh-CN"/>
              <a:t>    n = 100</a:t>
            </a:r>
            <a:endParaRPr lang="en-US" altLang="zh-CN"/>
          </a:p>
          <a:p>
            <a:pPr indent="0" fontAlgn="auto">
              <a:spcBef>
                <a:spcPts val="300"/>
              </a:spcBef>
              <a:spcAft>
                <a:spcPts val="300"/>
              </a:spcAft>
            </a:pPr>
            <a:r>
              <a:rPr lang="en-US" altLang="zh-CN"/>
              <a:t>    samples = np.random.choice(vocabulary, p=q, size = n)  # @inspect samples</a:t>
            </a:r>
            <a:endParaRPr lang="en-US" altLang="zh-CN"/>
          </a:p>
          <a:p>
            <a:pPr indent="0" fontAlgn="auto">
              <a:spcBef>
                <a:spcPts val="300"/>
              </a:spcBef>
              <a:spcAft>
                <a:spcPts val="300"/>
              </a:spcAft>
            </a:pPr>
            <a:endParaRPr lang="en-US" altLang="zh-CN"/>
          </a:p>
          <a:p>
            <a:pPr indent="0" fontAlgn="auto">
              <a:spcBef>
                <a:spcPts val="300"/>
              </a:spcBef>
              <a:spcAft>
                <a:spcPts val="300"/>
              </a:spcAft>
            </a:pPr>
            <a:endParaRPr lang="en-US" altLang="zh-CN"/>
          </a:p>
          <a:p>
            <a:pPr indent="0" fontAlgn="auto">
              <a:spcBef>
                <a:spcPts val="300"/>
              </a:spcBef>
              <a:spcAft>
                <a:spcPts val="300"/>
              </a:spcAft>
            </a:pPr>
            <a:r>
              <a:rPr lang="en-US" altLang="zh-CN" b="1"/>
              <a:t># 2. Compute weights over samples (w \propto p/q)</a:t>
            </a:r>
            <a:endParaRPr lang="en-US" altLang="zh-CN" b="1"/>
          </a:p>
          <a:p>
            <a:pPr indent="0" fontAlgn="auto">
              <a:spcBef>
                <a:spcPts val="300"/>
              </a:spcBef>
              <a:spcAft>
                <a:spcPts val="300"/>
              </a:spcAft>
            </a:pPr>
            <a:r>
              <a:rPr lang="en-US" altLang="zh-CN"/>
              <a:t>    w = [p[x] / q[x] for x in samples]  # @inspect w</a:t>
            </a:r>
            <a:endParaRPr lang="en-US" altLang="zh-CN"/>
          </a:p>
          <a:p>
            <a:pPr indent="0" fontAlgn="auto">
              <a:spcBef>
                <a:spcPts val="300"/>
              </a:spcBef>
              <a:spcAft>
                <a:spcPts val="300"/>
              </a:spcAft>
            </a:pPr>
            <a:r>
              <a:rPr lang="en-US" altLang="zh-CN"/>
              <a:t>    z = sum(w)  # @inspect z</a:t>
            </a:r>
            <a:endParaRPr lang="en-US" altLang="zh-CN"/>
          </a:p>
          <a:p>
            <a:pPr indent="0" fontAlgn="auto">
              <a:spcBef>
                <a:spcPts val="300"/>
              </a:spcBef>
              <a:spcAft>
                <a:spcPts val="300"/>
              </a:spcAft>
            </a:pPr>
            <a:r>
              <a:rPr lang="en-US" altLang="zh-CN"/>
              <a:t>    w = [w_i / z for w_i in w]  # @inspect w</a:t>
            </a:r>
            <a:endParaRPr lang="en-US" altLang="zh-CN"/>
          </a:p>
          <a:p>
            <a:pPr indent="0" fontAlgn="auto">
              <a:spcBef>
                <a:spcPts val="300"/>
              </a:spcBef>
              <a:spcAft>
                <a:spcPts val="300"/>
              </a:spcAft>
            </a:pPr>
            <a:r>
              <a:rPr lang="en-US" altLang="zh-CN" b="1"/>
              <a:t># 3. Resample</a:t>
            </a:r>
            <a:endParaRPr lang="en-US" altLang="zh-CN" b="1"/>
          </a:p>
          <a:p>
            <a:pPr indent="0" fontAlgn="auto">
              <a:spcBef>
                <a:spcPts val="300"/>
              </a:spcBef>
              <a:spcAft>
                <a:spcPts val="300"/>
              </a:spcAft>
            </a:pPr>
            <a:r>
              <a:rPr lang="en-US" altLang="zh-CN"/>
              <a:t>    samples = np.random.choice(samples, p=w, size=n)  # @inspect samples</a:t>
            </a:r>
            <a:endParaRPr lang="en-US" altLang="zh-CN"/>
          </a:p>
          <a:p>
            <a:pPr indent="0" fontAlgn="auto">
              <a:spcBef>
                <a:spcPts val="300"/>
              </a:spcBef>
              <a:spcAft>
                <a:spcPts val="300"/>
              </a:spcAft>
            </a:pPr>
            <a:r>
              <a:rPr lang="en-US" altLang="zh-CN"/>
              <a:t>  </a:t>
            </a:r>
            <a:endParaRPr lang="en-US" altLang="zh-CN"/>
          </a:p>
        </p:txBody>
      </p:sp>
      <p:pic>
        <p:nvPicPr>
          <p:cNvPr id="4" name="图片 3"/>
          <p:cNvPicPr>
            <a:picLocks noChangeAspect="1"/>
          </p:cNvPicPr>
          <p:nvPr/>
        </p:nvPicPr>
        <p:blipFill>
          <a:blip r:embed="rId1"/>
          <a:stretch>
            <a:fillRect/>
          </a:stretch>
        </p:blipFill>
        <p:spPr>
          <a:xfrm>
            <a:off x="449580" y="3306445"/>
            <a:ext cx="8553450" cy="619125"/>
          </a:xfrm>
          <a:prstGeom prst="rect">
            <a:avLst/>
          </a:prstGeom>
        </p:spPr>
      </p:pic>
      <p:pic>
        <p:nvPicPr>
          <p:cNvPr id="5" name="图片 4"/>
          <p:cNvPicPr>
            <a:picLocks noChangeAspect="1"/>
          </p:cNvPicPr>
          <p:nvPr/>
        </p:nvPicPr>
        <p:blipFill>
          <a:blip r:embed="rId2"/>
          <a:stretch>
            <a:fillRect/>
          </a:stretch>
        </p:blipFill>
        <p:spPr>
          <a:xfrm>
            <a:off x="449580" y="6110605"/>
            <a:ext cx="8524875" cy="60007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71780" y="113030"/>
            <a:ext cx="11028680" cy="5631180"/>
          </a:xfrm>
          <a:prstGeom prst="rect">
            <a:avLst/>
          </a:prstGeom>
          <a:noFill/>
        </p:spPr>
        <p:txBody>
          <a:bodyPr wrap="square" rtlCol="0" anchor="t">
            <a:spAutoFit/>
          </a:bodyPr>
          <a:p>
            <a:r>
              <a:rPr lang="en-US" altLang="zh-CN" b="1"/>
              <a:t>Setup:</a:t>
            </a:r>
            <a:endParaRPr lang="en-US" altLang="zh-CN" b="1"/>
          </a:p>
          <a:p>
            <a:pPr lvl="1"/>
            <a:r>
              <a:rPr lang="en-US" altLang="zh-CN"/>
              <a:t>Target dataset D_p (small)</a:t>
            </a:r>
            <a:endParaRPr lang="en-US" altLang="zh-CN"/>
          </a:p>
          <a:p>
            <a:pPr lvl="1"/>
            <a:r>
              <a:rPr lang="en-US" altLang="zh-CN"/>
              <a:t>Proposal (raw) dataset D_q (large)</a:t>
            </a:r>
            <a:endParaRPr lang="en-US" altLang="zh-CN"/>
          </a:p>
          <a:p>
            <a:endParaRPr lang="en-US" altLang="zh-CN"/>
          </a:p>
          <a:p>
            <a:r>
              <a:rPr lang="en-US" altLang="zh-CN" b="1"/>
              <a:t>Take 1:</a:t>
            </a:r>
            <a:endParaRPr lang="en-US" altLang="zh-CN" b="1"/>
          </a:p>
          <a:p>
            <a:pPr lvl="1"/>
            <a:r>
              <a:rPr lang="en-US" altLang="zh-CN"/>
              <a:t>Fit target distribution p to D_p</a:t>
            </a:r>
            <a:endParaRPr lang="en-US" altLang="zh-CN"/>
          </a:p>
          <a:p>
            <a:pPr lvl="1"/>
            <a:r>
              <a:rPr lang="en-US" altLang="zh-CN"/>
              <a:t>Fit proposal distribution q to D_q</a:t>
            </a:r>
            <a:endParaRPr lang="en-US" altLang="zh-CN"/>
          </a:p>
          <a:p>
            <a:pPr lvl="1"/>
            <a:r>
              <a:rPr lang="en-US" altLang="zh-CN"/>
              <a:t>Do importance resampling with p, q, and raw samples D_q</a:t>
            </a:r>
            <a:endParaRPr lang="en-US" altLang="zh-CN"/>
          </a:p>
          <a:p>
            <a:r>
              <a:rPr lang="en-US" altLang="zh-CN" b="1"/>
              <a:t>Problem</a:t>
            </a:r>
            <a:r>
              <a:rPr lang="en-US" altLang="zh-CN"/>
              <a:t>: target data D_p is too small to estimate a good model</a:t>
            </a:r>
            <a:endParaRPr lang="en-US" altLang="zh-CN"/>
          </a:p>
          <a:p>
            <a:endParaRPr lang="en-US" altLang="zh-CN"/>
          </a:p>
          <a:p>
            <a:r>
              <a:rPr lang="en-US" altLang="zh-CN" b="1"/>
              <a:t>Take 2: use hashed n-grams</a:t>
            </a:r>
            <a:endParaRPr lang="en-US" altLang="zh-CN" b="1"/>
          </a:p>
          <a:p>
            <a:pPr lvl="1"/>
            <a:r>
              <a:rPr lang="en-US" altLang="zh-CN"/>
              <a:t>training_text = "the cat in the hat"</a:t>
            </a:r>
            <a:endParaRPr lang="en-US" altLang="zh-CN"/>
          </a:p>
          <a:p>
            <a:pPr lvl="1"/>
            <a:r>
              <a:rPr lang="en-US" altLang="zh-CN"/>
              <a:t>num_bins = 4</a:t>
            </a:r>
            <a:endParaRPr lang="en-US" altLang="zh-CN"/>
          </a:p>
          <a:p>
            <a:pPr lvl="1"/>
            <a:r>
              <a:rPr lang="en-US" altLang="zh-CN"/>
              <a:t>    def get_hashed_ngrams(text: str):</a:t>
            </a:r>
            <a:endParaRPr lang="en-US" altLang="zh-CN"/>
          </a:p>
          <a:p>
            <a:pPr lvl="1"/>
            <a:r>
              <a:rPr lang="en-US" altLang="zh-CN"/>
              <a:t>        ngrams = text.split(" ")  # Unigram for now</a:t>
            </a:r>
            <a:endParaRPr lang="en-US" altLang="zh-CN"/>
          </a:p>
          <a:p>
            <a:pPr lvl="1"/>
            <a:r>
              <a:rPr lang="en-US" altLang="zh-CN"/>
              <a:t>        return [mmh3.hash(ngram) % num_bins for ngram in ngrams]</a:t>
            </a:r>
            <a:endParaRPr lang="en-US" altLang="zh-CN"/>
          </a:p>
          <a:p>
            <a:pPr lvl="1"/>
            <a:endParaRPr lang="en-US" altLang="zh-CN"/>
          </a:p>
          <a:p>
            <a:pPr lvl="1"/>
            <a:r>
              <a:rPr lang="en-US" altLang="zh-CN"/>
              <a:t> training_hashed_ngrams = get_hashed_ngrams(training_text)</a:t>
            </a:r>
            <a:endParaRPr lang="en-US" altLang="zh-CN"/>
          </a:p>
          <a:p>
            <a:endParaRPr lang="en-US" altLang="zh-CN"/>
          </a:p>
          <a:p>
            <a:r>
              <a:rPr lang="en-US" altLang="zh-CN" b="1"/>
              <a:t>probs </a:t>
            </a:r>
            <a:r>
              <a:rPr lang="en-US" altLang="zh-CN"/>
              <a:t>= [count(training_hashed_ngrams, x) / len(training_hashed_ngrams) for x in range(num_bins)]</a:t>
            </a:r>
            <a:endParaRPr lang="en-US" altLang="zh-C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09880" y="383540"/>
            <a:ext cx="11010265" cy="1660525"/>
          </a:xfrm>
          <a:prstGeom prst="rect">
            <a:avLst/>
          </a:prstGeom>
          <a:noFill/>
        </p:spPr>
        <p:txBody>
          <a:bodyPr wrap="square" rtlCol="0" anchor="t">
            <a:spAutoFit/>
          </a:bodyPr>
          <a:p>
            <a:pPr indent="0" fontAlgn="auto">
              <a:spcBef>
                <a:spcPts val="600"/>
              </a:spcBef>
              <a:spcAft>
                <a:spcPts val="600"/>
              </a:spcAft>
            </a:pPr>
            <a:r>
              <a:rPr lang="en-US" altLang="zh-CN" b="1"/>
              <a:t>Evaluate probability of any sentence</a:t>
            </a:r>
            <a:endParaRPr lang="en-US" altLang="zh-CN" b="1"/>
          </a:p>
          <a:p>
            <a:pPr indent="0" fontAlgn="auto">
              <a:spcBef>
                <a:spcPts val="600"/>
              </a:spcBef>
              <a:spcAft>
                <a:spcPts val="600"/>
              </a:spcAft>
            </a:pPr>
            <a:r>
              <a:rPr lang="en-US" altLang="zh-CN"/>
              <a:t>    hashed_ngrams = get_hashed_ngrams("the text")  </a:t>
            </a:r>
            <a:endParaRPr lang="en-US" altLang="zh-CN"/>
          </a:p>
          <a:p>
            <a:pPr indent="0" fontAlgn="auto">
              <a:spcBef>
                <a:spcPts val="600"/>
              </a:spcBef>
              <a:spcAft>
                <a:spcPts val="600"/>
              </a:spcAft>
            </a:pPr>
            <a:r>
              <a:rPr lang="en-US" altLang="zh-CN"/>
              <a:t>    prob = np.prod([probs[x] for x in hashed_ngrams])  </a:t>
            </a:r>
            <a:endParaRPr lang="en-US" altLang="zh-CN"/>
          </a:p>
          <a:p>
            <a:pPr indent="0" fontAlgn="auto">
              <a:spcBef>
                <a:spcPts val="600"/>
              </a:spcBef>
              <a:spcAft>
                <a:spcPts val="600"/>
              </a:spcAft>
            </a:pPr>
            <a:r>
              <a:rPr lang="en-US" altLang="zh-CN"/>
              <a:t>    Result: DSIR slightly better than heuristic classification (fastText) on the [GLUE]</a:t>
            </a:r>
            <a:endParaRPr lang="zh-CN" altLang="en-US"/>
          </a:p>
        </p:txBody>
      </p:sp>
      <p:pic>
        <p:nvPicPr>
          <p:cNvPr id="3" name="图片 2"/>
          <p:cNvPicPr>
            <a:picLocks noChangeAspect="1"/>
          </p:cNvPicPr>
          <p:nvPr/>
        </p:nvPicPr>
        <p:blipFill>
          <a:blip r:embed="rId1"/>
          <a:stretch>
            <a:fillRect/>
          </a:stretch>
        </p:blipFill>
        <p:spPr>
          <a:xfrm>
            <a:off x="309880" y="2145665"/>
            <a:ext cx="11536045" cy="1965960"/>
          </a:xfrm>
          <a:prstGeom prst="rect">
            <a:avLst/>
          </a:prstGeom>
        </p:spPr>
      </p:pic>
      <p:sp>
        <p:nvSpPr>
          <p:cNvPr id="4" name="文本框 3"/>
          <p:cNvSpPr txBox="1"/>
          <p:nvPr/>
        </p:nvSpPr>
        <p:spPr>
          <a:xfrm>
            <a:off x="309880" y="4306570"/>
            <a:ext cx="9446895" cy="1660525"/>
          </a:xfrm>
          <a:prstGeom prst="rect">
            <a:avLst/>
          </a:prstGeom>
          <a:noFill/>
        </p:spPr>
        <p:txBody>
          <a:bodyPr wrap="square" rtlCol="0">
            <a:spAutoFit/>
          </a:bodyPr>
          <a:p>
            <a:pPr indent="0" fontAlgn="auto">
              <a:spcBef>
                <a:spcPts val="600"/>
              </a:spcBef>
              <a:spcAft>
                <a:spcPts val="600"/>
              </a:spcAft>
            </a:pPr>
            <a:r>
              <a:rPr lang="en-US" altLang="zh-CN" b="1"/>
              <a:t>Comparison with fastText:</a:t>
            </a:r>
            <a:endParaRPr lang="en-US" altLang="zh-CN" b="1"/>
          </a:p>
          <a:p>
            <a:pPr indent="0" fontAlgn="auto">
              <a:spcBef>
                <a:spcPts val="600"/>
              </a:spcBef>
              <a:spcAft>
                <a:spcPts val="600"/>
              </a:spcAft>
            </a:pPr>
            <a:r>
              <a:rPr lang="en-US" altLang="zh-CN"/>
              <a:t>     Modeling distributions is a more principled approach capturing diversity</a:t>
            </a:r>
            <a:endParaRPr lang="en-US" altLang="zh-CN"/>
          </a:p>
          <a:p>
            <a:pPr indent="0" fontAlgn="auto">
              <a:spcBef>
                <a:spcPts val="600"/>
              </a:spcBef>
              <a:spcAft>
                <a:spcPts val="600"/>
              </a:spcAft>
            </a:pPr>
            <a:r>
              <a:rPr lang="en-US" altLang="zh-CN"/>
              <a:t>     Similar computation complexity</a:t>
            </a:r>
            <a:endParaRPr lang="en-US" altLang="zh-CN"/>
          </a:p>
          <a:p>
            <a:pPr indent="0" fontAlgn="auto">
              <a:spcBef>
                <a:spcPts val="600"/>
              </a:spcBef>
              <a:spcAft>
                <a:spcPts val="600"/>
              </a:spcAft>
            </a:pPr>
            <a:r>
              <a:rPr lang="en-US" altLang="zh-CN"/>
              <a:t>     Both can be improved by better modeling</a:t>
            </a:r>
            <a:endParaRPr lang="en-US" alt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71780" y="187325"/>
            <a:ext cx="10950575" cy="5723890"/>
          </a:xfrm>
          <a:prstGeom prst="rect">
            <a:avLst/>
          </a:prstGeom>
          <a:noFill/>
        </p:spPr>
        <p:txBody>
          <a:bodyPr wrap="square" rtlCol="0" anchor="t">
            <a:spAutoFit/>
          </a:bodyPr>
          <a:p>
            <a:r>
              <a:rPr lang="en-US" altLang="zh-CN" sz="2400" b="1"/>
              <a:t>filtering_summary():</a:t>
            </a:r>
            <a:endParaRPr lang="en-US" altLang="zh-CN" sz="2400" b="1"/>
          </a:p>
          <a:p>
            <a:pPr lvl="1"/>
            <a:r>
              <a:rPr lang="en-US" altLang="zh-CN"/>
              <a:t>Implementations: KenLM, fastText, DSIR</a:t>
            </a:r>
            <a:endParaRPr lang="en-US" altLang="zh-CN"/>
          </a:p>
          <a:p>
            <a:endParaRPr lang="en-US" altLang="zh-CN" b="1"/>
          </a:p>
          <a:p>
            <a:r>
              <a:rPr lang="en-US" altLang="zh-CN" b="1"/>
              <a:t>General framework</a:t>
            </a:r>
            <a:endParaRPr lang="en-US" altLang="zh-CN" b="1"/>
          </a:p>
          <a:p>
            <a:r>
              <a:rPr lang="en-US" altLang="zh-CN"/>
              <a:t>Given target T and raw R, find subset of R similar to T</a:t>
            </a:r>
            <a:endParaRPr lang="en-US" altLang="zh-CN"/>
          </a:p>
          <a:p>
            <a:pPr lvl="1"/>
            <a:r>
              <a:rPr lang="en-US" altLang="zh-CN"/>
              <a:t>1. Estimate some model based on R and T and derive a scoring function</a:t>
            </a:r>
            <a:endParaRPr lang="en-US" altLang="zh-CN"/>
          </a:p>
          <a:p>
            <a:pPr lvl="1"/>
            <a:r>
              <a:rPr lang="en-US" altLang="zh-CN"/>
              <a:t>2. Keep examples in R based on their score</a:t>
            </a:r>
            <a:endParaRPr lang="en-US" altLang="zh-CN"/>
          </a:p>
          <a:p>
            <a:endParaRPr lang="en-US" altLang="zh-CN" b="1"/>
          </a:p>
          <a:p>
            <a:r>
              <a:rPr lang="en-US" altLang="zh-CN" b="1"/>
              <a:t>Instantiations of the framework</a:t>
            </a:r>
            <a:endParaRPr lang="en-US" altLang="zh-CN" b="1"/>
          </a:p>
          <a:p>
            <a:r>
              <a:rPr lang="en-US" altLang="zh-CN" b="1"/>
              <a:t>Generative model of T (KenLM):</a:t>
            </a:r>
            <a:endParaRPr lang="en-US" altLang="zh-CN" b="1"/>
          </a:p>
          <a:p>
            <a:pPr lvl="1"/>
            <a:r>
              <a:rPr lang="en-US" altLang="zh-CN"/>
              <a:t>1. score(x) = p_T(x)</a:t>
            </a:r>
            <a:endParaRPr lang="en-US" altLang="zh-CN"/>
          </a:p>
          <a:p>
            <a:pPr lvl="1"/>
            <a:r>
              <a:rPr lang="en-US" altLang="zh-CN"/>
              <a:t>2. Keep examples x with score(x) &gt;= threshold (stochastically)</a:t>
            </a:r>
            <a:endParaRPr lang="en-US" altLang="zh-CN"/>
          </a:p>
          <a:p>
            <a:endParaRPr lang="en-US" altLang="zh-CN"/>
          </a:p>
          <a:p>
            <a:r>
              <a:rPr lang="en-US" altLang="zh-CN" b="1"/>
              <a:t>Discriminative classifier (fastText):</a:t>
            </a:r>
            <a:endParaRPr lang="en-US" altLang="zh-CN" b="1"/>
          </a:p>
          <a:p>
            <a:pPr lvl="1"/>
            <a:r>
              <a:rPr lang="en-US" altLang="zh-CN"/>
              <a:t>1. score(x) = p(T | x)</a:t>
            </a:r>
            <a:endParaRPr lang="en-US" altLang="zh-CN"/>
          </a:p>
          <a:p>
            <a:pPr lvl="1"/>
            <a:r>
              <a:rPr lang="en-US" altLang="zh-CN"/>
              <a:t>2. Keep examples x with score(x) &gt;= threshold (stochastically)</a:t>
            </a:r>
            <a:endParaRPr lang="en-US" altLang="zh-CN"/>
          </a:p>
          <a:p>
            <a:endParaRPr lang="en-US" altLang="zh-CN"/>
          </a:p>
          <a:p>
            <a:r>
              <a:rPr lang="en-US" altLang="zh-CN" b="1"/>
              <a:t>Importance resampling (DSIR):</a:t>
            </a:r>
            <a:endParaRPr lang="en-US" altLang="zh-CN" b="1"/>
          </a:p>
          <a:p>
            <a:r>
              <a:rPr lang="en-US" altLang="zh-CN" b="1"/>
              <a:t>1. score(x) = p_T(x) / p_R(x)</a:t>
            </a:r>
            <a:endParaRPr lang="en-US" altLang="zh-CN" b="1"/>
          </a:p>
          <a:p>
            <a:r>
              <a:rPr lang="en-US" altLang="zh-CN" b="1"/>
              <a:t>2. Resample examples x with probability proportional to score(x)</a:t>
            </a:r>
            <a:endParaRPr lang="zh-CN" altLang="en-US" b="1"/>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1920" y="206375"/>
            <a:ext cx="10296525" cy="2183765"/>
          </a:xfrm>
          <a:prstGeom prst="rect">
            <a:avLst/>
          </a:prstGeom>
          <a:noFill/>
        </p:spPr>
        <p:txBody>
          <a:bodyPr wrap="square" rtlCol="0" anchor="t">
            <a:spAutoFit/>
          </a:bodyPr>
          <a:p>
            <a:pPr indent="0" fontAlgn="auto">
              <a:spcBef>
                <a:spcPts val="600"/>
              </a:spcBef>
              <a:spcAft>
                <a:spcPts val="600"/>
              </a:spcAft>
            </a:pPr>
            <a:r>
              <a:rPr lang="en-US" altLang="zh-CN" sz="2400" b="1"/>
              <a:t>filtering_applications():</a:t>
            </a:r>
            <a:endParaRPr lang="en-US" altLang="zh-CN" sz="2400" b="1"/>
          </a:p>
          <a:p>
            <a:pPr lvl="1" indent="0" fontAlgn="auto">
              <a:spcBef>
                <a:spcPts val="600"/>
              </a:spcBef>
              <a:spcAft>
                <a:spcPts val="600"/>
              </a:spcAft>
            </a:pPr>
            <a:r>
              <a:rPr lang="en-US" altLang="zh-CN"/>
              <a:t>The same data filtering machinery can be used for different filtering tasks.</a:t>
            </a:r>
            <a:endParaRPr lang="en-US" altLang="zh-CN"/>
          </a:p>
          <a:p>
            <a:pPr lvl="1" indent="0" fontAlgn="auto">
              <a:spcBef>
                <a:spcPts val="600"/>
              </a:spcBef>
              <a:spcAft>
                <a:spcPts val="600"/>
              </a:spcAft>
            </a:pPr>
            <a:r>
              <a:rPr lang="en-US" altLang="zh-CN" b="1"/>
              <a:t>language_identification()</a:t>
            </a:r>
            <a:endParaRPr lang="en-US" altLang="zh-CN" b="1"/>
          </a:p>
          <a:p>
            <a:pPr lvl="1" indent="0" fontAlgn="auto">
              <a:spcBef>
                <a:spcPts val="600"/>
              </a:spcBef>
              <a:spcAft>
                <a:spcPts val="600"/>
              </a:spcAft>
            </a:pPr>
            <a:r>
              <a:rPr lang="en-US" altLang="zh-CN" b="1"/>
              <a:t>quality_filtering()</a:t>
            </a:r>
            <a:endParaRPr lang="en-US" altLang="zh-CN" b="1"/>
          </a:p>
          <a:p>
            <a:pPr lvl="1" indent="0" fontAlgn="auto">
              <a:spcBef>
                <a:spcPts val="600"/>
              </a:spcBef>
              <a:spcAft>
                <a:spcPts val="600"/>
              </a:spcAft>
            </a:pPr>
            <a:r>
              <a:rPr lang="en-US" altLang="zh-CN" b="1"/>
              <a:t>toxicity_filtering()</a:t>
            </a:r>
            <a:endParaRPr lang="en-US" altLang="zh-CN" b="1"/>
          </a:p>
        </p:txBody>
      </p:sp>
      <p:sp>
        <p:nvSpPr>
          <p:cNvPr id="3" name="文本框 2"/>
          <p:cNvSpPr txBox="1"/>
          <p:nvPr/>
        </p:nvSpPr>
        <p:spPr>
          <a:xfrm>
            <a:off x="130810" y="2359025"/>
            <a:ext cx="12060555" cy="3815080"/>
          </a:xfrm>
          <a:prstGeom prst="rect">
            <a:avLst/>
          </a:prstGeom>
          <a:noFill/>
        </p:spPr>
        <p:txBody>
          <a:bodyPr wrap="square" rtlCol="0">
            <a:spAutoFit/>
          </a:bodyPr>
          <a:p>
            <a:pPr indent="0" fontAlgn="auto">
              <a:spcBef>
                <a:spcPts val="600"/>
              </a:spcBef>
              <a:spcAft>
                <a:spcPts val="600"/>
              </a:spcAft>
            </a:pPr>
            <a:r>
              <a:rPr lang="en-US" altLang="zh-CN" b="1"/>
              <a:t>language_identification():</a:t>
            </a:r>
            <a:endParaRPr lang="en-US" altLang="zh-CN" b="1"/>
          </a:p>
          <a:p>
            <a:pPr indent="457200" fontAlgn="auto">
              <a:spcBef>
                <a:spcPts val="600"/>
              </a:spcBef>
              <a:spcAft>
                <a:spcPts val="600"/>
              </a:spcAft>
            </a:pPr>
            <a:r>
              <a:rPr lang="en-US" altLang="zh-CN"/>
              <a:t>Language identification: find text of a specific language (e.g., English)</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b="1"/>
              <a:t>Why not just go multilingual?</a:t>
            </a:r>
            <a:endParaRPr lang="en-US" altLang="zh-CN" b="1"/>
          </a:p>
          <a:p>
            <a:pPr lvl="1" indent="0" fontAlgn="auto">
              <a:spcBef>
                <a:spcPts val="600"/>
              </a:spcBef>
              <a:spcAft>
                <a:spcPts val="600"/>
              </a:spcAft>
            </a:pPr>
            <a:r>
              <a:rPr lang="en-US" altLang="zh-CN"/>
              <a:t>Data: difficult to do curation / processing of high-quality data in any given language</a:t>
            </a:r>
            <a:endParaRPr lang="en-US" altLang="zh-CN"/>
          </a:p>
          <a:p>
            <a:pPr lvl="1" indent="0" fontAlgn="auto">
              <a:spcBef>
                <a:spcPts val="600"/>
              </a:spcBef>
              <a:spcAft>
                <a:spcPts val="600"/>
              </a:spcAft>
            </a:pPr>
            <a:r>
              <a:rPr lang="en-US" altLang="zh-CN"/>
              <a:t>Compute: in computed-limited regime, less compute/tokens dedicated to any given language</a:t>
            </a:r>
            <a:endParaRPr lang="en-US" altLang="zh-CN"/>
          </a:p>
          <a:p>
            <a:pPr indent="0" fontAlgn="auto">
              <a:spcBef>
                <a:spcPts val="600"/>
              </a:spcBef>
              <a:spcAft>
                <a:spcPts val="600"/>
              </a:spcAft>
            </a:pPr>
            <a:r>
              <a:rPr lang="en-US" altLang="zh-CN" b="1"/>
              <a:t>Models differ on multilinguality:</a:t>
            </a:r>
            <a:endParaRPr lang="en-US" altLang="zh-CN" b="1"/>
          </a:p>
          <a:p>
            <a:pPr lvl="1" indent="0" fontAlgn="auto">
              <a:spcBef>
                <a:spcPts val="600"/>
              </a:spcBef>
              <a:spcAft>
                <a:spcPts val="600"/>
              </a:spcAft>
            </a:pPr>
            <a:r>
              <a:rPr lang="en-US" altLang="zh-CN"/>
              <a:t>English was only 30% of BLOOM (was undertrained), English performance suffered </a:t>
            </a:r>
            <a:endParaRPr lang="en-US" altLang="zh-CN"/>
          </a:p>
          <a:p>
            <a:pPr lvl="1" indent="0" fontAlgn="auto">
              <a:spcBef>
                <a:spcPts val="600"/>
              </a:spcBef>
              <a:spcAft>
                <a:spcPts val="600"/>
              </a:spcAft>
            </a:pPr>
            <a:r>
              <a:rPr lang="en-US" altLang="zh-CN"/>
              <a:t>Most frontier models (GPT-4, Claude, Gemini, Llama, Qwen) are heavily multilingual (sufficiently trained)</a:t>
            </a:r>
            <a:endParaRPr lang="en-US" alt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40335" y="224790"/>
            <a:ext cx="12051665" cy="1430020"/>
          </a:xfrm>
          <a:prstGeom prst="rect">
            <a:avLst/>
          </a:prstGeom>
          <a:noFill/>
        </p:spPr>
        <p:txBody>
          <a:bodyPr wrap="square" rtlCol="0" anchor="t">
            <a:spAutoFit/>
          </a:bodyPr>
          <a:p>
            <a:pPr indent="0" fontAlgn="auto">
              <a:spcBef>
                <a:spcPts val="300"/>
              </a:spcBef>
              <a:spcAft>
                <a:spcPts val="300"/>
              </a:spcAft>
            </a:pPr>
            <a:r>
              <a:rPr lang="en-US" altLang="zh-CN" b="1"/>
              <a:t>fastText language identification</a:t>
            </a:r>
            <a:endParaRPr lang="en-US" altLang="zh-CN" b="1"/>
          </a:p>
          <a:p>
            <a:pPr lvl="1" indent="0" fontAlgn="auto">
              <a:spcBef>
                <a:spcPts val="300"/>
              </a:spcBef>
              <a:spcAft>
                <a:spcPts val="300"/>
              </a:spcAft>
            </a:pPr>
            <a:r>
              <a:rPr lang="en-US" altLang="zh-CN"/>
              <a:t>Off-the-shelf classifier</a:t>
            </a:r>
            <a:endParaRPr lang="en-US" altLang="zh-CN"/>
          </a:p>
          <a:p>
            <a:pPr lvl="1" indent="0" fontAlgn="auto">
              <a:spcBef>
                <a:spcPts val="300"/>
              </a:spcBef>
              <a:spcAft>
                <a:spcPts val="300"/>
              </a:spcAft>
            </a:pPr>
            <a:r>
              <a:rPr lang="en-US" altLang="zh-CN"/>
              <a:t>Supports 176 languages</a:t>
            </a:r>
            <a:endParaRPr lang="en-US" altLang="zh-CN"/>
          </a:p>
          <a:p>
            <a:pPr lvl="1" indent="0" fontAlgn="auto">
              <a:spcBef>
                <a:spcPts val="300"/>
              </a:spcBef>
              <a:spcAft>
                <a:spcPts val="300"/>
              </a:spcAft>
            </a:pPr>
            <a:r>
              <a:rPr lang="en-US" altLang="zh-CN"/>
              <a:t>Trained on multilingual sites: Wikipedia, Tatoeba (translation site) and SETimes (Southeast European news)</a:t>
            </a:r>
            <a:endParaRPr lang="en-US" altLang="zh-CN"/>
          </a:p>
        </p:txBody>
      </p:sp>
      <p:sp>
        <p:nvSpPr>
          <p:cNvPr id="3" name="文本框 2"/>
          <p:cNvSpPr txBox="1"/>
          <p:nvPr/>
        </p:nvSpPr>
        <p:spPr>
          <a:xfrm>
            <a:off x="149860" y="1684020"/>
            <a:ext cx="6107430" cy="368300"/>
          </a:xfrm>
          <a:prstGeom prst="rect">
            <a:avLst/>
          </a:prstGeom>
          <a:noFill/>
        </p:spPr>
        <p:txBody>
          <a:bodyPr wrap="square" rtlCol="0">
            <a:spAutoFit/>
          </a:bodyPr>
          <a:p>
            <a:r>
              <a:rPr lang="en-US" altLang="zh-CN" b="1"/>
              <a:t>Example: Dolma keeps pages with p(English) &gt;= 0.5</a:t>
            </a:r>
            <a:endParaRPr lang="en-US" altLang="zh-CN" b="1"/>
          </a:p>
        </p:txBody>
      </p:sp>
      <p:sp>
        <p:nvSpPr>
          <p:cNvPr id="4" name="文本框 3"/>
          <p:cNvSpPr txBox="1"/>
          <p:nvPr/>
        </p:nvSpPr>
        <p:spPr>
          <a:xfrm>
            <a:off x="140335" y="2196465"/>
            <a:ext cx="7308215" cy="2138045"/>
          </a:xfrm>
          <a:prstGeom prst="rect">
            <a:avLst/>
          </a:prstGeom>
          <a:noFill/>
        </p:spPr>
        <p:txBody>
          <a:bodyPr wrap="square" rtlCol="0">
            <a:spAutoFit/>
          </a:bodyPr>
          <a:p>
            <a:pPr indent="0" fontAlgn="auto">
              <a:spcBef>
                <a:spcPts val="300"/>
              </a:spcBef>
              <a:spcAft>
                <a:spcPts val="300"/>
              </a:spcAft>
            </a:pPr>
            <a:r>
              <a:rPr lang="en-US" altLang="zh-CN" b="1"/>
              <a:t>Caveats:</a:t>
            </a:r>
            <a:endParaRPr lang="en-US" altLang="zh-CN" b="1"/>
          </a:p>
          <a:p>
            <a:pPr lvl="1" indent="0" fontAlgn="auto">
              <a:spcBef>
                <a:spcPts val="300"/>
              </a:spcBef>
              <a:spcAft>
                <a:spcPts val="300"/>
              </a:spcAft>
            </a:pPr>
            <a:r>
              <a:rPr lang="en-US" altLang="zh-CN"/>
              <a:t>Difficult for short sequences</a:t>
            </a:r>
            <a:endParaRPr lang="en-US" altLang="zh-CN"/>
          </a:p>
          <a:p>
            <a:pPr lvl="1" indent="0" fontAlgn="auto">
              <a:spcBef>
                <a:spcPts val="300"/>
              </a:spcBef>
              <a:spcAft>
                <a:spcPts val="300"/>
              </a:spcAft>
            </a:pPr>
            <a:r>
              <a:rPr lang="en-US" altLang="zh-CN"/>
              <a:t>Difficult for low-resource languages</a:t>
            </a:r>
            <a:endParaRPr lang="en-US" altLang="zh-CN"/>
          </a:p>
          <a:p>
            <a:pPr lvl="1" indent="0" fontAlgn="auto">
              <a:spcBef>
                <a:spcPts val="300"/>
              </a:spcBef>
              <a:spcAft>
                <a:spcPts val="300"/>
              </a:spcAft>
            </a:pPr>
            <a:r>
              <a:rPr lang="en-US" altLang="zh-CN"/>
              <a:t>Could accidentally filter out dialects of English</a:t>
            </a:r>
            <a:endParaRPr lang="en-US" altLang="zh-CN"/>
          </a:p>
          <a:p>
            <a:pPr lvl="1" indent="0" fontAlgn="auto">
              <a:spcBef>
                <a:spcPts val="300"/>
              </a:spcBef>
              <a:spcAft>
                <a:spcPts val="300"/>
              </a:spcAft>
            </a:pPr>
            <a:r>
              <a:rPr lang="en-US" altLang="zh-CN"/>
              <a:t>Hard for similar languages (Malay and Indonesian)</a:t>
            </a:r>
            <a:endParaRPr lang="en-US" altLang="zh-CN"/>
          </a:p>
          <a:p>
            <a:pPr lvl="1" indent="0" fontAlgn="auto">
              <a:spcBef>
                <a:spcPts val="300"/>
              </a:spcBef>
              <a:spcAft>
                <a:spcPts val="300"/>
              </a:spcAft>
            </a:pPr>
            <a:r>
              <a:rPr lang="en-US" altLang="zh-CN"/>
              <a:t>Ill-defined for code-switching (e.g., Spanish + English)</a:t>
            </a:r>
            <a:endParaRPr lang="en-US" altLang="zh-CN"/>
          </a:p>
        </p:txBody>
      </p:sp>
      <p:sp>
        <p:nvSpPr>
          <p:cNvPr id="5" name="文本框 4"/>
          <p:cNvSpPr txBox="1"/>
          <p:nvPr/>
        </p:nvSpPr>
        <p:spPr>
          <a:xfrm>
            <a:off x="140335" y="4334510"/>
            <a:ext cx="11584940" cy="2138045"/>
          </a:xfrm>
          <a:prstGeom prst="rect">
            <a:avLst/>
          </a:prstGeom>
          <a:noFill/>
        </p:spPr>
        <p:txBody>
          <a:bodyPr wrap="square" rtlCol="0">
            <a:spAutoFit/>
          </a:bodyPr>
          <a:p>
            <a:pPr indent="0" fontAlgn="auto">
              <a:spcBef>
                <a:spcPts val="300"/>
              </a:spcBef>
              <a:spcAft>
                <a:spcPts val="300"/>
              </a:spcAft>
            </a:pPr>
            <a:r>
              <a:rPr lang="en-US" altLang="zh-CN" b="1"/>
              <a:t>OpenMathText</a:t>
            </a:r>
            <a:endParaRPr lang="en-US" altLang="zh-CN" b="1"/>
          </a:p>
          <a:p>
            <a:pPr lvl="1" indent="0" fontAlgn="auto">
              <a:spcBef>
                <a:spcPts val="300"/>
              </a:spcBef>
              <a:spcAft>
                <a:spcPts val="300"/>
              </a:spcAft>
            </a:pPr>
            <a:r>
              <a:rPr lang="en-US" altLang="zh-CN"/>
              <a:t>Goal: curate large corpus of mathematical text from CommonCrawl</a:t>
            </a:r>
            <a:endParaRPr lang="en-US" altLang="zh-CN"/>
          </a:p>
          <a:p>
            <a:pPr lvl="1" indent="0" fontAlgn="auto">
              <a:spcBef>
                <a:spcPts val="300"/>
              </a:spcBef>
              <a:spcAft>
                <a:spcPts val="300"/>
              </a:spcAft>
            </a:pPr>
            <a:r>
              <a:rPr lang="en-US" altLang="zh-CN"/>
              <a:t>Use rules to filter (e.g., contains latex commands)</a:t>
            </a:r>
            <a:endParaRPr lang="en-US" altLang="zh-CN"/>
          </a:p>
          <a:p>
            <a:pPr lvl="1" indent="0" fontAlgn="auto">
              <a:spcBef>
                <a:spcPts val="300"/>
              </a:spcBef>
              <a:spcAft>
                <a:spcPts val="300"/>
              </a:spcAft>
            </a:pPr>
            <a:r>
              <a:rPr lang="en-US" altLang="zh-CN"/>
              <a:t>KenLM trained on ProofPile, keep if perplexity &lt; 15000</a:t>
            </a:r>
            <a:endParaRPr lang="en-US" altLang="zh-CN"/>
          </a:p>
          <a:p>
            <a:pPr lvl="1" indent="0" fontAlgn="auto">
              <a:spcBef>
                <a:spcPts val="300"/>
              </a:spcBef>
              <a:spcAft>
                <a:spcPts val="300"/>
              </a:spcAft>
            </a:pPr>
            <a:r>
              <a:rPr lang="en-US" altLang="zh-CN"/>
              <a:t>Trained fastText classifier to predict mathematical writing, threshold is 0.17 if math, 0.8 if no math</a:t>
            </a:r>
            <a:endParaRPr lang="en-US" altLang="zh-CN"/>
          </a:p>
          <a:p>
            <a:pPr indent="0" fontAlgn="auto">
              <a:spcBef>
                <a:spcPts val="300"/>
              </a:spcBef>
              <a:spcAft>
                <a:spcPts val="300"/>
              </a:spcAft>
            </a:pPr>
            <a:r>
              <a:rPr lang="en-US" altLang="zh-CN" b="1"/>
              <a:t>Result: produced 14.7B tokens, used to train 1.4B models that do better than models trained on 20x data</a:t>
            </a:r>
            <a:endParaRPr lang="en-US" altLang="zh-CN" b="1"/>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15900" y="205740"/>
            <a:ext cx="6096000" cy="460375"/>
          </a:xfrm>
          <a:prstGeom prst="rect">
            <a:avLst/>
          </a:prstGeom>
          <a:noFill/>
        </p:spPr>
        <p:txBody>
          <a:bodyPr wrap="square" rtlCol="0" anchor="t">
            <a:spAutoFit/>
          </a:bodyPr>
          <a:p>
            <a:r>
              <a:rPr lang="en-US" altLang="zh-CN" sz="2400" b="1"/>
              <a:t>quality_filtering():</a:t>
            </a:r>
            <a:endParaRPr lang="zh-CN" altLang="en-US" sz="2400" b="1"/>
          </a:p>
        </p:txBody>
      </p:sp>
      <p:sp>
        <p:nvSpPr>
          <p:cNvPr id="3" name="文本框 2"/>
          <p:cNvSpPr txBox="1"/>
          <p:nvPr/>
        </p:nvSpPr>
        <p:spPr>
          <a:xfrm>
            <a:off x="215900" y="780415"/>
            <a:ext cx="11648440" cy="5107940"/>
          </a:xfrm>
          <a:prstGeom prst="rect">
            <a:avLst/>
          </a:prstGeom>
          <a:noFill/>
        </p:spPr>
        <p:txBody>
          <a:bodyPr wrap="square" rtlCol="0" anchor="t">
            <a:spAutoFit/>
          </a:bodyPr>
          <a:p>
            <a:pPr lvl="1" indent="0" fontAlgn="auto">
              <a:spcBef>
                <a:spcPts val="600"/>
              </a:spcBef>
              <a:spcAft>
                <a:spcPts val="600"/>
              </a:spcAft>
            </a:pPr>
            <a:r>
              <a:rPr lang="en-US" altLang="zh-CN"/>
              <a:t>Some deliberately do not use model-based filtering (C4, Gopher, RefinedWeb, FineWeb, Dolma)</a:t>
            </a:r>
            <a:endParaRPr lang="en-US" altLang="zh-CN"/>
          </a:p>
          <a:p>
            <a:pPr lvl="1" indent="0" fontAlgn="auto">
              <a:spcBef>
                <a:spcPts val="600"/>
              </a:spcBef>
              <a:spcAft>
                <a:spcPts val="600"/>
              </a:spcAft>
            </a:pPr>
            <a:r>
              <a:rPr lang="en-US" altLang="zh-CN"/>
              <a:t>Some use model-based filtering (GPT-3, LLaMA, DCLM) [becoming the norm]</a:t>
            </a:r>
            <a:endParaRPr lang="en-US" altLang="zh-CN"/>
          </a:p>
          <a:p>
            <a:pPr indent="0" fontAlgn="auto">
              <a:spcBef>
                <a:spcPts val="600"/>
              </a:spcBef>
              <a:spcAft>
                <a:spcPts val="600"/>
              </a:spcAft>
            </a:pPr>
            <a:r>
              <a:rPr lang="en-US" altLang="zh-CN" b="1"/>
              <a:t>GPT-3</a:t>
            </a:r>
            <a:endParaRPr lang="en-US" altLang="zh-CN" b="1"/>
          </a:p>
          <a:p>
            <a:pPr lvl="1" indent="0" fontAlgn="auto">
              <a:spcBef>
                <a:spcPts val="600"/>
              </a:spcBef>
              <a:spcAft>
                <a:spcPts val="600"/>
              </a:spcAft>
            </a:pPr>
            <a:r>
              <a:rPr lang="en-US" altLang="zh-CN"/>
              <a:t>Positives: samples from {Wikipedia, WebText2, Books1, Books2}</a:t>
            </a:r>
            <a:endParaRPr lang="en-US" altLang="zh-CN"/>
          </a:p>
          <a:p>
            <a:pPr lvl="1" indent="0" fontAlgn="auto">
              <a:spcBef>
                <a:spcPts val="600"/>
              </a:spcBef>
              <a:spcAft>
                <a:spcPts val="600"/>
              </a:spcAft>
            </a:pPr>
            <a:r>
              <a:rPr lang="en-US" altLang="zh-CN"/>
              <a:t>Negatives: samples from CommonCrawl</a:t>
            </a:r>
            <a:endParaRPr lang="en-US" altLang="zh-CN"/>
          </a:p>
          <a:p>
            <a:pPr indent="0" fontAlgn="auto">
              <a:spcBef>
                <a:spcPts val="600"/>
              </a:spcBef>
              <a:spcAft>
                <a:spcPts val="600"/>
              </a:spcAft>
            </a:pPr>
            <a:endParaRPr lang="en-US" altLang="zh-CN"/>
          </a:p>
          <a:p>
            <a:pPr lvl="1" indent="0" fontAlgn="auto">
              <a:spcBef>
                <a:spcPts val="600"/>
              </a:spcBef>
              <a:spcAft>
                <a:spcPts val="600"/>
              </a:spcAft>
            </a:pPr>
            <a:r>
              <a:rPr lang="en-US" altLang="zh-CN"/>
              <a:t>Train linear classifier based on word features</a:t>
            </a:r>
            <a:endParaRPr lang="en-US" altLang="zh-CN"/>
          </a:p>
          <a:p>
            <a:pPr lvl="1" indent="0" fontAlgn="auto">
              <a:spcBef>
                <a:spcPts val="600"/>
              </a:spcBef>
              <a:spcAft>
                <a:spcPts val="600"/>
              </a:spcAft>
            </a:pPr>
            <a:r>
              <a:rPr lang="en-US" altLang="zh-CN"/>
              <a:t>Keep documents stochastically based on score</a:t>
            </a:r>
            <a:endParaRPr lang="en-US" altLang="zh-CN"/>
          </a:p>
          <a:p>
            <a:pPr indent="0" fontAlgn="auto">
              <a:spcBef>
                <a:spcPts val="600"/>
              </a:spcBef>
              <a:spcAft>
                <a:spcPts val="600"/>
              </a:spcAft>
            </a:pPr>
            <a:r>
              <a:rPr lang="en-US" altLang="zh-CN" b="1"/>
              <a:t>LLaMA/RedPajama</a:t>
            </a:r>
            <a:endParaRPr lang="en-US" altLang="zh-CN" b="1"/>
          </a:p>
          <a:p>
            <a:pPr lvl="1" indent="0" fontAlgn="auto">
              <a:spcBef>
                <a:spcPts val="600"/>
              </a:spcBef>
              <a:spcAft>
                <a:spcPts val="600"/>
              </a:spcAft>
            </a:pPr>
            <a:r>
              <a:rPr lang="en-US" altLang="zh-CN"/>
              <a:t>Positives: samples from pages referenced by Wikipedia</a:t>
            </a:r>
            <a:endParaRPr lang="en-US" altLang="zh-CN"/>
          </a:p>
          <a:p>
            <a:pPr lvl="1" indent="0" fontAlgn="auto">
              <a:spcBef>
                <a:spcPts val="600"/>
              </a:spcBef>
              <a:spcAft>
                <a:spcPts val="600"/>
              </a:spcAft>
            </a:pPr>
            <a:r>
              <a:rPr lang="en-US" altLang="zh-CN"/>
              <a:t>Negatives: samples from CommonCrawl</a:t>
            </a:r>
            <a:endParaRPr lang="en-US" altLang="zh-CN"/>
          </a:p>
          <a:p>
            <a:pPr lvl="1" indent="0" fontAlgn="auto">
              <a:spcBef>
                <a:spcPts val="600"/>
              </a:spcBef>
              <a:spcAft>
                <a:spcPts val="600"/>
              </a:spcAft>
            </a:pPr>
            <a:r>
              <a:rPr lang="en-US" altLang="zh-CN"/>
              <a:t>Keep documents that are classified positive</a:t>
            </a:r>
            <a:endParaRPr lang="en-US" altLang="zh-C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97485" y="224790"/>
            <a:ext cx="11459845" cy="5631180"/>
          </a:xfrm>
          <a:prstGeom prst="rect">
            <a:avLst/>
          </a:prstGeom>
          <a:noFill/>
        </p:spPr>
        <p:txBody>
          <a:bodyPr wrap="square" rtlCol="0" anchor="t">
            <a:spAutoFit/>
          </a:bodyPr>
          <a:p>
            <a:pPr indent="0" fontAlgn="auto">
              <a:spcBef>
                <a:spcPts val="600"/>
              </a:spcBef>
              <a:spcAft>
                <a:spcPts val="600"/>
              </a:spcAft>
            </a:pPr>
            <a:r>
              <a:rPr lang="en-US" altLang="zh-CN" sz="2400" b="1"/>
              <a:t>phi-1</a:t>
            </a:r>
            <a:endParaRPr lang="en-US" altLang="zh-CN" sz="2400" b="1"/>
          </a:p>
          <a:p>
            <a:pPr lvl="1" indent="0" fontAlgn="auto">
              <a:spcBef>
                <a:spcPts val="600"/>
              </a:spcBef>
              <a:spcAft>
                <a:spcPts val="600"/>
              </a:spcAft>
            </a:pPr>
            <a:r>
              <a:rPr lang="en-US" altLang="zh-CN" b="1"/>
              <a:t>Philosophy:</a:t>
            </a:r>
            <a:r>
              <a:rPr lang="en-US" altLang="zh-CN"/>
              <a:t> really high quality data (textbooks) to train a small model (1.5B)</a:t>
            </a:r>
            <a:endParaRPr lang="en-US" altLang="zh-CN"/>
          </a:p>
          <a:p>
            <a:pPr lvl="1" indent="0" fontAlgn="auto">
              <a:spcBef>
                <a:spcPts val="600"/>
              </a:spcBef>
              <a:spcAft>
                <a:spcPts val="600"/>
              </a:spcAft>
            </a:pPr>
            <a:r>
              <a:rPr lang="en-US" altLang="zh-CN"/>
              <a:t>Includes synthetic data from GPT 3.5 (later: GPT-4) and filtered data</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a:t>R = "Python subset of the Stack"   # Raw data</a:t>
            </a:r>
            <a:endParaRPr lang="en-US" altLang="zh-CN"/>
          </a:p>
          <a:p>
            <a:pPr indent="0" fontAlgn="auto">
              <a:spcBef>
                <a:spcPts val="600"/>
              </a:spcBef>
              <a:spcAft>
                <a:spcPts val="600"/>
              </a:spcAft>
            </a:pPr>
            <a:r>
              <a:rPr lang="en-US" altLang="zh-CN" b="1"/>
              <a:t>prompt </a:t>
            </a:r>
            <a:r>
              <a:rPr lang="en-US" altLang="zh-CN"/>
              <a:t>= "determine its educational value for a student whose goal is to learn basic coding concepts"</a:t>
            </a:r>
            <a:endParaRPr lang="en-US" altLang="zh-CN"/>
          </a:p>
          <a:p>
            <a:pPr indent="0" fontAlgn="auto">
              <a:spcBef>
                <a:spcPts val="600"/>
              </a:spcBef>
              <a:spcAft>
                <a:spcPts val="600"/>
              </a:spcAft>
            </a:pPr>
            <a:r>
              <a:rPr lang="en-US" altLang="zh-CN"/>
              <a:t>T = "Use GPT-4 with this prompt to classify 100K subset of R to get positive examples"</a:t>
            </a:r>
            <a:endParaRPr lang="en-US" altLang="zh-CN"/>
          </a:p>
          <a:p>
            <a:pPr indent="0" fontAlgn="auto">
              <a:spcBef>
                <a:spcPts val="600"/>
              </a:spcBef>
              <a:spcAft>
                <a:spcPts val="600"/>
              </a:spcAft>
            </a:pPr>
            <a:r>
              <a:rPr lang="en-US" altLang="zh-CN"/>
              <a:t>Train random forest classifier on T using output embedding from pretrained codegen model</a:t>
            </a:r>
            <a:endParaRPr lang="en-US" altLang="zh-CN"/>
          </a:p>
          <a:p>
            <a:pPr indent="0" fontAlgn="auto">
              <a:spcBef>
                <a:spcPts val="600"/>
              </a:spcBef>
              <a:spcAft>
                <a:spcPts val="600"/>
              </a:spcAft>
            </a:pPr>
            <a:r>
              <a:rPr lang="en-US" altLang="zh-CN"/>
              <a:t>Select data from R that is classified positive by the classifier</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b="1"/>
              <a:t>Result</a:t>
            </a:r>
            <a:r>
              <a:rPr lang="zh-CN" altLang="en-US" b="1"/>
              <a:t>：</a:t>
            </a:r>
            <a:endParaRPr lang="en-US" altLang="zh-CN" b="1"/>
          </a:p>
          <a:p>
            <a:pPr lvl="1" indent="0" fontAlgn="auto">
              <a:spcBef>
                <a:spcPts val="600"/>
              </a:spcBef>
              <a:spcAft>
                <a:spcPts val="600"/>
              </a:spcAft>
            </a:pPr>
            <a:r>
              <a:rPr lang="en-US" altLang="zh-CN"/>
              <a:t>Train 1.3B LM on Python subset of The Stack (performance: 12.19% after 96K steps</a:t>
            </a:r>
            <a:endParaRPr lang="en-US" altLang="zh-CN"/>
          </a:p>
          <a:p>
            <a:pPr lvl="1" indent="0" fontAlgn="auto">
              <a:spcBef>
                <a:spcPts val="600"/>
              </a:spcBef>
              <a:spcAft>
                <a:spcPts val="600"/>
              </a:spcAft>
            </a:pPr>
            <a:r>
              <a:rPr lang="en-US" altLang="zh-CN"/>
              <a:t>Train 1.3B LM on new filtered subset (performance: 17.68% after 36K steps) - better!</a:t>
            </a:r>
            <a:endParaRPr lang="en-US" altLang="zh-C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206375"/>
            <a:ext cx="12192000" cy="1636395"/>
          </a:xfrm>
          <a:prstGeom prst="rect">
            <a:avLst/>
          </a:prstGeom>
          <a:noFill/>
        </p:spPr>
        <p:txBody>
          <a:bodyPr wrap="square" rtlCol="0" anchor="t">
            <a:noAutofit/>
          </a:bodyPr>
          <a:p>
            <a:pPr fontAlgn="auto">
              <a:spcBef>
                <a:spcPts val="600"/>
              </a:spcBef>
              <a:spcAft>
                <a:spcPts val="600"/>
              </a:spcAft>
            </a:pPr>
            <a:r>
              <a:rPr lang="en-US" altLang="zh-CN" sz="2400" b="1"/>
              <a:t>toxicity_filtering():</a:t>
            </a:r>
            <a:endParaRPr lang="en-US" altLang="zh-CN" sz="2400" b="1"/>
          </a:p>
          <a:p>
            <a:pPr indent="457200" fontAlgn="auto">
              <a:spcBef>
                <a:spcPts val="600"/>
              </a:spcBef>
              <a:spcAft>
                <a:spcPts val="600"/>
              </a:spcAft>
            </a:pPr>
            <a:r>
              <a:rPr lang="en-US" altLang="zh-CN"/>
              <a:t>Toxicity filtering in Dolma</a:t>
            </a:r>
            <a:endParaRPr lang="en-US" altLang="zh-CN"/>
          </a:p>
          <a:p>
            <a:pPr fontAlgn="auto">
              <a:spcBef>
                <a:spcPts val="600"/>
              </a:spcBef>
              <a:spcAft>
                <a:spcPts val="600"/>
              </a:spcAft>
            </a:pPr>
            <a:r>
              <a:rPr lang="en-US" altLang="zh-CN" b="1"/>
              <a:t>Dataset: </a:t>
            </a:r>
            <a:r>
              <a:rPr lang="en-US" altLang="zh-CN"/>
              <a:t>Jigsaw Toxic Comments dataset (2018)</a:t>
            </a:r>
            <a:endParaRPr lang="en-US" altLang="zh-CN"/>
          </a:p>
          <a:p>
            <a:pPr lvl="1" fontAlgn="auto">
              <a:spcBef>
                <a:spcPts val="600"/>
              </a:spcBef>
              <a:spcAft>
                <a:spcPts val="600"/>
              </a:spcAft>
            </a:pPr>
            <a:r>
              <a:rPr lang="en-US" altLang="zh-CN"/>
              <a:t>Project goal: help people have better discussions online</a:t>
            </a:r>
            <a:endParaRPr lang="en-US" altLang="zh-CN"/>
          </a:p>
          <a:p>
            <a:pPr lvl="1" fontAlgn="auto">
              <a:spcBef>
                <a:spcPts val="600"/>
              </a:spcBef>
              <a:spcAft>
                <a:spcPts val="600"/>
              </a:spcAft>
            </a:pPr>
            <a:r>
              <a:rPr lang="en-US" altLang="zh-CN"/>
              <a:t>Data: comments on Wikipedia talk page annotated with {toxic, severe_toxic, obscene, threat, insult, identity_hat</a:t>
            </a:r>
            <a:endParaRPr lang="en-US" altLang="zh-CN"/>
          </a:p>
        </p:txBody>
      </p:sp>
      <p:sp>
        <p:nvSpPr>
          <p:cNvPr id="3" name="文本框 2"/>
          <p:cNvSpPr txBox="1"/>
          <p:nvPr/>
        </p:nvSpPr>
        <p:spPr>
          <a:xfrm>
            <a:off x="0" y="2952750"/>
            <a:ext cx="11741785" cy="1229995"/>
          </a:xfrm>
          <a:prstGeom prst="rect">
            <a:avLst/>
          </a:prstGeom>
          <a:noFill/>
        </p:spPr>
        <p:txBody>
          <a:bodyPr wrap="square" rtlCol="0" anchor="t">
            <a:spAutoFit/>
          </a:bodyPr>
          <a:p>
            <a:pPr indent="0" fontAlgn="auto">
              <a:spcBef>
                <a:spcPts val="600"/>
              </a:spcBef>
              <a:spcAft>
                <a:spcPts val="600"/>
              </a:spcAft>
            </a:pPr>
            <a:r>
              <a:rPr lang="en-US" altLang="zh-CN" b="1"/>
              <a:t>Trained 2 fastText classifiers</a:t>
            </a:r>
            <a:endParaRPr lang="en-US" altLang="zh-CN" b="1"/>
          </a:p>
          <a:p>
            <a:pPr lvl="1" indent="0" fontAlgn="auto">
              <a:spcBef>
                <a:spcPts val="600"/>
              </a:spcBef>
              <a:spcAft>
                <a:spcPts val="600"/>
              </a:spcAft>
            </a:pPr>
            <a:r>
              <a:rPr lang="en-US" altLang="zh-CN"/>
              <a:t>hate: positive = {unlabeled, obscene}, negative = all else</a:t>
            </a:r>
            <a:endParaRPr lang="en-US" altLang="zh-CN"/>
          </a:p>
          <a:p>
            <a:pPr lvl="1" indent="0" fontAlgn="auto">
              <a:spcBef>
                <a:spcPts val="600"/>
              </a:spcBef>
              <a:spcAft>
                <a:spcPts val="600"/>
              </a:spcAft>
            </a:pPr>
            <a:r>
              <a:rPr lang="en-US" altLang="zh-CN"/>
              <a:t>NSFW: positive = {obscene}, negative = all else</a:t>
            </a:r>
            <a:endParaRPr lang="en-US" altLang="zh-C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59385" y="206375"/>
            <a:ext cx="6096000" cy="460375"/>
          </a:xfrm>
          <a:prstGeom prst="rect">
            <a:avLst/>
          </a:prstGeom>
          <a:noFill/>
        </p:spPr>
        <p:txBody>
          <a:bodyPr wrap="square" rtlCol="0" anchor="t">
            <a:spAutoFit/>
          </a:bodyPr>
          <a:p>
            <a:r>
              <a:rPr lang="en-US" altLang="zh-CN" sz="2400" b="1"/>
              <a:t>deduplication():</a:t>
            </a:r>
            <a:endParaRPr lang="zh-CN" altLang="en-US" sz="2400" b="1"/>
          </a:p>
        </p:txBody>
      </p:sp>
      <p:sp>
        <p:nvSpPr>
          <p:cNvPr id="3" name="文本框 2"/>
          <p:cNvSpPr txBox="1"/>
          <p:nvPr/>
        </p:nvSpPr>
        <p:spPr>
          <a:xfrm>
            <a:off x="159385" y="574675"/>
            <a:ext cx="11891010" cy="5908040"/>
          </a:xfrm>
          <a:prstGeom prst="rect">
            <a:avLst/>
          </a:prstGeom>
          <a:noFill/>
        </p:spPr>
        <p:txBody>
          <a:bodyPr wrap="square" rtlCol="0" anchor="t">
            <a:spAutoFit/>
          </a:bodyPr>
          <a:p>
            <a:r>
              <a:rPr lang="en-US" altLang="zh-CN" b="1"/>
              <a:t>Two types of duplicates:</a:t>
            </a:r>
            <a:endParaRPr lang="en-US" altLang="zh-CN" b="1"/>
          </a:p>
          <a:p>
            <a:pPr lvl="1"/>
            <a:r>
              <a:rPr lang="en-US" altLang="zh-CN"/>
              <a:t>Exact duplicates (mirror sites, GitHub forks)</a:t>
            </a:r>
            <a:endParaRPr lang="en-US" altLang="zh-CN"/>
          </a:p>
          <a:p>
            <a:pPr lvl="1"/>
            <a:r>
              <a:rPr lang="en-US" altLang="zh-CN"/>
              <a:t>Near duplicates: same text differing by a few tokens</a:t>
            </a:r>
            <a:endParaRPr lang="en-US" altLang="zh-CN"/>
          </a:p>
          <a:p>
            <a:r>
              <a:rPr lang="en-US" altLang="zh-CN" b="1"/>
              <a:t>Examples of near duplicates:</a:t>
            </a:r>
            <a:endParaRPr lang="en-US" altLang="zh-CN" b="1"/>
          </a:p>
          <a:p>
            <a:pPr lvl="1"/>
            <a:r>
              <a:rPr lang="en-US" altLang="zh-CN"/>
              <a:t>Terms of service and licenses</a:t>
            </a:r>
            <a:endParaRPr lang="en-US" altLang="zh-CN"/>
          </a:p>
          <a:p>
            <a:pPr lvl="1"/>
            <a:r>
              <a:rPr lang="en-US" altLang="zh-CN"/>
              <a:t>Formulaic writing (copy/pasted or generated from a template)</a:t>
            </a:r>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pPr lvl="1"/>
            <a:r>
              <a:rPr lang="en-US" altLang="zh-CN"/>
              <a:t>Minor formatting differences in copy/pasting</a:t>
            </a:r>
            <a:endParaRPr lang="en-US" altLang="zh-CN"/>
          </a:p>
          <a:p>
            <a:r>
              <a:rPr lang="en-US" altLang="zh-CN" b="1"/>
              <a:t>Product description repeated 61,036 times in C4</a:t>
            </a:r>
            <a:endParaRPr lang="en-US" altLang="zh-CN" b="1"/>
          </a:p>
          <a:p>
            <a:pPr lvl="1"/>
            <a:r>
              <a:rPr lang="en-US" altLang="zh-CN"/>
              <a:t>by combining fantastic ideas, interesting arrangements, and follow the current trends in the field of that make you more inspired and give artistic touches. We’d be honored if you can apply some or all of these design in your wedding.  believe me, brilliant ideas would be perfect if it can be applied in real and make the people around you amazed!</a:t>
            </a:r>
            <a:endParaRPr lang="en-US" altLang="zh-CN"/>
          </a:p>
        </p:txBody>
      </p:sp>
      <p:pic>
        <p:nvPicPr>
          <p:cNvPr id="4" name="图片 3"/>
          <p:cNvPicPr>
            <a:picLocks noChangeAspect="1"/>
          </p:cNvPicPr>
          <p:nvPr/>
        </p:nvPicPr>
        <p:blipFill>
          <a:blip r:embed="rId1"/>
          <a:stretch>
            <a:fillRect/>
          </a:stretch>
        </p:blipFill>
        <p:spPr>
          <a:xfrm>
            <a:off x="880110" y="2442845"/>
            <a:ext cx="7186930" cy="217233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15265" y="168910"/>
            <a:ext cx="10653395" cy="5107940"/>
          </a:xfrm>
          <a:prstGeom prst="rect">
            <a:avLst/>
          </a:prstGeom>
          <a:noFill/>
        </p:spPr>
        <p:txBody>
          <a:bodyPr wrap="square" rtlCol="0" anchor="t">
            <a:spAutoFit/>
          </a:bodyPr>
          <a:p>
            <a:pPr indent="0" fontAlgn="auto">
              <a:spcBef>
                <a:spcPts val="600"/>
              </a:spcBef>
              <a:spcAft>
                <a:spcPts val="600"/>
              </a:spcAft>
            </a:pPr>
            <a:r>
              <a:rPr lang="en-US" altLang="zh-CN" b="1"/>
              <a:t>Deduplication training data makes language models better</a:t>
            </a:r>
            <a:endParaRPr lang="en-US" altLang="zh-CN" b="1"/>
          </a:p>
          <a:p>
            <a:pPr lvl="1" indent="0" fontAlgn="auto">
              <a:spcBef>
                <a:spcPts val="600"/>
              </a:spcBef>
              <a:spcAft>
                <a:spcPts val="600"/>
              </a:spcAft>
            </a:pPr>
            <a:r>
              <a:rPr lang="en-US" altLang="zh-CN"/>
              <a:t>Train more efficiently (because have fewer tokens)</a:t>
            </a:r>
            <a:endParaRPr lang="en-US" altLang="zh-CN"/>
          </a:p>
          <a:p>
            <a:pPr lvl="1" indent="0" fontAlgn="auto">
              <a:spcBef>
                <a:spcPts val="600"/>
              </a:spcBef>
              <a:spcAft>
                <a:spcPts val="600"/>
              </a:spcAft>
            </a:pPr>
            <a:r>
              <a:rPr lang="en-US" altLang="zh-CN"/>
              <a:t>Avoid memorization (can mitigate copyright, privacy concerns)</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b="1"/>
              <a:t>Design space:</a:t>
            </a:r>
            <a:endParaRPr lang="en-US" altLang="zh-CN" b="1"/>
          </a:p>
          <a:p>
            <a:pPr lvl="1" indent="0" fontAlgn="auto">
              <a:spcBef>
                <a:spcPts val="600"/>
              </a:spcBef>
              <a:spcAft>
                <a:spcPts val="600"/>
              </a:spcAft>
            </a:pPr>
            <a:r>
              <a:rPr lang="en-US" altLang="zh-CN"/>
              <a:t>1. What is an item (sentence, paragraph, document)?</a:t>
            </a:r>
            <a:endParaRPr lang="en-US" altLang="zh-CN"/>
          </a:p>
          <a:p>
            <a:pPr lvl="1" indent="0" fontAlgn="auto">
              <a:spcBef>
                <a:spcPts val="600"/>
              </a:spcBef>
              <a:spcAft>
                <a:spcPts val="600"/>
              </a:spcAft>
            </a:pPr>
            <a:r>
              <a:rPr lang="en-US" altLang="zh-CN"/>
              <a:t>2. How to match (exact match, existence of common subitem, fraction of common subitems)?</a:t>
            </a:r>
            <a:endParaRPr lang="en-US" altLang="zh-CN"/>
          </a:p>
          <a:p>
            <a:pPr lvl="1" indent="0" fontAlgn="auto">
              <a:spcBef>
                <a:spcPts val="600"/>
              </a:spcBef>
              <a:spcAft>
                <a:spcPts val="600"/>
              </a:spcAft>
            </a:pPr>
            <a:r>
              <a:rPr lang="en-US" altLang="zh-CN"/>
              <a:t>3. What action to take (remove all, remove all but one)?</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b="1"/>
              <a:t>Key challenge:</a:t>
            </a:r>
            <a:endParaRPr lang="en-US" altLang="zh-CN" b="1"/>
          </a:p>
          <a:p>
            <a:pPr lvl="1" indent="0" fontAlgn="auto">
              <a:spcBef>
                <a:spcPts val="600"/>
              </a:spcBef>
              <a:spcAft>
                <a:spcPts val="600"/>
              </a:spcAft>
            </a:pPr>
            <a:r>
              <a:rPr lang="en-US" altLang="zh-CN"/>
              <a:t>Deduplication is fundamentally about comparing items to other items</a:t>
            </a:r>
            <a:endParaRPr lang="en-US" altLang="zh-CN"/>
          </a:p>
          <a:p>
            <a:pPr lvl="1" indent="0" fontAlgn="auto">
              <a:spcBef>
                <a:spcPts val="600"/>
              </a:spcBef>
              <a:spcAft>
                <a:spcPts val="600"/>
              </a:spcAft>
            </a:pPr>
            <a:r>
              <a:rPr lang="en-US" altLang="zh-CN"/>
              <a:t>Need linear time algorithms to scale</a:t>
            </a:r>
            <a:endParaRPr lang="en-US" altLang="zh-C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40335" y="149860"/>
            <a:ext cx="11872595" cy="4769485"/>
          </a:xfrm>
          <a:prstGeom prst="rect">
            <a:avLst/>
          </a:prstGeom>
          <a:noFill/>
        </p:spPr>
        <p:txBody>
          <a:bodyPr wrap="square" rtlCol="0" anchor="t">
            <a:spAutoFit/>
          </a:bodyPr>
          <a:p>
            <a:pPr fontAlgn="auto">
              <a:spcBef>
                <a:spcPts val="600"/>
              </a:spcBef>
              <a:spcAft>
                <a:spcPts val="600"/>
              </a:spcAft>
            </a:pPr>
            <a:r>
              <a:rPr lang="en-US" altLang="zh-CN" sz="2400" b="1"/>
              <a:t>hash_functions():</a:t>
            </a:r>
            <a:endParaRPr lang="en-US" altLang="zh-CN" sz="2400" b="1"/>
          </a:p>
          <a:p>
            <a:pPr lvl="1" fontAlgn="auto">
              <a:spcBef>
                <a:spcPts val="600"/>
              </a:spcBef>
              <a:spcAft>
                <a:spcPts val="600"/>
              </a:spcAft>
            </a:pPr>
            <a:r>
              <a:rPr lang="en-US" altLang="zh-CN"/>
              <a:t>Hash function h maps item to a hash value (integer or string)</a:t>
            </a:r>
            <a:endParaRPr lang="en-US" altLang="zh-CN"/>
          </a:p>
          <a:p>
            <a:pPr lvl="1" fontAlgn="auto">
              <a:spcBef>
                <a:spcPts val="600"/>
              </a:spcBef>
              <a:spcAft>
                <a:spcPts val="600"/>
              </a:spcAft>
            </a:pPr>
            <a:r>
              <a:rPr lang="en-US" altLang="zh-CN"/>
              <a:t>Hash value much smaller than item</a:t>
            </a:r>
            <a:endParaRPr lang="en-US" altLang="zh-CN"/>
          </a:p>
          <a:p>
            <a:pPr lvl="1" fontAlgn="auto">
              <a:spcBef>
                <a:spcPts val="600"/>
              </a:spcBef>
              <a:spcAft>
                <a:spcPts val="600"/>
              </a:spcAft>
            </a:pPr>
            <a:r>
              <a:rPr lang="en-US" altLang="zh-CN"/>
              <a:t>Hash collision: h(x) = h(y) for x ≠ y</a:t>
            </a:r>
            <a:endParaRPr lang="en-US" altLang="zh-CN"/>
          </a:p>
          <a:p>
            <a:pPr fontAlgn="auto">
              <a:spcBef>
                <a:spcPts val="600"/>
              </a:spcBef>
              <a:spcAft>
                <a:spcPts val="600"/>
              </a:spcAft>
            </a:pPr>
            <a:endParaRPr lang="en-US" altLang="zh-CN"/>
          </a:p>
          <a:p>
            <a:pPr fontAlgn="auto">
              <a:spcBef>
                <a:spcPts val="600"/>
              </a:spcBef>
              <a:spcAft>
                <a:spcPts val="600"/>
              </a:spcAft>
            </a:pPr>
            <a:r>
              <a:rPr lang="en-US" altLang="zh-CN" b="1"/>
              <a:t>Tradeoff between efficiency and collision resistance</a:t>
            </a:r>
            <a:endParaRPr lang="en-US" altLang="zh-CN" b="1"/>
          </a:p>
          <a:p>
            <a:pPr lvl="1" fontAlgn="auto">
              <a:spcBef>
                <a:spcPts val="600"/>
              </a:spcBef>
              <a:spcAft>
                <a:spcPts val="600"/>
              </a:spcAft>
            </a:pPr>
            <a:r>
              <a:rPr lang="en-US" altLang="zh-CN"/>
              <a:t>Cryptographic hash functions (SHA-256): collision resistant, slow (used in bitcoin)</a:t>
            </a:r>
            <a:endParaRPr lang="en-US" altLang="zh-CN"/>
          </a:p>
          <a:p>
            <a:pPr lvl="1" fontAlgn="auto">
              <a:spcBef>
                <a:spcPts val="600"/>
              </a:spcBef>
              <a:spcAft>
                <a:spcPts val="600"/>
              </a:spcAft>
            </a:pPr>
            <a:r>
              <a:rPr lang="en-US" altLang="zh-CN"/>
              <a:t>Cryptographic hash functions (SHA-256): collision resistant, slow (used in bitcoin)</a:t>
            </a:r>
            <a:endParaRPr lang="en-US" altLang="zh-CN"/>
          </a:p>
          <a:p>
            <a:pPr fontAlgn="auto">
              <a:spcBef>
                <a:spcPts val="600"/>
              </a:spcBef>
              <a:spcAft>
                <a:spcPts val="600"/>
              </a:spcAft>
            </a:pPr>
            <a:endParaRPr lang="en-US" altLang="zh-CN"/>
          </a:p>
          <a:p>
            <a:pPr fontAlgn="auto">
              <a:spcBef>
                <a:spcPts val="600"/>
              </a:spcBef>
              <a:spcAft>
                <a:spcPts val="600"/>
              </a:spcAft>
            </a:pPr>
            <a:r>
              <a:rPr lang="en-US" altLang="zh-CN" b="1"/>
              <a:t>We will use MurmurHash:</a:t>
            </a:r>
            <a:endParaRPr lang="en-US" altLang="zh-CN" b="1"/>
          </a:p>
          <a:p>
            <a:pPr indent="457200" fontAlgn="auto">
              <a:spcBef>
                <a:spcPts val="600"/>
              </a:spcBef>
              <a:spcAft>
                <a:spcPts val="600"/>
              </a:spcAft>
            </a:pPr>
            <a:r>
              <a:rPr lang="en-US" altLang="zh-CN"/>
              <a:t>h = mmh3.hash("hello")</a:t>
            </a:r>
            <a:endParaRPr lang="en-US" altLang="zh-C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59385" y="300355"/>
            <a:ext cx="6096000" cy="1876425"/>
          </a:xfrm>
          <a:prstGeom prst="rect">
            <a:avLst/>
          </a:prstGeom>
          <a:noFill/>
        </p:spPr>
        <p:txBody>
          <a:bodyPr wrap="square" rtlCol="0" anchor="t">
            <a:spAutoFit/>
          </a:bodyPr>
          <a:p>
            <a:pPr fontAlgn="auto">
              <a:spcBef>
                <a:spcPts val="300"/>
              </a:spcBef>
              <a:spcAft>
                <a:spcPts val="300"/>
              </a:spcAft>
            </a:pPr>
            <a:r>
              <a:rPr lang="en-US" altLang="zh-CN" sz="2400" b="1"/>
              <a:t> exact_deduplication():</a:t>
            </a:r>
            <a:endParaRPr lang="en-US" altLang="zh-CN" sz="2400" b="1"/>
          </a:p>
          <a:p>
            <a:pPr indent="457200" fontAlgn="auto">
              <a:spcBef>
                <a:spcPts val="300"/>
              </a:spcBef>
              <a:spcAft>
                <a:spcPts val="300"/>
              </a:spcAft>
            </a:pPr>
            <a:r>
              <a:rPr lang="en-US" altLang="zh-CN" b="1"/>
              <a:t>Simple example</a:t>
            </a:r>
            <a:endParaRPr lang="en-US" altLang="zh-CN" b="1"/>
          </a:p>
          <a:p>
            <a:pPr lvl="1" fontAlgn="auto">
              <a:spcBef>
                <a:spcPts val="300"/>
              </a:spcBef>
              <a:spcAft>
                <a:spcPts val="300"/>
              </a:spcAft>
            </a:pPr>
            <a:r>
              <a:rPr lang="en-US" altLang="zh-CN"/>
              <a:t>1. Item: string</a:t>
            </a:r>
            <a:endParaRPr lang="en-US" altLang="zh-CN"/>
          </a:p>
          <a:p>
            <a:pPr lvl="1" fontAlgn="auto">
              <a:spcBef>
                <a:spcPts val="300"/>
              </a:spcBef>
              <a:spcAft>
                <a:spcPts val="300"/>
              </a:spcAft>
            </a:pPr>
            <a:r>
              <a:rPr lang="en-US" altLang="zh-CN"/>
              <a:t>2. How to match: exact match</a:t>
            </a:r>
            <a:endParaRPr lang="en-US" altLang="zh-CN"/>
          </a:p>
          <a:p>
            <a:pPr lvl="1" fontAlgn="auto">
              <a:spcBef>
                <a:spcPts val="300"/>
              </a:spcBef>
              <a:spcAft>
                <a:spcPts val="300"/>
              </a:spcAft>
            </a:pPr>
            <a:r>
              <a:rPr lang="en-US" altLang="zh-CN"/>
              <a:t>3. Action: remove all but one</a:t>
            </a:r>
            <a:endParaRPr lang="en-US" altLang="zh-CN"/>
          </a:p>
        </p:txBody>
      </p:sp>
      <p:sp>
        <p:nvSpPr>
          <p:cNvPr id="4" name="文本框 3"/>
          <p:cNvSpPr txBox="1"/>
          <p:nvPr/>
        </p:nvSpPr>
        <p:spPr>
          <a:xfrm>
            <a:off x="290830" y="3049905"/>
            <a:ext cx="8667115" cy="2799715"/>
          </a:xfrm>
          <a:prstGeom prst="rect">
            <a:avLst/>
          </a:prstGeom>
          <a:noFill/>
        </p:spPr>
        <p:txBody>
          <a:bodyPr wrap="square" rtlCol="0" anchor="t">
            <a:spAutoFit/>
          </a:bodyPr>
          <a:p>
            <a:pPr indent="0" fontAlgn="auto">
              <a:spcBef>
                <a:spcPts val="600"/>
              </a:spcBef>
              <a:spcAft>
                <a:spcPts val="600"/>
              </a:spcAft>
            </a:pPr>
            <a:r>
              <a:rPr lang="en-US" altLang="zh-CN"/>
              <a:t> </a:t>
            </a:r>
            <a:r>
              <a:rPr lang="en-US" altLang="zh-CN" b="1"/>
              <a:t># Original items</a:t>
            </a:r>
            <a:endParaRPr lang="en-US" altLang="zh-CN"/>
          </a:p>
          <a:p>
            <a:pPr indent="0" fontAlgn="auto">
              <a:spcBef>
                <a:spcPts val="600"/>
              </a:spcBef>
              <a:spcAft>
                <a:spcPts val="600"/>
              </a:spcAft>
            </a:pPr>
            <a:r>
              <a:rPr lang="en-US" altLang="zh-CN"/>
              <a:t>    items = ["Hello!", "hello", "hello there", "hello", "hi", "bye"]  # @inspect items</a:t>
            </a:r>
            <a:endParaRPr lang="en-US" altLang="zh-CN"/>
          </a:p>
          <a:p>
            <a:pPr indent="0" fontAlgn="auto">
              <a:spcBef>
                <a:spcPts val="600"/>
              </a:spcBef>
              <a:spcAft>
                <a:spcPts val="600"/>
              </a:spcAft>
            </a:pPr>
            <a:r>
              <a:rPr lang="en-US" altLang="zh-CN" b="1"/>
              <a:t> # Compute hash -&gt; list of items with that hash</a:t>
            </a:r>
            <a:endParaRPr lang="en-US" altLang="zh-CN" b="1"/>
          </a:p>
          <a:p>
            <a:pPr indent="0" fontAlgn="auto">
              <a:spcBef>
                <a:spcPts val="600"/>
              </a:spcBef>
              <a:spcAft>
                <a:spcPts val="600"/>
              </a:spcAft>
            </a:pPr>
            <a:r>
              <a:rPr lang="en-US" altLang="zh-CN"/>
              <a:t>    hash_items = itertools.groupby(sorted(items, key=mmh3.hash), key=mmh3.hash)</a:t>
            </a:r>
            <a:endParaRPr lang="en-US" altLang="zh-CN"/>
          </a:p>
          <a:p>
            <a:pPr indent="0" fontAlgn="auto">
              <a:spcBef>
                <a:spcPts val="600"/>
              </a:spcBef>
              <a:spcAft>
                <a:spcPts val="600"/>
              </a:spcAft>
            </a:pPr>
            <a:r>
              <a:rPr lang="en-US" altLang="zh-CN" b="1"/>
              <a:t> # Keep one item from each group</a:t>
            </a:r>
            <a:endParaRPr lang="en-US" altLang="zh-CN" b="1"/>
          </a:p>
          <a:p>
            <a:pPr indent="0" fontAlgn="auto">
              <a:spcBef>
                <a:spcPts val="600"/>
              </a:spcBef>
              <a:spcAft>
                <a:spcPts val="600"/>
              </a:spcAft>
            </a:pPr>
            <a:r>
              <a:rPr lang="en-US" altLang="zh-CN"/>
              <a:t>    deduped_items = [next(group) for h, group in hash_items]  # @inspect deduped_items</a:t>
            </a:r>
            <a:endParaRPr lang="zh-CN" altLang="en-US"/>
          </a:p>
        </p:txBody>
      </p:sp>
      <p:pic>
        <p:nvPicPr>
          <p:cNvPr id="5" name="图片 4"/>
          <p:cNvPicPr>
            <a:picLocks noChangeAspect="1"/>
          </p:cNvPicPr>
          <p:nvPr/>
        </p:nvPicPr>
        <p:blipFill>
          <a:blip r:embed="rId1"/>
          <a:stretch>
            <a:fillRect/>
          </a:stretch>
        </p:blipFill>
        <p:spPr>
          <a:xfrm>
            <a:off x="5255895" y="173355"/>
            <a:ext cx="4419600" cy="287655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96850" y="441325"/>
            <a:ext cx="11282045" cy="2584450"/>
          </a:xfrm>
          <a:prstGeom prst="rect">
            <a:avLst/>
          </a:prstGeom>
          <a:noFill/>
        </p:spPr>
        <p:txBody>
          <a:bodyPr wrap="square" rtlCol="0" anchor="t">
            <a:spAutoFit/>
          </a:bodyPr>
          <a:p>
            <a:r>
              <a:rPr lang="en-US" altLang="zh-CN" b="1"/>
              <a:t>Pro:</a:t>
            </a:r>
            <a:r>
              <a:rPr lang="en-US" altLang="zh-CN"/>
              <a:t> simple, clear semantics, high precision</a:t>
            </a:r>
            <a:endParaRPr lang="en-US" altLang="zh-CN"/>
          </a:p>
          <a:p>
            <a:r>
              <a:rPr lang="en-US" altLang="zh-CN" b="1"/>
              <a:t>Con:</a:t>
            </a:r>
            <a:r>
              <a:rPr lang="en-US" altLang="zh-CN"/>
              <a:t> does not deduplicate near duplicates</a:t>
            </a:r>
            <a:endParaRPr lang="en-US" altLang="zh-CN"/>
          </a:p>
          <a:p>
            <a:r>
              <a:rPr lang="en-US" altLang="zh-CN"/>
              <a:t>This code is written in a MapReduce way, can easily parallelize and scale</a:t>
            </a:r>
            <a:endParaRPr lang="en-US" altLang="zh-CN"/>
          </a:p>
          <a:p>
            <a:endParaRPr lang="en-US" altLang="zh-CN"/>
          </a:p>
          <a:p>
            <a:r>
              <a:rPr lang="en-US" altLang="zh-CN" b="1"/>
              <a:t>C4</a:t>
            </a:r>
            <a:endParaRPr lang="en-US" altLang="zh-CN" b="1"/>
          </a:p>
          <a:p>
            <a:pPr lvl="1"/>
            <a:r>
              <a:rPr lang="en-US" altLang="zh-CN"/>
              <a:t>1. Item: 3-sentence spans</a:t>
            </a:r>
            <a:endParaRPr lang="en-US" altLang="zh-CN"/>
          </a:p>
          <a:p>
            <a:pPr lvl="1"/>
            <a:r>
              <a:rPr lang="en-US" altLang="zh-CN"/>
              <a:t>2. How to match: use exact match</a:t>
            </a:r>
            <a:endParaRPr lang="en-US" altLang="zh-CN"/>
          </a:p>
          <a:p>
            <a:pPr lvl="1"/>
            <a:r>
              <a:rPr lang="en-US" altLang="zh-CN"/>
              <a:t>3. Action: remove all but one</a:t>
            </a:r>
            <a:endParaRPr lang="en-US" altLang="zh-CN"/>
          </a:p>
          <a:p>
            <a:pPr lvl="1"/>
            <a:endParaRPr lang="en-US" altLang="zh-C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40970" y="224790"/>
            <a:ext cx="10878185" cy="2676525"/>
          </a:xfrm>
          <a:prstGeom prst="rect">
            <a:avLst/>
          </a:prstGeom>
          <a:noFill/>
        </p:spPr>
        <p:txBody>
          <a:bodyPr wrap="square" rtlCol="0" anchor="t">
            <a:spAutoFit/>
          </a:bodyPr>
          <a:p>
            <a:r>
              <a:rPr lang="en-US" altLang="zh-CN" sz="2400" b="1"/>
              <a:t>bloom_filter():</a:t>
            </a:r>
            <a:endParaRPr lang="en-US" altLang="zh-CN" sz="2400" b="1"/>
          </a:p>
          <a:p>
            <a:pPr lvl="1"/>
            <a:r>
              <a:rPr lang="en-US" altLang="zh-CN" b="1"/>
              <a:t>Goal</a:t>
            </a:r>
            <a:r>
              <a:rPr lang="en-US" altLang="zh-CN"/>
              <a:t>: efficient, approximate data structure for testing set membership</a:t>
            </a:r>
            <a:endParaRPr lang="en-US" altLang="zh-CN"/>
          </a:p>
          <a:p>
            <a:endParaRPr lang="en-US" altLang="zh-CN"/>
          </a:p>
          <a:p>
            <a:r>
              <a:rPr lang="en-US" altLang="zh-CN" b="1"/>
              <a:t>Features of Bloom filters</a:t>
            </a:r>
            <a:endParaRPr lang="en-US" altLang="zh-CN" b="1"/>
          </a:p>
          <a:p>
            <a:pPr lvl="1"/>
            <a:r>
              <a:rPr lang="en-US" altLang="zh-CN"/>
              <a:t>Memory efficient</a:t>
            </a:r>
            <a:endParaRPr lang="en-US" altLang="zh-CN"/>
          </a:p>
          <a:p>
            <a:pPr lvl="1"/>
            <a:r>
              <a:rPr lang="en-US" altLang="zh-CN"/>
              <a:t>Can update, but can't delete</a:t>
            </a:r>
            <a:endParaRPr lang="en-US" altLang="zh-CN"/>
          </a:p>
          <a:p>
            <a:pPr lvl="1"/>
            <a:r>
              <a:rPr lang="en-US" altLang="zh-CN"/>
              <a:t>If return 'no', definitely 'no'</a:t>
            </a:r>
            <a:endParaRPr lang="en-US" altLang="zh-CN"/>
          </a:p>
          <a:p>
            <a:pPr lvl="1"/>
            <a:r>
              <a:rPr lang="en-US" altLang="zh-CN"/>
              <a:t>If return 'yes', most likely 'yes', but small probability of 'no'</a:t>
            </a:r>
            <a:endParaRPr lang="en-US" altLang="zh-CN"/>
          </a:p>
          <a:p>
            <a:pPr lvl="1"/>
            <a:r>
              <a:rPr lang="en-US" altLang="zh-CN"/>
              <a:t>Can drive the false positive rate down exponentially with more time/compute</a:t>
            </a:r>
            <a:endParaRPr lang="en-US" altLang="zh-CN"/>
          </a:p>
        </p:txBody>
      </p:sp>
      <p:sp>
        <p:nvSpPr>
          <p:cNvPr id="3" name="文本框 2"/>
          <p:cNvSpPr txBox="1"/>
          <p:nvPr/>
        </p:nvSpPr>
        <p:spPr>
          <a:xfrm>
            <a:off x="140970" y="2978785"/>
            <a:ext cx="11491595" cy="3415030"/>
          </a:xfrm>
          <a:prstGeom prst="rect">
            <a:avLst/>
          </a:prstGeom>
          <a:noFill/>
        </p:spPr>
        <p:txBody>
          <a:bodyPr wrap="square" rtlCol="0">
            <a:spAutoFit/>
          </a:bodyPr>
          <a:p>
            <a:r>
              <a:rPr lang="en-US" altLang="zh-CN" b="1"/>
              <a:t>items </a:t>
            </a:r>
            <a:r>
              <a:rPr lang="en-US" altLang="zh-CN"/>
              <a:t>= ["the", "cat", "in", "the", "hat"]</a:t>
            </a:r>
            <a:endParaRPr lang="en-US" altLang="zh-CN"/>
          </a:p>
          <a:p>
            <a:r>
              <a:rPr lang="en-US" altLang="zh-CN" b="1"/>
              <a:t>non_items</a:t>
            </a:r>
            <a:r>
              <a:rPr lang="en-US" altLang="zh-CN"/>
              <a:t> = ["what", "who", "why", "when", "where", "which", "how"]</a:t>
            </a:r>
            <a:endParaRPr lang="en-US" altLang="zh-CN"/>
          </a:p>
          <a:p>
            <a:endParaRPr lang="en-US" altLang="zh-CN"/>
          </a:p>
          <a:p>
            <a:r>
              <a:rPr lang="en-US" altLang="zh-CN" b="1"/>
              <a:t>First, make the range of hash function small (small number of bins).</a:t>
            </a:r>
            <a:endParaRPr lang="en-US" altLang="zh-CN" b="1"/>
          </a:p>
          <a:p>
            <a:r>
              <a:rPr lang="en-US" altLang="zh-CN"/>
              <a:t>    m = 8  # Number of bins</a:t>
            </a:r>
            <a:endParaRPr lang="en-US" altLang="zh-CN"/>
          </a:p>
          <a:p>
            <a:r>
              <a:rPr lang="en-US" altLang="zh-CN"/>
              <a:t>    table = build_table(items, m)</a:t>
            </a:r>
            <a:endParaRPr lang="en-US" altLang="zh-CN"/>
          </a:p>
          <a:p>
            <a:r>
              <a:rPr lang="en-US" altLang="zh-CN"/>
              <a:t>    for item in items:</a:t>
            </a:r>
            <a:endParaRPr lang="en-US" altLang="zh-CN"/>
          </a:p>
          <a:p>
            <a:r>
              <a:rPr lang="en-US" altLang="zh-CN"/>
              <a:t>        assert query_table(table, item, m) == 1</a:t>
            </a:r>
            <a:endParaRPr lang="en-US" altLang="zh-CN"/>
          </a:p>
          <a:p>
            <a:r>
              <a:rPr lang="en-US" altLang="zh-CN" b="1"/>
              <a:t>result </a:t>
            </a:r>
            <a:r>
              <a:rPr lang="en-US" altLang="zh-CN"/>
              <a:t>= {item: query_table(table, item, m) for item in non_items}  # @inspect result</a:t>
            </a:r>
            <a:endParaRPr lang="en-US" altLang="zh-CN"/>
          </a:p>
          <a:p>
            <a:r>
              <a:rPr lang="en-US" altLang="zh-CN" b="1"/>
              <a:t>num_mistakes </a:t>
            </a:r>
            <a:r>
              <a:rPr lang="en-US" altLang="zh-CN"/>
              <a:t>= count(result.values(), True)  # @inspect num_mistakes</a:t>
            </a:r>
            <a:endParaRPr lang="en-US" altLang="zh-CN"/>
          </a:p>
          <a:p>
            <a:r>
              <a:rPr lang="en-US" altLang="zh-CN" b="1"/>
              <a:t>false_positive_rate </a:t>
            </a:r>
            <a:r>
              <a:rPr lang="en-US" altLang="zh-CN"/>
              <a:t>= num_mistakes / (len(items) + num_mistakes)  # @inspect false_positive_rate</a:t>
            </a:r>
            <a:endParaRPr lang="en-US" altLang="zh-CN"/>
          </a:p>
          <a:p>
            <a:r>
              <a:rPr lang="en-US" altLang="zh-CN" b="1"/>
              <a:t>Problem: false positives for small bins</a:t>
            </a:r>
            <a:endParaRPr lang="en-US" altLang="zh-CN" b="1"/>
          </a:p>
        </p:txBody>
      </p:sp>
      <p:pic>
        <p:nvPicPr>
          <p:cNvPr id="4" name="图片 3"/>
          <p:cNvPicPr>
            <a:picLocks noChangeAspect="1"/>
          </p:cNvPicPr>
          <p:nvPr/>
        </p:nvPicPr>
        <p:blipFill>
          <a:blip r:embed="rId1"/>
          <a:stretch>
            <a:fillRect/>
          </a:stretch>
        </p:blipFill>
        <p:spPr>
          <a:xfrm>
            <a:off x="7780020" y="2809240"/>
            <a:ext cx="4219575" cy="220027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40970" y="168910"/>
            <a:ext cx="11534775" cy="6062345"/>
          </a:xfrm>
          <a:prstGeom prst="rect">
            <a:avLst/>
          </a:prstGeom>
          <a:noFill/>
        </p:spPr>
        <p:txBody>
          <a:bodyPr wrap="square" rtlCol="0" anchor="t">
            <a:spAutoFit/>
          </a:bodyPr>
          <a:p>
            <a:pPr indent="0" fontAlgn="auto">
              <a:spcBef>
                <a:spcPts val="600"/>
              </a:spcBef>
              <a:spcAft>
                <a:spcPts val="600"/>
              </a:spcAft>
            </a:pPr>
            <a:r>
              <a:rPr lang="en-US" altLang="zh-CN" sz="2400" b="1"/>
              <a:t>jaccard_minhash():</a:t>
            </a:r>
            <a:endParaRPr lang="zh-CN" altLang="en-US" sz="2400" b="1"/>
          </a:p>
          <a:p>
            <a:pPr lvl="1" indent="0" fontAlgn="auto">
              <a:spcBef>
                <a:spcPts val="600"/>
              </a:spcBef>
              <a:spcAft>
                <a:spcPts val="600"/>
              </a:spcAft>
            </a:pPr>
            <a:r>
              <a:rPr lang="en-US" altLang="zh-CN"/>
              <a:t>Let's now look at approximate set membership.</a:t>
            </a:r>
            <a:endParaRPr lang="en-US" altLang="zh-CN"/>
          </a:p>
          <a:p>
            <a:pPr lvl="1" indent="0" fontAlgn="auto">
              <a:spcBef>
                <a:spcPts val="600"/>
              </a:spcBef>
              <a:spcAft>
                <a:spcPts val="600"/>
              </a:spcAft>
            </a:pPr>
            <a:r>
              <a:rPr lang="en-US" altLang="zh-CN"/>
              <a:t>First we need a similarity measure.</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b="1"/>
              <a:t>Jaccard similarity</a:t>
            </a:r>
            <a:endParaRPr lang="en-US" altLang="zh-CN" b="1"/>
          </a:p>
          <a:p>
            <a:pPr indent="0" fontAlgn="auto">
              <a:spcBef>
                <a:spcPts val="600"/>
              </a:spcBef>
              <a:spcAft>
                <a:spcPts val="600"/>
              </a:spcAft>
            </a:pPr>
            <a:r>
              <a:rPr lang="en-US" altLang="zh-CN" b="1"/>
              <a:t>Definition</a:t>
            </a:r>
            <a:r>
              <a:rPr lang="en-US" altLang="zh-CN"/>
              <a:t>: Jaccard(A, B) = |A intersect B| / |A union B|</a:t>
            </a:r>
            <a:endParaRPr lang="en-US" altLang="zh-CN"/>
          </a:p>
          <a:p>
            <a:pPr lvl="1" indent="0" fontAlgn="auto">
              <a:spcBef>
                <a:spcPts val="600"/>
              </a:spcBef>
              <a:spcAft>
                <a:spcPts val="600"/>
              </a:spcAft>
            </a:pPr>
            <a:r>
              <a:rPr lang="en-US" altLang="zh-CN"/>
              <a:t>A = {"1", "2", "3", "4"}</a:t>
            </a:r>
            <a:endParaRPr lang="en-US" altLang="zh-CN"/>
          </a:p>
          <a:p>
            <a:pPr lvl="1" indent="0" fontAlgn="auto">
              <a:spcBef>
                <a:spcPts val="600"/>
              </a:spcBef>
              <a:spcAft>
                <a:spcPts val="600"/>
              </a:spcAft>
            </a:pPr>
            <a:r>
              <a:rPr lang="en-US" altLang="zh-CN"/>
              <a:t>B = {"1", "2", "3", "5"}</a:t>
            </a:r>
            <a:endParaRPr lang="en-US" altLang="zh-CN"/>
          </a:p>
          <a:p>
            <a:pPr indent="0" fontAlgn="auto">
              <a:spcBef>
                <a:spcPts val="600"/>
              </a:spcBef>
              <a:spcAft>
                <a:spcPts val="600"/>
              </a:spcAft>
            </a:pPr>
            <a:r>
              <a:rPr lang="en-US" altLang="zh-CN" b="1"/>
              <a:t>def compute_jaccard(A, B):</a:t>
            </a:r>
            <a:endParaRPr lang="en-US" altLang="zh-CN" b="1"/>
          </a:p>
          <a:p>
            <a:pPr indent="0" fontAlgn="auto">
              <a:spcBef>
                <a:spcPts val="600"/>
              </a:spcBef>
              <a:spcAft>
                <a:spcPts val="600"/>
              </a:spcAft>
            </a:pPr>
            <a:r>
              <a:rPr lang="en-US" altLang="zh-CN"/>
              <a:t>        intersection = len(A &amp; B)  # @inspect intersection</a:t>
            </a:r>
            <a:endParaRPr lang="en-US" altLang="zh-CN"/>
          </a:p>
          <a:p>
            <a:pPr indent="0" fontAlgn="auto">
              <a:spcBef>
                <a:spcPts val="600"/>
              </a:spcBef>
              <a:spcAft>
                <a:spcPts val="600"/>
              </a:spcAft>
            </a:pPr>
            <a:r>
              <a:rPr lang="en-US" altLang="zh-CN"/>
              <a:t>        union = len(A | B)  # @inspect union</a:t>
            </a:r>
            <a:endParaRPr lang="en-US" altLang="zh-CN"/>
          </a:p>
          <a:p>
            <a:pPr indent="0" fontAlgn="auto">
              <a:spcBef>
                <a:spcPts val="600"/>
              </a:spcBef>
              <a:spcAft>
                <a:spcPts val="600"/>
              </a:spcAft>
            </a:pPr>
            <a:r>
              <a:rPr lang="en-US" altLang="zh-CN"/>
              <a:t>        return intersection / union</a:t>
            </a:r>
            <a:endParaRPr lang="en-US" altLang="zh-CN"/>
          </a:p>
          <a:p>
            <a:pPr indent="0" fontAlgn="auto">
              <a:spcBef>
                <a:spcPts val="600"/>
              </a:spcBef>
              <a:spcAft>
                <a:spcPts val="600"/>
              </a:spcAft>
            </a:pPr>
            <a:r>
              <a:rPr lang="en-US" altLang="zh-CN" b="1"/>
              <a:t>accard </a:t>
            </a:r>
            <a:r>
              <a:rPr lang="en-US" altLang="zh-CN"/>
              <a:t>= compute_jaccard(A, B)  # @inspect jaccard</a:t>
            </a:r>
            <a:endParaRPr lang="en-US" altLang="zh-CN"/>
          </a:p>
          <a:p>
            <a:pPr indent="0" fontAlgn="auto">
              <a:spcBef>
                <a:spcPts val="600"/>
              </a:spcBef>
              <a:spcAft>
                <a:spcPts val="600"/>
              </a:spcAft>
            </a:pPr>
            <a:r>
              <a:rPr lang="en-US" altLang="zh-CN" b="1"/>
              <a:t>Definition</a:t>
            </a:r>
            <a:r>
              <a:rPr lang="en-US" altLang="zh-CN"/>
              <a:t>: two documents are **near duplicates** if their Jaccard similarity &gt;= threshold</a:t>
            </a:r>
            <a:endParaRPr lang="en-US" altLang="zh-C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1920" y="187325"/>
            <a:ext cx="6096000" cy="368300"/>
          </a:xfrm>
          <a:prstGeom prst="rect">
            <a:avLst/>
          </a:prstGeom>
          <a:noFill/>
        </p:spPr>
        <p:txBody>
          <a:bodyPr wrap="square" rtlCol="0" anchor="t">
            <a:spAutoFit/>
          </a:bodyPr>
          <a:p>
            <a:r>
              <a:rPr lang="en-US" altLang="zh-CN" b="1"/>
              <a:t>Algorithmic challenge:</a:t>
            </a:r>
            <a:r>
              <a:rPr lang="en-US" altLang="zh-CN"/>
              <a:t> find near duplicates in linear time</a:t>
            </a:r>
            <a:endParaRPr lang="zh-CN" altLang="en-US"/>
          </a:p>
        </p:txBody>
      </p:sp>
      <p:sp>
        <p:nvSpPr>
          <p:cNvPr id="3" name="文本框 2"/>
          <p:cNvSpPr txBox="1"/>
          <p:nvPr/>
        </p:nvSpPr>
        <p:spPr>
          <a:xfrm>
            <a:off x="121920" y="555625"/>
            <a:ext cx="11697970" cy="2876550"/>
          </a:xfrm>
          <a:prstGeom prst="rect">
            <a:avLst/>
          </a:prstGeom>
          <a:noFill/>
        </p:spPr>
        <p:txBody>
          <a:bodyPr wrap="square" rtlCol="0">
            <a:spAutoFit/>
          </a:bodyPr>
          <a:p>
            <a:pPr indent="0" fontAlgn="auto">
              <a:spcBef>
                <a:spcPts val="300"/>
              </a:spcBef>
              <a:spcAft>
                <a:spcPts val="300"/>
              </a:spcAft>
            </a:pPr>
            <a:r>
              <a:rPr lang="en-US" altLang="zh-CN" sz="2000" b="1"/>
              <a:t>MinHash</a:t>
            </a:r>
            <a:endParaRPr lang="en-US" altLang="zh-CN" sz="2000" b="1"/>
          </a:p>
          <a:p>
            <a:pPr indent="457200" fontAlgn="auto">
              <a:spcBef>
                <a:spcPts val="300"/>
              </a:spcBef>
              <a:spcAft>
                <a:spcPts val="300"/>
              </a:spcAft>
            </a:pPr>
            <a:r>
              <a:rPr lang="en-US" altLang="zh-CN"/>
              <a:t>MinHash: a random hash function h so that Pr[h(A) = h(B)] = Jaccard(A, B)</a:t>
            </a:r>
            <a:endParaRPr lang="en-US" altLang="zh-CN"/>
          </a:p>
          <a:p>
            <a:pPr lvl="1" indent="0" fontAlgn="auto">
              <a:spcBef>
                <a:spcPts val="300"/>
              </a:spcBef>
              <a:spcAft>
                <a:spcPts val="300"/>
              </a:spcAft>
            </a:pPr>
            <a:endParaRPr lang="en-US" altLang="zh-CN"/>
          </a:p>
          <a:p>
            <a:pPr lvl="1" indent="0" fontAlgn="auto">
              <a:spcBef>
                <a:spcPts val="300"/>
              </a:spcBef>
              <a:spcAft>
                <a:spcPts val="300"/>
              </a:spcAft>
            </a:pPr>
            <a:r>
              <a:rPr lang="en-US" altLang="zh-CN"/>
              <a:t>Normally, you want different items to hash to different hashes</a:t>
            </a:r>
            <a:endParaRPr lang="en-US" altLang="zh-CN"/>
          </a:p>
          <a:p>
            <a:pPr lvl="1" indent="0" fontAlgn="auto">
              <a:spcBef>
                <a:spcPts val="300"/>
              </a:spcBef>
              <a:spcAft>
                <a:spcPts val="300"/>
              </a:spcAft>
            </a:pPr>
            <a:r>
              <a:rPr lang="en-US" altLang="zh-CN"/>
              <a:t>...but here, you want collision probability to depend on similarity</a:t>
            </a:r>
            <a:endParaRPr lang="en-US" altLang="zh-CN"/>
          </a:p>
          <a:p>
            <a:pPr indent="0" fontAlgn="auto">
              <a:spcBef>
                <a:spcPts val="300"/>
              </a:spcBef>
              <a:spcAft>
                <a:spcPts val="300"/>
              </a:spcAft>
            </a:pPr>
            <a:endParaRPr lang="en-US" altLang="zh-CN"/>
          </a:p>
          <a:p>
            <a:pPr indent="0" fontAlgn="auto">
              <a:spcBef>
                <a:spcPts val="300"/>
              </a:spcBef>
              <a:spcAft>
                <a:spcPts val="300"/>
              </a:spcAft>
            </a:pPr>
            <a:r>
              <a:rPr lang="en-US" altLang="zh-CN" b="1"/>
              <a:t>def minhash(S: set[str], seed: int):</a:t>
            </a:r>
            <a:endParaRPr lang="en-US" altLang="zh-CN" b="1"/>
          </a:p>
          <a:p>
            <a:pPr indent="0" fontAlgn="auto">
              <a:spcBef>
                <a:spcPts val="300"/>
              </a:spcBef>
              <a:spcAft>
                <a:spcPts val="300"/>
              </a:spcAft>
            </a:pPr>
            <a:r>
              <a:rPr lang="en-US" altLang="zh-CN"/>
              <a:t>        return min(mmh3.hash(x, seed) for x in S)</a:t>
            </a:r>
            <a:endParaRPr lang="en-US" altLang="zh-CN"/>
          </a:p>
        </p:txBody>
      </p:sp>
      <p:sp>
        <p:nvSpPr>
          <p:cNvPr id="4" name="文本框 3"/>
          <p:cNvSpPr txBox="1"/>
          <p:nvPr/>
        </p:nvSpPr>
        <p:spPr>
          <a:xfrm>
            <a:off x="121920" y="3465830"/>
            <a:ext cx="8378190" cy="2953385"/>
          </a:xfrm>
          <a:prstGeom prst="rect">
            <a:avLst/>
          </a:prstGeom>
          <a:noFill/>
        </p:spPr>
        <p:txBody>
          <a:bodyPr wrap="square" rtlCol="0">
            <a:spAutoFit/>
          </a:bodyPr>
          <a:p>
            <a:pPr indent="0" fontAlgn="auto">
              <a:spcBef>
                <a:spcPts val="600"/>
              </a:spcBef>
              <a:spcAft>
                <a:spcPts val="600"/>
              </a:spcAft>
            </a:pPr>
            <a:r>
              <a:rPr lang="en-US" altLang="zh-CN" b="1"/>
              <a:t>Characteristic matrix representation</a:t>
            </a:r>
            <a:endParaRPr lang="en-US" altLang="zh-CN" b="1"/>
          </a:p>
          <a:p>
            <a:pPr indent="0" fontAlgn="auto">
              <a:spcBef>
                <a:spcPts val="600"/>
              </a:spcBef>
              <a:spcAft>
                <a:spcPts val="600"/>
              </a:spcAft>
            </a:pPr>
            <a:r>
              <a:rPr lang="en-US" altLang="zh-CN"/>
              <a:t>    item | A | B", verbatim=True</a:t>
            </a:r>
            <a:endParaRPr lang="en-US" altLang="zh-CN"/>
          </a:p>
          <a:p>
            <a:pPr indent="0" fontAlgn="auto">
              <a:spcBef>
                <a:spcPts val="600"/>
              </a:spcBef>
              <a:spcAft>
                <a:spcPts val="600"/>
              </a:spcAft>
            </a:pPr>
            <a:r>
              <a:rPr lang="en-US" altLang="zh-CN"/>
              <a:t>    1      | 1 | 1", verbatim =True</a:t>
            </a:r>
            <a:endParaRPr lang="en-US" altLang="zh-CN"/>
          </a:p>
          <a:p>
            <a:pPr indent="0" fontAlgn="auto">
              <a:spcBef>
                <a:spcPts val="600"/>
              </a:spcBef>
              <a:spcAft>
                <a:spcPts val="600"/>
              </a:spcAft>
            </a:pPr>
            <a:r>
              <a:rPr lang="en-US" altLang="zh-CN"/>
              <a:t>    2      | 1 | 1", verbatim=True</a:t>
            </a:r>
            <a:endParaRPr lang="en-US" altLang="zh-CN"/>
          </a:p>
          <a:p>
            <a:pPr indent="0" fontAlgn="auto">
              <a:spcBef>
                <a:spcPts val="600"/>
              </a:spcBef>
              <a:spcAft>
                <a:spcPts val="600"/>
              </a:spcAft>
            </a:pPr>
            <a:r>
              <a:rPr lang="en-US" altLang="zh-CN"/>
              <a:t>    3      | 1 | 1", verbatim=True</a:t>
            </a:r>
            <a:endParaRPr lang="en-US" altLang="zh-CN"/>
          </a:p>
          <a:p>
            <a:pPr indent="0" fontAlgn="auto">
              <a:spcBef>
                <a:spcPts val="600"/>
              </a:spcBef>
              <a:spcAft>
                <a:spcPts val="600"/>
              </a:spcAft>
            </a:pPr>
            <a:r>
              <a:rPr lang="en-US" altLang="zh-CN"/>
              <a:t>    4      | 1 | 0", verbatim=True</a:t>
            </a:r>
            <a:endParaRPr lang="en-US" altLang="zh-CN"/>
          </a:p>
          <a:p>
            <a:pPr indent="0" fontAlgn="auto">
              <a:spcBef>
                <a:spcPts val="600"/>
              </a:spcBef>
              <a:spcAft>
                <a:spcPts val="600"/>
              </a:spcAft>
            </a:pPr>
            <a:r>
              <a:rPr lang="en-US" altLang="zh-CN"/>
              <a:t>    5      | 0 | 1", verbatim=True</a:t>
            </a:r>
            <a:endParaRPr lang="en-US" altLang="zh-C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15900" y="506095"/>
            <a:ext cx="8890635" cy="2091690"/>
          </a:xfrm>
          <a:prstGeom prst="rect">
            <a:avLst/>
          </a:prstGeom>
          <a:noFill/>
        </p:spPr>
        <p:txBody>
          <a:bodyPr wrap="square" rtlCol="0" anchor="t">
            <a:spAutoFit/>
          </a:bodyPr>
          <a:p>
            <a:pPr indent="0" fontAlgn="auto">
              <a:spcBef>
                <a:spcPts val="600"/>
              </a:spcBef>
              <a:spcAft>
                <a:spcPts val="600"/>
              </a:spcAft>
            </a:pPr>
            <a:r>
              <a:rPr lang="en-US" altLang="zh-CN"/>
              <a:t>Random hash function induces a permutation over items</a:t>
            </a:r>
            <a:endParaRPr lang="en-US" altLang="zh-CN"/>
          </a:p>
          <a:p>
            <a:pPr indent="0" fontAlgn="auto">
              <a:spcBef>
                <a:spcPts val="600"/>
              </a:spcBef>
              <a:spcAft>
                <a:spcPts val="600"/>
              </a:spcAft>
            </a:pPr>
            <a:r>
              <a:rPr lang="en-US" altLang="zh-CN"/>
              <a:t>Look at which item is first in A and which item is first in B.</a:t>
            </a:r>
            <a:endParaRPr lang="en-US" altLang="zh-CN"/>
          </a:p>
          <a:p>
            <a:pPr indent="0" fontAlgn="auto">
              <a:spcBef>
                <a:spcPts val="600"/>
              </a:spcBef>
              <a:spcAft>
                <a:spcPts val="600"/>
              </a:spcAft>
            </a:pPr>
            <a:r>
              <a:rPr lang="en-US" altLang="zh-CN"/>
              <a:t>Each item has the same probability as being first (min)</a:t>
            </a:r>
            <a:endParaRPr lang="en-US" altLang="zh-CN"/>
          </a:p>
          <a:p>
            <a:pPr lvl="1" indent="0" fontAlgn="auto">
              <a:spcBef>
                <a:spcPts val="600"/>
              </a:spcBef>
              <a:spcAft>
                <a:spcPts val="600"/>
              </a:spcAft>
            </a:pPr>
            <a:r>
              <a:rPr lang="en-US" altLang="zh-CN"/>
              <a:t>If 1, 2, 3 is first, then first in A = first in B.</a:t>
            </a:r>
            <a:endParaRPr lang="en-US" altLang="zh-CN"/>
          </a:p>
          <a:p>
            <a:pPr lvl="1" indent="0" fontAlgn="auto">
              <a:spcBef>
                <a:spcPts val="600"/>
              </a:spcBef>
              <a:spcAft>
                <a:spcPts val="600"/>
              </a:spcAft>
            </a:pPr>
            <a:r>
              <a:rPr lang="en-US" altLang="zh-CN"/>
              <a:t>If 4, 5 is first, then first in A ≠ first in B.</a:t>
            </a:r>
            <a:endParaRPr lang="en-US" altLang="zh-CN"/>
          </a:p>
        </p:txBody>
      </p:sp>
      <p:sp>
        <p:nvSpPr>
          <p:cNvPr id="3" name="文本框 2"/>
          <p:cNvSpPr txBox="1"/>
          <p:nvPr/>
        </p:nvSpPr>
        <p:spPr>
          <a:xfrm>
            <a:off x="215900" y="2941320"/>
            <a:ext cx="9577705" cy="368300"/>
          </a:xfrm>
          <a:prstGeom prst="rect">
            <a:avLst/>
          </a:prstGeom>
          <a:noFill/>
        </p:spPr>
        <p:txBody>
          <a:bodyPr wrap="square" rtlCol="0">
            <a:spAutoFit/>
          </a:bodyPr>
          <a:p>
            <a:r>
              <a:rPr lang="en-US" altLang="zh-CN"/>
              <a:t>Now we can hash our items, but a collision doesn't tell us Jaccard(A, B) &gt; threshold.</a:t>
            </a:r>
            <a:endParaRPr lang="en-US" altLang="zh-C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34315" y="281305"/>
            <a:ext cx="11365865" cy="5107940"/>
          </a:xfrm>
          <a:prstGeom prst="rect">
            <a:avLst/>
          </a:prstGeom>
          <a:noFill/>
        </p:spPr>
        <p:txBody>
          <a:bodyPr wrap="square" rtlCol="0" anchor="t">
            <a:spAutoFit/>
          </a:bodyPr>
          <a:p>
            <a:pPr indent="0" fontAlgn="auto">
              <a:spcBef>
                <a:spcPts val="600"/>
              </a:spcBef>
              <a:spcAft>
                <a:spcPts val="600"/>
              </a:spcAft>
            </a:pPr>
            <a:r>
              <a:rPr lang="en-US" altLang="zh-CN" b="1"/>
              <a:t>locality_sensitive_hashing():</a:t>
            </a:r>
            <a:endParaRPr lang="en-US" altLang="zh-CN" b="1"/>
          </a:p>
          <a:p>
            <a:pPr lvl="1" indent="0" fontAlgn="auto">
              <a:spcBef>
                <a:spcPts val="600"/>
              </a:spcBef>
              <a:spcAft>
                <a:spcPts val="600"/>
              </a:spcAft>
            </a:pPr>
            <a:r>
              <a:rPr lang="en-US" altLang="zh-CN"/>
              <a:t>Locality sensitive hashing (LSH)</a:t>
            </a:r>
            <a:endParaRPr lang="en-US" altLang="zh-CN"/>
          </a:p>
          <a:p>
            <a:pPr lvl="1" indent="0" fontAlgn="auto">
              <a:spcBef>
                <a:spcPts val="600"/>
              </a:spcBef>
              <a:spcAft>
                <a:spcPts val="600"/>
              </a:spcAft>
            </a:pPr>
            <a:endParaRPr lang="en-US" altLang="zh-CN"/>
          </a:p>
          <a:p>
            <a:pPr lvl="1" indent="0" fontAlgn="auto">
              <a:spcBef>
                <a:spcPts val="600"/>
              </a:spcBef>
              <a:spcAft>
                <a:spcPts val="600"/>
              </a:spcAft>
            </a:pPr>
            <a:r>
              <a:rPr lang="en-US" altLang="zh-CN"/>
              <a:t>Suppose we hash examples just one MinHash function</a:t>
            </a:r>
            <a:endParaRPr lang="en-US" altLang="zh-CN"/>
          </a:p>
          <a:p>
            <a:pPr lvl="1" indent="0" fontAlgn="auto">
              <a:spcBef>
                <a:spcPts val="600"/>
              </a:spcBef>
              <a:spcAft>
                <a:spcPts val="600"/>
              </a:spcAft>
            </a:pPr>
            <a:r>
              <a:rPr lang="en-US" altLang="zh-CN"/>
              <a:t>P[A and B collide] = Jaccard(A, B)</a:t>
            </a:r>
            <a:endParaRPr lang="en-US" altLang="zh-CN"/>
          </a:p>
          <a:p>
            <a:pPr lvl="1" indent="0" fontAlgn="auto">
              <a:spcBef>
                <a:spcPts val="600"/>
              </a:spcBef>
              <a:spcAft>
                <a:spcPts val="600"/>
              </a:spcAft>
            </a:pPr>
            <a:r>
              <a:rPr lang="en-US" altLang="zh-CN"/>
              <a:t>On average, more similar items will collide, but very stochastic...</a:t>
            </a:r>
            <a:endParaRPr lang="en-US" altLang="zh-CN"/>
          </a:p>
          <a:p>
            <a:pPr lvl="1" indent="0" fontAlgn="auto">
              <a:spcBef>
                <a:spcPts val="600"/>
              </a:spcBef>
              <a:spcAft>
                <a:spcPts val="600"/>
              </a:spcAft>
            </a:pPr>
            <a:endParaRPr lang="en-US" altLang="zh-CN"/>
          </a:p>
          <a:p>
            <a:pPr lvl="1" indent="0" fontAlgn="auto">
              <a:spcBef>
                <a:spcPts val="600"/>
              </a:spcBef>
              <a:spcAft>
                <a:spcPts val="600"/>
              </a:spcAft>
            </a:pPr>
            <a:r>
              <a:rPr lang="en-US" altLang="zh-CN" b="1"/>
              <a:t>Goal</a:t>
            </a:r>
            <a:r>
              <a:rPr lang="en-US" altLang="zh-CN"/>
              <a:t>: have A and B collide if Jaccard(A, B) &gt; threshold</a:t>
            </a:r>
            <a:endParaRPr lang="en-US" altLang="zh-CN"/>
          </a:p>
          <a:p>
            <a:pPr lvl="1" indent="0" fontAlgn="auto">
              <a:spcBef>
                <a:spcPts val="600"/>
              </a:spcBef>
              <a:spcAft>
                <a:spcPts val="600"/>
              </a:spcAft>
            </a:pPr>
            <a:r>
              <a:rPr lang="en-US" altLang="zh-CN"/>
              <a:t>We have to somehow sharpen the probabilities...</a:t>
            </a:r>
            <a:endParaRPr lang="en-US" altLang="zh-CN"/>
          </a:p>
          <a:p>
            <a:pPr lvl="1" indent="0" fontAlgn="auto">
              <a:spcBef>
                <a:spcPts val="600"/>
              </a:spcBef>
              <a:spcAft>
                <a:spcPts val="600"/>
              </a:spcAft>
            </a:pPr>
            <a:endParaRPr lang="en-US" altLang="zh-CN"/>
          </a:p>
          <a:p>
            <a:pPr lvl="1" indent="0" fontAlgn="auto">
              <a:spcBef>
                <a:spcPts val="600"/>
              </a:spcBef>
              <a:spcAft>
                <a:spcPts val="600"/>
              </a:spcAft>
            </a:pPr>
            <a:r>
              <a:rPr lang="en-US" altLang="zh-CN" b="1"/>
              <a:t>Solution: use n hash functions</a:t>
            </a:r>
            <a:endParaRPr lang="en-US" altLang="zh-CN" b="1"/>
          </a:p>
          <a:p>
            <a:pPr lvl="1" indent="0" fontAlgn="auto">
              <a:spcBef>
                <a:spcPts val="600"/>
              </a:spcBef>
              <a:spcAft>
                <a:spcPts val="600"/>
              </a:spcAft>
            </a:pPr>
            <a:r>
              <a:rPr lang="en-US" altLang="zh-CN"/>
              <a:t>Break up into b bands of r hash functions each (n = b * r)</a:t>
            </a:r>
            <a:endParaRPr lang="en-US" altLang="zh-CN"/>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53365" y="226060"/>
            <a:ext cx="11366500" cy="4599940"/>
          </a:xfrm>
          <a:prstGeom prst="rect">
            <a:avLst/>
          </a:prstGeom>
          <a:noFill/>
        </p:spPr>
        <p:txBody>
          <a:bodyPr wrap="square" rtlCol="0" anchor="t">
            <a:spAutoFit/>
          </a:bodyPr>
          <a:p>
            <a:pPr indent="0" fontAlgn="auto">
              <a:spcBef>
                <a:spcPts val="600"/>
              </a:spcBef>
              <a:spcAft>
                <a:spcPts val="600"/>
              </a:spcAft>
            </a:pPr>
            <a:r>
              <a:rPr lang="en-US" altLang="zh-CN"/>
              <a:t> n = 12      # Number of hash functions</a:t>
            </a:r>
            <a:endParaRPr lang="en-US" altLang="zh-CN"/>
          </a:p>
          <a:p>
            <a:pPr indent="0" fontAlgn="auto">
              <a:spcBef>
                <a:spcPts val="600"/>
              </a:spcBef>
              <a:spcAft>
                <a:spcPts val="600"/>
              </a:spcAft>
            </a:pPr>
            <a:r>
              <a:rPr lang="en-US" altLang="zh-CN"/>
              <a:t> b = 3       # Number of bands</a:t>
            </a:r>
            <a:endParaRPr lang="en-US" altLang="zh-CN"/>
          </a:p>
          <a:p>
            <a:pPr indent="0" fontAlgn="auto">
              <a:spcBef>
                <a:spcPts val="600"/>
              </a:spcBef>
              <a:spcAft>
                <a:spcPts val="600"/>
              </a:spcAft>
            </a:pPr>
            <a:r>
              <a:rPr lang="en-US" altLang="zh-CN"/>
              <a:t> r = 4       # Number of hash functions per band</a:t>
            </a:r>
            <a:endParaRPr lang="en-US" altLang="zh-CN"/>
          </a:p>
          <a:p>
            <a:pPr indent="0" fontAlgn="auto">
              <a:spcBef>
                <a:spcPts val="600"/>
              </a:spcBef>
              <a:spcAft>
                <a:spcPts val="600"/>
              </a:spcAft>
            </a:pPr>
            <a:r>
              <a:rPr lang="en-US" altLang="zh-CN"/>
              <a:t> Hash functions:</a:t>
            </a:r>
            <a:endParaRPr lang="en-US" altLang="zh-CN"/>
          </a:p>
          <a:p>
            <a:pPr indent="0" fontAlgn="auto">
              <a:spcBef>
                <a:spcPts val="600"/>
              </a:spcBef>
              <a:spcAft>
                <a:spcPts val="600"/>
              </a:spcAft>
            </a:pPr>
            <a:r>
              <a:rPr lang="en-US" altLang="zh-CN"/>
              <a:t> h1 h2 h3 h4  |  h5 h6 h7 h8  |  h9 h10 h11 h12</a:t>
            </a:r>
            <a:endParaRPr lang="en-US" altLang="zh-CN"/>
          </a:p>
          <a:p>
            <a:pPr indent="0" fontAlgn="auto">
              <a:spcBef>
                <a:spcPts val="600"/>
              </a:spcBef>
              <a:spcAft>
                <a:spcPts val="600"/>
              </a:spcAft>
            </a:pPr>
            <a:endParaRPr lang="zh-CN" altLang="en-US"/>
          </a:p>
          <a:p>
            <a:pPr indent="0" fontAlgn="auto">
              <a:spcBef>
                <a:spcPts val="600"/>
              </a:spcBef>
              <a:spcAft>
                <a:spcPts val="600"/>
              </a:spcAft>
            </a:pPr>
            <a:r>
              <a:rPr lang="en-US" altLang="zh-CN" b="1"/>
              <a:t>Key: </a:t>
            </a:r>
            <a:r>
              <a:rPr lang="en-US" altLang="zh-CN"/>
              <a:t>A and B collide if for *some* band, *all* its hash functions return same value</a:t>
            </a:r>
            <a:endParaRPr lang="en-US" altLang="zh-CN"/>
          </a:p>
          <a:p>
            <a:pPr indent="0" fontAlgn="auto">
              <a:spcBef>
                <a:spcPts val="600"/>
              </a:spcBef>
              <a:spcAft>
                <a:spcPts val="600"/>
              </a:spcAft>
            </a:pPr>
            <a:r>
              <a:rPr lang="en-US" altLang="zh-CN"/>
              <a:t>As we will see, the and-or structure of the bands sharpens the threshold</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b="1"/>
              <a:t>Given Jaccard(A, B), what is the probability that A and B collide?</a:t>
            </a:r>
            <a:endParaRPr lang="en-US" altLang="zh-CN" b="1"/>
          </a:p>
          <a:p>
            <a:endParaRPr lang="en-US" altLang="zh-CN" b="1"/>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72415" y="1557020"/>
            <a:ext cx="8890635" cy="645160"/>
          </a:xfrm>
          <a:prstGeom prst="rect">
            <a:avLst/>
          </a:prstGeom>
          <a:noFill/>
        </p:spPr>
        <p:txBody>
          <a:bodyPr wrap="square" rtlCol="0" anchor="t">
            <a:spAutoFit/>
          </a:bodyPr>
          <a:p>
            <a:r>
              <a:rPr lang="en-US" altLang="zh-CN"/>
              <a:t>Example</a:t>
            </a:r>
            <a:endParaRPr lang="en-US" altLang="zh-CN"/>
          </a:p>
          <a:p>
            <a:r>
              <a:rPr lang="en-US" altLang="zh-CN"/>
              <a:t>prob_collision = get_prob_collision(sim=0.8, b=5, r=10) </a:t>
            </a:r>
            <a:endParaRPr lang="en-US" altLang="zh-CN"/>
          </a:p>
        </p:txBody>
      </p:sp>
      <p:sp>
        <p:nvSpPr>
          <p:cNvPr id="3" name="文本框 2"/>
          <p:cNvSpPr txBox="1"/>
          <p:nvPr/>
        </p:nvSpPr>
        <p:spPr>
          <a:xfrm>
            <a:off x="272415" y="80645"/>
            <a:ext cx="11479530" cy="1476375"/>
          </a:xfrm>
          <a:prstGeom prst="rect">
            <a:avLst/>
          </a:prstGeom>
          <a:noFill/>
        </p:spPr>
        <p:txBody>
          <a:bodyPr wrap="square" rtlCol="0" anchor="t">
            <a:spAutoFit/>
          </a:bodyPr>
          <a:p>
            <a:endParaRPr lang="en-US" altLang="zh-CN"/>
          </a:p>
          <a:p>
            <a:r>
              <a:rPr lang="en-US" altLang="zh-CN" b="1">
                <a:sym typeface="+mn-ea"/>
              </a:rPr>
              <a:t>def get_prob_collision(sim, b, r): </a:t>
            </a:r>
            <a:r>
              <a:rPr lang="en-US" altLang="zh-CN">
                <a:sym typeface="+mn-ea"/>
              </a:rPr>
              <a:t> </a:t>
            </a:r>
            <a:endParaRPr lang="en-US" altLang="zh-CN"/>
          </a:p>
          <a:p>
            <a:r>
              <a:rPr lang="en-US" altLang="zh-CN">
                <a:sym typeface="+mn-ea"/>
              </a:rPr>
              <a:t>        prob_match = sim ** r                        </a:t>
            </a:r>
            <a:endParaRPr lang="en-US" altLang="zh-CN"/>
          </a:p>
          <a:p>
            <a:r>
              <a:rPr lang="en-US" altLang="zh-CN">
                <a:sym typeface="+mn-ea"/>
              </a:rPr>
              <a:t>        prob_collision = 1 - (1 - prob_match) ** b </a:t>
            </a:r>
            <a:endParaRPr lang="en-US" altLang="zh-CN"/>
          </a:p>
          <a:p>
            <a:r>
              <a:rPr lang="en-US" altLang="zh-CN">
                <a:sym typeface="+mn-ea"/>
              </a:rPr>
              <a:t>        return prob_collision</a:t>
            </a:r>
            <a:endParaRPr lang="en-US" altLang="zh-CN">
              <a:sym typeface="+mn-ea"/>
            </a:endParaRPr>
          </a:p>
        </p:txBody>
      </p:sp>
      <p:pic>
        <p:nvPicPr>
          <p:cNvPr id="4" name="图片 3"/>
          <p:cNvPicPr>
            <a:picLocks noChangeAspect="1"/>
          </p:cNvPicPr>
          <p:nvPr/>
        </p:nvPicPr>
        <p:blipFill>
          <a:blip r:embed="rId1"/>
          <a:stretch>
            <a:fillRect/>
          </a:stretch>
        </p:blipFill>
        <p:spPr>
          <a:xfrm>
            <a:off x="6042025" y="417830"/>
            <a:ext cx="5709920" cy="1571625"/>
          </a:xfrm>
          <a:prstGeom prst="rect">
            <a:avLst/>
          </a:prstGeom>
        </p:spPr>
      </p:pic>
      <p:pic>
        <p:nvPicPr>
          <p:cNvPr id="5" name="图片 4"/>
          <p:cNvPicPr>
            <a:picLocks noChangeAspect="1"/>
          </p:cNvPicPr>
          <p:nvPr/>
        </p:nvPicPr>
        <p:blipFill>
          <a:blip r:embed="rId2"/>
          <a:stretch>
            <a:fillRect/>
          </a:stretch>
        </p:blipFill>
        <p:spPr>
          <a:xfrm>
            <a:off x="479425" y="2555240"/>
            <a:ext cx="5562600" cy="324802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53365" y="328930"/>
            <a:ext cx="11535410" cy="2538095"/>
          </a:xfrm>
          <a:prstGeom prst="rect">
            <a:avLst/>
          </a:prstGeom>
          <a:noFill/>
        </p:spPr>
        <p:txBody>
          <a:bodyPr wrap="square" rtlCol="0" anchor="t">
            <a:spAutoFit/>
          </a:bodyPr>
          <a:p>
            <a:pPr indent="0" fontAlgn="auto">
              <a:spcBef>
                <a:spcPts val="600"/>
              </a:spcBef>
              <a:spcAft>
                <a:spcPts val="600"/>
              </a:spcAft>
            </a:pPr>
            <a:r>
              <a:rPr lang="en-US" altLang="zh-CN" sz="2400" b="1"/>
              <a:t>Summary</a:t>
            </a:r>
            <a:endParaRPr lang="en-US" altLang="zh-CN" sz="2400" b="1"/>
          </a:p>
          <a:p>
            <a:pPr indent="0" fontAlgn="auto">
              <a:spcBef>
                <a:spcPts val="600"/>
              </a:spcBef>
              <a:spcAft>
                <a:spcPts val="600"/>
              </a:spcAft>
            </a:pPr>
            <a:r>
              <a:rPr lang="en-US" altLang="zh-CN"/>
              <a:t>     Algorithmic tools: n-gram models (KenLM), classifiers (fastText), importance resampling (DSIR)")</a:t>
            </a:r>
            <a:endParaRPr lang="en-US" altLang="zh-CN"/>
          </a:p>
          <a:p>
            <a:pPr indent="0" fontAlgn="auto">
              <a:spcBef>
                <a:spcPts val="600"/>
              </a:spcBef>
              <a:spcAft>
                <a:spcPts val="600"/>
              </a:spcAft>
            </a:pPr>
            <a:r>
              <a:rPr lang="en-US" altLang="zh-CN"/>
              <a:t>     Applications: language identification, quality filtering, toxicity filtering</a:t>
            </a:r>
            <a:endParaRPr lang="en-US" altLang="zh-CN"/>
          </a:p>
          <a:p>
            <a:pPr indent="0" fontAlgn="auto">
              <a:spcBef>
                <a:spcPts val="600"/>
              </a:spcBef>
              <a:spcAft>
                <a:spcPts val="600"/>
              </a:spcAft>
            </a:pPr>
            <a:r>
              <a:rPr lang="en-US" altLang="zh-CN"/>
              <a:t>     Deduplication: hashing scales to large datasets for fuzzy matching</a:t>
            </a:r>
            <a:endParaRPr lang="en-US" altLang="zh-CN"/>
          </a:p>
          <a:p>
            <a:pPr indent="0" fontAlgn="auto">
              <a:spcBef>
                <a:spcPts val="600"/>
              </a:spcBef>
              <a:spcAft>
                <a:spcPts val="600"/>
              </a:spcAft>
            </a:pPr>
            <a:r>
              <a:rPr lang="en-US" altLang="zh-CN"/>
              <a:t>     Now you have the tools (mechanics), just have to spend time with data (intuitions)</a:t>
            </a:r>
            <a:endParaRPr lang="en-US" altLang="zh-CN"/>
          </a:p>
          <a:p>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4219547" y="2751791"/>
            <a:ext cx="3733800" cy="2264833"/>
          </a:xfrm>
          <a:prstGeom prst="rect">
            <a:avLst/>
          </a:prstGeom>
          <a:noFill/>
          <a:ln w="0" cap="flat">
            <a:noFill/>
            <a:prstDash val="solid"/>
            <a:miter lim="0"/>
          </a:ln>
        </p:spPr>
        <p:txBody>
          <a:bodyPr vert="horz" wrap="square" lIns="0" tIns="0" rIns="0" bIns="0"/>
          <a:lstStyle/>
          <a:p>
            <a:pPr algn="l" rtl="0" eaLnBrk="0">
              <a:lnSpc>
                <a:spcPct val="95000"/>
              </a:lnSpc>
            </a:pPr>
            <a:endParaRPr sz="135" dirty="0">
              <a:latin typeface="Arial" panose="020B0604020202020204"/>
              <a:ea typeface="Arial" panose="020B0604020202020204"/>
              <a:cs typeface="Arial" panose="020B0604020202020204"/>
            </a:endParaRPr>
          </a:p>
          <a:p>
            <a:pPr marL="429895" algn="l" rtl="0" eaLnBrk="0">
              <a:lnSpc>
                <a:spcPct val="78000"/>
              </a:lnSpc>
            </a:pPr>
            <a:r>
              <a:rPr sz="4800" b="1" kern="0" spc="-20" dirty="0">
                <a:solidFill>
                  <a:srgbClr val="000000">
                    <a:alpha val="100000"/>
                  </a:srgbClr>
                </a:solidFill>
                <a:latin typeface="Arial" panose="020B0604020202020204"/>
                <a:ea typeface="Arial" panose="020B0604020202020204"/>
                <a:cs typeface="Arial" panose="020B0604020202020204"/>
              </a:rPr>
              <a:t>Lecture</a:t>
            </a:r>
            <a:r>
              <a:rPr lang="en-US" sz="4800" b="1" kern="0" spc="-20" dirty="0">
                <a:solidFill>
                  <a:srgbClr val="000000">
                    <a:alpha val="100000"/>
                  </a:srgbClr>
                </a:solidFill>
                <a:latin typeface="Arial" panose="020B0604020202020204"/>
                <a:ea typeface="Arial" panose="020B0604020202020204"/>
                <a:cs typeface="Arial" panose="020B0604020202020204"/>
              </a:rPr>
              <a:t> 17</a:t>
            </a:r>
            <a:endParaRPr sz="4800" dirty="0">
              <a:latin typeface="Arial" panose="020B0604020202020204"/>
              <a:ea typeface="Arial" panose="020B0604020202020204"/>
              <a:cs typeface="Arial" panose="020B0604020202020204"/>
            </a:endParaRPr>
          </a:p>
          <a:p>
            <a:pPr algn="l" rtl="0" eaLnBrk="0">
              <a:lnSpc>
                <a:spcPct val="130000"/>
              </a:lnSpc>
            </a:pPr>
            <a:endParaRPr sz="1335" dirty="0">
              <a:latin typeface="Arial" panose="020B0604020202020204"/>
              <a:ea typeface="Arial" panose="020B0604020202020204"/>
              <a:cs typeface="Arial" panose="020B0604020202020204"/>
            </a:endParaRPr>
          </a:p>
          <a:p>
            <a:pPr algn="l" rtl="0" eaLnBrk="0">
              <a:lnSpc>
                <a:spcPct val="130000"/>
              </a:lnSpc>
            </a:pPr>
            <a:endParaRPr sz="1335" dirty="0">
              <a:latin typeface="Arial" panose="020B0604020202020204"/>
              <a:ea typeface="Arial" panose="020B0604020202020204"/>
              <a:cs typeface="Arial" panose="020B0604020202020204"/>
            </a:endParaRPr>
          </a:p>
          <a:p>
            <a:pPr algn="l" rtl="0" eaLnBrk="0">
              <a:lnSpc>
                <a:spcPct val="130000"/>
              </a:lnSpc>
            </a:pPr>
            <a:endParaRPr sz="1335" dirty="0">
              <a:latin typeface="Arial" panose="020B0604020202020204"/>
              <a:ea typeface="Arial" panose="020B0604020202020204"/>
              <a:cs typeface="Arial" panose="020B0604020202020204"/>
            </a:endParaRPr>
          </a:p>
          <a:p>
            <a:pPr algn="l" rtl="0" eaLnBrk="0">
              <a:lnSpc>
                <a:spcPct val="114000"/>
              </a:lnSpc>
            </a:pPr>
            <a:endParaRPr sz="535" dirty="0">
              <a:latin typeface="Arial" panose="020B0604020202020204"/>
              <a:ea typeface="Arial" panose="020B0604020202020204"/>
              <a:cs typeface="Arial" panose="020B0604020202020204"/>
            </a:endParaRPr>
          </a:p>
          <a:p>
            <a:pPr marL="1134745" algn="l" rtl="0" eaLnBrk="0">
              <a:lnSpc>
                <a:spcPct val="74000"/>
              </a:lnSpc>
              <a:spcBef>
                <a:spcPts val="5"/>
              </a:spcBef>
            </a:pPr>
            <a:r>
              <a:rPr sz="2400" kern="0" spc="-20" dirty="0">
                <a:solidFill>
                  <a:srgbClr val="595959">
                    <a:alpha val="100000"/>
                  </a:srgbClr>
                </a:solidFill>
                <a:latin typeface="Arial" panose="020B0604020202020204"/>
                <a:ea typeface="Arial" panose="020B0604020202020204"/>
                <a:cs typeface="Arial" panose="020B0604020202020204"/>
              </a:rPr>
              <a:t>CS336</a:t>
            </a:r>
            <a:endParaRPr sz="2400" dirty="0">
              <a:latin typeface="Arial" panose="020B0604020202020204"/>
              <a:ea typeface="Arial" panose="020B0604020202020204"/>
              <a:cs typeface="Arial" panose="020B0604020202020204"/>
            </a:endParaRPr>
          </a:p>
        </p:txBody>
      </p:sp>
      <p:pic>
        <p:nvPicPr>
          <p:cNvPr id="4" name="picture 4"/>
          <p:cNvPicPr>
            <a:picLocks noChangeAspect="1"/>
          </p:cNvPicPr>
          <p:nvPr/>
        </p:nvPicPr>
        <p:blipFill>
          <a:blip r:embed="rId1"/>
          <a:stretch>
            <a:fillRect/>
          </a:stretch>
        </p:blipFill>
        <p:spPr>
          <a:xfrm rot="21600000">
            <a:off x="0" y="6413500"/>
            <a:ext cx="12192000" cy="4445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6365" y="215900"/>
            <a:ext cx="9818370" cy="2392045"/>
          </a:xfrm>
          <a:prstGeom prst="rect">
            <a:avLst/>
          </a:prstGeom>
          <a:noFill/>
        </p:spPr>
        <p:txBody>
          <a:bodyPr wrap="square" rtlCol="0" anchor="t">
            <a:noAutofit/>
          </a:bodyPr>
          <a:p>
            <a:pPr indent="0" fontAlgn="auto">
              <a:spcBef>
                <a:spcPts val="600"/>
              </a:spcBef>
              <a:spcAft>
                <a:spcPts val="600"/>
              </a:spcAft>
            </a:pPr>
            <a:r>
              <a:rPr lang="en-US" altLang="zh-CN" b="1"/>
              <a:t>Last lecture:</a:t>
            </a:r>
            <a:r>
              <a:rPr lang="en-US" altLang="zh-CN"/>
              <a:t> overview of RL from verifiable rewards (policy gradient)</a:t>
            </a:r>
            <a:endParaRPr lang="en-US" altLang="zh-CN"/>
          </a:p>
          <a:p>
            <a:pPr indent="0" fontAlgn="auto">
              <a:spcBef>
                <a:spcPts val="600"/>
              </a:spcBef>
              <a:spcAft>
                <a:spcPts val="600"/>
              </a:spcAft>
            </a:pPr>
            <a:r>
              <a:rPr lang="en-US" altLang="zh-CN" b="1"/>
              <a:t>This lecture: </a:t>
            </a:r>
            <a:r>
              <a:rPr lang="en-US" altLang="zh-CN"/>
              <a:t>deep dive into the mechanics of policy gradient (e.g., GRPO)</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b="1"/>
              <a:t>rl_setup_for_language_models()</a:t>
            </a:r>
            <a:endParaRPr lang="en-US" altLang="zh-CN" b="1"/>
          </a:p>
          <a:p>
            <a:pPr indent="0" fontAlgn="auto">
              <a:spcBef>
                <a:spcPts val="600"/>
              </a:spcBef>
              <a:spcAft>
                <a:spcPts val="600"/>
              </a:spcAft>
            </a:pPr>
            <a:r>
              <a:rPr lang="en-US" altLang="zh-CN" b="1"/>
              <a:t>policy_gradient()</a:t>
            </a:r>
            <a:endParaRPr lang="en-US" altLang="zh-CN" b="1"/>
          </a:p>
          <a:p>
            <a:pPr indent="0" fontAlgn="auto">
              <a:spcBef>
                <a:spcPts val="600"/>
              </a:spcBef>
              <a:spcAft>
                <a:spcPts val="600"/>
              </a:spcAft>
            </a:pPr>
            <a:r>
              <a:rPr lang="en-US" altLang="zh-CN" b="1"/>
              <a:t>training_walkthrough()</a:t>
            </a:r>
            <a:endParaRPr lang="en-US" altLang="zh-CN" b="1"/>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26695" y="76835"/>
            <a:ext cx="11204575" cy="2984500"/>
          </a:xfrm>
          <a:prstGeom prst="rect">
            <a:avLst/>
          </a:prstGeom>
          <a:noFill/>
        </p:spPr>
        <p:txBody>
          <a:bodyPr wrap="square" rtlCol="0" anchor="t">
            <a:spAutoFit/>
          </a:bodyPr>
          <a:p>
            <a:r>
              <a:rPr lang="en-US" altLang="zh-CN" sz="2400" b="1"/>
              <a:t>rl_setup_for_language_models():</a:t>
            </a:r>
            <a:endParaRPr lang="en-US" altLang="zh-CN" sz="2400" b="1"/>
          </a:p>
          <a:p>
            <a:pPr indent="0" fontAlgn="auto">
              <a:spcBef>
                <a:spcPts val="300"/>
              </a:spcBef>
            </a:pPr>
            <a:r>
              <a:rPr lang="en-US" altLang="zh-CN" b="1"/>
              <a:t>States: </a:t>
            </a:r>
            <a:r>
              <a:rPr lang="en-US" altLang="zh-CN"/>
              <a:t>prompt + generated response so far</a:t>
            </a:r>
            <a:endParaRPr lang="en-US" altLang="zh-CN"/>
          </a:p>
          <a:p>
            <a:pPr indent="0" fontAlgn="auto">
              <a:spcBef>
                <a:spcPts val="300"/>
              </a:spcBef>
            </a:pPr>
            <a:r>
              <a:rPr lang="en-US" altLang="zh-CN" b="1"/>
              <a:t>Action:</a:t>
            </a:r>
            <a:r>
              <a:rPr lang="en-US" altLang="zh-CN"/>
              <a:t> generate next token</a:t>
            </a:r>
            <a:endParaRPr lang="en-US" altLang="zh-CN"/>
          </a:p>
          <a:p>
            <a:pPr indent="0" fontAlgn="auto">
              <a:spcBef>
                <a:spcPts val="300"/>
              </a:spcBef>
            </a:pPr>
            <a:endParaRPr lang="en-US" altLang="zh-CN"/>
          </a:p>
          <a:p>
            <a:pPr indent="0" fontAlgn="auto">
              <a:spcBef>
                <a:spcPts val="300"/>
              </a:spcBef>
            </a:pPr>
            <a:r>
              <a:rPr lang="en-US" altLang="zh-CN" b="1"/>
              <a:t>Rewards</a:t>
            </a:r>
            <a:r>
              <a:rPr lang="zh-CN" altLang="en-US" b="1"/>
              <a:t>：</a:t>
            </a:r>
            <a:r>
              <a:rPr lang="en-US" altLang="zh-CN"/>
              <a:t>how good the response is; we'll focus on:</a:t>
            </a:r>
            <a:endParaRPr lang="en-US" altLang="zh-CN"/>
          </a:p>
          <a:p>
            <a:pPr lvl="1" indent="0" fontAlgn="auto">
              <a:spcBef>
                <a:spcPts val="300"/>
              </a:spcBef>
            </a:pPr>
            <a:r>
              <a:rPr lang="en-US" altLang="zh-CN"/>
              <a:t> Outcome rewards, which depend on the entire response</a:t>
            </a:r>
            <a:endParaRPr lang="en-US" altLang="zh-CN"/>
          </a:p>
          <a:p>
            <a:pPr lvl="1" indent="0" fontAlgn="auto">
              <a:spcBef>
                <a:spcPts val="300"/>
              </a:spcBef>
            </a:pPr>
            <a:r>
              <a:rPr lang="en-US" altLang="zh-CN"/>
              <a:t> Verifiable rewards, whose computation is deterministic"</a:t>
            </a:r>
            <a:endParaRPr lang="en-US" altLang="zh-CN"/>
          </a:p>
          <a:p>
            <a:pPr lvl="1" indent="0" fontAlgn="auto">
              <a:spcBef>
                <a:spcPts val="300"/>
              </a:spcBef>
            </a:pPr>
            <a:r>
              <a:rPr lang="en-US" altLang="zh-CN"/>
              <a:t> Notions of discounting and bootstrapping are less applicable"</a:t>
            </a:r>
            <a:endParaRPr lang="en-US" altLang="zh-CN"/>
          </a:p>
          <a:p>
            <a:pPr indent="0" fontAlgn="auto">
              <a:spcBef>
                <a:spcPts val="300"/>
              </a:spcBef>
            </a:pPr>
            <a:r>
              <a:rPr lang="en-US" altLang="zh-CN" b="1"/>
              <a:t>Example:</a:t>
            </a:r>
            <a:r>
              <a:rPr lang="en-US" altLang="zh-CN"/>
              <a:t> ... Therefore, the answer is 3 mile</a:t>
            </a:r>
            <a:endParaRPr lang="en-US" altLang="zh-CN"/>
          </a:p>
        </p:txBody>
      </p:sp>
      <p:sp>
        <p:nvSpPr>
          <p:cNvPr id="3" name="文本框 2"/>
          <p:cNvSpPr txBox="1"/>
          <p:nvPr/>
        </p:nvSpPr>
        <p:spPr>
          <a:xfrm>
            <a:off x="226695" y="3266440"/>
            <a:ext cx="8326120" cy="3199765"/>
          </a:xfrm>
          <a:prstGeom prst="rect">
            <a:avLst/>
          </a:prstGeom>
          <a:noFill/>
        </p:spPr>
        <p:txBody>
          <a:bodyPr wrap="square" rtlCol="0">
            <a:spAutoFit/>
          </a:bodyPr>
          <a:p>
            <a:pPr fontAlgn="auto">
              <a:spcBef>
                <a:spcPts val="300"/>
              </a:spcBef>
              <a:spcAft>
                <a:spcPts val="300"/>
              </a:spcAft>
            </a:pPr>
            <a:r>
              <a:rPr lang="en-US" altLang="zh-CN" b="1"/>
              <a:t>Transition probabilities T(s' | s, a): </a:t>
            </a:r>
            <a:r>
              <a:rPr lang="en-US" altLang="zh-CN"/>
              <a:t>deterministic s' = s + a</a:t>
            </a:r>
            <a:endParaRPr lang="en-US" altLang="zh-CN"/>
          </a:p>
          <a:p>
            <a:pPr indent="457200" fontAlgn="auto">
              <a:spcBef>
                <a:spcPts val="300"/>
              </a:spcBef>
              <a:spcAft>
                <a:spcPts val="300"/>
              </a:spcAft>
            </a:pPr>
            <a:r>
              <a:rPr lang="en-US" altLang="zh-CN"/>
              <a:t>Can do planning / test-time compute (unlike in robotics)</a:t>
            </a:r>
            <a:endParaRPr lang="en-US" altLang="zh-CN"/>
          </a:p>
          <a:p>
            <a:pPr indent="457200" fontAlgn="auto">
              <a:spcBef>
                <a:spcPts val="300"/>
              </a:spcBef>
              <a:spcAft>
                <a:spcPts val="300"/>
              </a:spcAft>
            </a:pPr>
            <a:r>
              <a:rPr lang="en-US" altLang="zh-CN"/>
              <a:t>States are really made up (different from robotics), so a lot of flexibility</a:t>
            </a:r>
            <a:endParaRPr lang="en-US" altLang="zh-CN"/>
          </a:p>
          <a:p>
            <a:pPr fontAlgn="auto">
              <a:spcBef>
                <a:spcPts val="300"/>
              </a:spcBef>
              <a:spcAft>
                <a:spcPts val="300"/>
              </a:spcAft>
            </a:pPr>
            <a:endParaRPr lang="en-US" altLang="zh-CN" b="1"/>
          </a:p>
          <a:p>
            <a:pPr fontAlgn="auto">
              <a:spcBef>
                <a:spcPts val="300"/>
              </a:spcBef>
              <a:spcAft>
                <a:spcPts val="300"/>
              </a:spcAft>
            </a:pPr>
            <a:r>
              <a:rPr lang="en-US" altLang="zh-CN" b="1"/>
              <a:t>Policy π(a | s):</a:t>
            </a:r>
            <a:r>
              <a:rPr lang="en-US" altLang="zh-CN"/>
              <a:t> just a language model (fine-tuned)</a:t>
            </a:r>
            <a:endParaRPr lang="en-US" altLang="zh-CN"/>
          </a:p>
          <a:p>
            <a:pPr fontAlgn="auto">
              <a:spcBef>
                <a:spcPts val="300"/>
              </a:spcBef>
              <a:spcAft>
                <a:spcPts val="300"/>
              </a:spcAft>
            </a:pPr>
            <a:endParaRPr lang="en-US" altLang="zh-CN"/>
          </a:p>
          <a:p>
            <a:pPr fontAlgn="auto">
              <a:spcBef>
                <a:spcPts val="300"/>
              </a:spcBef>
              <a:spcAft>
                <a:spcPts val="300"/>
              </a:spcAft>
            </a:pPr>
            <a:r>
              <a:rPr lang="en-US" altLang="zh-CN" b="1"/>
              <a:t>Rollout/episode/trajectory: </a:t>
            </a:r>
            <a:r>
              <a:rPr lang="en-US" altLang="zh-CN"/>
              <a:t>s </a:t>
            </a:r>
            <a:r>
              <a:rPr lang="en-US" altLang="en-US"/>
              <a:t>→</a:t>
            </a:r>
            <a:r>
              <a:rPr lang="en-US" altLang="zh-CN"/>
              <a:t> a </a:t>
            </a:r>
            <a:r>
              <a:rPr lang="en-US" altLang="en-US"/>
              <a:t>→</a:t>
            </a:r>
            <a:r>
              <a:rPr lang="en-US" altLang="zh-CN"/>
              <a:t> ... </a:t>
            </a:r>
            <a:r>
              <a:rPr lang="en-US" altLang="en-US"/>
              <a:t>→</a:t>
            </a:r>
            <a:r>
              <a:rPr lang="en-US" altLang="zh-CN"/>
              <a:t> a </a:t>
            </a:r>
            <a:r>
              <a:rPr lang="en-US" altLang="en-US"/>
              <a:t>→</a:t>
            </a:r>
            <a:r>
              <a:rPr lang="en-US" altLang="zh-CN"/>
              <a:t> a </a:t>
            </a:r>
            <a:r>
              <a:rPr lang="en-US" altLang="en-US"/>
              <a:t>→</a:t>
            </a:r>
            <a:r>
              <a:rPr lang="en-US" altLang="zh-CN"/>
              <a:t> R</a:t>
            </a:r>
            <a:endParaRPr lang="en-US" altLang="zh-CN"/>
          </a:p>
          <a:p>
            <a:pPr fontAlgn="auto">
              <a:spcBef>
                <a:spcPts val="300"/>
              </a:spcBef>
              <a:spcAft>
                <a:spcPts val="300"/>
              </a:spcAft>
            </a:pPr>
            <a:r>
              <a:rPr lang="en-US" altLang="zh-CN"/>
              <a:t>Objective: maximize expected reward E[R]</a:t>
            </a:r>
            <a:endParaRPr lang="en-US" altLang="zh-CN"/>
          </a:p>
          <a:p>
            <a:pPr fontAlgn="auto">
              <a:spcBef>
                <a:spcPts val="300"/>
              </a:spcBef>
              <a:spcAft>
                <a:spcPts val="300"/>
              </a:spcAft>
            </a:pPr>
            <a:r>
              <a:rPr lang="en-US" altLang="zh-CN"/>
              <a:t>(where the expectation is taken over prompts s and response tokens a)</a:t>
            </a:r>
            <a:endParaRPr lang="en-US" altLang="zh-C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91770" y="86360"/>
            <a:ext cx="10373995" cy="6439535"/>
          </a:xfrm>
          <a:prstGeom prst="rect">
            <a:avLst/>
          </a:prstGeom>
          <a:noFill/>
        </p:spPr>
        <p:txBody>
          <a:bodyPr wrap="square" rtlCol="0" anchor="t">
            <a:spAutoFit/>
          </a:bodyPr>
          <a:p>
            <a:r>
              <a:rPr lang="en-US" altLang="zh-CN" sz="2400" b="1"/>
              <a:t>policy_gradient():</a:t>
            </a:r>
            <a:endParaRPr lang="en-US" altLang="zh-CN" sz="2400" b="1"/>
          </a:p>
          <a:p>
            <a:pPr indent="0" fontAlgn="auto">
              <a:spcBef>
                <a:spcPts val="300"/>
              </a:spcBef>
              <a:spcAft>
                <a:spcPts val="300"/>
              </a:spcAft>
            </a:pPr>
            <a:r>
              <a:rPr lang="en-US" altLang="zh-CN"/>
              <a:t>For notational simplicity, let a denote the entire response.</a:t>
            </a:r>
            <a:endParaRPr lang="en-US" altLang="zh-CN"/>
          </a:p>
          <a:p>
            <a:pPr indent="0" fontAlgn="auto">
              <a:spcBef>
                <a:spcPts val="300"/>
              </a:spcBef>
              <a:spcAft>
                <a:spcPts val="300"/>
              </a:spcAft>
            </a:pPr>
            <a:endParaRPr lang="en-US" altLang="zh-CN"/>
          </a:p>
          <a:p>
            <a:pPr indent="0" fontAlgn="auto">
              <a:spcBef>
                <a:spcPts val="300"/>
              </a:spcBef>
              <a:spcAft>
                <a:spcPts val="300"/>
              </a:spcAft>
            </a:pPr>
            <a:r>
              <a:rPr lang="en-US" altLang="zh-CN"/>
              <a:t>We want to maximize expected reward with respect to the policy π:</a:t>
            </a:r>
            <a:endParaRPr lang="en-US" altLang="zh-CN"/>
          </a:p>
          <a:p>
            <a:pPr indent="0" fontAlgn="auto">
              <a:spcBef>
                <a:spcPts val="300"/>
              </a:spcBef>
              <a:spcAft>
                <a:spcPts val="300"/>
              </a:spcAft>
            </a:pPr>
            <a:r>
              <a:rPr lang="en-US" altLang="zh-CN"/>
              <a:t>E[R] = ∫ p(s) π(a | s) R(s, a)</a:t>
            </a:r>
            <a:endParaRPr lang="en-US" altLang="zh-CN"/>
          </a:p>
          <a:p>
            <a:pPr indent="0" fontAlgn="auto">
              <a:spcBef>
                <a:spcPts val="300"/>
              </a:spcBef>
              <a:spcAft>
                <a:spcPts val="300"/>
              </a:spcAft>
            </a:pPr>
            <a:endParaRPr lang="en-US" altLang="zh-CN"/>
          </a:p>
          <a:p>
            <a:pPr indent="0" fontAlgn="auto">
              <a:spcBef>
                <a:spcPts val="300"/>
              </a:spcBef>
              <a:spcAft>
                <a:spcPts val="300"/>
              </a:spcAft>
            </a:pPr>
            <a:r>
              <a:rPr lang="en-US" altLang="zh-CN"/>
              <a:t>Obvious thing to do is to take the gradient:</a:t>
            </a:r>
            <a:endParaRPr lang="en-US" altLang="zh-CN"/>
          </a:p>
          <a:p>
            <a:pPr indent="0" fontAlgn="auto">
              <a:spcBef>
                <a:spcPts val="300"/>
              </a:spcBef>
              <a:spcAft>
                <a:spcPts val="300"/>
              </a:spcAft>
            </a:pPr>
            <a:r>
              <a:rPr lang="en-US" altLang="zh-CN"/>
              <a:t>∇ E[R] = ∫ p(s) ∇ π(a | s) R(s, a)</a:t>
            </a:r>
            <a:endParaRPr lang="en-US" altLang="zh-CN"/>
          </a:p>
          <a:p>
            <a:pPr indent="0" fontAlgn="auto">
              <a:spcBef>
                <a:spcPts val="300"/>
              </a:spcBef>
              <a:spcAft>
                <a:spcPts val="300"/>
              </a:spcAft>
            </a:pPr>
            <a:r>
              <a:rPr lang="en-US" altLang="zh-CN"/>
              <a:t>∇ E[R] = ∫ p(s) π(a | s) ∇ log π(a | s) R(s, a)</a:t>
            </a:r>
            <a:endParaRPr lang="en-US" altLang="zh-CN"/>
          </a:p>
          <a:p>
            <a:pPr indent="0" fontAlgn="auto">
              <a:spcBef>
                <a:spcPts val="300"/>
              </a:spcBef>
              <a:spcAft>
                <a:spcPts val="300"/>
              </a:spcAft>
            </a:pPr>
            <a:r>
              <a:rPr lang="en-US" altLang="zh-CN"/>
              <a:t>∇ E[R] = E[∇ log π(a | s) R(s, a)]</a:t>
            </a:r>
            <a:endParaRPr lang="en-US" altLang="zh-CN"/>
          </a:p>
          <a:p>
            <a:pPr indent="0" fontAlgn="auto">
              <a:spcBef>
                <a:spcPts val="300"/>
              </a:spcBef>
              <a:spcAft>
                <a:spcPts val="300"/>
              </a:spcAft>
            </a:pPr>
            <a:endParaRPr lang="en-US" altLang="zh-CN" b="1"/>
          </a:p>
          <a:p>
            <a:pPr indent="0" fontAlgn="auto">
              <a:spcBef>
                <a:spcPts val="300"/>
              </a:spcBef>
              <a:spcAft>
                <a:spcPts val="300"/>
              </a:spcAft>
            </a:pPr>
            <a:r>
              <a:rPr lang="en-US" altLang="zh-CN" b="1"/>
              <a:t>Naive policy gradient:</a:t>
            </a:r>
            <a:endParaRPr lang="en-US" altLang="zh-CN" b="1"/>
          </a:p>
          <a:p>
            <a:pPr indent="0" fontAlgn="auto">
              <a:spcBef>
                <a:spcPts val="300"/>
              </a:spcBef>
              <a:spcAft>
                <a:spcPts val="300"/>
              </a:spcAft>
            </a:pPr>
            <a:r>
              <a:rPr lang="en-US" altLang="zh-CN"/>
              <a:t>Sample prompt s, sample response a ~ π(a | s)</a:t>
            </a:r>
            <a:endParaRPr lang="en-US" altLang="zh-CN"/>
          </a:p>
          <a:p>
            <a:pPr indent="0" fontAlgn="auto">
              <a:spcBef>
                <a:spcPts val="300"/>
              </a:spcBef>
              <a:spcAft>
                <a:spcPts val="300"/>
              </a:spcAft>
            </a:pPr>
            <a:r>
              <a:rPr lang="en-US" altLang="zh-CN"/>
              <a:t>Update parameters based on ∇ log π(a | s) R(s, a) (same as SFT, but weighted by R(s, a))</a:t>
            </a:r>
            <a:endParaRPr lang="en-US" altLang="zh-CN"/>
          </a:p>
          <a:p>
            <a:pPr indent="0" fontAlgn="auto">
              <a:spcBef>
                <a:spcPts val="300"/>
              </a:spcBef>
              <a:spcAft>
                <a:spcPts val="300"/>
              </a:spcAft>
            </a:pPr>
            <a:endParaRPr lang="en-US" altLang="zh-CN"/>
          </a:p>
          <a:p>
            <a:pPr indent="0" fontAlgn="auto">
              <a:spcBef>
                <a:spcPts val="300"/>
              </a:spcBef>
              <a:spcAft>
                <a:spcPts val="300"/>
              </a:spcAft>
            </a:pPr>
            <a:r>
              <a:rPr lang="en-US" altLang="zh-CN" b="1"/>
              <a:t>Setting:</a:t>
            </a:r>
            <a:r>
              <a:rPr lang="en-US" altLang="zh-CN"/>
              <a:t> R(s, a) ∈ {0, 1} = whether response is correct or not</a:t>
            </a:r>
            <a:endParaRPr lang="en-US" altLang="zh-CN"/>
          </a:p>
          <a:p>
            <a:pPr lvl="1" indent="0" fontAlgn="auto">
              <a:spcBef>
                <a:spcPts val="300"/>
              </a:spcBef>
              <a:spcAft>
                <a:spcPts val="300"/>
              </a:spcAft>
            </a:pPr>
            <a:r>
              <a:rPr lang="en-US" altLang="zh-CN"/>
              <a:t>Naive policy gradient only updates on correct responses</a:t>
            </a:r>
            <a:endParaRPr lang="en-US" altLang="zh-CN"/>
          </a:p>
          <a:p>
            <a:pPr lvl="1" indent="0" fontAlgn="auto">
              <a:spcBef>
                <a:spcPts val="300"/>
              </a:spcBef>
              <a:spcAft>
                <a:spcPts val="300"/>
              </a:spcAft>
            </a:pPr>
            <a:r>
              <a:rPr lang="en-US" altLang="zh-CN"/>
              <a:t>Like SFT, but dataset changing over time as policy changes</a:t>
            </a:r>
            <a:endParaRPr lang="en-US" altLang="zh-C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49225" y="94615"/>
            <a:ext cx="11266805" cy="1861185"/>
          </a:xfrm>
          <a:prstGeom prst="rect">
            <a:avLst/>
          </a:prstGeom>
          <a:noFill/>
        </p:spPr>
        <p:txBody>
          <a:bodyPr wrap="square" rtlCol="0" anchor="t">
            <a:spAutoFit/>
          </a:bodyPr>
          <a:p>
            <a:pPr indent="0" fontAlgn="auto">
              <a:spcBef>
                <a:spcPts val="600"/>
              </a:spcBef>
              <a:spcAft>
                <a:spcPts val="600"/>
              </a:spcAft>
            </a:pPr>
            <a:r>
              <a:rPr lang="en-US" altLang="zh-CN" b="1"/>
              <a:t>Challenge: </a:t>
            </a:r>
            <a:r>
              <a:rPr lang="en-US" altLang="zh-CN"/>
              <a:t>high noise/variance</a:t>
            </a:r>
            <a:endParaRPr lang="en-US" altLang="zh-CN"/>
          </a:p>
          <a:p>
            <a:pPr indent="0" fontAlgn="auto">
              <a:spcBef>
                <a:spcPts val="600"/>
              </a:spcBef>
              <a:spcAft>
                <a:spcPts val="600"/>
              </a:spcAft>
            </a:pPr>
            <a:r>
              <a:rPr lang="en-US" altLang="zh-CN"/>
              <a:t>In this setting, sparse rewards (few responses get reward 1, most get 0)</a:t>
            </a:r>
            <a:endParaRPr lang="en-US" altLang="zh-CN"/>
          </a:p>
          <a:p>
            <a:pPr indent="0" fontAlgn="auto">
              <a:spcBef>
                <a:spcPts val="600"/>
              </a:spcBef>
              <a:spcAft>
                <a:spcPts val="600"/>
              </a:spcAft>
            </a:pPr>
            <a:r>
              <a:rPr lang="en-US" altLang="zh-CN"/>
              <a:t>In contrast: in RLHF, reward models (learned from pairwise preferences) are more continuous</a:t>
            </a:r>
            <a:endParaRPr lang="en-US" altLang="zh-CN"/>
          </a:p>
          <a:p>
            <a:endParaRPr lang="en-US" altLang="zh-CN"/>
          </a:p>
          <a:p>
            <a:endParaRPr lang="en-US" altLang="zh-CN"/>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60655" y="168910"/>
            <a:ext cx="11751310" cy="5969635"/>
          </a:xfrm>
          <a:prstGeom prst="rect">
            <a:avLst/>
          </a:prstGeom>
          <a:noFill/>
        </p:spPr>
        <p:txBody>
          <a:bodyPr wrap="square" rtlCol="0" anchor="t">
            <a:spAutoFit/>
          </a:bodyPr>
          <a:p>
            <a:pPr indent="0" fontAlgn="auto">
              <a:spcBef>
                <a:spcPts val="600"/>
              </a:spcBef>
              <a:spcAft>
                <a:spcPts val="600"/>
              </a:spcAft>
            </a:pPr>
            <a:r>
              <a:rPr lang="en-US" altLang="zh-CN" b="1"/>
              <a:t>Baselines</a:t>
            </a:r>
            <a:endParaRPr lang="en-US" altLang="zh-CN" b="1"/>
          </a:p>
          <a:p>
            <a:pPr lvl="1" indent="0" fontAlgn="auto">
              <a:spcBef>
                <a:spcPts val="600"/>
              </a:spcBef>
              <a:spcAft>
                <a:spcPts val="600"/>
              </a:spcAft>
            </a:pPr>
            <a:r>
              <a:rPr lang="en-US" altLang="zh-CN"/>
              <a:t>Recall ∇ E[R] = E[∇ log π(a | s) R(s, a)]</a:t>
            </a:r>
            <a:endParaRPr lang="en-US" altLang="zh-CN"/>
          </a:p>
          <a:p>
            <a:pPr lvl="1" indent="0" fontAlgn="auto">
              <a:spcBef>
                <a:spcPts val="600"/>
              </a:spcBef>
              <a:spcAft>
                <a:spcPts val="600"/>
              </a:spcAft>
            </a:pPr>
            <a:r>
              <a:rPr lang="en-US" altLang="zh-CN"/>
              <a:t>∇ log π(a | s) R(s, a) is an unbiased estimate of ∇ E[R], but maybe there are others with lower variance...</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b="1"/>
              <a:t>Example: two states</a:t>
            </a:r>
            <a:endParaRPr lang="en-US" altLang="zh-CN" b="1"/>
          </a:p>
          <a:p>
            <a:pPr lvl="1" indent="0" fontAlgn="auto">
              <a:spcBef>
                <a:spcPts val="600"/>
              </a:spcBef>
              <a:spcAft>
                <a:spcPts val="600"/>
              </a:spcAft>
            </a:pPr>
            <a:r>
              <a:rPr lang="en-US" altLang="zh-CN"/>
              <a:t>s1: a1 </a:t>
            </a:r>
            <a:r>
              <a:rPr lang="en-US" altLang="en-US"/>
              <a:t>→</a:t>
            </a:r>
            <a:r>
              <a:rPr lang="en-US" altLang="zh-CN"/>
              <a:t> reward 11, a2 </a:t>
            </a:r>
            <a:r>
              <a:rPr lang="en-US" altLang="en-US"/>
              <a:t>→</a:t>
            </a:r>
            <a:r>
              <a:rPr lang="en-US" altLang="zh-CN"/>
              <a:t> reward 9</a:t>
            </a:r>
            <a:endParaRPr lang="en-US" altLang="zh-CN"/>
          </a:p>
          <a:p>
            <a:pPr lvl="1" indent="0" fontAlgn="auto">
              <a:spcBef>
                <a:spcPts val="600"/>
              </a:spcBef>
              <a:spcAft>
                <a:spcPts val="600"/>
              </a:spcAft>
            </a:pPr>
            <a:r>
              <a:rPr lang="en-US" altLang="zh-CN"/>
              <a:t>s2: a1 </a:t>
            </a:r>
            <a:r>
              <a:rPr lang="en-US" altLang="en-US"/>
              <a:t>→</a:t>
            </a:r>
            <a:r>
              <a:rPr lang="en-US" altLang="zh-CN"/>
              <a:t> reward 0, a2 </a:t>
            </a:r>
            <a:r>
              <a:rPr lang="en-US" altLang="en-US"/>
              <a:t>→</a:t>
            </a:r>
            <a:r>
              <a:rPr lang="en-US" altLang="zh-CN"/>
              <a:t> reward 2</a:t>
            </a:r>
            <a:endParaRPr lang="en-US" altLang="zh-CN"/>
          </a:p>
          <a:p>
            <a:pPr indent="0" fontAlgn="auto">
              <a:spcBef>
                <a:spcPts val="600"/>
              </a:spcBef>
              <a:spcAft>
                <a:spcPts val="600"/>
              </a:spcAft>
            </a:pPr>
            <a:r>
              <a:rPr lang="en-US" altLang="zh-CN"/>
              <a:t>Don't want s1 </a:t>
            </a:r>
            <a:r>
              <a:rPr lang="en-US" altLang="en-US"/>
              <a:t>→</a:t>
            </a:r>
            <a:r>
              <a:rPr lang="en-US" altLang="zh-CN"/>
              <a:t> a2 (reward 9) because a1 is better, want s2 </a:t>
            </a:r>
            <a:r>
              <a:rPr lang="en-US" altLang="en-US"/>
              <a:t>→</a:t>
            </a:r>
            <a:r>
              <a:rPr lang="en-US" altLang="zh-CN"/>
              <a:t> a2 (reward 2), but 9 &gt; 2</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b="1"/>
              <a:t>Idea: </a:t>
            </a:r>
            <a:r>
              <a:rPr lang="en-US" altLang="zh-CN"/>
              <a:t>maximize the baselined reward: E[R - b(s)]</a:t>
            </a:r>
            <a:endParaRPr lang="en-US" altLang="zh-CN"/>
          </a:p>
          <a:p>
            <a:pPr indent="0" fontAlgn="auto">
              <a:spcBef>
                <a:spcPts val="600"/>
              </a:spcBef>
              <a:spcAft>
                <a:spcPts val="600"/>
              </a:spcAft>
            </a:pPr>
            <a:r>
              <a:rPr lang="en-US" altLang="zh-CN"/>
              <a:t>This is just E[R] shifted by a constant E[b(s)] that doesn't depend on the policy π</a:t>
            </a:r>
            <a:endParaRPr lang="en-US" altLang="zh-CN"/>
          </a:p>
          <a:p>
            <a:pPr indent="0" fontAlgn="auto">
              <a:spcBef>
                <a:spcPts val="600"/>
              </a:spcBef>
              <a:spcAft>
                <a:spcPts val="600"/>
              </a:spcAft>
            </a:pPr>
            <a:r>
              <a:rPr lang="en-US" altLang="zh-CN"/>
              <a:t>We update based on ∇ log π(a | s) (R(s, a) - b(s))</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a:t>What b(s) should we use?</a:t>
            </a:r>
            <a:endParaRPr lang="en-US" altLang="zh-CN"/>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32715" y="184785"/>
            <a:ext cx="11783695" cy="4677410"/>
          </a:xfrm>
          <a:prstGeom prst="rect">
            <a:avLst/>
          </a:prstGeom>
          <a:noFill/>
        </p:spPr>
        <p:txBody>
          <a:bodyPr wrap="square" rtlCol="0" anchor="t">
            <a:spAutoFit/>
          </a:bodyPr>
          <a:p>
            <a:pPr indent="0" fontAlgn="auto">
              <a:spcBef>
                <a:spcPts val="600"/>
              </a:spcBef>
              <a:spcAft>
                <a:spcPts val="600"/>
              </a:spcAft>
            </a:pPr>
            <a:r>
              <a:rPr lang="en-US" altLang="zh-CN" b="1"/>
              <a:t>Example: two states</a:t>
            </a:r>
            <a:endParaRPr lang="en-US" altLang="zh-CN" b="1"/>
          </a:p>
          <a:p>
            <a:pPr lvl="1" indent="0" fontAlgn="auto">
              <a:spcBef>
                <a:spcPts val="600"/>
              </a:spcBef>
              <a:spcAft>
                <a:spcPts val="600"/>
              </a:spcAft>
            </a:pPr>
            <a:r>
              <a:rPr lang="en-US" altLang="zh-CN"/>
              <a:t>Assuming uniform distribution over (s, a) and |∇ π(a | s)| = 1</a:t>
            </a:r>
            <a:endParaRPr lang="en-US" altLang="zh-CN"/>
          </a:p>
          <a:p>
            <a:pPr lvl="1" indent="0" fontAlgn="auto">
              <a:spcBef>
                <a:spcPts val="600"/>
              </a:spcBef>
              <a:spcAft>
                <a:spcPts val="600"/>
              </a:spcAft>
            </a:pPr>
            <a:r>
              <a:rPr lang="en-US" altLang="zh-CN"/>
              <a:t>naive_variance = torch.std(torch.tensor([11., 9, 0, 2]))  #5.3</a:t>
            </a:r>
            <a:endParaRPr lang="en-US" altLang="zh-CN"/>
          </a:p>
          <a:p>
            <a:pPr lvl="1" indent="0" fontAlgn="auto">
              <a:spcBef>
                <a:spcPts val="600"/>
              </a:spcBef>
              <a:spcAft>
                <a:spcPts val="600"/>
              </a:spcAft>
            </a:pPr>
            <a:r>
              <a:rPr lang="en-US" altLang="zh-CN"/>
              <a:t>Define baseline b(s1) = 10, b(s2) = 1</a:t>
            </a:r>
            <a:endParaRPr lang="en-US" altLang="zh-CN"/>
          </a:p>
          <a:p>
            <a:pPr lvl="1" indent="0" fontAlgn="auto">
              <a:spcBef>
                <a:spcPts val="600"/>
              </a:spcBef>
              <a:spcAft>
                <a:spcPts val="600"/>
              </a:spcAft>
            </a:pPr>
            <a:r>
              <a:rPr lang="en-US" altLang="zh-CN"/>
              <a:t>baseline_variance = torch.std(torch.tensor([11. - 10, 9 - 10, 0 - 1, 2 - 1])) ##1.1</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a:t>Optimal b*(s) = E[(∇ π(a | s))^2 R | s] / E[(∇ π(a | s))^2 | s] (for one-parameter models)</a:t>
            </a:r>
            <a:endParaRPr lang="en-US" altLang="zh-CN"/>
          </a:p>
          <a:p>
            <a:pPr indent="0" fontAlgn="auto">
              <a:spcBef>
                <a:spcPts val="600"/>
              </a:spcBef>
              <a:spcAft>
                <a:spcPts val="600"/>
              </a:spcAft>
            </a:pPr>
            <a:r>
              <a:rPr lang="en-US" altLang="zh-CN"/>
              <a:t>This is difficult to compute...</a:t>
            </a:r>
            <a:endParaRPr lang="en-US" altLang="zh-CN"/>
          </a:p>
          <a:p>
            <a:pPr indent="0" fontAlgn="auto">
              <a:spcBef>
                <a:spcPts val="600"/>
              </a:spcBef>
              <a:spcAft>
                <a:spcPts val="600"/>
              </a:spcAft>
            </a:pPr>
            <a:r>
              <a:rPr lang="en-US" altLang="zh-CN"/>
              <a:t>...so heuristic is to use the mean reward:</a:t>
            </a:r>
            <a:endParaRPr lang="en-US" altLang="zh-CN"/>
          </a:p>
          <a:p>
            <a:pPr indent="0" fontAlgn="auto">
              <a:spcBef>
                <a:spcPts val="600"/>
              </a:spcBef>
              <a:spcAft>
                <a:spcPts val="600"/>
              </a:spcAft>
            </a:pPr>
            <a:r>
              <a:rPr lang="en-US" altLang="zh-CN"/>
              <a:t>b(s) = E[R | s]</a:t>
            </a:r>
            <a:endParaRPr lang="en-US" altLang="zh-CN"/>
          </a:p>
          <a:p>
            <a:pPr indent="0" fontAlgn="auto">
              <a:spcBef>
                <a:spcPts val="600"/>
              </a:spcBef>
              <a:spcAft>
                <a:spcPts val="600"/>
              </a:spcAft>
            </a:pPr>
            <a:r>
              <a:rPr lang="en-US" altLang="zh-CN"/>
              <a:t>This is still hard to compute and must be estimated.</a:t>
            </a:r>
            <a:endParaRPr lang="en-US" altLang="zh-C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52400" y="181610"/>
            <a:ext cx="11885930" cy="5539105"/>
          </a:xfrm>
          <a:prstGeom prst="rect">
            <a:avLst/>
          </a:prstGeom>
          <a:noFill/>
        </p:spPr>
        <p:txBody>
          <a:bodyPr wrap="square" rtlCol="0" anchor="t">
            <a:spAutoFit/>
          </a:bodyPr>
          <a:p>
            <a:pPr indent="0" fontAlgn="auto">
              <a:spcBef>
                <a:spcPts val="600"/>
              </a:spcBef>
              <a:spcAft>
                <a:spcPts val="600"/>
              </a:spcAft>
            </a:pPr>
            <a:r>
              <a:rPr lang="en-US" altLang="zh-CN" b="1"/>
              <a:t>Advantage functions</a:t>
            </a:r>
            <a:endParaRPr lang="en-US" altLang="zh-CN" b="1"/>
          </a:p>
          <a:p>
            <a:pPr indent="0" fontAlgn="auto">
              <a:spcBef>
                <a:spcPts val="600"/>
              </a:spcBef>
              <a:spcAft>
                <a:spcPts val="600"/>
              </a:spcAft>
            </a:pPr>
            <a:r>
              <a:rPr lang="en-US" altLang="zh-CN"/>
              <a:t>This choice of b(s) has connections to advantage functions.</a:t>
            </a:r>
            <a:endParaRPr lang="en-US" altLang="zh-CN"/>
          </a:p>
          <a:p>
            <a:pPr lvl="1" indent="0" fontAlgn="auto">
              <a:spcBef>
                <a:spcPts val="600"/>
              </a:spcBef>
              <a:spcAft>
                <a:spcPts val="600"/>
              </a:spcAft>
            </a:pPr>
            <a:r>
              <a:rPr lang="en-US" altLang="zh-CN"/>
              <a:t>V(s) = E[R | s] = expected reward from state s</a:t>
            </a:r>
            <a:endParaRPr lang="en-US" altLang="zh-CN"/>
          </a:p>
          <a:p>
            <a:pPr lvl="1" indent="0" fontAlgn="auto">
              <a:spcBef>
                <a:spcPts val="600"/>
              </a:spcBef>
              <a:spcAft>
                <a:spcPts val="600"/>
              </a:spcAft>
            </a:pPr>
            <a:r>
              <a:rPr lang="en-US" altLang="zh-CN"/>
              <a:t>Q(s, a) = E[R | s, a] = expected reward from state s taking action a</a:t>
            </a:r>
            <a:endParaRPr lang="en-US" altLang="zh-CN"/>
          </a:p>
          <a:p>
            <a:pPr lvl="1" indent="0" fontAlgn="auto">
              <a:spcBef>
                <a:spcPts val="600"/>
              </a:spcBef>
              <a:spcAft>
                <a:spcPts val="600"/>
              </a:spcAft>
            </a:pPr>
            <a:r>
              <a:rPr lang="en-US" altLang="zh-CN"/>
              <a:t>(Note: Q and R are the same here, because we're assuming *a* has all actions and we have outcome rewards.)</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b="1"/>
              <a:t>Definition (advantage):</a:t>
            </a:r>
            <a:r>
              <a:rPr lang="en-US" altLang="zh-CN"/>
              <a:t> A(s, a) = Q(s, a) - V(s)</a:t>
            </a:r>
            <a:endParaRPr lang="en-US" altLang="zh-CN"/>
          </a:p>
          <a:p>
            <a:pPr indent="0" fontAlgn="auto">
              <a:spcBef>
                <a:spcPts val="600"/>
              </a:spcBef>
              <a:spcAft>
                <a:spcPts val="600"/>
              </a:spcAft>
            </a:pPr>
            <a:r>
              <a:rPr lang="en-US" altLang="zh-CN" b="1"/>
              <a:t>Intuition: </a:t>
            </a:r>
            <a:r>
              <a:rPr lang="en-US" altLang="zh-CN"/>
              <a:t>how much better is action a than expected from state s</a:t>
            </a:r>
            <a:endParaRPr lang="en-US" altLang="zh-CN"/>
          </a:p>
          <a:p>
            <a:pPr indent="0" fontAlgn="auto">
              <a:spcBef>
                <a:spcPts val="600"/>
              </a:spcBef>
              <a:spcAft>
                <a:spcPts val="600"/>
              </a:spcAft>
            </a:pPr>
            <a:endParaRPr lang="en-US" altLang="zh-CN"/>
          </a:p>
          <a:p>
            <a:pPr indent="0" fontAlgn="auto">
              <a:spcBef>
                <a:spcPts val="600"/>
              </a:spcBef>
              <a:spcAft>
                <a:spcPts val="600"/>
              </a:spcAft>
            </a:pPr>
            <a:r>
              <a:rPr lang="en-US" altLang="zh-CN" b="1"/>
              <a:t>In general:</a:t>
            </a:r>
            <a:endParaRPr lang="en-US" altLang="zh-CN" b="1"/>
          </a:p>
          <a:p>
            <a:pPr lvl="1" indent="0" fontAlgn="auto">
              <a:spcBef>
                <a:spcPts val="600"/>
              </a:spcBef>
              <a:spcAft>
                <a:spcPts val="600"/>
              </a:spcAft>
            </a:pPr>
            <a:r>
              <a:rPr lang="en-US" altLang="zh-CN"/>
              <a:t>Ideal: E[∇ log π(a | s) R(s, a)]</a:t>
            </a:r>
            <a:endParaRPr lang="en-US" altLang="zh-CN"/>
          </a:p>
          <a:p>
            <a:pPr lvl="1" indent="0" fontAlgn="auto">
              <a:spcBef>
                <a:spcPts val="600"/>
              </a:spcBef>
              <a:spcAft>
                <a:spcPts val="600"/>
              </a:spcAft>
            </a:pPr>
            <a:r>
              <a:rPr lang="en-US" altLang="zh-CN"/>
              <a:t>Estimate: ∇ log π(a | s) δ</a:t>
            </a:r>
            <a:endParaRPr lang="en-US" altLang="zh-CN"/>
          </a:p>
          <a:p>
            <a:pPr indent="0" fontAlgn="auto">
              <a:spcBef>
                <a:spcPts val="600"/>
              </a:spcBef>
              <a:spcAft>
                <a:spcPts val="600"/>
              </a:spcAft>
            </a:pPr>
            <a:r>
              <a:rPr lang="en-US" altLang="zh-CN"/>
              <a:t>There are multiple choices of δ, as we'll see later.</a:t>
            </a:r>
            <a:endParaRPr lang="en-US" altLang="zh-CN"/>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181610"/>
            <a:ext cx="12679045" cy="1291590"/>
          </a:xfrm>
          <a:prstGeom prst="rect">
            <a:avLst/>
          </a:prstGeom>
          <a:noFill/>
        </p:spPr>
        <p:txBody>
          <a:bodyPr wrap="square" rtlCol="0" anchor="t">
            <a:spAutoFit/>
          </a:bodyPr>
          <a:p>
            <a:r>
              <a:rPr lang="en-US" altLang="zh-CN" sz="2400" b="1"/>
              <a:t>training_walkthrough():</a:t>
            </a:r>
            <a:endParaRPr lang="en-US" altLang="zh-CN" sz="2400" b="1"/>
          </a:p>
          <a:p>
            <a:r>
              <a:rPr lang="en-US" altLang="zh-CN"/>
              <a:t>Group Relative Policy Optimization (GRPO)</a:t>
            </a:r>
            <a:endParaRPr lang="en-US" altLang="zh-CN"/>
          </a:p>
          <a:p>
            <a:r>
              <a:rPr lang="en-US" altLang="zh-CN"/>
              <a:t>Simplification to PPO that removes the critic (value function)</a:t>
            </a:r>
            <a:endParaRPr lang="en-US" altLang="zh-CN"/>
          </a:p>
          <a:p>
            <a:r>
              <a:rPr lang="en-US" altLang="zh-CN"/>
              <a:t>Leverages the group structure in the LM setting (multiple responses per prompt), which provides a natural baseline b(s).</a:t>
            </a:r>
            <a:endParaRPr lang="en-US" altLang="zh-CN"/>
          </a:p>
        </p:txBody>
      </p:sp>
      <p:pic>
        <p:nvPicPr>
          <p:cNvPr id="3" name="图片 2"/>
          <p:cNvPicPr>
            <a:picLocks noChangeAspect="1"/>
          </p:cNvPicPr>
          <p:nvPr/>
        </p:nvPicPr>
        <p:blipFill>
          <a:blip r:embed="rId1"/>
          <a:stretch>
            <a:fillRect/>
          </a:stretch>
        </p:blipFill>
        <p:spPr>
          <a:xfrm>
            <a:off x="259080" y="1473200"/>
            <a:ext cx="11140440" cy="488950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63195" y="139700"/>
            <a:ext cx="11398250" cy="5939155"/>
          </a:xfrm>
          <a:prstGeom prst="rect">
            <a:avLst/>
          </a:prstGeom>
          <a:noFill/>
        </p:spPr>
        <p:txBody>
          <a:bodyPr wrap="square" rtlCol="0" anchor="t">
            <a:spAutoFit/>
          </a:bodyPr>
          <a:p>
            <a:r>
              <a:rPr lang="en-US" altLang="zh-CN" sz="2000" b="1"/>
              <a:t>simple_task():</a:t>
            </a:r>
            <a:endParaRPr lang="en-US" altLang="zh-CN" sz="2000" b="1"/>
          </a:p>
          <a:p>
            <a:pPr indent="457200"/>
            <a:r>
              <a:rPr lang="en-US" altLang="zh-CN"/>
              <a:t>Task: sorting n numbers</a:t>
            </a:r>
            <a:endParaRPr lang="en-US" altLang="zh-CN"/>
          </a:p>
          <a:p>
            <a:endParaRPr lang="en-US" altLang="zh-CN"/>
          </a:p>
          <a:p>
            <a:r>
              <a:rPr lang="en-US" altLang="zh-CN"/>
              <a:t>Prompt: n numbers</a:t>
            </a:r>
            <a:endParaRPr lang="en-US" altLang="zh-CN"/>
          </a:p>
          <a:p>
            <a:r>
              <a:rPr lang="en-US" altLang="zh-CN"/>
              <a:t>prompt = [1, 0, 2]</a:t>
            </a:r>
            <a:endParaRPr lang="en-US" altLang="zh-CN"/>
          </a:p>
          <a:p>
            <a:endParaRPr lang="en-US" altLang="zh-CN"/>
          </a:p>
          <a:p>
            <a:r>
              <a:rPr lang="en-US" altLang="zh-CN"/>
              <a:t>Response: n numbers</a:t>
            </a:r>
            <a:endParaRPr lang="en-US" altLang="zh-CN"/>
          </a:p>
          <a:p>
            <a:r>
              <a:rPr lang="en-US" altLang="zh-CN"/>
              <a:t>response = [0, 1, 2]</a:t>
            </a:r>
            <a:endParaRPr lang="en-US" altLang="zh-CN"/>
          </a:p>
          <a:p>
            <a:endParaRPr lang="en-US" altLang="zh-CN"/>
          </a:p>
          <a:p>
            <a:r>
              <a:rPr lang="en-US" altLang="zh-CN"/>
              <a:t>Reward should capture how close to sorted the response is.</a:t>
            </a:r>
            <a:endParaRPr lang="en-US" altLang="zh-CN"/>
          </a:p>
          <a:p>
            <a:r>
              <a:rPr lang="en-US" altLang="zh-CN"/>
              <a:t>Define a reward that returns the number of positions where the response matches the ground truth.</a:t>
            </a:r>
            <a:endParaRPr lang="en-US" altLang="zh-CN"/>
          </a:p>
          <a:p>
            <a:r>
              <a:rPr lang="en-US" altLang="zh-CN"/>
              <a:t>reward = sort_distance_reward([3, 1, 0, 2], [0, 1, 2, 3])</a:t>
            </a:r>
            <a:endParaRPr lang="en-US" altLang="zh-CN"/>
          </a:p>
          <a:p>
            <a:r>
              <a:rPr lang="en-US" altLang="zh-CN"/>
              <a:t>reward = sort_distance_reward([3, 1, 0, 2], [7, 2, 2, 5])</a:t>
            </a:r>
            <a:endParaRPr lang="en-US" altLang="zh-CN"/>
          </a:p>
          <a:p>
            <a:r>
              <a:rPr lang="en-US" altLang="zh-CN"/>
              <a:t>reward = sort_distance_reward([3, 1, 0, 2], [0, 3, 1, 2])</a:t>
            </a:r>
            <a:endParaRPr lang="en-US" altLang="zh-CN"/>
          </a:p>
          <a:p>
            <a:endParaRPr lang="en-US" altLang="zh-CN"/>
          </a:p>
          <a:p>
            <a:r>
              <a:rPr lang="en-US" altLang="zh-CN"/>
              <a:t>Define an alternative reward that gives more partial credit.</a:t>
            </a:r>
            <a:endParaRPr lang="en-US" altLang="zh-CN"/>
          </a:p>
          <a:p>
            <a:r>
              <a:rPr lang="en-US" altLang="zh-CN"/>
              <a:t>reward = sort_inclusion_ordering_reward([3, 1, 0, 2], [0, 1, 2, 3])</a:t>
            </a:r>
            <a:endParaRPr lang="en-US" altLang="zh-CN"/>
          </a:p>
          <a:p>
            <a:r>
              <a:rPr lang="en-US" altLang="zh-CN"/>
              <a:t>reward = sort_inclusion_ordering_reward([3, 1, 0, 2], [7, 2, 2, 5])</a:t>
            </a:r>
            <a:endParaRPr lang="en-US" altLang="zh-CN"/>
          </a:p>
          <a:p>
            <a:r>
              <a:rPr lang="en-US" altLang="zh-CN"/>
              <a:t>reward = sort_inclusion_ordering_reward([3, 1, 0, 2], [0, 3, 1, 2])</a:t>
            </a:r>
            <a:endParaRPr lang="en-US" altLang="zh-CN"/>
          </a:p>
          <a:p>
            <a:endParaRPr lang="en-US" altLang="zh-CN"/>
          </a:p>
          <a:p>
            <a:r>
              <a:rPr lang="en-US" altLang="zh-CN"/>
              <a:t>Note that the second reward function provides more credit to the 3rd response than the first reward function.</a:t>
            </a:r>
            <a:endParaRPr lang="en-US" altLang="zh-CN"/>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12725" y="120650"/>
            <a:ext cx="11782425" cy="5708015"/>
          </a:xfrm>
          <a:prstGeom prst="rect">
            <a:avLst/>
          </a:prstGeom>
          <a:noFill/>
        </p:spPr>
        <p:txBody>
          <a:bodyPr wrap="square" rtlCol="0" anchor="t">
            <a:spAutoFit/>
          </a:bodyPr>
          <a:p>
            <a:pPr indent="0" fontAlgn="auto">
              <a:spcBef>
                <a:spcPts val="300"/>
              </a:spcBef>
              <a:spcAft>
                <a:spcPts val="300"/>
              </a:spcAft>
            </a:pPr>
            <a:r>
              <a:rPr lang="en-US" altLang="zh-CN" sz="2000" b="1"/>
              <a:t>simple_model():</a:t>
            </a:r>
            <a:endParaRPr lang="en-US" altLang="zh-CN" sz="2000" b="1"/>
          </a:p>
          <a:p>
            <a:pPr indent="0" fontAlgn="auto">
              <a:spcBef>
                <a:spcPts val="300"/>
              </a:spcBef>
              <a:spcAft>
                <a:spcPts val="300"/>
              </a:spcAft>
            </a:pPr>
            <a:r>
              <a:rPr lang="en-US" altLang="zh-CN"/>
              <a:t>Define a simple model that maps prompts to responses</a:t>
            </a:r>
            <a:endParaRPr lang="en-US" altLang="zh-CN"/>
          </a:p>
          <a:p>
            <a:pPr lvl="1" indent="0" fontAlgn="auto">
              <a:spcBef>
                <a:spcPts val="300"/>
              </a:spcBef>
              <a:spcAft>
                <a:spcPts val="300"/>
              </a:spcAft>
            </a:pPr>
            <a:r>
              <a:rPr lang="en-US" altLang="zh-CN"/>
              <a:t>Assume fixed prompt and response length</a:t>
            </a:r>
            <a:endParaRPr lang="en-US" altLang="zh-CN"/>
          </a:p>
          <a:p>
            <a:pPr lvl="1" indent="0" fontAlgn="auto">
              <a:spcBef>
                <a:spcPts val="300"/>
              </a:spcBef>
              <a:spcAft>
                <a:spcPts val="300"/>
              </a:spcAft>
            </a:pPr>
            <a:r>
              <a:rPr lang="en-US" altLang="zh-CN"/>
              <a:t>Captures positional information with separate per-position parameters</a:t>
            </a:r>
            <a:endParaRPr lang="en-US" altLang="zh-CN"/>
          </a:p>
          <a:p>
            <a:pPr lvl="1" indent="0" fontAlgn="auto">
              <a:spcBef>
                <a:spcPts val="300"/>
              </a:spcBef>
              <a:spcAft>
                <a:spcPts val="300"/>
              </a:spcAft>
            </a:pPr>
            <a:r>
              <a:rPr lang="en-US" altLang="zh-CN"/>
              <a:t>Decode each position in the response independently (not autoregressive)</a:t>
            </a:r>
            <a:endParaRPr lang="en-US" altLang="zh-CN"/>
          </a:p>
          <a:p>
            <a:pPr indent="0" fontAlgn="auto">
              <a:spcBef>
                <a:spcPts val="300"/>
              </a:spcBef>
              <a:spcAft>
                <a:spcPts val="300"/>
              </a:spcAft>
            </a:pPr>
            <a:endParaRPr lang="en-US" altLang="zh-CN"/>
          </a:p>
          <a:p>
            <a:pPr indent="0" fontAlgn="auto">
              <a:spcBef>
                <a:spcPts val="300"/>
              </a:spcBef>
              <a:spcAft>
                <a:spcPts val="300"/>
              </a:spcAft>
            </a:pPr>
            <a:r>
              <a:rPr lang="en-US" altLang="zh-CN"/>
              <a:t>model = Model(vocab_size=3, embedding_dim=10, prompt_length=3, response_length=3)</a:t>
            </a:r>
            <a:endParaRPr lang="en-US" altLang="zh-CN"/>
          </a:p>
          <a:p>
            <a:pPr indent="0" fontAlgn="auto">
              <a:spcBef>
                <a:spcPts val="300"/>
              </a:spcBef>
              <a:spcAft>
                <a:spcPts val="300"/>
              </a:spcAft>
            </a:pPr>
            <a:endParaRPr lang="en-US" altLang="zh-CN"/>
          </a:p>
          <a:p>
            <a:pPr indent="0" fontAlgn="auto">
              <a:spcBef>
                <a:spcPts val="300"/>
              </a:spcBef>
              <a:spcAft>
                <a:spcPts val="300"/>
              </a:spcAft>
            </a:pPr>
            <a:r>
              <a:rPr lang="en-US" altLang="zh-CN"/>
              <a:t>Start with a prompt s</a:t>
            </a:r>
            <a:endParaRPr lang="en-US" altLang="zh-CN"/>
          </a:p>
          <a:p>
            <a:pPr indent="0" fontAlgn="auto">
              <a:spcBef>
                <a:spcPts val="300"/>
              </a:spcBef>
              <a:spcAft>
                <a:spcPts val="300"/>
              </a:spcAft>
            </a:pPr>
            <a:endParaRPr lang="en-US" altLang="zh-CN"/>
          </a:p>
          <a:p>
            <a:pPr indent="0" fontAlgn="auto">
              <a:spcBef>
                <a:spcPts val="300"/>
              </a:spcBef>
              <a:spcAft>
                <a:spcPts val="300"/>
              </a:spcAft>
            </a:pPr>
            <a:r>
              <a:rPr lang="en-US" altLang="zh-CN"/>
              <a:t>Generate responses a</a:t>
            </a:r>
            <a:endParaRPr lang="en-US" altLang="zh-CN"/>
          </a:p>
          <a:p>
            <a:pPr indent="0" fontAlgn="auto">
              <a:spcBef>
                <a:spcPts val="300"/>
              </a:spcBef>
              <a:spcAft>
                <a:spcPts val="300"/>
              </a:spcAft>
            </a:pPr>
            <a:r>
              <a:rPr lang="en-US" altLang="zh-CN"/>
              <a:t>torch.manual_seed(10)</a:t>
            </a:r>
            <a:endParaRPr lang="en-US" altLang="zh-CN"/>
          </a:p>
          <a:p>
            <a:pPr indent="0" fontAlgn="auto">
              <a:spcBef>
                <a:spcPts val="300"/>
              </a:spcBef>
              <a:spcAft>
                <a:spcPts val="300"/>
              </a:spcAft>
            </a:pPr>
            <a:r>
              <a:rPr lang="en-US" altLang="zh-CN"/>
              <a:t>responses = generate_responses(prompts=prompts, model=model, num_responses=5) </a:t>
            </a:r>
            <a:endParaRPr lang="en-US" altLang="zh-CN"/>
          </a:p>
          <a:p>
            <a:pPr indent="0" fontAlgn="auto">
              <a:spcBef>
                <a:spcPts val="300"/>
              </a:spcBef>
              <a:spcAft>
                <a:spcPts val="300"/>
              </a:spcAft>
            </a:pPr>
            <a:endParaRPr lang="en-US" altLang="zh-CN" b="1"/>
          </a:p>
          <a:p>
            <a:pPr indent="0" fontAlgn="auto">
              <a:spcBef>
                <a:spcPts val="300"/>
              </a:spcBef>
              <a:spcAft>
                <a:spcPts val="300"/>
              </a:spcAft>
            </a:pPr>
            <a:r>
              <a:rPr lang="en-US" altLang="zh-CN" b="1"/>
              <a:t>Compute rewards R of these responses:</a:t>
            </a:r>
            <a:endParaRPr lang="en-US" altLang="zh-CN" b="1"/>
          </a:p>
          <a:p>
            <a:pPr indent="0" fontAlgn="auto">
              <a:spcBef>
                <a:spcPts val="300"/>
              </a:spcBef>
              <a:spcAft>
                <a:spcPts val="300"/>
              </a:spcAft>
            </a:pPr>
            <a:r>
              <a:rPr lang="en-US" altLang="zh-CN"/>
              <a:t>rewards = compute_reward(prompts=prompts, responses=responses, reward_fn=sort_inclusion_ordering_reward)</a:t>
            </a:r>
            <a:endParaRPr lang="en-US" altLang="zh-CN"/>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80340" y="270510"/>
            <a:ext cx="11894185" cy="4246245"/>
          </a:xfrm>
          <a:prstGeom prst="rect">
            <a:avLst/>
          </a:prstGeom>
          <a:noFill/>
        </p:spPr>
        <p:txBody>
          <a:bodyPr wrap="square" rtlCol="0" anchor="t">
            <a:spAutoFit/>
          </a:bodyPr>
          <a:p>
            <a:r>
              <a:rPr lang="en-US" altLang="zh-CN" b="1"/>
              <a:t>Compute deltas δ given the rewards R (for performing the updates)</a:t>
            </a:r>
            <a:endParaRPr lang="zh-CN" altLang="en-US" b="1"/>
          </a:p>
          <a:p>
            <a:pPr lvl="1"/>
            <a:r>
              <a:rPr lang="en-US" altLang="zh-CN"/>
              <a:t>deltas = compute_deltas(rewards=rewards, mode="rewards")</a:t>
            </a:r>
            <a:endParaRPr lang="en-US" altLang="zh-CN"/>
          </a:p>
          <a:p>
            <a:pPr lvl="1"/>
            <a:r>
              <a:rPr lang="en-US" altLang="zh-CN"/>
              <a:t>deltas = compute_deltas(rewards=rewards, mode="centered_rewards") </a:t>
            </a:r>
            <a:endParaRPr lang="en-US" altLang="zh-CN"/>
          </a:p>
          <a:p>
            <a:pPr lvl="1"/>
            <a:r>
              <a:rPr lang="en-US" altLang="zh-CN"/>
              <a:t>deltas = compute_deltas(rewards=rewards, mode="normalized_rewards")</a:t>
            </a:r>
            <a:endParaRPr lang="en-US" altLang="zh-CN"/>
          </a:p>
          <a:p>
            <a:endParaRPr lang="en-US" altLang="zh-CN"/>
          </a:p>
          <a:p>
            <a:r>
              <a:rPr lang="en-US" altLang="zh-CN" b="1"/>
              <a:t>Compute log probabilities of these responses:</a:t>
            </a:r>
            <a:endParaRPr lang="en-US" altLang="zh-CN" b="1"/>
          </a:p>
          <a:p>
            <a:r>
              <a:rPr lang="en-US" altLang="zh-CN"/>
              <a:t>log_probs = compute_log_probs(prompts=prompts, responses=responses, model=model)</a:t>
            </a:r>
            <a:endParaRPr lang="en-US" altLang="zh-CN"/>
          </a:p>
          <a:p>
            <a:endParaRPr lang="en-US" altLang="zh-CN"/>
          </a:p>
          <a:p>
            <a:r>
              <a:rPr lang="en-US" altLang="zh-CN"/>
              <a:t>Compute loss so that we can use to update the model parameters</a:t>
            </a:r>
            <a:endParaRPr lang="en-US" altLang="zh-CN"/>
          </a:p>
          <a:p>
            <a:r>
              <a:rPr lang="en-US" altLang="zh-CN"/>
              <a:t>loss = compute_loss(log_probs=log_probs, deltas=deltas, mode="naive")</a:t>
            </a:r>
            <a:endParaRPr lang="en-US" altLang="zh-CN"/>
          </a:p>
          <a:p>
            <a:endParaRPr lang="en-US" altLang="zh-CN"/>
          </a:p>
          <a:p>
            <a:r>
              <a:rPr lang="en-US" altLang="zh-CN"/>
              <a:t>old_model = Model(vocab_size=3, embedding_dim=10, prompt_length=3, response_length=3)</a:t>
            </a:r>
            <a:endParaRPr lang="en-US" altLang="zh-CN"/>
          </a:p>
          <a:p>
            <a:r>
              <a:rPr lang="en-US" altLang="zh-CN"/>
              <a:t>old_log_probs = compute_log_probs(prompts=prompts, responses=responses, model=old_model)</a:t>
            </a:r>
            <a:endParaRPr lang="en-US" altLang="zh-CN"/>
          </a:p>
          <a:p>
            <a:r>
              <a:rPr lang="en-US" altLang="zh-CN"/>
              <a:t>loss = compute_loss(log_probs=log_probs, deltas=deltas, mode="unclipped", old_log_probs=old_log_probs)      loss = compute_loss(log_probs=log_probs, deltas=deltas, mode="clipped", old_log_probs=old_log_probs) </a:t>
            </a:r>
            <a:endParaRPr lang="en-US" altLang="zh-C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253365"/>
            <a:ext cx="12075795" cy="2876550"/>
          </a:xfrm>
          <a:prstGeom prst="rect">
            <a:avLst/>
          </a:prstGeom>
          <a:noFill/>
        </p:spPr>
        <p:txBody>
          <a:bodyPr wrap="square" rtlCol="0" anchor="t">
            <a:spAutoFit/>
          </a:bodyPr>
          <a:p>
            <a:endParaRPr lang="en-US" altLang="zh-CN">
              <a:highlight>
                <a:srgbClr val="FFFF00"/>
              </a:highlight>
            </a:endParaRPr>
          </a:p>
          <a:p>
            <a:pPr indent="0" fontAlgn="auto">
              <a:spcBef>
                <a:spcPts val="600"/>
              </a:spcBef>
              <a:spcAft>
                <a:spcPts val="600"/>
              </a:spcAft>
            </a:pPr>
            <a:endParaRPr lang="en-US" altLang="zh-CN"/>
          </a:p>
          <a:p>
            <a:pPr indent="0" fontAlgn="auto">
              <a:spcBef>
                <a:spcPts val="600"/>
              </a:spcBef>
              <a:spcAft>
                <a:spcPts val="600"/>
              </a:spcAft>
            </a:pPr>
            <a:r>
              <a:rPr lang="en-US" altLang="zh-CN" b="1"/>
              <a:t>Summary:</a:t>
            </a:r>
            <a:endParaRPr lang="en-US" altLang="zh-CN" b="1"/>
          </a:p>
          <a:p>
            <a:pPr indent="0" fontAlgn="auto">
              <a:spcBef>
                <a:spcPts val="600"/>
              </a:spcBef>
              <a:spcAft>
                <a:spcPts val="600"/>
              </a:spcAft>
            </a:pPr>
            <a:r>
              <a:rPr lang="en-US" altLang="zh-CN"/>
              <a:t>Generate responses</a:t>
            </a:r>
            <a:endParaRPr lang="en-US" altLang="zh-CN"/>
          </a:p>
          <a:p>
            <a:pPr indent="0" fontAlgn="auto">
              <a:spcBef>
                <a:spcPts val="600"/>
              </a:spcBef>
              <a:spcAft>
                <a:spcPts val="600"/>
              </a:spcAft>
            </a:pPr>
            <a:r>
              <a:rPr lang="en-US" altLang="zh-CN"/>
              <a:t>Compute rewards R and δ (rewards, centered rewards, normalized rewards, max rewards)</a:t>
            </a:r>
            <a:endParaRPr lang="en-US" altLang="zh-CN"/>
          </a:p>
          <a:p>
            <a:pPr indent="0" fontAlgn="auto">
              <a:spcBef>
                <a:spcPts val="600"/>
              </a:spcBef>
              <a:spcAft>
                <a:spcPts val="600"/>
              </a:spcAft>
            </a:pPr>
            <a:r>
              <a:rPr lang="en-US" altLang="zh-CN"/>
              <a:t>Compute log probs of responses</a:t>
            </a:r>
            <a:endParaRPr lang="en-US" altLang="zh-CN"/>
          </a:p>
          <a:p>
            <a:pPr indent="0" fontAlgn="auto">
              <a:spcBef>
                <a:spcPts val="600"/>
              </a:spcBef>
              <a:spcAft>
                <a:spcPts val="600"/>
              </a:spcAft>
            </a:pPr>
            <a:r>
              <a:rPr lang="en-US" altLang="zh-CN"/>
              <a:t>Compute loss from log probs and δ (naive, unclipped, clipped)</a:t>
            </a:r>
            <a:endParaRPr lang="en-US" altLang="zh-C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12090" y="232410"/>
            <a:ext cx="6096000" cy="368300"/>
          </a:xfrm>
          <a:prstGeom prst="rect">
            <a:avLst/>
          </a:prstGeom>
          <a:noFill/>
        </p:spPr>
        <p:txBody>
          <a:bodyPr wrap="square" rtlCol="0" anchor="t">
            <a:spAutoFit/>
          </a:bodyPr>
          <a:p>
            <a:r>
              <a:rPr lang="en-US" altLang="zh-CN" b="1"/>
              <a:t>Let's now define the GRPO algorithm.</a:t>
            </a:r>
            <a:endParaRPr lang="zh-CN" altLang="en-US" b="1"/>
          </a:p>
        </p:txBody>
      </p:sp>
      <p:sp>
        <p:nvSpPr>
          <p:cNvPr id="3" name="文本框 2"/>
          <p:cNvSpPr txBox="1"/>
          <p:nvPr/>
        </p:nvSpPr>
        <p:spPr>
          <a:xfrm>
            <a:off x="212090" y="692785"/>
            <a:ext cx="11808460" cy="2183765"/>
          </a:xfrm>
          <a:prstGeom prst="rect">
            <a:avLst/>
          </a:prstGeom>
          <a:noFill/>
        </p:spPr>
        <p:txBody>
          <a:bodyPr wrap="square" rtlCol="0">
            <a:spAutoFit/>
          </a:bodyPr>
          <a:p>
            <a:r>
              <a:rPr lang="en-US" altLang="zh-CN"/>
              <a:t>Let's actually train some models.</a:t>
            </a:r>
            <a:endParaRPr lang="zh-CN" altLang="en-US"/>
          </a:p>
          <a:p>
            <a:endParaRPr lang="en-US" altLang="zh-CN"/>
          </a:p>
          <a:p>
            <a:r>
              <a:rPr lang="en-US" altLang="zh-CN" b="1"/>
              <a:t>experiments()</a:t>
            </a:r>
            <a:endParaRPr lang="en-US" altLang="zh-CN" b="1"/>
          </a:p>
          <a:p>
            <a:pPr indent="0" fontAlgn="auto">
              <a:spcBef>
                <a:spcPts val="300"/>
              </a:spcBef>
              <a:spcAft>
                <a:spcPts val="300"/>
              </a:spcAft>
            </a:pPr>
            <a:r>
              <a:rPr lang="en-US" altLang="zh-CN"/>
              <a:t>Let's start with updating based on raw rewards</a:t>
            </a:r>
            <a:endParaRPr lang="en-US" altLang="zh-CN"/>
          </a:p>
          <a:p>
            <a:pPr indent="0" fontAlgn="auto">
              <a:spcBef>
                <a:spcPts val="300"/>
              </a:spcBef>
              <a:spcAft>
                <a:spcPts val="300"/>
              </a:spcAft>
            </a:pPr>
            <a:r>
              <a:rPr lang="en-US" altLang="zh-CN"/>
              <a:t>image_path, log_path = run_policy_gradient(num_epochs=100, num_steps_per_epoch=10, num_responses=10, deltas_mode="rewards", loss_mode="naive", reward_fn=sort_inclusion_ordering_reward, use_cache=Tru</a:t>
            </a:r>
            <a:r>
              <a:rPr lang="en-US" altLang="zh-CN"/>
              <a:t>e</a:t>
            </a:r>
            <a:endParaRPr lang="en-US" altLang="zh-CN"/>
          </a:p>
          <a:p>
            <a:endParaRPr lang="en-US" altLang="zh-CN"/>
          </a:p>
        </p:txBody>
      </p:sp>
      <p:pic>
        <p:nvPicPr>
          <p:cNvPr id="4" name="图片 3"/>
          <p:cNvPicPr>
            <a:picLocks noChangeAspect="1"/>
          </p:cNvPicPr>
          <p:nvPr/>
        </p:nvPicPr>
        <p:blipFill>
          <a:blip r:embed="rId1"/>
          <a:stretch>
            <a:fillRect/>
          </a:stretch>
        </p:blipFill>
        <p:spPr>
          <a:xfrm>
            <a:off x="596900" y="3091815"/>
            <a:ext cx="10247630" cy="333121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168910"/>
            <a:ext cx="12192000" cy="1353185"/>
          </a:xfrm>
          <a:prstGeom prst="rect">
            <a:avLst/>
          </a:prstGeom>
          <a:noFill/>
        </p:spPr>
        <p:txBody>
          <a:bodyPr wrap="square" rtlCol="0" anchor="t">
            <a:spAutoFit/>
          </a:bodyPr>
          <a:p>
            <a:r>
              <a:rPr lang="en-US" altLang="zh-CN" b="1"/>
              <a:t>Let's try using centered rewards.</a:t>
            </a:r>
            <a:endParaRPr lang="en-US" altLang="zh-CN" b="1"/>
          </a:p>
          <a:p>
            <a:pPr indent="0" fontAlgn="auto">
              <a:spcBef>
                <a:spcPts val="600"/>
              </a:spcBef>
              <a:spcAft>
                <a:spcPts val="600"/>
              </a:spcAft>
            </a:pPr>
            <a:r>
              <a:rPr lang="en-US" altLang="zh-CN"/>
              <a:t>image_path, log_path = run_policy_gradient(num_epochs=100, num_steps_per_epoch=10, num_responses=10, deltas_mode="centered_rewards", loss_mode="naive", reward_fn=sort_inclusion_ordering_reward, use_cache=True</a:t>
            </a:r>
            <a:r>
              <a:rPr lang="zh-CN" altLang="en-US"/>
              <a:t>）</a:t>
            </a:r>
            <a:endParaRPr lang="zh-CN" altLang="en-US"/>
          </a:p>
          <a:p>
            <a:endParaRPr lang="zh-CN" altLang="en-US"/>
          </a:p>
        </p:txBody>
      </p:sp>
      <p:pic>
        <p:nvPicPr>
          <p:cNvPr id="3" name="图片 2"/>
          <p:cNvPicPr>
            <a:picLocks noChangeAspect="1"/>
          </p:cNvPicPr>
          <p:nvPr/>
        </p:nvPicPr>
        <p:blipFill>
          <a:blip r:embed="rId1"/>
          <a:stretch>
            <a:fillRect/>
          </a:stretch>
        </p:blipFill>
        <p:spPr>
          <a:xfrm>
            <a:off x="106045" y="1637030"/>
            <a:ext cx="11548745" cy="3776345"/>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88290" y="358775"/>
            <a:ext cx="11449685" cy="2091690"/>
          </a:xfrm>
          <a:prstGeom prst="rect">
            <a:avLst/>
          </a:prstGeom>
          <a:noFill/>
        </p:spPr>
        <p:txBody>
          <a:bodyPr wrap="square" rtlCol="0" anchor="t">
            <a:spAutoFit/>
          </a:bodyPr>
          <a:p>
            <a:pPr indent="0" fontAlgn="auto">
              <a:spcBef>
                <a:spcPts val="600"/>
              </a:spcBef>
              <a:spcAft>
                <a:spcPts val="600"/>
              </a:spcAft>
            </a:pPr>
            <a:r>
              <a:rPr lang="en-US" altLang="zh-CN" b="1"/>
              <a:t>Summary</a:t>
            </a:r>
            <a:endParaRPr lang="en-US" altLang="zh-CN" b="1"/>
          </a:p>
          <a:p>
            <a:pPr indent="0" fontAlgn="auto">
              <a:spcBef>
                <a:spcPts val="600"/>
              </a:spcBef>
              <a:spcAft>
                <a:spcPts val="600"/>
              </a:spcAft>
            </a:pPr>
            <a:r>
              <a:rPr lang="en-US" altLang="zh-CN"/>
              <a:t>    Reinforcement learning is the key to surpassing human abilities</a:t>
            </a:r>
            <a:endParaRPr lang="en-US" altLang="zh-CN"/>
          </a:p>
          <a:p>
            <a:pPr indent="0" fontAlgn="auto">
              <a:spcBef>
                <a:spcPts val="600"/>
              </a:spcBef>
              <a:spcAft>
                <a:spcPts val="600"/>
              </a:spcAft>
            </a:pPr>
            <a:r>
              <a:rPr lang="en-US" altLang="zh-CN"/>
              <a:t>    If you can measure it, you can optimize it</a:t>
            </a:r>
            <a:endParaRPr lang="en-US" altLang="zh-CN"/>
          </a:p>
          <a:p>
            <a:pPr indent="0" fontAlgn="auto">
              <a:spcBef>
                <a:spcPts val="600"/>
              </a:spcBef>
              <a:spcAft>
                <a:spcPts val="600"/>
              </a:spcAft>
            </a:pPr>
            <a:r>
              <a:rPr lang="en-US" altLang="zh-CN"/>
              <a:t>    Policy gradient framework is conceptually clear, just need baselines to reduce variance</a:t>
            </a:r>
            <a:endParaRPr lang="en-US" altLang="zh-CN"/>
          </a:p>
          <a:p>
            <a:pPr indent="0" fontAlgn="auto">
              <a:spcBef>
                <a:spcPts val="600"/>
              </a:spcBef>
              <a:spcAft>
                <a:spcPts val="600"/>
              </a:spcAft>
            </a:pPr>
            <a:r>
              <a:rPr lang="en-US" altLang="zh-CN"/>
              <a:t>    RL systems is much more complex than pretraining (inference workloads, manage multiple models)</a:t>
            </a:r>
            <a:endParaRPr lang="zh-CN" altLang="en-US"/>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34780</Words>
  <Application>WPS 演示</Application>
  <PresentationFormat>宽屏</PresentationFormat>
  <Paragraphs>986</Paragraphs>
  <Slides>82</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82</vt:i4>
      </vt:variant>
    </vt:vector>
  </HeadingPairs>
  <TitlesOfParts>
    <vt:vector size="91" baseType="lpstr">
      <vt:lpstr>Arial</vt:lpstr>
      <vt:lpstr>宋体</vt:lpstr>
      <vt:lpstr>Wingdings</vt:lpstr>
      <vt:lpstr>Wingdings</vt:lpstr>
      <vt:lpstr>Arial</vt:lpstr>
      <vt:lpstr>微软雅黑</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x</cp:lastModifiedBy>
  <cp:revision>180</cp:revision>
  <dcterms:created xsi:type="dcterms:W3CDTF">2019-06-19T02:08:00Z</dcterms:created>
  <dcterms:modified xsi:type="dcterms:W3CDTF">2025-12-14T14:11:27Z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80D64637D2904EDBB884B3E2004CC05F_11</vt:lpwstr>
  </property>
</Properties>
</file>