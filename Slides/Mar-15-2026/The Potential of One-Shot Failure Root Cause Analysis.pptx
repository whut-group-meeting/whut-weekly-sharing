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8" r:id="rId3"/>
    <p:sldId id="259" r:id="rId4"/>
    <p:sldId id="260" r:id="rId5"/>
    <p:sldId id="263" r:id="rId6"/>
    <p:sldId id="295" r:id="rId7"/>
    <p:sldId id="265" r:id="rId8"/>
    <p:sldId id="267" r:id="rId9"/>
    <p:sldId id="296" r:id="rId10"/>
    <p:sldId id="284" r:id="rId11"/>
    <p:sldId id="285" r:id="rId12"/>
    <p:sldId id="297" r:id="rId13"/>
    <p:sldId id="298" r:id="rId14"/>
    <p:sldId id="299" r:id="rId15"/>
    <p:sldId id="270" r:id="rId16"/>
    <p:sldId id="273" r:id="rId17"/>
    <p:sldId id="278" r:id="rId18"/>
    <p:sldId id="277" r:id="rId19"/>
    <p:sldId id="279" r:id="rId20"/>
    <p:sldId id="288" r:id="rId21"/>
    <p:sldId id="281" r:id="rId22"/>
    <p:sldId id="282"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587" autoAdjust="0"/>
  </p:normalViewPr>
  <p:slideViewPr>
    <p:cSldViewPr snapToGrid="0">
      <p:cViewPr varScale="1">
        <p:scale>
          <a:sx n="101" d="100"/>
          <a:sy n="101" d="100"/>
        </p:scale>
        <p:origin x="204"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5549F5-1CC0-4F34-88F6-5945530E48D1}" type="datetimeFigureOut">
              <a:rPr lang="zh-CN" altLang="en-US" smtClean="0"/>
              <a:t>2026/3/15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2BA46B-E1B2-4520-80B7-3F1B8A68F93F}" type="slidenum">
              <a:rPr lang="zh-CN" altLang="en-US" smtClean="0"/>
              <a:t>‹#›</a:t>
            </a:fld>
            <a:endParaRPr lang="zh-CN" altLang="en-US"/>
          </a:p>
        </p:txBody>
      </p:sp>
    </p:spTree>
    <p:extLst>
      <p:ext uri="{BB962C8B-B14F-4D97-AF65-F5344CB8AC3E}">
        <p14:creationId xmlns:p14="http://schemas.microsoft.com/office/powerpoint/2010/main" val="1487931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1" i="0" dirty="0">
                <a:solidFill>
                  <a:srgbClr val="000000"/>
                </a:solidFill>
                <a:effectLst/>
                <a:latin typeface="Montserrat" panose="00000500000000000000" pitchFamily="2" charset="0"/>
              </a:rPr>
              <a:t>一次性场景故障根因分析：大语言模型与小型分类器的协同应用，</a:t>
            </a:r>
            <a:r>
              <a:rPr lang="en-US" altLang="zh-CN" b="1" i="0" dirty="0">
                <a:solidFill>
                  <a:srgbClr val="000000"/>
                </a:solidFill>
                <a:effectLst/>
                <a:latin typeface="Montserrat" panose="00000500000000000000" pitchFamily="2" charset="0"/>
              </a:rPr>
              <a:t>ASE2024</a:t>
            </a:r>
            <a:r>
              <a:rPr lang="zh-CN" altLang="en-US" b="1" i="0" dirty="0">
                <a:solidFill>
                  <a:srgbClr val="000000"/>
                </a:solidFill>
                <a:effectLst/>
                <a:latin typeface="Montserrat" panose="00000500000000000000" pitchFamily="2" charset="0"/>
              </a:rPr>
              <a:t>、同济大学</a:t>
            </a:r>
          </a:p>
        </p:txBody>
      </p:sp>
      <p:sp>
        <p:nvSpPr>
          <p:cNvPr id="4" name="灯片编号占位符 3"/>
          <p:cNvSpPr>
            <a:spLocks noGrp="1"/>
          </p:cNvSpPr>
          <p:nvPr>
            <p:ph type="sldNum" sz="quarter" idx="5"/>
          </p:nvPr>
        </p:nvSpPr>
        <p:spPr/>
        <p:txBody>
          <a:bodyPr/>
          <a:lstStyle/>
          <a:p>
            <a:fld id="{982BA46B-E1B2-4520-80B7-3F1B8A68F93F}" type="slidenum">
              <a:rPr lang="zh-CN" altLang="en-US" smtClean="0"/>
              <a:t>1</a:t>
            </a:fld>
            <a:endParaRPr lang="zh-CN" altLang="en-US"/>
          </a:p>
        </p:txBody>
      </p:sp>
    </p:spTree>
    <p:extLst>
      <p:ext uri="{BB962C8B-B14F-4D97-AF65-F5344CB8AC3E}">
        <p14:creationId xmlns:p14="http://schemas.microsoft.com/office/powerpoint/2010/main" val="38223290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将从六个方面介绍这篇文章，背景，挑战，问题定义，方法，实验，最后是总结</a:t>
            </a:r>
          </a:p>
        </p:txBody>
      </p:sp>
      <p:sp>
        <p:nvSpPr>
          <p:cNvPr id="4" name="灯片编号占位符 3"/>
          <p:cNvSpPr>
            <a:spLocks noGrp="1"/>
          </p:cNvSpPr>
          <p:nvPr>
            <p:ph type="sldNum" sz="quarter" idx="5"/>
          </p:nvPr>
        </p:nvSpPr>
        <p:spPr/>
        <p:txBody>
          <a:bodyPr/>
          <a:lstStyle/>
          <a:p>
            <a:fld id="{982BA46B-E1B2-4520-80B7-3F1B8A68F93F}" type="slidenum">
              <a:rPr lang="zh-CN" altLang="en-US" smtClean="0"/>
              <a:t>2</a:t>
            </a:fld>
            <a:endParaRPr lang="zh-CN" altLang="en-US"/>
          </a:p>
        </p:txBody>
      </p:sp>
    </p:spTree>
    <p:extLst>
      <p:ext uri="{BB962C8B-B14F-4D97-AF65-F5344CB8AC3E}">
        <p14:creationId xmlns:p14="http://schemas.microsoft.com/office/powerpoint/2010/main" val="24785143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故障根因分析（</a:t>
            </a:r>
            <a:r>
              <a:rPr lang="en-US" altLang="zh-CN" dirty="0"/>
              <a:t>RCA</a:t>
            </a:r>
            <a:r>
              <a:rPr lang="zh-CN" altLang="en-US" dirty="0"/>
              <a:t>）能够系统性地识别潜在故障，对于保障微服务应用和云原生系统的可靠性至关重要。然而，由于异构的资源实体以及海量的可观测性数据，基于简单规则的人工分析面临巨大压力。此外，现有的自动化根因分析方法若缺乏充足的故障标签，难以开展深度故障分析。</a:t>
            </a:r>
            <a:endParaRPr lang="en-US" altLang="zh-CN" dirty="0"/>
          </a:p>
        </p:txBody>
      </p:sp>
      <p:sp>
        <p:nvSpPr>
          <p:cNvPr id="4" name="灯片编号占位符 3"/>
          <p:cNvSpPr>
            <a:spLocks noGrp="1"/>
          </p:cNvSpPr>
          <p:nvPr>
            <p:ph type="sldNum" sz="quarter" idx="5"/>
          </p:nvPr>
        </p:nvSpPr>
        <p:spPr/>
        <p:txBody>
          <a:bodyPr/>
          <a:lstStyle/>
          <a:p>
            <a:fld id="{982BA46B-E1B2-4520-80B7-3F1B8A68F93F}" type="slidenum">
              <a:rPr lang="zh-CN" altLang="en-US" smtClean="0"/>
              <a:t>3</a:t>
            </a:fld>
            <a:endParaRPr lang="zh-CN" altLang="en-US"/>
          </a:p>
        </p:txBody>
      </p:sp>
    </p:spTree>
    <p:extLst>
      <p:ext uri="{BB962C8B-B14F-4D97-AF65-F5344CB8AC3E}">
        <p14:creationId xmlns:p14="http://schemas.microsoft.com/office/powerpoint/2010/main" val="4018887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为解决故障标签稀缺问题，本文研究了一种极端的根因分析场景 </a:t>
            </a:r>
            <a:r>
              <a:rPr lang="en-US" altLang="zh-CN" dirty="0"/>
              <a:t>—— </a:t>
            </a:r>
            <a:r>
              <a:rPr lang="zh-CN" altLang="en-US" dirty="0"/>
              <a:t>每种故障类型仅存在一个样本（一次性场景）。本文提出 </a:t>
            </a:r>
            <a:r>
              <a:rPr lang="en-US" altLang="zh-CN" dirty="0" err="1"/>
              <a:t>LasRCA</a:t>
            </a:r>
            <a:r>
              <a:rPr lang="en-US" altLang="zh-CN" dirty="0"/>
              <a:t> </a:t>
            </a:r>
            <a:r>
              <a:rPr lang="zh-CN" altLang="en-US" dirty="0"/>
              <a:t>框架，一款面向云原生系统的一次性故障根因分析框架，该框架依托大语言模型（</a:t>
            </a:r>
            <a:r>
              <a:rPr lang="en-US" altLang="zh-CN" dirty="0"/>
              <a:t>LLM</a:t>
            </a:r>
            <a:r>
              <a:rPr lang="zh-CN" altLang="en-US" dirty="0"/>
              <a:t>）与小型分类器的协同作用实现分析功能。</a:t>
            </a:r>
            <a:endParaRPr lang="en-US" altLang="zh-CN" dirty="0"/>
          </a:p>
        </p:txBody>
      </p:sp>
      <p:sp>
        <p:nvSpPr>
          <p:cNvPr id="4" name="灯片编号占位符 3"/>
          <p:cNvSpPr>
            <a:spLocks noGrp="1"/>
          </p:cNvSpPr>
          <p:nvPr>
            <p:ph type="sldNum" sz="quarter" idx="5"/>
          </p:nvPr>
        </p:nvSpPr>
        <p:spPr/>
        <p:txBody>
          <a:bodyPr/>
          <a:lstStyle/>
          <a:p>
            <a:fld id="{982BA46B-E1B2-4520-80B7-3F1B8A68F93F}" type="slidenum">
              <a:rPr lang="zh-CN" altLang="en-US" smtClean="0"/>
              <a:t>4</a:t>
            </a:fld>
            <a:endParaRPr lang="zh-CN" altLang="en-US"/>
          </a:p>
        </p:txBody>
      </p:sp>
    </p:spTree>
    <p:extLst>
      <p:ext uri="{BB962C8B-B14F-4D97-AF65-F5344CB8AC3E}">
        <p14:creationId xmlns:p14="http://schemas.microsoft.com/office/powerpoint/2010/main" val="16024756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2</a:t>
            </a:r>
            <a:r>
              <a:rPr lang="zh-CN" altLang="en-US" dirty="0"/>
              <a:t>挑战。现有方法主要依赖无监督假设或有监督训练：无监督方法无需故障标签，但受限于无法融合故障知识开展深度分析，仅能识别可疑资源实体或可观测性数据，无法进一步确定故障类型，往往需要大量人工介入；</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与之相反，有监督方法能够提供精细化分析，但依赖充足的故障标签，而故障标签的生成需要专业领域知识和大量时间成本，获取难度较大。实际场景中，故障标签的获取量通常有限，故障排查指南或故障知识库一般仅提供少量样本辅助工程师分析。</a:t>
            </a:r>
          </a:p>
        </p:txBody>
      </p:sp>
      <p:sp>
        <p:nvSpPr>
          <p:cNvPr id="4" name="灯片编号占位符 3"/>
          <p:cNvSpPr>
            <a:spLocks noGrp="1"/>
          </p:cNvSpPr>
          <p:nvPr>
            <p:ph type="sldNum" sz="quarter" idx="5"/>
          </p:nvPr>
        </p:nvSpPr>
        <p:spPr/>
        <p:txBody>
          <a:bodyPr/>
          <a:lstStyle/>
          <a:p>
            <a:fld id="{982BA46B-E1B2-4520-80B7-3F1B8A68F93F}" type="slidenum">
              <a:rPr lang="zh-CN" altLang="en-US" smtClean="0"/>
              <a:t>5</a:t>
            </a:fld>
            <a:endParaRPr lang="zh-CN" altLang="en-US"/>
          </a:p>
        </p:txBody>
      </p:sp>
    </p:spTree>
    <p:extLst>
      <p:ext uri="{BB962C8B-B14F-4D97-AF65-F5344CB8AC3E}">
        <p14:creationId xmlns:p14="http://schemas.microsoft.com/office/powerpoint/2010/main" val="9160417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3</a:t>
            </a:r>
            <a:r>
              <a:rPr lang="zh-CN" altLang="en-US" dirty="0"/>
              <a:t>问题定义。本文聚焦一次性故障根因分析</a:t>
            </a:r>
            <a:r>
              <a:rPr lang="en-US" altLang="zh-CN" dirty="0"/>
              <a:t>(</a:t>
            </a:r>
            <a:r>
              <a:rPr lang="zh-CN" altLang="en-US" dirty="0"/>
              <a:t>每种故障类型仅存在一个样本</a:t>
            </a:r>
            <a:r>
              <a:rPr lang="en-US" altLang="zh-CN" dirty="0"/>
              <a:t>)</a:t>
            </a:r>
            <a:r>
              <a:rPr lang="zh-CN" altLang="en-US" dirty="0"/>
              <a:t>中的</a:t>
            </a:r>
            <a:r>
              <a:rPr lang="zh-CN" altLang="en-US" b="1" dirty="0">
                <a:solidFill>
                  <a:srgbClr val="000000"/>
                </a:solidFill>
                <a:effectLst/>
                <a:latin typeface="ui-sans-serif"/>
              </a:rPr>
              <a:t>资源实体定位</a:t>
            </a:r>
            <a:r>
              <a:rPr lang="zh-CN" altLang="en-US" dirty="0"/>
              <a:t>和</a:t>
            </a:r>
            <a:r>
              <a:rPr lang="zh-CN" altLang="en-US" b="1" dirty="0">
                <a:solidFill>
                  <a:srgbClr val="000000"/>
                </a:solidFill>
                <a:effectLst/>
                <a:latin typeface="ui-sans-serif"/>
              </a:rPr>
              <a:t>故障类型分类</a:t>
            </a:r>
            <a:r>
              <a:rPr lang="zh-CN" altLang="en-US" dirty="0"/>
              <a:t>任务。在异构云原生系统中，记 埃普西隆</a:t>
            </a:r>
            <a:r>
              <a:rPr lang="en-US" altLang="zh-CN" dirty="0"/>
              <a:t>={</a:t>
            </a:r>
            <a:r>
              <a:rPr lang="en-US" altLang="zh-CN" dirty="0" err="1"/>
              <a:t>e∣e∈Ei</a:t>
            </a:r>
            <a:r>
              <a:rPr lang="en-US" altLang="zh-CN" dirty="0"/>
              <a:t>​,1≤i≤κ}</a:t>
            </a:r>
            <a:r>
              <a:rPr lang="zh-CN" altLang="en-US" dirty="0"/>
              <a:t>为资源实体集合，其中</a:t>
            </a:r>
            <a:r>
              <a:rPr lang="en-US" altLang="zh-CN" dirty="0" err="1"/>
              <a:t>εi</a:t>
            </a:r>
            <a:r>
              <a:rPr lang="en-US" altLang="zh-CN" dirty="0"/>
              <a:t>​</a:t>
            </a:r>
            <a:r>
              <a:rPr lang="zh-CN" altLang="en-US" dirty="0"/>
              <a:t>为第</a:t>
            </a:r>
            <a:r>
              <a:rPr lang="en-US" altLang="zh-CN" dirty="0" err="1"/>
              <a:t>i</a:t>
            </a:r>
            <a:r>
              <a:rPr lang="zh-CN" altLang="en-US" dirty="0"/>
              <a:t>类资源实体的集合，</a:t>
            </a:r>
            <a:r>
              <a:rPr lang="en-US" altLang="zh-CN" dirty="0"/>
              <a:t>κ</a:t>
            </a:r>
            <a:r>
              <a:rPr lang="zh-CN" altLang="en-US" dirty="0"/>
              <a:t>为资源实体的类型数量；对于第</a:t>
            </a:r>
            <a:r>
              <a:rPr lang="en-US" altLang="zh-CN" dirty="0" err="1"/>
              <a:t>i</a:t>
            </a:r>
            <a:r>
              <a:rPr lang="zh-CN" altLang="en-US" dirty="0"/>
              <a:t>类资源实体，记</a:t>
            </a:r>
            <a:r>
              <a:rPr lang="en-US" altLang="zh-CN" dirty="0"/>
              <a:t>Fi​</a:t>
            </a:r>
            <a:r>
              <a:rPr lang="zh-CN" altLang="en-US" dirty="0"/>
              <a:t>为其可能的故障类型集合。</a:t>
            </a:r>
            <a:endParaRPr lang="en-US" altLang="zh-CN" dirty="0"/>
          </a:p>
          <a:p>
            <a:pPr algn="l"/>
            <a:r>
              <a:rPr lang="zh-CN" altLang="en-US" b="0" dirty="0">
                <a:solidFill>
                  <a:srgbClr val="000000"/>
                </a:solidFill>
                <a:effectLst/>
                <a:latin typeface="ui-sans-serif"/>
              </a:rPr>
              <a:t>本文的研究目标分为两点：</a:t>
            </a:r>
          </a:p>
          <a:p>
            <a:pPr algn="l">
              <a:buFont typeface="+mj-lt"/>
              <a:buAutoNum type="arabicPeriod"/>
            </a:pPr>
            <a:r>
              <a:rPr lang="zh-CN" altLang="en-US" b="1" dirty="0">
                <a:solidFill>
                  <a:srgbClr val="000000"/>
                </a:solidFill>
                <a:effectLst/>
                <a:latin typeface="ui-sans-serif"/>
              </a:rPr>
              <a:t>资源实体定位</a:t>
            </a:r>
            <a:r>
              <a:rPr lang="zh-CN" altLang="en-US" b="0" dirty="0">
                <a:solidFill>
                  <a:srgbClr val="000000"/>
                </a:solidFill>
                <a:effectLst/>
                <a:latin typeface="ui-sans-serif"/>
              </a:rPr>
              <a:t>：找到发生故障的资源实体子集</a:t>
            </a:r>
            <a:r>
              <a:rPr lang="en-US" altLang="zh-CN" b="0" dirty="0" err="1">
                <a:solidFill>
                  <a:srgbClr val="000000"/>
                </a:solidFill>
                <a:effectLst/>
                <a:latin typeface="KaTeX_Main"/>
              </a:rPr>
              <a:t>Esub</a:t>
            </a:r>
            <a:r>
              <a:rPr lang="en-US" altLang="zh-CN" b="0" dirty="0">
                <a:solidFill>
                  <a:srgbClr val="000000"/>
                </a:solidFill>
                <a:effectLst/>
                <a:latin typeface="KaTeX_Main"/>
              </a:rPr>
              <a:t>​⊆E</a:t>
            </a:r>
            <a:r>
              <a:rPr lang="zh-CN" altLang="en-US" b="0" dirty="0">
                <a:solidFill>
                  <a:srgbClr val="000000"/>
                </a:solidFill>
                <a:effectLst/>
                <a:latin typeface="ui-sans-serif"/>
              </a:rPr>
              <a:t>；</a:t>
            </a:r>
          </a:p>
          <a:p>
            <a:pPr algn="l">
              <a:buFont typeface="+mj-lt"/>
              <a:buAutoNum type="arabicPeriod"/>
            </a:pPr>
            <a:r>
              <a:rPr lang="zh-CN" altLang="en-US" b="1" dirty="0">
                <a:solidFill>
                  <a:srgbClr val="000000"/>
                </a:solidFill>
                <a:effectLst/>
                <a:latin typeface="ui-sans-serif"/>
              </a:rPr>
              <a:t>故障类型分类</a:t>
            </a:r>
            <a:r>
              <a:rPr lang="zh-CN" altLang="en-US" b="0" dirty="0">
                <a:solidFill>
                  <a:srgbClr val="000000"/>
                </a:solidFill>
                <a:effectLst/>
                <a:latin typeface="ui-sans-serif"/>
              </a:rPr>
              <a:t>：对于第</a:t>
            </a:r>
            <a:r>
              <a:rPr lang="en-US" altLang="zh-CN" b="0" dirty="0" err="1">
                <a:solidFill>
                  <a:srgbClr val="000000"/>
                </a:solidFill>
                <a:effectLst/>
                <a:latin typeface="KaTeX_Main"/>
              </a:rPr>
              <a:t>i</a:t>
            </a:r>
            <a:r>
              <a:rPr lang="zh-CN" altLang="en-US" b="0" dirty="0">
                <a:solidFill>
                  <a:srgbClr val="000000"/>
                </a:solidFill>
                <a:effectLst/>
                <a:latin typeface="ui-sans-serif"/>
              </a:rPr>
              <a:t>类资源实体中的每个实体</a:t>
            </a:r>
            <a:r>
              <a:rPr lang="en-US" altLang="zh-CN" b="0" dirty="0">
                <a:solidFill>
                  <a:srgbClr val="000000"/>
                </a:solidFill>
                <a:effectLst/>
                <a:latin typeface="KaTeX_Main"/>
              </a:rPr>
              <a:t>e</a:t>
            </a:r>
            <a:r>
              <a:rPr lang="zh-CN" altLang="en-US" b="0" dirty="0">
                <a:solidFill>
                  <a:srgbClr val="000000"/>
                </a:solidFill>
                <a:effectLst/>
                <a:latin typeface="ui-sans-serif"/>
              </a:rPr>
              <a:t>，确定其故障类型向量</a:t>
            </a:r>
            <a:r>
              <a:rPr lang="en-US" altLang="zh-CN" b="0" dirty="0" err="1">
                <a:solidFill>
                  <a:srgbClr val="000000"/>
                </a:solidFill>
                <a:effectLst/>
                <a:latin typeface="KaTeX_Main"/>
              </a:rPr>
              <a:t>fe</a:t>
            </a:r>
            <a:r>
              <a:rPr lang="en-US" altLang="zh-CN" b="0" dirty="0">
                <a:solidFill>
                  <a:srgbClr val="000000"/>
                </a:solidFill>
                <a:effectLst/>
                <a:latin typeface="KaTeX_Main"/>
              </a:rPr>
              <a:t>​∈{0,1}∣Fi​∣</a:t>
            </a:r>
            <a:r>
              <a:rPr lang="zh-CN" altLang="en-US" b="0" dirty="0">
                <a:solidFill>
                  <a:srgbClr val="000000"/>
                </a:solidFill>
                <a:effectLst/>
                <a:latin typeface="ui-sans-serif"/>
              </a:rPr>
              <a:t>（</a:t>
            </a:r>
            <a:r>
              <a:rPr lang="zh-CN" altLang="en-US" b="0" dirty="0">
                <a:solidFill>
                  <a:srgbClr val="000000"/>
                </a:solidFill>
                <a:effectLst/>
                <a:latin typeface="KaTeX_Main"/>
              </a:rPr>
              <a:t>∣</a:t>
            </a:r>
            <a:r>
              <a:rPr lang="en-US" altLang="zh-CN" b="0" dirty="0">
                <a:solidFill>
                  <a:srgbClr val="000000"/>
                </a:solidFill>
                <a:effectLst/>
                <a:latin typeface="KaTeX_Main"/>
              </a:rPr>
              <a:t>Fi​∣</a:t>
            </a:r>
            <a:r>
              <a:rPr lang="zh-CN" altLang="en-US" b="0" dirty="0">
                <a:solidFill>
                  <a:srgbClr val="000000"/>
                </a:solidFill>
                <a:effectLst/>
                <a:latin typeface="ui-sans-serif"/>
              </a:rPr>
              <a:t>为</a:t>
            </a:r>
            <a:r>
              <a:rPr lang="en-US" altLang="zh-CN" b="0" dirty="0">
                <a:solidFill>
                  <a:srgbClr val="000000"/>
                </a:solidFill>
                <a:effectLst/>
                <a:latin typeface="KaTeX_Main"/>
              </a:rPr>
              <a:t>Fi​</a:t>
            </a:r>
            <a:r>
              <a:rPr lang="zh-CN" altLang="en-US" b="0" dirty="0">
                <a:solidFill>
                  <a:srgbClr val="000000"/>
                </a:solidFill>
                <a:effectLst/>
                <a:latin typeface="ui-sans-serif"/>
              </a:rPr>
              <a:t>的元素个数）</a:t>
            </a:r>
            <a:r>
              <a:rPr lang="en-US" altLang="zh-CN" b="0" dirty="0">
                <a:solidFill>
                  <a:srgbClr val="000000"/>
                </a:solidFill>
                <a:effectLst/>
                <a:latin typeface="ui-sans-serif"/>
              </a:rPr>
              <a:t>—— </a:t>
            </a:r>
            <a:r>
              <a:rPr lang="zh-CN" altLang="en-US" b="0" dirty="0">
                <a:solidFill>
                  <a:srgbClr val="000000"/>
                </a:solidFill>
                <a:effectLst/>
                <a:latin typeface="ui-sans-serif"/>
              </a:rPr>
              <a:t>若故障被分类为第</a:t>
            </a:r>
            <a:r>
              <a:rPr lang="en-US" altLang="zh-CN" b="0" dirty="0">
                <a:solidFill>
                  <a:srgbClr val="000000"/>
                </a:solidFill>
                <a:effectLst/>
                <a:latin typeface="KaTeX_Main"/>
              </a:rPr>
              <a:t>j</a:t>
            </a:r>
            <a:r>
              <a:rPr lang="zh-CN" altLang="en-US" b="0" dirty="0">
                <a:solidFill>
                  <a:srgbClr val="000000"/>
                </a:solidFill>
                <a:effectLst/>
                <a:latin typeface="ui-sans-serif"/>
              </a:rPr>
              <a:t>类，则</a:t>
            </a:r>
            <a:r>
              <a:rPr lang="en-US" altLang="zh-CN" b="0" dirty="0" err="1">
                <a:solidFill>
                  <a:srgbClr val="000000"/>
                </a:solidFill>
                <a:effectLst/>
                <a:latin typeface="KaTeX_Main"/>
              </a:rPr>
              <a:t>fe</a:t>
            </a:r>
            <a:r>
              <a:rPr lang="en-US" altLang="zh-CN" b="0" dirty="0">
                <a:solidFill>
                  <a:srgbClr val="000000"/>
                </a:solidFill>
                <a:effectLst/>
                <a:latin typeface="KaTeX_Main"/>
              </a:rPr>
              <a:t>​</a:t>
            </a:r>
            <a:r>
              <a:rPr lang="zh-CN" altLang="en-US" b="0" dirty="0">
                <a:solidFill>
                  <a:srgbClr val="000000"/>
                </a:solidFill>
                <a:effectLst/>
                <a:latin typeface="ui-sans-serif"/>
              </a:rPr>
              <a:t>的第</a:t>
            </a:r>
            <a:r>
              <a:rPr lang="en-US" altLang="zh-CN" b="0" dirty="0">
                <a:solidFill>
                  <a:srgbClr val="000000"/>
                </a:solidFill>
                <a:effectLst/>
                <a:latin typeface="KaTeX_Main"/>
              </a:rPr>
              <a:t>j</a:t>
            </a:r>
            <a:r>
              <a:rPr lang="zh-CN" altLang="en-US" b="0" dirty="0">
                <a:solidFill>
                  <a:srgbClr val="000000"/>
                </a:solidFill>
                <a:effectLst/>
                <a:latin typeface="ui-sans-serif"/>
              </a:rPr>
              <a:t>个元素为 </a:t>
            </a:r>
            <a:r>
              <a:rPr lang="en-US" altLang="zh-CN" b="0" dirty="0">
                <a:solidFill>
                  <a:srgbClr val="000000"/>
                </a:solidFill>
                <a:effectLst/>
                <a:latin typeface="ui-sans-serif"/>
              </a:rPr>
              <a:t>1</a:t>
            </a:r>
            <a:r>
              <a:rPr lang="zh-CN" altLang="en-US" b="0" dirty="0">
                <a:solidFill>
                  <a:srgbClr val="000000"/>
                </a:solidFill>
                <a:effectLst/>
                <a:latin typeface="ui-sans-serif"/>
              </a:rPr>
              <a:t>，否则为 </a:t>
            </a:r>
            <a:r>
              <a:rPr lang="en-US" altLang="zh-CN" b="0" dirty="0">
                <a:solidFill>
                  <a:srgbClr val="000000"/>
                </a:solidFill>
                <a:effectLst/>
                <a:latin typeface="ui-sans-serif"/>
              </a:rPr>
              <a:t>0</a:t>
            </a:r>
            <a:r>
              <a:rPr lang="zh-CN" altLang="en-US" b="0" dirty="0">
                <a:solidFill>
                  <a:srgbClr val="000000"/>
                </a:solidFill>
                <a:effectLst/>
                <a:latin typeface="ui-sans-serif"/>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982BA46B-E1B2-4520-80B7-3F1B8A68F93F}" type="slidenum">
              <a:rPr lang="zh-CN" altLang="en-US" smtClean="0"/>
              <a:t>6</a:t>
            </a:fld>
            <a:endParaRPr lang="zh-CN" altLang="en-US"/>
          </a:p>
        </p:txBody>
      </p:sp>
    </p:spTree>
    <p:extLst>
      <p:ext uri="{BB962C8B-B14F-4D97-AF65-F5344CB8AC3E}">
        <p14:creationId xmlns:p14="http://schemas.microsoft.com/office/powerpoint/2010/main" val="14596219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4</a:t>
            </a:r>
            <a:r>
              <a:rPr lang="zh-CN" altLang="en-US" dirty="0"/>
              <a:t>是模型。下图展示了 </a:t>
            </a:r>
            <a:r>
              <a:rPr lang="en-US" altLang="zh-CN" dirty="0" err="1"/>
              <a:t>LasRCA</a:t>
            </a:r>
            <a:r>
              <a:rPr lang="en-US" altLang="zh-CN" dirty="0"/>
              <a:t> </a:t>
            </a:r>
            <a:r>
              <a:rPr lang="zh-CN" altLang="en-US" dirty="0"/>
              <a:t>的架构，该框架由大语言模型、小型分类器和（可选参与的）站点可靠性工程师协同完成一次性故障根因分析，三者在训练和推理阶段承担不同职责，具体内容将在 </a:t>
            </a:r>
            <a:r>
              <a:rPr lang="en-US" altLang="zh-CN" dirty="0"/>
              <a:t>4.1 </a:t>
            </a:r>
            <a:r>
              <a:rPr lang="zh-CN" altLang="en-US" dirty="0"/>
              <a:t>和 </a:t>
            </a:r>
            <a:r>
              <a:rPr lang="en-US" altLang="zh-CN" dirty="0"/>
              <a:t>4.2 </a:t>
            </a:r>
            <a:r>
              <a:rPr lang="zh-CN" altLang="en-US" dirty="0"/>
              <a:t>节详细介绍。</a:t>
            </a:r>
          </a:p>
        </p:txBody>
      </p:sp>
      <p:sp>
        <p:nvSpPr>
          <p:cNvPr id="4" name="灯片编号占位符 3"/>
          <p:cNvSpPr>
            <a:spLocks noGrp="1"/>
          </p:cNvSpPr>
          <p:nvPr>
            <p:ph type="sldNum" sz="quarter" idx="5"/>
          </p:nvPr>
        </p:nvSpPr>
        <p:spPr/>
        <p:txBody>
          <a:bodyPr/>
          <a:lstStyle/>
          <a:p>
            <a:fld id="{982BA46B-E1B2-4520-80B7-3F1B8A68F93F}" type="slidenum">
              <a:rPr lang="zh-CN" altLang="en-US" smtClean="0"/>
              <a:t>7</a:t>
            </a:fld>
            <a:endParaRPr lang="zh-CN" altLang="en-US"/>
          </a:p>
        </p:txBody>
      </p:sp>
    </p:spTree>
    <p:extLst>
      <p:ext uri="{BB962C8B-B14F-4D97-AF65-F5344CB8AC3E}">
        <p14:creationId xmlns:p14="http://schemas.microsoft.com/office/powerpoint/2010/main" val="19545876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dirty="0">
                <a:solidFill>
                  <a:srgbClr val="000000"/>
                </a:solidFill>
                <a:effectLst/>
                <a:latin typeface="ui-sans-serif"/>
              </a:rPr>
              <a:t>训练阶段（图 </a:t>
            </a:r>
            <a:r>
              <a:rPr lang="en-US" altLang="zh-CN" b="0" dirty="0">
                <a:solidFill>
                  <a:srgbClr val="000000"/>
                </a:solidFill>
                <a:effectLst/>
                <a:latin typeface="ui-sans-serif"/>
              </a:rPr>
              <a:t>4a</a:t>
            </a:r>
            <a:r>
              <a:rPr lang="zh-CN" altLang="en-US" b="0" dirty="0">
                <a:solidFill>
                  <a:srgbClr val="000000"/>
                </a:solidFill>
                <a:effectLst/>
                <a:latin typeface="ui-sans-serif"/>
              </a:rPr>
              <a:t>）形成一个闭环流程，各参与方的职责划分如下：</a:t>
            </a:r>
          </a:p>
          <a:p>
            <a:pPr algn="l">
              <a:buFont typeface="Arial" panose="020B0604020202020204" pitchFamily="34" charset="0"/>
              <a:buChar char="•"/>
            </a:pPr>
            <a:r>
              <a:rPr lang="zh-CN" altLang="en-US" b="1" dirty="0">
                <a:solidFill>
                  <a:srgbClr val="000000"/>
                </a:solidFill>
                <a:effectLst/>
                <a:latin typeface="ui-sans-serif"/>
              </a:rPr>
              <a:t>小型分类器</a:t>
            </a:r>
            <a:r>
              <a:rPr lang="zh-CN" altLang="en-US" b="0" dirty="0">
                <a:solidFill>
                  <a:srgbClr val="000000"/>
                </a:solidFill>
                <a:effectLst/>
                <a:latin typeface="ui-sans-serif"/>
              </a:rPr>
              <a:t>：是训练阶段的核心优化对象，通过</a:t>
            </a:r>
            <a:r>
              <a:rPr lang="en-US" altLang="zh-CN" b="0" dirty="0">
                <a:solidFill>
                  <a:srgbClr val="000000"/>
                </a:solidFill>
                <a:effectLst/>
                <a:latin typeface="KaTeX_Main"/>
              </a:rPr>
              <a:t>k</a:t>
            </a:r>
            <a:r>
              <a:rPr lang="zh-CN" altLang="en-US" b="0" dirty="0">
                <a:solidFill>
                  <a:srgbClr val="000000"/>
                </a:solidFill>
                <a:effectLst/>
                <a:latin typeface="ui-sans-serif"/>
              </a:rPr>
              <a:t>次训练迭代实现性能提升。首先基于一次性故障样本完成初始训练，在每次迭代中筛选一组高混淆度数据，利用大语言模型（及可选的工程师）提供的反馈标签对分类器进行重训练；</a:t>
            </a:r>
          </a:p>
        </p:txBody>
      </p:sp>
      <p:sp>
        <p:nvSpPr>
          <p:cNvPr id="4" name="灯片编号占位符 3"/>
          <p:cNvSpPr>
            <a:spLocks noGrp="1"/>
          </p:cNvSpPr>
          <p:nvPr>
            <p:ph type="sldNum" sz="quarter" idx="5"/>
          </p:nvPr>
        </p:nvSpPr>
        <p:spPr/>
        <p:txBody>
          <a:bodyPr/>
          <a:lstStyle/>
          <a:p>
            <a:fld id="{982BA46B-E1B2-4520-80B7-3F1B8A68F93F}" type="slidenum">
              <a:rPr lang="zh-CN" altLang="en-US" smtClean="0"/>
              <a:t>8</a:t>
            </a:fld>
            <a:endParaRPr lang="zh-CN" altLang="en-US"/>
          </a:p>
        </p:txBody>
      </p:sp>
    </p:spTree>
    <p:extLst>
      <p:ext uri="{BB962C8B-B14F-4D97-AF65-F5344CB8AC3E}">
        <p14:creationId xmlns:p14="http://schemas.microsoft.com/office/powerpoint/2010/main" val="29704691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1" dirty="0">
                <a:solidFill>
                  <a:srgbClr val="000000"/>
                </a:solidFill>
                <a:effectLst/>
                <a:latin typeface="ui-sans-serif"/>
              </a:rPr>
              <a:t>大语言模型</a:t>
            </a:r>
            <a:r>
              <a:rPr lang="zh-CN" altLang="en-US" dirty="0"/>
              <a:t>：结合故障排查指南和一次性故障样本，为筛选出的高混淆度数据标注故障类型，并生成解释结果，辅助工程师（若参与）进行标签修正； </a:t>
            </a:r>
            <a:endParaRPr lang="en-US" altLang="zh-CN" dirty="0"/>
          </a:p>
          <a:p>
            <a:pPr algn="l"/>
            <a:r>
              <a:rPr lang="zh-CN" altLang="en-US" b="1" dirty="0">
                <a:solidFill>
                  <a:srgbClr val="000000"/>
                </a:solidFill>
                <a:effectLst/>
                <a:latin typeface="ui-sans-serif"/>
              </a:rPr>
              <a:t>站点可靠性工程师</a:t>
            </a:r>
            <a:r>
              <a:rPr lang="zh-CN" altLang="en-US" dirty="0"/>
              <a:t>：由于大语言模型的推理结果无法保证 </a:t>
            </a:r>
            <a:r>
              <a:rPr lang="en-US" altLang="zh-CN" dirty="0"/>
              <a:t>100% </a:t>
            </a:r>
            <a:r>
              <a:rPr lang="zh-CN" altLang="en-US" dirty="0"/>
              <a:t>准确，工程师可通过修正错误标注、分析标注误差、优化提示词和故障排查指南等方式，提升大语言模型驱动的故障标注准确性，进一步优化训练阶段。</a:t>
            </a:r>
            <a:endParaRPr lang="en-US" altLang="zh-CN" dirty="0"/>
          </a:p>
          <a:p>
            <a:pPr algn="l"/>
            <a:r>
              <a:rPr lang="zh-CN" altLang="en-US" dirty="0"/>
              <a:t>训练阶段由大语言模型主导，接下来会具体介绍这三个职能的实现方法，首先介绍</a:t>
            </a:r>
            <a:r>
              <a:rPr lang="zh-CN" altLang="en-US" b="1" dirty="0">
                <a:solidFill>
                  <a:srgbClr val="000000"/>
                </a:solidFill>
                <a:effectLst/>
                <a:latin typeface="ui-sans-serif"/>
              </a:rPr>
              <a:t>大语言模型驱动的故障标注方法</a:t>
            </a:r>
            <a:r>
              <a:rPr lang="zh-CN" altLang="en-US" dirty="0"/>
              <a:t>（</a:t>
            </a:r>
            <a:r>
              <a:rPr lang="en-US" altLang="zh-CN" dirty="0"/>
              <a:t>4.1.1</a:t>
            </a:r>
            <a:r>
              <a:rPr lang="zh-CN" altLang="en-US" dirty="0"/>
              <a:t>），随后推导</a:t>
            </a:r>
            <a:r>
              <a:rPr lang="zh-CN" altLang="en-US" b="1" dirty="0">
                <a:solidFill>
                  <a:srgbClr val="000000"/>
                </a:solidFill>
                <a:effectLst/>
                <a:latin typeface="ui-sans-serif"/>
              </a:rPr>
              <a:t>小型分类器的设计原则和具体架构</a:t>
            </a:r>
            <a:r>
              <a:rPr lang="zh-CN" altLang="en-US" dirty="0"/>
              <a:t>（</a:t>
            </a:r>
            <a:r>
              <a:rPr lang="en-US" altLang="zh-CN" dirty="0"/>
              <a:t>4.1.2</a:t>
            </a:r>
            <a:r>
              <a:rPr lang="zh-CN" altLang="en-US" dirty="0"/>
              <a:t>），最后介绍</a:t>
            </a:r>
            <a:r>
              <a:rPr lang="zh-CN" altLang="en-US" b="1" dirty="0">
                <a:solidFill>
                  <a:srgbClr val="000000"/>
                </a:solidFill>
                <a:effectLst/>
                <a:latin typeface="ui-sans-serif"/>
              </a:rPr>
              <a:t>工程师的标签修正流程</a:t>
            </a:r>
            <a:r>
              <a:rPr lang="zh-CN" altLang="en-US" dirty="0"/>
              <a:t>（</a:t>
            </a:r>
            <a:r>
              <a:rPr lang="en-US" altLang="zh-CN" dirty="0"/>
              <a:t>4.1.3</a:t>
            </a:r>
            <a:r>
              <a:rPr lang="zh-CN" altLang="en-US" dirty="0"/>
              <a:t>）。</a:t>
            </a:r>
            <a:endParaRPr lang="zh-CN" altLang="en-US" b="0" dirty="0">
              <a:solidFill>
                <a:srgbClr val="000000"/>
              </a:solidFill>
              <a:effectLst/>
              <a:latin typeface="ui-sans-serif"/>
            </a:endParaRPr>
          </a:p>
        </p:txBody>
      </p:sp>
      <p:sp>
        <p:nvSpPr>
          <p:cNvPr id="4" name="灯片编号占位符 3"/>
          <p:cNvSpPr>
            <a:spLocks noGrp="1"/>
          </p:cNvSpPr>
          <p:nvPr>
            <p:ph type="sldNum" sz="quarter" idx="5"/>
          </p:nvPr>
        </p:nvSpPr>
        <p:spPr/>
        <p:txBody>
          <a:bodyPr/>
          <a:lstStyle/>
          <a:p>
            <a:fld id="{982BA46B-E1B2-4520-80B7-3F1B8A68F93F}" type="slidenum">
              <a:rPr lang="zh-CN" altLang="en-US" smtClean="0"/>
              <a:t>9</a:t>
            </a:fld>
            <a:endParaRPr lang="zh-CN" altLang="en-US"/>
          </a:p>
        </p:txBody>
      </p:sp>
    </p:spTree>
    <p:extLst>
      <p:ext uri="{BB962C8B-B14F-4D97-AF65-F5344CB8AC3E}">
        <p14:creationId xmlns:p14="http://schemas.microsoft.com/office/powerpoint/2010/main" val="31540720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dirty="0"/>
              <a:t>4.1.1 </a:t>
            </a:r>
            <a:r>
              <a:rPr lang="zh-CN" altLang="en-US" dirty="0"/>
              <a:t>大语言模型驱动的故障标注。云原生系统中，故障会在多个资源实体间传播，且可能涉及系统多个层面。为解决该问题，本文提出</a:t>
            </a:r>
            <a:r>
              <a:rPr lang="zh-CN" altLang="en-US" b="1" dirty="0">
                <a:solidFill>
                  <a:srgbClr val="000000"/>
                </a:solidFill>
                <a:effectLst/>
                <a:latin typeface="ui-sans-serif"/>
              </a:rPr>
              <a:t>大语言模型驱动的聚合式故障标注方法（右图伪代码所示）。主要有三个关键函数，第一个是</a:t>
            </a:r>
            <a:r>
              <a:rPr lang="zh-CN" altLang="en-US" dirty="0"/>
              <a:t>故障类型匹配函数：它</a:t>
            </a:r>
            <a:r>
              <a:rPr lang="zh-CN" altLang="en-US" b="1" dirty="0">
                <a:solidFill>
                  <a:srgbClr val="000000"/>
                </a:solidFill>
                <a:effectLst/>
                <a:latin typeface="ui-sans-serif"/>
              </a:rPr>
              <a:t>利用大语言模型分析资源实体各维度（如 </a:t>
            </a:r>
            <a:r>
              <a:rPr lang="en-US" altLang="zh-CN" b="1" dirty="0">
                <a:solidFill>
                  <a:srgbClr val="000000"/>
                </a:solidFill>
                <a:effectLst/>
                <a:latin typeface="ui-sans-serif"/>
              </a:rPr>
              <a:t>CPU</a:t>
            </a:r>
            <a:r>
              <a:rPr lang="zh-CN" altLang="en-US" b="1" dirty="0">
                <a:solidFill>
                  <a:srgbClr val="000000"/>
                </a:solidFill>
                <a:effectLst/>
                <a:latin typeface="ui-sans-serif"/>
              </a:rPr>
              <a:t>、内存、网络）的故障特征，识别实体是否存在某类故障。</a:t>
            </a:r>
            <a:endParaRPr lang="en-US" altLang="zh-CN" b="1" dirty="0">
              <a:solidFill>
                <a:srgbClr val="000000"/>
              </a:solidFill>
              <a:effectLst/>
              <a:latin typeface="ui-sans-serif"/>
            </a:endParaRPr>
          </a:p>
          <a:p>
            <a:pPr algn="l"/>
            <a:r>
              <a:rPr lang="zh-CN" altLang="en-US" b="1" dirty="0">
                <a:solidFill>
                  <a:srgbClr val="000000"/>
                </a:solidFill>
                <a:effectLst/>
                <a:latin typeface="ui-sans-serif"/>
              </a:rPr>
              <a:t>第二个函数是</a:t>
            </a:r>
            <a:r>
              <a:rPr lang="zh-CN" altLang="en-US" dirty="0"/>
              <a:t>实体层面分析：对资源实体进行整体分析，该功能将 第一个函数的结果作为输入，让大语言模型按顺序分析故障特征的持续时间和显著性，通过推理链实现实体整体的故障类型的判定</a:t>
            </a:r>
            <a:r>
              <a:rPr lang="en-US" altLang="zh-CN" dirty="0"/>
              <a:t>. </a:t>
            </a:r>
          </a:p>
          <a:p>
            <a:pPr algn="l"/>
            <a:r>
              <a:rPr lang="zh-CN" altLang="en-US" dirty="0"/>
              <a:t>第三个函数是图层面分析：分析子图内的故障传播过程，定位实际故障源。若信息不足，允许大语言模型将实体的故障类型预测结果标记为 “未知”。最终，子图内的每个实体将被标注为</a:t>
            </a:r>
            <a:r>
              <a:rPr lang="zh-CN" altLang="en-US" b="1" dirty="0">
                <a:solidFill>
                  <a:srgbClr val="000000"/>
                </a:solidFill>
                <a:effectLst/>
                <a:latin typeface="ui-sans-serif"/>
              </a:rPr>
              <a:t>特定故障类型、无故障或未知。</a:t>
            </a:r>
            <a:endParaRPr lang="en-US" altLang="zh-CN" b="0" i="0" dirty="0">
              <a:solidFill>
                <a:srgbClr val="000000"/>
              </a:solidFill>
              <a:effectLst/>
              <a:latin typeface="Inter"/>
            </a:endParaRPr>
          </a:p>
        </p:txBody>
      </p:sp>
      <p:sp>
        <p:nvSpPr>
          <p:cNvPr id="4" name="灯片编号占位符 3"/>
          <p:cNvSpPr>
            <a:spLocks noGrp="1"/>
          </p:cNvSpPr>
          <p:nvPr>
            <p:ph type="sldNum" sz="quarter" idx="5"/>
          </p:nvPr>
        </p:nvSpPr>
        <p:spPr/>
        <p:txBody>
          <a:bodyPr/>
          <a:lstStyle/>
          <a:p>
            <a:fld id="{982BA46B-E1B2-4520-80B7-3F1B8A68F93F}" type="slidenum">
              <a:rPr lang="zh-CN" altLang="en-US" smtClean="0"/>
              <a:t>10</a:t>
            </a:fld>
            <a:endParaRPr lang="zh-CN" altLang="en-US"/>
          </a:p>
        </p:txBody>
      </p:sp>
    </p:spTree>
    <p:extLst>
      <p:ext uri="{BB962C8B-B14F-4D97-AF65-F5344CB8AC3E}">
        <p14:creationId xmlns:p14="http://schemas.microsoft.com/office/powerpoint/2010/main" val="34479918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1" dirty="0">
                <a:solidFill>
                  <a:srgbClr val="000000"/>
                </a:solidFill>
                <a:effectLst/>
                <a:latin typeface="ui-sans-serif"/>
              </a:rPr>
              <a:t>接下来介绍小型分类器的设计原则和具体架构。</a:t>
            </a:r>
            <a:r>
              <a:rPr lang="zh-CN" altLang="en-US" dirty="0"/>
              <a:t>本文设计的小型分类器架构如图 </a:t>
            </a:r>
            <a:r>
              <a:rPr lang="en-US" altLang="zh-CN" dirty="0"/>
              <a:t>7 </a:t>
            </a:r>
            <a:r>
              <a:rPr lang="zh-CN" altLang="en-US" dirty="0"/>
              <a:t>所示，核心包含</a:t>
            </a:r>
            <a:r>
              <a:rPr lang="zh-CN" altLang="en-US" b="1" dirty="0">
                <a:solidFill>
                  <a:srgbClr val="000000"/>
                </a:solidFill>
                <a:effectLst/>
                <a:latin typeface="ui-sans-serif"/>
              </a:rPr>
              <a:t>预处理与嵌入、拼接与映射、故障传播建模与分类器训练、高混淆度样本筛选</a:t>
            </a:r>
            <a:r>
              <a:rPr lang="zh-CN" altLang="en-US" dirty="0"/>
              <a:t>四大模块。（</a:t>
            </a:r>
            <a:r>
              <a:rPr lang="en-US" altLang="zh-CN" dirty="0"/>
              <a:t>1</a:t>
            </a:r>
            <a:r>
              <a:rPr lang="zh-CN" altLang="en-US" dirty="0"/>
              <a:t>）对三类数据预处理与嵌入。对</a:t>
            </a:r>
            <a:r>
              <a:rPr lang="zh-CN" altLang="en-US" b="1" dirty="0">
                <a:solidFill>
                  <a:srgbClr val="000000"/>
                </a:solidFill>
                <a:effectLst/>
                <a:latin typeface="ui-sans-serif"/>
              </a:rPr>
              <a:t>链路</a:t>
            </a:r>
            <a:r>
              <a:rPr lang="zh-CN" altLang="en-US" dirty="0"/>
              <a:t>：按服务维度分析，计算服务自身调用、父服务调用、子服务调用的平均耗时和平均调用次数，最大程度保留调用链的结构信息； 对</a:t>
            </a:r>
            <a:r>
              <a:rPr lang="zh-CN" altLang="en-US" b="1" dirty="0">
                <a:solidFill>
                  <a:srgbClr val="000000"/>
                </a:solidFill>
                <a:effectLst/>
                <a:latin typeface="ui-sans-serif"/>
              </a:rPr>
              <a:t>日志</a:t>
            </a:r>
            <a:r>
              <a:rPr lang="zh-CN" altLang="en-US" dirty="0"/>
              <a:t>：先通过 </a:t>
            </a:r>
            <a:r>
              <a:rPr lang="en-US" altLang="zh-CN" dirty="0"/>
              <a:t>Drain </a:t>
            </a:r>
            <a:r>
              <a:rPr lang="zh-CN" altLang="en-US" dirty="0"/>
              <a:t>算法提取日志中的轻量级常量上下文（即日志模板），再利用 </a:t>
            </a:r>
            <a:r>
              <a:rPr lang="en-US" altLang="zh-CN" dirty="0"/>
              <a:t>TF-IDF </a:t>
            </a:r>
            <a:r>
              <a:rPr lang="zh-CN" altLang="en-US" dirty="0"/>
              <a:t>评分筛选关键词汇和日志模板，统计其在每个时间片中的出现次数作为日志特征； 对</a:t>
            </a:r>
            <a:r>
              <a:rPr lang="zh-CN" altLang="en-US" b="1" dirty="0">
                <a:solidFill>
                  <a:srgbClr val="000000"/>
                </a:solidFill>
                <a:effectLst/>
                <a:latin typeface="ui-sans-serif"/>
              </a:rPr>
              <a:t>指标</a:t>
            </a:r>
            <a:r>
              <a:rPr lang="zh-CN" altLang="en-US" dirty="0"/>
              <a:t>：直接提取时间序列特征。然后采用</a:t>
            </a:r>
            <a:r>
              <a:rPr lang="en-US" altLang="zh-CN" b="1" dirty="0">
                <a:solidFill>
                  <a:srgbClr val="000000"/>
                </a:solidFill>
                <a:effectLst/>
                <a:latin typeface="ui-sans-serif"/>
              </a:rPr>
              <a:t>Transformer </a:t>
            </a:r>
            <a:r>
              <a:rPr lang="zh-CN" altLang="en-US" b="1" dirty="0">
                <a:solidFill>
                  <a:srgbClr val="000000"/>
                </a:solidFill>
                <a:effectLst/>
                <a:latin typeface="ui-sans-serif"/>
              </a:rPr>
              <a:t>编码器</a:t>
            </a:r>
            <a:r>
              <a:rPr lang="zh-CN" altLang="en-US" dirty="0"/>
              <a:t>为每种数据类型独立建模，得到每个实体不同类型数据的高维向量表示</a:t>
            </a:r>
            <a:r>
              <a:rPr lang="en-US" altLang="zh-CN" dirty="0"/>
              <a:t>H</a:t>
            </a:r>
            <a:r>
              <a:rPr lang="zh-CN" altLang="en-US" dirty="0"/>
              <a:t>。</a:t>
            </a:r>
            <a:endParaRPr lang="en-US" altLang="zh-CN" b="0" i="0" dirty="0">
              <a:solidFill>
                <a:srgbClr val="000000"/>
              </a:solidFill>
              <a:effectLst/>
              <a:latin typeface="Inter"/>
            </a:endParaRPr>
          </a:p>
        </p:txBody>
      </p:sp>
      <p:sp>
        <p:nvSpPr>
          <p:cNvPr id="4" name="灯片编号占位符 3"/>
          <p:cNvSpPr>
            <a:spLocks noGrp="1"/>
          </p:cNvSpPr>
          <p:nvPr>
            <p:ph type="sldNum" sz="quarter" idx="5"/>
          </p:nvPr>
        </p:nvSpPr>
        <p:spPr/>
        <p:txBody>
          <a:bodyPr/>
          <a:lstStyle/>
          <a:p>
            <a:fld id="{982BA46B-E1B2-4520-80B7-3F1B8A68F93F}" type="slidenum">
              <a:rPr lang="zh-CN" altLang="en-US" smtClean="0"/>
              <a:t>11</a:t>
            </a:fld>
            <a:endParaRPr lang="zh-CN" altLang="en-US"/>
          </a:p>
        </p:txBody>
      </p:sp>
    </p:spTree>
    <p:extLst>
      <p:ext uri="{BB962C8B-B14F-4D97-AF65-F5344CB8AC3E}">
        <p14:creationId xmlns:p14="http://schemas.microsoft.com/office/powerpoint/2010/main" val="25622609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00000"/>
                </a:solidFill>
                <a:effectLst/>
                <a:latin typeface="Inter"/>
              </a:rPr>
              <a:t>第二部分是拼接和映射。首先</a:t>
            </a:r>
            <a:r>
              <a:rPr lang="zh-CN" altLang="en-US" dirty="0"/>
              <a:t>为每类资源实体设定固定的特征拼接顺序，</a:t>
            </a:r>
            <a:r>
              <a:rPr lang="zh-CN" altLang="en-US" b="0" i="0" dirty="0">
                <a:solidFill>
                  <a:srgbClr val="000000"/>
                </a:solidFill>
                <a:effectLst/>
                <a:latin typeface="Inter"/>
              </a:rPr>
              <a:t>将第一部分预处理输出的三种类型数据拼接起来得到</a:t>
            </a:r>
            <a:r>
              <a:rPr lang="en-US" altLang="zh-CN" b="0" i="0" dirty="0">
                <a:solidFill>
                  <a:srgbClr val="000000"/>
                </a:solidFill>
                <a:effectLst/>
                <a:latin typeface="Inter"/>
              </a:rPr>
              <a:t>Ce</a:t>
            </a:r>
            <a:r>
              <a:rPr lang="zh-CN" altLang="en-US" b="0" i="0" dirty="0">
                <a:solidFill>
                  <a:srgbClr val="000000"/>
                </a:solidFill>
                <a:effectLst/>
                <a:latin typeface="Inter"/>
              </a:rPr>
              <a:t>。</a:t>
            </a:r>
            <a:r>
              <a:rPr lang="zh-CN" altLang="en-US" dirty="0"/>
              <a:t>为快速融合</a:t>
            </a:r>
            <a:r>
              <a:rPr lang="zh-CN" altLang="en-US" b="0" dirty="0">
                <a:solidFill>
                  <a:srgbClr val="000000"/>
                </a:solidFill>
                <a:effectLst/>
                <a:latin typeface="KaTeX_Main"/>
              </a:rPr>
              <a:t>不同</a:t>
            </a:r>
            <a:r>
              <a:rPr lang="zh-CN" altLang="en-US" dirty="0"/>
              <a:t>特征嵌入以得到紧凑的实体表示，本文再次采用 </a:t>
            </a:r>
            <a:r>
              <a:rPr lang="en-US" altLang="zh-CN" dirty="0" err="1"/>
              <a:t>TransformerEncoder</a:t>
            </a:r>
            <a:r>
              <a:rPr lang="en-US" altLang="zh-CN" dirty="0"/>
              <a:t> </a:t>
            </a:r>
            <a:r>
              <a:rPr lang="zh-CN" altLang="en-US" dirty="0"/>
              <a:t>进行建模（公式 </a:t>
            </a:r>
            <a:r>
              <a:rPr lang="en-US" altLang="zh-CN" dirty="0"/>
              <a:t>2</a:t>
            </a:r>
            <a:r>
              <a:rPr lang="zh-CN" altLang="en-US" dirty="0"/>
              <a:t>），随后通过线性层和展平操作将</a:t>
            </a:r>
            <a:r>
              <a:rPr lang="en-US" altLang="zh-CN" b="0" dirty="0">
                <a:solidFill>
                  <a:srgbClr val="000000"/>
                </a:solidFill>
                <a:effectLst/>
                <a:latin typeface="KaTeX_Main"/>
              </a:rPr>
              <a:t>Ce′​</a:t>
            </a:r>
            <a:r>
              <a:rPr lang="zh-CN" altLang="en-US" dirty="0"/>
              <a:t>映射为实体向量表示</a:t>
            </a:r>
            <a:r>
              <a:rPr lang="en-US" altLang="zh-CN" dirty="0" err="1"/>
              <a:t>ve</a:t>
            </a:r>
            <a:r>
              <a:rPr lang="zh-CN" altLang="en-US" dirty="0"/>
              <a:t>（一维向量）。</a:t>
            </a:r>
            <a:endParaRPr lang="en-US" altLang="zh-CN" b="0" i="0" dirty="0">
              <a:solidFill>
                <a:srgbClr val="000000"/>
              </a:solidFill>
              <a:effectLst/>
              <a:latin typeface="Inter"/>
            </a:endParaRPr>
          </a:p>
        </p:txBody>
      </p:sp>
      <p:sp>
        <p:nvSpPr>
          <p:cNvPr id="4" name="灯片编号占位符 3"/>
          <p:cNvSpPr>
            <a:spLocks noGrp="1"/>
          </p:cNvSpPr>
          <p:nvPr>
            <p:ph type="sldNum" sz="quarter" idx="5"/>
          </p:nvPr>
        </p:nvSpPr>
        <p:spPr/>
        <p:txBody>
          <a:bodyPr/>
          <a:lstStyle/>
          <a:p>
            <a:fld id="{982BA46B-E1B2-4520-80B7-3F1B8A68F93F}" type="slidenum">
              <a:rPr lang="zh-CN" altLang="en-US" smtClean="0"/>
              <a:t>12</a:t>
            </a:fld>
            <a:endParaRPr lang="zh-CN" altLang="en-US"/>
          </a:p>
        </p:txBody>
      </p:sp>
    </p:spTree>
    <p:extLst>
      <p:ext uri="{BB962C8B-B14F-4D97-AF65-F5344CB8AC3E}">
        <p14:creationId xmlns:p14="http://schemas.microsoft.com/office/powerpoint/2010/main" val="17236237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algn="l"/>
                <a:r>
                  <a:rPr lang="zh-CN" altLang="en-US" dirty="0"/>
                  <a:t>（</a:t>
                </a:r>
                <a:r>
                  <a:rPr lang="en-US" altLang="zh-CN" dirty="0"/>
                  <a:t>3</a:t>
                </a:r>
                <a:r>
                  <a:rPr lang="zh-CN" altLang="en-US" dirty="0"/>
                  <a:t>）故障传播建模与分类器训练。基于第二步得到的实体的向量表示和系统拓扑结构，采用</a:t>
                </a:r>
                <a:r>
                  <a:rPr lang="zh-CN" altLang="en-US" b="1" dirty="0">
                    <a:solidFill>
                      <a:srgbClr val="000000"/>
                    </a:solidFill>
                    <a:effectLst/>
                    <a:latin typeface="ui-sans-serif"/>
                  </a:rPr>
                  <a:t>图注意力网络（</a:t>
                </a:r>
                <a:r>
                  <a:rPr lang="en-US" altLang="zh-CN" b="1" dirty="0">
                    <a:solidFill>
                      <a:srgbClr val="000000"/>
                    </a:solidFill>
                    <a:effectLst/>
                    <a:latin typeface="ui-sans-serif"/>
                  </a:rPr>
                  <a:t>GAT</a:t>
                </a:r>
                <a:r>
                  <a:rPr lang="zh-CN" altLang="en-US" b="1" dirty="0">
                    <a:solidFill>
                      <a:srgbClr val="000000"/>
                    </a:solidFill>
                    <a:effectLst/>
                    <a:latin typeface="ui-sans-serif"/>
                  </a:rPr>
                  <a:t>）</a:t>
                </a:r>
                <a:r>
                  <a:rPr lang="zh-CN" altLang="en-US" dirty="0"/>
                  <a:t> 建模故障传播过程</a:t>
                </a:r>
                <a:r>
                  <a:rPr lang="en-US" altLang="zh-CN" dirty="0"/>
                  <a:t>,</a:t>
                </a:r>
                <a:r>
                  <a:rPr lang="zh-CN" altLang="en-US" dirty="0"/>
                  <a:t>得到新的实体向量表示</a:t>
                </a:r>
                <a14:m>
                  <m:oMath xmlns:m="http://schemas.openxmlformats.org/officeDocument/2006/math">
                    <m:sSub>
                      <m:sSubPr>
                        <m:ctrlPr>
                          <a:rPr lang="en-US" altLang="zh-CN" sz="1200" i="1" smtClean="0">
                            <a:latin typeface="Cambria Math" panose="02040503050406030204" pitchFamily="18" charset="0"/>
                          </a:rPr>
                        </m:ctrlPr>
                      </m:sSubPr>
                      <m:e>
                        <m:r>
                          <a:rPr lang="en-US" altLang="zh-CN" sz="1200" b="0" i="1" smtClean="0">
                            <a:latin typeface="Cambria Math" panose="02040503050406030204" pitchFamily="18" charset="0"/>
                          </a:rPr>
                          <m:t>𝑣</m:t>
                        </m:r>
                        <m:r>
                          <a:rPr lang="en-US" altLang="zh-CN" sz="1200" b="0" i="1" smtClean="0">
                            <a:latin typeface="Cambria Math" panose="02040503050406030204" pitchFamily="18" charset="0"/>
                          </a:rPr>
                          <m:t>′</m:t>
                        </m:r>
                      </m:e>
                      <m:sub>
                        <m:r>
                          <a:rPr lang="en-US" altLang="zh-CN" sz="1200" i="1">
                            <a:latin typeface="Cambria Math" panose="02040503050406030204" pitchFamily="18" charset="0"/>
                          </a:rPr>
                          <m:t>𝑒</m:t>
                        </m:r>
                      </m:sub>
                    </m:sSub>
                  </m:oMath>
                </a14:m>
                <a:r>
                  <a:rPr lang="zh-CN" altLang="en-US" b="0" i="0" dirty="0">
                    <a:solidFill>
                      <a:srgbClr val="000000"/>
                    </a:solidFill>
                    <a:effectLst/>
                    <a:latin typeface="Inter"/>
                  </a:rPr>
                  <a:t>，然后</a:t>
                </a:r>
                <a:r>
                  <a:rPr lang="zh-CN" altLang="en-US" dirty="0"/>
                  <a:t>通过 </a:t>
                </a:r>
                <a:r>
                  <a:rPr lang="en-US" altLang="zh-CN" dirty="0"/>
                  <a:t>Sigmoid </a:t>
                </a:r>
                <a:r>
                  <a:rPr lang="zh-CN" altLang="en-US" dirty="0"/>
                  <a:t>激活函数和线性层计算其各类故障类型的概率向量</a:t>
                </a:r>
                <a:r>
                  <a:rPr lang="en-US" altLang="zh-CN" sz="1200" b="0" kern="1200" dirty="0">
                    <a:solidFill>
                      <a:schemeClr val="tx1"/>
                    </a:solidFill>
                    <a:effectLst/>
                    <a:latin typeface="+mn-lt"/>
                    <a:ea typeface="+mn-ea"/>
                    <a:cs typeface="+mn-cs"/>
                  </a:rPr>
                  <a:t>f^​e​</a:t>
                </a:r>
                <a:r>
                  <a:rPr lang="zh-CN" altLang="en-US" sz="1200" b="0" kern="1200" dirty="0">
                    <a:solidFill>
                      <a:schemeClr val="tx1"/>
                    </a:solidFill>
                    <a:effectLst/>
                    <a:latin typeface="+mn-lt"/>
                    <a:ea typeface="+mn-ea"/>
                    <a:cs typeface="+mn-cs"/>
                  </a:rPr>
                  <a:t>。</a:t>
                </a:r>
                <a:r>
                  <a:rPr lang="zh-CN" altLang="en-US" dirty="0"/>
                  <a:t>本文采用</a:t>
                </a:r>
                <a:r>
                  <a:rPr lang="zh-CN" altLang="en-US" sz="1200" b="1" kern="1200" dirty="0">
                    <a:solidFill>
                      <a:schemeClr val="tx1"/>
                    </a:solidFill>
                    <a:effectLst/>
                    <a:latin typeface="+mn-lt"/>
                    <a:ea typeface="+mn-ea"/>
                    <a:cs typeface="+mn-cs"/>
                  </a:rPr>
                  <a:t>二元交叉熵（</a:t>
                </a:r>
                <a:r>
                  <a:rPr lang="en-US" altLang="zh-CN" sz="1200" b="1" kern="1200" dirty="0">
                    <a:solidFill>
                      <a:schemeClr val="tx1"/>
                    </a:solidFill>
                    <a:effectLst/>
                    <a:latin typeface="+mn-lt"/>
                    <a:ea typeface="+mn-ea"/>
                    <a:cs typeface="+mn-cs"/>
                  </a:rPr>
                  <a:t>BCE</a:t>
                </a:r>
                <a:r>
                  <a:rPr lang="zh-CN" altLang="en-US" sz="1200" b="1" kern="1200" dirty="0">
                    <a:solidFill>
                      <a:schemeClr val="tx1"/>
                    </a:solidFill>
                    <a:effectLst/>
                    <a:latin typeface="+mn-lt"/>
                    <a:ea typeface="+mn-ea"/>
                    <a:cs typeface="+mn-cs"/>
                  </a:rPr>
                  <a:t>）</a:t>
                </a:r>
                <a:r>
                  <a:rPr lang="zh-CN" altLang="en-US" dirty="0"/>
                  <a:t> 作为损失函数，将所有实体类型的 </a:t>
                </a:r>
                <a:r>
                  <a:rPr lang="en-US" altLang="zh-CN" dirty="0"/>
                  <a:t>BCE </a:t>
                </a:r>
                <a:r>
                  <a:rPr lang="zh-CN" altLang="en-US" dirty="0"/>
                  <a:t>损失之和作为整体损失函数进行优化。</a:t>
                </a:r>
                <a:endParaRPr lang="en-US" altLang="zh-CN" b="0" i="0" dirty="0">
                  <a:solidFill>
                    <a:srgbClr val="000000"/>
                  </a:solidFill>
                  <a:effectLst/>
                  <a:latin typeface="Inter"/>
                </a:endParaRPr>
              </a:p>
            </p:txBody>
          </p:sp>
        </mc:Choice>
        <mc:Fallback xmlns="">
          <p:sp>
            <p:nvSpPr>
              <p:cNvPr id="3" name="备注占位符 2"/>
              <p:cNvSpPr>
                <a:spLocks noGrp="1"/>
              </p:cNvSpPr>
              <p:nvPr>
                <p:ph type="body" idx="1"/>
              </p:nvPr>
            </p:nvSpPr>
            <p:spPr/>
            <p:txBody>
              <a:bodyPr/>
              <a:lstStyle/>
              <a:p>
                <a:pPr algn="l"/>
                <a:r>
                  <a:rPr lang="zh-CN" altLang="en-US" dirty="0"/>
                  <a:t>（</a:t>
                </a:r>
                <a:r>
                  <a:rPr lang="en-US" altLang="zh-CN" dirty="0"/>
                  <a:t>3</a:t>
                </a:r>
                <a:r>
                  <a:rPr lang="zh-CN" altLang="en-US" dirty="0"/>
                  <a:t>）故障传播建模与分类器训练。基于第二步得到的实体的向量表示和系统拓扑结构，采用</a:t>
                </a:r>
                <a:r>
                  <a:rPr lang="zh-CN" altLang="en-US" b="1" dirty="0">
                    <a:solidFill>
                      <a:srgbClr val="000000"/>
                    </a:solidFill>
                    <a:effectLst/>
                    <a:latin typeface="ui-sans-serif"/>
                  </a:rPr>
                  <a:t>图注意力网络（</a:t>
                </a:r>
                <a:r>
                  <a:rPr lang="en-US" altLang="zh-CN" b="1" dirty="0">
                    <a:solidFill>
                      <a:srgbClr val="000000"/>
                    </a:solidFill>
                    <a:effectLst/>
                    <a:latin typeface="ui-sans-serif"/>
                  </a:rPr>
                  <a:t>GAT</a:t>
                </a:r>
                <a:r>
                  <a:rPr lang="zh-CN" altLang="en-US" b="1" dirty="0">
                    <a:solidFill>
                      <a:srgbClr val="000000"/>
                    </a:solidFill>
                    <a:effectLst/>
                    <a:latin typeface="ui-sans-serif"/>
                  </a:rPr>
                  <a:t>）</a:t>
                </a:r>
                <a:r>
                  <a:rPr lang="zh-CN" altLang="en-US" dirty="0"/>
                  <a:t> 建模故障传播过程</a:t>
                </a:r>
                <a:r>
                  <a:rPr lang="en-US" altLang="zh-CN" dirty="0"/>
                  <a:t>,</a:t>
                </a:r>
                <a:r>
                  <a:rPr lang="zh-CN" altLang="en-US" dirty="0"/>
                  <a:t>得到新的实体向量表示</a:t>
                </a:r>
                <a:r>
                  <a:rPr lang="en-US" altLang="zh-CN" sz="1200" i="0">
                    <a:latin typeface="Cambria Math" panose="02040503050406030204" pitchFamily="18" charset="0"/>
                  </a:rPr>
                  <a:t>〖</a:t>
                </a:r>
                <a:r>
                  <a:rPr lang="en-US" altLang="zh-CN" sz="1200" b="0" i="0">
                    <a:latin typeface="Cambria Math" panose="02040503050406030204" pitchFamily="18" charset="0"/>
                  </a:rPr>
                  <a:t>𝑣′〗_</a:t>
                </a:r>
                <a:r>
                  <a:rPr lang="en-US" altLang="zh-CN" sz="1200" i="0">
                    <a:latin typeface="Cambria Math" panose="02040503050406030204" pitchFamily="18" charset="0"/>
                  </a:rPr>
                  <a:t>𝑒</a:t>
                </a:r>
                <a:r>
                  <a:rPr lang="zh-CN" altLang="en-US" b="0" i="0" dirty="0">
                    <a:solidFill>
                      <a:srgbClr val="000000"/>
                    </a:solidFill>
                    <a:effectLst/>
                    <a:latin typeface="Inter"/>
                  </a:rPr>
                  <a:t>，然后</a:t>
                </a:r>
                <a:r>
                  <a:rPr lang="zh-CN" altLang="en-US" dirty="0"/>
                  <a:t>通过 </a:t>
                </a:r>
                <a:r>
                  <a:rPr lang="en-US" altLang="zh-CN" dirty="0"/>
                  <a:t>Sigmoid </a:t>
                </a:r>
                <a:r>
                  <a:rPr lang="zh-CN" altLang="en-US" dirty="0"/>
                  <a:t>激活函数和线性层计算其各类故障类型的概率向量</a:t>
                </a:r>
                <a:r>
                  <a:rPr lang="en-US" altLang="zh-CN" sz="1200" b="0" kern="1200" dirty="0">
                    <a:solidFill>
                      <a:schemeClr val="tx1"/>
                    </a:solidFill>
                    <a:effectLst/>
                    <a:latin typeface="+mn-lt"/>
                    <a:ea typeface="+mn-ea"/>
                    <a:cs typeface="+mn-cs"/>
                  </a:rPr>
                  <a:t>f^​e​</a:t>
                </a:r>
                <a:r>
                  <a:rPr lang="zh-CN" altLang="en-US" sz="1200" b="0" kern="1200" dirty="0">
                    <a:solidFill>
                      <a:schemeClr val="tx1"/>
                    </a:solidFill>
                    <a:effectLst/>
                    <a:latin typeface="+mn-lt"/>
                    <a:ea typeface="+mn-ea"/>
                    <a:cs typeface="+mn-cs"/>
                  </a:rPr>
                  <a:t>。</a:t>
                </a:r>
                <a:r>
                  <a:rPr lang="zh-CN" altLang="en-US" dirty="0"/>
                  <a:t>本文采用</a:t>
                </a:r>
                <a:r>
                  <a:rPr lang="zh-CN" altLang="en-US" sz="1200" b="1" kern="1200" dirty="0">
                    <a:solidFill>
                      <a:schemeClr val="tx1"/>
                    </a:solidFill>
                    <a:effectLst/>
                    <a:latin typeface="+mn-lt"/>
                    <a:ea typeface="+mn-ea"/>
                    <a:cs typeface="+mn-cs"/>
                  </a:rPr>
                  <a:t>二元交叉熵（</a:t>
                </a:r>
                <a:r>
                  <a:rPr lang="en-US" altLang="zh-CN" sz="1200" b="1" kern="1200" dirty="0">
                    <a:solidFill>
                      <a:schemeClr val="tx1"/>
                    </a:solidFill>
                    <a:effectLst/>
                    <a:latin typeface="+mn-lt"/>
                    <a:ea typeface="+mn-ea"/>
                    <a:cs typeface="+mn-cs"/>
                  </a:rPr>
                  <a:t>BCE</a:t>
                </a:r>
                <a:r>
                  <a:rPr lang="zh-CN" altLang="en-US" sz="1200" b="1" kern="1200" dirty="0">
                    <a:solidFill>
                      <a:schemeClr val="tx1"/>
                    </a:solidFill>
                    <a:effectLst/>
                    <a:latin typeface="+mn-lt"/>
                    <a:ea typeface="+mn-ea"/>
                    <a:cs typeface="+mn-cs"/>
                  </a:rPr>
                  <a:t>）</a:t>
                </a:r>
                <a:r>
                  <a:rPr lang="zh-CN" altLang="en-US" dirty="0"/>
                  <a:t> 作为损失函数，将所有实体类型的 </a:t>
                </a:r>
                <a:r>
                  <a:rPr lang="en-US" altLang="zh-CN" dirty="0"/>
                  <a:t>BCE </a:t>
                </a:r>
                <a:r>
                  <a:rPr lang="zh-CN" altLang="en-US" dirty="0"/>
                  <a:t>损失之和作为整体损失函数进行优化。</a:t>
                </a:r>
                <a:endParaRPr lang="en-US" altLang="zh-CN" b="0" i="0" dirty="0">
                  <a:solidFill>
                    <a:srgbClr val="000000"/>
                  </a:solidFill>
                  <a:effectLst/>
                  <a:latin typeface="Inter"/>
                </a:endParaRPr>
              </a:p>
            </p:txBody>
          </p:sp>
        </mc:Fallback>
      </mc:AlternateContent>
      <p:sp>
        <p:nvSpPr>
          <p:cNvPr id="4" name="灯片编号占位符 3"/>
          <p:cNvSpPr>
            <a:spLocks noGrp="1"/>
          </p:cNvSpPr>
          <p:nvPr>
            <p:ph type="sldNum" sz="quarter" idx="5"/>
          </p:nvPr>
        </p:nvSpPr>
        <p:spPr/>
        <p:txBody>
          <a:bodyPr/>
          <a:lstStyle/>
          <a:p>
            <a:fld id="{982BA46B-E1B2-4520-80B7-3F1B8A68F93F}" type="slidenum">
              <a:rPr lang="zh-CN" altLang="en-US" smtClean="0"/>
              <a:t>13</a:t>
            </a:fld>
            <a:endParaRPr lang="zh-CN" altLang="en-US"/>
          </a:p>
        </p:txBody>
      </p:sp>
    </p:spTree>
    <p:extLst>
      <p:ext uri="{BB962C8B-B14F-4D97-AF65-F5344CB8AC3E}">
        <p14:creationId xmlns:p14="http://schemas.microsoft.com/office/powerpoint/2010/main" val="34975217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kern="1200" dirty="0">
                <a:solidFill>
                  <a:schemeClr val="tx1"/>
                </a:solidFill>
                <a:effectLst/>
                <a:latin typeface="+mn-lt"/>
                <a:ea typeface="+mn-ea"/>
                <a:cs typeface="+mn-cs"/>
              </a:rPr>
              <a:t>（</a:t>
            </a:r>
            <a:r>
              <a:rPr lang="en-US" altLang="zh-CN" sz="1200" b="0" kern="1200" dirty="0">
                <a:solidFill>
                  <a:schemeClr val="tx1"/>
                </a:solidFill>
                <a:effectLst/>
                <a:latin typeface="+mn-lt"/>
                <a:ea typeface="+mn-ea"/>
                <a:cs typeface="+mn-cs"/>
              </a:rPr>
              <a:t>4</a:t>
            </a:r>
            <a:r>
              <a:rPr lang="zh-CN" altLang="en-US" sz="1200" b="0" kern="1200" dirty="0">
                <a:solidFill>
                  <a:schemeClr val="tx1"/>
                </a:solidFill>
                <a:effectLst/>
                <a:latin typeface="+mn-lt"/>
                <a:ea typeface="+mn-ea"/>
                <a:cs typeface="+mn-cs"/>
              </a:rPr>
              <a:t>）高混淆度样本筛选</a:t>
            </a:r>
          </a:p>
          <a:p>
            <a:r>
              <a:rPr lang="zh-CN" altLang="en-US" sz="1200" b="0" kern="1200" dirty="0">
                <a:solidFill>
                  <a:schemeClr val="tx1"/>
                </a:solidFill>
                <a:effectLst/>
                <a:latin typeface="+mn-lt"/>
                <a:ea typeface="+mn-ea"/>
                <a:cs typeface="+mn-cs"/>
              </a:rPr>
              <a:t>每次迭代训练完成后，需筛选出分类器的高混淆度样本，通过大语言模型标注后继续迭代训练。首先计算每个故障类型的混淆度，</a:t>
            </a:r>
            <a:r>
              <a:rPr lang="zh-CN" altLang="en-US" b="1" dirty="0">
                <a:solidFill>
                  <a:srgbClr val="000000"/>
                </a:solidFill>
                <a:effectLst/>
                <a:latin typeface="ui-sans-serif"/>
              </a:rPr>
              <a:t>计算公式如下（</a:t>
            </a:r>
            <a:r>
              <a:rPr lang="en-US" altLang="zh-CN" b="0" dirty="0" err="1">
                <a:solidFill>
                  <a:srgbClr val="000000"/>
                </a:solidFill>
                <a:effectLst/>
                <a:latin typeface="KaTeX_Main"/>
              </a:rPr>
              <a:t>pei</a:t>
            </a:r>
            <a:r>
              <a:rPr lang="en-US" altLang="zh-CN" b="0" dirty="0">
                <a:solidFill>
                  <a:srgbClr val="000000"/>
                </a:solidFill>
                <a:effectLst/>
                <a:latin typeface="KaTeX_Main"/>
              </a:rPr>
              <a:t>​</a:t>
            </a:r>
            <a:r>
              <a:rPr lang="zh-CN" altLang="en-US" dirty="0"/>
              <a:t>为小型分类器预测实体</a:t>
            </a:r>
            <a:r>
              <a:rPr lang="en-US" altLang="zh-CN" b="0" dirty="0">
                <a:solidFill>
                  <a:srgbClr val="000000"/>
                </a:solidFill>
                <a:effectLst/>
                <a:latin typeface="KaTeX_Main"/>
              </a:rPr>
              <a:t>e</a:t>
            </a:r>
            <a:r>
              <a:rPr lang="zh-CN" altLang="en-US" dirty="0"/>
              <a:t>发生第</a:t>
            </a:r>
            <a:r>
              <a:rPr lang="en-US" altLang="zh-CN" b="0" dirty="0" err="1">
                <a:solidFill>
                  <a:srgbClr val="000000"/>
                </a:solidFill>
                <a:effectLst/>
                <a:latin typeface="KaTeX_Main"/>
              </a:rPr>
              <a:t>i</a:t>
            </a:r>
            <a:r>
              <a:rPr lang="zh-CN" altLang="en-US" dirty="0"/>
              <a:t>类故障的概率</a:t>
            </a:r>
            <a:r>
              <a:rPr lang="zh-CN" altLang="en-US" b="1" dirty="0">
                <a:solidFill>
                  <a:srgbClr val="000000"/>
                </a:solidFill>
                <a:effectLst/>
                <a:latin typeface="ui-sans-serif"/>
              </a:rPr>
              <a:t>），然后</a:t>
            </a:r>
            <a:r>
              <a:rPr lang="zh-CN" altLang="en-US" dirty="0"/>
              <a:t>将</a:t>
            </a:r>
            <a:r>
              <a:rPr lang="zh-CN" altLang="en-US" b="1" dirty="0">
                <a:solidFill>
                  <a:srgbClr val="000000"/>
                </a:solidFill>
                <a:effectLst/>
                <a:latin typeface="ui-sans-serif"/>
              </a:rPr>
              <a:t>混淆度最高的故障类型的混淆度</a:t>
            </a:r>
            <a:r>
              <a:rPr lang="zh-CN" altLang="en-US" dirty="0"/>
              <a:t>作为该实体的整体混淆度，选取混淆度最高的</a:t>
            </a:r>
            <a:r>
              <a:rPr lang="en-US" altLang="zh-CN" b="0" dirty="0">
                <a:solidFill>
                  <a:srgbClr val="000000"/>
                </a:solidFill>
                <a:effectLst/>
                <a:latin typeface="KaTeX_Main"/>
              </a:rPr>
              <a:t>α</a:t>
            </a:r>
            <a:r>
              <a:rPr lang="zh-CN" altLang="en-US" dirty="0"/>
              <a:t>个实体供给大语言模型进行故障标注。</a:t>
            </a:r>
            <a:endParaRPr lang="zh-CN" altLang="en-US" sz="1200" b="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982BA46B-E1B2-4520-80B7-3F1B8A68F93F}" type="slidenum">
              <a:rPr lang="zh-CN" altLang="en-US" smtClean="0"/>
              <a:t>14</a:t>
            </a:fld>
            <a:endParaRPr lang="zh-CN" altLang="en-US"/>
          </a:p>
        </p:txBody>
      </p:sp>
    </p:spTree>
    <p:extLst>
      <p:ext uri="{BB962C8B-B14F-4D97-AF65-F5344CB8AC3E}">
        <p14:creationId xmlns:p14="http://schemas.microsoft.com/office/powerpoint/2010/main" val="1240372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4.1.3 </a:t>
            </a:r>
            <a:r>
              <a:rPr lang="zh-CN" altLang="en-US" dirty="0"/>
              <a:t>工程师的标签修正。因为大语言模型可能产生“幻觉”现象，所以工程师可在训练阶段修正大语言模型的错误标注。目前主要从</a:t>
            </a:r>
            <a:r>
              <a:rPr lang="zh-CN" altLang="en-US" b="1" dirty="0">
                <a:solidFill>
                  <a:srgbClr val="000000"/>
                </a:solidFill>
                <a:effectLst/>
                <a:latin typeface="ui-sans-serif"/>
              </a:rPr>
              <a:t>两个明确维度</a:t>
            </a:r>
            <a:r>
              <a:rPr lang="zh-CN" altLang="en-US" dirty="0"/>
              <a:t>进行审核：</a:t>
            </a:r>
            <a:endParaRPr lang="en-US" altLang="zh-CN" dirty="0"/>
          </a:p>
          <a:p>
            <a:r>
              <a:rPr lang="en-US" altLang="zh-CN" dirty="0"/>
              <a:t>1</a:t>
            </a:r>
            <a:r>
              <a:rPr lang="zh-CN" altLang="en-US" dirty="0"/>
              <a:t>、大语言模型的输出是否与故障排查指南冲突； </a:t>
            </a:r>
            <a:endParaRPr lang="en-US" altLang="zh-CN" dirty="0"/>
          </a:p>
          <a:p>
            <a:r>
              <a:rPr lang="en-US" altLang="zh-CN" dirty="0"/>
              <a:t>2</a:t>
            </a:r>
            <a:r>
              <a:rPr lang="zh-CN" altLang="en-US" dirty="0"/>
              <a:t>、大语言模型输出中描述的故障现象是否与实际可观测性数据一致。</a:t>
            </a:r>
            <a:endParaRPr lang="en-US" altLang="zh-CN" dirty="0"/>
          </a:p>
          <a:p>
            <a:r>
              <a:rPr lang="zh-CN" altLang="en-US" dirty="0"/>
              <a:t>修正后的故障标签与正确标注一起作为新的训练标签对小型分类器进行重训练</a:t>
            </a:r>
          </a:p>
        </p:txBody>
      </p:sp>
      <p:sp>
        <p:nvSpPr>
          <p:cNvPr id="4" name="灯片编号占位符 3"/>
          <p:cNvSpPr>
            <a:spLocks noGrp="1"/>
          </p:cNvSpPr>
          <p:nvPr>
            <p:ph type="sldNum" sz="quarter" idx="5"/>
          </p:nvPr>
        </p:nvSpPr>
        <p:spPr/>
        <p:txBody>
          <a:bodyPr/>
          <a:lstStyle/>
          <a:p>
            <a:fld id="{982BA46B-E1B2-4520-80B7-3F1B8A68F93F}" type="slidenum">
              <a:rPr lang="zh-CN" altLang="en-US" smtClean="0"/>
              <a:t>15</a:t>
            </a:fld>
            <a:endParaRPr lang="zh-CN" altLang="en-US"/>
          </a:p>
        </p:txBody>
      </p:sp>
    </p:spTree>
    <p:extLst>
      <p:ext uri="{BB962C8B-B14F-4D97-AF65-F5344CB8AC3E}">
        <p14:creationId xmlns:p14="http://schemas.microsoft.com/office/powerpoint/2010/main" val="16885681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推理阶段（图 </a:t>
            </a:r>
            <a:r>
              <a:rPr lang="en-US" altLang="zh-CN" dirty="0"/>
              <a:t>4b</a:t>
            </a:r>
            <a:r>
              <a:rPr lang="zh-CN" altLang="en-US" dirty="0"/>
              <a:t>）由小型分类器和大语言模型依次执行分析，最终向工程师提供根因分析结果和解释。第一步，</a:t>
            </a:r>
            <a:r>
              <a:rPr lang="zh-CN" altLang="en-US" b="1" dirty="0">
                <a:solidFill>
                  <a:srgbClr val="000000"/>
                </a:solidFill>
                <a:effectLst/>
                <a:latin typeface="ui-sans-serif"/>
              </a:rPr>
              <a:t>小型分类器</a:t>
            </a:r>
            <a:r>
              <a:rPr lang="zh-CN" altLang="en-US" dirty="0"/>
              <a:t>预测每个资源实体的故障类型概率，若概率超过阈值</a:t>
            </a:r>
            <a:r>
              <a:rPr lang="en-US" altLang="zh-CN" b="0" dirty="0">
                <a:solidFill>
                  <a:srgbClr val="000000"/>
                </a:solidFill>
                <a:effectLst/>
                <a:latin typeface="KaTeX_Main"/>
              </a:rPr>
              <a:t>θ</a:t>
            </a:r>
            <a:r>
              <a:rPr lang="zh-CN" altLang="en-US" dirty="0"/>
              <a:t>则判定为存在该类故障；第二步 使用大语言模型，结合故障排查指南、一次性故障样本和故障类型置信度给出精细化的判定结果，并生成详细解释，辅助工程师做出决策</a:t>
            </a:r>
            <a:r>
              <a:rPr lang="en-US" altLang="zh-CN" dirty="0"/>
              <a:t>. </a:t>
            </a:r>
            <a:r>
              <a:rPr lang="zh-CN" altLang="en-US" dirty="0"/>
              <a:t>第三步 </a:t>
            </a:r>
            <a:r>
              <a:rPr lang="zh-CN" altLang="en-US" b="1" dirty="0">
                <a:solidFill>
                  <a:srgbClr val="000000"/>
                </a:solidFill>
                <a:effectLst/>
                <a:latin typeface="ui-sans-serif"/>
              </a:rPr>
              <a:t>可靠性工程师</a:t>
            </a:r>
            <a:r>
              <a:rPr lang="zh-CN" altLang="en-US" dirty="0"/>
              <a:t>基于大语言模型的解释开展故障分析，做出最终判断。</a:t>
            </a:r>
            <a:endParaRPr lang="zh-CN" altLang="en-US" b="0" i="0" dirty="0">
              <a:solidFill>
                <a:srgbClr val="000000"/>
              </a:solidFill>
              <a:effectLst/>
              <a:latin typeface="Inter"/>
            </a:endParaRPr>
          </a:p>
        </p:txBody>
      </p:sp>
      <p:sp>
        <p:nvSpPr>
          <p:cNvPr id="4" name="灯片编号占位符 3"/>
          <p:cNvSpPr>
            <a:spLocks noGrp="1"/>
          </p:cNvSpPr>
          <p:nvPr>
            <p:ph type="sldNum" sz="quarter" idx="5"/>
          </p:nvPr>
        </p:nvSpPr>
        <p:spPr/>
        <p:txBody>
          <a:bodyPr/>
          <a:lstStyle/>
          <a:p>
            <a:fld id="{982BA46B-E1B2-4520-80B7-3F1B8A68F93F}" type="slidenum">
              <a:rPr lang="zh-CN" altLang="en-US" smtClean="0"/>
              <a:t>16</a:t>
            </a:fld>
            <a:endParaRPr lang="zh-CN" altLang="en-US"/>
          </a:p>
        </p:txBody>
      </p:sp>
    </p:spTree>
    <p:extLst>
      <p:ext uri="{BB962C8B-B14F-4D97-AF65-F5344CB8AC3E}">
        <p14:creationId xmlns:p14="http://schemas.microsoft.com/office/powerpoint/2010/main" val="30371385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Char char="•"/>
            </a:pPr>
            <a:r>
              <a:rPr lang="zh-CN" altLang="en-US" dirty="0"/>
              <a:t>本文采用</a:t>
            </a:r>
            <a:r>
              <a:rPr lang="zh-CN" altLang="en-US" b="1" dirty="0">
                <a:solidFill>
                  <a:srgbClr val="000000"/>
                </a:solidFill>
                <a:effectLst/>
                <a:latin typeface="ui-sans-serif"/>
              </a:rPr>
              <a:t>公共数据集 </a:t>
            </a:r>
            <a:r>
              <a:rPr lang="en-US" altLang="zh-CN" b="1" dirty="0">
                <a:solidFill>
                  <a:srgbClr val="000000"/>
                </a:solidFill>
                <a:effectLst/>
                <a:latin typeface="ui-sans-serif"/>
              </a:rPr>
              <a:t>A</a:t>
            </a:r>
            <a:r>
              <a:rPr lang="zh-CN" altLang="en-US" b="1" dirty="0">
                <a:solidFill>
                  <a:srgbClr val="000000"/>
                </a:solidFill>
                <a:effectLst/>
                <a:latin typeface="ui-sans-serif"/>
              </a:rPr>
              <a:t>、</a:t>
            </a:r>
            <a:r>
              <a:rPr lang="en-US" altLang="zh-CN" b="1" dirty="0">
                <a:solidFill>
                  <a:srgbClr val="000000"/>
                </a:solidFill>
                <a:effectLst/>
                <a:latin typeface="ui-sans-serif"/>
              </a:rPr>
              <a:t>B</a:t>
            </a:r>
            <a:r>
              <a:rPr lang="zh-CN" altLang="en-US" b="1" dirty="0">
                <a:solidFill>
                  <a:srgbClr val="000000"/>
                </a:solidFill>
                <a:effectLst/>
                <a:latin typeface="ui-sans-serif"/>
              </a:rPr>
              <a:t>、</a:t>
            </a:r>
            <a:r>
              <a:rPr lang="en-US" altLang="zh-CN" b="1" dirty="0">
                <a:solidFill>
                  <a:srgbClr val="000000"/>
                </a:solidFill>
                <a:effectLst/>
                <a:latin typeface="ui-sans-serif"/>
              </a:rPr>
              <a:t>C</a:t>
            </a:r>
            <a:r>
              <a:rPr lang="zh-CN" altLang="en-US" dirty="0"/>
              <a:t>评估 </a:t>
            </a:r>
            <a:r>
              <a:rPr lang="en-US" altLang="zh-CN" dirty="0" err="1"/>
              <a:t>LasRCA</a:t>
            </a:r>
            <a:r>
              <a:rPr lang="zh-CN" altLang="en-US" dirty="0"/>
              <a:t>，来自大型 </a:t>
            </a:r>
            <a:r>
              <a:rPr lang="en-US" altLang="zh-CN" dirty="0"/>
              <a:t>AIOps </a:t>
            </a:r>
            <a:r>
              <a:rPr lang="zh-CN" altLang="en-US" dirty="0"/>
              <a:t>挑战赛，基于开源云原生应用 </a:t>
            </a:r>
            <a:r>
              <a:rPr lang="en-US" altLang="zh-CN" dirty="0" err="1"/>
              <a:t>Hipstershop</a:t>
            </a:r>
            <a:r>
              <a:rPr lang="en-US" altLang="zh-CN" dirty="0"/>
              <a:t> </a:t>
            </a:r>
            <a:r>
              <a:rPr lang="zh-CN" altLang="en-US" dirty="0"/>
              <a:t>采集</a:t>
            </a:r>
            <a:endParaRPr lang="en-US" altLang="zh-CN" dirty="0"/>
          </a:p>
          <a:p>
            <a:pPr algn="l">
              <a:buFont typeface="Arial" panose="020B0604020202020204" pitchFamily="34" charset="0"/>
              <a:buChar char="•"/>
            </a:pPr>
            <a:r>
              <a:rPr lang="zh-CN" altLang="en-US" b="1" dirty="0">
                <a:solidFill>
                  <a:srgbClr val="000000"/>
                </a:solidFill>
                <a:effectLst/>
                <a:latin typeface="ui-sans-serif"/>
              </a:rPr>
              <a:t>数据集 </a:t>
            </a:r>
            <a:r>
              <a:rPr lang="en-US" altLang="zh-CN" b="1" dirty="0">
                <a:solidFill>
                  <a:srgbClr val="000000"/>
                </a:solidFill>
                <a:effectLst/>
                <a:latin typeface="ui-sans-serif"/>
              </a:rPr>
              <a:t>A</a:t>
            </a:r>
            <a:r>
              <a:rPr lang="zh-CN" altLang="en-US" dirty="0"/>
              <a:t>：包含 </a:t>
            </a:r>
            <a:r>
              <a:rPr lang="en-US" altLang="zh-CN" dirty="0"/>
              <a:t>10 </a:t>
            </a:r>
            <a:r>
              <a:rPr lang="zh-CN" altLang="en-US" dirty="0"/>
              <a:t>个服务的可观测性数据，共 </a:t>
            </a:r>
            <a:r>
              <a:rPr lang="en-US" altLang="zh-CN" dirty="0"/>
              <a:t>9 </a:t>
            </a:r>
            <a:r>
              <a:rPr lang="zh-CN" altLang="en-US" dirty="0"/>
              <a:t>类故障，每个服务对应 </a:t>
            </a:r>
            <a:r>
              <a:rPr lang="en-US" altLang="zh-CN" dirty="0"/>
              <a:t>4 </a:t>
            </a:r>
            <a:r>
              <a:rPr lang="zh-CN" altLang="en-US" dirty="0"/>
              <a:t>个处理入站请求的容器组； </a:t>
            </a:r>
            <a:endParaRPr lang="en-US" altLang="zh-CN" dirty="0"/>
          </a:p>
          <a:p>
            <a:pPr algn="l">
              <a:buFont typeface="Arial" panose="020B0604020202020204" pitchFamily="34" charset="0"/>
              <a:buChar char="•"/>
            </a:pPr>
            <a:r>
              <a:rPr lang="zh-CN" altLang="en-US" b="1" dirty="0">
                <a:solidFill>
                  <a:srgbClr val="000000"/>
                </a:solidFill>
                <a:effectLst/>
                <a:latin typeface="ui-sans-serif"/>
              </a:rPr>
              <a:t>数据集 </a:t>
            </a:r>
            <a:r>
              <a:rPr lang="en-US" altLang="zh-CN" b="1" dirty="0">
                <a:solidFill>
                  <a:srgbClr val="000000"/>
                </a:solidFill>
                <a:effectLst/>
                <a:latin typeface="ui-sans-serif"/>
              </a:rPr>
              <a:t>B</a:t>
            </a:r>
            <a:r>
              <a:rPr lang="zh-CN" altLang="en-US" dirty="0"/>
              <a:t>：包含 </a:t>
            </a:r>
            <a:r>
              <a:rPr lang="en-US" altLang="zh-CN" dirty="0"/>
              <a:t>40 </a:t>
            </a:r>
            <a:r>
              <a:rPr lang="zh-CN" altLang="en-US" dirty="0"/>
              <a:t>个容器组的可观测性数据，共 </a:t>
            </a:r>
            <a:r>
              <a:rPr lang="en-US" altLang="zh-CN" dirty="0"/>
              <a:t>9 </a:t>
            </a:r>
            <a:r>
              <a:rPr lang="zh-CN" altLang="en-US" dirty="0"/>
              <a:t>类故障，所有容器组部署在 </a:t>
            </a:r>
            <a:r>
              <a:rPr lang="en-US" altLang="zh-CN" dirty="0"/>
              <a:t>6 </a:t>
            </a:r>
            <a:r>
              <a:rPr lang="zh-CN" altLang="en-US" dirty="0"/>
              <a:t>个节点上；</a:t>
            </a:r>
            <a:endParaRPr lang="en-US" altLang="zh-CN" dirty="0"/>
          </a:p>
          <a:p>
            <a:pPr algn="l">
              <a:buFont typeface="Arial" panose="020B0604020202020204" pitchFamily="34" charset="0"/>
              <a:buChar char="•"/>
            </a:pPr>
            <a:r>
              <a:rPr lang="zh-CN" altLang="en-US" dirty="0"/>
              <a:t> </a:t>
            </a:r>
            <a:r>
              <a:rPr lang="zh-CN" altLang="en-US" b="1" dirty="0">
                <a:solidFill>
                  <a:srgbClr val="000000"/>
                </a:solidFill>
                <a:effectLst/>
                <a:latin typeface="ui-sans-serif"/>
              </a:rPr>
              <a:t>数据集 </a:t>
            </a:r>
            <a:r>
              <a:rPr lang="en-US" altLang="zh-CN" b="1" dirty="0">
                <a:solidFill>
                  <a:srgbClr val="000000"/>
                </a:solidFill>
                <a:effectLst/>
                <a:latin typeface="ui-sans-serif"/>
              </a:rPr>
              <a:t>C</a:t>
            </a:r>
            <a:r>
              <a:rPr lang="zh-CN" altLang="en-US" dirty="0"/>
              <a:t>：包含 </a:t>
            </a:r>
            <a:r>
              <a:rPr lang="en-US" altLang="zh-CN" dirty="0"/>
              <a:t>6 </a:t>
            </a:r>
            <a:r>
              <a:rPr lang="zh-CN" altLang="en-US" dirty="0"/>
              <a:t>个节点的可观测性数据，共 </a:t>
            </a:r>
            <a:r>
              <a:rPr lang="en-US" altLang="zh-CN" dirty="0"/>
              <a:t>6 </a:t>
            </a:r>
            <a:r>
              <a:rPr lang="zh-CN" altLang="en-US" dirty="0"/>
              <a:t>类故障。</a:t>
            </a:r>
            <a:endParaRPr lang="zh-CN" altLang="en-US" b="0" i="0" dirty="0">
              <a:solidFill>
                <a:srgbClr val="000000"/>
              </a:solidFill>
              <a:effectLst/>
              <a:latin typeface="Inter"/>
            </a:endParaRPr>
          </a:p>
        </p:txBody>
      </p:sp>
      <p:sp>
        <p:nvSpPr>
          <p:cNvPr id="4" name="灯片编号占位符 3"/>
          <p:cNvSpPr>
            <a:spLocks noGrp="1"/>
          </p:cNvSpPr>
          <p:nvPr>
            <p:ph type="sldNum" sz="quarter" idx="5"/>
          </p:nvPr>
        </p:nvSpPr>
        <p:spPr/>
        <p:txBody>
          <a:bodyPr/>
          <a:lstStyle/>
          <a:p>
            <a:fld id="{982BA46B-E1B2-4520-80B7-3F1B8A68F93F}" type="slidenum">
              <a:rPr lang="zh-CN" altLang="en-US" smtClean="0"/>
              <a:t>17</a:t>
            </a:fld>
            <a:endParaRPr lang="zh-CN" altLang="en-US"/>
          </a:p>
        </p:txBody>
      </p:sp>
    </p:spTree>
    <p:extLst>
      <p:ext uri="{BB962C8B-B14F-4D97-AF65-F5344CB8AC3E}">
        <p14:creationId xmlns:p14="http://schemas.microsoft.com/office/powerpoint/2010/main" val="3719413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dirty="0"/>
              <a:t>本文将 </a:t>
            </a:r>
            <a:r>
              <a:rPr lang="en-US" altLang="zh-CN" dirty="0" err="1"/>
              <a:t>LasRCA</a:t>
            </a:r>
            <a:r>
              <a:rPr lang="en-US" altLang="zh-CN" dirty="0"/>
              <a:t> </a:t>
            </a:r>
            <a:r>
              <a:rPr lang="zh-CN" altLang="en-US" dirty="0"/>
              <a:t>与根因分析领域的</a:t>
            </a:r>
            <a:r>
              <a:rPr lang="zh-CN" altLang="en-US" b="1" dirty="0">
                <a:solidFill>
                  <a:srgbClr val="000000"/>
                </a:solidFill>
                <a:effectLst/>
                <a:latin typeface="ui-sans-serif"/>
              </a:rPr>
              <a:t>主流先进方法（</a:t>
            </a:r>
            <a:r>
              <a:rPr lang="en-US" altLang="zh-CN" b="1" dirty="0">
                <a:solidFill>
                  <a:srgbClr val="000000"/>
                </a:solidFill>
                <a:effectLst/>
                <a:latin typeface="ui-sans-serif"/>
              </a:rPr>
              <a:t>SOTA</a:t>
            </a:r>
            <a:r>
              <a:rPr lang="zh-CN" altLang="en-US" b="1" dirty="0">
                <a:solidFill>
                  <a:srgbClr val="000000"/>
                </a:solidFill>
                <a:effectLst/>
                <a:latin typeface="ui-sans-serif"/>
              </a:rPr>
              <a:t>）</a:t>
            </a:r>
            <a:r>
              <a:rPr lang="zh-CN" altLang="en-US" dirty="0"/>
              <a:t> 和广泛应用的方法进行对比，涵盖有监督和无监督两类，下面五种。评估指标，对于故障资源实体定位，使用</a:t>
            </a:r>
            <a:r>
              <a:rPr lang="en-US" altLang="zh-CN" dirty="0"/>
              <a:t>Top-</a:t>
            </a:r>
            <a:r>
              <a:rPr lang="en-US" altLang="zh-CN" b="0" dirty="0">
                <a:solidFill>
                  <a:srgbClr val="000000"/>
                </a:solidFill>
                <a:effectLst/>
                <a:latin typeface="KaTeX_Main"/>
              </a:rPr>
              <a:t>u</a:t>
            </a:r>
            <a:r>
              <a:rPr lang="zh-CN" altLang="en-US" dirty="0"/>
              <a:t>准确率，公式如下，即模型预测的前</a:t>
            </a:r>
            <a:r>
              <a:rPr lang="en-US" altLang="zh-CN" dirty="0"/>
              <a:t>u</a:t>
            </a:r>
            <a:r>
              <a:rPr lang="zh-CN" altLang="en-US" dirty="0"/>
              <a:t>个故障实体中预测正确的故障占所有故障的百分比。故障类型分类使用经典指标：微平均精确率（</a:t>
            </a:r>
            <a:r>
              <a:rPr lang="en-US" altLang="zh-CN" dirty="0" err="1"/>
              <a:t>MiPr</a:t>
            </a:r>
            <a:r>
              <a:rPr lang="zh-CN" altLang="en-US" dirty="0"/>
              <a:t>）、宏平均精确率（</a:t>
            </a:r>
            <a:r>
              <a:rPr lang="en-US" altLang="zh-CN" dirty="0" err="1"/>
              <a:t>MaPr</a:t>
            </a:r>
            <a:r>
              <a:rPr lang="zh-CN" altLang="en-US" dirty="0"/>
              <a:t>）、微平均召回率（</a:t>
            </a:r>
            <a:r>
              <a:rPr lang="en-US" altLang="zh-CN" dirty="0" err="1"/>
              <a:t>MiRe</a:t>
            </a:r>
            <a:r>
              <a:rPr lang="zh-CN" altLang="en-US" dirty="0"/>
              <a:t>）、宏平均召回率（</a:t>
            </a:r>
            <a:r>
              <a:rPr lang="en-US" altLang="zh-CN" dirty="0" err="1"/>
              <a:t>MaRe</a:t>
            </a:r>
            <a:r>
              <a:rPr lang="zh-CN" altLang="en-US" dirty="0"/>
              <a:t>）、微平均 </a:t>
            </a:r>
            <a:r>
              <a:rPr lang="en-US" altLang="zh-CN" dirty="0"/>
              <a:t>F1 </a:t>
            </a:r>
            <a:r>
              <a:rPr lang="zh-CN" altLang="en-US" dirty="0"/>
              <a:t>值（</a:t>
            </a:r>
            <a:r>
              <a:rPr lang="en-US" altLang="zh-CN" dirty="0"/>
              <a:t>MiF1</a:t>
            </a:r>
            <a:r>
              <a:rPr lang="zh-CN" altLang="en-US" dirty="0"/>
              <a:t>）、宏平均 </a:t>
            </a:r>
            <a:r>
              <a:rPr lang="en-US" altLang="zh-CN" dirty="0"/>
              <a:t>F1 </a:t>
            </a:r>
            <a:r>
              <a:rPr lang="zh-CN" altLang="en-US" dirty="0"/>
              <a:t>值（</a:t>
            </a:r>
            <a:r>
              <a:rPr lang="en-US" altLang="zh-CN" dirty="0"/>
              <a:t>MaF1</a:t>
            </a:r>
            <a:r>
              <a:rPr lang="zh-CN" altLang="en-US" dirty="0"/>
              <a:t>）。</a:t>
            </a:r>
            <a:endParaRPr lang="en-US" altLang="zh-CN" dirty="0"/>
          </a:p>
          <a:p>
            <a:pPr algn="l"/>
            <a:r>
              <a:rPr lang="en-US" altLang="zh-CN" dirty="0"/>
              <a:t>TP</a:t>
            </a:r>
            <a:r>
              <a:rPr lang="zh-CN" altLang="en-US" dirty="0"/>
              <a:t>：模型正确识别故障类型的数量； </a:t>
            </a:r>
            <a:r>
              <a:rPr lang="en-US" altLang="zh-CN" dirty="0"/>
              <a:t>FP</a:t>
            </a:r>
            <a:r>
              <a:rPr lang="zh-CN" altLang="en-US" dirty="0"/>
              <a:t>：模型错误识别不存在的故障类型的数量； </a:t>
            </a:r>
            <a:r>
              <a:rPr lang="en-US" altLang="zh-CN" dirty="0"/>
              <a:t>FN</a:t>
            </a:r>
            <a:r>
              <a:rPr lang="zh-CN" altLang="en-US" dirty="0"/>
              <a:t>：模型未识别出实际存在的故障类型的数量。</a:t>
            </a:r>
            <a:endParaRPr lang="zh-CN" altLang="en-US" b="0" i="0" dirty="0">
              <a:solidFill>
                <a:srgbClr val="000000"/>
              </a:solidFill>
              <a:effectLst/>
              <a:latin typeface="Inter"/>
            </a:endParaRPr>
          </a:p>
        </p:txBody>
      </p:sp>
      <p:sp>
        <p:nvSpPr>
          <p:cNvPr id="4" name="灯片编号占位符 3"/>
          <p:cNvSpPr>
            <a:spLocks noGrp="1"/>
          </p:cNvSpPr>
          <p:nvPr>
            <p:ph type="sldNum" sz="quarter" idx="5"/>
          </p:nvPr>
        </p:nvSpPr>
        <p:spPr/>
        <p:txBody>
          <a:bodyPr/>
          <a:lstStyle/>
          <a:p>
            <a:fld id="{982BA46B-E1B2-4520-80B7-3F1B8A68F93F}" type="slidenum">
              <a:rPr lang="zh-CN" altLang="en-US" smtClean="0"/>
              <a:t>18</a:t>
            </a:fld>
            <a:endParaRPr lang="zh-CN" altLang="en-US"/>
          </a:p>
        </p:txBody>
      </p:sp>
    </p:spTree>
    <p:extLst>
      <p:ext uri="{BB962C8B-B14F-4D97-AF65-F5344CB8AC3E}">
        <p14:creationId xmlns:p14="http://schemas.microsoft.com/office/powerpoint/2010/main" val="39809510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dirty="0"/>
              <a:t>下表展示了一次性故障根因分析的实验结果，样本有限的一次性场景下，</a:t>
            </a:r>
            <a:r>
              <a:rPr lang="en-US" altLang="zh-CN" dirty="0" err="1"/>
              <a:t>LasRCA</a:t>
            </a:r>
            <a:r>
              <a:rPr lang="en-US" altLang="zh-CN" dirty="0"/>
              <a:t> </a:t>
            </a:r>
            <a:r>
              <a:rPr lang="zh-CN" altLang="en-US" dirty="0"/>
              <a:t>相较于所有基线方法表现出显著优势，核心原因是</a:t>
            </a:r>
            <a:r>
              <a:rPr lang="zh-CN" altLang="en-US" b="1" dirty="0">
                <a:solidFill>
                  <a:srgbClr val="000000"/>
                </a:solidFill>
                <a:effectLst/>
                <a:latin typeface="ui-sans-serif"/>
              </a:rPr>
              <a:t>大语言模型驱动的故障标注提供了额外的监督信息</a:t>
            </a:r>
            <a:r>
              <a:rPr lang="zh-CN" altLang="en-US" dirty="0"/>
              <a:t>，且</a:t>
            </a:r>
            <a:r>
              <a:rPr lang="zh-CN" altLang="en-US" b="1" dirty="0">
                <a:solidFill>
                  <a:srgbClr val="000000"/>
                </a:solidFill>
                <a:effectLst/>
                <a:latin typeface="ui-sans-serif"/>
              </a:rPr>
              <a:t>小型分类器的架构设计能够有效处理资源实体的异构性</a:t>
            </a:r>
            <a:r>
              <a:rPr lang="zh-CN" altLang="en-US" dirty="0"/>
              <a:t>。</a:t>
            </a:r>
            <a:endParaRPr lang="zh-CN" altLang="en-US" b="0" i="0" dirty="0">
              <a:solidFill>
                <a:srgbClr val="000000"/>
              </a:solidFill>
              <a:effectLst/>
              <a:latin typeface="Inter"/>
            </a:endParaRPr>
          </a:p>
        </p:txBody>
      </p:sp>
      <p:sp>
        <p:nvSpPr>
          <p:cNvPr id="4" name="灯片编号占位符 3"/>
          <p:cNvSpPr>
            <a:spLocks noGrp="1"/>
          </p:cNvSpPr>
          <p:nvPr>
            <p:ph type="sldNum" sz="quarter" idx="5"/>
          </p:nvPr>
        </p:nvSpPr>
        <p:spPr/>
        <p:txBody>
          <a:bodyPr/>
          <a:lstStyle/>
          <a:p>
            <a:fld id="{982BA46B-E1B2-4520-80B7-3F1B8A68F93F}" type="slidenum">
              <a:rPr lang="zh-CN" altLang="en-US" smtClean="0"/>
              <a:t>19</a:t>
            </a:fld>
            <a:endParaRPr lang="zh-CN" altLang="en-US"/>
          </a:p>
        </p:txBody>
      </p:sp>
    </p:spTree>
    <p:extLst>
      <p:ext uri="{BB962C8B-B14F-4D97-AF65-F5344CB8AC3E}">
        <p14:creationId xmlns:p14="http://schemas.microsoft.com/office/powerpoint/2010/main" val="15497120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75D03-1E8E-65CF-9933-68B6990E786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B0704DF-5FE0-34C4-27F3-69505026FB5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EF086BB-4570-BAA3-784A-1917F1F8CD9F}"/>
              </a:ext>
            </a:extLst>
          </p:cNvPr>
          <p:cNvSpPr>
            <a:spLocks noGrp="1"/>
          </p:cNvSpPr>
          <p:nvPr>
            <p:ph type="body" idx="1"/>
          </p:nvPr>
        </p:nvSpPr>
        <p:spPr/>
        <p:txBody>
          <a:bodyPr/>
          <a:lstStyle/>
          <a:p>
            <a:r>
              <a:rPr lang="zh-CN" altLang="en-US" dirty="0"/>
              <a:t>本文通过</a:t>
            </a:r>
            <a:r>
              <a:rPr lang="zh-CN" altLang="en-US" b="1" dirty="0">
                <a:solidFill>
                  <a:srgbClr val="000000"/>
                </a:solidFill>
                <a:effectLst/>
                <a:latin typeface="ui-sans-serif"/>
              </a:rPr>
              <a:t>涉及的实体数量</a:t>
            </a:r>
            <a:r>
              <a:rPr lang="zh-CN" altLang="en-US" dirty="0"/>
              <a:t>评估输入数据的减少量（无需额外算法），通过</a:t>
            </a:r>
            <a:r>
              <a:rPr lang="zh-CN" altLang="en-US" b="1" dirty="0">
                <a:solidFill>
                  <a:srgbClr val="000000"/>
                </a:solidFill>
                <a:effectLst/>
                <a:latin typeface="ui-sans-serif"/>
              </a:rPr>
              <a:t>近似平均时间</a:t>
            </a:r>
            <a:r>
              <a:rPr lang="zh-CN" altLang="en-US" dirty="0"/>
              <a:t>评估时间成本</a:t>
            </a:r>
            <a:r>
              <a:rPr lang="en-US" altLang="zh-CN" dirty="0"/>
              <a:t>. </a:t>
            </a:r>
            <a:r>
              <a:rPr lang="zh-CN" altLang="en-US" dirty="0"/>
              <a:t>下表展示了成本分析结果，对于整个测试集，</a:t>
            </a:r>
            <a:r>
              <a:rPr lang="en-US" altLang="zh-CN" dirty="0" err="1"/>
              <a:t>LasRCA</a:t>
            </a:r>
            <a:r>
              <a:rPr lang="en-US" altLang="zh-CN" dirty="0"/>
              <a:t> </a:t>
            </a:r>
            <a:r>
              <a:rPr lang="zh-CN" altLang="en-US" dirty="0"/>
              <a:t>涉及的资源实体数量仅为纯大语言模型分析的 </a:t>
            </a:r>
            <a:r>
              <a:rPr lang="en-US" altLang="zh-CN" dirty="0"/>
              <a:t>1/10</a:t>
            </a:r>
            <a:r>
              <a:rPr lang="zh-CN" altLang="en-US" dirty="0"/>
              <a:t>，大部分分析工作由大语言模型引导的小型分类器完成；</a:t>
            </a:r>
            <a:r>
              <a:rPr lang="en-US" altLang="zh-CN" dirty="0" err="1"/>
              <a:t>LasRCA</a:t>
            </a:r>
            <a:r>
              <a:rPr lang="en-US" altLang="zh-CN" dirty="0"/>
              <a:t> </a:t>
            </a:r>
            <a:r>
              <a:rPr lang="zh-CN" altLang="en-US" dirty="0"/>
              <a:t>的训练时间约 </a:t>
            </a:r>
            <a:r>
              <a:rPr lang="en-US" altLang="zh-CN" dirty="0"/>
              <a:t>16 </a:t>
            </a:r>
            <a:r>
              <a:rPr lang="zh-CN" altLang="en-US" dirty="0"/>
              <a:t>分钟，但将每次推理的时间缩短了约 </a:t>
            </a:r>
            <a:r>
              <a:rPr lang="en-US" altLang="zh-CN" dirty="0"/>
              <a:t>30 </a:t>
            </a:r>
            <a:r>
              <a:rPr lang="zh-CN" altLang="en-US" dirty="0"/>
              <a:t>秒，</a:t>
            </a:r>
            <a:r>
              <a:rPr lang="zh-CN" altLang="en-US" b="1" dirty="0">
                <a:solidFill>
                  <a:srgbClr val="000000"/>
                </a:solidFill>
                <a:effectLst/>
                <a:latin typeface="ui-sans-serif"/>
              </a:rPr>
              <a:t>推理次数越多，成本降低效果越显著</a:t>
            </a:r>
            <a:r>
              <a:rPr lang="zh-CN" altLang="en-US" dirty="0"/>
              <a:t>。</a:t>
            </a:r>
            <a:endParaRPr lang="zh-CN" altLang="en-US" sz="1200" b="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D84020E2-DFC3-E4B8-D1DF-60D22E6C1E8C}"/>
              </a:ext>
            </a:extLst>
          </p:cNvPr>
          <p:cNvSpPr>
            <a:spLocks noGrp="1"/>
          </p:cNvSpPr>
          <p:nvPr>
            <p:ph type="sldNum" sz="quarter" idx="5"/>
          </p:nvPr>
        </p:nvSpPr>
        <p:spPr/>
        <p:txBody>
          <a:bodyPr/>
          <a:lstStyle/>
          <a:p>
            <a:fld id="{982BA46B-E1B2-4520-80B7-3F1B8A68F93F}" type="slidenum">
              <a:rPr lang="zh-CN" altLang="en-US" smtClean="0"/>
              <a:t>20</a:t>
            </a:fld>
            <a:endParaRPr lang="zh-CN" altLang="en-US"/>
          </a:p>
        </p:txBody>
      </p:sp>
    </p:spTree>
    <p:extLst>
      <p:ext uri="{BB962C8B-B14F-4D97-AF65-F5344CB8AC3E}">
        <p14:creationId xmlns:p14="http://schemas.microsoft.com/office/powerpoint/2010/main" val="18315286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r>
              <a:rPr lang="zh-CN" altLang="en-US" dirty="0"/>
              <a:t>为评估 </a:t>
            </a:r>
            <a:r>
              <a:rPr lang="en-US" altLang="zh-CN" dirty="0" err="1"/>
              <a:t>LasRCA</a:t>
            </a:r>
            <a:r>
              <a:rPr lang="en-US" altLang="zh-CN" dirty="0"/>
              <a:t> </a:t>
            </a:r>
            <a:r>
              <a:rPr lang="zh-CN" altLang="en-US" dirty="0"/>
              <a:t>各核心组件的贡献，本文构建了 </a:t>
            </a:r>
            <a:r>
              <a:rPr lang="en-US" altLang="zh-CN" dirty="0"/>
              <a:t>4 </a:t>
            </a:r>
            <a:r>
              <a:rPr lang="zh-CN" altLang="en-US" dirty="0"/>
              <a:t>种模型变体，实验结果见表 </a:t>
            </a:r>
            <a:r>
              <a:rPr lang="en-US" altLang="zh-CN" dirty="0"/>
              <a:t>4</a:t>
            </a:r>
            <a:r>
              <a:rPr lang="zh-CN" altLang="en-US" dirty="0"/>
              <a:t>，</a:t>
            </a:r>
            <a:r>
              <a:rPr lang="zh-CN" altLang="en-US" b="1" dirty="0">
                <a:solidFill>
                  <a:srgbClr val="000000"/>
                </a:solidFill>
                <a:effectLst/>
                <a:latin typeface="ui-sans-serif"/>
              </a:rPr>
              <a:t>核心结论</a:t>
            </a:r>
            <a:r>
              <a:rPr lang="zh-CN" altLang="en-US" dirty="0"/>
              <a:t>：</a:t>
            </a:r>
            <a:r>
              <a:rPr lang="en-US" altLang="zh-CN" dirty="0" err="1"/>
              <a:t>LasRCA</a:t>
            </a:r>
            <a:r>
              <a:rPr lang="en-US" altLang="zh-CN" dirty="0"/>
              <a:t> </a:t>
            </a:r>
            <a:r>
              <a:rPr lang="zh-CN" altLang="en-US" dirty="0"/>
              <a:t>的每个核心组件均为模型性能的必要保障，缺一不可。</a:t>
            </a:r>
            <a:endParaRPr lang="en-US" altLang="zh-CN" dirty="0"/>
          </a:p>
          <a:p>
            <a:pPr algn="l">
              <a:buFont typeface="Arial" panose="020B0604020202020204" pitchFamily="34" charset="0"/>
              <a:buNone/>
            </a:pPr>
            <a:r>
              <a:rPr lang="en-US" altLang="zh-CN" b="1" dirty="0">
                <a:solidFill>
                  <a:srgbClr val="000000"/>
                </a:solidFill>
                <a:effectLst/>
                <a:latin typeface="ui-sans-serif"/>
              </a:rPr>
              <a:t>V1</a:t>
            </a:r>
            <a:r>
              <a:rPr lang="zh-CN" altLang="en-US" b="1" dirty="0">
                <a:solidFill>
                  <a:srgbClr val="000000"/>
                </a:solidFill>
                <a:effectLst/>
                <a:latin typeface="ui-sans-serif"/>
              </a:rPr>
              <a:t>（移除工程师修正）</a:t>
            </a:r>
            <a:r>
              <a:rPr lang="zh-CN" altLang="en-US" dirty="0"/>
              <a:t>：无工程师修正的故障标签时，模型 </a:t>
            </a:r>
            <a:r>
              <a:rPr lang="en-US" altLang="zh-CN" dirty="0"/>
              <a:t>F1 </a:t>
            </a:r>
            <a:r>
              <a:rPr lang="zh-CN" altLang="en-US" dirty="0"/>
              <a:t>值平均下降 </a:t>
            </a:r>
            <a:r>
              <a:rPr lang="en-US" altLang="zh-CN" dirty="0"/>
              <a:t>0.0332</a:t>
            </a:r>
            <a:r>
              <a:rPr lang="zh-CN" altLang="en-US" dirty="0"/>
              <a:t>，验证了工程师修正对提升标注准确性的有效性； </a:t>
            </a:r>
            <a:endParaRPr lang="en-US" altLang="zh-CN" dirty="0"/>
          </a:p>
          <a:p>
            <a:pPr algn="l">
              <a:buFont typeface="Arial" panose="020B0604020202020204" pitchFamily="34" charset="0"/>
              <a:buNone/>
            </a:pPr>
            <a:r>
              <a:rPr lang="en-US" altLang="zh-CN" b="1" dirty="0">
                <a:solidFill>
                  <a:srgbClr val="000000"/>
                </a:solidFill>
                <a:effectLst/>
                <a:latin typeface="ui-sans-serif"/>
              </a:rPr>
              <a:t>V2</a:t>
            </a:r>
            <a:r>
              <a:rPr lang="zh-CN" altLang="en-US" b="1" dirty="0">
                <a:solidFill>
                  <a:srgbClr val="000000"/>
                </a:solidFill>
                <a:effectLst/>
                <a:latin typeface="ui-sans-serif"/>
              </a:rPr>
              <a:t>（移除大语言模型）</a:t>
            </a:r>
            <a:r>
              <a:rPr lang="zh-CN" altLang="en-US" dirty="0"/>
              <a:t>：大语言模型为小型分类器带来了平均 </a:t>
            </a:r>
            <a:r>
              <a:rPr lang="en-US" altLang="zh-CN" dirty="0"/>
              <a:t>0.1647 </a:t>
            </a:r>
            <a:r>
              <a:rPr lang="zh-CN" altLang="en-US" dirty="0"/>
              <a:t>的 </a:t>
            </a:r>
            <a:r>
              <a:rPr lang="en-US" altLang="zh-CN" dirty="0"/>
              <a:t>F1 </a:t>
            </a:r>
            <a:r>
              <a:rPr lang="zh-CN" altLang="en-US" dirty="0"/>
              <a:t>值提升，核心原因是大语言模型快速扩展了高混淆度样本的标签，为小型分类器提供了更多监督信息； </a:t>
            </a:r>
            <a:endParaRPr lang="en-US" altLang="zh-CN" dirty="0"/>
          </a:p>
          <a:p>
            <a:pPr algn="l">
              <a:buFont typeface="Arial" panose="020B0604020202020204" pitchFamily="34" charset="0"/>
              <a:buNone/>
            </a:pPr>
            <a:r>
              <a:rPr lang="en-US" altLang="zh-CN" b="1" dirty="0">
                <a:solidFill>
                  <a:srgbClr val="000000"/>
                </a:solidFill>
                <a:effectLst/>
                <a:latin typeface="ui-sans-serif"/>
              </a:rPr>
              <a:t>V3</a:t>
            </a:r>
            <a:r>
              <a:rPr lang="zh-CN" altLang="en-US" b="1" dirty="0">
                <a:solidFill>
                  <a:srgbClr val="000000"/>
                </a:solidFill>
                <a:effectLst/>
                <a:latin typeface="ui-sans-serif"/>
              </a:rPr>
              <a:t>（移除小型分类器中的 </a:t>
            </a:r>
            <a:r>
              <a:rPr lang="en-US" altLang="zh-CN" b="1" dirty="0">
                <a:solidFill>
                  <a:srgbClr val="000000"/>
                </a:solidFill>
                <a:effectLst/>
                <a:latin typeface="ui-sans-serif"/>
              </a:rPr>
              <a:t>Transformer</a:t>
            </a:r>
            <a:r>
              <a:rPr lang="zh-CN" altLang="en-US" b="1" dirty="0">
                <a:solidFill>
                  <a:srgbClr val="000000"/>
                </a:solidFill>
                <a:effectLst/>
                <a:latin typeface="ui-sans-serif"/>
              </a:rPr>
              <a:t>）</a:t>
            </a:r>
            <a:r>
              <a:rPr lang="zh-CN" altLang="en-US" dirty="0"/>
              <a:t>：移除 </a:t>
            </a:r>
            <a:r>
              <a:rPr lang="en-US" altLang="zh-CN" dirty="0"/>
              <a:t>Transformer </a:t>
            </a:r>
            <a:r>
              <a:rPr lang="zh-CN" altLang="en-US" dirty="0"/>
              <a:t>后，模型在数据集 </a:t>
            </a:r>
            <a:r>
              <a:rPr lang="en-US" altLang="zh-CN" dirty="0"/>
              <a:t>A </a:t>
            </a:r>
            <a:r>
              <a:rPr lang="zh-CN" altLang="en-US" dirty="0"/>
              <a:t>和 </a:t>
            </a:r>
            <a:r>
              <a:rPr lang="en-US" altLang="zh-CN" dirty="0"/>
              <a:t>B </a:t>
            </a:r>
            <a:r>
              <a:rPr lang="zh-CN" altLang="en-US" dirty="0"/>
              <a:t>上的 </a:t>
            </a:r>
            <a:r>
              <a:rPr lang="en-US" altLang="zh-CN" dirty="0"/>
              <a:t>F1 </a:t>
            </a:r>
            <a:r>
              <a:rPr lang="zh-CN" altLang="en-US" dirty="0"/>
              <a:t>值大幅下降，反映了 </a:t>
            </a:r>
            <a:r>
              <a:rPr lang="en-US" altLang="zh-CN" dirty="0"/>
              <a:t>Transformer </a:t>
            </a:r>
            <a:r>
              <a:rPr lang="zh-CN" altLang="en-US" dirty="0"/>
              <a:t>在序列特征建模中的必要性； </a:t>
            </a:r>
            <a:endParaRPr lang="en-US" altLang="zh-CN" dirty="0"/>
          </a:p>
          <a:p>
            <a:pPr algn="l">
              <a:buFont typeface="Arial" panose="020B0604020202020204" pitchFamily="34" charset="0"/>
              <a:buNone/>
            </a:pPr>
            <a:r>
              <a:rPr lang="en-US" altLang="zh-CN" b="1" dirty="0">
                <a:solidFill>
                  <a:srgbClr val="000000"/>
                </a:solidFill>
                <a:effectLst/>
                <a:latin typeface="ui-sans-serif"/>
              </a:rPr>
              <a:t>V4</a:t>
            </a:r>
            <a:r>
              <a:rPr lang="zh-CN" altLang="en-US" b="1" dirty="0">
                <a:solidFill>
                  <a:srgbClr val="000000"/>
                </a:solidFill>
                <a:effectLst/>
                <a:latin typeface="ui-sans-serif"/>
              </a:rPr>
              <a:t>（移除小型分类器中的 </a:t>
            </a:r>
            <a:r>
              <a:rPr lang="en-US" altLang="zh-CN" b="1" dirty="0">
                <a:solidFill>
                  <a:srgbClr val="000000"/>
                </a:solidFill>
                <a:effectLst/>
                <a:latin typeface="ui-sans-serif"/>
              </a:rPr>
              <a:t>GAT</a:t>
            </a:r>
            <a:r>
              <a:rPr lang="zh-CN" altLang="en-US" b="1" dirty="0">
                <a:solidFill>
                  <a:srgbClr val="000000"/>
                </a:solidFill>
                <a:effectLst/>
                <a:latin typeface="ui-sans-serif"/>
              </a:rPr>
              <a:t>）</a:t>
            </a:r>
            <a:r>
              <a:rPr lang="zh-CN" altLang="en-US" dirty="0"/>
              <a:t>：移除 </a:t>
            </a:r>
            <a:r>
              <a:rPr lang="en-US" altLang="zh-CN" dirty="0"/>
              <a:t>GAT </a:t>
            </a:r>
            <a:r>
              <a:rPr lang="zh-CN" altLang="en-US" dirty="0"/>
              <a:t>后，模型在数据集 </a:t>
            </a:r>
            <a:r>
              <a:rPr lang="en-US" altLang="zh-CN" dirty="0"/>
              <a:t>A </a:t>
            </a:r>
            <a:r>
              <a:rPr lang="zh-CN" altLang="en-US" dirty="0"/>
              <a:t>上的评估指标显著下降，验证了图注意力网络在建模故障传播和异构实体关联中的核心作用。</a:t>
            </a:r>
            <a:endParaRPr lang="zh-CN" altLang="en-US" b="0" i="0" dirty="0">
              <a:solidFill>
                <a:srgbClr val="000000"/>
              </a:solidFill>
              <a:effectLst/>
              <a:latin typeface="Inter"/>
            </a:endParaRPr>
          </a:p>
        </p:txBody>
      </p:sp>
      <p:sp>
        <p:nvSpPr>
          <p:cNvPr id="4" name="灯片编号占位符 3"/>
          <p:cNvSpPr>
            <a:spLocks noGrp="1"/>
          </p:cNvSpPr>
          <p:nvPr>
            <p:ph type="sldNum" sz="quarter" idx="5"/>
          </p:nvPr>
        </p:nvSpPr>
        <p:spPr/>
        <p:txBody>
          <a:bodyPr/>
          <a:lstStyle/>
          <a:p>
            <a:fld id="{982BA46B-E1B2-4520-80B7-3F1B8A68F93F}" type="slidenum">
              <a:rPr lang="zh-CN" altLang="en-US" smtClean="0"/>
              <a:t>21</a:t>
            </a:fld>
            <a:endParaRPr lang="zh-CN" altLang="en-US"/>
          </a:p>
        </p:txBody>
      </p:sp>
    </p:spTree>
    <p:extLst>
      <p:ext uri="{BB962C8B-B14F-4D97-AF65-F5344CB8AC3E}">
        <p14:creationId xmlns:p14="http://schemas.microsoft.com/office/powerpoint/2010/main" val="40767045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dirty="0">
                <a:solidFill>
                  <a:srgbClr val="000000"/>
                </a:solidFill>
                <a:effectLst/>
                <a:latin typeface="ui-sans-serif"/>
              </a:rPr>
              <a:t>本文聚焦</a:t>
            </a:r>
            <a:r>
              <a:rPr lang="zh-CN" altLang="en-US" b="1" dirty="0">
                <a:solidFill>
                  <a:srgbClr val="000000"/>
                </a:solidFill>
                <a:effectLst/>
                <a:latin typeface="ui-sans-serif"/>
              </a:rPr>
              <a:t>每种故障类型仅含一个样本</a:t>
            </a:r>
            <a:r>
              <a:rPr lang="zh-CN" altLang="en-US" b="0" dirty="0">
                <a:solidFill>
                  <a:srgbClr val="000000"/>
                </a:solidFill>
                <a:effectLst/>
                <a:latin typeface="ui-sans-serif"/>
              </a:rPr>
              <a:t>的极端一次性场景，提出了 </a:t>
            </a:r>
            <a:r>
              <a:rPr lang="en-US" altLang="zh-CN" b="0" dirty="0" err="1">
                <a:solidFill>
                  <a:srgbClr val="000000"/>
                </a:solidFill>
                <a:effectLst/>
                <a:latin typeface="ui-sans-serif"/>
              </a:rPr>
              <a:t>LasRCA</a:t>
            </a:r>
            <a:r>
              <a:rPr lang="en-US" altLang="zh-CN" b="0" dirty="0">
                <a:solidFill>
                  <a:srgbClr val="000000"/>
                </a:solidFill>
                <a:effectLst/>
                <a:latin typeface="ui-sans-serif"/>
              </a:rPr>
              <a:t> </a:t>
            </a:r>
            <a:r>
              <a:rPr lang="zh-CN" altLang="en-US" b="0" dirty="0">
                <a:solidFill>
                  <a:srgbClr val="000000"/>
                </a:solidFill>
                <a:effectLst/>
                <a:latin typeface="ui-sans-serif"/>
              </a:rPr>
              <a:t>框架 </a:t>
            </a:r>
            <a:r>
              <a:rPr lang="en-US" altLang="zh-CN" b="0" dirty="0">
                <a:solidFill>
                  <a:srgbClr val="000000"/>
                </a:solidFill>
                <a:effectLst/>
                <a:latin typeface="ui-sans-serif"/>
              </a:rPr>
              <a:t>—— </a:t>
            </a:r>
            <a:r>
              <a:rPr lang="zh-CN" altLang="en-US" b="0" dirty="0">
                <a:solidFill>
                  <a:srgbClr val="000000"/>
                </a:solidFill>
                <a:effectLst/>
                <a:latin typeface="ui-sans-serif"/>
              </a:rPr>
              <a:t>一款结合大语言模型与小型分类器协同的根因分析框架。</a:t>
            </a:r>
          </a:p>
          <a:p>
            <a:pPr algn="l"/>
            <a:r>
              <a:rPr lang="en-US" altLang="zh-CN" b="0" dirty="0" err="1">
                <a:solidFill>
                  <a:srgbClr val="000000"/>
                </a:solidFill>
                <a:effectLst/>
                <a:latin typeface="ui-sans-serif"/>
              </a:rPr>
              <a:t>LasRCA</a:t>
            </a:r>
            <a:r>
              <a:rPr lang="en-US" altLang="zh-CN" b="0" dirty="0">
                <a:solidFill>
                  <a:srgbClr val="000000"/>
                </a:solidFill>
                <a:effectLst/>
                <a:latin typeface="ui-sans-serif"/>
              </a:rPr>
              <a:t> </a:t>
            </a:r>
            <a:r>
              <a:rPr lang="zh-CN" altLang="en-US" b="0" dirty="0">
                <a:solidFill>
                  <a:srgbClr val="000000"/>
                </a:solidFill>
                <a:effectLst/>
                <a:latin typeface="ui-sans-serif"/>
              </a:rPr>
              <a:t>分为训练和推理两个阶段：</a:t>
            </a:r>
            <a:r>
              <a:rPr lang="zh-CN" altLang="en-US" b="1" dirty="0">
                <a:solidFill>
                  <a:srgbClr val="000000"/>
                </a:solidFill>
                <a:effectLst/>
                <a:latin typeface="ui-sans-serif"/>
              </a:rPr>
              <a:t>训练阶段</a:t>
            </a:r>
            <a:r>
              <a:rPr lang="zh-CN" altLang="en-US" b="0" dirty="0">
                <a:solidFill>
                  <a:srgbClr val="000000"/>
                </a:solidFill>
                <a:effectLst/>
                <a:latin typeface="ui-sans-serif"/>
              </a:rPr>
              <a:t>，小型分类器首先基于一次性故障样本完成初始训练，随后迭代筛选高混淆度样本，大语言模型为这些样本提供故障类型反馈，分类器基于反馈完成重训练；</a:t>
            </a:r>
            <a:r>
              <a:rPr lang="zh-CN" altLang="en-US" b="1" dirty="0">
                <a:solidFill>
                  <a:srgbClr val="000000"/>
                </a:solidFill>
                <a:effectLst/>
                <a:latin typeface="ui-sans-serif"/>
              </a:rPr>
              <a:t>推理阶段</a:t>
            </a:r>
            <a:r>
              <a:rPr lang="zh-CN" altLang="en-US" b="0" dirty="0">
                <a:solidFill>
                  <a:srgbClr val="000000"/>
                </a:solidFill>
                <a:effectLst/>
                <a:latin typeface="ui-sans-serif"/>
              </a:rPr>
              <a:t>，小型分类器先完成初步根因分析，大语言模型再结合故障排查指南、一次性故障样本和小型分类器的故障置信度，给出精细化的判定结果和解释。</a:t>
            </a:r>
          </a:p>
          <a:p>
            <a:pPr algn="l"/>
            <a:r>
              <a:rPr lang="zh-CN" altLang="en-US" b="0" dirty="0">
                <a:solidFill>
                  <a:srgbClr val="000000"/>
                </a:solidFill>
                <a:effectLst/>
                <a:latin typeface="ui-sans-serif"/>
              </a:rPr>
              <a:t>实验结果表明，</a:t>
            </a:r>
            <a:r>
              <a:rPr lang="en-US" altLang="zh-CN" b="0" dirty="0" err="1">
                <a:solidFill>
                  <a:srgbClr val="000000"/>
                </a:solidFill>
                <a:effectLst/>
                <a:latin typeface="ui-sans-serif"/>
              </a:rPr>
              <a:t>LasRCA</a:t>
            </a:r>
            <a:r>
              <a:rPr lang="en-US" altLang="zh-CN" b="0" dirty="0">
                <a:solidFill>
                  <a:srgbClr val="000000"/>
                </a:solidFill>
                <a:effectLst/>
                <a:latin typeface="ui-sans-serif"/>
              </a:rPr>
              <a:t> </a:t>
            </a:r>
            <a:r>
              <a:rPr lang="zh-CN" altLang="en-US" b="0" dirty="0">
                <a:solidFill>
                  <a:srgbClr val="000000"/>
                </a:solidFill>
                <a:effectLst/>
                <a:latin typeface="ui-sans-serif"/>
              </a:rPr>
              <a:t>在一次性故障根因分析中表现出良好的有效性，能够在分析效果与成本之间实现平衡。</a:t>
            </a:r>
          </a:p>
        </p:txBody>
      </p:sp>
      <p:sp>
        <p:nvSpPr>
          <p:cNvPr id="4" name="灯片编号占位符 3"/>
          <p:cNvSpPr>
            <a:spLocks noGrp="1"/>
          </p:cNvSpPr>
          <p:nvPr>
            <p:ph type="sldNum" sz="quarter" idx="5"/>
          </p:nvPr>
        </p:nvSpPr>
        <p:spPr/>
        <p:txBody>
          <a:bodyPr/>
          <a:lstStyle/>
          <a:p>
            <a:fld id="{982BA46B-E1B2-4520-80B7-3F1B8A68F93F}" type="slidenum">
              <a:rPr lang="zh-CN" altLang="en-US" smtClean="0"/>
              <a:t>22</a:t>
            </a:fld>
            <a:endParaRPr lang="zh-CN" altLang="en-US"/>
          </a:p>
        </p:txBody>
      </p:sp>
    </p:spTree>
    <p:extLst>
      <p:ext uri="{BB962C8B-B14F-4D97-AF65-F5344CB8AC3E}">
        <p14:creationId xmlns:p14="http://schemas.microsoft.com/office/powerpoint/2010/main" val="27280380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63FB01-8937-E1E8-FC3D-C5740944378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963F5C1-E01F-623B-2514-EFD5E150AE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6CB002E-7D2B-D249-A4FD-13FC14530EC7}"/>
              </a:ext>
            </a:extLst>
          </p:cNvPr>
          <p:cNvSpPr>
            <a:spLocks noGrp="1"/>
          </p:cNvSpPr>
          <p:nvPr>
            <p:ph type="dt" sz="half" idx="10"/>
          </p:nvPr>
        </p:nvSpPr>
        <p:spPr/>
        <p:txBody>
          <a:bodyPr/>
          <a:lstStyle/>
          <a:p>
            <a:fld id="{4091DE36-5A53-4DC6-8B2E-3D9E1353942E}" type="datetimeFigureOut">
              <a:rPr lang="zh-CN" altLang="en-US" smtClean="0"/>
              <a:t>2026/3/15</a:t>
            </a:fld>
            <a:endParaRPr lang="zh-CN" altLang="en-US"/>
          </a:p>
        </p:txBody>
      </p:sp>
      <p:sp>
        <p:nvSpPr>
          <p:cNvPr id="5" name="页脚占位符 4">
            <a:extLst>
              <a:ext uri="{FF2B5EF4-FFF2-40B4-BE49-F238E27FC236}">
                <a16:creationId xmlns:a16="http://schemas.microsoft.com/office/drawing/2014/main" id="{E282CF2D-BEC4-900D-09D9-B218911ADEB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C666173-E753-B4C1-AA9E-BEF532FFE4DB}"/>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4054361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E12EFD-6D7C-503F-765D-0793388D35E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7B652E3-896F-46A7-592B-4AE6937010B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BA75B38-ABCD-614E-CDCA-CAAB81447FAA}"/>
              </a:ext>
            </a:extLst>
          </p:cNvPr>
          <p:cNvSpPr>
            <a:spLocks noGrp="1"/>
          </p:cNvSpPr>
          <p:nvPr>
            <p:ph type="dt" sz="half" idx="10"/>
          </p:nvPr>
        </p:nvSpPr>
        <p:spPr/>
        <p:txBody>
          <a:bodyPr/>
          <a:lstStyle/>
          <a:p>
            <a:fld id="{4091DE36-5A53-4DC6-8B2E-3D9E1353942E}" type="datetimeFigureOut">
              <a:rPr lang="zh-CN" altLang="en-US" smtClean="0"/>
              <a:t>2026/3/15</a:t>
            </a:fld>
            <a:endParaRPr lang="zh-CN" altLang="en-US"/>
          </a:p>
        </p:txBody>
      </p:sp>
      <p:sp>
        <p:nvSpPr>
          <p:cNvPr id="5" name="页脚占位符 4">
            <a:extLst>
              <a:ext uri="{FF2B5EF4-FFF2-40B4-BE49-F238E27FC236}">
                <a16:creationId xmlns:a16="http://schemas.microsoft.com/office/drawing/2014/main" id="{3B71854E-FE47-B763-C148-7D76E83AFA4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A7F75DB-5F9D-A537-23E0-DE2CCF800AC7}"/>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430175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09DE69-06EF-5C3F-10D6-DE33ADDA9411}"/>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E374163-024C-7E5F-BD4C-2B3F6C6C8C8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8BB6E43-2ED9-E13C-99C4-A178CB290341}"/>
              </a:ext>
            </a:extLst>
          </p:cNvPr>
          <p:cNvSpPr>
            <a:spLocks noGrp="1"/>
          </p:cNvSpPr>
          <p:nvPr>
            <p:ph type="dt" sz="half" idx="10"/>
          </p:nvPr>
        </p:nvSpPr>
        <p:spPr/>
        <p:txBody>
          <a:bodyPr/>
          <a:lstStyle/>
          <a:p>
            <a:fld id="{4091DE36-5A53-4DC6-8B2E-3D9E1353942E}" type="datetimeFigureOut">
              <a:rPr lang="zh-CN" altLang="en-US" smtClean="0"/>
              <a:t>2026/3/15</a:t>
            </a:fld>
            <a:endParaRPr lang="zh-CN" altLang="en-US"/>
          </a:p>
        </p:txBody>
      </p:sp>
      <p:sp>
        <p:nvSpPr>
          <p:cNvPr id="5" name="页脚占位符 4">
            <a:extLst>
              <a:ext uri="{FF2B5EF4-FFF2-40B4-BE49-F238E27FC236}">
                <a16:creationId xmlns:a16="http://schemas.microsoft.com/office/drawing/2014/main" id="{9A43BB9F-01D9-AD9F-30BF-A7C795C5CFB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353D144-81F0-A9E4-3657-34461C9D6D95}"/>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3733627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E8AA75-96A5-584F-D146-D3AD17A62FF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0BFE031-3361-C948-0A09-BA99B482B0A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354D976-A6A0-C22A-860A-4B03195312F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BE8A809-A7AA-73A0-5DB8-1022E400CADC}"/>
              </a:ext>
            </a:extLst>
          </p:cNvPr>
          <p:cNvSpPr>
            <a:spLocks noGrp="1"/>
          </p:cNvSpPr>
          <p:nvPr>
            <p:ph type="dt" sz="half" idx="10"/>
          </p:nvPr>
        </p:nvSpPr>
        <p:spPr/>
        <p:txBody>
          <a:bodyPr/>
          <a:lstStyle/>
          <a:p>
            <a:fld id="{4091DE36-5A53-4DC6-8B2E-3D9E1353942E}" type="datetimeFigureOut">
              <a:rPr lang="zh-CN" altLang="en-US" smtClean="0"/>
              <a:t>2026/3/15</a:t>
            </a:fld>
            <a:endParaRPr lang="zh-CN" altLang="en-US"/>
          </a:p>
        </p:txBody>
      </p:sp>
      <p:sp>
        <p:nvSpPr>
          <p:cNvPr id="6" name="页脚占位符 5">
            <a:extLst>
              <a:ext uri="{FF2B5EF4-FFF2-40B4-BE49-F238E27FC236}">
                <a16:creationId xmlns:a16="http://schemas.microsoft.com/office/drawing/2014/main" id="{77C8DD4D-17CA-60E2-51D7-F6E0F6D89F2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14889B7-521D-A60F-B556-E71F9B901750}"/>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315157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7C6DBC-04C3-42FD-54F9-DC540E45516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0BDF785-8F5B-11D2-8840-AD321903D5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6C27F26-4CF4-5AA7-7FFA-FDDF16E485D6}"/>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4477AF4-705C-E12A-3FDA-F9250DD065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9E9664C-F4ED-B5AE-0152-715D1250A62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6E7FA51-722C-642A-3635-30386613AEBA}"/>
              </a:ext>
            </a:extLst>
          </p:cNvPr>
          <p:cNvSpPr>
            <a:spLocks noGrp="1"/>
          </p:cNvSpPr>
          <p:nvPr>
            <p:ph type="dt" sz="half" idx="10"/>
          </p:nvPr>
        </p:nvSpPr>
        <p:spPr/>
        <p:txBody>
          <a:bodyPr/>
          <a:lstStyle/>
          <a:p>
            <a:fld id="{4091DE36-5A53-4DC6-8B2E-3D9E1353942E}" type="datetimeFigureOut">
              <a:rPr lang="zh-CN" altLang="en-US" smtClean="0"/>
              <a:t>2026/3/15</a:t>
            </a:fld>
            <a:endParaRPr lang="zh-CN" altLang="en-US"/>
          </a:p>
        </p:txBody>
      </p:sp>
      <p:sp>
        <p:nvSpPr>
          <p:cNvPr id="8" name="页脚占位符 7">
            <a:extLst>
              <a:ext uri="{FF2B5EF4-FFF2-40B4-BE49-F238E27FC236}">
                <a16:creationId xmlns:a16="http://schemas.microsoft.com/office/drawing/2014/main" id="{39420FC9-C3B5-A96E-63D6-8D2E974EB99F}"/>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0809531-9B1E-AD0E-062B-CFA900881DD3}"/>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70323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2E026-630F-BA4C-3038-6100D63919A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752450D-6E5B-F6B1-B0DC-8CF6C7A5B4D4}"/>
              </a:ext>
            </a:extLst>
          </p:cNvPr>
          <p:cNvSpPr>
            <a:spLocks noGrp="1"/>
          </p:cNvSpPr>
          <p:nvPr>
            <p:ph type="dt" sz="half" idx="10"/>
          </p:nvPr>
        </p:nvSpPr>
        <p:spPr/>
        <p:txBody>
          <a:bodyPr/>
          <a:lstStyle/>
          <a:p>
            <a:fld id="{4091DE36-5A53-4DC6-8B2E-3D9E1353942E}" type="datetimeFigureOut">
              <a:rPr lang="zh-CN" altLang="en-US" smtClean="0"/>
              <a:t>2026/3/15</a:t>
            </a:fld>
            <a:endParaRPr lang="zh-CN" altLang="en-US"/>
          </a:p>
        </p:txBody>
      </p:sp>
      <p:sp>
        <p:nvSpPr>
          <p:cNvPr id="4" name="页脚占位符 3">
            <a:extLst>
              <a:ext uri="{FF2B5EF4-FFF2-40B4-BE49-F238E27FC236}">
                <a16:creationId xmlns:a16="http://schemas.microsoft.com/office/drawing/2014/main" id="{3E163B42-22F4-8902-BC96-660E19CFF34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1FC034C-93E8-0A57-FDC1-25111B39F3E3}"/>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614470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5FEB1A8-CD11-7D02-1406-8F7926A5B693}"/>
              </a:ext>
            </a:extLst>
          </p:cNvPr>
          <p:cNvSpPr>
            <a:spLocks noGrp="1"/>
          </p:cNvSpPr>
          <p:nvPr>
            <p:ph type="dt" sz="half" idx="10"/>
          </p:nvPr>
        </p:nvSpPr>
        <p:spPr/>
        <p:txBody>
          <a:bodyPr/>
          <a:lstStyle/>
          <a:p>
            <a:fld id="{4091DE36-5A53-4DC6-8B2E-3D9E1353942E}" type="datetimeFigureOut">
              <a:rPr lang="zh-CN" altLang="en-US" smtClean="0"/>
              <a:t>2026/3/15</a:t>
            </a:fld>
            <a:endParaRPr lang="zh-CN" altLang="en-US"/>
          </a:p>
        </p:txBody>
      </p:sp>
      <p:sp>
        <p:nvSpPr>
          <p:cNvPr id="3" name="页脚占位符 2">
            <a:extLst>
              <a:ext uri="{FF2B5EF4-FFF2-40B4-BE49-F238E27FC236}">
                <a16:creationId xmlns:a16="http://schemas.microsoft.com/office/drawing/2014/main" id="{E5A9BE81-E616-2182-1EC5-D1582DD603B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864B0AE-E055-37CA-1A00-C80B488B9732}"/>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3982506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6E07D1-A67D-A281-518D-622E198B910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277A667-B80F-657E-149E-A4474652A2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0FE8B05-F288-CC62-5E97-32BFC14C5A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0681916-53EC-DFAB-B039-5D749A33FC59}"/>
              </a:ext>
            </a:extLst>
          </p:cNvPr>
          <p:cNvSpPr>
            <a:spLocks noGrp="1"/>
          </p:cNvSpPr>
          <p:nvPr>
            <p:ph type="dt" sz="half" idx="10"/>
          </p:nvPr>
        </p:nvSpPr>
        <p:spPr/>
        <p:txBody>
          <a:bodyPr/>
          <a:lstStyle/>
          <a:p>
            <a:fld id="{4091DE36-5A53-4DC6-8B2E-3D9E1353942E}" type="datetimeFigureOut">
              <a:rPr lang="zh-CN" altLang="en-US" smtClean="0"/>
              <a:t>2026/3/15</a:t>
            </a:fld>
            <a:endParaRPr lang="zh-CN" altLang="en-US"/>
          </a:p>
        </p:txBody>
      </p:sp>
      <p:sp>
        <p:nvSpPr>
          <p:cNvPr id="6" name="页脚占位符 5">
            <a:extLst>
              <a:ext uri="{FF2B5EF4-FFF2-40B4-BE49-F238E27FC236}">
                <a16:creationId xmlns:a16="http://schemas.microsoft.com/office/drawing/2014/main" id="{91D84BF1-CFFC-4ACE-A3EF-EF7408A31EC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DCFED01-D541-AB8F-2346-EDE67993614B}"/>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1444055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9994E0-870A-F75F-81A6-805DDC36491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E5B8796-2898-CD63-62DA-83697C25DD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6F1531B-2A99-D210-A72A-019077DD26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426392D-E96B-9179-F165-84B117909D13}"/>
              </a:ext>
            </a:extLst>
          </p:cNvPr>
          <p:cNvSpPr>
            <a:spLocks noGrp="1"/>
          </p:cNvSpPr>
          <p:nvPr>
            <p:ph type="dt" sz="half" idx="10"/>
          </p:nvPr>
        </p:nvSpPr>
        <p:spPr/>
        <p:txBody>
          <a:bodyPr/>
          <a:lstStyle/>
          <a:p>
            <a:fld id="{4091DE36-5A53-4DC6-8B2E-3D9E1353942E}" type="datetimeFigureOut">
              <a:rPr lang="zh-CN" altLang="en-US" smtClean="0"/>
              <a:t>2026/3/15</a:t>
            </a:fld>
            <a:endParaRPr lang="zh-CN" altLang="en-US"/>
          </a:p>
        </p:txBody>
      </p:sp>
      <p:sp>
        <p:nvSpPr>
          <p:cNvPr id="6" name="页脚占位符 5">
            <a:extLst>
              <a:ext uri="{FF2B5EF4-FFF2-40B4-BE49-F238E27FC236}">
                <a16:creationId xmlns:a16="http://schemas.microsoft.com/office/drawing/2014/main" id="{990A38F4-364C-9A62-706E-82C40C5FA09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9CB356B-55EB-E3C3-7243-5480FECD8541}"/>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19821854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5973B5-8CDB-637E-1325-30E8266577A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0C3CF88-741C-A31E-6AD9-048F562DC8C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D74C692-A84F-148C-4544-175D234C114E}"/>
              </a:ext>
            </a:extLst>
          </p:cNvPr>
          <p:cNvSpPr>
            <a:spLocks noGrp="1"/>
          </p:cNvSpPr>
          <p:nvPr>
            <p:ph type="dt" sz="half" idx="10"/>
          </p:nvPr>
        </p:nvSpPr>
        <p:spPr/>
        <p:txBody>
          <a:bodyPr/>
          <a:lstStyle/>
          <a:p>
            <a:fld id="{4091DE36-5A53-4DC6-8B2E-3D9E1353942E}" type="datetimeFigureOut">
              <a:rPr lang="zh-CN" altLang="en-US" smtClean="0"/>
              <a:t>2026/3/15</a:t>
            </a:fld>
            <a:endParaRPr lang="zh-CN" altLang="en-US"/>
          </a:p>
        </p:txBody>
      </p:sp>
      <p:sp>
        <p:nvSpPr>
          <p:cNvPr id="5" name="页脚占位符 4">
            <a:extLst>
              <a:ext uri="{FF2B5EF4-FFF2-40B4-BE49-F238E27FC236}">
                <a16:creationId xmlns:a16="http://schemas.microsoft.com/office/drawing/2014/main" id="{CC4F4FB5-5B43-F3DE-E5F1-FAE6C33A6F2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C890155-18A1-EE8A-45C0-C61CF83B1A9F}"/>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1967528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D3F1AB3-AC82-B313-E23B-89FE786249C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71062C6-3BDF-1867-51AE-6F349156DD6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C2B622E-1491-A257-A68B-A807A6F700A3}"/>
              </a:ext>
            </a:extLst>
          </p:cNvPr>
          <p:cNvSpPr>
            <a:spLocks noGrp="1"/>
          </p:cNvSpPr>
          <p:nvPr>
            <p:ph type="dt" sz="half" idx="10"/>
          </p:nvPr>
        </p:nvSpPr>
        <p:spPr/>
        <p:txBody>
          <a:bodyPr/>
          <a:lstStyle/>
          <a:p>
            <a:fld id="{4091DE36-5A53-4DC6-8B2E-3D9E1353942E}" type="datetimeFigureOut">
              <a:rPr lang="zh-CN" altLang="en-US" smtClean="0"/>
              <a:t>2026/3/15</a:t>
            </a:fld>
            <a:endParaRPr lang="zh-CN" altLang="en-US"/>
          </a:p>
        </p:txBody>
      </p:sp>
      <p:sp>
        <p:nvSpPr>
          <p:cNvPr id="5" name="页脚占位符 4">
            <a:extLst>
              <a:ext uri="{FF2B5EF4-FFF2-40B4-BE49-F238E27FC236}">
                <a16:creationId xmlns:a16="http://schemas.microsoft.com/office/drawing/2014/main" id="{A52A6B94-2DC7-AEA6-3D38-CCDD538D8E8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E57E947-0FAF-CEB5-9FD5-7B9F5EB0382D}"/>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2383768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8A31C8B-12E1-5DDB-40A1-4BB97A8E61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D9C121B-F094-49D6-5762-852F13843B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E198A28-5E5F-6758-52B8-31795059A4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91DE36-5A53-4DC6-8B2E-3D9E1353942E}" type="datetimeFigureOut">
              <a:rPr lang="zh-CN" altLang="en-US" smtClean="0"/>
              <a:t>2026/3/15</a:t>
            </a:fld>
            <a:endParaRPr lang="zh-CN" altLang="en-US"/>
          </a:p>
        </p:txBody>
      </p:sp>
      <p:sp>
        <p:nvSpPr>
          <p:cNvPr id="5" name="页脚占位符 4">
            <a:extLst>
              <a:ext uri="{FF2B5EF4-FFF2-40B4-BE49-F238E27FC236}">
                <a16:creationId xmlns:a16="http://schemas.microsoft.com/office/drawing/2014/main" id="{DB8D8A2B-D0AA-7149-4855-242F0354FB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7E9343F2-6C68-0683-356E-7B55B2FF2B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22798971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4DA7E30-879A-28D4-13B1-AED7D977BE7E}"/>
              </a:ext>
            </a:extLst>
          </p:cNvPr>
          <p:cNvSpPr txBox="1"/>
          <p:nvPr/>
        </p:nvSpPr>
        <p:spPr>
          <a:xfrm>
            <a:off x="1017868" y="849438"/>
            <a:ext cx="10201511" cy="1569660"/>
          </a:xfrm>
          <a:prstGeom prst="rect">
            <a:avLst/>
          </a:prstGeom>
          <a:noFill/>
        </p:spPr>
        <p:txBody>
          <a:bodyPr wrap="square" rtlCol="0">
            <a:spAutoFit/>
          </a:bodyPr>
          <a:lstStyle/>
          <a:p>
            <a:pPr algn="ctr"/>
            <a:r>
              <a:rPr lang="en-US" altLang="zh-CN" sz="3200" dirty="0"/>
              <a:t>The Potential of One-Shot Failure Root Cause Analysis</a:t>
            </a:r>
          </a:p>
          <a:p>
            <a:pPr algn="ctr"/>
            <a:r>
              <a:rPr lang="en-US" altLang="zh-CN" sz="3200" dirty="0"/>
              <a:t>Collaboration of the Large Language Model and Small Classifier</a:t>
            </a:r>
          </a:p>
        </p:txBody>
      </p:sp>
      <p:sp>
        <p:nvSpPr>
          <p:cNvPr id="5" name="文本框 4">
            <a:extLst>
              <a:ext uri="{FF2B5EF4-FFF2-40B4-BE49-F238E27FC236}">
                <a16:creationId xmlns:a16="http://schemas.microsoft.com/office/drawing/2014/main" id="{C3D83160-5E89-90B4-6690-2DD53FAD3DD5}"/>
              </a:ext>
            </a:extLst>
          </p:cNvPr>
          <p:cNvSpPr txBox="1"/>
          <p:nvPr/>
        </p:nvSpPr>
        <p:spPr>
          <a:xfrm>
            <a:off x="923635" y="3477930"/>
            <a:ext cx="10344728" cy="461665"/>
          </a:xfrm>
          <a:prstGeom prst="rect">
            <a:avLst/>
          </a:prstGeom>
          <a:noFill/>
        </p:spPr>
        <p:txBody>
          <a:bodyPr wrap="square" rtlCol="0">
            <a:spAutoFit/>
          </a:bodyPr>
          <a:lstStyle/>
          <a:p>
            <a:pPr algn="ctr"/>
            <a:r>
              <a:rPr lang="en-US" altLang="zh-CN" sz="2400" dirty="0" err="1"/>
              <a:t>Yongqi</a:t>
            </a:r>
            <a:r>
              <a:rPr lang="en-US" altLang="zh-CN" sz="2400" dirty="0"/>
              <a:t> Han, </a:t>
            </a:r>
            <a:r>
              <a:rPr lang="en-US" altLang="zh-CN" sz="2400" dirty="0" err="1"/>
              <a:t>Qingfeng</a:t>
            </a:r>
            <a:r>
              <a:rPr lang="en-US" altLang="zh-CN" sz="2400" dirty="0"/>
              <a:t> Du, Ying Huang, Jiaqi Wu,</a:t>
            </a:r>
            <a:r>
              <a:rPr lang="zh-CN" altLang="en-US" sz="2400" dirty="0"/>
              <a:t> </a:t>
            </a:r>
            <a:r>
              <a:rPr lang="en-US" altLang="zh-CN" sz="2400" dirty="0" err="1"/>
              <a:t>Fulong</a:t>
            </a:r>
            <a:r>
              <a:rPr lang="en-US" altLang="zh-CN" sz="2400" dirty="0"/>
              <a:t> Tian, Cheng He </a:t>
            </a:r>
            <a:endParaRPr lang="zh-CN" altLang="en-US" sz="2400" dirty="0"/>
          </a:p>
        </p:txBody>
      </p:sp>
      <p:sp>
        <p:nvSpPr>
          <p:cNvPr id="6" name="文本框 5">
            <a:extLst>
              <a:ext uri="{FF2B5EF4-FFF2-40B4-BE49-F238E27FC236}">
                <a16:creationId xmlns:a16="http://schemas.microsoft.com/office/drawing/2014/main" id="{990547BB-ED81-9DEE-DF5B-8F4C9584658E}"/>
              </a:ext>
            </a:extLst>
          </p:cNvPr>
          <p:cNvSpPr txBox="1"/>
          <p:nvPr/>
        </p:nvSpPr>
        <p:spPr>
          <a:xfrm>
            <a:off x="3939309" y="4805875"/>
            <a:ext cx="4313382" cy="400110"/>
          </a:xfrm>
          <a:prstGeom prst="rect">
            <a:avLst/>
          </a:prstGeom>
          <a:noFill/>
        </p:spPr>
        <p:txBody>
          <a:bodyPr wrap="square" rtlCol="0">
            <a:spAutoFit/>
          </a:bodyPr>
          <a:lstStyle/>
          <a:p>
            <a:pPr algn="ctr"/>
            <a:r>
              <a:rPr lang="en-US" altLang="zh-CN" sz="2000" dirty="0"/>
              <a:t>ASE 2024</a:t>
            </a:r>
            <a:endParaRPr lang="zh-CN" altLang="en-US" sz="2000" dirty="0"/>
          </a:p>
        </p:txBody>
      </p:sp>
      <p:sp>
        <p:nvSpPr>
          <p:cNvPr id="7" name="文本框 6">
            <a:extLst>
              <a:ext uri="{FF2B5EF4-FFF2-40B4-BE49-F238E27FC236}">
                <a16:creationId xmlns:a16="http://schemas.microsoft.com/office/drawing/2014/main" id="{BB4B9F1D-CFB3-767A-9D36-3391BE7845A8}"/>
              </a:ext>
            </a:extLst>
          </p:cNvPr>
          <p:cNvSpPr txBox="1"/>
          <p:nvPr/>
        </p:nvSpPr>
        <p:spPr>
          <a:xfrm>
            <a:off x="4835235" y="5605020"/>
            <a:ext cx="2521528" cy="400110"/>
          </a:xfrm>
          <a:prstGeom prst="rect">
            <a:avLst/>
          </a:prstGeom>
          <a:noFill/>
        </p:spPr>
        <p:txBody>
          <a:bodyPr wrap="square" rtlCol="0">
            <a:spAutoFit/>
          </a:bodyPr>
          <a:lstStyle/>
          <a:p>
            <a:pPr algn="ctr"/>
            <a:r>
              <a:rPr lang="en-US" altLang="zh-CN" sz="2000" dirty="0"/>
              <a:t>27 October</a:t>
            </a:r>
            <a:r>
              <a:rPr lang="zh-CN" altLang="en-US" sz="2000" dirty="0"/>
              <a:t>，</a:t>
            </a:r>
            <a:r>
              <a:rPr lang="en-US" altLang="zh-CN" sz="2000" dirty="0"/>
              <a:t>2024</a:t>
            </a:r>
            <a:endParaRPr lang="zh-CN" altLang="en-US" sz="2000" dirty="0"/>
          </a:p>
        </p:txBody>
      </p:sp>
    </p:spTree>
    <p:extLst>
      <p:ext uri="{BB962C8B-B14F-4D97-AF65-F5344CB8AC3E}">
        <p14:creationId xmlns:p14="http://schemas.microsoft.com/office/powerpoint/2010/main" val="24223387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3C321AA5-BA3B-7FC7-6B37-E772F5393D0D}"/>
              </a:ext>
            </a:extLst>
          </p:cNvPr>
          <p:cNvSpPr>
            <a:spLocks noGrp="1"/>
          </p:cNvSpPr>
          <p:nvPr/>
        </p:nvSpPr>
        <p:spPr>
          <a:xfrm>
            <a:off x="838200" y="11926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Outline</a:t>
            </a:r>
            <a:endParaRPr lang="zh-CN" altLang="en-US" dirty="0"/>
          </a:p>
        </p:txBody>
      </p:sp>
      <p:sp>
        <p:nvSpPr>
          <p:cNvPr id="6" name="内容占位符 2">
            <a:extLst>
              <a:ext uri="{FF2B5EF4-FFF2-40B4-BE49-F238E27FC236}">
                <a16:creationId xmlns:a16="http://schemas.microsoft.com/office/drawing/2014/main" id="{4CE4009A-611D-C576-03BA-A2CF76254033}"/>
              </a:ext>
            </a:extLst>
          </p:cNvPr>
          <p:cNvSpPr>
            <a:spLocks noGrp="1"/>
          </p:cNvSpPr>
          <p:nvPr/>
        </p:nvSpPr>
        <p:spPr>
          <a:xfrm>
            <a:off x="838200" y="1444832"/>
            <a:ext cx="10515600" cy="4351338"/>
          </a:xfrm>
          <a:prstGeom prst="rect">
            <a:avLst/>
          </a:prstGeom>
        </p:spPr>
        <p:txBody>
          <a:bodyPr vert="horz" lIns="91440" tIns="45720" rIns="91440" bIns="45720" numCol="1"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dirty="0"/>
              <a:t>1. Background</a:t>
            </a:r>
          </a:p>
          <a:p>
            <a:pPr>
              <a:lnSpc>
                <a:spcPct val="150000"/>
              </a:lnSpc>
            </a:pPr>
            <a:r>
              <a:rPr lang="en-US" altLang="zh-CN" dirty="0"/>
              <a:t>2. Challenges </a:t>
            </a:r>
          </a:p>
          <a:p>
            <a:pPr>
              <a:lnSpc>
                <a:spcPct val="150000"/>
              </a:lnSpc>
            </a:pPr>
            <a:r>
              <a:rPr lang="en-US" altLang="zh-CN" dirty="0"/>
              <a:t>3. Problem definition</a:t>
            </a:r>
          </a:p>
          <a:p>
            <a:pPr>
              <a:lnSpc>
                <a:spcPct val="150000"/>
              </a:lnSpc>
            </a:pPr>
            <a:r>
              <a:rPr lang="en-US" altLang="zh-CN" dirty="0"/>
              <a:t>4. Methodology</a:t>
            </a:r>
          </a:p>
          <a:p>
            <a:pPr>
              <a:lnSpc>
                <a:spcPct val="150000"/>
              </a:lnSpc>
            </a:pPr>
            <a:r>
              <a:rPr lang="en-US" altLang="zh-CN" dirty="0"/>
              <a:t>5. Experiments</a:t>
            </a:r>
          </a:p>
          <a:p>
            <a:pPr>
              <a:lnSpc>
                <a:spcPct val="150000"/>
              </a:lnSpc>
            </a:pPr>
            <a:r>
              <a:rPr lang="en-US" altLang="zh-CN" dirty="0"/>
              <a:t>6. Conclusion</a:t>
            </a:r>
            <a:endParaRPr lang="zh-CN" altLang="en-US" dirty="0"/>
          </a:p>
        </p:txBody>
      </p:sp>
    </p:spTree>
    <p:extLst>
      <p:ext uri="{BB962C8B-B14F-4D97-AF65-F5344CB8AC3E}">
        <p14:creationId xmlns:p14="http://schemas.microsoft.com/office/powerpoint/2010/main" val="2367758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176323" y="203200"/>
            <a:ext cx="8379133" cy="769441"/>
          </a:xfrm>
          <a:prstGeom prst="rect">
            <a:avLst/>
          </a:prstGeom>
          <a:noFill/>
        </p:spPr>
        <p:txBody>
          <a:bodyPr wrap="square" rtlCol="0">
            <a:spAutoFit/>
          </a:bodyPr>
          <a:lstStyle/>
          <a:p>
            <a:r>
              <a:rPr lang="en-US" altLang="zh-CN" sz="4400" dirty="0"/>
              <a:t>1. Research Background</a:t>
            </a:r>
            <a:endParaRPr lang="zh-CN" altLang="en-US" sz="4400" dirty="0"/>
          </a:p>
        </p:txBody>
      </p:sp>
      <p:sp>
        <p:nvSpPr>
          <p:cNvPr id="5" name="文本框 4">
            <a:extLst>
              <a:ext uri="{FF2B5EF4-FFF2-40B4-BE49-F238E27FC236}">
                <a16:creationId xmlns:a16="http://schemas.microsoft.com/office/drawing/2014/main" id="{3268FEFB-03C7-F3AD-054E-C75FAF6B2AB8}"/>
              </a:ext>
            </a:extLst>
          </p:cNvPr>
          <p:cNvSpPr txBox="1"/>
          <p:nvPr/>
        </p:nvSpPr>
        <p:spPr>
          <a:xfrm>
            <a:off x="666237" y="2233860"/>
            <a:ext cx="11385350" cy="2677656"/>
          </a:xfrm>
          <a:prstGeom prst="rect">
            <a:avLst/>
          </a:prstGeom>
          <a:noFill/>
        </p:spPr>
        <p:txBody>
          <a:bodyPr wrap="square" rtlCol="0">
            <a:spAutoFit/>
          </a:bodyPr>
          <a:lstStyle/>
          <a:p>
            <a:pPr algn="l"/>
            <a:r>
              <a:rPr lang="en-US" altLang="zh-CN" sz="2800" i="0" dirty="0">
                <a:solidFill>
                  <a:srgbClr val="000000"/>
                </a:solidFill>
                <a:effectLst/>
              </a:rPr>
              <a:t>Failure root cause analysis (RCA), which systematically identifies underlying faults, is essential for ensuring the reliability of widely adopted microservice-based applications and cloud-native systems. However, manual analysis by simple rules faces significant burdens due to the heterogeneous nature of resource entities and the massive</a:t>
            </a:r>
            <a:r>
              <a:rPr lang="en-US" altLang="zh-CN" sz="2800" dirty="0">
                <a:solidFill>
                  <a:srgbClr val="000000"/>
                </a:solidFill>
              </a:rPr>
              <a:t> </a:t>
            </a:r>
            <a:r>
              <a:rPr lang="en-US" altLang="zh-CN" sz="2800" i="0" dirty="0">
                <a:solidFill>
                  <a:srgbClr val="000000"/>
                </a:solidFill>
                <a:effectLst/>
              </a:rPr>
              <a:t>amount of observability data. </a:t>
            </a:r>
          </a:p>
        </p:txBody>
      </p:sp>
    </p:spTree>
    <p:extLst>
      <p:ext uri="{BB962C8B-B14F-4D97-AF65-F5344CB8AC3E}">
        <p14:creationId xmlns:p14="http://schemas.microsoft.com/office/powerpoint/2010/main" val="2611324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8379133" cy="769441"/>
          </a:xfrm>
          <a:prstGeom prst="rect">
            <a:avLst/>
          </a:prstGeom>
          <a:noFill/>
        </p:spPr>
        <p:txBody>
          <a:bodyPr wrap="square" rtlCol="0">
            <a:spAutoFit/>
          </a:bodyPr>
          <a:lstStyle/>
          <a:p>
            <a:r>
              <a:rPr lang="en-US" altLang="zh-CN" sz="4400" dirty="0"/>
              <a:t>1. Research Background</a:t>
            </a:r>
            <a:endParaRPr lang="zh-CN" altLang="en-US" sz="4400" dirty="0"/>
          </a:p>
        </p:txBody>
      </p:sp>
      <p:sp>
        <p:nvSpPr>
          <p:cNvPr id="5" name="文本框 4">
            <a:extLst>
              <a:ext uri="{FF2B5EF4-FFF2-40B4-BE49-F238E27FC236}">
                <a16:creationId xmlns:a16="http://schemas.microsoft.com/office/drawing/2014/main" id="{3268FEFB-03C7-F3AD-054E-C75FAF6B2AB8}"/>
              </a:ext>
            </a:extLst>
          </p:cNvPr>
          <p:cNvSpPr txBox="1"/>
          <p:nvPr/>
        </p:nvSpPr>
        <p:spPr>
          <a:xfrm>
            <a:off x="938049" y="2305615"/>
            <a:ext cx="10315902" cy="2246769"/>
          </a:xfrm>
          <a:prstGeom prst="rect">
            <a:avLst/>
          </a:prstGeom>
          <a:noFill/>
        </p:spPr>
        <p:txBody>
          <a:bodyPr wrap="square" rtlCol="0">
            <a:spAutoFit/>
          </a:bodyPr>
          <a:lstStyle/>
          <a:p>
            <a:pPr algn="just"/>
            <a:r>
              <a:rPr lang="en-US" altLang="zh-CN" sz="2800" b="0" i="0" dirty="0">
                <a:solidFill>
                  <a:srgbClr val="000000"/>
                </a:solidFill>
                <a:effectLst/>
              </a:rPr>
              <a:t> To address the scarcity of fault labels, we examine an extreme RCA scenario where each fault type has only one example (one-shot). We propose </a:t>
            </a:r>
            <a:r>
              <a:rPr lang="en-US" altLang="zh-CN" sz="2800" b="0" i="0" dirty="0" err="1">
                <a:solidFill>
                  <a:srgbClr val="000000"/>
                </a:solidFill>
                <a:effectLst/>
              </a:rPr>
              <a:t>LasRCA</a:t>
            </a:r>
            <a:r>
              <a:rPr lang="en-US" altLang="zh-CN" sz="2800" b="0" i="0" dirty="0">
                <a:solidFill>
                  <a:srgbClr val="000000"/>
                </a:solidFill>
                <a:effectLst/>
              </a:rPr>
              <a:t>, a framework for one hot RCA in cloud-native systems that leverages the collaboration of the large language model (LLM) and the small classifier.</a:t>
            </a:r>
          </a:p>
        </p:txBody>
      </p:sp>
    </p:spTree>
    <p:extLst>
      <p:ext uri="{BB962C8B-B14F-4D97-AF65-F5344CB8AC3E}">
        <p14:creationId xmlns:p14="http://schemas.microsoft.com/office/powerpoint/2010/main" val="955653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8379133" cy="769441"/>
          </a:xfrm>
          <a:prstGeom prst="rect">
            <a:avLst/>
          </a:prstGeom>
          <a:noFill/>
        </p:spPr>
        <p:txBody>
          <a:bodyPr wrap="square" rtlCol="0">
            <a:spAutoFit/>
          </a:bodyPr>
          <a:lstStyle/>
          <a:p>
            <a:r>
              <a:rPr lang="en-US" altLang="zh-CN" sz="4400" dirty="0"/>
              <a:t>2. Challenges </a:t>
            </a:r>
            <a:endParaRPr lang="zh-CN" altLang="en-US" sz="4400" dirty="0"/>
          </a:p>
        </p:txBody>
      </p:sp>
      <p:sp>
        <p:nvSpPr>
          <p:cNvPr id="5" name="文本框 4">
            <a:extLst>
              <a:ext uri="{FF2B5EF4-FFF2-40B4-BE49-F238E27FC236}">
                <a16:creationId xmlns:a16="http://schemas.microsoft.com/office/drawing/2014/main" id="{3268FEFB-03C7-F3AD-054E-C75FAF6B2AB8}"/>
              </a:ext>
            </a:extLst>
          </p:cNvPr>
          <p:cNvSpPr txBox="1"/>
          <p:nvPr/>
        </p:nvSpPr>
        <p:spPr>
          <a:xfrm>
            <a:off x="614683" y="1195851"/>
            <a:ext cx="10962634" cy="5078313"/>
          </a:xfrm>
          <a:prstGeom prst="rect">
            <a:avLst/>
          </a:prstGeom>
          <a:noFill/>
        </p:spPr>
        <p:txBody>
          <a:bodyPr wrap="square" rtlCol="0">
            <a:spAutoFit/>
          </a:bodyPr>
          <a:lstStyle/>
          <a:p>
            <a:pPr lvl="1" algn="l"/>
            <a:r>
              <a:rPr lang="en-US" altLang="zh-CN" sz="2800" b="1" i="0" dirty="0">
                <a:solidFill>
                  <a:srgbClr val="000000"/>
                </a:solidFill>
                <a:effectLst/>
              </a:rPr>
              <a:t>Existing approaches typically rely on unsupervised assumptions or supervised training</a:t>
            </a:r>
            <a:r>
              <a:rPr lang="en-US" altLang="zh-CN" sz="2800" b="1" dirty="0">
                <a:solidFill>
                  <a:srgbClr val="000000"/>
                </a:solidFill>
              </a:rPr>
              <a:t>.</a:t>
            </a:r>
          </a:p>
          <a:p>
            <a:pPr lvl="1" algn="l"/>
            <a:endParaRPr lang="en-US" altLang="zh-CN" sz="2800" b="1" i="0" dirty="0">
              <a:solidFill>
                <a:srgbClr val="000000"/>
              </a:solidFill>
              <a:effectLst/>
            </a:endParaRPr>
          </a:p>
          <a:p>
            <a:pPr marL="742950" lvl="1" indent="-285750" algn="l">
              <a:buFont typeface="Arial" panose="020B0604020202020204" pitchFamily="34" charset="0"/>
              <a:buChar char="•"/>
            </a:pPr>
            <a:r>
              <a:rPr lang="en-US" altLang="zh-CN" sz="2400" b="0" i="0" dirty="0">
                <a:solidFill>
                  <a:srgbClr val="000000"/>
                </a:solidFill>
                <a:effectLst/>
              </a:rPr>
              <a:t>Unsupervised approaches do not need fault labels but are limited by their inability to incorporate fault knowledge for in-depth analysis. They only identify suspect resource entities or observability data. Without advancing to fault types, they often necessitate significant manual intervention. </a:t>
            </a:r>
          </a:p>
          <a:p>
            <a:pPr marL="742950" lvl="1" indent="-285750" algn="l">
              <a:buFont typeface="Arial" panose="020B0604020202020204" pitchFamily="34" charset="0"/>
              <a:buChar char="•"/>
            </a:pPr>
            <a:endParaRPr lang="en-US" altLang="zh-CN" sz="2400" i="0" dirty="0">
              <a:solidFill>
                <a:srgbClr val="000000"/>
              </a:solidFill>
              <a:effectLst/>
              <a:latin typeface="Inter"/>
            </a:endParaRPr>
          </a:p>
          <a:p>
            <a:pPr marL="742950" lvl="1" indent="-285750" algn="l">
              <a:buFont typeface="Arial" panose="020B0604020202020204" pitchFamily="34" charset="0"/>
              <a:buChar char="•"/>
            </a:pPr>
            <a:r>
              <a:rPr lang="en-US" altLang="zh-CN" sz="2400" dirty="0">
                <a:solidFill>
                  <a:srgbClr val="000000"/>
                </a:solidFill>
              </a:rPr>
              <a:t>S</a:t>
            </a:r>
            <a:r>
              <a:rPr lang="en-US" altLang="zh-CN" sz="2400" i="0" dirty="0">
                <a:solidFill>
                  <a:srgbClr val="000000"/>
                </a:solidFill>
                <a:effectLst/>
              </a:rPr>
              <a:t>upervised approaches offer detailed analysis but rely on sufficient fault labels, which are challenging to produce due to the required domain knowledge and time. Typically, the availability of fault labels is moderate. Troubleshooting guides or fault knowledge bases commonly provide a limited number of examples to aid SREs.</a:t>
            </a:r>
          </a:p>
        </p:txBody>
      </p:sp>
    </p:spTree>
    <p:extLst>
      <p:ext uri="{BB962C8B-B14F-4D97-AF65-F5344CB8AC3E}">
        <p14:creationId xmlns:p14="http://schemas.microsoft.com/office/powerpoint/2010/main" val="32401372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8379133" cy="769441"/>
          </a:xfrm>
          <a:prstGeom prst="rect">
            <a:avLst/>
          </a:prstGeom>
          <a:noFill/>
        </p:spPr>
        <p:txBody>
          <a:bodyPr wrap="square" rtlCol="0">
            <a:spAutoFit/>
          </a:bodyPr>
          <a:lstStyle/>
          <a:p>
            <a:r>
              <a:rPr lang="en-US" altLang="zh-CN" sz="4400" dirty="0"/>
              <a:t>3. Problem definition </a:t>
            </a:r>
            <a:endParaRPr lang="zh-CN" altLang="en-US" sz="4400" dirty="0"/>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3268FEFB-03C7-F3AD-054E-C75FAF6B2AB8}"/>
                  </a:ext>
                </a:extLst>
              </p:cNvPr>
              <p:cNvSpPr txBox="1"/>
              <p:nvPr/>
            </p:nvSpPr>
            <p:spPr>
              <a:xfrm>
                <a:off x="614683" y="1195851"/>
                <a:ext cx="10962634" cy="4921284"/>
              </a:xfrm>
              <a:prstGeom prst="rect">
                <a:avLst/>
              </a:prstGeom>
              <a:noFill/>
            </p:spPr>
            <p:txBody>
              <a:bodyPr wrap="square" rtlCol="0">
                <a:spAutoFit/>
              </a:bodyPr>
              <a:lstStyle/>
              <a:p>
                <a:pPr lvl="1"/>
                <a:r>
                  <a:rPr lang="en-US" altLang="zh-CN" sz="2800" b="1" i="0" dirty="0">
                    <a:solidFill>
                      <a:srgbClr val="000000"/>
                    </a:solidFill>
                    <a:effectLst/>
                  </a:rPr>
                  <a:t>We focus on resource entity localization and fault type classification in one-shot RCA. In heterogeneous cloud-native systems, </a:t>
                </a:r>
                <a14:m>
                  <m:oMath xmlns:m="http://schemas.openxmlformats.org/officeDocument/2006/math">
                    <m:r>
                      <a:rPr lang="zh-CN" altLang="en-US" sz="2800" b="1" i="1" smtClean="0">
                        <a:solidFill>
                          <a:srgbClr val="000000"/>
                        </a:solidFill>
                        <a:effectLst/>
                        <a:latin typeface="Cambria Math" panose="02040503050406030204" pitchFamily="18" charset="0"/>
                      </a:rPr>
                      <m:t>𝜺</m:t>
                    </m:r>
                    <m:r>
                      <a:rPr lang="en-US" altLang="zh-CN" sz="2800" b="1" i="1" smtClean="0">
                        <a:solidFill>
                          <a:srgbClr val="000000"/>
                        </a:solidFill>
                        <a:effectLst/>
                        <a:latin typeface="Cambria Math" panose="02040503050406030204" pitchFamily="18" charset="0"/>
                      </a:rPr>
                      <m:t>={</m:t>
                    </m:r>
                    <m:r>
                      <a:rPr lang="en-US" altLang="zh-CN" sz="2800" b="1" i="1" smtClean="0">
                        <a:solidFill>
                          <a:srgbClr val="000000"/>
                        </a:solidFill>
                        <a:effectLst/>
                        <a:latin typeface="Cambria Math" panose="02040503050406030204" pitchFamily="18" charset="0"/>
                      </a:rPr>
                      <m:t>𝒆</m:t>
                    </m:r>
                    <m:r>
                      <a:rPr lang="en-US" altLang="zh-CN" sz="2800" b="1" i="1" smtClean="0">
                        <a:solidFill>
                          <a:srgbClr val="000000"/>
                        </a:solidFill>
                        <a:effectLst/>
                        <a:latin typeface="Cambria Math" panose="02040503050406030204" pitchFamily="18" charset="0"/>
                      </a:rPr>
                      <m:t>|</m:t>
                    </m:r>
                    <m:r>
                      <a:rPr lang="en-US" altLang="zh-CN" sz="2800" b="1" i="1" smtClean="0">
                        <a:solidFill>
                          <a:srgbClr val="000000"/>
                        </a:solidFill>
                        <a:effectLst/>
                        <a:latin typeface="Cambria Math" panose="02040503050406030204" pitchFamily="18" charset="0"/>
                      </a:rPr>
                      <m:t>𝒆</m:t>
                    </m:r>
                    <m:r>
                      <a:rPr lang="en-US" altLang="zh-CN" sz="2800" b="1" i="1" smtClean="0">
                        <a:solidFill>
                          <a:srgbClr val="000000"/>
                        </a:solidFill>
                        <a:effectLst/>
                        <a:latin typeface="Cambria Math" panose="02040503050406030204" pitchFamily="18" charset="0"/>
                      </a:rPr>
                      <m:t> </m:t>
                    </m:r>
                    <m:r>
                      <a:rPr lang="zh-CN" altLang="en-US" sz="2800" b="1" i="1" smtClean="0">
                        <a:solidFill>
                          <a:srgbClr val="000000"/>
                        </a:solidFill>
                        <a:effectLst/>
                        <a:latin typeface="Cambria Math" panose="02040503050406030204" pitchFamily="18" charset="0"/>
                      </a:rPr>
                      <m:t>𝝐</m:t>
                    </m:r>
                    <m:sSub>
                      <m:sSubPr>
                        <m:ctrlPr>
                          <a:rPr lang="en-US" altLang="zh-CN" sz="2800" b="1" i="1" smtClean="0">
                            <a:solidFill>
                              <a:srgbClr val="000000"/>
                            </a:solidFill>
                            <a:effectLst/>
                            <a:latin typeface="Cambria Math" panose="02040503050406030204" pitchFamily="18" charset="0"/>
                          </a:rPr>
                        </m:ctrlPr>
                      </m:sSubPr>
                      <m:e>
                        <m:r>
                          <a:rPr lang="en-US" altLang="zh-CN" sz="2800" b="1" i="1" smtClean="0">
                            <a:solidFill>
                              <a:srgbClr val="000000"/>
                            </a:solidFill>
                            <a:effectLst/>
                            <a:latin typeface="Cambria Math" panose="02040503050406030204" pitchFamily="18" charset="0"/>
                          </a:rPr>
                          <m:t> </m:t>
                        </m:r>
                        <m:r>
                          <a:rPr lang="zh-CN" altLang="en-US" sz="2800" b="1" i="1" smtClean="0">
                            <a:solidFill>
                              <a:srgbClr val="000000"/>
                            </a:solidFill>
                            <a:effectLst/>
                            <a:latin typeface="Cambria Math" panose="02040503050406030204" pitchFamily="18" charset="0"/>
                          </a:rPr>
                          <m:t>𝜺</m:t>
                        </m:r>
                      </m:e>
                      <m:sub>
                        <m:r>
                          <a:rPr lang="en-US" altLang="zh-CN" sz="2800" b="1" i="1" smtClean="0">
                            <a:solidFill>
                              <a:srgbClr val="000000"/>
                            </a:solidFill>
                            <a:effectLst/>
                            <a:latin typeface="Cambria Math" panose="02040503050406030204" pitchFamily="18" charset="0"/>
                          </a:rPr>
                          <m:t>𝒊</m:t>
                        </m:r>
                      </m:sub>
                    </m:sSub>
                    <m:r>
                      <a:rPr lang="en-US" altLang="zh-CN" sz="2800" b="1" i="1" smtClean="0">
                        <a:solidFill>
                          <a:srgbClr val="000000"/>
                        </a:solidFill>
                        <a:effectLst/>
                        <a:latin typeface="Cambria Math" panose="02040503050406030204" pitchFamily="18" charset="0"/>
                      </a:rPr>
                      <m:t>,</m:t>
                    </m:r>
                    <m:r>
                      <a:rPr lang="en-US" altLang="zh-CN" sz="2800" b="1" i="1" smtClean="0">
                        <a:solidFill>
                          <a:srgbClr val="000000"/>
                        </a:solidFill>
                        <a:effectLst/>
                        <a:latin typeface="Cambria Math" panose="02040503050406030204" pitchFamily="18" charset="0"/>
                      </a:rPr>
                      <m:t>𝟏</m:t>
                    </m:r>
                    <m:r>
                      <a:rPr lang="en-US" altLang="zh-CN" sz="2800" b="1" i="1" smtClean="0">
                        <a:solidFill>
                          <a:srgbClr val="000000"/>
                        </a:solidFill>
                        <a:effectLst/>
                        <a:latin typeface="Cambria Math" panose="02040503050406030204" pitchFamily="18" charset="0"/>
                        <a:ea typeface="Cambria Math" panose="02040503050406030204" pitchFamily="18" charset="0"/>
                      </a:rPr>
                      <m:t>≤</m:t>
                    </m:r>
                    <m:r>
                      <a:rPr lang="en-US" altLang="zh-CN" sz="2800" b="1" i="1" smtClean="0">
                        <a:solidFill>
                          <a:srgbClr val="000000"/>
                        </a:solidFill>
                        <a:effectLst/>
                        <a:latin typeface="Cambria Math" panose="02040503050406030204" pitchFamily="18" charset="0"/>
                        <a:ea typeface="Cambria Math" panose="02040503050406030204" pitchFamily="18" charset="0"/>
                      </a:rPr>
                      <m:t>𝒊</m:t>
                    </m:r>
                    <m:r>
                      <a:rPr lang="en-US" altLang="zh-CN" sz="2800" b="1" i="1" smtClean="0">
                        <a:solidFill>
                          <a:srgbClr val="000000"/>
                        </a:solidFill>
                        <a:effectLst/>
                        <a:latin typeface="Cambria Math" panose="02040503050406030204" pitchFamily="18" charset="0"/>
                        <a:ea typeface="Cambria Math" panose="02040503050406030204" pitchFamily="18" charset="0"/>
                      </a:rPr>
                      <m:t>≤</m:t>
                    </m:r>
                    <m:r>
                      <a:rPr lang="en-US" altLang="zh-CN" sz="2800" b="1" i="1" smtClean="0">
                        <a:solidFill>
                          <a:srgbClr val="000000"/>
                        </a:solidFill>
                        <a:effectLst/>
                        <a:latin typeface="Cambria Math" panose="02040503050406030204" pitchFamily="18" charset="0"/>
                        <a:ea typeface="Cambria Math" panose="02040503050406030204" pitchFamily="18" charset="0"/>
                      </a:rPr>
                      <m:t>𝒌</m:t>
                    </m:r>
                    <m:r>
                      <a:rPr lang="en-US" altLang="zh-CN" sz="2800" b="1" i="1" smtClean="0">
                        <a:solidFill>
                          <a:srgbClr val="000000"/>
                        </a:solidFill>
                        <a:effectLst/>
                        <a:latin typeface="Cambria Math" panose="02040503050406030204" pitchFamily="18" charset="0"/>
                      </a:rPr>
                      <m:t>}</m:t>
                    </m:r>
                  </m:oMath>
                </a14:m>
                <a:r>
                  <a:rPr lang="en-US" altLang="zh-CN" sz="2800" b="1" dirty="0">
                    <a:solidFill>
                      <a:srgbClr val="000000"/>
                    </a:solidFill>
                  </a:rPr>
                  <a:t> denotes the set of resource entities.</a:t>
                </a:r>
              </a:p>
              <a:p>
                <a:pPr lvl="1"/>
                <a:endParaRPr lang="en-US" altLang="zh-CN" sz="2800" b="1" i="0" dirty="0">
                  <a:solidFill>
                    <a:srgbClr val="000000"/>
                  </a:solidFill>
                  <a:effectLst/>
                </a:endParaRPr>
              </a:p>
              <a:p>
                <a:pPr marL="742950" lvl="1" indent="-285750" algn="l">
                  <a:buFont typeface="Arial" panose="020B0604020202020204" pitchFamily="34" charset="0"/>
                  <a:buChar char="•"/>
                </a:pPr>
                <a:r>
                  <a:rPr lang="en-US" altLang="zh-CN" sz="2400" b="1" i="0" dirty="0">
                    <a:solidFill>
                      <a:srgbClr val="000000"/>
                    </a:solidFill>
                    <a:effectLst/>
                  </a:rPr>
                  <a:t>Resource entity localization:</a:t>
                </a:r>
                <a:r>
                  <a:rPr lang="en-US" altLang="zh-CN" sz="2400" b="0" i="0" dirty="0">
                    <a:solidFill>
                      <a:srgbClr val="000000"/>
                    </a:solidFill>
                    <a:effectLst/>
                  </a:rPr>
                  <a:t> Find the subset of resource entities </a:t>
                </a:r>
                <a14:m>
                  <m:oMath xmlns:m="http://schemas.openxmlformats.org/officeDocument/2006/math">
                    <m:sSub>
                      <m:sSubPr>
                        <m:ctrlPr>
                          <a:rPr lang="en-US" altLang="zh-CN" sz="2400" b="0" i="1" dirty="0" smtClean="0">
                            <a:solidFill>
                              <a:srgbClr val="000000"/>
                            </a:solidFill>
                            <a:effectLst/>
                            <a:latin typeface="Cambria Math" panose="02040503050406030204" pitchFamily="18" charset="0"/>
                          </a:rPr>
                        </m:ctrlPr>
                      </m:sSubPr>
                      <m:e>
                        <m:r>
                          <a:rPr lang="zh-CN" altLang="en-US" sz="2400" b="0" i="1" dirty="0" smtClean="0">
                            <a:solidFill>
                              <a:srgbClr val="000000"/>
                            </a:solidFill>
                            <a:effectLst/>
                            <a:latin typeface="Cambria Math" panose="02040503050406030204" pitchFamily="18" charset="0"/>
                          </a:rPr>
                          <m:t>𝜀</m:t>
                        </m:r>
                      </m:e>
                      <m:sub>
                        <m:r>
                          <a:rPr lang="en-US" altLang="zh-CN" sz="2400" b="0" i="1" dirty="0" smtClean="0">
                            <a:solidFill>
                              <a:srgbClr val="000000"/>
                            </a:solidFill>
                            <a:effectLst/>
                            <a:latin typeface="Cambria Math" panose="02040503050406030204" pitchFamily="18" charset="0"/>
                          </a:rPr>
                          <m:t>𝑠𝑢𝑏</m:t>
                        </m:r>
                      </m:sub>
                    </m:sSub>
                    <m:r>
                      <a:rPr lang="en-US" altLang="zh-CN" sz="2400" b="0" i="1" dirty="0" smtClean="0">
                        <a:solidFill>
                          <a:srgbClr val="000000"/>
                        </a:solidFill>
                        <a:effectLst/>
                        <a:latin typeface="Cambria Math" panose="02040503050406030204" pitchFamily="18" charset="0"/>
                        <a:ea typeface="Cambria Math" panose="02040503050406030204" pitchFamily="18" charset="0"/>
                      </a:rPr>
                      <m:t>⊆</m:t>
                    </m:r>
                    <m:r>
                      <a:rPr lang="zh-CN" altLang="en-US" sz="2400" b="0" i="1" dirty="0" smtClean="0">
                        <a:solidFill>
                          <a:srgbClr val="000000"/>
                        </a:solidFill>
                        <a:effectLst/>
                        <a:latin typeface="Cambria Math" panose="02040503050406030204" pitchFamily="18" charset="0"/>
                        <a:ea typeface="Cambria Math" panose="02040503050406030204" pitchFamily="18" charset="0"/>
                      </a:rPr>
                      <m:t>𝜀</m:t>
                    </m:r>
                    <m:r>
                      <a:rPr lang="en-US" altLang="zh-CN" sz="2400" b="0" i="1" dirty="0" smtClean="0">
                        <a:solidFill>
                          <a:srgbClr val="000000"/>
                        </a:solidFill>
                        <a:effectLst/>
                        <a:latin typeface="Cambria Math" panose="02040503050406030204" pitchFamily="18" charset="0"/>
                        <a:ea typeface="Cambria Math" panose="02040503050406030204" pitchFamily="18" charset="0"/>
                      </a:rPr>
                      <m:t> </m:t>
                    </m:r>
                  </m:oMath>
                </a14:m>
                <a:r>
                  <a:rPr lang="en-US" altLang="zh-CN" sz="2400" b="0" i="0" dirty="0">
                    <a:solidFill>
                      <a:srgbClr val="000000"/>
                    </a:solidFill>
                    <a:effectLst/>
                  </a:rPr>
                  <a:t>where the fault occurs.</a:t>
                </a:r>
              </a:p>
              <a:p>
                <a:pPr marL="742950" lvl="1" indent="-285750" algn="l">
                  <a:buFont typeface="Arial" panose="020B0604020202020204" pitchFamily="34" charset="0"/>
                  <a:buChar char="•"/>
                </a:pPr>
                <a:endParaRPr lang="en-US" altLang="zh-CN" sz="2400" i="0" dirty="0">
                  <a:solidFill>
                    <a:srgbClr val="000000"/>
                  </a:solidFill>
                  <a:effectLst/>
                  <a:latin typeface="Inter"/>
                </a:endParaRPr>
              </a:p>
              <a:p>
                <a:pPr marL="742950" lvl="1" indent="-285750">
                  <a:buFont typeface="Arial" panose="020B0604020202020204" pitchFamily="34" charset="0"/>
                  <a:buChar char="•"/>
                </a:pPr>
                <a:r>
                  <a:rPr lang="en-US" altLang="zh-CN" sz="2400" b="1" dirty="0">
                    <a:solidFill>
                      <a:srgbClr val="000000"/>
                    </a:solidFill>
                  </a:rPr>
                  <a:t>Fault type classification: </a:t>
                </a:r>
                <a:r>
                  <a:rPr lang="en-US" altLang="zh-CN" sz="2400" dirty="0">
                    <a:solidFill>
                      <a:srgbClr val="000000"/>
                    </a:solidFill>
                  </a:rPr>
                  <a:t>For each resource entity </a:t>
                </a:r>
                <a:r>
                  <a:rPr lang="zh-CN" altLang="en-US" sz="2400" dirty="0">
                    <a:solidFill>
                      <a:srgbClr val="000000"/>
                    </a:solidFill>
                  </a:rPr>
                  <a:t>𝑒 </a:t>
                </a:r>
                <a:r>
                  <a:rPr lang="en-US" altLang="zh-CN" sz="2400" dirty="0">
                    <a:solidFill>
                      <a:srgbClr val="000000"/>
                    </a:solidFill>
                  </a:rPr>
                  <a:t>of the </a:t>
                </a:r>
                <a14:m>
                  <m:oMath xmlns:m="http://schemas.openxmlformats.org/officeDocument/2006/math">
                    <m:sSup>
                      <m:sSupPr>
                        <m:ctrlPr>
                          <a:rPr lang="en-US" altLang="zh-CN" sz="2400" i="1" dirty="0" smtClean="0">
                            <a:solidFill>
                              <a:srgbClr val="000000"/>
                            </a:solidFill>
                            <a:latin typeface="Cambria Math" panose="02040503050406030204" pitchFamily="18" charset="0"/>
                          </a:rPr>
                        </m:ctrlPr>
                      </m:sSupPr>
                      <m:e>
                        <m:r>
                          <a:rPr lang="en-US" altLang="zh-CN" sz="2400" b="0" i="1" dirty="0" smtClean="0">
                            <a:solidFill>
                              <a:srgbClr val="000000"/>
                            </a:solidFill>
                            <a:latin typeface="Cambria Math" panose="02040503050406030204" pitchFamily="18" charset="0"/>
                          </a:rPr>
                          <m:t>𝑖</m:t>
                        </m:r>
                      </m:e>
                      <m:sup>
                        <m:r>
                          <a:rPr lang="en-US" altLang="zh-CN" sz="2400" b="0" i="1" dirty="0" smtClean="0">
                            <a:solidFill>
                              <a:srgbClr val="000000"/>
                            </a:solidFill>
                            <a:latin typeface="Cambria Math" panose="02040503050406030204" pitchFamily="18" charset="0"/>
                          </a:rPr>
                          <m:t>𝑡h</m:t>
                        </m:r>
                      </m:sup>
                    </m:sSup>
                  </m:oMath>
                </a14:m>
                <a:r>
                  <a:rPr lang="en-US" altLang="zh-CN" sz="2400" dirty="0">
                    <a:solidFill>
                      <a:srgbClr val="000000"/>
                    </a:solidFill>
                  </a:rPr>
                  <a:t> resource entity type, identify its fault type vector </a:t>
                </a:r>
                <a14:m>
                  <m:oMath xmlns:m="http://schemas.openxmlformats.org/officeDocument/2006/math">
                    <m:sSub>
                      <m:sSubPr>
                        <m:ctrlPr>
                          <a:rPr lang="en-US" altLang="zh-CN" sz="2400" i="1" dirty="0" smtClean="0">
                            <a:solidFill>
                              <a:srgbClr val="000000"/>
                            </a:solidFill>
                            <a:latin typeface="Cambria Math" panose="02040503050406030204" pitchFamily="18" charset="0"/>
                          </a:rPr>
                        </m:ctrlPr>
                      </m:sSubPr>
                      <m:e>
                        <m:r>
                          <a:rPr lang="en-US" altLang="zh-CN" sz="2400" b="0" i="1" dirty="0" smtClean="0">
                            <a:solidFill>
                              <a:srgbClr val="000000"/>
                            </a:solidFill>
                            <a:latin typeface="Cambria Math" panose="02040503050406030204" pitchFamily="18" charset="0"/>
                          </a:rPr>
                          <m:t>𝑓</m:t>
                        </m:r>
                      </m:e>
                      <m:sub>
                        <m:r>
                          <a:rPr lang="en-US" altLang="zh-CN" sz="2400" b="0" i="1" dirty="0" smtClean="0">
                            <a:solidFill>
                              <a:srgbClr val="000000"/>
                            </a:solidFill>
                            <a:latin typeface="Cambria Math" panose="02040503050406030204" pitchFamily="18" charset="0"/>
                          </a:rPr>
                          <m:t>𝑒</m:t>
                        </m:r>
                      </m:sub>
                    </m:sSub>
                    <m:r>
                      <a:rPr lang="zh-CN" altLang="en-US" sz="2400" i="1" dirty="0" smtClean="0">
                        <a:solidFill>
                          <a:srgbClr val="000000"/>
                        </a:solidFill>
                        <a:latin typeface="Cambria Math" panose="02040503050406030204" pitchFamily="18" charset="0"/>
                      </a:rPr>
                      <m:t> ∈ </m:t>
                    </m:r>
                    <m:sSup>
                      <m:sSupPr>
                        <m:ctrlPr>
                          <a:rPr lang="en-US" altLang="zh-CN" sz="2400" i="1" dirty="0" smtClean="0">
                            <a:solidFill>
                              <a:srgbClr val="000000"/>
                            </a:solidFill>
                            <a:latin typeface="Cambria Math" panose="02040503050406030204" pitchFamily="18" charset="0"/>
                          </a:rPr>
                        </m:ctrlPr>
                      </m:sSupPr>
                      <m:e>
                        <m:r>
                          <a:rPr lang="en-US" altLang="zh-CN" sz="2400" b="0" i="1" dirty="0" smtClean="0">
                            <a:solidFill>
                              <a:srgbClr val="000000"/>
                            </a:solidFill>
                            <a:latin typeface="Cambria Math" panose="02040503050406030204" pitchFamily="18" charset="0"/>
                          </a:rPr>
                          <m:t>{0,1}</m:t>
                        </m:r>
                      </m:e>
                      <m:sup>
                        <m:r>
                          <a:rPr lang="en-US" altLang="zh-CN" sz="2400" b="0" i="1" dirty="0" smtClean="0">
                            <a:solidFill>
                              <a:srgbClr val="000000"/>
                            </a:solidFill>
                            <a:latin typeface="Cambria Math" panose="02040503050406030204" pitchFamily="18" charset="0"/>
                          </a:rPr>
                          <m:t>|</m:t>
                        </m:r>
                        <m:sSub>
                          <m:sSubPr>
                            <m:ctrlPr>
                              <a:rPr lang="en-US" altLang="zh-CN" sz="2400" b="0" i="1" dirty="0" smtClean="0">
                                <a:solidFill>
                                  <a:srgbClr val="000000"/>
                                </a:solidFill>
                                <a:latin typeface="Cambria Math" panose="02040503050406030204" pitchFamily="18" charset="0"/>
                              </a:rPr>
                            </m:ctrlPr>
                          </m:sSubPr>
                          <m:e>
                            <m:r>
                              <a:rPr lang="en-US" altLang="zh-CN" sz="2400" b="0" i="1" dirty="0" smtClean="0">
                                <a:solidFill>
                                  <a:srgbClr val="000000"/>
                                </a:solidFill>
                                <a:latin typeface="Cambria Math" panose="02040503050406030204" pitchFamily="18" charset="0"/>
                              </a:rPr>
                              <m:t>𝐹</m:t>
                            </m:r>
                          </m:e>
                          <m:sub>
                            <m:r>
                              <a:rPr lang="en-US" altLang="zh-CN" sz="2400" b="0" i="1" dirty="0" smtClean="0">
                                <a:solidFill>
                                  <a:srgbClr val="000000"/>
                                </a:solidFill>
                                <a:latin typeface="Cambria Math" panose="02040503050406030204" pitchFamily="18" charset="0"/>
                              </a:rPr>
                              <m:t>𝑖</m:t>
                            </m:r>
                          </m:sub>
                        </m:sSub>
                        <m:r>
                          <a:rPr lang="en-US" altLang="zh-CN" sz="2400" b="0" i="1" dirty="0" smtClean="0">
                            <a:solidFill>
                              <a:srgbClr val="000000"/>
                            </a:solidFill>
                            <a:latin typeface="Cambria Math" panose="02040503050406030204" pitchFamily="18" charset="0"/>
                          </a:rPr>
                          <m:t>|</m:t>
                        </m:r>
                      </m:sup>
                    </m:sSup>
                    <m:r>
                      <a:rPr lang="en-US" altLang="zh-CN" sz="2400" i="1" dirty="0" smtClean="0">
                        <a:solidFill>
                          <a:srgbClr val="000000"/>
                        </a:solidFill>
                        <a:latin typeface="Cambria Math" panose="02040503050406030204" pitchFamily="18" charset="0"/>
                      </a:rPr>
                      <m:t> </m:t>
                    </m:r>
                  </m:oMath>
                </a14:m>
                <a:r>
                  <a:rPr lang="en-US" altLang="zh-CN" sz="2400" dirty="0">
                    <a:solidFill>
                      <a:srgbClr val="000000"/>
                    </a:solidFill>
                  </a:rPr>
                  <a:t>where |</a:t>
                </a:r>
                <a14:m>
                  <m:oMath xmlns:m="http://schemas.openxmlformats.org/officeDocument/2006/math">
                    <m:sSub>
                      <m:sSubPr>
                        <m:ctrlPr>
                          <a:rPr lang="en-US" altLang="zh-CN" sz="2400" i="1" dirty="0">
                            <a:solidFill>
                              <a:srgbClr val="000000"/>
                            </a:solidFill>
                            <a:latin typeface="Cambria Math" panose="02040503050406030204" pitchFamily="18" charset="0"/>
                          </a:rPr>
                        </m:ctrlPr>
                      </m:sSubPr>
                      <m:e>
                        <m:r>
                          <a:rPr lang="en-US" altLang="zh-CN" sz="2400" i="1" dirty="0">
                            <a:solidFill>
                              <a:srgbClr val="000000"/>
                            </a:solidFill>
                            <a:latin typeface="Cambria Math" panose="02040503050406030204" pitchFamily="18" charset="0"/>
                          </a:rPr>
                          <m:t>𝐹</m:t>
                        </m:r>
                      </m:e>
                      <m:sub>
                        <m:r>
                          <a:rPr lang="en-US" altLang="zh-CN" sz="2400" i="1" dirty="0">
                            <a:solidFill>
                              <a:srgbClr val="000000"/>
                            </a:solidFill>
                            <a:latin typeface="Cambria Math" panose="02040503050406030204" pitchFamily="18" charset="0"/>
                          </a:rPr>
                          <m:t>𝑖</m:t>
                        </m:r>
                      </m:sub>
                    </m:sSub>
                  </m:oMath>
                </a14:m>
                <a:r>
                  <a:rPr lang="en-US" altLang="zh-CN" sz="2400" dirty="0">
                    <a:solidFill>
                      <a:srgbClr val="000000"/>
                    </a:solidFill>
                  </a:rPr>
                  <a:t>| is the cardinality of </a:t>
                </a:r>
                <a14:m>
                  <m:oMath xmlns:m="http://schemas.openxmlformats.org/officeDocument/2006/math">
                    <m:sSub>
                      <m:sSubPr>
                        <m:ctrlPr>
                          <a:rPr lang="en-US" altLang="zh-CN" sz="2400" i="1" dirty="0">
                            <a:solidFill>
                              <a:srgbClr val="000000"/>
                            </a:solidFill>
                            <a:latin typeface="Cambria Math" panose="02040503050406030204" pitchFamily="18" charset="0"/>
                          </a:rPr>
                        </m:ctrlPr>
                      </m:sSubPr>
                      <m:e>
                        <m:r>
                          <a:rPr lang="en-US" altLang="zh-CN" sz="2400" i="1" dirty="0">
                            <a:solidFill>
                              <a:srgbClr val="000000"/>
                            </a:solidFill>
                            <a:latin typeface="Cambria Math" panose="02040503050406030204" pitchFamily="18" charset="0"/>
                          </a:rPr>
                          <m:t>𝐹</m:t>
                        </m:r>
                      </m:e>
                      <m:sub>
                        <m:r>
                          <a:rPr lang="en-US" altLang="zh-CN" sz="2400" i="1" dirty="0">
                            <a:solidFill>
                              <a:srgbClr val="000000"/>
                            </a:solidFill>
                            <a:latin typeface="Cambria Math" panose="02040503050406030204" pitchFamily="18" charset="0"/>
                          </a:rPr>
                          <m:t>𝑖</m:t>
                        </m:r>
                      </m:sub>
                    </m:sSub>
                  </m:oMath>
                </a14:m>
                <a:r>
                  <a:rPr lang="en-US" altLang="zh-CN" sz="2400" dirty="0">
                    <a:solidFill>
                      <a:srgbClr val="000000"/>
                    </a:solidFill>
                  </a:rPr>
                  <a:t>. If the fault is classified as the </a:t>
                </a:r>
                <a14:m>
                  <m:oMath xmlns:m="http://schemas.openxmlformats.org/officeDocument/2006/math">
                    <m:sSup>
                      <m:sSupPr>
                        <m:ctrlPr>
                          <a:rPr lang="en-US" altLang="zh-CN" sz="2400" i="1" dirty="0">
                            <a:solidFill>
                              <a:srgbClr val="000000"/>
                            </a:solidFill>
                            <a:latin typeface="Cambria Math" panose="02040503050406030204" pitchFamily="18" charset="0"/>
                          </a:rPr>
                        </m:ctrlPr>
                      </m:sSupPr>
                      <m:e>
                        <m:r>
                          <a:rPr lang="en-US" altLang="zh-CN" sz="2400" b="0" i="1" dirty="0" smtClean="0">
                            <a:solidFill>
                              <a:srgbClr val="000000"/>
                            </a:solidFill>
                            <a:latin typeface="Cambria Math" panose="02040503050406030204" pitchFamily="18" charset="0"/>
                          </a:rPr>
                          <m:t>𝑗</m:t>
                        </m:r>
                      </m:e>
                      <m:sup>
                        <m:r>
                          <a:rPr lang="en-US" altLang="zh-CN" sz="2400" i="1" dirty="0">
                            <a:solidFill>
                              <a:srgbClr val="000000"/>
                            </a:solidFill>
                            <a:latin typeface="Cambria Math" panose="02040503050406030204" pitchFamily="18" charset="0"/>
                          </a:rPr>
                          <m:t>𝑡h</m:t>
                        </m:r>
                      </m:sup>
                    </m:sSup>
                    <m:r>
                      <a:rPr lang="en-US" altLang="zh-CN" sz="2400" i="1" dirty="0">
                        <a:solidFill>
                          <a:srgbClr val="000000"/>
                        </a:solidFill>
                        <a:latin typeface="Cambria Math" panose="02040503050406030204" pitchFamily="18" charset="0"/>
                      </a:rPr>
                      <m:t> </m:t>
                    </m:r>
                  </m:oMath>
                </a14:m>
                <a:r>
                  <a:rPr lang="en-US" altLang="zh-CN" sz="2400" dirty="0">
                    <a:solidFill>
                      <a:srgbClr val="000000"/>
                    </a:solidFill>
                  </a:rPr>
                  <a:t>type, the </a:t>
                </a:r>
                <a14:m>
                  <m:oMath xmlns:m="http://schemas.openxmlformats.org/officeDocument/2006/math">
                    <m:sSup>
                      <m:sSupPr>
                        <m:ctrlPr>
                          <a:rPr lang="en-US" altLang="zh-CN" sz="2400" i="1" dirty="0">
                            <a:solidFill>
                              <a:srgbClr val="000000"/>
                            </a:solidFill>
                            <a:latin typeface="Cambria Math" panose="02040503050406030204" pitchFamily="18" charset="0"/>
                          </a:rPr>
                        </m:ctrlPr>
                      </m:sSupPr>
                      <m:e>
                        <m:r>
                          <a:rPr lang="en-US" altLang="zh-CN" sz="2400" i="1" dirty="0">
                            <a:solidFill>
                              <a:srgbClr val="000000"/>
                            </a:solidFill>
                            <a:latin typeface="Cambria Math" panose="02040503050406030204" pitchFamily="18" charset="0"/>
                          </a:rPr>
                          <m:t>𝑗</m:t>
                        </m:r>
                      </m:e>
                      <m:sup>
                        <m:r>
                          <a:rPr lang="en-US" altLang="zh-CN" sz="2400" i="1" dirty="0">
                            <a:solidFill>
                              <a:srgbClr val="000000"/>
                            </a:solidFill>
                            <a:latin typeface="Cambria Math" panose="02040503050406030204" pitchFamily="18" charset="0"/>
                          </a:rPr>
                          <m:t>𝑡h</m:t>
                        </m:r>
                      </m:sup>
                    </m:sSup>
                    <m:r>
                      <a:rPr lang="en-US" altLang="zh-CN" sz="2400" i="1" dirty="0">
                        <a:solidFill>
                          <a:srgbClr val="000000"/>
                        </a:solidFill>
                        <a:latin typeface="Cambria Math" panose="02040503050406030204" pitchFamily="18" charset="0"/>
                      </a:rPr>
                      <m:t> </m:t>
                    </m:r>
                  </m:oMath>
                </a14:m>
                <a:r>
                  <a:rPr lang="en-US" altLang="zh-CN" sz="2400" dirty="0">
                    <a:solidFill>
                      <a:srgbClr val="000000"/>
                    </a:solidFill>
                  </a:rPr>
                  <a:t>element of </a:t>
                </a:r>
                <a14:m>
                  <m:oMath xmlns:m="http://schemas.openxmlformats.org/officeDocument/2006/math">
                    <m:sSub>
                      <m:sSubPr>
                        <m:ctrlPr>
                          <a:rPr lang="en-US" altLang="zh-CN" sz="2400" i="1" dirty="0">
                            <a:solidFill>
                              <a:srgbClr val="000000"/>
                            </a:solidFill>
                            <a:latin typeface="Cambria Math" panose="02040503050406030204" pitchFamily="18" charset="0"/>
                          </a:rPr>
                        </m:ctrlPr>
                      </m:sSubPr>
                      <m:e>
                        <m:r>
                          <a:rPr lang="en-US" altLang="zh-CN" sz="2400" i="1" dirty="0">
                            <a:solidFill>
                              <a:srgbClr val="000000"/>
                            </a:solidFill>
                            <a:latin typeface="Cambria Math" panose="02040503050406030204" pitchFamily="18" charset="0"/>
                          </a:rPr>
                          <m:t>𝑓</m:t>
                        </m:r>
                      </m:e>
                      <m:sub>
                        <m:r>
                          <a:rPr lang="en-US" altLang="zh-CN" sz="2400" i="1" dirty="0">
                            <a:solidFill>
                              <a:srgbClr val="000000"/>
                            </a:solidFill>
                            <a:latin typeface="Cambria Math" panose="02040503050406030204" pitchFamily="18" charset="0"/>
                          </a:rPr>
                          <m:t>𝑒</m:t>
                        </m:r>
                      </m:sub>
                    </m:sSub>
                  </m:oMath>
                </a14:m>
                <a:r>
                  <a:rPr lang="zh-CN" altLang="en-US" sz="2400" dirty="0">
                    <a:solidFill>
                      <a:srgbClr val="000000"/>
                    </a:solidFill>
                  </a:rPr>
                  <a:t> </a:t>
                </a:r>
                <a:r>
                  <a:rPr lang="en-US" altLang="zh-CN" sz="2400" dirty="0">
                    <a:solidFill>
                      <a:srgbClr val="000000"/>
                    </a:solidFill>
                  </a:rPr>
                  <a:t>is 1. Otherwise, it is 0.</a:t>
                </a:r>
                <a:endParaRPr lang="en-US" altLang="zh-CN" sz="2400" i="0" dirty="0">
                  <a:solidFill>
                    <a:srgbClr val="000000"/>
                  </a:solidFill>
                  <a:effectLst/>
                </a:endParaRPr>
              </a:p>
            </p:txBody>
          </p:sp>
        </mc:Choice>
        <mc:Fallback xmlns="">
          <p:sp>
            <p:nvSpPr>
              <p:cNvPr id="5" name="文本框 4">
                <a:extLst>
                  <a:ext uri="{FF2B5EF4-FFF2-40B4-BE49-F238E27FC236}">
                    <a16:creationId xmlns:a16="http://schemas.microsoft.com/office/drawing/2014/main" id="{3268FEFB-03C7-F3AD-054E-C75FAF6B2AB8}"/>
                  </a:ext>
                </a:extLst>
              </p:cNvPr>
              <p:cNvSpPr txBox="1">
                <a:spLocks noRot="1" noChangeAspect="1" noMove="1" noResize="1" noEditPoints="1" noAdjustHandles="1" noChangeArrowheads="1" noChangeShapeType="1" noTextEdit="1"/>
              </p:cNvSpPr>
              <p:nvPr/>
            </p:nvSpPr>
            <p:spPr>
              <a:xfrm>
                <a:off x="614683" y="1195851"/>
                <a:ext cx="10962634" cy="4921284"/>
              </a:xfrm>
              <a:prstGeom prst="rect">
                <a:avLst/>
              </a:prstGeom>
              <a:blipFill>
                <a:blip r:embed="rId3"/>
                <a:stretch>
                  <a:fillRect t="-1363" b="-74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93801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8379133" cy="769441"/>
          </a:xfrm>
          <a:prstGeom prst="rect">
            <a:avLst/>
          </a:prstGeom>
          <a:noFill/>
        </p:spPr>
        <p:txBody>
          <a:bodyPr wrap="square" rtlCol="0">
            <a:spAutoFit/>
          </a:bodyPr>
          <a:lstStyle/>
          <a:p>
            <a:r>
              <a:rPr lang="en-US" altLang="zh-CN" sz="4400" dirty="0"/>
              <a:t>4. </a:t>
            </a:r>
            <a:r>
              <a:rPr lang="en-US" altLang="zh-CN" sz="4400" dirty="0" err="1"/>
              <a:t>LasRCA</a:t>
            </a:r>
            <a:r>
              <a:rPr lang="en-US" altLang="zh-CN" sz="4400" dirty="0"/>
              <a:t> Overview </a:t>
            </a:r>
            <a:endParaRPr lang="zh-CN" altLang="en-US" sz="4400" dirty="0"/>
          </a:p>
        </p:txBody>
      </p:sp>
      <p:sp>
        <p:nvSpPr>
          <p:cNvPr id="5" name="文本框 4">
            <a:extLst>
              <a:ext uri="{FF2B5EF4-FFF2-40B4-BE49-F238E27FC236}">
                <a16:creationId xmlns:a16="http://schemas.microsoft.com/office/drawing/2014/main" id="{3268FEFB-03C7-F3AD-054E-C75FAF6B2AB8}"/>
              </a:ext>
            </a:extLst>
          </p:cNvPr>
          <p:cNvSpPr txBox="1"/>
          <p:nvPr/>
        </p:nvSpPr>
        <p:spPr>
          <a:xfrm>
            <a:off x="0" y="1153458"/>
            <a:ext cx="11301573" cy="1200329"/>
          </a:xfrm>
          <a:prstGeom prst="rect">
            <a:avLst/>
          </a:prstGeom>
          <a:noFill/>
        </p:spPr>
        <p:txBody>
          <a:bodyPr wrap="square" rtlCol="0">
            <a:spAutoFit/>
          </a:bodyPr>
          <a:lstStyle/>
          <a:p>
            <a:pPr marL="742950" lvl="1" indent="-285750" algn="l">
              <a:buFont typeface="Arial" panose="020B0604020202020204" pitchFamily="34" charset="0"/>
              <a:buChar char="•"/>
            </a:pPr>
            <a:r>
              <a:rPr lang="en-US" altLang="zh-CN" sz="2400" i="0" dirty="0">
                <a:solidFill>
                  <a:srgbClr val="000000"/>
                </a:solidFill>
                <a:effectLst/>
              </a:rPr>
              <a:t>Figure 4 shows the architecture of </a:t>
            </a:r>
            <a:r>
              <a:rPr lang="en-US" altLang="zh-CN" sz="2400" i="0" dirty="0" err="1">
                <a:solidFill>
                  <a:srgbClr val="000000"/>
                </a:solidFill>
                <a:effectLst/>
              </a:rPr>
              <a:t>LasRCA</a:t>
            </a:r>
            <a:r>
              <a:rPr lang="en-US" altLang="zh-CN" sz="2400" i="0" dirty="0">
                <a:solidFill>
                  <a:srgbClr val="000000"/>
                </a:solidFill>
                <a:effectLst/>
              </a:rPr>
              <a:t>. LLMs, small classifiers, and optionally involved SREs collaborate to perform one-shot RCA, with each assuming different responsibilities in the training and inference stages.</a:t>
            </a:r>
          </a:p>
        </p:txBody>
      </p:sp>
      <p:pic>
        <p:nvPicPr>
          <p:cNvPr id="3" name="图片 2">
            <a:extLst>
              <a:ext uri="{FF2B5EF4-FFF2-40B4-BE49-F238E27FC236}">
                <a16:creationId xmlns:a16="http://schemas.microsoft.com/office/drawing/2014/main" id="{D1936B4E-A653-19F1-BFAB-3D3E2A8EE9BB}"/>
              </a:ext>
            </a:extLst>
          </p:cNvPr>
          <p:cNvPicPr>
            <a:picLocks noChangeAspect="1"/>
          </p:cNvPicPr>
          <p:nvPr/>
        </p:nvPicPr>
        <p:blipFill>
          <a:blip r:embed="rId3"/>
          <a:stretch>
            <a:fillRect/>
          </a:stretch>
        </p:blipFill>
        <p:spPr>
          <a:xfrm>
            <a:off x="660903" y="2813761"/>
            <a:ext cx="10870194" cy="3720603"/>
          </a:xfrm>
          <a:prstGeom prst="rect">
            <a:avLst/>
          </a:prstGeom>
        </p:spPr>
      </p:pic>
    </p:spTree>
    <p:extLst>
      <p:ext uri="{BB962C8B-B14F-4D97-AF65-F5344CB8AC3E}">
        <p14:creationId xmlns:p14="http://schemas.microsoft.com/office/powerpoint/2010/main" val="4204734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8379133" cy="769441"/>
          </a:xfrm>
          <a:prstGeom prst="rect">
            <a:avLst/>
          </a:prstGeom>
          <a:noFill/>
        </p:spPr>
        <p:txBody>
          <a:bodyPr wrap="square" rtlCol="0">
            <a:spAutoFit/>
          </a:bodyPr>
          <a:lstStyle/>
          <a:p>
            <a:r>
              <a:rPr lang="en-US" altLang="zh-CN" sz="4400" dirty="0"/>
              <a:t>4.1 Training Stage</a:t>
            </a:r>
            <a:endParaRPr lang="zh-CN" altLang="en-US" sz="4400" dirty="0"/>
          </a:p>
        </p:txBody>
      </p:sp>
      <p:sp>
        <p:nvSpPr>
          <p:cNvPr id="5" name="文本框 4">
            <a:extLst>
              <a:ext uri="{FF2B5EF4-FFF2-40B4-BE49-F238E27FC236}">
                <a16:creationId xmlns:a16="http://schemas.microsoft.com/office/drawing/2014/main" id="{3268FEFB-03C7-F3AD-054E-C75FAF6B2AB8}"/>
              </a:ext>
            </a:extLst>
          </p:cNvPr>
          <p:cNvSpPr txBox="1"/>
          <p:nvPr/>
        </p:nvSpPr>
        <p:spPr>
          <a:xfrm>
            <a:off x="-123289" y="2813757"/>
            <a:ext cx="5456226" cy="830997"/>
          </a:xfrm>
          <a:prstGeom prst="rect">
            <a:avLst/>
          </a:prstGeom>
          <a:noFill/>
        </p:spPr>
        <p:txBody>
          <a:bodyPr wrap="square" rtlCol="0">
            <a:spAutoFit/>
          </a:bodyPr>
          <a:lstStyle/>
          <a:p>
            <a:pPr marL="742950" lvl="1" indent="-285750" algn="l">
              <a:buFont typeface="Arial" panose="020B0604020202020204" pitchFamily="34" charset="0"/>
              <a:buChar char="•"/>
            </a:pPr>
            <a:endParaRPr lang="en-US" altLang="zh-CN" sz="2400" i="0" dirty="0">
              <a:solidFill>
                <a:srgbClr val="000000"/>
              </a:solidFill>
              <a:effectLst/>
            </a:endParaRPr>
          </a:p>
          <a:p>
            <a:pPr lvl="1" algn="l"/>
            <a:endParaRPr lang="en-US" altLang="zh-CN" sz="2400" i="0" dirty="0">
              <a:solidFill>
                <a:srgbClr val="000000"/>
              </a:solidFill>
              <a:effectLst/>
            </a:endParaRPr>
          </a:p>
        </p:txBody>
      </p:sp>
      <p:sp>
        <p:nvSpPr>
          <p:cNvPr id="18" name="文本框 17">
            <a:extLst>
              <a:ext uri="{FF2B5EF4-FFF2-40B4-BE49-F238E27FC236}">
                <a16:creationId xmlns:a16="http://schemas.microsoft.com/office/drawing/2014/main" id="{A9096387-E5C9-080E-8216-68A82481810D}"/>
              </a:ext>
            </a:extLst>
          </p:cNvPr>
          <p:cNvSpPr txBox="1"/>
          <p:nvPr/>
        </p:nvSpPr>
        <p:spPr>
          <a:xfrm>
            <a:off x="0" y="1127026"/>
            <a:ext cx="6359703" cy="6001643"/>
          </a:xfrm>
          <a:prstGeom prst="rect">
            <a:avLst/>
          </a:prstGeom>
          <a:noFill/>
        </p:spPr>
        <p:txBody>
          <a:bodyPr wrap="square" rtlCol="0">
            <a:spAutoFit/>
          </a:bodyPr>
          <a:lstStyle/>
          <a:p>
            <a:pPr lvl="1">
              <a:spcAft>
                <a:spcPts val="1200"/>
              </a:spcAft>
            </a:pPr>
            <a:r>
              <a:rPr lang="en-US" altLang="zh-CN" sz="2800" dirty="0"/>
              <a:t>In the training stage (Figure 4a), the entire process forms a closed loop, with responsibilities divided as follows</a:t>
            </a:r>
            <a:r>
              <a:rPr lang="zh-CN" altLang="en-US" sz="2800" dirty="0"/>
              <a:t>：</a:t>
            </a:r>
            <a:endParaRPr lang="en-US" altLang="zh-CN" sz="2800" dirty="0"/>
          </a:p>
          <a:p>
            <a:pPr marL="742950" lvl="1" indent="-285750">
              <a:spcAft>
                <a:spcPts val="1200"/>
              </a:spcAft>
              <a:buFont typeface="Arial" panose="020B0604020202020204" pitchFamily="34" charset="0"/>
              <a:buChar char="•"/>
            </a:pPr>
            <a:r>
              <a:rPr lang="en-US" altLang="zh-CN" sz="2800" b="1" dirty="0"/>
              <a:t>Small Classifier: </a:t>
            </a:r>
            <a:r>
              <a:rPr lang="en-US" altLang="zh-CN" sz="2800" dirty="0"/>
              <a:t>The small classifier is the primary optimization target in the training stage and is refined through </a:t>
            </a:r>
            <a:r>
              <a:rPr lang="zh-CN" altLang="en-US" sz="2800" dirty="0"/>
              <a:t>𝑘 </a:t>
            </a:r>
            <a:r>
              <a:rPr lang="en-US" altLang="zh-CN" sz="2800" dirty="0"/>
              <a:t>training iterations. Initially trained on one-shot fault examples, a set of high-confusion data is selected in each iteration. </a:t>
            </a:r>
          </a:p>
          <a:p>
            <a:pPr lvl="1"/>
            <a:endParaRPr lang="en-US" altLang="zh-CN" sz="2800" dirty="0"/>
          </a:p>
          <a:p>
            <a:pPr lvl="1"/>
            <a:endParaRPr lang="en-US" altLang="zh-CN" sz="2800" i="0" dirty="0">
              <a:solidFill>
                <a:srgbClr val="000000"/>
              </a:solidFill>
              <a:effectLst/>
            </a:endParaRPr>
          </a:p>
        </p:txBody>
      </p:sp>
      <p:pic>
        <p:nvPicPr>
          <p:cNvPr id="6" name="图片 5">
            <a:extLst>
              <a:ext uri="{FF2B5EF4-FFF2-40B4-BE49-F238E27FC236}">
                <a16:creationId xmlns:a16="http://schemas.microsoft.com/office/drawing/2014/main" id="{5143A71B-37E5-A326-6153-5568150321E2}"/>
              </a:ext>
            </a:extLst>
          </p:cNvPr>
          <p:cNvPicPr>
            <a:picLocks noChangeAspect="1"/>
          </p:cNvPicPr>
          <p:nvPr/>
        </p:nvPicPr>
        <p:blipFill>
          <a:blip r:embed="rId3"/>
          <a:stretch>
            <a:fillRect/>
          </a:stretch>
        </p:blipFill>
        <p:spPr>
          <a:xfrm>
            <a:off x="6247336" y="1658632"/>
            <a:ext cx="5814524" cy="3540735"/>
          </a:xfrm>
          <a:prstGeom prst="rect">
            <a:avLst/>
          </a:prstGeom>
        </p:spPr>
      </p:pic>
    </p:spTree>
    <p:extLst>
      <p:ext uri="{BB962C8B-B14F-4D97-AF65-F5344CB8AC3E}">
        <p14:creationId xmlns:p14="http://schemas.microsoft.com/office/powerpoint/2010/main" val="307962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8379133" cy="769441"/>
          </a:xfrm>
          <a:prstGeom prst="rect">
            <a:avLst/>
          </a:prstGeom>
          <a:noFill/>
        </p:spPr>
        <p:txBody>
          <a:bodyPr wrap="square" rtlCol="0">
            <a:spAutoFit/>
          </a:bodyPr>
          <a:lstStyle/>
          <a:p>
            <a:r>
              <a:rPr lang="en-US" altLang="zh-CN" sz="4400" dirty="0"/>
              <a:t>4.1 Training Stage</a:t>
            </a:r>
            <a:endParaRPr lang="zh-CN" altLang="en-US" sz="4400" dirty="0"/>
          </a:p>
        </p:txBody>
      </p:sp>
      <p:sp>
        <p:nvSpPr>
          <p:cNvPr id="5" name="文本框 4">
            <a:extLst>
              <a:ext uri="{FF2B5EF4-FFF2-40B4-BE49-F238E27FC236}">
                <a16:creationId xmlns:a16="http://schemas.microsoft.com/office/drawing/2014/main" id="{3268FEFB-03C7-F3AD-054E-C75FAF6B2AB8}"/>
              </a:ext>
            </a:extLst>
          </p:cNvPr>
          <p:cNvSpPr txBox="1"/>
          <p:nvPr/>
        </p:nvSpPr>
        <p:spPr>
          <a:xfrm>
            <a:off x="-123289" y="2813757"/>
            <a:ext cx="5456226" cy="830997"/>
          </a:xfrm>
          <a:prstGeom prst="rect">
            <a:avLst/>
          </a:prstGeom>
          <a:noFill/>
        </p:spPr>
        <p:txBody>
          <a:bodyPr wrap="square" rtlCol="0">
            <a:spAutoFit/>
          </a:bodyPr>
          <a:lstStyle/>
          <a:p>
            <a:pPr marL="742950" lvl="1" indent="-285750" algn="l">
              <a:buFont typeface="Arial" panose="020B0604020202020204" pitchFamily="34" charset="0"/>
              <a:buChar char="•"/>
            </a:pPr>
            <a:endParaRPr lang="en-US" altLang="zh-CN" sz="2400" i="0" dirty="0">
              <a:solidFill>
                <a:srgbClr val="000000"/>
              </a:solidFill>
              <a:effectLst/>
            </a:endParaRPr>
          </a:p>
          <a:p>
            <a:pPr lvl="1" algn="l"/>
            <a:endParaRPr lang="en-US" altLang="zh-CN" sz="2400" i="0" dirty="0">
              <a:solidFill>
                <a:srgbClr val="000000"/>
              </a:solidFill>
              <a:effectLst/>
            </a:endParaRPr>
          </a:p>
        </p:txBody>
      </p:sp>
      <p:sp>
        <p:nvSpPr>
          <p:cNvPr id="18" name="文本框 17">
            <a:extLst>
              <a:ext uri="{FF2B5EF4-FFF2-40B4-BE49-F238E27FC236}">
                <a16:creationId xmlns:a16="http://schemas.microsoft.com/office/drawing/2014/main" id="{A9096387-E5C9-080E-8216-68A82481810D}"/>
              </a:ext>
            </a:extLst>
          </p:cNvPr>
          <p:cNvSpPr txBox="1"/>
          <p:nvPr/>
        </p:nvSpPr>
        <p:spPr>
          <a:xfrm>
            <a:off x="0" y="1127026"/>
            <a:ext cx="6359703" cy="6432530"/>
          </a:xfrm>
          <a:prstGeom prst="rect">
            <a:avLst/>
          </a:prstGeom>
          <a:noFill/>
        </p:spPr>
        <p:txBody>
          <a:bodyPr wrap="square" rtlCol="0">
            <a:spAutoFit/>
          </a:bodyPr>
          <a:lstStyle/>
          <a:p>
            <a:pPr marL="742950" lvl="1" indent="-285750">
              <a:spcAft>
                <a:spcPts val="1200"/>
              </a:spcAft>
              <a:buFont typeface="Arial" panose="020B0604020202020204" pitchFamily="34" charset="0"/>
              <a:buChar char="•"/>
            </a:pPr>
            <a:r>
              <a:rPr lang="en-US" altLang="zh-CN" sz="2800" b="1" dirty="0"/>
              <a:t>LLM: </a:t>
            </a:r>
            <a:r>
              <a:rPr lang="en-US" altLang="zh-CN" sz="2800" dirty="0"/>
              <a:t>Based on troubleshooting guides and one-shot fault examples, the LLM is applied to label the selected data and generate explanations to assist with the corrections if SREs are involved.</a:t>
            </a:r>
          </a:p>
          <a:p>
            <a:pPr marL="742950" lvl="1" indent="-285750">
              <a:spcAft>
                <a:spcPts val="1200"/>
              </a:spcAft>
              <a:buFont typeface="Arial" panose="020B0604020202020204" pitchFamily="34" charset="0"/>
              <a:buChar char="•"/>
            </a:pPr>
            <a:r>
              <a:rPr lang="en-US" altLang="zh-CN" sz="2800" b="1" dirty="0"/>
              <a:t>SRE:</a:t>
            </a:r>
            <a:r>
              <a:rPr lang="en-US" altLang="zh-CN" sz="2800" dirty="0"/>
              <a:t> SREs can enhance the training stage by correcting mislabeled data, analyzing labeling errors, and optimizing prompts and trouble shooting guides for more accurate LLM-driven fault labeling. </a:t>
            </a:r>
          </a:p>
          <a:p>
            <a:pPr lvl="1"/>
            <a:endParaRPr lang="en-US" altLang="zh-CN" sz="2800" dirty="0"/>
          </a:p>
          <a:p>
            <a:pPr lvl="1"/>
            <a:endParaRPr lang="en-US" altLang="zh-CN" sz="2800" i="0" dirty="0">
              <a:solidFill>
                <a:srgbClr val="000000"/>
              </a:solidFill>
              <a:effectLst/>
            </a:endParaRPr>
          </a:p>
        </p:txBody>
      </p:sp>
      <p:pic>
        <p:nvPicPr>
          <p:cNvPr id="6" name="图片 5">
            <a:extLst>
              <a:ext uri="{FF2B5EF4-FFF2-40B4-BE49-F238E27FC236}">
                <a16:creationId xmlns:a16="http://schemas.microsoft.com/office/drawing/2014/main" id="{5143A71B-37E5-A326-6153-5568150321E2}"/>
              </a:ext>
            </a:extLst>
          </p:cNvPr>
          <p:cNvPicPr>
            <a:picLocks noChangeAspect="1"/>
          </p:cNvPicPr>
          <p:nvPr/>
        </p:nvPicPr>
        <p:blipFill>
          <a:blip r:embed="rId3"/>
          <a:stretch>
            <a:fillRect/>
          </a:stretch>
        </p:blipFill>
        <p:spPr>
          <a:xfrm>
            <a:off x="6247336" y="1658632"/>
            <a:ext cx="5814524" cy="3540735"/>
          </a:xfrm>
          <a:prstGeom prst="rect">
            <a:avLst/>
          </a:prstGeom>
        </p:spPr>
      </p:pic>
    </p:spTree>
    <p:extLst>
      <p:ext uri="{BB962C8B-B14F-4D97-AF65-F5344CB8AC3E}">
        <p14:creationId xmlns:p14="http://schemas.microsoft.com/office/powerpoint/2010/main" val="1842574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EE3B6F82-1E07-8F45-A55C-14FC55486F8E}"/>
              </a:ext>
            </a:extLst>
          </p:cNvPr>
          <p:cNvPicPr>
            <a:picLocks noChangeAspect="1"/>
          </p:cNvPicPr>
          <p:nvPr/>
        </p:nvPicPr>
        <p:blipFill>
          <a:blip r:embed="rId3"/>
          <a:stretch>
            <a:fillRect/>
          </a:stretch>
        </p:blipFill>
        <p:spPr>
          <a:xfrm>
            <a:off x="6524089" y="1235993"/>
            <a:ext cx="5442657" cy="5110897"/>
          </a:xfrm>
          <a:prstGeom prst="rect">
            <a:avLst/>
          </a:prstGeom>
        </p:spPr>
      </p:pic>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10118385" cy="769441"/>
          </a:xfrm>
          <a:prstGeom prst="rect">
            <a:avLst/>
          </a:prstGeom>
          <a:noFill/>
        </p:spPr>
        <p:txBody>
          <a:bodyPr wrap="square" rtlCol="0">
            <a:spAutoFit/>
          </a:bodyPr>
          <a:lstStyle/>
          <a:p>
            <a:r>
              <a:rPr lang="en-US" altLang="zh-CN" sz="4400" dirty="0"/>
              <a:t>4.1.1 LLM-Driven Fault Labeling</a:t>
            </a:r>
            <a:endParaRPr lang="zh-CN" altLang="en-US" sz="4400" dirty="0"/>
          </a:p>
        </p:txBody>
      </p:sp>
      <p:sp>
        <p:nvSpPr>
          <p:cNvPr id="18" name="文本框 17">
            <a:extLst>
              <a:ext uri="{FF2B5EF4-FFF2-40B4-BE49-F238E27FC236}">
                <a16:creationId xmlns:a16="http://schemas.microsoft.com/office/drawing/2014/main" id="{A9096387-E5C9-080E-8216-68A82481810D}"/>
              </a:ext>
            </a:extLst>
          </p:cNvPr>
          <p:cNvSpPr txBox="1"/>
          <p:nvPr/>
        </p:nvSpPr>
        <p:spPr>
          <a:xfrm>
            <a:off x="66138" y="1127030"/>
            <a:ext cx="6601790" cy="5416868"/>
          </a:xfrm>
          <a:prstGeom prst="rect">
            <a:avLst/>
          </a:prstGeom>
          <a:noFill/>
        </p:spPr>
        <p:txBody>
          <a:bodyPr wrap="square" rtlCol="0">
            <a:spAutoFit/>
          </a:bodyPr>
          <a:lstStyle/>
          <a:p>
            <a:pPr marL="742950" lvl="1" indent="-285750">
              <a:spcAft>
                <a:spcPts val="1200"/>
              </a:spcAft>
              <a:buFont typeface="Arial" panose="020B0604020202020204" pitchFamily="34" charset="0"/>
              <a:buChar char="•"/>
            </a:pPr>
            <a:r>
              <a:rPr lang="en-US" altLang="zh-CN" sz="2400" b="1" dirty="0" err="1"/>
              <a:t>LLMFaultTypeMatching</a:t>
            </a:r>
            <a:r>
              <a:rPr lang="en-US" altLang="zh-CN" sz="2400" b="1" dirty="0"/>
              <a:t>:</a:t>
            </a:r>
            <a:r>
              <a:rPr lang="en-US" altLang="zh-CN" sz="2400" dirty="0"/>
              <a:t> This function uses an LLM to analyze fault characteristics in various aspects of resource entities (</a:t>
            </a:r>
            <a:r>
              <a:rPr lang="en-US" altLang="zh-CN" sz="2400" dirty="0" err="1"/>
              <a:t>e.g.,CPU</a:t>
            </a:r>
            <a:r>
              <a:rPr lang="en-US" altLang="zh-CN" sz="2400" dirty="0"/>
              <a:t>, Memory, and Network).</a:t>
            </a:r>
          </a:p>
          <a:p>
            <a:pPr marL="742950" lvl="1" indent="-285750">
              <a:buFont typeface="Arial" panose="020B0604020202020204" pitchFamily="34" charset="0"/>
              <a:buChar char="•"/>
            </a:pPr>
            <a:r>
              <a:rPr lang="en-US" altLang="zh-CN" sz="2400" b="1" i="0" dirty="0" err="1">
                <a:solidFill>
                  <a:srgbClr val="000000"/>
                </a:solidFill>
                <a:effectLst/>
              </a:rPr>
              <a:t>LLMEntityLevelAnalysis</a:t>
            </a:r>
            <a:r>
              <a:rPr lang="en-US" altLang="zh-CN" sz="2400" b="1" i="0" dirty="0">
                <a:solidFill>
                  <a:srgbClr val="000000"/>
                </a:solidFill>
                <a:effectLst/>
              </a:rPr>
              <a:t>:</a:t>
            </a:r>
            <a:r>
              <a:rPr lang="en-US" altLang="zh-CN" sz="2400" i="0" dirty="0">
                <a:solidFill>
                  <a:srgbClr val="000000"/>
                </a:solidFill>
                <a:effectLst/>
              </a:rPr>
              <a:t> This function provides a holistic analysis of the resource entity. This process ultimately determines the overall fault type of the entity through a reasoning chain.	</a:t>
            </a:r>
          </a:p>
          <a:p>
            <a:pPr marL="742950" lvl="1" indent="-285750">
              <a:buFont typeface="Arial" panose="020B0604020202020204" pitchFamily="34" charset="0"/>
              <a:buChar char="•"/>
            </a:pPr>
            <a:r>
              <a:rPr lang="en-US" altLang="zh-CN" sz="2400" b="1" i="0" dirty="0" err="1">
                <a:solidFill>
                  <a:srgbClr val="000000"/>
                </a:solidFill>
                <a:effectLst/>
              </a:rPr>
              <a:t>LLMGraphLevelAnalysis</a:t>
            </a:r>
            <a:r>
              <a:rPr lang="en-US" altLang="zh-CN" sz="2400" b="1" i="0" dirty="0">
                <a:solidFill>
                  <a:srgbClr val="000000"/>
                </a:solidFill>
                <a:effectLst/>
              </a:rPr>
              <a:t>:</a:t>
            </a:r>
            <a:r>
              <a:rPr lang="en-US" altLang="zh-CN" sz="2400" i="0" dirty="0">
                <a:solidFill>
                  <a:srgbClr val="000000"/>
                </a:solidFill>
                <a:effectLst/>
              </a:rPr>
              <a:t> This function analyzes fault propagation within a subgraph to identify the actual fault. Finally, each entity in the subgraph is labeled as a specific fault type, “no fault”, or “unknown”.</a:t>
            </a:r>
          </a:p>
        </p:txBody>
      </p:sp>
    </p:spTree>
    <p:extLst>
      <p:ext uri="{BB962C8B-B14F-4D97-AF65-F5344CB8AC3E}">
        <p14:creationId xmlns:p14="http://schemas.microsoft.com/office/powerpoint/2010/main" val="1346500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258515" y="203200"/>
            <a:ext cx="12080749" cy="769441"/>
          </a:xfrm>
          <a:prstGeom prst="rect">
            <a:avLst/>
          </a:prstGeom>
          <a:noFill/>
        </p:spPr>
        <p:txBody>
          <a:bodyPr wrap="square" rtlCol="0">
            <a:spAutoFit/>
          </a:bodyPr>
          <a:lstStyle/>
          <a:p>
            <a:r>
              <a:rPr lang="en-US" altLang="zh-CN" sz="4400" dirty="0"/>
              <a:t>4.1.2 Principles and Design of the Small Classifier</a:t>
            </a:r>
            <a:endParaRPr lang="zh-CN" altLang="en-US" sz="4400" dirty="0"/>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A9096387-E5C9-080E-8216-68A82481810D}"/>
                  </a:ext>
                </a:extLst>
              </p:cNvPr>
              <p:cNvSpPr txBox="1"/>
              <p:nvPr/>
            </p:nvSpPr>
            <p:spPr>
              <a:xfrm>
                <a:off x="4491" y="1342789"/>
                <a:ext cx="12080749" cy="2308324"/>
              </a:xfrm>
              <a:prstGeom prst="rect">
                <a:avLst/>
              </a:prstGeom>
              <a:noFill/>
            </p:spPr>
            <p:txBody>
              <a:bodyPr wrap="square" rtlCol="0">
                <a:spAutoFit/>
              </a:bodyPr>
              <a:lstStyle/>
              <a:p>
                <a:pPr marL="742950" lvl="1" indent="-285750">
                  <a:buFont typeface="Arial" panose="020B0604020202020204" pitchFamily="34" charset="0"/>
                  <a:buChar char="•"/>
                </a:pPr>
                <a:r>
                  <a:rPr lang="en-US" altLang="zh-CN" sz="2400" b="1" dirty="0"/>
                  <a:t>4.1.2.1 Preprocess and Embed:</a:t>
                </a:r>
                <a:r>
                  <a:rPr lang="en-US" altLang="zh-CN" sz="2400" dirty="0"/>
                  <a:t> For traces, we analyze each </a:t>
                </a:r>
                <a:r>
                  <a:rPr lang="zh-CN" altLang="en-US" sz="2400" dirty="0"/>
                  <a:t>𝑠𝑒𝑟𝑣𝑖𝑐𝑒 </a:t>
                </a:r>
                <a:r>
                  <a:rPr lang="en-US" altLang="zh-CN" sz="2400" dirty="0"/>
                  <a:t>by calculating the average duration and average number of invocations. </a:t>
                </a:r>
                <a:r>
                  <a:rPr lang="en-US" altLang="zh-CN" sz="2400" i="0" dirty="0">
                    <a:solidFill>
                      <a:srgbClr val="000000"/>
                    </a:solidFill>
                    <a:effectLst/>
                  </a:rPr>
                  <a:t>For logs, we first apply Drain to extract lightweight constant context in logs(a.k.a. log event). Then we use the TF-IDF score to select important words and log events, counting their occurrences in each bucket as the log features. We apply the Transformer encoder to separately model the features of each data type</a:t>
                </a:r>
                <a:r>
                  <a:rPr lang="zh-CN" altLang="en-US" sz="2400" i="0" dirty="0">
                    <a:solidFill>
                      <a:srgbClr val="000000"/>
                    </a:solidFill>
                    <a:effectLst/>
                  </a:rPr>
                  <a:t>：</a:t>
                </a:r>
                <a:r>
                  <a:rPr lang="zh-CN" altLang="en-US" sz="2400" dirty="0"/>
                  <a:t>𝑯</a:t>
                </a:r>
                <a:r>
                  <a:rPr lang="en-US" altLang="zh-CN" sz="2400" dirty="0"/>
                  <a:t>=</a:t>
                </a:r>
                <a:r>
                  <a:rPr lang="en-US" altLang="zh-CN" sz="2400" dirty="0" err="1"/>
                  <a:t>TransformerEncoder</a:t>
                </a:r>
                <a:r>
                  <a:rPr lang="en-US" altLang="zh-CN" sz="2400" dirty="0"/>
                  <a:t>(Linear(</a:t>
                </a:r>
                <a14:m>
                  <m:oMath xmlns:m="http://schemas.openxmlformats.org/officeDocument/2006/math">
                    <m:sSup>
                      <m:sSupPr>
                        <m:ctrlPr>
                          <a:rPr lang="en-US" altLang="zh-CN" sz="2400" i="1" dirty="0" smtClean="0">
                            <a:latin typeface="Cambria Math" panose="02040503050406030204" pitchFamily="18" charset="0"/>
                          </a:rPr>
                        </m:ctrlPr>
                      </m:sSupPr>
                      <m:e>
                        <m:r>
                          <m:rPr>
                            <m:sty m:val="p"/>
                          </m:rPr>
                          <a:rPr lang="en-US" altLang="zh-CN" sz="2400" i="1" dirty="0">
                            <a:latin typeface="Cambria Math" panose="02040503050406030204" pitchFamily="18" charset="0"/>
                          </a:rPr>
                          <m:t>X</m:t>
                        </m:r>
                      </m:e>
                      <m:sup>
                        <m:r>
                          <a:rPr lang="en-US" altLang="zh-CN" sz="2400" b="0" i="1" dirty="0" smtClean="0">
                            <a:latin typeface="Cambria Math" panose="02040503050406030204" pitchFamily="18" charset="0"/>
                          </a:rPr>
                          <m:t>𝑇</m:t>
                        </m:r>
                      </m:sup>
                    </m:sSup>
                  </m:oMath>
                </a14:m>
                <a:r>
                  <a:rPr lang="en-US" altLang="zh-CN" sz="2400" dirty="0"/>
                  <a:t>)) </a:t>
                </a:r>
                <a:endParaRPr lang="en-US" altLang="zh-CN" sz="2400" i="0" dirty="0">
                  <a:solidFill>
                    <a:srgbClr val="000000"/>
                  </a:solidFill>
                  <a:effectLst/>
                </a:endParaRPr>
              </a:p>
            </p:txBody>
          </p:sp>
        </mc:Choice>
        <mc:Fallback xmlns="">
          <p:sp>
            <p:nvSpPr>
              <p:cNvPr id="18" name="文本框 17">
                <a:extLst>
                  <a:ext uri="{FF2B5EF4-FFF2-40B4-BE49-F238E27FC236}">
                    <a16:creationId xmlns:a16="http://schemas.microsoft.com/office/drawing/2014/main" id="{A9096387-E5C9-080E-8216-68A82481810D}"/>
                  </a:ext>
                </a:extLst>
              </p:cNvPr>
              <p:cNvSpPr txBox="1">
                <a:spLocks noRot="1" noChangeAspect="1" noMove="1" noResize="1" noEditPoints="1" noAdjustHandles="1" noChangeArrowheads="1" noChangeShapeType="1" noTextEdit="1"/>
              </p:cNvSpPr>
              <p:nvPr/>
            </p:nvSpPr>
            <p:spPr>
              <a:xfrm>
                <a:off x="4491" y="1342789"/>
                <a:ext cx="12080749" cy="2308324"/>
              </a:xfrm>
              <a:prstGeom prst="rect">
                <a:avLst/>
              </a:prstGeom>
              <a:blipFill>
                <a:blip r:embed="rId3"/>
                <a:stretch>
                  <a:fillRect t="-2639" r="-1363" b="-5277"/>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D849E7A0-9CB9-6461-E03A-713A4CD4DDF4}"/>
              </a:ext>
            </a:extLst>
          </p:cNvPr>
          <p:cNvPicPr>
            <a:picLocks noChangeAspect="1"/>
          </p:cNvPicPr>
          <p:nvPr/>
        </p:nvPicPr>
        <p:blipFill>
          <a:blip r:embed="rId4"/>
          <a:stretch>
            <a:fillRect/>
          </a:stretch>
        </p:blipFill>
        <p:spPr>
          <a:xfrm>
            <a:off x="2631252" y="3746380"/>
            <a:ext cx="7335274" cy="2981741"/>
          </a:xfrm>
          <a:prstGeom prst="rect">
            <a:avLst/>
          </a:prstGeom>
        </p:spPr>
      </p:pic>
    </p:spTree>
    <p:extLst>
      <p:ext uri="{BB962C8B-B14F-4D97-AF65-F5344CB8AC3E}">
        <p14:creationId xmlns:p14="http://schemas.microsoft.com/office/powerpoint/2010/main" val="42633766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258515" y="203200"/>
            <a:ext cx="12080749" cy="769441"/>
          </a:xfrm>
          <a:prstGeom prst="rect">
            <a:avLst/>
          </a:prstGeom>
          <a:noFill/>
        </p:spPr>
        <p:txBody>
          <a:bodyPr wrap="square" rtlCol="0">
            <a:spAutoFit/>
          </a:bodyPr>
          <a:lstStyle/>
          <a:p>
            <a:r>
              <a:rPr lang="en-US" altLang="zh-CN" sz="4400" dirty="0"/>
              <a:t>4.1.2 Principles and Design of the Small Classifier</a:t>
            </a:r>
            <a:endParaRPr lang="zh-CN" altLang="en-US" sz="4400" dirty="0"/>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A9096387-E5C9-080E-8216-68A82481810D}"/>
                  </a:ext>
                </a:extLst>
              </p:cNvPr>
              <p:cNvSpPr txBox="1"/>
              <p:nvPr/>
            </p:nvSpPr>
            <p:spPr>
              <a:xfrm>
                <a:off x="4492" y="1342789"/>
                <a:ext cx="11892982" cy="1938992"/>
              </a:xfrm>
              <a:prstGeom prst="rect">
                <a:avLst/>
              </a:prstGeom>
              <a:noFill/>
            </p:spPr>
            <p:txBody>
              <a:bodyPr wrap="square" rtlCol="0">
                <a:spAutoFit/>
              </a:bodyPr>
              <a:lstStyle/>
              <a:p>
                <a:pPr marL="742950" lvl="1" indent="-285750">
                  <a:buFont typeface="Arial" panose="020B0604020202020204" pitchFamily="34" charset="0"/>
                  <a:buChar char="•"/>
                </a:pPr>
                <a:r>
                  <a:rPr lang="en-US" altLang="zh-CN" sz="2400" b="1" dirty="0"/>
                  <a:t>4.1.2.2 </a:t>
                </a:r>
                <a:r>
                  <a:rPr lang="en-US" altLang="zh-CN" sz="2400" b="1" dirty="0" err="1"/>
                  <a:t>Concat</a:t>
                </a:r>
                <a:r>
                  <a:rPr lang="en-US" altLang="zh-CN" sz="2400" b="1" dirty="0"/>
                  <a:t> and Map: </a:t>
                </a:r>
                <a:r>
                  <a:rPr lang="en-US" altLang="zh-CN" sz="2400" dirty="0"/>
                  <a:t>For each resource entity type, we select the corresponding rows from the embedding matrix </a:t>
                </a:r>
                <a:r>
                  <a:rPr lang="zh-CN" altLang="en-US" sz="2400" dirty="0"/>
                  <a:t>𝑯</a:t>
                </a:r>
                <a:r>
                  <a:rPr lang="en-US" altLang="zh-CN" sz="2400" dirty="0"/>
                  <a:t>. These rows are concatenated into a new matrix </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𝐶</m:t>
                        </m:r>
                      </m:e>
                      <m:sub>
                        <m:r>
                          <a:rPr lang="en-US" altLang="zh-CN" sz="2400" b="0" i="1" smtClean="0">
                            <a:latin typeface="Cambria Math" panose="02040503050406030204" pitchFamily="18" charset="0"/>
                          </a:rPr>
                          <m:t>𝑒</m:t>
                        </m:r>
                      </m:sub>
                    </m:sSub>
                    <m:r>
                      <a:rPr lang="en-US" altLang="zh-CN" sz="2400" b="0" i="1" smtClean="0">
                        <a:latin typeface="Cambria Math" panose="02040503050406030204" pitchFamily="18" charset="0"/>
                      </a:rPr>
                      <m:t>.</m:t>
                    </m:r>
                  </m:oMath>
                </a14:m>
                <a:r>
                  <a:rPr lang="en-US" altLang="zh-CN" sz="2400" dirty="0">
                    <a:solidFill>
                      <a:srgbClr val="000000"/>
                    </a:solidFill>
                  </a:rPr>
                  <a:t> To facilitate rapid fusion of feature embeddings in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𝐶</m:t>
                        </m:r>
                      </m:e>
                      <m:sub>
                        <m:r>
                          <a:rPr lang="en-US" altLang="zh-CN" sz="2400" i="1">
                            <a:latin typeface="Cambria Math" panose="02040503050406030204" pitchFamily="18" charset="0"/>
                          </a:rPr>
                          <m:t>𝑒</m:t>
                        </m:r>
                      </m:sub>
                    </m:sSub>
                  </m:oMath>
                </a14:m>
                <a:r>
                  <a:rPr lang="zh-CN" altLang="en-US" sz="2400" dirty="0">
                    <a:solidFill>
                      <a:srgbClr val="000000"/>
                    </a:solidFill>
                  </a:rPr>
                  <a:t> </a:t>
                </a:r>
                <a:r>
                  <a:rPr lang="en-US" altLang="zh-CN" sz="2400" dirty="0">
                    <a:solidFill>
                      <a:srgbClr val="000000"/>
                    </a:solidFill>
                  </a:rPr>
                  <a:t>for a compact representation, TransformerEncoder is applied :</a:t>
                </a:r>
                <a:r>
                  <a:rPr lang="en-US" altLang="zh-CN" sz="2400" dirty="0"/>
                  <a:t>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𝐶</m:t>
                        </m:r>
                        <m:r>
                          <a:rPr lang="en-US" altLang="zh-CN" sz="2400" b="0" i="1" smtClean="0">
                            <a:latin typeface="Cambria Math" panose="02040503050406030204" pitchFamily="18" charset="0"/>
                          </a:rPr>
                          <m:t>′</m:t>
                        </m:r>
                      </m:e>
                      <m:sub>
                        <m:r>
                          <a:rPr lang="en-US" altLang="zh-CN" sz="2400" i="1">
                            <a:latin typeface="Cambria Math" panose="02040503050406030204" pitchFamily="18" charset="0"/>
                          </a:rPr>
                          <m:t>𝑒</m:t>
                        </m:r>
                      </m:sub>
                    </m:sSub>
                    <m:r>
                      <a:rPr lang="en-US" altLang="zh-CN" sz="2400" i="1">
                        <a:latin typeface="Cambria Math" panose="02040503050406030204" pitchFamily="18" charset="0"/>
                      </a:rPr>
                      <m:t> </m:t>
                    </m:r>
                  </m:oMath>
                </a14:m>
                <a:r>
                  <a:rPr lang="en-US" altLang="zh-CN" sz="2400" dirty="0"/>
                  <a:t>= </a:t>
                </a:r>
                <a:r>
                  <a:rPr lang="en-US" altLang="zh-CN" sz="2400" dirty="0" err="1"/>
                  <a:t>TransformerEncoder</a:t>
                </a:r>
                <a:r>
                  <a:rPr lang="en-US" altLang="zh-CN" sz="2400" dirty="0"/>
                  <a:t>(</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𝐶</m:t>
                        </m:r>
                      </m:e>
                      <m:sub>
                        <m:r>
                          <a:rPr lang="en-US" altLang="zh-CN" sz="2400" i="1">
                            <a:latin typeface="Cambria Math" panose="02040503050406030204" pitchFamily="18" charset="0"/>
                          </a:rPr>
                          <m:t>𝑒</m:t>
                        </m:r>
                      </m:sub>
                    </m:sSub>
                  </m:oMath>
                </a14:m>
                <a:r>
                  <a:rPr lang="en-US" altLang="zh-CN" sz="2400" dirty="0"/>
                  <a:t>).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𝐶</m:t>
                        </m:r>
                        <m:r>
                          <a:rPr lang="en-US" altLang="zh-CN" sz="2400" i="1">
                            <a:latin typeface="Cambria Math" panose="02040503050406030204" pitchFamily="18" charset="0"/>
                          </a:rPr>
                          <m:t>′</m:t>
                        </m:r>
                      </m:e>
                      <m:sub>
                        <m:r>
                          <a:rPr lang="en-US" altLang="zh-CN" sz="2400" i="1">
                            <a:latin typeface="Cambria Math" panose="02040503050406030204" pitchFamily="18" charset="0"/>
                          </a:rPr>
                          <m:t>𝑒</m:t>
                        </m:r>
                      </m:sub>
                    </m:sSub>
                  </m:oMath>
                </a14:m>
                <a:r>
                  <a:rPr lang="zh-CN" altLang="en-US" sz="2400" dirty="0"/>
                  <a:t> </a:t>
                </a:r>
                <a:r>
                  <a:rPr lang="en-US" altLang="zh-CN" sz="2400" dirty="0"/>
                  <a:t>is then mapped into the vector representation </a:t>
                </a:r>
                <a14:m>
                  <m:oMath xmlns:m="http://schemas.openxmlformats.org/officeDocument/2006/math">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𝑣</m:t>
                        </m:r>
                      </m:e>
                      <m:sub>
                        <m:r>
                          <a:rPr lang="en-US" altLang="zh-CN" sz="2400" i="1">
                            <a:latin typeface="Cambria Math" panose="02040503050406030204" pitchFamily="18" charset="0"/>
                          </a:rPr>
                          <m:t>𝑒</m:t>
                        </m:r>
                      </m:sub>
                    </m:sSub>
                    <m:r>
                      <a:rPr lang="en-US" altLang="zh-CN" sz="2400" i="1">
                        <a:latin typeface="Cambria Math" panose="02040503050406030204" pitchFamily="18" charset="0"/>
                      </a:rPr>
                      <m:t> </m:t>
                    </m:r>
                  </m:oMath>
                </a14:m>
                <a:r>
                  <a:rPr lang="en-US" altLang="zh-CN" sz="2400" i="0" dirty="0">
                    <a:solidFill>
                      <a:srgbClr val="000000"/>
                    </a:solidFill>
                    <a:effectLst/>
                  </a:rPr>
                  <a:t>.</a:t>
                </a:r>
              </a:p>
            </p:txBody>
          </p:sp>
        </mc:Choice>
        <mc:Fallback xmlns="">
          <p:sp>
            <p:nvSpPr>
              <p:cNvPr id="18" name="文本框 17">
                <a:extLst>
                  <a:ext uri="{FF2B5EF4-FFF2-40B4-BE49-F238E27FC236}">
                    <a16:creationId xmlns:a16="http://schemas.microsoft.com/office/drawing/2014/main" id="{A9096387-E5C9-080E-8216-68A82481810D}"/>
                  </a:ext>
                </a:extLst>
              </p:cNvPr>
              <p:cNvSpPr txBox="1">
                <a:spLocks noRot="1" noChangeAspect="1" noMove="1" noResize="1" noEditPoints="1" noAdjustHandles="1" noChangeArrowheads="1" noChangeShapeType="1" noTextEdit="1"/>
              </p:cNvSpPr>
              <p:nvPr/>
            </p:nvSpPr>
            <p:spPr>
              <a:xfrm>
                <a:off x="4492" y="1342789"/>
                <a:ext cx="11892982" cy="1938992"/>
              </a:xfrm>
              <a:prstGeom prst="rect">
                <a:avLst/>
              </a:prstGeom>
              <a:blipFill>
                <a:blip r:embed="rId3"/>
                <a:stretch>
                  <a:fillRect t="-2201" b="-6604"/>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D849E7A0-9CB9-6461-E03A-713A4CD4DDF4}"/>
              </a:ext>
            </a:extLst>
          </p:cNvPr>
          <p:cNvPicPr>
            <a:picLocks noChangeAspect="1"/>
          </p:cNvPicPr>
          <p:nvPr/>
        </p:nvPicPr>
        <p:blipFill>
          <a:blip r:embed="rId4"/>
          <a:stretch>
            <a:fillRect/>
          </a:stretch>
        </p:blipFill>
        <p:spPr>
          <a:xfrm>
            <a:off x="2631252" y="3746380"/>
            <a:ext cx="7335274" cy="2981741"/>
          </a:xfrm>
          <a:prstGeom prst="rect">
            <a:avLst/>
          </a:prstGeom>
        </p:spPr>
      </p:pic>
    </p:spTree>
    <p:extLst>
      <p:ext uri="{BB962C8B-B14F-4D97-AF65-F5344CB8AC3E}">
        <p14:creationId xmlns:p14="http://schemas.microsoft.com/office/powerpoint/2010/main" val="28637271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258515" y="203200"/>
            <a:ext cx="12080749" cy="769441"/>
          </a:xfrm>
          <a:prstGeom prst="rect">
            <a:avLst/>
          </a:prstGeom>
          <a:noFill/>
        </p:spPr>
        <p:txBody>
          <a:bodyPr wrap="square" rtlCol="0">
            <a:spAutoFit/>
          </a:bodyPr>
          <a:lstStyle/>
          <a:p>
            <a:r>
              <a:rPr lang="en-US" altLang="zh-CN" sz="4400" dirty="0"/>
              <a:t>4.1.2 Principles and Design of the Small Classifier</a:t>
            </a:r>
            <a:endParaRPr lang="zh-CN" altLang="en-US" sz="4400" dirty="0"/>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A9096387-E5C9-080E-8216-68A82481810D}"/>
                  </a:ext>
                </a:extLst>
              </p:cNvPr>
              <p:cNvSpPr txBox="1"/>
              <p:nvPr/>
            </p:nvSpPr>
            <p:spPr>
              <a:xfrm>
                <a:off x="4492" y="1342789"/>
                <a:ext cx="11892982" cy="1945533"/>
              </a:xfrm>
              <a:prstGeom prst="rect">
                <a:avLst/>
              </a:prstGeom>
              <a:noFill/>
            </p:spPr>
            <p:txBody>
              <a:bodyPr wrap="square" rtlCol="0">
                <a:spAutoFit/>
              </a:bodyPr>
              <a:lstStyle/>
              <a:p>
                <a:pPr marL="742950" lvl="1" indent="-285750">
                  <a:buFont typeface="Arial" panose="020B0604020202020204" pitchFamily="34" charset="0"/>
                  <a:buChar char="•"/>
                </a:pPr>
                <a:r>
                  <a:rPr lang="en-US" altLang="zh-CN" sz="2400" b="1" dirty="0"/>
                  <a:t>4.1.2.3 </a:t>
                </a:r>
                <a:r>
                  <a:rPr lang="fr-FR" altLang="zh-CN" sz="2400" b="1" dirty="0"/>
                  <a:t>Model Fault Propagation and Train Classifiers</a:t>
                </a:r>
                <a:r>
                  <a:rPr lang="en-US" altLang="zh-CN" sz="2400" b="1" dirty="0"/>
                  <a:t>: </a:t>
                </a:r>
                <a:r>
                  <a:rPr lang="en-US" altLang="zh-CN" sz="2400" dirty="0"/>
                  <a:t>Based on the entity vector representations and the system topology, we apply Graph Attention Network (GAT) to model fault propagation</a:t>
                </a:r>
                <a:r>
                  <a:rPr lang="en-US" altLang="zh-CN" sz="2400" i="0" dirty="0">
                    <a:solidFill>
                      <a:srgbClr val="000000"/>
                    </a:solidFill>
                    <a:effectLst/>
                  </a:rPr>
                  <a:t>. For each entity </a:t>
                </a:r>
                <a:r>
                  <a:rPr lang="zh-CN" altLang="en-US" sz="2400" i="0" dirty="0">
                    <a:solidFill>
                      <a:srgbClr val="000000"/>
                    </a:solidFill>
                    <a:effectLst/>
                  </a:rPr>
                  <a:t>𝑒 </a:t>
                </a:r>
                <a:r>
                  <a:rPr lang="en-US" altLang="zh-CN" sz="2400" i="0" dirty="0">
                    <a:solidFill>
                      <a:srgbClr val="000000"/>
                    </a:solidFill>
                    <a:effectLst/>
                  </a:rPr>
                  <a:t>with the </a:t>
                </a:r>
                <a14:m>
                  <m:oMath xmlns:m="http://schemas.openxmlformats.org/officeDocument/2006/math">
                    <m:sSup>
                      <m:sSupPr>
                        <m:ctrlPr>
                          <a:rPr lang="en-US" altLang="zh-CN" sz="2400" i="1" dirty="0" smtClean="0">
                            <a:solidFill>
                              <a:srgbClr val="000000"/>
                            </a:solidFill>
                            <a:effectLst/>
                            <a:latin typeface="Cambria Math" panose="02040503050406030204" pitchFamily="18" charset="0"/>
                          </a:rPr>
                        </m:ctrlPr>
                      </m:sSupPr>
                      <m:e>
                        <m:r>
                          <a:rPr lang="en-US" altLang="zh-CN" sz="2400" b="0" i="1" dirty="0" smtClean="0">
                            <a:solidFill>
                              <a:srgbClr val="000000"/>
                            </a:solidFill>
                            <a:effectLst/>
                            <a:latin typeface="Cambria Math" panose="02040503050406030204" pitchFamily="18" charset="0"/>
                          </a:rPr>
                          <m:t>𝑖</m:t>
                        </m:r>
                      </m:e>
                      <m:sup>
                        <m:r>
                          <a:rPr lang="en-US" altLang="zh-CN" sz="2400" b="0" i="1" dirty="0" smtClean="0">
                            <a:solidFill>
                              <a:srgbClr val="000000"/>
                            </a:solidFill>
                            <a:effectLst/>
                            <a:latin typeface="Cambria Math" panose="02040503050406030204" pitchFamily="18" charset="0"/>
                          </a:rPr>
                          <m:t>𝑡h</m:t>
                        </m:r>
                      </m:sup>
                    </m:sSup>
                    <m:r>
                      <a:rPr lang="en-US" altLang="zh-CN" sz="2400" b="0" i="1" dirty="0" smtClean="0">
                        <a:solidFill>
                          <a:srgbClr val="000000"/>
                        </a:solidFill>
                        <a:effectLst/>
                        <a:latin typeface="Cambria Math" panose="02040503050406030204" pitchFamily="18" charset="0"/>
                      </a:rPr>
                      <m:t> </m:t>
                    </m:r>
                  </m:oMath>
                </a14:m>
                <a:r>
                  <a:rPr lang="en-US" altLang="zh-CN" sz="2400" i="0" dirty="0">
                    <a:solidFill>
                      <a:srgbClr val="000000"/>
                    </a:solidFill>
                    <a:effectLst/>
                  </a:rPr>
                  <a:t>type and the updated representation </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𝑣</m:t>
                        </m:r>
                        <m:r>
                          <a:rPr lang="en-US" altLang="zh-CN" sz="2400" b="0" i="1" smtClean="0">
                            <a:latin typeface="Cambria Math" panose="02040503050406030204" pitchFamily="18" charset="0"/>
                          </a:rPr>
                          <m:t>′</m:t>
                        </m:r>
                      </m:e>
                      <m:sub>
                        <m:r>
                          <a:rPr lang="en-US" altLang="zh-CN" sz="2400" i="1">
                            <a:latin typeface="Cambria Math" panose="02040503050406030204" pitchFamily="18" charset="0"/>
                          </a:rPr>
                          <m:t>𝑒</m:t>
                        </m:r>
                      </m:sub>
                    </m:sSub>
                  </m:oMath>
                </a14:m>
                <a:r>
                  <a:rPr lang="en-US" altLang="zh-CN" sz="2400" dirty="0">
                    <a:solidFill>
                      <a:srgbClr val="000000"/>
                    </a:solidFill>
                  </a:rPr>
                  <a:t>. We use Binary Cross Entropy (BCE)  to measure the difference between the predicted vectors and true fault type vectors.</a:t>
                </a:r>
                <a:endParaRPr lang="en-US" altLang="zh-CN" sz="2400" i="0" dirty="0">
                  <a:solidFill>
                    <a:srgbClr val="000000"/>
                  </a:solidFill>
                  <a:effectLst/>
                </a:endParaRPr>
              </a:p>
            </p:txBody>
          </p:sp>
        </mc:Choice>
        <mc:Fallback xmlns="">
          <p:sp>
            <p:nvSpPr>
              <p:cNvPr id="18" name="文本框 17">
                <a:extLst>
                  <a:ext uri="{FF2B5EF4-FFF2-40B4-BE49-F238E27FC236}">
                    <a16:creationId xmlns:a16="http://schemas.microsoft.com/office/drawing/2014/main" id="{A9096387-E5C9-080E-8216-68A82481810D}"/>
                  </a:ext>
                </a:extLst>
              </p:cNvPr>
              <p:cNvSpPr txBox="1">
                <a:spLocks noRot="1" noChangeAspect="1" noMove="1" noResize="1" noEditPoints="1" noAdjustHandles="1" noChangeArrowheads="1" noChangeShapeType="1" noTextEdit="1"/>
              </p:cNvSpPr>
              <p:nvPr/>
            </p:nvSpPr>
            <p:spPr>
              <a:xfrm>
                <a:off x="4492" y="1342789"/>
                <a:ext cx="11892982" cy="1945533"/>
              </a:xfrm>
              <a:prstGeom prst="rect">
                <a:avLst/>
              </a:prstGeom>
              <a:blipFill>
                <a:blip r:embed="rId3"/>
                <a:stretch>
                  <a:fillRect t="-2194" r="-820" b="-6583"/>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D849E7A0-9CB9-6461-E03A-713A4CD4DDF4}"/>
              </a:ext>
            </a:extLst>
          </p:cNvPr>
          <p:cNvPicPr>
            <a:picLocks noChangeAspect="1"/>
          </p:cNvPicPr>
          <p:nvPr/>
        </p:nvPicPr>
        <p:blipFill>
          <a:blip r:embed="rId4"/>
          <a:stretch>
            <a:fillRect/>
          </a:stretch>
        </p:blipFill>
        <p:spPr>
          <a:xfrm>
            <a:off x="2631252" y="3855711"/>
            <a:ext cx="7335274" cy="2981741"/>
          </a:xfrm>
          <a:prstGeom prst="rect">
            <a:avLst/>
          </a:prstGeom>
        </p:spPr>
      </p:pic>
      <p:pic>
        <p:nvPicPr>
          <p:cNvPr id="3" name="图片 2">
            <a:extLst>
              <a:ext uri="{FF2B5EF4-FFF2-40B4-BE49-F238E27FC236}">
                <a16:creationId xmlns:a16="http://schemas.microsoft.com/office/drawing/2014/main" id="{633EB08A-8F50-66B8-A0DA-F08C1900B666}"/>
              </a:ext>
            </a:extLst>
          </p:cNvPr>
          <p:cNvPicPr>
            <a:picLocks noChangeAspect="1"/>
          </p:cNvPicPr>
          <p:nvPr/>
        </p:nvPicPr>
        <p:blipFill>
          <a:blip r:embed="rId5"/>
          <a:stretch>
            <a:fillRect/>
          </a:stretch>
        </p:blipFill>
        <p:spPr>
          <a:xfrm>
            <a:off x="4488691" y="3265861"/>
            <a:ext cx="2924583" cy="504895"/>
          </a:xfrm>
          <a:prstGeom prst="rect">
            <a:avLst/>
          </a:prstGeom>
        </p:spPr>
      </p:pic>
    </p:spTree>
    <p:extLst>
      <p:ext uri="{BB962C8B-B14F-4D97-AF65-F5344CB8AC3E}">
        <p14:creationId xmlns:p14="http://schemas.microsoft.com/office/powerpoint/2010/main" val="38226416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258515" y="203200"/>
            <a:ext cx="12080749" cy="769441"/>
          </a:xfrm>
          <a:prstGeom prst="rect">
            <a:avLst/>
          </a:prstGeom>
          <a:noFill/>
        </p:spPr>
        <p:txBody>
          <a:bodyPr wrap="square" rtlCol="0">
            <a:spAutoFit/>
          </a:bodyPr>
          <a:lstStyle/>
          <a:p>
            <a:r>
              <a:rPr lang="en-US" altLang="zh-CN" sz="4400" dirty="0"/>
              <a:t>4.1.2 Principles and Design of the Small Classifier</a:t>
            </a:r>
            <a:endParaRPr lang="zh-CN" altLang="en-US" sz="4400" dirty="0"/>
          </a:p>
        </p:txBody>
      </p:sp>
      <p:sp>
        <p:nvSpPr>
          <p:cNvPr id="18" name="文本框 17">
            <a:extLst>
              <a:ext uri="{FF2B5EF4-FFF2-40B4-BE49-F238E27FC236}">
                <a16:creationId xmlns:a16="http://schemas.microsoft.com/office/drawing/2014/main" id="{A9096387-E5C9-080E-8216-68A82481810D}"/>
              </a:ext>
            </a:extLst>
          </p:cNvPr>
          <p:cNvSpPr txBox="1"/>
          <p:nvPr/>
        </p:nvSpPr>
        <p:spPr>
          <a:xfrm>
            <a:off x="4492" y="1342789"/>
            <a:ext cx="11892982" cy="1569660"/>
          </a:xfrm>
          <a:prstGeom prst="rect">
            <a:avLst/>
          </a:prstGeom>
          <a:noFill/>
        </p:spPr>
        <p:txBody>
          <a:bodyPr wrap="square" rtlCol="0">
            <a:spAutoFit/>
          </a:bodyPr>
          <a:lstStyle/>
          <a:p>
            <a:pPr marL="742950" lvl="1" indent="-285750">
              <a:buFont typeface="Arial" panose="020B0604020202020204" pitchFamily="34" charset="0"/>
              <a:buChar char="•"/>
            </a:pPr>
            <a:r>
              <a:rPr lang="en-US" altLang="zh-CN" sz="2400" b="1" dirty="0"/>
              <a:t>4.1.2.4 </a:t>
            </a:r>
            <a:r>
              <a:rPr lang="fr-FR" altLang="zh-CN" sz="2400" b="1" dirty="0"/>
              <a:t>Select High-Confusion Samples</a:t>
            </a:r>
            <a:r>
              <a:rPr lang="en-US" altLang="zh-CN" sz="2400" b="1" dirty="0"/>
              <a:t>: </a:t>
            </a:r>
            <a:r>
              <a:rPr lang="en-US" altLang="zh-CN" sz="2400" dirty="0"/>
              <a:t>After training the small classifier in each iteration, it is essential to select samples exhibiting high confusion in the classifier, label these samples using the LLM, and continue with iterative training. The confusion level of an entity is the confusion level of its most confused fault type. </a:t>
            </a:r>
            <a:endParaRPr lang="en-US" altLang="zh-CN" sz="2400" i="0" dirty="0">
              <a:solidFill>
                <a:srgbClr val="000000"/>
              </a:solidFill>
              <a:effectLst/>
            </a:endParaRPr>
          </a:p>
        </p:txBody>
      </p:sp>
      <p:pic>
        <p:nvPicPr>
          <p:cNvPr id="5" name="图片 4">
            <a:extLst>
              <a:ext uri="{FF2B5EF4-FFF2-40B4-BE49-F238E27FC236}">
                <a16:creationId xmlns:a16="http://schemas.microsoft.com/office/drawing/2014/main" id="{D849E7A0-9CB9-6461-E03A-713A4CD4DDF4}"/>
              </a:ext>
            </a:extLst>
          </p:cNvPr>
          <p:cNvPicPr>
            <a:picLocks noChangeAspect="1"/>
          </p:cNvPicPr>
          <p:nvPr/>
        </p:nvPicPr>
        <p:blipFill>
          <a:blip r:embed="rId3"/>
          <a:stretch>
            <a:fillRect/>
          </a:stretch>
        </p:blipFill>
        <p:spPr>
          <a:xfrm>
            <a:off x="2631252" y="3752971"/>
            <a:ext cx="7335274" cy="2981741"/>
          </a:xfrm>
          <a:prstGeom prst="rect">
            <a:avLst/>
          </a:prstGeom>
        </p:spPr>
      </p:pic>
      <p:pic>
        <p:nvPicPr>
          <p:cNvPr id="6" name="图片 5">
            <a:extLst>
              <a:ext uri="{FF2B5EF4-FFF2-40B4-BE49-F238E27FC236}">
                <a16:creationId xmlns:a16="http://schemas.microsoft.com/office/drawing/2014/main" id="{29D43F50-FB5A-52F2-4BB7-37471104F405}"/>
              </a:ext>
            </a:extLst>
          </p:cNvPr>
          <p:cNvPicPr>
            <a:picLocks noChangeAspect="1"/>
          </p:cNvPicPr>
          <p:nvPr/>
        </p:nvPicPr>
        <p:blipFill>
          <a:blip r:embed="rId4"/>
          <a:stretch>
            <a:fillRect/>
          </a:stretch>
        </p:blipFill>
        <p:spPr>
          <a:xfrm>
            <a:off x="3422902" y="3149387"/>
            <a:ext cx="5346196" cy="559225"/>
          </a:xfrm>
          <a:prstGeom prst="rect">
            <a:avLst/>
          </a:prstGeom>
        </p:spPr>
      </p:pic>
    </p:spTree>
    <p:extLst>
      <p:ext uri="{BB962C8B-B14F-4D97-AF65-F5344CB8AC3E}">
        <p14:creationId xmlns:p14="http://schemas.microsoft.com/office/powerpoint/2010/main" val="42562080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9748516" cy="769441"/>
          </a:xfrm>
          <a:prstGeom prst="rect">
            <a:avLst/>
          </a:prstGeom>
          <a:noFill/>
        </p:spPr>
        <p:txBody>
          <a:bodyPr wrap="square" rtlCol="0">
            <a:spAutoFit/>
          </a:bodyPr>
          <a:lstStyle/>
          <a:p>
            <a:r>
              <a:rPr lang="en-US" altLang="zh-CN" sz="4400" dirty="0"/>
              <a:t>4.1.3 SRE Corrections</a:t>
            </a:r>
            <a:endParaRPr lang="zh-CN" altLang="en-US" sz="4400" dirty="0"/>
          </a:p>
        </p:txBody>
      </p:sp>
      <p:sp>
        <p:nvSpPr>
          <p:cNvPr id="9" name="文本框 8">
            <a:extLst>
              <a:ext uri="{FF2B5EF4-FFF2-40B4-BE49-F238E27FC236}">
                <a16:creationId xmlns:a16="http://schemas.microsoft.com/office/drawing/2014/main" id="{F4472CD0-6917-2738-4BD0-64F3A3500A7F}"/>
              </a:ext>
            </a:extLst>
          </p:cNvPr>
          <p:cNvSpPr txBox="1"/>
          <p:nvPr/>
        </p:nvSpPr>
        <p:spPr>
          <a:xfrm>
            <a:off x="-164386" y="1780995"/>
            <a:ext cx="11887199" cy="4278094"/>
          </a:xfrm>
          <a:prstGeom prst="rect">
            <a:avLst/>
          </a:prstGeom>
          <a:noFill/>
        </p:spPr>
        <p:txBody>
          <a:bodyPr wrap="square" rtlCol="0">
            <a:spAutoFit/>
          </a:bodyPr>
          <a:lstStyle/>
          <a:p>
            <a:pPr marL="1080000" lvl="3" indent="-285750">
              <a:spcAft>
                <a:spcPts val="600"/>
              </a:spcAft>
              <a:buFont typeface="Arial" panose="020B0604020202020204" pitchFamily="34" charset="0"/>
              <a:buChar char="•"/>
            </a:pPr>
            <a:r>
              <a:rPr lang="en-US" altLang="zh-CN" sz="2800" dirty="0"/>
              <a:t>LLMs may generate nonsensical or unfaithful text to the provided source input.</a:t>
            </a:r>
            <a:r>
              <a:rPr lang="zh-CN" altLang="en-US" sz="2800" dirty="0"/>
              <a:t> </a:t>
            </a:r>
            <a:r>
              <a:rPr lang="en-US" altLang="zh-CN" sz="2800" dirty="0"/>
              <a:t>To address this, SREs can correct wrong labels from LLM misjudgments during training. Currently, SREs mainly review two aspects</a:t>
            </a:r>
            <a:r>
              <a:rPr lang="zh-CN" altLang="en-US" sz="2800" dirty="0"/>
              <a:t>：</a:t>
            </a:r>
            <a:endParaRPr lang="en-US" altLang="zh-CN" sz="2800" dirty="0"/>
          </a:p>
          <a:p>
            <a:pPr marL="1537200" lvl="4" indent="-285750">
              <a:spcAft>
                <a:spcPts val="600"/>
              </a:spcAft>
              <a:buFont typeface="Arial" panose="020B0604020202020204" pitchFamily="34" charset="0"/>
              <a:buChar char="•"/>
            </a:pPr>
            <a:r>
              <a:rPr lang="en-US" altLang="zh-CN" sz="2800" dirty="0" err="1"/>
              <a:t>DoLLM</a:t>
            </a:r>
            <a:r>
              <a:rPr lang="en-US" altLang="zh-CN" sz="2800" dirty="0"/>
              <a:t>-generated responses conflict with trouble shooting guides?</a:t>
            </a:r>
          </a:p>
          <a:p>
            <a:pPr marL="1537200" lvl="4" indent="-285750">
              <a:spcAft>
                <a:spcPts val="600"/>
              </a:spcAft>
              <a:buFont typeface="Arial" panose="020B0604020202020204" pitchFamily="34" charset="0"/>
              <a:buChar char="•"/>
            </a:pPr>
            <a:r>
              <a:rPr lang="en-US" altLang="zh-CN" sz="2800" dirty="0"/>
              <a:t>Are the phenomena in LLM-generated responses accurate?</a:t>
            </a:r>
          </a:p>
          <a:p>
            <a:pPr marL="1080000" lvl="4" indent="-285750">
              <a:spcAft>
                <a:spcPts val="600"/>
              </a:spcAft>
              <a:buFont typeface="Arial" panose="020B0604020202020204" pitchFamily="34" charset="0"/>
              <a:buChar char="•"/>
            </a:pPr>
            <a:r>
              <a:rPr lang="en-US" altLang="zh-CN" sz="2800" dirty="0"/>
              <a:t>The small classifier is then retrained on the entirety of valid fault labels.</a:t>
            </a:r>
          </a:p>
          <a:p>
            <a:pPr marL="1537200" lvl="4" indent="-285750">
              <a:spcAft>
                <a:spcPts val="600"/>
              </a:spcAft>
              <a:buFont typeface="Arial" panose="020B0604020202020204" pitchFamily="34" charset="0"/>
              <a:buChar char="•"/>
            </a:pPr>
            <a:endParaRPr lang="en-US" altLang="zh-CN" sz="2800" dirty="0"/>
          </a:p>
        </p:txBody>
      </p:sp>
    </p:spTree>
    <p:extLst>
      <p:ext uri="{BB962C8B-B14F-4D97-AF65-F5344CB8AC3E}">
        <p14:creationId xmlns:p14="http://schemas.microsoft.com/office/powerpoint/2010/main" val="9703926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0" y="203200"/>
            <a:ext cx="11043059" cy="769441"/>
          </a:xfrm>
          <a:prstGeom prst="rect">
            <a:avLst/>
          </a:prstGeom>
          <a:noFill/>
        </p:spPr>
        <p:txBody>
          <a:bodyPr wrap="square" rtlCol="0">
            <a:spAutoFit/>
          </a:bodyPr>
          <a:lstStyle/>
          <a:p>
            <a:r>
              <a:rPr lang="en-US" altLang="zh-CN" sz="4400" dirty="0"/>
              <a:t>4.2 Inference Stage</a:t>
            </a:r>
            <a:endParaRPr lang="zh-CN" altLang="en-US" sz="4400" dirty="0"/>
          </a:p>
        </p:txBody>
      </p:sp>
      <p:sp>
        <p:nvSpPr>
          <p:cNvPr id="9" name="文本框 8">
            <a:extLst>
              <a:ext uri="{FF2B5EF4-FFF2-40B4-BE49-F238E27FC236}">
                <a16:creationId xmlns:a16="http://schemas.microsoft.com/office/drawing/2014/main" id="{F4472CD0-6917-2738-4BD0-64F3A3500A7F}"/>
              </a:ext>
            </a:extLst>
          </p:cNvPr>
          <p:cNvSpPr txBox="1"/>
          <p:nvPr/>
        </p:nvSpPr>
        <p:spPr>
          <a:xfrm>
            <a:off x="0" y="1271447"/>
            <a:ext cx="6028391" cy="1646605"/>
          </a:xfrm>
          <a:prstGeom prst="rect">
            <a:avLst/>
          </a:prstGeom>
          <a:noFill/>
        </p:spPr>
        <p:txBody>
          <a:bodyPr wrap="square" rtlCol="0">
            <a:spAutoFit/>
          </a:bodyPr>
          <a:lstStyle/>
          <a:p>
            <a:pPr marL="742950" lvl="1" indent="-285750">
              <a:spcBef>
                <a:spcPts val="600"/>
              </a:spcBef>
              <a:buFont typeface="Arial" panose="020B0604020202020204" pitchFamily="34" charset="0"/>
              <a:buChar char="•"/>
            </a:pPr>
            <a:r>
              <a:rPr lang="en-US" altLang="zh-CN" sz="2400" b="1" dirty="0">
                <a:solidFill>
                  <a:srgbClr val="000000"/>
                </a:solidFill>
              </a:rPr>
              <a:t>Small Classifier :</a:t>
            </a:r>
            <a:endParaRPr lang="en-US" altLang="zh-CN" sz="2400" dirty="0">
              <a:solidFill>
                <a:srgbClr val="000000"/>
              </a:solidFill>
            </a:endParaRPr>
          </a:p>
          <a:p>
            <a:pPr marL="1200150" lvl="2" indent="-285750">
              <a:spcBef>
                <a:spcPts val="600"/>
              </a:spcBef>
              <a:buFont typeface="Arial" panose="020B0604020202020204" pitchFamily="34" charset="0"/>
              <a:buChar char="•"/>
            </a:pPr>
            <a:r>
              <a:rPr lang="en-US" altLang="zh-CN" sz="2400" dirty="0">
                <a:solidFill>
                  <a:srgbClr val="000000"/>
                </a:solidFill>
              </a:rPr>
              <a:t>Conduct preliminary fault localization and fault type classification.</a:t>
            </a:r>
          </a:p>
        </p:txBody>
      </p:sp>
      <p:pic>
        <p:nvPicPr>
          <p:cNvPr id="5" name="图片 4">
            <a:extLst>
              <a:ext uri="{FF2B5EF4-FFF2-40B4-BE49-F238E27FC236}">
                <a16:creationId xmlns:a16="http://schemas.microsoft.com/office/drawing/2014/main" id="{5BCDFCCE-759E-DA72-2818-151EB26E7F94}"/>
              </a:ext>
            </a:extLst>
          </p:cNvPr>
          <p:cNvPicPr>
            <a:picLocks noChangeAspect="1"/>
          </p:cNvPicPr>
          <p:nvPr/>
        </p:nvPicPr>
        <p:blipFill>
          <a:blip r:embed="rId3"/>
          <a:stretch>
            <a:fillRect/>
          </a:stretch>
        </p:blipFill>
        <p:spPr>
          <a:xfrm>
            <a:off x="5999222" y="1659408"/>
            <a:ext cx="6028392" cy="3600960"/>
          </a:xfrm>
          <a:prstGeom prst="rect">
            <a:avLst/>
          </a:prstGeom>
        </p:spPr>
      </p:pic>
      <p:sp>
        <p:nvSpPr>
          <p:cNvPr id="8" name="文本框 7">
            <a:extLst>
              <a:ext uri="{FF2B5EF4-FFF2-40B4-BE49-F238E27FC236}">
                <a16:creationId xmlns:a16="http://schemas.microsoft.com/office/drawing/2014/main" id="{9AC6C625-4F91-B489-C4A7-D6BA41F05833}"/>
              </a:ext>
            </a:extLst>
          </p:cNvPr>
          <p:cNvSpPr txBox="1"/>
          <p:nvPr/>
        </p:nvSpPr>
        <p:spPr>
          <a:xfrm>
            <a:off x="-1772" y="3017078"/>
            <a:ext cx="6028391" cy="1800493"/>
          </a:xfrm>
          <a:prstGeom prst="rect">
            <a:avLst/>
          </a:prstGeom>
          <a:noFill/>
        </p:spPr>
        <p:txBody>
          <a:bodyPr wrap="square" rtlCol="0">
            <a:spAutoFit/>
          </a:bodyPr>
          <a:lstStyle/>
          <a:p>
            <a:pPr marL="742950" lvl="1" indent="-285750">
              <a:spcBef>
                <a:spcPts val="600"/>
              </a:spcBef>
              <a:buFont typeface="Arial" panose="020B0604020202020204" pitchFamily="34" charset="0"/>
              <a:buChar char="•"/>
            </a:pPr>
            <a:r>
              <a:rPr lang="en-US" altLang="zh-CN" sz="2400" b="1" dirty="0">
                <a:solidFill>
                  <a:srgbClr val="000000"/>
                </a:solidFill>
              </a:rPr>
              <a:t>LLM:</a:t>
            </a:r>
            <a:endParaRPr lang="en-US" altLang="zh-CN" sz="2400" dirty="0">
              <a:solidFill>
                <a:srgbClr val="000000"/>
              </a:solidFill>
            </a:endParaRPr>
          </a:p>
          <a:p>
            <a:pPr marL="1200150" lvl="2" indent="-285750">
              <a:spcBef>
                <a:spcPts val="600"/>
              </a:spcBef>
              <a:buFont typeface="Arial" panose="020B0604020202020204" pitchFamily="34" charset="0"/>
              <a:buChar char="•"/>
            </a:pPr>
            <a:r>
              <a:rPr lang="en-US" altLang="zh-CN" sz="2400" dirty="0"/>
              <a:t>Perform final RCA.</a:t>
            </a:r>
          </a:p>
          <a:p>
            <a:pPr marL="1200150" lvl="2" indent="-285750">
              <a:spcBef>
                <a:spcPts val="600"/>
              </a:spcBef>
              <a:buFont typeface="Arial" panose="020B0604020202020204" pitchFamily="34" charset="0"/>
              <a:buChar char="•"/>
            </a:pPr>
            <a:r>
              <a:rPr lang="en-US" altLang="zh-CN" sz="2400" dirty="0"/>
              <a:t>Generate explanations.</a:t>
            </a:r>
          </a:p>
          <a:p>
            <a:pPr marL="1200150" lvl="2" indent="-285750">
              <a:spcBef>
                <a:spcPts val="600"/>
              </a:spcBef>
              <a:buFont typeface="Arial" panose="020B0604020202020204" pitchFamily="34" charset="0"/>
              <a:buChar char="•"/>
            </a:pPr>
            <a:endParaRPr lang="en-US" altLang="zh-CN" sz="2400" i="0" dirty="0">
              <a:solidFill>
                <a:srgbClr val="000000"/>
              </a:solidFill>
              <a:effectLst/>
            </a:endParaRPr>
          </a:p>
        </p:txBody>
      </p:sp>
      <p:sp>
        <p:nvSpPr>
          <p:cNvPr id="10" name="文本框 9">
            <a:extLst>
              <a:ext uri="{FF2B5EF4-FFF2-40B4-BE49-F238E27FC236}">
                <a16:creationId xmlns:a16="http://schemas.microsoft.com/office/drawing/2014/main" id="{F4162690-463B-0122-DE70-789BA86C02F5}"/>
              </a:ext>
            </a:extLst>
          </p:cNvPr>
          <p:cNvSpPr txBox="1"/>
          <p:nvPr/>
        </p:nvSpPr>
        <p:spPr>
          <a:xfrm>
            <a:off x="-3482" y="4618132"/>
            <a:ext cx="6028391" cy="2169825"/>
          </a:xfrm>
          <a:prstGeom prst="rect">
            <a:avLst/>
          </a:prstGeom>
          <a:noFill/>
        </p:spPr>
        <p:txBody>
          <a:bodyPr wrap="square" rtlCol="0">
            <a:spAutoFit/>
          </a:bodyPr>
          <a:lstStyle/>
          <a:p>
            <a:pPr marL="742950" lvl="1" indent="-285750">
              <a:spcBef>
                <a:spcPts val="600"/>
              </a:spcBef>
              <a:buFont typeface="Arial" panose="020B0604020202020204" pitchFamily="34" charset="0"/>
              <a:buChar char="•"/>
            </a:pPr>
            <a:r>
              <a:rPr lang="en-US" altLang="zh-CN" sz="2400" b="1" dirty="0">
                <a:solidFill>
                  <a:srgbClr val="000000"/>
                </a:solidFill>
              </a:rPr>
              <a:t>SRE:</a:t>
            </a:r>
            <a:endParaRPr lang="en-US" altLang="zh-CN" sz="2400" dirty="0">
              <a:solidFill>
                <a:srgbClr val="000000"/>
              </a:solidFill>
            </a:endParaRPr>
          </a:p>
          <a:p>
            <a:pPr marL="1200150" lvl="2" indent="-285750">
              <a:spcBef>
                <a:spcPts val="600"/>
              </a:spcBef>
              <a:buFont typeface="Arial" panose="020B0604020202020204" pitchFamily="34" charset="0"/>
              <a:buChar char="•"/>
            </a:pPr>
            <a:r>
              <a:rPr lang="en-US" altLang="zh-CN" sz="2400" dirty="0"/>
              <a:t>Analyze faults and initiate follow-up actions.</a:t>
            </a:r>
          </a:p>
          <a:p>
            <a:pPr marL="1200150" lvl="2" indent="-285750">
              <a:spcBef>
                <a:spcPts val="600"/>
              </a:spcBef>
              <a:buFont typeface="Arial" panose="020B0604020202020204" pitchFamily="34" charset="0"/>
              <a:buChar char="•"/>
            </a:pPr>
            <a:r>
              <a:rPr lang="en-US" altLang="zh-CN" sz="2400" dirty="0"/>
              <a:t>Update fault examples.</a:t>
            </a:r>
          </a:p>
          <a:p>
            <a:pPr marL="1200150" lvl="2" indent="-285750">
              <a:spcBef>
                <a:spcPts val="600"/>
              </a:spcBef>
              <a:buFont typeface="Arial" panose="020B0604020202020204" pitchFamily="34" charset="0"/>
              <a:buChar char="•"/>
            </a:pPr>
            <a:endParaRPr lang="en-US" altLang="zh-CN" sz="2400" i="0" dirty="0">
              <a:solidFill>
                <a:srgbClr val="000000"/>
              </a:solidFill>
              <a:effectLst/>
            </a:endParaRPr>
          </a:p>
        </p:txBody>
      </p:sp>
    </p:spTree>
    <p:extLst>
      <p:ext uri="{BB962C8B-B14F-4D97-AF65-F5344CB8AC3E}">
        <p14:creationId xmlns:p14="http://schemas.microsoft.com/office/powerpoint/2010/main" val="1239595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9748516" cy="769441"/>
          </a:xfrm>
          <a:prstGeom prst="rect">
            <a:avLst/>
          </a:prstGeom>
          <a:noFill/>
        </p:spPr>
        <p:txBody>
          <a:bodyPr wrap="square" rtlCol="0">
            <a:spAutoFit/>
          </a:bodyPr>
          <a:lstStyle/>
          <a:p>
            <a:r>
              <a:rPr lang="en-US" altLang="zh-CN" sz="4400" dirty="0"/>
              <a:t>5.1 Experiment Setup </a:t>
            </a:r>
            <a:endParaRPr lang="zh-CN" altLang="en-US" sz="4400" dirty="0"/>
          </a:p>
        </p:txBody>
      </p:sp>
      <p:sp>
        <p:nvSpPr>
          <p:cNvPr id="2" name="文本框 1">
            <a:extLst>
              <a:ext uri="{FF2B5EF4-FFF2-40B4-BE49-F238E27FC236}">
                <a16:creationId xmlns:a16="http://schemas.microsoft.com/office/drawing/2014/main" id="{6628A4E1-A347-B128-F18C-499A5DFE87B7}"/>
              </a:ext>
            </a:extLst>
          </p:cNvPr>
          <p:cNvSpPr txBox="1"/>
          <p:nvPr/>
        </p:nvSpPr>
        <p:spPr>
          <a:xfrm>
            <a:off x="0" y="1403298"/>
            <a:ext cx="11975708" cy="4401205"/>
          </a:xfrm>
          <a:prstGeom prst="rect">
            <a:avLst/>
          </a:prstGeom>
          <a:noFill/>
        </p:spPr>
        <p:txBody>
          <a:bodyPr wrap="square" rtlCol="0">
            <a:spAutoFit/>
          </a:bodyPr>
          <a:lstStyle/>
          <a:p>
            <a:pPr marL="742950" lvl="1" indent="-285750">
              <a:buFont typeface="Arial" panose="020B0604020202020204" pitchFamily="34" charset="0"/>
              <a:buChar char="•"/>
            </a:pPr>
            <a:r>
              <a:rPr lang="en-US" altLang="zh-CN" sz="2800" b="1" dirty="0">
                <a:solidFill>
                  <a:srgbClr val="000000"/>
                </a:solidFill>
              </a:rPr>
              <a:t>Datasets </a:t>
            </a:r>
            <a:r>
              <a:rPr lang="en-US" altLang="zh-CN" sz="2800" dirty="0">
                <a:solidFill>
                  <a:srgbClr val="000000"/>
                </a:solidFill>
              </a:rPr>
              <a:t>: We evaluate </a:t>
            </a:r>
            <a:r>
              <a:rPr lang="en-US" altLang="zh-CN" sz="2800" dirty="0" err="1">
                <a:solidFill>
                  <a:srgbClr val="000000"/>
                </a:solidFill>
              </a:rPr>
              <a:t>LasRCA</a:t>
            </a:r>
            <a:r>
              <a:rPr lang="en-US" altLang="zh-CN" sz="2800" dirty="0">
                <a:solidFill>
                  <a:srgbClr val="000000"/>
                </a:solidFill>
              </a:rPr>
              <a:t> using public datasets A, B , and C. These datasets are from a large-scale AIOps challenge collected from an open-source cloud-native application Hipster shop  widely used in AIOps research. </a:t>
            </a:r>
          </a:p>
          <a:p>
            <a:pPr marL="742950" lvl="1" indent="-285750">
              <a:buFont typeface="Arial" panose="020B0604020202020204" pitchFamily="34" charset="0"/>
              <a:buChar char="•"/>
            </a:pPr>
            <a:r>
              <a:rPr lang="en-US" altLang="zh-CN" sz="2800" dirty="0">
                <a:solidFill>
                  <a:srgbClr val="000000"/>
                </a:solidFill>
              </a:rPr>
              <a:t>A contains observability data for all 10 </a:t>
            </a:r>
            <a:r>
              <a:rPr lang="zh-CN" altLang="en-US" sz="2800" dirty="0">
                <a:solidFill>
                  <a:srgbClr val="000000"/>
                </a:solidFill>
              </a:rPr>
              <a:t>𝑠𝑒𝑟𝑣𝑖𝑐𝑒𝑠 </a:t>
            </a:r>
            <a:r>
              <a:rPr lang="en-US" altLang="zh-CN" sz="2800" dirty="0">
                <a:solidFill>
                  <a:srgbClr val="000000"/>
                </a:solidFill>
              </a:rPr>
              <a:t>with 9 fault types. Each </a:t>
            </a:r>
            <a:r>
              <a:rPr lang="zh-CN" altLang="en-US" sz="2800" dirty="0">
                <a:solidFill>
                  <a:srgbClr val="000000"/>
                </a:solidFill>
              </a:rPr>
              <a:t>𝑠𝑒𝑟𝑣𝑖𝑐𝑒 </a:t>
            </a:r>
            <a:r>
              <a:rPr lang="en-US" altLang="zh-CN" sz="2800" dirty="0">
                <a:solidFill>
                  <a:srgbClr val="000000"/>
                </a:solidFill>
              </a:rPr>
              <a:t>in A corresponds 4 </a:t>
            </a:r>
            <a:r>
              <a:rPr lang="zh-CN" altLang="en-US" sz="2800" dirty="0">
                <a:solidFill>
                  <a:srgbClr val="000000"/>
                </a:solidFill>
              </a:rPr>
              <a:t>𝑝𝑜𝑑𝑠 </a:t>
            </a:r>
            <a:r>
              <a:rPr lang="en-US" altLang="zh-CN" sz="2800" dirty="0">
                <a:solidFill>
                  <a:srgbClr val="000000"/>
                </a:solidFill>
              </a:rPr>
              <a:t>which handle incoming requests from the </a:t>
            </a:r>
            <a:r>
              <a:rPr lang="zh-CN" altLang="en-US" sz="2800" dirty="0">
                <a:solidFill>
                  <a:srgbClr val="000000"/>
                </a:solidFill>
              </a:rPr>
              <a:t>𝑠𝑒𝑟𝑣𝑖𝑐𝑒</a:t>
            </a:r>
            <a:r>
              <a:rPr lang="en-US" altLang="zh-CN" sz="2800" dirty="0">
                <a:solidFill>
                  <a:srgbClr val="000000"/>
                </a:solidFill>
              </a:rPr>
              <a:t>. </a:t>
            </a:r>
          </a:p>
          <a:p>
            <a:pPr marL="742950" lvl="1" indent="-285750">
              <a:buFont typeface="Arial" panose="020B0604020202020204" pitchFamily="34" charset="0"/>
              <a:buChar char="•"/>
            </a:pPr>
            <a:r>
              <a:rPr lang="en-US" altLang="zh-CN" sz="2800" dirty="0">
                <a:solidFill>
                  <a:srgbClr val="000000"/>
                </a:solidFill>
              </a:rPr>
              <a:t>B contains observability data for the total 40 </a:t>
            </a:r>
            <a:r>
              <a:rPr lang="zh-CN" altLang="en-US" sz="2800" dirty="0">
                <a:solidFill>
                  <a:srgbClr val="000000"/>
                </a:solidFill>
              </a:rPr>
              <a:t>𝑝𝑜𝑑𝑠 </a:t>
            </a:r>
            <a:r>
              <a:rPr lang="en-US" altLang="zh-CN" sz="2800" dirty="0">
                <a:solidFill>
                  <a:srgbClr val="000000"/>
                </a:solidFill>
              </a:rPr>
              <a:t>with 9 fault types. Each </a:t>
            </a:r>
            <a:r>
              <a:rPr lang="zh-CN" altLang="en-US" sz="2800" dirty="0">
                <a:solidFill>
                  <a:srgbClr val="000000"/>
                </a:solidFill>
              </a:rPr>
              <a:t>𝑝𝑜𝑑 </a:t>
            </a:r>
            <a:r>
              <a:rPr lang="en-US" altLang="zh-CN" sz="2800" dirty="0">
                <a:solidFill>
                  <a:srgbClr val="000000"/>
                </a:solidFill>
              </a:rPr>
              <a:t>is deployed in one of the six </a:t>
            </a:r>
            <a:r>
              <a:rPr lang="zh-CN" altLang="en-US" sz="2800" dirty="0">
                <a:solidFill>
                  <a:srgbClr val="000000"/>
                </a:solidFill>
              </a:rPr>
              <a:t>𝑛𝑜𝑑𝑒𝑠</a:t>
            </a:r>
            <a:r>
              <a:rPr lang="en-US" altLang="zh-CN" sz="2800" dirty="0">
                <a:solidFill>
                  <a:srgbClr val="000000"/>
                </a:solidFill>
              </a:rPr>
              <a:t>.</a:t>
            </a:r>
          </a:p>
          <a:p>
            <a:pPr marL="742950" lvl="1" indent="-285750">
              <a:buFont typeface="Arial" panose="020B0604020202020204" pitchFamily="34" charset="0"/>
              <a:buChar char="•"/>
            </a:pPr>
            <a:r>
              <a:rPr lang="en-US" altLang="zh-CN" sz="2800" dirty="0">
                <a:solidFill>
                  <a:srgbClr val="000000"/>
                </a:solidFill>
              </a:rPr>
              <a:t>C contains observability data for all these </a:t>
            </a:r>
            <a:r>
              <a:rPr lang="zh-CN" altLang="en-US" sz="2800" dirty="0">
                <a:solidFill>
                  <a:srgbClr val="000000"/>
                </a:solidFill>
              </a:rPr>
              <a:t>𝑛𝑜𝑑𝑒𝑠 </a:t>
            </a:r>
            <a:r>
              <a:rPr lang="en-US" altLang="zh-CN" sz="2800" dirty="0">
                <a:solidFill>
                  <a:srgbClr val="000000"/>
                </a:solidFill>
              </a:rPr>
              <a:t>with 6 fault types.</a:t>
            </a:r>
          </a:p>
        </p:txBody>
      </p:sp>
    </p:spTree>
    <p:extLst>
      <p:ext uri="{BB962C8B-B14F-4D97-AF65-F5344CB8AC3E}">
        <p14:creationId xmlns:p14="http://schemas.microsoft.com/office/powerpoint/2010/main" val="350525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D44A79F-396A-685C-E4D7-C03B47310FFB}"/>
              </a:ext>
            </a:extLst>
          </p:cNvPr>
          <p:cNvPicPr>
            <a:picLocks noChangeAspect="1"/>
          </p:cNvPicPr>
          <p:nvPr/>
        </p:nvPicPr>
        <p:blipFill>
          <a:blip r:embed="rId3"/>
          <a:stretch>
            <a:fillRect/>
          </a:stretch>
        </p:blipFill>
        <p:spPr>
          <a:xfrm>
            <a:off x="4038835" y="2584865"/>
            <a:ext cx="4114330" cy="1052190"/>
          </a:xfrm>
          <a:prstGeom prst="rect">
            <a:avLst/>
          </a:prstGeom>
        </p:spPr>
      </p:pic>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9748516" cy="769441"/>
          </a:xfrm>
          <a:prstGeom prst="rect">
            <a:avLst/>
          </a:prstGeom>
          <a:noFill/>
        </p:spPr>
        <p:txBody>
          <a:bodyPr wrap="square" rtlCol="0">
            <a:spAutoFit/>
          </a:bodyPr>
          <a:lstStyle/>
          <a:p>
            <a:r>
              <a:rPr lang="en-US" altLang="zh-CN" sz="4400" dirty="0"/>
              <a:t>4.1 Experiment Setup </a:t>
            </a:r>
            <a:endParaRPr lang="zh-CN" altLang="en-US" sz="4400" dirty="0"/>
          </a:p>
        </p:txBody>
      </p:sp>
      <p:sp>
        <p:nvSpPr>
          <p:cNvPr id="9" name="文本框 8">
            <a:extLst>
              <a:ext uri="{FF2B5EF4-FFF2-40B4-BE49-F238E27FC236}">
                <a16:creationId xmlns:a16="http://schemas.microsoft.com/office/drawing/2014/main" id="{F4472CD0-6917-2738-4BD0-64F3A3500A7F}"/>
              </a:ext>
            </a:extLst>
          </p:cNvPr>
          <p:cNvSpPr txBox="1"/>
          <p:nvPr/>
        </p:nvSpPr>
        <p:spPr>
          <a:xfrm>
            <a:off x="1" y="1394735"/>
            <a:ext cx="11975708" cy="2246769"/>
          </a:xfrm>
          <a:prstGeom prst="rect">
            <a:avLst/>
          </a:prstGeom>
          <a:noFill/>
        </p:spPr>
        <p:txBody>
          <a:bodyPr wrap="square" rtlCol="0">
            <a:spAutoFit/>
          </a:bodyPr>
          <a:lstStyle/>
          <a:p>
            <a:pPr marL="742950" lvl="1" indent="-285750">
              <a:buFont typeface="Arial" panose="020B0604020202020204" pitchFamily="34" charset="0"/>
              <a:buChar char="•"/>
            </a:pPr>
            <a:r>
              <a:rPr lang="en-US" altLang="zh-CN" sz="2800" b="1" dirty="0">
                <a:solidFill>
                  <a:srgbClr val="000000"/>
                </a:solidFill>
              </a:rPr>
              <a:t>Baselines: </a:t>
            </a:r>
            <a:r>
              <a:rPr lang="en-US" altLang="zh-CN" sz="2800" dirty="0">
                <a:solidFill>
                  <a:srgbClr val="000000"/>
                </a:solidFill>
              </a:rPr>
              <a:t>We selected five representative baselines for comparison: </a:t>
            </a:r>
            <a:r>
              <a:rPr lang="en-US" altLang="zh-CN" sz="2800" dirty="0" err="1">
                <a:solidFill>
                  <a:srgbClr val="000000"/>
                </a:solidFill>
              </a:rPr>
              <a:t>DiagFusion</a:t>
            </a:r>
            <a:r>
              <a:rPr lang="en-US" altLang="zh-CN" sz="2800" dirty="0">
                <a:solidFill>
                  <a:srgbClr val="000000"/>
                </a:solidFill>
              </a:rPr>
              <a:t>, </a:t>
            </a:r>
            <a:r>
              <a:rPr lang="en-US" altLang="zh-CN" sz="2800" dirty="0" err="1">
                <a:solidFill>
                  <a:srgbClr val="000000"/>
                </a:solidFill>
              </a:rPr>
              <a:t>DejaVu</a:t>
            </a:r>
            <a:r>
              <a:rPr lang="en-US" altLang="zh-CN" sz="2800" dirty="0">
                <a:solidFill>
                  <a:srgbClr val="000000"/>
                </a:solidFill>
              </a:rPr>
              <a:t>, CIRCA, </a:t>
            </a:r>
            <a:r>
              <a:rPr lang="en-US" altLang="zh-CN" sz="2800" dirty="0" err="1">
                <a:solidFill>
                  <a:srgbClr val="000000"/>
                </a:solidFill>
              </a:rPr>
              <a:t>TraceRCA</a:t>
            </a:r>
            <a:r>
              <a:rPr lang="en-US" altLang="zh-CN" sz="2800" dirty="0">
                <a:solidFill>
                  <a:srgbClr val="000000"/>
                </a:solidFill>
              </a:rPr>
              <a:t>, </a:t>
            </a:r>
            <a:r>
              <a:rPr lang="en-US" altLang="zh-CN" sz="2800" dirty="0" err="1">
                <a:solidFill>
                  <a:srgbClr val="000000"/>
                </a:solidFill>
              </a:rPr>
              <a:t>LightGBM</a:t>
            </a:r>
            <a:r>
              <a:rPr lang="en-US" altLang="zh-CN" sz="2800" dirty="0">
                <a:solidFill>
                  <a:srgbClr val="000000"/>
                </a:solidFill>
              </a:rPr>
              <a:t>.</a:t>
            </a:r>
          </a:p>
          <a:p>
            <a:pPr marL="742950" lvl="1" indent="-285750">
              <a:buFont typeface="Arial" panose="020B0604020202020204" pitchFamily="34" charset="0"/>
              <a:buChar char="•"/>
            </a:pPr>
            <a:r>
              <a:rPr lang="en-US" altLang="zh-CN" sz="2800" b="1" dirty="0"/>
              <a:t>Evaluation Metrics: </a:t>
            </a:r>
            <a:r>
              <a:rPr lang="en-US" altLang="zh-CN" sz="2800" dirty="0"/>
              <a:t> </a:t>
            </a:r>
            <a:r>
              <a:rPr lang="en-US" altLang="zh-CN" sz="2800" dirty="0" err="1"/>
              <a:t>ForRCL</a:t>
            </a:r>
            <a:r>
              <a:rPr lang="zh-CN" altLang="en-US" sz="2800" dirty="0"/>
              <a:t>：</a:t>
            </a:r>
            <a:r>
              <a:rPr lang="en-US" altLang="zh-CN" sz="2800" dirty="0"/>
              <a:t>top-</a:t>
            </a:r>
            <a:r>
              <a:rPr lang="zh-CN" altLang="en-US" sz="2800" dirty="0"/>
              <a:t>𝑢 </a:t>
            </a:r>
            <a:r>
              <a:rPr lang="en-US" altLang="zh-CN" sz="2800" dirty="0"/>
              <a:t>accuracy(AC@</a:t>
            </a:r>
            <a:r>
              <a:rPr lang="zh-CN" altLang="en-US" sz="2800" dirty="0"/>
              <a:t>𝑢</a:t>
            </a:r>
            <a:r>
              <a:rPr lang="en-US" altLang="zh-CN" sz="2800" dirty="0"/>
              <a:t>).</a:t>
            </a:r>
          </a:p>
          <a:p>
            <a:pPr marL="742950" lvl="1" indent="-285750">
              <a:buFont typeface="Arial" panose="020B0604020202020204" pitchFamily="34" charset="0"/>
              <a:buChar char="•"/>
            </a:pPr>
            <a:endParaRPr lang="en-US" altLang="zh-CN" sz="2800" dirty="0"/>
          </a:p>
          <a:p>
            <a:pPr lvl="1"/>
            <a:endParaRPr lang="en-US" altLang="zh-CN" sz="2800" dirty="0"/>
          </a:p>
        </p:txBody>
      </p:sp>
      <p:pic>
        <p:nvPicPr>
          <p:cNvPr id="6" name="图片 5">
            <a:extLst>
              <a:ext uri="{FF2B5EF4-FFF2-40B4-BE49-F238E27FC236}">
                <a16:creationId xmlns:a16="http://schemas.microsoft.com/office/drawing/2014/main" id="{62DD8DF2-E30D-912D-6FB7-AC1D00C5717A}"/>
              </a:ext>
            </a:extLst>
          </p:cNvPr>
          <p:cNvPicPr>
            <a:picLocks noChangeAspect="1"/>
          </p:cNvPicPr>
          <p:nvPr/>
        </p:nvPicPr>
        <p:blipFill>
          <a:blip r:embed="rId4"/>
          <a:stretch>
            <a:fillRect/>
          </a:stretch>
        </p:blipFill>
        <p:spPr>
          <a:xfrm>
            <a:off x="4047839" y="4801656"/>
            <a:ext cx="4096322" cy="733527"/>
          </a:xfrm>
          <a:prstGeom prst="rect">
            <a:avLst/>
          </a:prstGeom>
        </p:spPr>
      </p:pic>
      <p:pic>
        <p:nvPicPr>
          <p:cNvPr id="8" name="图片 7">
            <a:extLst>
              <a:ext uri="{FF2B5EF4-FFF2-40B4-BE49-F238E27FC236}">
                <a16:creationId xmlns:a16="http://schemas.microsoft.com/office/drawing/2014/main" id="{F5D3CBB8-B321-8098-85A3-5167646FE53D}"/>
              </a:ext>
            </a:extLst>
          </p:cNvPr>
          <p:cNvPicPr>
            <a:picLocks noChangeAspect="1"/>
          </p:cNvPicPr>
          <p:nvPr/>
        </p:nvPicPr>
        <p:blipFill>
          <a:blip r:embed="rId5"/>
          <a:stretch>
            <a:fillRect/>
          </a:stretch>
        </p:blipFill>
        <p:spPr>
          <a:xfrm>
            <a:off x="975432" y="5700654"/>
            <a:ext cx="4191585" cy="676369"/>
          </a:xfrm>
          <a:prstGeom prst="rect">
            <a:avLst/>
          </a:prstGeom>
        </p:spPr>
      </p:pic>
      <p:pic>
        <p:nvPicPr>
          <p:cNvPr id="11" name="图片 10">
            <a:extLst>
              <a:ext uri="{FF2B5EF4-FFF2-40B4-BE49-F238E27FC236}">
                <a16:creationId xmlns:a16="http://schemas.microsoft.com/office/drawing/2014/main" id="{9652C879-0A41-05FC-2A7F-DBC0A5D6B4BB}"/>
              </a:ext>
            </a:extLst>
          </p:cNvPr>
          <p:cNvPicPr>
            <a:picLocks noChangeAspect="1"/>
          </p:cNvPicPr>
          <p:nvPr/>
        </p:nvPicPr>
        <p:blipFill>
          <a:blip r:embed="rId6"/>
          <a:stretch>
            <a:fillRect/>
          </a:stretch>
        </p:blipFill>
        <p:spPr>
          <a:xfrm>
            <a:off x="6619845" y="5783167"/>
            <a:ext cx="4029637" cy="523948"/>
          </a:xfrm>
          <a:prstGeom prst="rect">
            <a:avLst/>
          </a:prstGeom>
        </p:spPr>
      </p:pic>
      <p:sp>
        <p:nvSpPr>
          <p:cNvPr id="12" name="文本框 11">
            <a:extLst>
              <a:ext uri="{FF2B5EF4-FFF2-40B4-BE49-F238E27FC236}">
                <a16:creationId xmlns:a16="http://schemas.microsoft.com/office/drawing/2014/main" id="{79E476AF-C348-08B7-6848-1C40FA615CA1}"/>
              </a:ext>
            </a:extLst>
          </p:cNvPr>
          <p:cNvSpPr txBox="1"/>
          <p:nvPr/>
        </p:nvSpPr>
        <p:spPr>
          <a:xfrm>
            <a:off x="1656" y="3290928"/>
            <a:ext cx="11975708" cy="1815882"/>
          </a:xfrm>
          <a:prstGeom prst="rect">
            <a:avLst/>
          </a:prstGeom>
          <a:noFill/>
        </p:spPr>
        <p:txBody>
          <a:bodyPr wrap="square" rtlCol="0">
            <a:spAutoFit/>
          </a:bodyPr>
          <a:lstStyle/>
          <a:p>
            <a:pPr lvl="1"/>
            <a:endParaRPr lang="en-US" altLang="zh-CN" sz="2800" dirty="0"/>
          </a:p>
          <a:p>
            <a:pPr marL="742950" lvl="1" indent="-285750">
              <a:buFont typeface="Arial" panose="020B0604020202020204" pitchFamily="34" charset="0"/>
              <a:buChar char="•"/>
            </a:pPr>
            <a:r>
              <a:rPr lang="en-US" altLang="zh-CN" sz="2800" dirty="0"/>
              <a:t>For FTC : Micro Precision (</a:t>
            </a:r>
            <a:r>
              <a:rPr lang="en-US" altLang="zh-CN" sz="2800" dirty="0" err="1"/>
              <a:t>MiPr</a:t>
            </a:r>
            <a:r>
              <a:rPr lang="en-US" altLang="zh-CN" sz="2800" dirty="0"/>
              <a:t>), Macro Precision (</a:t>
            </a:r>
            <a:r>
              <a:rPr lang="en-US" altLang="zh-CN" sz="2800" dirty="0" err="1"/>
              <a:t>MaPr</a:t>
            </a:r>
            <a:r>
              <a:rPr lang="en-US" altLang="zh-CN" sz="2800" dirty="0"/>
              <a:t>), Micro Recall (</a:t>
            </a:r>
            <a:r>
              <a:rPr lang="en-US" altLang="zh-CN" sz="2800" dirty="0" err="1"/>
              <a:t>MiRe</a:t>
            </a:r>
            <a:r>
              <a:rPr lang="en-US" altLang="zh-CN" sz="2800" dirty="0"/>
              <a:t>), Macro Recall (</a:t>
            </a:r>
            <a:r>
              <a:rPr lang="en-US" altLang="zh-CN" sz="2800" dirty="0" err="1"/>
              <a:t>MaRe</a:t>
            </a:r>
            <a:r>
              <a:rPr lang="en-US" altLang="zh-CN" sz="2800" dirty="0"/>
              <a:t>), Micro F1-score (MiF1), and Macro F1-score (MaF1).</a:t>
            </a:r>
          </a:p>
        </p:txBody>
      </p:sp>
    </p:spTree>
    <p:extLst>
      <p:ext uri="{BB962C8B-B14F-4D97-AF65-F5344CB8AC3E}">
        <p14:creationId xmlns:p14="http://schemas.microsoft.com/office/powerpoint/2010/main" val="16876845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9748516" cy="769441"/>
          </a:xfrm>
          <a:prstGeom prst="rect">
            <a:avLst/>
          </a:prstGeom>
          <a:noFill/>
        </p:spPr>
        <p:txBody>
          <a:bodyPr wrap="square" rtlCol="0">
            <a:spAutoFit/>
          </a:bodyPr>
          <a:lstStyle/>
          <a:p>
            <a:r>
              <a:rPr lang="en-US" altLang="zh-CN" sz="4400" dirty="0"/>
              <a:t>4.2 Performance Comparison</a:t>
            </a:r>
            <a:endParaRPr lang="zh-CN" altLang="en-US" sz="4400" dirty="0"/>
          </a:p>
        </p:txBody>
      </p:sp>
      <p:sp>
        <p:nvSpPr>
          <p:cNvPr id="9" name="文本框 8">
            <a:extLst>
              <a:ext uri="{FF2B5EF4-FFF2-40B4-BE49-F238E27FC236}">
                <a16:creationId xmlns:a16="http://schemas.microsoft.com/office/drawing/2014/main" id="{F4472CD0-6917-2738-4BD0-64F3A3500A7F}"/>
              </a:ext>
            </a:extLst>
          </p:cNvPr>
          <p:cNvSpPr txBox="1"/>
          <p:nvPr/>
        </p:nvSpPr>
        <p:spPr>
          <a:xfrm>
            <a:off x="1" y="1240625"/>
            <a:ext cx="11975708" cy="954107"/>
          </a:xfrm>
          <a:prstGeom prst="rect">
            <a:avLst/>
          </a:prstGeom>
          <a:noFill/>
        </p:spPr>
        <p:txBody>
          <a:bodyPr wrap="square" rtlCol="0">
            <a:spAutoFit/>
          </a:bodyPr>
          <a:lstStyle/>
          <a:p>
            <a:pPr marL="742950" lvl="1" indent="-285750">
              <a:buFont typeface="Arial" panose="020B0604020202020204" pitchFamily="34" charset="0"/>
              <a:buChar char="•"/>
            </a:pPr>
            <a:r>
              <a:rPr lang="en-US" altLang="zh-CN" sz="2800" dirty="0">
                <a:solidFill>
                  <a:srgbClr val="000000"/>
                </a:solidFill>
              </a:rPr>
              <a:t>We conducted experiments comparing multiple baseline methods across three datasets.</a:t>
            </a:r>
          </a:p>
        </p:txBody>
      </p:sp>
      <p:pic>
        <p:nvPicPr>
          <p:cNvPr id="5" name="图片 4">
            <a:extLst>
              <a:ext uri="{FF2B5EF4-FFF2-40B4-BE49-F238E27FC236}">
                <a16:creationId xmlns:a16="http://schemas.microsoft.com/office/drawing/2014/main" id="{3F6A3F6A-D3ED-C24C-7DA8-09EBD365468A}"/>
              </a:ext>
            </a:extLst>
          </p:cNvPr>
          <p:cNvPicPr>
            <a:picLocks noChangeAspect="1"/>
          </p:cNvPicPr>
          <p:nvPr/>
        </p:nvPicPr>
        <p:blipFill>
          <a:blip r:embed="rId3"/>
          <a:stretch>
            <a:fillRect/>
          </a:stretch>
        </p:blipFill>
        <p:spPr>
          <a:xfrm>
            <a:off x="1351260" y="2250041"/>
            <a:ext cx="9453312" cy="4520386"/>
          </a:xfrm>
          <a:prstGeom prst="rect">
            <a:avLst/>
          </a:prstGeom>
        </p:spPr>
      </p:pic>
    </p:spTree>
    <p:extLst>
      <p:ext uri="{BB962C8B-B14F-4D97-AF65-F5344CB8AC3E}">
        <p14:creationId xmlns:p14="http://schemas.microsoft.com/office/powerpoint/2010/main" val="2301970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52821-4E11-9A6F-F71A-B5B0712E4314}"/>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32235C99-BB69-07A6-E3F7-5FC2DE7BA806}"/>
              </a:ext>
            </a:extLst>
          </p:cNvPr>
          <p:cNvSpPr txBox="1"/>
          <p:nvPr/>
        </p:nvSpPr>
        <p:spPr>
          <a:xfrm>
            <a:off x="350981" y="203200"/>
            <a:ext cx="9748516" cy="769441"/>
          </a:xfrm>
          <a:prstGeom prst="rect">
            <a:avLst/>
          </a:prstGeom>
          <a:noFill/>
        </p:spPr>
        <p:txBody>
          <a:bodyPr wrap="square" rtlCol="0">
            <a:spAutoFit/>
          </a:bodyPr>
          <a:lstStyle/>
          <a:p>
            <a:r>
              <a:rPr lang="en-US" altLang="zh-CN" sz="4400" dirty="0"/>
              <a:t>4.2 Performance Comparison</a:t>
            </a:r>
            <a:endParaRPr lang="zh-CN" altLang="en-US" sz="4400" dirty="0"/>
          </a:p>
        </p:txBody>
      </p:sp>
      <p:sp>
        <p:nvSpPr>
          <p:cNvPr id="9" name="文本框 8">
            <a:extLst>
              <a:ext uri="{FF2B5EF4-FFF2-40B4-BE49-F238E27FC236}">
                <a16:creationId xmlns:a16="http://schemas.microsoft.com/office/drawing/2014/main" id="{96641E3D-7360-D3D1-1C76-EA88BE7C156B}"/>
              </a:ext>
            </a:extLst>
          </p:cNvPr>
          <p:cNvSpPr txBox="1"/>
          <p:nvPr/>
        </p:nvSpPr>
        <p:spPr>
          <a:xfrm>
            <a:off x="1" y="1359023"/>
            <a:ext cx="11975708" cy="954107"/>
          </a:xfrm>
          <a:prstGeom prst="rect">
            <a:avLst/>
          </a:prstGeom>
          <a:noFill/>
        </p:spPr>
        <p:txBody>
          <a:bodyPr wrap="square" rtlCol="0">
            <a:spAutoFit/>
          </a:bodyPr>
          <a:lstStyle/>
          <a:p>
            <a:pPr marL="742950" lvl="1" indent="-285750">
              <a:buFont typeface="Arial" panose="020B0604020202020204" pitchFamily="34" charset="0"/>
              <a:buChar char="•"/>
            </a:pPr>
            <a:r>
              <a:rPr lang="en-US" altLang="zh-CN" sz="2800" dirty="0">
                <a:solidFill>
                  <a:srgbClr val="000000"/>
                </a:solidFill>
              </a:rPr>
              <a:t>By assessing the number of involved entities, the reduction in input can be evaluated. For time costs, we use approximate average time.</a:t>
            </a:r>
          </a:p>
        </p:txBody>
      </p:sp>
      <p:pic>
        <p:nvPicPr>
          <p:cNvPr id="7" name="图片 6">
            <a:extLst>
              <a:ext uri="{FF2B5EF4-FFF2-40B4-BE49-F238E27FC236}">
                <a16:creationId xmlns:a16="http://schemas.microsoft.com/office/drawing/2014/main" id="{39DC698B-EBC8-5F50-BAA6-ABC615ACDA31}"/>
              </a:ext>
            </a:extLst>
          </p:cNvPr>
          <p:cNvPicPr>
            <a:picLocks noChangeAspect="1"/>
          </p:cNvPicPr>
          <p:nvPr/>
        </p:nvPicPr>
        <p:blipFill>
          <a:blip r:embed="rId3"/>
          <a:stretch>
            <a:fillRect/>
          </a:stretch>
        </p:blipFill>
        <p:spPr>
          <a:xfrm>
            <a:off x="2044557" y="3244819"/>
            <a:ext cx="8490564" cy="2888779"/>
          </a:xfrm>
          <a:prstGeom prst="rect">
            <a:avLst/>
          </a:prstGeom>
        </p:spPr>
      </p:pic>
    </p:spTree>
    <p:extLst>
      <p:ext uri="{BB962C8B-B14F-4D97-AF65-F5344CB8AC3E}">
        <p14:creationId xmlns:p14="http://schemas.microsoft.com/office/powerpoint/2010/main" val="13649725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9748516" cy="769441"/>
          </a:xfrm>
          <a:prstGeom prst="rect">
            <a:avLst/>
          </a:prstGeom>
          <a:noFill/>
        </p:spPr>
        <p:txBody>
          <a:bodyPr wrap="square" rtlCol="0">
            <a:spAutoFit/>
          </a:bodyPr>
          <a:lstStyle/>
          <a:p>
            <a:r>
              <a:rPr lang="en-US" altLang="zh-CN" sz="4400" dirty="0"/>
              <a:t>4.3 Ablation Study </a:t>
            </a:r>
            <a:endParaRPr lang="zh-CN" altLang="en-US" sz="4400" dirty="0"/>
          </a:p>
        </p:txBody>
      </p:sp>
      <p:sp>
        <p:nvSpPr>
          <p:cNvPr id="9" name="文本框 8">
            <a:extLst>
              <a:ext uri="{FF2B5EF4-FFF2-40B4-BE49-F238E27FC236}">
                <a16:creationId xmlns:a16="http://schemas.microsoft.com/office/drawing/2014/main" id="{F4472CD0-6917-2738-4BD0-64F3A3500A7F}"/>
              </a:ext>
            </a:extLst>
          </p:cNvPr>
          <p:cNvSpPr txBox="1"/>
          <p:nvPr/>
        </p:nvSpPr>
        <p:spPr>
          <a:xfrm>
            <a:off x="0" y="1110537"/>
            <a:ext cx="11311847" cy="954107"/>
          </a:xfrm>
          <a:prstGeom prst="rect">
            <a:avLst/>
          </a:prstGeom>
          <a:noFill/>
        </p:spPr>
        <p:txBody>
          <a:bodyPr wrap="square" rtlCol="0">
            <a:spAutoFit/>
          </a:bodyPr>
          <a:lstStyle/>
          <a:p>
            <a:pPr marL="742950" lvl="1" indent="-285750" algn="just">
              <a:buFont typeface="Arial" panose="020B0604020202020204" pitchFamily="34" charset="0"/>
              <a:buChar char="•"/>
            </a:pPr>
            <a:r>
              <a:rPr lang="en-US" altLang="zh-CN" sz="2800" dirty="0"/>
              <a:t>We perform an ablation study using four datasets to assess the impact of each component. </a:t>
            </a:r>
            <a:endParaRPr lang="en-US" altLang="zh-CN" sz="2800" dirty="0">
              <a:solidFill>
                <a:srgbClr val="000000"/>
              </a:solidFill>
            </a:endParaRPr>
          </a:p>
        </p:txBody>
      </p:sp>
      <p:pic>
        <p:nvPicPr>
          <p:cNvPr id="5" name="图片 4">
            <a:extLst>
              <a:ext uri="{FF2B5EF4-FFF2-40B4-BE49-F238E27FC236}">
                <a16:creationId xmlns:a16="http://schemas.microsoft.com/office/drawing/2014/main" id="{8FD0A75B-6C88-4B03-82EA-BD9063A0974E}"/>
              </a:ext>
            </a:extLst>
          </p:cNvPr>
          <p:cNvPicPr>
            <a:picLocks noChangeAspect="1"/>
          </p:cNvPicPr>
          <p:nvPr/>
        </p:nvPicPr>
        <p:blipFill>
          <a:blip r:embed="rId3"/>
          <a:stretch>
            <a:fillRect/>
          </a:stretch>
        </p:blipFill>
        <p:spPr>
          <a:xfrm>
            <a:off x="1613661" y="2138327"/>
            <a:ext cx="9287220" cy="4471950"/>
          </a:xfrm>
          <a:prstGeom prst="rect">
            <a:avLst/>
          </a:prstGeom>
        </p:spPr>
      </p:pic>
    </p:spTree>
    <p:extLst>
      <p:ext uri="{BB962C8B-B14F-4D97-AF65-F5344CB8AC3E}">
        <p14:creationId xmlns:p14="http://schemas.microsoft.com/office/powerpoint/2010/main" val="467424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9748516" cy="769441"/>
          </a:xfrm>
          <a:prstGeom prst="rect">
            <a:avLst/>
          </a:prstGeom>
          <a:noFill/>
        </p:spPr>
        <p:txBody>
          <a:bodyPr wrap="square" rtlCol="0">
            <a:spAutoFit/>
          </a:bodyPr>
          <a:lstStyle/>
          <a:p>
            <a:r>
              <a:rPr lang="en-US" altLang="zh-CN" sz="4400" dirty="0"/>
              <a:t>5. Conclusion </a:t>
            </a:r>
            <a:endParaRPr lang="zh-CN" altLang="en-US" sz="4400" dirty="0"/>
          </a:p>
        </p:txBody>
      </p:sp>
      <p:sp>
        <p:nvSpPr>
          <p:cNvPr id="3" name="内容占位符 6">
            <a:extLst>
              <a:ext uri="{FF2B5EF4-FFF2-40B4-BE49-F238E27FC236}">
                <a16:creationId xmlns:a16="http://schemas.microsoft.com/office/drawing/2014/main" id="{630B4939-53A9-0F0D-94AC-321E78DE633A}"/>
              </a:ext>
            </a:extLst>
          </p:cNvPr>
          <p:cNvSpPr>
            <a:spLocks noGrp="1"/>
          </p:cNvSpPr>
          <p:nvPr/>
        </p:nvSpPr>
        <p:spPr>
          <a:xfrm>
            <a:off x="838200" y="1267078"/>
            <a:ext cx="11059274" cy="526790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pPr>
            <a:r>
              <a:rPr lang="en-US" altLang="zh-CN" sz="2400" dirty="0"/>
              <a:t>We propose </a:t>
            </a:r>
            <a:r>
              <a:rPr lang="en-US" altLang="zh-CN" sz="2400" dirty="0" err="1"/>
              <a:t>LasRCA</a:t>
            </a:r>
            <a:r>
              <a:rPr lang="en-US" altLang="zh-CN" sz="2400" dirty="0"/>
              <a:t> , a framework that combines the strengths of the large language model and the small classifier to handle this scenario effectively.</a:t>
            </a:r>
          </a:p>
          <a:p>
            <a:pPr>
              <a:lnSpc>
                <a:spcPct val="120000"/>
              </a:lnSpc>
              <a:spcBef>
                <a:spcPts val="600"/>
              </a:spcBef>
            </a:pPr>
            <a:r>
              <a:rPr lang="en-US" altLang="zh-CN" sz="2400" dirty="0" err="1"/>
              <a:t>LasRCA</a:t>
            </a:r>
            <a:r>
              <a:rPr lang="en-US" altLang="zh-CN" sz="2400" dirty="0"/>
              <a:t> consists of two stages. In the training stage, the small classifier is initially trained on one-shot fault examples and iteratively selects high-confusion samples. The LLM then provides fault type feed back for these samples, and the small </a:t>
            </a:r>
            <a:r>
              <a:rPr lang="en-US" altLang="zh-CN" sz="2400" dirty="0" err="1"/>
              <a:t>classifieris</a:t>
            </a:r>
            <a:r>
              <a:rPr lang="en-US" altLang="zh-CN" sz="2400" dirty="0"/>
              <a:t> retrained based on this feedback. </a:t>
            </a:r>
          </a:p>
          <a:p>
            <a:pPr>
              <a:lnSpc>
                <a:spcPct val="120000"/>
              </a:lnSpc>
              <a:spcBef>
                <a:spcPts val="600"/>
              </a:spcBef>
            </a:pPr>
            <a:r>
              <a:rPr lang="en-US" altLang="zh-CN" sz="2400" dirty="0"/>
              <a:t>In the inference </a:t>
            </a:r>
            <a:r>
              <a:rPr lang="en-US" altLang="zh-CN" sz="2400" dirty="0" err="1"/>
              <a:t>stage,the</a:t>
            </a:r>
            <a:r>
              <a:rPr lang="en-US" altLang="zh-CN" sz="2400" dirty="0"/>
              <a:t> small classifier first conducts preliminary </a:t>
            </a:r>
            <a:r>
              <a:rPr lang="en-US" altLang="zh-CN" sz="2400" dirty="0" err="1"/>
              <a:t>RCA.Then</a:t>
            </a:r>
            <a:r>
              <a:rPr lang="en-US" altLang="zh-CN" sz="2400" dirty="0"/>
              <a:t> the LLM provides detailed judgments based on trouble shooting </a:t>
            </a:r>
            <a:r>
              <a:rPr lang="en-US" altLang="zh-CN" sz="2400" dirty="0" err="1"/>
              <a:t>guides,one</a:t>
            </a:r>
            <a:r>
              <a:rPr lang="en-US" altLang="zh-CN" sz="2400" dirty="0"/>
              <a:t>-shot fault examples, and fault type confidence from the small classifier.</a:t>
            </a:r>
          </a:p>
          <a:p>
            <a:pPr>
              <a:lnSpc>
                <a:spcPct val="120000"/>
              </a:lnSpc>
              <a:spcBef>
                <a:spcPts val="600"/>
              </a:spcBef>
            </a:pPr>
            <a:r>
              <a:rPr lang="en-US" altLang="zh-CN" sz="2400" dirty="0"/>
              <a:t>Experiment results on public datasets show the effectiveness of </a:t>
            </a:r>
            <a:r>
              <a:rPr lang="en-US" altLang="zh-CN" sz="2400" dirty="0" err="1"/>
              <a:t>LasRCA</a:t>
            </a:r>
            <a:r>
              <a:rPr lang="en-US" altLang="zh-CN" sz="2400" dirty="0"/>
              <a:t> in one-</a:t>
            </a:r>
            <a:r>
              <a:rPr lang="en-US" altLang="zh-CN" sz="2400" dirty="0" err="1"/>
              <a:t>shotRCA</a:t>
            </a:r>
            <a:r>
              <a:rPr lang="en-US" altLang="zh-CN" sz="2400" dirty="0"/>
              <a:t>.</a:t>
            </a:r>
          </a:p>
        </p:txBody>
      </p:sp>
    </p:spTree>
    <p:extLst>
      <p:ext uri="{BB962C8B-B14F-4D97-AF65-F5344CB8AC3E}">
        <p14:creationId xmlns:p14="http://schemas.microsoft.com/office/powerpoint/2010/main" val="278550482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12643</TotalTime>
  <Words>3896</Words>
  <Application>Microsoft Office PowerPoint</Application>
  <PresentationFormat>宽屏</PresentationFormat>
  <Paragraphs>150</Paragraphs>
  <Slides>22</Slides>
  <Notes>22</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22</vt:i4>
      </vt:variant>
    </vt:vector>
  </HeadingPairs>
  <TitlesOfParts>
    <vt:vector size="31" baseType="lpstr">
      <vt:lpstr>Inter</vt:lpstr>
      <vt:lpstr>KaTeX_Main</vt:lpstr>
      <vt:lpstr>ui-sans-serif</vt:lpstr>
      <vt:lpstr>等线</vt:lpstr>
      <vt:lpstr>等线 Light</vt:lpstr>
      <vt:lpstr>Arial</vt:lpstr>
      <vt:lpstr>Cambria Math</vt:lpstr>
      <vt:lpstr>Montserrat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tingfeng</dc:creator>
  <cp:lastModifiedBy>罗凯 蒋</cp:lastModifiedBy>
  <cp:revision>255</cp:revision>
  <dcterms:created xsi:type="dcterms:W3CDTF">2025-11-24T07:21:15Z</dcterms:created>
  <dcterms:modified xsi:type="dcterms:W3CDTF">2026-03-15T07:21:20Z</dcterms:modified>
</cp:coreProperties>
</file>