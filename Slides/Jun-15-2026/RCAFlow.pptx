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317" r:id="rId2"/>
    <p:sldId id="261" r:id="rId3"/>
    <p:sldId id="333" r:id="rId4"/>
    <p:sldId id="335" r:id="rId5"/>
    <p:sldId id="350" r:id="rId6"/>
    <p:sldId id="349" r:id="rId7"/>
    <p:sldId id="365" r:id="rId8"/>
    <p:sldId id="366" r:id="rId9"/>
    <p:sldId id="367" r:id="rId10"/>
    <p:sldId id="368" r:id="rId11"/>
    <p:sldId id="336" r:id="rId12"/>
    <p:sldId id="371" r:id="rId13"/>
    <p:sldId id="351" r:id="rId14"/>
    <p:sldId id="372" r:id="rId15"/>
    <p:sldId id="370" r:id="rId16"/>
    <p:sldId id="373" r:id="rId17"/>
    <p:sldId id="359" r:id="rId18"/>
    <p:sldId id="328" r:id="rId19"/>
    <p:sldId id="375" r:id="rId20"/>
    <p:sldId id="376" r:id="rId21"/>
    <p:sldId id="377" r:id="rId22"/>
    <p:sldId id="316" r:id="rId23"/>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ush pencil" initials="rp"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88" autoAdjust="0"/>
    <p:restoredTop sz="89766" autoAdjust="0"/>
  </p:normalViewPr>
  <p:slideViewPr>
    <p:cSldViewPr snapToGrid="0">
      <p:cViewPr varScale="1">
        <p:scale>
          <a:sx n="148" d="100"/>
          <a:sy n="148" d="100"/>
        </p:scale>
        <p:origin x="696" y="1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7D1BDD-2F86-4A15-997E-3530A21F45DD}" type="datetimeFigureOut">
              <a:rPr lang="zh-CN" altLang="en-US" smtClean="0"/>
              <a:t>2026/6/15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C1106B-E74A-40D0-89DA-4B97D19F2007}"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765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dirty="0"/>
          </a:p>
        </p:txBody>
      </p:sp>
      <p:sp>
        <p:nvSpPr>
          <p:cNvPr id="2765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1</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584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a:t>在微服务架构中，复杂的跨服务依赖关系使得根本原因分析（</a:t>
            </a:r>
            <a:r>
              <a:rPr lang="en-US" altLang="zh-CN" dirty="0"/>
              <a:t>RCA</a:t>
            </a:r>
            <a:r>
              <a:rPr lang="zh-CN" altLang="en-US" dirty="0"/>
              <a:t>）成为事件响应流程中最关键且最具挑战性的环节。</a:t>
            </a:r>
            <a:endParaRPr lang="en-US" altLang="zh-CN" dirty="0"/>
          </a:p>
          <a:p>
            <a:pPr eaLnBrk="1" hangingPunct="1">
              <a:spcBef>
                <a:spcPct val="0"/>
              </a:spcBef>
            </a:pPr>
            <a:r>
              <a:rPr lang="zh-CN" altLang="en-US" dirty="0"/>
              <a:t>传统方法：研究人员提出了多种基于学习的方法，以减轻人工诊断的复杂性。然而，这些方法往往依赖于预定义的工作流、因果图以及静态故障</a:t>
            </a:r>
            <a:r>
              <a:rPr lang="en-US" altLang="zh-CN" dirty="0"/>
              <a:t>-</a:t>
            </a:r>
            <a:r>
              <a:rPr lang="zh-CN" altLang="en-US" dirty="0"/>
              <a:t>症状模型，导致分析结果仅适用于特定情况。</a:t>
            </a:r>
            <a:endParaRPr lang="en-US" altLang="zh-CN" dirty="0"/>
          </a:p>
          <a:p>
            <a:pPr eaLnBrk="1" hangingPunct="1">
              <a:spcBef>
                <a:spcPct val="0"/>
              </a:spcBef>
            </a:pPr>
            <a:r>
              <a:rPr lang="zh-CN" altLang="en-US" dirty="0"/>
              <a:t>大型语言模型（</a:t>
            </a:r>
            <a:r>
              <a:rPr lang="en-US" altLang="zh-CN" dirty="0"/>
              <a:t>LLMs</a:t>
            </a:r>
            <a:r>
              <a:rPr lang="zh-CN" altLang="en-US" dirty="0"/>
              <a:t>）：部分研究引入了多智能体系统。另一些研究则利用语义检索技术，将历史事件、故障排除指南（</a:t>
            </a:r>
            <a:r>
              <a:rPr lang="en-US" altLang="zh-CN" dirty="0"/>
              <a:t>TSGs</a:t>
            </a:r>
            <a:r>
              <a:rPr lang="zh-CN" altLang="en-US" dirty="0"/>
              <a:t>）或标准操作规程（</a:t>
            </a:r>
            <a:r>
              <a:rPr lang="en-US" altLang="zh-CN" dirty="0"/>
              <a:t>SOPs</a:t>
            </a:r>
            <a:r>
              <a:rPr lang="zh-CN" altLang="en-US" dirty="0"/>
              <a:t>）作为领域知识融入大型语言模型。然而，这些方法依赖于静态流程，智能体仅遵循预定义的操作序列，而无法根据中间反馈进行调整。</a:t>
            </a:r>
          </a:p>
        </p:txBody>
      </p:sp>
      <p:sp>
        <p:nvSpPr>
          <p:cNvPr id="3584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5</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584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marL="0" indent="0" eaLnBrk="1" hangingPunct="1">
              <a:spcBef>
                <a:spcPct val="0"/>
              </a:spcBef>
              <a:buNone/>
            </a:pPr>
            <a:r>
              <a:rPr lang="zh-CN" altLang="en-US" dirty="0"/>
              <a:t>将结构化知识（如故障排除指南（</a:t>
            </a:r>
            <a:r>
              <a:rPr lang="en-US" altLang="zh-CN" dirty="0"/>
              <a:t>TSG</a:t>
            </a:r>
            <a:r>
              <a:rPr lang="zh-CN" altLang="en-US" dirty="0"/>
              <a:t>）和标准操作程序（</a:t>
            </a:r>
            <a:r>
              <a:rPr lang="en-US" altLang="zh-CN" dirty="0"/>
              <a:t>SOP</a:t>
            </a:r>
            <a:r>
              <a:rPr lang="zh-CN" altLang="en-US" dirty="0"/>
              <a:t>））转化为三种工作流，从而构建一个支持任务规划的知识库。</a:t>
            </a:r>
            <a:endParaRPr lang="en-US" altLang="zh-CN" dirty="0"/>
          </a:p>
          <a:p>
            <a:pPr marL="0" indent="0" eaLnBrk="1" hangingPunct="1">
              <a:spcBef>
                <a:spcPct val="0"/>
              </a:spcBef>
              <a:buNone/>
            </a:pPr>
            <a:r>
              <a:rPr lang="zh-CN" altLang="en-US" dirty="0"/>
              <a:t>分层规划流程由</a:t>
            </a:r>
            <a:r>
              <a:rPr lang="en-US" altLang="zh-CN" dirty="0"/>
              <a:t>Planner</a:t>
            </a:r>
            <a:r>
              <a:rPr lang="zh-CN" altLang="en-US" dirty="0"/>
              <a:t>和工作流知识库（</a:t>
            </a:r>
            <a:r>
              <a:rPr lang="en-US" altLang="zh-CN" dirty="0"/>
              <a:t>WKB</a:t>
            </a:r>
            <a:r>
              <a:rPr lang="zh-CN" altLang="en-US" dirty="0"/>
              <a:t>）共同驱动，并通过受</a:t>
            </a:r>
            <a:r>
              <a:rPr lang="en-US" altLang="zh-CN" dirty="0"/>
              <a:t>Git</a:t>
            </a:r>
            <a:r>
              <a:rPr lang="zh-CN" altLang="en-US" dirty="0"/>
              <a:t>启发的分支管理机制进行组织和控制。</a:t>
            </a:r>
            <a:r>
              <a:rPr lang="en-US" altLang="zh-CN" dirty="0"/>
              <a:t>Brancher</a:t>
            </a:r>
            <a:r>
              <a:rPr lang="zh-CN" altLang="en-US" dirty="0"/>
              <a:t>负责创建和合并分支，而</a:t>
            </a:r>
            <a:r>
              <a:rPr lang="en-US" altLang="zh-CN" dirty="0"/>
              <a:t>Coordinator</a:t>
            </a:r>
            <a:r>
              <a:rPr lang="zh-CN" altLang="en-US" dirty="0"/>
              <a:t>则负责管理全局任务调度。</a:t>
            </a:r>
            <a:endParaRPr lang="en-US" altLang="zh-CN" dirty="0"/>
          </a:p>
          <a:p>
            <a:pPr marL="0" indent="0" eaLnBrk="1" hangingPunct="1">
              <a:spcBef>
                <a:spcPct val="0"/>
              </a:spcBef>
              <a:buNone/>
            </a:pPr>
            <a:r>
              <a:rPr lang="zh-CN" altLang="en-US" dirty="0"/>
              <a:t>根据规划器的输出结果，任务要么被分配给下一级分支，要么由执行器按照计划的步骤直接执行。</a:t>
            </a:r>
            <a:endParaRPr lang="en-US" altLang="zh-CN" dirty="0"/>
          </a:p>
          <a:p>
            <a:pPr marL="0" indent="0" eaLnBrk="1" hangingPunct="1">
              <a:spcBef>
                <a:spcPct val="0"/>
              </a:spcBef>
              <a:buNone/>
            </a:pPr>
            <a:r>
              <a:rPr lang="zh-CN" altLang="en-US" dirty="0"/>
              <a:t>此外，系统会在当前分支的工作区中记录完整的推理轨迹和执行结果，从而为其他分支提供数据访问和流程可追溯性。</a:t>
            </a:r>
          </a:p>
        </p:txBody>
      </p:sp>
      <p:sp>
        <p:nvSpPr>
          <p:cNvPr id="3584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5</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584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a:t>提出</a:t>
            </a:r>
            <a:r>
              <a:rPr lang="en-US" altLang="zh-CN" dirty="0" err="1"/>
              <a:t>RCAFlow</a:t>
            </a:r>
            <a:r>
              <a:rPr lang="zh-CN" altLang="en-US" dirty="0"/>
              <a:t>，这是一个多智能体框架，集成了结构化知识引导、分层任务规划、模块化执行以及自我反思功能，专为复杂、异构的云系统中的根本原因分析（</a:t>
            </a:r>
            <a:r>
              <a:rPr lang="en-US" altLang="zh-CN" dirty="0"/>
              <a:t>RCA</a:t>
            </a:r>
            <a:r>
              <a:rPr lang="zh-CN" altLang="en-US" dirty="0"/>
              <a:t>）而设计。</a:t>
            </a:r>
            <a:endParaRPr lang="en-US" altLang="zh-CN" dirty="0"/>
          </a:p>
          <a:p>
            <a:pPr eaLnBrk="1" hangingPunct="1">
              <a:spcBef>
                <a:spcPct val="0"/>
              </a:spcBef>
            </a:pPr>
            <a:r>
              <a:rPr lang="zh-CN" altLang="en-US"/>
              <a:t>将</a:t>
            </a:r>
            <a:r>
              <a:rPr lang="zh-CN" altLang="en-US" dirty="0"/>
              <a:t>故障排除文档转换为行为树风格的流程，构建结构化工作流知识库。</a:t>
            </a:r>
            <a:endParaRPr lang="en-US" altLang="zh-CN" dirty="0"/>
          </a:p>
          <a:p>
            <a:pPr eaLnBrk="1" hangingPunct="1">
              <a:spcBef>
                <a:spcPct val="0"/>
              </a:spcBef>
            </a:pPr>
            <a:r>
              <a:rPr lang="zh-CN" altLang="en-US" dirty="0"/>
              <a:t>设计一种受</a:t>
            </a:r>
            <a:r>
              <a:rPr lang="en-US" altLang="zh-CN" dirty="0"/>
              <a:t>Git</a:t>
            </a:r>
            <a:r>
              <a:rPr lang="zh-CN" altLang="en-US" dirty="0"/>
              <a:t>启发的分支机制和分层协调机制，以解耦推理路径，支持模块化执行。</a:t>
            </a:r>
            <a:endParaRPr lang="en-US" altLang="zh-CN" dirty="0"/>
          </a:p>
          <a:p>
            <a:pPr eaLnBrk="1" hangingPunct="1">
              <a:spcBef>
                <a:spcPct val="0"/>
              </a:spcBef>
            </a:pPr>
            <a:r>
              <a:rPr lang="en-US" altLang="zh-CN" dirty="0" err="1"/>
              <a:t>RCAFlow</a:t>
            </a:r>
            <a:r>
              <a:rPr lang="zh-CN" altLang="en-US" dirty="0"/>
              <a:t>在具有挑战性的</a:t>
            </a:r>
            <a:r>
              <a:rPr lang="en-US" altLang="zh-CN" dirty="0" err="1"/>
              <a:t>OpenRCA</a:t>
            </a:r>
            <a:r>
              <a:rPr lang="zh-CN" altLang="en-US" dirty="0"/>
              <a:t>基准测试中取得了业界领先的性能，证明了其在复杂根本原因分析中的有效性。</a:t>
            </a:r>
          </a:p>
        </p:txBody>
      </p:sp>
      <p:sp>
        <p:nvSpPr>
          <p:cNvPr id="3584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5</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1F562-6857-2A8B-0A44-0C4273EB2AE3}"/>
            </a:ext>
          </a:extLst>
        </p:cNvPr>
        <p:cNvGrpSpPr/>
        <p:nvPr/>
      </p:nvGrpSpPr>
      <p:grpSpPr>
        <a:xfrm>
          <a:off x="0" y="0"/>
          <a:ext cx="0" cy="0"/>
          <a:chOff x="0" y="0"/>
          <a:chExt cx="0" cy="0"/>
        </a:xfrm>
      </p:grpSpPr>
      <p:sp>
        <p:nvSpPr>
          <p:cNvPr id="35842" name="幻灯片图像占位符 1">
            <a:extLst>
              <a:ext uri="{FF2B5EF4-FFF2-40B4-BE49-F238E27FC236}">
                <a16:creationId xmlns:a16="http://schemas.microsoft.com/office/drawing/2014/main" id="{61B4C6B9-3FF1-5938-9A86-3ECE1A37A2A7}"/>
              </a:ext>
            </a:extLst>
          </p:cNvPr>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5843" name="备注占位符 2">
            <a:extLst>
              <a:ext uri="{FF2B5EF4-FFF2-40B4-BE49-F238E27FC236}">
                <a16:creationId xmlns:a16="http://schemas.microsoft.com/office/drawing/2014/main" id="{8B066607-A01C-9A2A-563C-64BB5419BB5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a:t>给定一个复杂的</a:t>
            </a:r>
            <a:r>
              <a:rPr lang="en-US" altLang="zh-CN" dirty="0"/>
              <a:t>RCA</a:t>
            </a:r>
            <a:r>
              <a:rPr lang="zh-CN" altLang="en-US" dirty="0"/>
              <a:t>任务 𝒯 和一个外部环境 </a:t>
            </a:r>
            <a:r>
              <a:rPr lang="en-US" altLang="zh-CN" dirty="0"/>
              <a:t>ℰ</a:t>
            </a:r>
            <a:r>
              <a:rPr lang="zh-CN" altLang="en-US" dirty="0"/>
              <a:t>，我们的目标是构建一个系统 𝒜，该系统能够生成最终的根本原因解释及其相应的推理轨迹。𝒜 多智能体系统是一个元组</a:t>
            </a:r>
            <a:endParaRPr lang="en-US" altLang="zh-CN" dirty="0"/>
          </a:p>
          <a:p>
            <a:pPr eaLnBrk="1" hangingPunct="1">
              <a:spcBef>
                <a:spcPct val="0"/>
              </a:spcBef>
            </a:pPr>
            <a:r>
              <a:rPr lang="zh-CN" altLang="en-US" dirty="0"/>
              <a:t>𝒜 是多智能体系统。</a:t>
            </a:r>
            <a:endParaRPr lang="en-US" altLang="zh-CN" dirty="0"/>
          </a:p>
          <a:p>
            <a:pPr eaLnBrk="1" hangingPunct="1">
              <a:spcBef>
                <a:spcPct val="0"/>
              </a:spcBef>
            </a:pPr>
            <a:r>
              <a:rPr lang="zh-CN" altLang="en-US" dirty="0"/>
              <a:t>𝒦 是结构化知识库。</a:t>
            </a:r>
            <a:endParaRPr lang="en-US" altLang="zh-CN" dirty="0"/>
          </a:p>
          <a:p>
            <a:pPr eaLnBrk="1" hangingPunct="1">
              <a:spcBef>
                <a:spcPct val="0"/>
              </a:spcBef>
            </a:pPr>
            <a:r>
              <a:rPr lang="zh-CN" altLang="en-US" dirty="0"/>
              <a:t>𝒪 是输入输出接口，用于访问来自环境 </a:t>
            </a:r>
            <a:r>
              <a:rPr lang="en-US" altLang="zh-CN" dirty="0"/>
              <a:t>ℰ </a:t>
            </a:r>
            <a:r>
              <a:rPr lang="zh-CN" altLang="en-US" dirty="0"/>
              <a:t>的多模态信息以及输入任务 𝒯。</a:t>
            </a:r>
            <a:endParaRPr lang="en-US" altLang="zh-CN" dirty="0"/>
          </a:p>
          <a:p>
            <a:pPr eaLnBrk="1" hangingPunct="1">
              <a:spcBef>
                <a:spcPct val="0"/>
              </a:spcBef>
            </a:pPr>
            <a:r>
              <a:rPr lang="en-US" altLang="zh-CN" dirty="0"/>
              <a:t>ℳ </a:t>
            </a:r>
            <a:r>
              <a:rPr lang="zh-CN" altLang="en-US" dirty="0"/>
              <a:t>是用于存储中间推理状态和知识的内部存储模块。</a:t>
            </a:r>
            <a:endParaRPr lang="en-US" altLang="zh-CN" dirty="0"/>
          </a:p>
          <a:p>
            <a:pPr eaLnBrk="1" hangingPunct="1">
              <a:spcBef>
                <a:spcPct val="0"/>
              </a:spcBef>
            </a:pPr>
            <a:r>
              <a:rPr lang="zh-CN" altLang="en-US" dirty="0"/>
              <a:t>𝒲 是工作区，用于维护分支的执行轨迹。</a:t>
            </a:r>
          </a:p>
        </p:txBody>
      </p:sp>
      <p:sp>
        <p:nvSpPr>
          <p:cNvPr id="35844" name="灯片编号占位符 3">
            <a:extLst>
              <a:ext uri="{FF2B5EF4-FFF2-40B4-BE49-F238E27FC236}">
                <a16:creationId xmlns:a16="http://schemas.microsoft.com/office/drawing/2014/main" id="{8E0FED5A-8423-0E73-4E13-D0D02AAAB35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5</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23765595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4AA8FA-601A-200D-896B-C28D7D2E7552}"/>
            </a:ext>
          </a:extLst>
        </p:cNvPr>
        <p:cNvGrpSpPr/>
        <p:nvPr/>
      </p:nvGrpSpPr>
      <p:grpSpPr>
        <a:xfrm>
          <a:off x="0" y="0"/>
          <a:ext cx="0" cy="0"/>
          <a:chOff x="0" y="0"/>
          <a:chExt cx="0" cy="0"/>
        </a:xfrm>
      </p:grpSpPr>
      <p:sp>
        <p:nvSpPr>
          <p:cNvPr id="35842" name="幻灯片图像占位符 1">
            <a:extLst>
              <a:ext uri="{FF2B5EF4-FFF2-40B4-BE49-F238E27FC236}">
                <a16:creationId xmlns:a16="http://schemas.microsoft.com/office/drawing/2014/main" id="{560C4696-45F7-6DC8-C2AF-004318BFE0A9}"/>
              </a:ext>
            </a:extLst>
          </p:cNvPr>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5843" name="备注占位符 2">
            <a:extLst>
              <a:ext uri="{FF2B5EF4-FFF2-40B4-BE49-F238E27FC236}">
                <a16:creationId xmlns:a16="http://schemas.microsoft.com/office/drawing/2014/main" id="{39788F78-8A21-CE92-2D4A-E3274A32642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dirty="0"/>
          </a:p>
        </p:txBody>
      </p:sp>
      <p:sp>
        <p:nvSpPr>
          <p:cNvPr id="35844" name="灯片编号占位符 3">
            <a:extLst>
              <a:ext uri="{FF2B5EF4-FFF2-40B4-BE49-F238E27FC236}">
                <a16:creationId xmlns:a16="http://schemas.microsoft.com/office/drawing/2014/main" id="{187C36FA-6951-E1CF-6F01-E79162362CD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5</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36056442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F8967-5B01-9EC3-8DE8-EAD9FFA37650}"/>
            </a:ext>
          </a:extLst>
        </p:cNvPr>
        <p:cNvGrpSpPr/>
        <p:nvPr/>
      </p:nvGrpSpPr>
      <p:grpSpPr>
        <a:xfrm>
          <a:off x="0" y="0"/>
          <a:ext cx="0" cy="0"/>
          <a:chOff x="0" y="0"/>
          <a:chExt cx="0" cy="0"/>
        </a:xfrm>
      </p:grpSpPr>
      <p:sp>
        <p:nvSpPr>
          <p:cNvPr id="35842" name="幻灯片图像占位符 1">
            <a:extLst>
              <a:ext uri="{FF2B5EF4-FFF2-40B4-BE49-F238E27FC236}">
                <a16:creationId xmlns:a16="http://schemas.microsoft.com/office/drawing/2014/main" id="{B377ECA0-9D68-C339-FACA-23CA8E4D4038}"/>
              </a:ext>
            </a:extLst>
          </p:cNvPr>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5843" name="备注占位符 2">
            <a:extLst>
              <a:ext uri="{FF2B5EF4-FFF2-40B4-BE49-F238E27FC236}">
                <a16:creationId xmlns:a16="http://schemas.microsoft.com/office/drawing/2014/main" id="{B2D3A5FE-66E1-F079-A38C-608355FB640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a:t>基于工作流的任务规划：该模块利用结构化工作流来指导可解释的分层推理计划的生成。</a:t>
            </a:r>
            <a:endParaRPr lang="en-US" altLang="zh-CN" dirty="0"/>
          </a:p>
          <a:p>
            <a:pPr eaLnBrk="1" hangingPunct="1">
              <a:spcBef>
                <a:spcPct val="0"/>
              </a:spcBef>
            </a:pPr>
            <a:r>
              <a:rPr lang="zh-CN" altLang="en-US" dirty="0"/>
              <a:t>分支增强型分层协调器：该模块专为流程控制设计，融合了受</a:t>
            </a:r>
            <a:r>
              <a:rPr lang="en-US" altLang="zh-CN" dirty="0"/>
              <a:t>Git</a:t>
            </a:r>
            <a:r>
              <a:rPr lang="zh-CN" altLang="en-US" dirty="0"/>
              <a:t>启发的分支机制，从而实现任务的分层管理和灵活调度。</a:t>
            </a:r>
            <a:endParaRPr lang="en-US" altLang="zh-CN" dirty="0"/>
          </a:p>
          <a:p>
            <a:pPr eaLnBrk="1" hangingPunct="1">
              <a:spcBef>
                <a:spcPct val="0"/>
              </a:spcBef>
            </a:pPr>
            <a:r>
              <a:rPr lang="zh-CN" altLang="en-US" dirty="0"/>
              <a:t>状态感知型任务执行：该模块能够生成或调用现有工具进行数据处理与分析，并具备评估执行状态和任务完成情况的能力。</a:t>
            </a:r>
          </a:p>
        </p:txBody>
      </p:sp>
      <p:sp>
        <p:nvSpPr>
          <p:cNvPr id="35844" name="灯片编号占位符 3">
            <a:extLst>
              <a:ext uri="{FF2B5EF4-FFF2-40B4-BE49-F238E27FC236}">
                <a16:creationId xmlns:a16="http://schemas.microsoft.com/office/drawing/2014/main" id="{79FC691C-95EC-25B0-30C0-4A2269A4C9A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5</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23497072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BBA66-A318-DBCA-733D-46557D4F19A4}"/>
            </a:ext>
          </a:extLst>
        </p:cNvPr>
        <p:cNvGrpSpPr/>
        <p:nvPr/>
      </p:nvGrpSpPr>
      <p:grpSpPr>
        <a:xfrm>
          <a:off x="0" y="0"/>
          <a:ext cx="0" cy="0"/>
          <a:chOff x="0" y="0"/>
          <a:chExt cx="0" cy="0"/>
        </a:xfrm>
      </p:grpSpPr>
      <p:sp>
        <p:nvSpPr>
          <p:cNvPr id="35842" name="幻灯片图像占位符 1">
            <a:extLst>
              <a:ext uri="{FF2B5EF4-FFF2-40B4-BE49-F238E27FC236}">
                <a16:creationId xmlns:a16="http://schemas.microsoft.com/office/drawing/2014/main" id="{5CECD1B8-EA59-1440-13CB-197FEFBE5483}"/>
              </a:ext>
            </a:extLst>
          </p:cNvPr>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5843" name="备注占位符 2">
            <a:extLst>
              <a:ext uri="{FF2B5EF4-FFF2-40B4-BE49-F238E27FC236}">
                <a16:creationId xmlns:a16="http://schemas.microsoft.com/office/drawing/2014/main" id="{F2E06100-F9AD-565E-EFA3-AA247DBE623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b="1" dirty="0"/>
              <a:t>基于工作流的任务规划</a:t>
            </a:r>
            <a:endParaRPr lang="en-US" altLang="zh-CN" b="1" dirty="0"/>
          </a:p>
          <a:p>
            <a:pPr eaLnBrk="1" hangingPunct="1">
              <a:spcBef>
                <a:spcPct val="0"/>
              </a:spcBef>
            </a:pPr>
            <a:r>
              <a:rPr lang="zh-CN" altLang="en-US" dirty="0"/>
              <a:t>操作流程相关：描述完成任务所需的步骤及其执行顺序。鉴于根本原因分析（</a:t>
            </a:r>
            <a:r>
              <a:rPr lang="en-US" altLang="zh-CN" dirty="0"/>
              <a:t>RCA</a:t>
            </a:r>
            <a:r>
              <a:rPr lang="zh-CN" altLang="en-US" dirty="0"/>
              <a:t>）任务固有的复杂性和不确定性，我们采用行为树范式作为流程控制逻辑的组织框架。</a:t>
            </a:r>
            <a:endParaRPr lang="en-US" altLang="zh-CN" dirty="0"/>
          </a:p>
          <a:p>
            <a:pPr eaLnBrk="1" hangingPunct="1">
              <a:spcBef>
                <a:spcPct val="0"/>
              </a:spcBef>
            </a:pPr>
            <a:r>
              <a:rPr lang="zh-CN" altLang="en-US" dirty="0"/>
              <a:t>与条件</a:t>
            </a:r>
            <a:r>
              <a:rPr lang="en-US" altLang="zh-CN" dirty="0"/>
              <a:t>/</a:t>
            </a:r>
            <a:r>
              <a:rPr lang="zh-CN" altLang="en-US" dirty="0"/>
              <a:t>规则相关：为每个工作流节点明确定义先决条件和异常处理机制，以规范有效的状态转换。</a:t>
            </a:r>
            <a:endParaRPr lang="en-US" altLang="zh-CN" dirty="0"/>
          </a:p>
          <a:p>
            <a:pPr eaLnBrk="1" hangingPunct="1">
              <a:spcBef>
                <a:spcPct val="0"/>
              </a:spcBef>
            </a:pPr>
            <a:r>
              <a:rPr lang="zh-CN" altLang="en-US" dirty="0"/>
              <a:t>工具</a:t>
            </a:r>
            <a:r>
              <a:rPr lang="en-US" altLang="zh-CN" dirty="0"/>
              <a:t>/</a:t>
            </a:r>
            <a:r>
              <a:rPr lang="zh-CN" altLang="en-US" dirty="0"/>
              <a:t>数据相关：将原子操作能力封装为可调用的节点，配备标准化的 </a:t>
            </a:r>
            <a:r>
              <a:rPr lang="en-US" altLang="zh-CN" dirty="0"/>
              <a:t>API </a:t>
            </a:r>
            <a:r>
              <a:rPr lang="zh-CN" altLang="en-US" dirty="0"/>
              <a:t>和数据依赖关系，从而实现推理逻辑与底层执行之间的解耦设计。</a:t>
            </a:r>
          </a:p>
        </p:txBody>
      </p:sp>
      <p:sp>
        <p:nvSpPr>
          <p:cNvPr id="35844" name="灯片编号占位符 3">
            <a:extLst>
              <a:ext uri="{FF2B5EF4-FFF2-40B4-BE49-F238E27FC236}">
                <a16:creationId xmlns:a16="http://schemas.microsoft.com/office/drawing/2014/main" id="{B5D52984-4BC5-6279-C12C-5A4F694A3F5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5</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40147424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053178-EFE7-89A4-3266-07F5AA1A3838}"/>
            </a:ext>
          </a:extLst>
        </p:cNvPr>
        <p:cNvGrpSpPr/>
        <p:nvPr/>
      </p:nvGrpSpPr>
      <p:grpSpPr>
        <a:xfrm>
          <a:off x="0" y="0"/>
          <a:ext cx="0" cy="0"/>
          <a:chOff x="0" y="0"/>
          <a:chExt cx="0" cy="0"/>
        </a:xfrm>
      </p:grpSpPr>
      <p:sp>
        <p:nvSpPr>
          <p:cNvPr id="35842" name="幻灯片图像占位符 1">
            <a:extLst>
              <a:ext uri="{FF2B5EF4-FFF2-40B4-BE49-F238E27FC236}">
                <a16:creationId xmlns:a16="http://schemas.microsoft.com/office/drawing/2014/main" id="{0ACB082A-F19A-C477-729E-04E2C6DF2E85}"/>
              </a:ext>
            </a:extLst>
          </p:cNvPr>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5843" name="备注占位符 2">
            <a:extLst>
              <a:ext uri="{FF2B5EF4-FFF2-40B4-BE49-F238E27FC236}">
                <a16:creationId xmlns:a16="http://schemas.microsoft.com/office/drawing/2014/main" id="{9A507270-3DA0-7E63-877E-13E3CD67DDD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a:t>顺序模式：依次执行所有子节点；仅当所有子节点均成功时才视为成功。适用于强依赖性的任务链。</a:t>
            </a:r>
            <a:endParaRPr lang="en-US" altLang="zh-CN" dirty="0"/>
          </a:p>
          <a:p>
            <a:pPr eaLnBrk="1" hangingPunct="1">
              <a:spcBef>
                <a:spcPct val="0"/>
              </a:spcBef>
            </a:pPr>
            <a:r>
              <a:rPr lang="zh-CN" altLang="en-US" dirty="0"/>
              <a:t>选择器模式：按顺序尝试执行子节点；只要其中任意一个成功即视为成功。适用于多策略探索。</a:t>
            </a:r>
            <a:endParaRPr lang="en-US" altLang="zh-CN" dirty="0"/>
          </a:p>
          <a:p>
            <a:pPr eaLnBrk="1" hangingPunct="1">
              <a:spcBef>
                <a:spcPct val="0"/>
              </a:spcBef>
            </a:pPr>
            <a:r>
              <a:rPr lang="zh-CN" altLang="en-US" dirty="0"/>
              <a:t>并行模式：并行执行子节点；是否完成由聚合条件决定。适用于多源数据融合。</a:t>
            </a:r>
          </a:p>
        </p:txBody>
      </p:sp>
      <p:sp>
        <p:nvSpPr>
          <p:cNvPr id="35844" name="灯片编号占位符 3">
            <a:extLst>
              <a:ext uri="{FF2B5EF4-FFF2-40B4-BE49-F238E27FC236}">
                <a16:creationId xmlns:a16="http://schemas.microsoft.com/office/drawing/2014/main" id="{E617DEEC-B6C1-E128-E987-6857EA1E6DD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5</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22018688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86E9A-05EA-0C25-F476-74E8D8B29086}"/>
            </a:ext>
          </a:extLst>
        </p:cNvPr>
        <p:cNvGrpSpPr/>
        <p:nvPr/>
      </p:nvGrpSpPr>
      <p:grpSpPr>
        <a:xfrm>
          <a:off x="0" y="0"/>
          <a:ext cx="0" cy="0"/>
          <a:chOff x="0" y="0"/>
          <a:chExt cx="0" cy="0"/>
        </a:xfrm>
      </p:grpSpPr>
      <p:sp>
        <p:nvSpPr>
          <p:cNvPr id="35842" name="幻灯片图像占位符 1">
            <a:extLst>
              <a:ext uri="{FF2B5EF4-FFF2-40B4-BE49-F238E27FC236}">
                <a16:creationId xmlns:a16="http://schemas.microsoft.com/office/drawing/2014/main" id="{9A788BB3-4E53-29CD-F246-EB3581030EB3}"/>
              </a:ext>
            </a:extLst>
          </p:cNvPr>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5843" name="备注占位符 2">
            <a:extLst>
              <a:ext uri="{FF2B5EF4-FFF2-40B4-BE49-F238E27FC236}">
                <a16:creationId xmlns:a16="http://schemas.microsoft.com/office/drawing/2014/main" id="{47CACF6C-A32A-769E-A77E-45ACDAA52B6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en-US" altLang="zh-CN" dirty="0" err="1"/>
              <a:t>RCAFlow</a:t>
            </a:r>
            <a:r>
              <a:rPr lang="en-US" altLang="zh-CN" dirty="0"/>
              <a:t> </a:t>
            </a:r>
            <a:r>
              <a:rPr lang="zh-CN" altLang="en-US" dirty="0"/>
              <a:t>利用大型语言模型（</a:t>
            </a:r>
            <a:r>
              <a:rPr lang="en-US" altLang="zh-CN" dirty="0"/>
              <a:t>LLMs</a:t>
            </a:r>
            <a:r>
              <a:rPr lang="zh-CN" altLang="en-US" dirty="0"/>
              <a:t>）从故障诊断规则中自动提取关键任务元素、控制逻辑和工具元数据，并将它们组织成符合预定义模式的基于 </a:t>
            </a:r>
            <a:r>
              <a:rPr lang="en-US" altLang="zh-CN" dirty="0"/>
              <a:t>JSON </a:t>
            </a:r>
            <a:r>
              <a:rPr lang="zh-CN" altLang="en-US" dirty="0"/>
              <a:t>的工作流图。</a:t>
            </a:r>
            <a:endParaRPr lang="en-US" altLang="zh-CN" dirty="0"/>
          </a:p>
          <a:p>
            <a:pPr eaLnBrk="1" hangingPunct="1">
              <a:spcBef>
                <a:spcPct val="0"/>
              </a:spcBef>
            </a:pPr>
            <a:r>
              <a:rPr lang="zh-CN" altLang="en-US" dirty="0"/>
              <a:t>该系统进一步提取节点级先决条件、执行规则和依赖关系，并执行语义验证以确保逻辑一致性和可执行性。</a:t>
            </a:r>
            <a:endParaRPr lang="en-US" altLang="zh-CN" dirty="0"/>
          </a:p>
          <a:p>
            <a:pPr eaLnBrk="1" hangingPunct="1">
              <a:spcBef>
                <a:spcPct val="0"/>
              </a:spcBef>
            </a:pPr>
            <a:r>
              <a:rPr lang="zh-CN" altLang="en-US" dirty="0"/>
              <a:t>它还支持根据上下文为未记录的工具自动生成名称和描述，从而在 </a:t>
            </a:r>
            <a:r>
              <a:rPr lang="en-US" altLang="zh-CN" dirty="0" err="1"/>
              <a:t>RCAFlow</a:t>
            </a:r>
            <a:r>
              <a:rPr lang="en-US" altLang="zh-CN" dirty="0"/>
              <a:t> </a:t>
            </a:r>
            <a:r>
              <a:rPr lang="zh-CN" altLang="en-US" dirty="0"/>
              <a:t>内实现动态代码生成，并有助于构建高质量且可搜索的知识库。</a:t>
            </a:r>
          </a:p>
        </p:txBody>
      </p:sp>
      <p:sp>
        <p:nvSpPr>
          <p:cNvPr id="35844" name="灯片编号占位符 3">
            <a:extLst>
              <a:ext uri="{FF2B5EF4-FFF2-40B4-BE49-F238E27FC236}">
                <a16:creationId xmlns:a16="http://schemas.microsoft.com/office/drawing/2014/main" id="{AEAE22AE-A64C-378F-4202-8544883E694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5</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15861402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584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a:t>系统根据模块 𝑃</a:t>
            </a:r>
            <a:r>
              <a:rPr lang="en-US" altLang="zh-CN" dirty="0"/>
              <a:t>_</a:t>
            </a:r>
            <a:r>
              <a:rPr lang="zh-CN" altLang="en-US" dirty="0"/>
              <a:t>𝑛𝑎𝑚𝑒 和 𝑃</a:t>
            </a:r>
            <a:r>
              <a:rPr lang="en-US" altLang="zh-CN" dirty="0"/>
              <a:t>_</a:t>
            </a:r>
            <a:r>
              <a:rPr lang="zh-CN" altLang="en-US" dirty="0"/>
              <a:t>𝑡𝑎𝑔 查询结构化模板库，并计算嵌入向量的相似度。</a:t>
            </a:r>
            <a:endParaRPr lang="en-US" altLang="zh-CN" dirty="0"/>
          </a:p>
          <a:p>
            <a:pPr eaLnBrk="1" hangingPunct="1">
              <a:spcBef>
                <a:spcPct val="0"/>
              </a:spcBef>
            </a:pPr>
            <a:r>
              <a:rPr lang="zh-CN" altLang="en-US" dirty="0"/>
              <a:t>对候选模板进行排序，以从 𝐾</a:t>
            </a:r>
            <a:r>
              <a:rPr lang="en-US" altLang="zh-CN" dirty="0"/>
              <a:t>_</a:t>
            </a:r>
            <a:r>
              <a:rPr lang="zh-CN" altLang="en-US" dirty="0"/>
              <a:t>𝑝 中检索出与 𝑇</a:t>
            </a:r>
            <a:r>
              <a:rPr lang="en-US" altLang="zh-CN" dirty="0"/>
              <a:t>_</a:t>
            </a:r>
            <a:r>
              <a:rPr lang="zh-CN" altLang="en-US" dirty="0"/>
              <a:t>𝑖 最相关的流程模板 𝑃</a:t>
            </a:r>
            <a:r>
              <a:rPr lang="en-US" altLang="zh-CN" dirty="0"/>
              <a:t>_</a:t>
            </a:r>
            <a:r>
              <a:rPr lang="zh-CN" altLang="en-US" dirty="0"/>
              <a:t>𝑘。</a:t>
            </a:r>
            <a:endParaRPr lang="en-US" altLang="zh-CN" dirty="0"/>
          </a:p>
          <a:p>
            <a:pPr eaLnBrk="1" hangingPunct="1">
              <a:spcBef>
                <a:spcPct val="0"/>
              </a:spcBef>
            </a:pPr>
            <a:r>
              <a:rPr lang="zh-CN" altLang="en-US" dirty="0"/>
              <a:t>构建行为树风格的计划 𝜋</a:t>
            </a:r>
            <a:r>
              <a:rPr lang="en-US" altLang="zh-CN" dirty="0"/>
              <a:t>_</a:t>
            </a:r>
            <a:r>
              <a:rPr lang="zh-CN" altLang="en-US" dirty="0"/>
              <a:t>𝑖。</a:t>
            </a:r>
            <a:endParaRPr lang="en-US" altLang="zh-CN" dirty="0"/>
          </a:p>
          <a:p>
            <a:pPr eaLnBrk="1" hangingPunct="1">
              <a:spcBef>
                <a:spcPct val="0"/>
              </a:spcBef>
            </a:pPr>
            <a:r>
              <a:rPr lang="zh-CN" altLang="en-US" dirty="0"/>
              <a:t>假设所有候选模块的相关性得分均低于预定义的阈值 </a:t>
            </a:r>
            <a:r>
              <a:rPr lang="en-US" altLang="zh-CN" dirty="0"/>
              <a:t>τ</a:t>
            </a:r>
            <a:r>
              <a:rPr lang="zh-CN" altLang="en-US" dirty="0"/>
              <a:t>， 系统将回退到一组经过人工筛选的高质量模板 𝑃</a:t>
            </a:r>
            <a:r>
              <a:rPr lang="en-US" altLang="zh-CN" dirty="0"/>
              <a:t>_</a:t>
            </a:r>
            <a:r>
              <a:rPr lang="zh-CN" altLang="en-US" dirty="0"/>
              <a:t>𝑒𝑥，并将其与来自 𝐾</a:t>
            </a:r>
            <a:r>
              <a:rPr lang="en-US" altLang="zh-CN" dirty="0"/>
              <a:t>_</a:t>
            </a:r>
            <a:r>
              <a:rPr lang="zh-CN" altLang="en-US" dirty="0"/>
              <a:t>𝑝 的前 𝑘 个匹配项 𝑃</a:t>
            </a:r>
            <a:r>
              <a:rPr lang="en-US" altLang="zh-CN" dirty="0"/>
              <a:t>_</a:t>
            </a:r>
            <a:r>
              <a:rPr lang="zh-CN" altLang="en-US" dirty="0"/>
              <a:t>𝑐𝑡𝑥 结合，作为上下文提示来引导 </a:t>
            </a:r>
            <a:r>
              <a:rPr lang="en-US" altLang="zh-CN" dirty="0"/>
              <a:t>LLM </a:t>
            </a:r>
            <a:r>
              <a:rPr lang="zh-CN" altLang="en-US" dirty="0"/>
              <a:t>生成计划。</a:t>
            </a:r>
          </a:p>
        </p:txBody>
      </p:sp>
      <p:sp>
        <p:nvSpPr>
          <p:cNvPr id="3584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5</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CB864A-0F1A-BA71-9B90-A7931B258E15}"/>
            </a:ext>
          </a:extLst>
        </p:cNvPr>
        <p:cNvGrpSpPr/>
        <p:nvPr/>
      </p:nvGrpSpPr>
      <p:grpSpPr>
        <a:xfrm>
          <a:off x="0" y="0"/>
          <a:ext cx="0" cy="0"/>
          <a:chOff x="0" y="0"/>
          <a:chExt cx="0" cy="0"/>
        </a:xfrm>
      </p:grpSpPr>
      <p:sp>
        <p:nvSpPr>
          <p:cNvPr id="35842" name="幻灯片图像占位符 1">
            <a:extLst>
              <a:ext uri="{FF2B5EF4-FFF2-40B4-BE49-F238E27FC236}">
                <a16:creationId xmlns:a16="http://schemas.microsoft.com/office/drawing/2014/main" id="{2783017A-64B9-130D-26A5-A05E312CCE32}"/>
              </a:ext>
            </a:extLst>
          </p:cNvPr>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5843" name="备注占位符 2">
            <a:extLst>
              <a:ext uri="{FF2B5EF4-FFF2-40B4-BE49-F238E27FC236}">
                <a16:creationId xmlns:a16="http://schemas.microsoft.com/office/drawing/2014/main" id="{32F9AE3D-56F9-BB2D-02A0-D9663F5AE78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b="1" dirty="0"/>
              <a:t>分支增强型分层协调器</a:t>
            </a:r>
            <a:endParaRPr lang="en-US" altLang="zh-CN" b="1" dirty="0"/>
          </a:p>
          <a:p>
            <a:pPr eaLnBrk="1" hangingPunct="1">
              <a:spcBef>
                <a:spcPct val="0"/>
              </a:spcBef>
            </a:pPr>
            <a:r>
              <a:rPr lang="zh-CN" altLang="en-US" dirty="0"/>
              <a:t>对于每个子任务 𝑇</a:t>
            </a:r>
            <a:r>
              <a:rPr lang="en-US" altLang="zh-CN" dirty="0"/>
              <a:t>_</a:t>
            </a:r>
            <a:r>
              <a:rPr lang="zh-CN" altLang="en-US" dirty="0"/>
              <a:t>𝑖，系统会创建一个独立的分支 𝐵</a:t>
            </a:r>
            <a:r>
              <a:rPr lang="en-US" altLang="zh-CN" dirty="0"/>
              <a:t>_</a:t>
            </a:r>
            <a:r>
              <a:rPr lang="zh-CN" altLang="en-US" dirty="0"/>
              <a:t>𝑖，代表一条隔离的推理路径。受 </a:t>
            </a:r>
            <a:r>
              <a:rPr lang="en-US" altLang="zh-CN" dirty="0"/>
              <a:t>Git </a:t>
            </a:r>
            <a:r>
              <a:rPr lang="zh-CN" altLang="en-US" dirty="0"/>
              <a:t>文件系统导向存储模型的启发，每个分支都维护其执行记录 𝑊</a:t>
            </a:r>
            <a:r>
              <a:rPr lang="en-US" altLang="zh-CN" dirty="0"/>
              <a:t>_</a:t>
            </a:r>
            <a:r>
              <a:rPr lang="zh-CN" altLang="en-US" dirty="0"/>
              <a:t>𝑖、规划器生成的推理步骤 𝜋</a:t>
            </a:r>
            <a:r>
              <a:rPr lang="en-US" altLang="zh-CN" dirty="0"/>
              <a:t>_</a:t>
            </a:r>
            <a:r>
              <a:rPr lang="zh-CN" altLang="en-US" dirty="0"/>
              <a:t>𝑖 以及相关元数据（例如时间戳、父分支标识符）。</a:t>
            </a:r>
            <a:endParaRPr lang="en-US" altLang="zh-CN" dirty="0"/>
          </a:p>
          <a:p>
            <a:pPr eaLnBrk="1" hangingPunct="1">
              <a:spcBef>
                <a:spcPct val="0"/>
              </a:spcBef>
            </a:pPr>
            <a:endParaRPr lang="en-US" altLang="zh-CN" dirty="0"/>
          </a:p>
          <a:p>
            <a:pPr eaLnBrk="1" hangingPunct="1">
              <a:spcBef>
                <a:spcPct val="0"/>
              </a:spcBef>
            </a:pPr>
            <a:r>
              <a:rPr lang="zh-CN" altLang="en-US" dirty="0"/>
              <a:t>每个分支的生命周期由一个全局栈结构集中管理。创建新分支时，</a:t>
            </a:r>
            <a:r>
              <a:rPr lang="en-US" altLang="zh-CN" dirty="0"/>
              <a:t>Brancher </a:t>
            </a:r>
            <a:r>
              <a:rPr lang="zh-CN" altLang="en-US" dirty="0"/>
              <a:t>模块会自动将其压入栈中，并切换执行上下文。</a:t>
            </a:r>
            <a:endParaRPr lang="en-US" altLang="zh-CN" dirty="0"/>
          </a:p>
          <a:p>
            <a:pPr eaLnBrk="1" hangingPunct="1">
              <a:spcBef>
                <a:spcPct val="0"/>
              </a:spcBef>
            </a:pPr>
            <a:r>
              <a:rPr lang="zh-CN" altLang="en-US" dirty="0"/>
              <a:t>在合并阶段，系统会将当前分支从栈中弹出。</a:t>
            </a:r>
            <a:r>
              <a:rPr lang="en-US" altLang="zh-CN" dirty="0"/>
              <a:t>Coordinator </a:t>
            </a:r>
            <a:r>
              <a:rPr lang="zh-CN" altLang="en-US" dirty="0"/>
              <a:t>将执行结果聚合到其父分支的工作区中。</a:t>
            </a:r>
            <a:r>
              <a:rPr lang="en-US" altLang="zh-CN" dirty="0"/>
              <a:t>Brancher </a:t>
            </a:r>
            <a:r>
              <a:rPr lang="zh-CN" altLang="en-US" dirty="0"/>
              <a:t>将已完成的分支合并到主推理路径中。</a:t>
            </a:r>
            <a:endParaRPr lang="en-US" altLang="zh-CN" dirty="0"/>
          </a:p>
        </p:txBody>
      </p:sp>
      <p:sp>
        <p:nvSpPr>
          <p:cNvPr id="35844" name="灯片编号占位符 3">
            <a:extLst>
              <a:ext uri="{FF2B5EF4-FFF2-40B4-BE49-F238E27FC236}">
                <a16:creationId xmlns:a16="http://schemas.microsoft.com/office/drawing/2014/main" id="{B53413B3-F9CE-5018-EE0B-D0508125E0E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5</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1070399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1F19F-E0E3-0F3B-AA76-6126D64DEE93}"/>
            </a:ext>
          </a:extLst>
        </p:cNvPr>
        <p:cNvGrpSpPr/>
        <p:nvPr/>
      </p:nvGrpSpPr>
      <p:grpSpPr>
        <a:xfrm>
          <a:off x="0" y="0"/>
          <a:ext cx="0" cy="0"/>
          <a:chOff x="0" y="0"/>
          <a:chExt cx="0" cy="0"/>
        </a:xfrm>
      </p:grpSpPr>
      <p:sp>
        <p:nvSpPr>
          <p:cNvPr id="35842" name="幻灯片图像占位符 1">
            <a:extLst>
              <a:ext uri="{FF2B5EF4-FFF2-40B4-BE49-F238E27FC236}">
                <a16:creationId xmlns:a16="http://schemas.microsoft.com/office/drawing/2014/main" id="{00045955-3A66-17F2-33EC-56996EF9502D}"/>
              </a:ext>
            </a:extLst>
          </p:cNvPr>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5843" name="备注占位符 2">
            <a:extLst>
              <a:ext uri="{FF2B5EF4-FFF2-40B4-BE49-F238E27FC236}">
                <a16:creationId xmlns:a16="http://schemas.microsoft.com/office/drawing/2014/main" id="{75C61737-59BB-3677-8EC2-A8C3D4DB722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a:t>协调器逐步解析规划器生成的计划轨迹 𝜋。</a:t>
            </a:r>
            <a:endParaRPr lang="en-US" altLang="zh-CN" dirty="0"/>
          </a:p>
          <a:p>
            <a:pPr eaLnBrk="1" hangingPunct="1">
              <a:spcBef>
                <a:spcPct val="0"/>
              </a:spcBef>
            </a:pPr>
            <a:r>
              <a:rPr lang="zh-CN" altLang="en-US" dirty="0"/>
              <a:t>评估每个步骤 𝑠</a:t>
            </a:r>
            <a:r>
              <a:rPr lang="en-US" altLang="zh-CN" dirty="0"/>
              <a:t>_</a:t>
            </a:r>
            <a:r>
              <a:rPr lang="zh-CN" altLang="en-US" dirty="0"/>
              <a:t>𝑖 的执行复杂度。</a:t>
            </a:r>
            <a:endParaRPr lang="en-US" altLang="zh-CN" dirty="0"/>
          </a:p>
          <a:p>
            <a:pPr eaLnBrk="1" hangingPunct="1">
              <a:spcBef>
                <a:spcPct val="0"/>
              </a:spcBef>
            </a:pPr>
            <a:r>
              <a:rPr lang="zh-CN" altLang="en-US" dirty="0"/>
              <a:t>如果某个步骤与现有流程模板匹配，则将其移交给分支器。</a:t>
            </a:r>
            <a:endParaRPr lang="en-US" altLang="zh-CN" dirty="0"/>
          </a:p>
          <a:p>
            <a:pPr eaLnBrk="1" hangingPunct="1">
              <a:spcBef>
                <a:spcPct val="0"/>
              </a:spcBef>
            </a:pPr>
            <a:r>
              <a:rPr lang="zh-CN" altLang="en-US" dirty="0"/>
              <a:t>否则，系统将评估该步骤的实现难度，以决定是否仍需创建新分支。</a:t>
            </a:r>
            <a:endParaRPr lang="en-US" altLang="zh-CN" dirty="0"/>
          </a:p>
          <a:p>
            <a:pPr eaLnBrk="1" hangingPunct="1">
              <a:spcBef>
                <a:spcPct val="0"/>
              </a:spcBef>
            </a:pPr>
            <a:r>
              <a:rPr lang="zh-CN" altLang="en-US" dirty="0"/>
              <a:t>当分支内的所有任务完成，或选择器步骤执行完毕时，系统会分配一个置信度评分 𝑐 并将其与阈值 𝜃 进行比较。</a:t>
            </a:r>
            <a:endParaRPr lang="en-US" altLang="zh-CN" dirty="0"/>
          </a:p>
          <a:p>
            <a:pPr eaLnBrk="1" hangingPunct="1">
              <a:spcBef>
                <a:spcPct val="0"/>
              </a:spcBef>
            </a:pPr>
            <a:r>
              <a:rPr lang="zh-CN" altLang="en-US" dirty="0"/>
              <a:t>若 𝑐 ≤ 𝜃，则当前信息无法完成该任务。</a:t>
            </a:r>
            <a:endParaRPr lang="en-US" altLang="zh-CN" dirty="0"/>
          </a:p>
          <a:p>
            <a:pPr eaLnBrk="1" hangingPunct="1">
              <a:spcBef>
                <a:spcPct val="0"/>
              </a:spcBef>
            </a:pPr>
            <a:r>
              <a:rPr lang="zh-CN" altLang="en-US" dirty="0"/>
              <a:t>在此情况下，协调器将重新调用规划器，以插入补充步骤或重新规划当前的执行轨迹。</a:t>
            </a:r>
          </a:p>
        </p:txBody>
      </p:sp>
      <p:sp>
        <p:nvSpPr>
          <p:cNvPr id="35844" name="灯片编号占位符 3">
            <a:extLst>
              <a:ext uri="{FF2B5EF4-FFF2-40B4-BE49-F238E27FC236}">
                <a16:creationId xmlns:a16="http://schemas.microsoft.com/office/drawing/2014/main" id="{928CC3F5-2765-2B23-29AC-A82DF559212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5</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741669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AF99A-F0E6-DCBE-F7E7-C27C07FB5702}"/>
            </a:ext>
          </a:extLst>
        </p:cNvPr>
        <p:cNvGrpSpPr/>
        <p:nvPr/>
      </p:nvGrpSpPr>
      <p:grpSpPr>
        <a:xfrm>
          <a:off x="0" y="0"/>
          <a:ext cx="0" cy="0"/>
          <a:chOff x="0" y="0"/>
          <a:chExt cx="0" cy="0"/>
        </a:xfrm>
      </p:grpSpPr>
      <p:sp>
        <p:nvSpPr>
          <p:cNvPr id="35842" name="幻灯片图像占位符 1">
            <a:extLst>
              <a:ext uri="{FF2B5EF4-FFF2-40B4-BE49-F238E27FC236}">
                <a16:creationId xmlns:a16="http://schemas.microsoft.com/office/drawing/2014/main" id="{AD043E15-A82F-14DD-3219-CD3CDAD7CAB6}"/>
              </a:ext>
            </a:extLst>
          </p:cNvPr>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5843" name="备注占位符 2">
            <a:extLst>
              <a:ext uri="{FF2B5EF4-FFF2-40B4-BE49-F238E27FC236}">
                <a16:creationId xmlns:a16="http://schemas.microsoft.com/office/drawing/2014/main" id="{5E4A946F-0638-3754-A27B-3779B975B12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a:t>完成任务 𝑇 后，系统会根据执行结果进行反思性分析。</a:t>
            </a:r>
            <a:endParaRPr lang="en-US" altLang="zh-CN" dirty="0"/>
          </a:p>
          <a:p>
            <a:pPr eaLnBrk="1" hangingPunct="1">
              <a:spcBef>
                <a:spcPct val="0"/>
              </a:spcBef>
            </a:pPr>
            <a:r>
              <a:rPr lang="zh-CN" altLang="en-US" dirty="0"/>
              <a:t>若任务失败，系统将对结果和推理路径进行事后审查。</a:t>
            </a:r>
            <a:endParaRPr lang="en-US" altLang="zh-CN" dirty="0"/>
          </a:p>
          <a:p>
            <a:pPr eaLnBrk="1" hangingPunct="1">
              <a:spcBef>
                <a:spcPct val="0"/>
              </a:spcBef>
            </a:pPr>
            <a:r>
              <a:rPr lang="zh-CN" altLang="en-US" dirty="0"/>
              <a:t>系统将提取的见解存档至记忆库 𝑀</a:t>
            </a:r>
            <a:r>
              <a:rPr lang="en-US" altLang="zh-CN" dirty="0"/>
              <a:t>_</a:t>
            </a:r>
            <a:r>
              <a:rPr lang="zh-CN" altLang="en-US" dirty="0"/>
              <a:t>𝑟，作为后续根本原因分析（</a:t>
            </a:r>
            <a:r>
              <a:rPr lang="en-US" altLang="zh-CN" dirty="0"/>
              <a:t>RCA</a:t>
            </a:r>
            <a:r>
              <a:rPr lang="zh-CN" altLang="en-US" dirty="0"/>
              <a:t>）流程及策略优化的知识基础。</a:t>
            </a:r>
            <a:endParaRPr lang="en-US" altLang="zh-CN" dirty="0"/>
          </a:p>
        </p:txBody>
      </p:sp>
      <p:sp>
        <p:nvSpPr>
          <p:cNvPr id="35844" name="灯片编号占位符 3">
            <a:extLst>
              <a:ext uri="{FF2B5EF4-FFF2-40B4-BE49-F238E27FC236}">
                <a16:creationId xmlns:a16="http://schemas.microsoft.com/office/drawing/2014/main" id="{DDE98B4F-2A21-5597-3FFB-00967B98A21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5</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28408168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BAA52-4763-1997-6FF9-4764F0E76494}"/>
            </a:ext>
          </a:extLst>
        </p:cNvPr>
        <p:cNvGrpSpPr/>
        <p:nvPr/>
      </p:nvGrpSpPr>
      <p:grpSpPr>
        <a:xfrm>
          <a:off x="0" y="0"/>
          <a:ext cx="0" cy="0"/>
          <a:chOff x="0" y="0"/>
          <a:chExt cx="0" cy="0"/>
        </a:xfrm>
      </p:grpSpPr>
      <p:sp>
        <p:nvSpPr>
          <p:cNvPr id="35842" name="幻灯片图像占位符 1">
            <a:extLst>
              <a:ext uri="{FF2B5EF4-FFF2-40B4-BE49-F238E27FC236}">
                <a16:creationId xmlns:a16="http://schemas.microsoft.com/office/drawing/2014/main" id="{04244EC2-5BF3-2439-208C-EDBDBB9B0507}"/>
              </a:ext>
            </a:extLst>
          </p:cNvPr>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5843" name="备注占位符 2">
            <a:extLst>
              <a:ext uri="{FF2B5EF4-FFF2-40B4-BE49-F238E27FC236}">
                <a16:creationId xmlns:a16="http://schemas.microsoft.com/office/drawing/2014/main" id="{43DDB3FE-F80B-BCBC-0CF2-EEF6C9A859B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b="1" dirty="0"/>
              <a:t>状态感知型任务执行</a:t>
            </a:r>
            <a:endParaRPr lang="en-US" altLang="zh-CN" b="1" dirty="0"/>
          </a:p>
          <a:p>
            <a:pPr eaLnBrk="1" hangingPunct="1">
              <a:spcBef>
                <a:spcPct val="0"/>
              </a:spcBef>
            </a:pPr>
            <a:r>
              <a:rPr lang="zh-CN" altLang="en-US" dirty="0"/>
              <a:t>在现实场景中，例如 </a:t>
            </a:r>
            <a:r>
              <a:rPr lang="en-US" altLang="zh-CN" dirty="0" err="1"/>
              <a:t>OpenRCA</a:t>
            </a:r>
            <a:r>
              <a:rPr lang="en-US" altLang="zh-CN" dirty="0"/>
              <a:t> </a:t>
            </a:r>
            <a:r>
              <a:rPr lang="zh-CN" altLang="en-US" dirty="0"/>
              <a:t>中的异常检测任务，日志、指标和跟踪记录的总容量可能超过 </a:t>
            </a:r>
            <a:r>
              <a:rPr lang="en-US" altLang="zh-CN" dirty="0"/>
              <a:t>68GB</a:t>
            </a:r>
            <a:r>
              <a:rPr lang="zh-CN" altLang="en-US" dirty="0"/>
              <a:t>，这远超当前主流大型语言模型（</a:t>
            </a:r>
            <a:r>
              <a:rPr lang="en-US" altLang="zh-CN" dirty="0"/>
              <a:t>LLMs</a:t>
            </a:r>
            <a:r>
              <a:rPr lang="zh-CN" altLang="en-US" dirty="0"/>
              <a:t>）的上下文限制。</a:t>
            </a:r>
            <a:endParaRPr lang="en-US" altLang="zh-CN" dirty="0"/>
          </a:p>
          <a:p>
            <a:pPr eaLnBrk="1" hangingPunct="1">
              <a:spcBef>
                <a:spcPct val="0"/>
              </a:spcBef>
            </a:pPr>
            <a:r>
              <a:rPr lang="zh-CN" altLang="en-US" dirty="0"/>
              <a:t>因此，</a:t>
            </a:r>
            <a:r>
              <a:rPr lang="en-US" altLang="zh-CN" dirty="0" err="1"/>
              <a:t>RCAFlow</a:t>
            </a:r>
            <a:r>
              <a:rPr lang="en-US" altLang="zh-CN" dirty="0"/>
              <a:t> </a:t>
            </a:r>
            <a:r>
              <a:rPr lang="zh-CN" altLang="en-US" dirty="0"/>
              <a:t>旨在协调外部分析工具，以实现动态数据处理。</a:t>
            </a:r>
            <a:endParaRPr lang="en-US" altLang="zh-CN" dirty="0"/>
          </a:p>
          <a:p>
            <a:pPr eaLnBrk="1" hangingPunct="1">
              <a:spcBef>
                <a:spcPct val="0"/>
              </a:spcBef>
            </a:pPr>
            <a:endParaRPr lang="en-US" altLang="zh-CN" dirty="0"/>
          </a:p>
          <a:p>
            <a:pPr eaLnBrk="1" hangingPunct="1">
              <a:spcBef>
                <a:spcPct val="0"/>
              </a:spcBef>
            </a:pPr>
            <a:r>
              <a:rPr lang="zh-CN" altLang="en-US" dirty="0"/>
              <a:t>系统利用协调器（</a:t>
            </a:r>
            <a:r>
              <a:rPr lang="en-US" altLang="zh-CN" dirty="0"/>
              <a:t>Coordinator</a:t>
            </a:r>
            <a:r>
              <a:rPr lang="zh-CN" altLang="en-US" dirty="0"/>
              <a:t>），根据当前推理计划 </a:t>
            </a:r>
            <a:r>
              <a:rPr lang="en-US" altLang="zh-CN" dirty="0"/>
              <a:t>S </a:t>
            </a:r>
            <a:r>
              <a:rPr lang="zh-CN" altLang="en-US" dirty="0"/>
              <a:t>和任务目标 𝑇 检索合适的分析工具 𝐾</a:t>
            </a:r>
            <a:r>
              <a:rPr lang="en-US" altLang="zh-CN" dirty="0"/>
              <a:t>_</a:t>
            </a:r>
            <a:r>
              <a:rPr lang="zh-CN" altLang="en-US" dirty="0"/>
              <a:t>𝑡。</a:t>
            </a:r>
            <a:endParaRPr lang="en-US" altLang="zh-CN" dirty="0"/>
          </a:p>
          <a:p>
            <a:pPr eaLnBrk="1" hangingPunct="1">
              <a:spcBef>
                <a:spcPct val="0"/>
              </a:spcBef>
            </a:pPr>
            <a:r>
              <a:rPr lang="zh-CN" altLang="en-US" dirty="0"/>
              <a:t>如果所需工具不在预定义工具集中，系统将调用大型语言模型（</a:t>
            </a:r>
            <a:r>
              <a:rPr lang="en-US" altLang="zh-CN" dirty="0"/>
              <a:t>LLM</a:t>
            </a:r>
            <a:r>
              <a:rPr lang="zh-CN" altLang="en-US" dirty="0"/>
              <a:t>）自动生成可执行的分析代码。</a:t>
            </a:r>
            <a:endParaRPr lang="en-US" altLang="zh-CN" dirty="0"/>
          </a:p>
          <a:p>
            <a:pPr eaLnBrk="1" hangingPunct="1">
              <a:spcBef>
                <a:spcPct val="0"/>
              </a:spcBef>
            </a:pPr>
            <a:r>
              <a:rPr lang="zh-CN" altLang="en-US" dirty="0"/>
              <a:t>执行器（</a:t>
            </a:r>
            <a:r>
              <a:rPr lang="en-US" altLang="zh-CN" dirty="0"/>
              <a:t>Executor</a:t>
            </a:r>
            <a:r>
              <a:rPr lang="zh-CN" altLang="en-US" dirty="0"/>
              <a:t>）会在隔离的 </a:t>
            </a:r>
            <a:r>
              <a:rPr lang="en-US" altLang="zh-CN" dirty="0"/>
              <a:t>Python </a:t>
            </a:r>
            <a:r>
              <a:rPr lang="zh-CN" altLang="en-US" dirty="0"/>
              <a:t>环境中执行该代码，以进行数据分析和异常检测。</a:t>
            </a:r>
          </a:p>
        </p:txBody>
      </p:sp>
      <p:sp>
        <p:nvSpPr>
          <p:cNvPr id="35844" name="灯片编号占位符 3">
            <a:extLst>
              <a:ext uri="{FF2B5EF4-FFF2-40B4-BE49-F238E27FC236}">
                <a16:creationId xmlns:a16="http://schemas.microsoft.com/office/drawing/2014/main" id="{83DE3D46-4A98-9185-2325-2669F4DF85A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5</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16105735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F5A24-D853-1A67-01D5-B3480836EFC1}"/>
            </a:ext>
          </a:extLst>
        </p:cNvPr>
        <p:cNvGrpSpPr/>
        <p:nvPr/>
      </p:nvGrpSpPr>
      <p:grpSpPr>
        <a:xfrm>
          <a:off x="0" y="0"/>
          <a:ext cx="0" cy="0"/>
          <a:chOff x="0" y="0"/>
          <a:chExt cx="0" cy="0"/>
        </a:xfrm>
      </p:grpSpPr>
      <p:sp>
        <p:nvSpPr>
          <p:cNvPr id="35842" name="幻灯片图像占位符 1">
            <a:extLst>
              <a:ext uri="{FF2B5EF4-FFF2-40B4-BE49-F238E27FC236}">
                <a16:creationId xmlns:a16="http://schemas.microsoft.com/office/drawing/2014/main" id="{92809D04-C551-3824-1A8F-D0ABDDC524A9}"/>
              </a:ext>
            </a:extLst>
          </p:cNvPr>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5843" name="备注占位符 2">
            <a:extLst>
              <a:ext uri="{FF2B5EF4-FFF2-40B4-BE49-F238E27FC236}">
                <a16:creationId xmlns:a16="http://schemas.microsoft.com/office/drawing/2014/main" id="{E33F1E0E-905E-977D-4BD5-53433865D73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a:t>设计不佳的推理链可能会导致过早终止（遗漏关键步骤）或过度扩展（引入冗余信息），从而破坏大语言模型（</a:t>
            </a:r>
            <a:r>
              <a:rPr lang="en-US" altLang="zh-CN" dirty="0"/>
              <a:t>LLM</a:t>
            </a:r>
            <a:r>
              <a:rPr lang="zh-CN" altLang="en-US" dirty="0"/>
              <a:t>）的上下文保持能力，并降低诊断的准确性和稳定性。</a:t>
            </a:r>
            <a:endParaRPr lang="en-US" altLang="zh-CN" dirty="0"/>
          </a:p>
          <a:p>
            <a:pPr eaLnBrk="1" hangingPunct="1">
              <a:spcBef>
                <a:spcPct val="0"/>
              </a:spcBef>
            </a:pPr>
            <a:endParaRPr lang="en-US" altLang="zh-CN" dirty="0"/>
          </a:p>
          <a:p>
            <a:pPr eaLnBrk="1" hangingPunct="1">
              <a:spcBef>
                <a:spcPct val="0"/>
              </a:spcBef>
            </a:pPr>
            <a:r>
              <a:rPr lang="zh-CN" altLang="en-US" dirty="0"/>
              <a:t>对于数据处理任务，分析器将结果写入对应工作区 </a:t>
            </a:r>
            <a:r>
              <a:rPr lang="en-US" altLang="zh-CN" dirty="0"/>
              <a:t>Wi </a:t>
            </a:r>
            <a:r>
              <a:rPr lang="zh-CN" altLang="en-US" dirty="0"/>
              <a:t>的文件目录。</a:t>
            </a:r>
            <a:endParaRPr lang="en-US" altLang="zh-CN" dirty="0"/>
          </a:p>
          <a:p>
            <a:pPr eaLnBrk="1" hangingPunct="1">
              <a:spcBef>
                <a:spcPct val="0"/>
              </a:spcBef>
            </a:pPr>
            <a:r>
              <a:rPr lang="zh-CN" altLang="en-US" dirty="0"/>
              <a:t>在分析任务中，它通过将低级原始输出与系统元数据关联起来，从而为其提供上下文背景。</a:t>
            </a:r>
            <a:endParaRPr lang="en-US" altLang="zh-CN" dirty="0"/>
          </a:p>
          <a:p>
            <a:pPr eaLnBrk="1" hangingPunct="1">
              <a:spcBef>
                <a:spcPct val="0"/>
              </a:spcBef>
            </a:pPr>
            <a:r>
              <a:rPr lang="zh-CN" altLang="en-US" dirty="0"/>
              <a:t>结果以结构化摘要的形式返回，高亮关键字段，从而有效地过滤掉噪声元素。</a:t>
            </a:r>
            <a:endParaRPr lang="en-US" altLang="zh-CN" dirty="0"/>
          </a:p>
          <a:p>
            <a:pPr eaLnBrk="1" hangingPunct="1">
              <a:spcBef>
                <a:spcPct val="0"/>
              </a:spcBef>
            </a:pPr>
            <a:r>
              <a:rPr lang="zh-CN" altLang="en-US" dirty="0"/>
              <a:t>分析器还会计算异常条目数量和异常占比等指标，以评估任务完成度。</a:t>
            </a:r>
            <a:endParaRPr lang="en-US" altLang="zh-CN" dirty="0"/>
          </a:p>
          <a:p>
            <a:pPr eaLnBrk="1" hangingPunct="1">
              <a:spcBef>
                <a:spcPct val="0"/>
              </a:spcBef>
            </a:pPr>
            <a:r>
              <a:rPr lang="zh-CN" altLang="en-US" dirty="0"/>
              <a:t>这些汇总评估结果将回传给协调器。</a:t>
            </a:r>
          </a:p>
        </p:txBody>
      </p:sp>
      <p:sp>
        <p:nvSpPr>
          <p:cNvPr id="35844" name="灯片编号占位符 3">
            <a:extLst>
              <a:ext uri="{FF2B5EF4-FFF2-40B4-BE49-F238E27FC236}">
                <a16:creationId xmlns:a16="http://schemas.microsoft.com/office/drawing/2014/main" id="{68429970-F0E2-AC19-EAFD-4C78DF482F3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5</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26979447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F27B0-4911-44CD-74C7-1A39500683F5}"/>
            </a:ext>
          </a:extLst>
        </p:cNvPr>
        <p:cNvGrpSpPr/>
        <p:nvPr/>
      </p:nvGrpSpPr>
      <p:grpSpPr>
        <a:xfrm>
          <a:off x="0" y="0"/>
          <a:ext cx="0" cy="0"/>
          <a:chOff x="0" y="0"/>
          <a:chExt cx="0" cy="0"/>
        </a:xfrm>
      </p:grpSpPr>
      <p:sp>
        <p:nvSpPr>
          <p:cNvPr id="37890" name="幻灯片图像占位符 1">
            <a:extLst>
              <a:ext uri="{FF2B5EF4-FFF2-40B4-BE49-F238E27FC236}">
                <a16:creationId xmlns:a16="http://schemas.microsoft.com/office/drawing/2014/main" id="{DA507ED9-D9BF-54C9-C730-6BE9617315AB}"/>
              </a:ext>
            </a:extLst>
          </p:cNvPr>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7891" name="备注占位符 2">
            <a:extLst>
              <a:ext uri="{FF2B5EF4-FFF2-40B4-BE49-F238E27FC236}">
                <a16:creationId xmlns:a16="http://schemas.microsoft.com/office/drawing/2014/main" id="{D08CDA16-E79E-A16B-2AC6-C2B79694CEA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a:t>数据集。</a:t>
            </a:r>
            <a:r>
              <a:rPr lang="en-US" altLang="zh-CN" dirty="0" err="1"/>
              <a:t>OpenRCA</a:t>
            </a:r>
            <a:r>
              <a:rPr lang="en-US" altLang="zh-CN" dirty="0"/>
              <a:t> </a:t>
            </a:r>
            <a:r>
              <a:rPr lang="zh-CN" altLang="en-US" dirty="0"/>
              <a:t>中的三个具有挑战性的数据集：</a:t>
            </a:r>
            <a:r>
              <a:rPr lang="en-US" altLang="zh-CN" dirty="0"/>
              <a:t>Bank</a:t>
            </a:r>
            <a:r>
              <a:rPr lang="zh-CN" altLang="en-US" dirty="0"/>
              <a:t>、</a:t>
            </a:r>
            <a:r>
              <a:rPr lang="en-US" altLang="zh-CN" dirty="0"/>
              <a:t>Market </a:t>
            </a:r>
            <a:r>
              <a:rPr lang="zh-CN" altLang="en-US" dirty="0"/>
              <a:t>和 </a:t>
            </a:r>
            <a:r>
              <a:rPr lang="en-US" altLang="zh-CN" dirty="0"/>
              <a:t>Telecom</a:t>
            </a:r>
            <a:r>
              <a:rPr lang="zh-CN" altLang="en-US" dirty="0"/>
              <a:t>，分别对应银行系统、在线零售系统和电信数据库系统。</a:t>
            </a:r>
            <a:endParaRPr lang="en-US" altLang="zh-CN" dirty="0"/>
          </a:p>
          <a:p>
            <a:pPr eaLnBrk="1" hangingPunct="1">
              <a:spcBef>
                <a:spcPct val="0"/>
              </a:spcBef>
            </a:pPr>
            <a:r>
              <a:rPr lang="zh-CN" altLang="en-US" dirty="0"/>
              <a:t>评估指标。</a:t>
            </a:r>
            <a:endParaRPr lang="en-US" altLang="zh-CN" dirty="0"/>
          </a:p>
          <a:p>
            <a:pPr eaLnBrk="1" hangingPunct="1">
              <a:spcBef>
                <a:spcPct val="0"/>
              </a:spcBef>
            </a:pPr>
            <a:r>
              <a:rPr lang="zh-CN" altLang="en-US" dirty="0"/>
              <a:t>完全准确率：要求所有预测的根本原因要素（包括组件、时间戳和原因）与相应的真实标签完全一致。</a:t>
            </a:r>
            <a:endParaRPr lang="en-US" altLang="zh-CN" dirty="0"/>
          </a:p>
          <a:p>
            <a:pPr eaLnBrk="1" hangingPunct="1">
              <a:spcBef>
                <a:spcPct val="0"/>
              </a:spcBef>
            </a:pPr>
            <a:r>
              <a:rPr lang="zh-CN" altLang="en-US" dirty="0"/>
              <a:t>部分准确率：衡量模型是否成功识别出至少一个正确的根本原因要素。</a:t>
            </a:r>
          </a:p>
        </p:txBody>
      </p:sp>
      <p:sp>
        <p:nvSpPr>
          <p:cNvPr id="37892" name="灯片编号占位符 3">
            <a:extLst>
              <a:ext uri="{FF2B5EF4-FFF2-40B4-BE49-F238E27FC236}">
                <a16:creationId xmlns:a16="http://schemas.microsoft.com/office/drawing/2014/main" id="{EED71414-3FC5-0F30-176F-B280DC7ADED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6</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15588089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78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a:t>无论采用何种骨干网络，</a:t>
            </a:r>
            <a:r>
              <a:rPr lang="en-US" altLang="zh-CN" dirty="0" err="1"/>
              <a:t>RCAFlow</a:t>
            </a:r>
            <a:r>
              <a:rPr lang="en-US" altLang="zh-CN" dirty="0"/>
              <a:t> </a:t>
            </a:r>
            <a:r>
              <a:rPr lang="zh-CN" altLang="en-US" dirty="0"/>
              <a:t>在所有数据集上均能保持最高的成功率。</a:t>
            </a:r>
            <a:endParaRPr lang="en-US" altLang="zh-CN" dirty="0"/>
          </a:p>
          <a:p>
            <a:pPr eaLnBrk="1" hangingPunct="1">
              <a:spcBef>
                <a:spcPct val="0"/>
              </a:spcBef>
            </a:pPr>
            <a:r>
              <a:rPr lang="en-US" altLang="zh-CN" dirty="0" err="1"/>
              <a:t>RCAFlow</a:t>
            </a:r>
            <a:r>
              <a:rPr lang="en-US" altLang="zh-CN" dirty="0"/>
              <a:t> </a:t>
            </a:r>
            <a:r>
              <a:rPr lang="zh-CN" altLang="en-US" dirty="0"/>
              <a:t>在两项评估指标上均表现优异。</a:t>
            </a:r>
          </a:p>
        </p:txBody>
      </p:sp>
      <p:sp>
        <p:nvSpPr>
          <p:cNvPr id="378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6</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09DD4-B033-14E0-B1B5-206AE0FE3DD2}"/>
            </a:ext>
          </a:extLst>
        </p:cNvPr>
        <p:cNvGrpSpPr/>
        <p:nvPr/>
      </p:nvGrpSpPr>
      <p:grpSpPr>
        <a:xfrm>
          <a:off x="0" y="0"/>
          <a:ext cx="0" cy="0"/>
          <a:chOff x="0" y="0"/>
          <a:chExt cx="0" cy="0"/>
        </a:xfrm>
      </p:grpSpPr>
      <p:sp>
        <p:nvSpPr>
          <p:cNvPr id="37890" name="幻灯片图像占位符 1">
            <a:extLst>
              <a:ext uri="{FF2B5EF4-FFF2-40B4-BE49-F238E27FC236}">
                <a16:creationId xmlns:a16="http://schemas.microsoft.com/office/drawing/2014/main" id="{ECC13E8E-A0CE-91A1-F44D-CE01B6C2470F}"/>
              </a:ext>
            </a:extLst>
          </p:cNvPr>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7891" name="备注占位符 2">
            <a:extLst>
              <a:ext uri="{FF2B5EF4-FFF2-40B4-BE49-F238E27FC236}">
                <a16:creationId xmlns:a16="http://schemas.microsoft.com/office/drawing/2014/main" id="{DF435DAA-EE96-F88D-566E-80575EF7F42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a:t>所有变体都表现出不同程度的性能下降，这证实了每个模块的必要性和有效性。</a:t>
            </a:r>
            <a:endParaRPr lang="en-US" altLang="zh-CN" dirty="0"/>
          </a:p>
          <a:p>
            <a:pPr eaLnBrk="1" hangingPunct="1">
              <a:spcBef>
                <a:spcPct val="0"/>
              </a:spcBef>
            </a:pPr>
            <a:r>
              <a:rPr lang="en-US" altLang="zh-CN" dirty="0" err="1"/>
              <a:t>RCAFlow</a:t>
            </a:r>
            <a:r>
              <a:rPr lang="en-US" altLang="zh-CN" dirty="0"/>
              <a:t> w/o K </a:t>
            </a:r>
            <a:r>
              <a:rPr lang="zh-CN" altLang="en-US" dirty="0"/>
              <a:t>移除了 </a:t>
            </a:r>
            <a:r>
              <a:rPr lang="en-US" altLang="zh-CN" dirty="0"/>
              <a:t>K</a:t>
            </a:r>
            <a:r>
              <a:rPr lang="zh-CN" altLang="en-US" dirty="0"/>
              <a:t>，将所有领域知识视为未知，并完全依赖大语言模型（</a:t>
            </a:r>
            <a:r>
              <a:rPr lang="en-US" altLang="zh-CN" dirty="0"/>
              <a:t>LLM</a:t>
            </a:r>
            <a:r>
              <a:rPr lang="zh-CN" altLang="en-US" dirty="0"/>
              <a:t>）进行任务规划；</a:t>
            </a:r>
            <a:endParaRPr lang="en-US" altLang="zh-CN" dirty="0"/>
          </a:p>
          <a:p>
            <a:pPr eaLnBrk="1" hangingPunct="1">
              <a:spcBef>
                <a:spcPct val="0"/>
              </a:spcBef>
            </a:pPr>
            <a:r>
              <a:rPr lang="en-US" altLang="zh-CN" dirty="0" err="1"/>
              <a:t>RCAFlow</a:t>
            </a:r>
            <a:r>
              <a:rPr lang="en-US" altLang="zh-CN" dirty="0"/>
              <a:t> w/o Planner </a:t>
            </a:r>
            <a:r>
              <a:rPr lang="zh-CN" altLang="en-US" dirty="0"/>
              <a:t>省略了语义检索和结构化规划，直接将原始任务上下文输入语言模型进行决策；</a:t>
            </a:r>
            <a:endParaRPr lang="en-US" altLang="zh-CN" dirty="0"/>
          </a:p>
          <a:p>
            <a:pPr eaLnBrk="1" hangingPunct="1">
              <a:spcBef>
                <a:spcPct val="0"/>
              </a:spcBef>
            </a:pPr>
            <a:r>
              <a:rPr lang="en-US" altLang="zh-CN" dirty="0" err="1"/>
              <a:t>RCAFlow</a:t>
            </a:r>
            <a:r>
              <a:rPr lang="en-US" altLang="zh-CN" dirty="0"/>
              <a:t> w/o Coordinator </a:t>
            </a:r>
            <a:r>
              <a:rPr lang="zh-CN" altLang="en-US" dirty="0"/>
              <a:t>去除了分支管理器和自适应分层协调器，代之以线性思维链推理结构；</a:t>
            </a:r>
            <a:endParaRPr lang="en-US" altLang="zh-CN" dirty="0"/>
          </a:p>
          <a:p>
            <a:pPr eaLnBrk="1" hangingPunct="1">
              <a:spcBef>
                <a:spcPct val="0"/>
              </a:spcBef>
            </a:pPr>
            <a:r>
              <a:rPr lang="en-US" altLang="zh-CN" dirty="0" err="1"/>
              <a:t>RCAFlow</a:t>
            </a:r>
            <a:r>
              <a:rPr lang="en-US" altLang="zh-CN" dirty="0"/>
              <a:t> w/o Analyzer </a:t>
            </a:r>
            <a:r>
              <a:rPr lang="zh-CN" altLang="en-US" dirty="0"/>
              <a:t>移除了执行分析模块，使模型无法总结执行结果；</a:t>
            </a:r>
            <a:endParaRPr lang="en-US" altLang="zh-CN" dirty="0"/>
          </a:p>
          <a:p>
            <a:pPr eaLnBrk="1" hangingPunct="1">
              <a:spcBef>
                <a:spcPct val="0"/>
              </a:spcBef>
            </a:pPr>
            <a:r>
              <a:rPr lang="en-US" altLang="zh-CN" dirty="0" err="1"/>
              <a:t>RCAFlow</a:t>
            </a:r>
            <a:r>
              <a:rPr lang="en-US" altLang="zh-CN" dirty="0"/>
              <a:t> w/o Reflection </a:t>
            </a:r>
            <a:r>
              <a:rPr lang="zh-CN" altLang="en-US" dirty="0"/>
              <a:t>舍弃了反思模块，禁用了推理轨迹内省和经验保留功能。</a:t>
            </a:r>
            <a:endParaRPr lang="en-US" altLang="zh-CN" dirty="0"/>
          </a:p>
          <a:p>
            <a:pPr eaLnBrk="1" hangingPunct="1">
              <a:spcBef>
                <a:spcPct val="0"/>
              </a:spcBef>
            </a:pPr>
            <a:endParaRPr lang="en-US" altLang="zh-CN" dirty="0"/>
          </a:p>
          <a:p>
            <a:pPr eaLnBrk="1" hangingPunct="1">
              <a:spcBef>
                <a:spcPct val="0"/>
              </a:spcBef>
            </a:pPr>
            <a:r>
              <a:rPr lang="zh-CN" altLang="en-US" dirty="0"/>
              <a:t>这凸显了基于先验知识的任务分解以及具备分支感知适应性的可靠子任务执行的重要性。</a:t>
            </a:r>
            <a:endParaRPr lang="en-US" altLang="zh-CN" dirty="0"/>
          </a:p>
          <a:p>
            <a:pPr eaLnBrk="1" hangingPunct="1">
              <a:spcBef>
                <a:spcPct val="0"/>
              </a:spcBef>
            </a:pPr>
            <a:r>
              <a:rPr lang="zh-CN" altLang="en-US" dirty="0"/>
              <a:t>这表明结构化规划在提高任务合规性和推理效率方面起着至关重要的作用</a:t>
            </a:r>
          </a:p>
        </p:txBody>
      </p:sp>
      <p:sp>
        <p:nvSpPr>
          <p:cNvPr id="37892" name="灯片编号占位符 3">
            <a:extLst>
              <a:ext uri="{FF2B5EF4-FFF2-40B4-BE49-F238E27FC236}">
                <a16:creationId xmlns:a16="http://schemas.microsoft.com/office/drawing/2014/main" id="{55FD99A1-1836-750B-F97B-D326FDD8B0D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6</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26587834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B7E130-CBEB-2880-BC44-E700222BD9A0}"/>
            </a:ext>
          </a:extLst>
        </p:cNvPr>
        <p:cNvGrpSpPr/>
        <p:nvPr/>
      </p:nvGrpSpPr>
      <p:grpSpPr>
        <a:xfrm>
          <a:off x="0" y="0"/>
          <a:ext cx="0" cy="0"/>
          <a:chOff x="0" y="0"/>
          <a:chExt cx="0" cy="0"/>
        </a:xfrm>
      </p:grpSpPr>
      <p:sp>
        <p:nvSpPr>
          <p:cNvPr id="37890" name="幻灯片图像占位符 1">
            <a:extLst>
              <a:ext uri="{FF2B5EF4-FFF2-40B4-BE49-F238E27FC236}">
                <a16:creationId xmlns:a16="http://schemas.microsoft.com/office/drawing/2014/main" id="{C1CB27AA-4FFA-8B9D-BB68-CEB94813CD13}"/>
              </a:ext>
            </a:extLst>
          </p:cNvPr>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7891" name="备注占位符 2">
            <a:extLst>
              <a:ext uri="{FF2B5EF4-FFF2-40B4-BE49-F238E27FC236}">
                <a16:creationId xmlns:a16="http://schemas.microsoft.com/office/drawing/2014/main" id="{0C0048BB-EC5B-8B72-1436-59FE5BA5126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a:t>𝐿</a:t>
            </a:r>
            <a:r>
              <a:rPr lang="en-US" altLang="zh-CN" dirty="0"/>
              <a:t>_</a:t>
            </a:r>
            <a:r>
              <a:rPr lang="zh-CN" altLang="en-US" dirty="0"/>
              <a:t>𝑘 表示第 𝑘 个样本的诊断路径长度，𝑁</a:t>
            </a:r>
            <a:r>
              <a:rPr lang="en-US" altLang="zh-CN" dirty="0"/>
              <a:t>_</a:t>
            </a:r>
            <a:r>
              <a:rPr lang="zh-CN" altLang="en-US" dirty="0"/>
              <a:t>𝑝 表示在指定的最大路径长度内完成诊断的样本数。</a:t>
            </a:r>
            <a:endParaRPr lang="en-US" altLang="zh-CN" dirty="0"/>
          </a:p>
          <a:p>
            <a:pPr eaLnBrk="1" hangingPunct="1">
              <a:spcBef>
                <a:spcPct val="0"/>
              </a:spcBef>
            </a:pPr>
            <a:r>
              <a:rPr lang="en-US" altLang="zh-CN" dirty="0"/>
              <a:t>APL </a:t>
            </a:r>
            <a:r>
              <a:rPr lang="zh-CN" altLang="en-US" dirty="0"/>
              <a:t>会随着阈值的增加而增加，因为系统往往会过度延长任务的执行时间</a:t>
            </a:r>
            <a:r>
              <a:rPr lang="en-US" altLang="zh-CN" dirty="0"/>
              <a:t>--</a:t>
            </a:r>
            <a:r>
              <a:rPr lang="zh-CN" altLang="en-US" dirty="0"/>
              <a:t>甚至在某些子任务完成后还在继续分析</a:t>
            </a:r>
            <a:r>
              <a:rPr lang="en-US" altLang="zh-CN" dirty="0"/>
              <a:t>--</a:t>
            </a:r>
            <a:r>
              <a:rPr lang="zh-CN" altLang="en-US" dirty="0"/>
              <a:t>从而导致多余的推理步骤。</a:t>
            </a:r>
            <a:endParaRPr lang="en-US" altLang="zh-CN" dirty="0"/>
          </a:p>
          <a:p>
            <a:pPr eaLnBrk="1" hangingPunct="1">
              <a:spcBef>
                <a:spcPct val="0"/>
              </a:spcBef>
            </a:pPr>
            <a:r>
              <a:rPr lang="zh-CN" altLang="en-US" dirty="0"/>
              <a:t>随着阈值的增加，正确率呈现先升后降的模式：适度的阈值有助于更准确地完成推理路径，从而提高性能。</a:t>
            </a:r>
            <a:endParaRPr lang="en-US" altLang="zh-CN" dirty="0"/>
          </a:p>
          <a:p>
            <a:pPr eaLnBrk="1" hangingPunct="1">
              <a:spcBef>
                <a:spcPct val="0"/>
              </a:spcBef>
            </a:pPr>
            <a:r>
              <a:rPr lang="zh-CN" altLang="en-US" dirty="0"/>
              <a:t>过高的阈值会引入噪声或不必要的步骤，导致路径臃肿、信息冗余和认知负荷增加，从而降低性能。</a:t>
            </a:r>
            <a:endParaRPr lang="en-US" altLang="zh-CN" dirty="0"/>
          </a:p>
          <a:p>
            <a:pPr eaLnBrk="1" hangingPunct="1">
              <a:spcBef>
                <a:spcPct val="0"/>
              </a:spcBef>
            </a:pPr>
            <a:r>
              <a:rPr lang="zh-CN" altLang="en-US" dirty="0"/>
              <a:t>过低的阈值可能会导致系统过度简化复杂的子任务，跳过关键步骤，造成不完整的根本原因分析。</a:t>
            </a:r>
            <a:endParaRPr lang="en-US" altLang="zh-CN" dirty="0"/>
          </a:p>
          <a:p>
            <a:pPr eaLnBrk="1" hangingPunct="1">
              <a:spcBef>
                <a:spcPct val="0"/>
              </a:spcBef>
            </a:pPr>
            <a:endParaRPr lang="zh-CN" altLang="en-US" dirty="0"/>
          </a:p>
        </p:txBody>
      </p:sp>
      <p:sp>
        <p:nvSpPr>
          <p:cNvPr id="37892" name="灯片编号占位符 3">
            <a:extLst>
              <a:ext uri="{FF2B5EF4-FFF2-40B4-BE49-F238E27FC236}">
                <a16:creationId xmlns:a16="http://schemas.microsoft.com/office/drawing/2014/main" id="{276FB30B-2D6F-551F-86FA-1BDE2BBFBD4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6</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36904252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C50C78-1DA5-F853-EAFA-19EF8977DE04}"/>
            </a:ext>
          </a:extLst>
        </p:cNvPr>
        <p:cNvGrpSpPr/>
        <p:nvPr/>
      </p:nvGrpSpPr>
      <p:grpSpPr>
        <a:xfrm>
          <a:off x="0" y="0"/>
          <a:ext cx="0" cy="0"/>
          <a:chOff x="0" y="0"/>
          <a:chExt cx="0" cy="0"/>
        </a:xfrm>
      </p:grpSpPr>
      <p:sp>
        <p:nvSpPr>
          <p:cNvPr id="37890" name="幻灯片图像占位符 1">
            <a:extLst>
              <a:ext uri="{FF2B5EF4-FFF2-40B4-BE49-F238E27FC236}">
                <a16:creationId xmlns:a16="http://schemas.microsoft.com/office/drawing/2014/main" id="{5C1A51E6-8924-76D2-BFA7-C9CC5F1FDAB4}"/>
              </a:ext>
            </a:extLst>
          </p:cNvPr>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7891" name="备注占位符 2">
            <a:extLst>
              <a:ext uri="{FF2B5EF4-FFF2-40B4-BE49-F238E27FC236}">
                <a16:creationId xmlns:a16="http://schemas.microsoft.com/office/drawing/2014/main" id="{C0130803-532A-D471-1CDF-094D5E8B382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a:t>通过额外的 </a:t>
            </a:r>
            <a:r>
              <a:rPr lang="en-US" altLang="zh-CN" dirty="0"/>
              <a:t>SOP </a:t>
            </a:r>
            <a:r>
              <a:rPr lang="zh-CN" altLang="en-US" dirty="0"/>
              <a:t>和规则对原始工作流程进行改进，进一步提高了正确率，凸显了高质量工作流程设计的价值。</a:t>
            </a:r>
            <a:endParaRPr lang="en-US" altLang="zh-CN" dirty="0"/>
          </a:p>
          <a:p>
            <a:pPr eaLnBrk="1" hangingPunct="1">
              <a:spcBef>
                <a:spcPct val="0"/>
              </a:spcBef>
            </a:pPr>
            <a:r>
              <a:rPr lang="zh-CN" altLang="en-US" dirty="0"/>
              <a:t>作者对结构相对简单的故障规则进行了实验。结果表明，该系统仍能显著提高故障定位效率，证明了其在典型场景中的实用性。</a:t>
            </a:r>
            <a:endParaRPr lang="en-US" altLang="zh-CN" dirty="0"/>
          </a:p>
          <a:p>
            <a:pPr eaLnBrk="1" hangingPunct="1">
              <a:spcBef>
                <a:spcPct val="0"/>
              </a:spcBef>
            </a:pPr>
            <a:r>
              <a:rPr lang="zh-CN" altLang="en-US" dirty="0"/>
              <a:t>考虑到 </a:t>
            </a:r>
            <a:r>
              <a:rPr lang="en-US" altLang="zh-CN" dirty="0"/>
              <a:t>LLM </a:t>
            </a:r>
            <a:r>
              <a:rPr lang="zh-CN" altLang="en-US" dirty="0"/>
              <a:t>的随机性，作者对每条规则进行了多次工作流生成试验。准确度指标显示出较低的方差，表明该系统具有鲁棒性。</a:t>
            </a:r>
          </a:p>
        </p:txBody>
      </p:sp>
      <p:sp>
        <p:nvSpPr>
          <p:cNvPr id="37892" name="灯片编号占位符 3">
            <a:extLst>
              <a:ext uri="{FF2B5EF4-FFF2-40B4-BE49-F238E27FC236}">
                <a16:creationId xmlns:a16="http://schemas.microsoft.com/office/drawing/2014/main" id="{BAF4A95A-7A14-0635-FACE-C60276FB6B1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6</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86411814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8499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8499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29</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cSld name="标题幻灯片">
    <p:spTree>
      <p:nvGrpSpPr>
        <p:cNvPr id="1" name=""/>
        <p:cNvGrpSpPr/>
        <p:nvPr/>
      </p:nvGrpSpPr>
      <p:grpSpPr>
        <a:xfrm>
          <a:off x="0" y="0"/>
          <a:ext cx="0" cy="0"/>
          <a:chOff x="0" y="0"/>
          <a:chExt cx="0" cy="0"/>
        </a:xfrm>
      </p:grpSpPr>
      <p:pic>
        <p:nvPicPr>
          <p:cNvPr id="4" name="图片 1"/>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9141619"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9" name="Text Placeholder 2"/>
          <p:cNvSpPr>
            <a:spLocks noGrp="1"/>
          </p:cNvSpPr>
          <p:nvPr>
            <p:ph type="subTitle" idx="1"/>
          </p:nvPr>
        </p:nvSpPr>
        <p:spPr>
          <a:xfrm>
            <a:off x="3452812" y="2878932"/>
            <a:ext cx="2947988" cy="273844"/>
          </a:xfrm>
          <a:prstGeom prst="rect">
            <a:avLst/>
          </a:prstGeom>
          <a:noFill/>
          <a:ln w="9525">
            <a:noFill/>
            <a:miter/>
          </a:ln>
        </p:spPr>
        <p:txBody>
          <a:bodyPr anchor="t"/>
          <a:lstStyle>
            <a:lvl1pPr marL="64135" lvl="0" indent="-64135" algn="ctr">
              <a:buNone/>
              <a:defRPr sz="1350" kern="1200">
                <a:solidFill>
                  <a:srgbClr val="6C6F72"/>
                </a:solidFill>
              </a:defRPr>
            </a:lvl1pPr>
            <a:lvl2pPr marL="0" lvl="1" indent="0" algn="ctr">
              <a:buNone/>
              <a:defRPr sz="1350" kern="1200">
                <a:solidFill>
                  <a:srgbClr val="6C6F72"/>
                </a:solidFill>
              </a:defRPr>
            </a:lvl2pPr>
            <a:lvl3pPr marL="685800" lvl="2" indent="-685800" algn="ctr">
              <a:buNone/>
              <a:defRPr sz="1350" kern="1200">
                <a:solidFill>
                  <a:srgbClr val="6C6F72"/>
                </a:solidFill>
              </a:defRPr>
            </a:lvl3pPr>
            <a:lvl4pPr marL="1028700" lvl="3" indent="-1028700" algn="ctr">
              <a:buNone/>
              <a:defRPr sz="1350" kern="1200">
                <a:solidFill>
                  <a:srgbClr val="6C6F72"/>
                </a:solidFill>
              </a:defRPr>
            </a:lvl4pPr>
            <a:lvl5pPr marL="1371600" lvl="4" indent="-1371600" algn="ctr">
              <a:buNone/>
              <a:defRPr sz="1350" kern="1200">
                <a:solidFill>
                  <a:srgbClr val="6C6F72"/>
                </a:solidFill>
              </a:defRPr>
            </a:lvl5pPr>
          </a:lstStyle>
          <a:p>
            <a:pPr lvl="0"/>
            <a:r>
              <a:rPr lang="zh-CN" altLang="en-US" dirty="0"/>
              <a:t>单击此处编辑母版副标题样式</a:t>
            </a:r>
          </a:p>
        </p:txBody>
      </p:sp>
      <p:sp>
        <p:nvSpPr>
          <p:cNvPr id="11273" name="Title Placeholder 1"/>
          <p:cNvSpPr>
            <a:spLocks noGrp="1"/>
          </p:cNvSpPr>
          <p:nvPr>
            <p:ph type="ctrTitle"/>
          </p:nvPr>
        </p:nvSpPr>
        <p:spPr>
          <a:xfrm>
            <a:off x="3440907" y="1431132"/>
            <a:ext cx="2961085" cy="1373981"/>
          </a:xfrm>
          <a:prstGeom prst="rect">
            <a:avLst/>
          </a:prstGeom>
          <a:noFill/>
          <a:ln w="9525">
            <a:noFill/>
            <a:miter/>
          </a:ln>
        </p:spPr>
        <p:txBody>
          <a:bodyPr anchor="b"/>
          <a:lstStyle>
            <a:lvl1pPr lvl="0" algn="ctr">
              <a:lnSpc>
                <a:spcPct val="110000"/>
              </a:lnSpc>
              <a:defRPr sz="2700" kern="1200"/>
            </a:lvl1pPr>
          </a:lstStyle>
          <a:p>
            <a:pPr lvl="0"/>
            <a:r>
              <a:rPr lang="zh-CN" altLang="en-US" dirty="0"/>
              <a:t>单击此处编辑母版标题样式</a:t>
            </a:r>
          </a:p>
        </p:txBody>
      </p:sp>
      <p:sp>
        <p:nvSpPr>
          <p:cNvPr id="5" name="Date Placeholder 3"/>
          <p:cNvSpPr>
            <a:spLocks noGrp="1"/>
          </p:cNvSpPr>
          <p:nvPr>
            <p:ph type="dt" sz="half" idx="10"/>
          </p:nvPr>
        </p:nvSpPr>
        <p:spPr>
          <a:xfrm>
            <a:off x="457200" y="4683919"/>
            <a:ext cx="2133600" cy="357188"/>
          </a:xfrm>
        </p:spPr>
        <p:txBody>
          <a:bodyPr rtlCol="0"/>
          <a:lstStyle>
            <a:lvl1pPr algn="l" fontAlgn="auto">
              <a:spcBef>
                <a:spcPts val="0"/>
              </a:spcBef>
              <a:spcAft>
                <a:spcPts val="0"/>
              </a:spcAft>
              <a:defRPr sz="900">
                <a:solidFill>
                  <a:schemeClr val="bg1">
                    <a:lumMod val="65000"/>
                  </a:schemeClr>
                </a:solidFill>
                <a:latin typeface="+mn-lt"/>
                <a:ea typeface="+mn-ea"/>
              </a:defRPr>
            </a:lvl1pPr>
          </a:lstStyle>
          <a:p>
            <a:pPr>
              <a:defRPr/>
            </a:pPr>
            <a:fld id="{3635A771-F006-476C-801A-C0C821B8BC29}" type="datetimeFigureOut">
              <a:rPr lang="zh-CN" altLang="en-US"/>
              <a:t>2026/6/15</a:t>
            </a:fld>
            <a:endParaRPr lang="zh-CN" altLang="en-US"/>
          </a:p>
        </p:txBody>
      </p:sp>
      <p:sp>
        <p:nvSpPr>
          <p:cNvPr id="6" name="Footer Placeholder 4"/>
          <p:cNvSpPr>
            <a:spLocks noGrp="1"/>
          </p:cNvSpPr>
          <p:nvPr>
            <p:ph type="ftr" sz="quarter" idx="11"/>
          </p:nvPr>
        </p:nvSpPr>
        <p:spPr>
          <a:xfrm>
            <a:off x="3124200" y="4683919"/>
            <a:ext cx="2895600" cy="357188"/>
          </a:xfrm>
        </p:spPr>
        <p:txBody>
          <a:bodyPr/>
          <a:lstStyle>
            <a:lvl1pPr algn="l">
              <a:defRPr sz="1350">
                <a:solidFill>
                  <a:schemeClr val="tx1"/>
                </a:solidFill>
              </a:defRPr>
            </a:lvl1pPr>
          </a:lstStyle>
          <a:p>
            <a:pPr>
              <a:defRPr/>
            </a:pPr>
            <a:endParaRPr lang="zh-CN" altLang="en-US"/>
          </a:p>
        </p:txBody>
      </p:sp>
      <p:sp>
        <p:nvSpPr>
          <p:cNvPr id="7" name="Slide Number Placeholder 5"/>
          <p:cNvSpPr>
            <a:spLocks noGrp="1"/>
          </p:cNvSpPr>
          <p:nvPr>
            <p:ph type="sldNum" sz="quarter" idx="12"/>
          </p:nvPr>
        </p:nvSpPr>
        <p:spPr>
          <a:xfrm>
            <a:off x="6553200" y="4683919"/>
            <a:ext cx="2133600" cy="357188"/>
          </a:xfrm>
        </p:spPr>
        <p:txBody>
          <a:bodyPr/>
          <a:lstStyle>
            <a:lvl1pPr>
              <a:defRPr/>
            </a:lvl1pPr>
          </a:lstStyle>
          <a:p>
            <a:pPr>
              <a:defRPr/>
            </a:pPr>
            <a:fld id="{F7EAFFE3-5D96-4A57-AFB6-87EC306C7F51}" type="slidenum">
              <a:rPr lang="zh-CN" altLang="en-US"/>
              <a:t>‹#›</a:t>
            </a:fld>
            <a:endParaRPr lang="zh-CN" alt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895351" y="251222"/>
            <a:ext cx="7690247" cy="451247"/>
          </a:xfrm>
          <a:prstGeom prst="rect">
            <a:avLst/>
          </a:prstGeom>
        </p:spPr>
        <p:txBody>
          <a:bodyPr/>
          <a:lstStyle/>
          <a:p>
            <a:r>
              <a:rPr lang="zh-CN" altLang="en-US"/>
              <a:t>单击此处编辑母版标题样式</a:t>
            </a:r>
            <a:endParaRPr lang="en-US" dirty="0"/>
          </a:p>
        </p:txBody>
      </p:sp>
      <p:sp>
        <p:nvSpPr>
          <p:cNvPr id="3" name="Content Placeholder 2"/>
          <p:cNvSpPr>
            <a:spLocks noGrp="1"/>
          </p:cNvSpPr>
          <p:nvPr>
            <p:ph idx="1"/>
          </p:nvPr>
        </p:nvSpPr>
        <p:spPr>
          <a:xfrm>
            <a:off x="523876" y="981076"/>
            <a:ext cx="8061722" cy="3650456"/>
          </a:xfrm>
          <a:prstGeom prst="rect">
            <a:avLst/>
          </a:prstGeom>
        </p:spPr>
        <p:txBody>
          <a:bodyPr/>
          <a:lstStyle/>
          <a:p>
            <a:pPr lvl="0"/>
            <a:r>
              <a:rPr lang="zh-CN" altLang="en-US"/>
              <a:t>单击此处编辑母版文本样式</a:t>
            </a:r>
          </a:p>
          <a:p>
            <a:pPr lvl="1"/>
            <a:r>
              <a:rPr lang="zh-CN" altLang="en-US"/>
              <a:t>第二级</a:t>
            </a:r>
          </a:p>
        </p:txBody>
      </p:sp>
      <p:sp>
        <p:nvSpPr>
          <p:cNvPr id="4" name="日期占位符 3"/>
          <p:cNvSpPr>
            <a:spLocks noGrp="1"/>
          </p:cNvSpPr>
          <p:nvPr>
            <p:ph type="dt" sz="half" idx="10"/>
          </p:nvPr>
        </p:nvSpPr>
        <p:spPr/>
        <p:txBody>
          <a:bodyPr rtlCol="0"/>
          <a:lstStyle>
            <a:lvl1pPr fontAlgn="auto">
              <a:spcBef>
                <a:spcPts val="0"/>
              </a:spcBef>
              <a:spcAft>
                <a:spcPts val="0"/>
              </a:spcAft>
              <a:defRPr>
                <a:solidFill>
                  <a:schemeClr val="bg1">
                    <a:lumMod val="65000"/>
                  </a:schemeClr>
                </a:solidFill>
                <a:latin typeface="+mn-lt"/>
                <a:ea typeface="+mn-ea"/>
              </a:defRPr>
            </a:lvl1pPr>
          </a:lstStyle>
          <a:p>
            <a:pPr>
              <a:defRPr/>
            </a:pPr>
            <a:fld id="{BB0F55AF-7C8C-434F-9EEF-80DA5D25AB8D}" type="datetimeFigureOut">
              <a:rPr lang="zh-CN" altLang="en-US"/>
              <a:t>2026/6/15</a:t>
            </a:fld>
            <a:endParaRPr lang="zh-CN" altLang="en-US"/>
          </a:p>
        </p:txBody>
      </p:sp>
      <p:sp>
        <p:nvSpPr>
          <p:cNvPr id="5" name="页脚占位符 4"/>
          <p:cNvSpPr>
            <a:spLocks noGrp="1"/>
          </p:cNvSpPr>
          <p:nvPr>
            <p:ph type="ftr" sz="quarter" idx="11"/>
          </p:nvPr>
        </p:nvSpPr>
        <p:spPr/>
        <p:txBody>
          <a:bodyPr/>
          <a:lstStyle>
            <a:lvl1pPr algn="l">
              <a:defRPr sz="1350">
                <a:solidFill>
                  <a:schemeClr val="tx1"/>
                </a:solidFill>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83A84667-012C-4ACA-9A7F-F89290D317DF}" type="slidenum">
              <a:rPr lang="zh-CN" altLang="en-US"/>
              <a:t>‹#›</a:t>
            </a:fld>
            <a:endParaRPr lang="zh-CN" alt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6"/>
            <a:ext cx="7886700" cy="2139553"/>
          </a:xfrm>
          <a:prstGeom prst="rect">
            <a:avLst/>
          </a:prstGeom>
        </p:spPr>
        <p:txBody>
          <a:bodyPr anchor="b"/>
          <a:lstStyle>
            <a:lvl1pPr>
              <a:defRPr sz="4500">
                <a:solidFill>
                  <a:schemeClr val="bg1">
                    <a:lumMod val="50000"/>
                  </a:schemeClr>
                </a:solidFill>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3442099"/>
            <a:ext cx="7886700" cy="1125140"/>
          </a:xfrm>
          <a:prstGeom prst="rect">
            <a:avLst/>
          </a:prstGeom>
        </p:spPr>
        <p:txBody>
          <a:bodyPr/>
          <a:lstStyle>
            <a:lvl1pPr marL="0" indent="0">
              <a:buNone/>
              <a:defRPr sz="1800">
                <a:solidFill>
                  <a:schemeClr val="bg1">
                    <a:lumMod val="50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rtlCol="0"/>
          <a:lstStyle>
            <a:lvl1pPr fontAlgn="auto">
              <a:spcBef>
                <a:spcPts val="0"/>
              </a:spcBef>
              <a:spcAft>
                <a:spcPts val="0"/>
              </a:spcAft>
              <a:defRPr>
                <a:solidFill>
                  <a:schemeClr val="tx1">
                    <a:tint val="75000"/>
                  </a:schemeClr>
                </a:solidFill>
                <a:latin typeface="+mn-lt"/>
                <a:ea typeface="+mn-ea"/>
              </a:defRPr>
            </a:lvl1pPr>
          </a:lstStyle>
          <a:p>
            <a:pPr>
              <a:defRPr/>
            </a:pPr>
            <a:fld id="{E95C96BA-32C1-4655-9C97-C23405013FD0}" type="datetimeFigureOut">
              <a:rPr lang="zh-CN" altLang="en-US"/>
              <a:t>2026/6/15</a:t>
            </a:fld>
            <a:endParaRPr lang="zh-CN" altLang="en-US"/>
          </a:p>
        </p:txBody>
      </p:sp>
      <p:sp>
        <p:nvSpPr>
          <p:cNvPr id="5" name="页脚占位符 4"/>
          <p:cNvSpPr>
            <a:spLocks noGrp="1"/>
          </p:cNvSpPr>
          <p:nvPr>
            <p:ph type="ftr" sz="quarter" idx="11"/>
          </p:nvPr>
        </p:nvSpPr>
        <p:spPr/>
        <p:txBody>
          <a:bodyPr/>
          <a:lstStyle>
            <a:lvl1pPr>
              <a:defRPr>
                <a:solidFill>
                  <a:srgbClr val="919293"/>
                </a:solidFill>
                <a:latin typeface="Calibri" panose="020F0502020204030204" pitchFamily="34" charset="0"/>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solidFill>
                  <a:srgbClr val="898989"/>
                </a:solidFill>
              </a:defRPr>
            </a:lvl1pPr>
          </a:lstStyle>
          <a:p>
            <a:pPr>
              <a:defRPr/>
            </a:pPr>
            <a:fld id="{5636C0A8-69B2-4071-870C-FCD8DDD95144}" type="slidenum">
              <a:rPr lang="zh-CN" altLang="en-US"/>
              <a:t>‹#›</a:t>
            </a:fld>
            <a:endParaRPr lang="zh-CN" alt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a:xfrm>
            <a:off x="895351" y="251222"/>
            <a:ext cx="7690247" cy="451247"/>
          </a:xfrm>
          <a:prstGeom prst="rect">
            <a:avLst/>
          </a:prstGeom>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369219"/>
            <a:ext cx="3886200" cy="3263504"/>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369219"/>
            <a:ext cx="3886200" cy="3263504"/>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日期占位符 4"/>
          <p:cNvSpPr>
            <a:spLocks noGrp="1"/>
          </p:cNvSpPr>
          <p:nvPr>
            <p:ph type="dt" sz="half" idx="10"/>
          </p:nvPr>
        </p:nvSpPr>
        <p:spPr/>
        <p:txBody>
          <a:bodyPr rtlCol="0"/>
          <a:lstStyle>
            <a:lvl1pPr fontAlgn="auto">
              <a:spcBef>
                <a:spcPts val="0"/>
              </a:spcBef>
              <a:spcAft>
                <a:spcPts val="0"/>
              </a:spcAft>
              <a:defRPr>
                <a:solidFill>
                  <a:schemeClr val="bg1">
                    <a:lumMod val="65000"/>
                  </a:schemeClr>
                </a:solidFill>
                <a:latin typeface="+mn-lt"/>
                <a:ea typeface="+mn-ea"/>
              </a:defRPr>
            </a:lvl1pPr>
          </a:lstStyle>
          <a:p>
            <a:pPr>
              <a:defRPr/>
            </a:pPr>
            <a:fld id="{93A40236-AF37-4727-9512-DA66FB42B0DE}" type="datetimeFigureOut">
              <a:rPr lang="zh-CN" altLang="en-US"/>
              <a:t>2026/6/15</a:t>
            </a:fld>
            <a:endParaRPr lang="zh-CN" altLang="en-US"/>
          </a:p>
        </p:txBody>
      </p:sp>
      <p:sp>
        <p:nvSpPr>
          <p:cNvPr id="6" name="页脚占位符 5"/>
          <p:cNvSpPr>
            <a:spLocks noGrp="1"/>
          </p:cNvSpPr>
          <p:nvPr>
            <p:ph type="ftr" sz="quarter" idx="11"/>
          </p:nvPr>
        </p:nvSpPr>
        <p:spPr/>
        <p:txBody>
          <a:bodyPr/>
          <a:lstStyle>
            <a:lvl1pPr algn="l">
              <a:defRPr sz="1350">
                <a:solidFill>
                  <a:schemeClr val="tx1"/>
                </a:solidFill>
              </a:defRPr>
            </a:lvl1pPr>
          </a:lstStyle>
          <a:p>
            <a:pPr>
              <a:defRPr/>
            </a:pPr>
            <a:endParaRPr lang="zh-CN" altLang="en-US"/>
          </a:p>
        </p:txBody>
      </p:sp>
      <p:sp>
        <p:nvSpPr>
          <p:cNvPr id="7" name="灯片编号占位符 6"/>
          <p:cNvSpPr>
            <a:spLocks noGrp="1"/>
          </p:cNvSpPr>
          <p:nvPr>
            <p:ph type="sldNum" sz="quarter" idx="12"/>
          </p:nvPr>
        </p:nvSpPr>
        <p:spPr/>
        <p:txBody>
          <a:bodyPr/>
          <a:lstStyle>
            <a:lvl1pPr>
              <a:defRPr/>
            </a:lvl1pPr>
          </a:lstStyle>
          <a:p>
            <a:pPr>
              <a:defRPr/>
            </a:pPr>
            <a:fld id="{B79110E9-3CBC-4FF8-AEB5-E87072A4E625}" type="slidenum">
              <a:rPr lang="zh-CN" altLang="en-US"/>
              <a:t>‹#›</a:t>
            </a:fld>
            <a:endParaRPr lang="zh-CN" alt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6"/>
            <a:ext cx="7886700" cy="994172"/>
          </a:xfrm>
          <a:prstGeom prst="rect">
            <a:avLst/>
          </a:prstGeo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260872"/>
            <a:ext cx="3868340" cy="617934"/>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Content Placeholder 3"/>
          <p:cNvSpPr>
            <a:spLocks noGrp="1"/>
          </p:cNvSpPr>
          <p:nvPr>
            <p:ph sz="half" idx="2"/>
          </p:nvPr>
        </p:nvSpPr>
        <p:spPr>
          <a:xfrm>
            <a:off x="629842" y="1878806"/>
            <a:ext cx="3868340" cy="2763441"/>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2" y="1260872"/>
            <a:ext cx="3887391" cy="617934"/>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Content Placeholder 5"/>
          <p:cNvSpPr>
            <a:spLocks noGrp="1"/>
          </p:cNvSpPr>
          <p:nvPr>
            <p:ph sz="quarter" idx="4"/>
          </p:nvPr>
        </p:nvSpPr>
        <p:spPr>
          <a:xfrm>
            <a:off x="4629152" y="1878806"/>
            <a:ext cx="3887391" cy="2763441"/>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日期占位符 6"/>
          <p:cNvSpPr>
            <a:spLocks noGrp="1"/>
          </p:cNvSpPr>
          <p:nvPr>
            <p:ph type="dt" sz="half" idx="10"/>
          </p:nvPr>
        </p:nvSpPr>
        <p:spPr/>
        <p:txBody>
          <a:bodyPr rtlCol="0"/>
          <a:lstStyle>
            <a:lvl1pPr fontAlgn="auto">
              <a:spcBef>
                <a:spcPts val="0"/>
              </a:spcBef>
              <a:spcAft>
                <a:spcPts val="0"/>
              </a:spcAft>
              <a:defRPr>
                <a:solidFill>
                  <a:schemeClr val="bg1">
                    <a:lumMod val="65000"/>
                  </a:schemeClr>
                </a:solidFill>
                <a:latin typeface="+mn-lt"/>
                <a:ea typeface="+mn-ea"/>
              </a:defRPr>
            </a:lvl1pPr>
          </a:lstStyle>
          <a:p>
            <a:pPr>
              <a:defRPr/>
            </a:pPr>
            <a:fld id="{8B68149F-0C9C-491B-8EAE-33DEE6AEAEC4}" type="datetimeFigureOut">
              <a:rPr lang="zh-CN" altLang="en-US"/>
              <a:t>2026/6/15</a:t>
            </a:fld>
            <a:endParaRPr lang="zh-CN" altLang="en-US"/>
          </a:p>
        </p:txBody>
      </p:sp>
      <p:sp>
        <p:nvSpPr>
          <p:cNvPr id="8" name="页脚占位符 7"/>
          <p:cNvSpPr>
            <a:spLocks noGrp="1"/>
          </p:cNvSpPr>
          <p:nvPr>
            <p:ph type="ftr" sz="quarter" idx="11"/>
          </p:nvPr>
        </p:nvSpPr>
        <p:spPr/>
        <p:txBody>
          <a:bodyPr/>
          <a:lstStyle>
            <a:lvl1pPr algn="l">
              <a:defRPr sz="1350">
                <a:solidFill>
                  <a:schemeClr val="tx1"/>
                </a:solidFill>
              </a:defRPr>
            </a:lvl1pPr>
          </a:lstStyle>
          <a:p>
            <a:pPr>
              <a:defRPr/>
            </a:pPr>
            <a:endParaRPr lang="zh-CN" altLang="en-US"/>
          </a:p>
        </p:txBody>
      </p:sp>
      <p:sp>
        <p:nvSpPr>
          <p:cNvPr id="9" name="灯片编号占位符 8"/>
          <p:cNvSpPr>
            <a:spLocks noGrp="1"/>
          </p:cNvSpPr>
          <p:nvPr>
            <p:ph type="sldNum" sz="quarter" idx="12"/>
          </p:nvPr>
        </p:nvSpPr>
        <p:spPr/>
        <p:txBody>
          <a:bodyPr/>
          <a:lstStyle>
            <a:lvl1pPr>
              <a:defRPr/>
            </a:lvl1pPr>
          </a:lstStyle>
          <a:p>
            <a:pPr>
              <a:defRPr/>
            </a:pPr>
            <a:fld id="{001CD988-AABA-4271-BA70-01B6F9A87373}" type="slidenum">
              <a:rPr lang="zh-CN" altLang="en-US"/>
              <a:t>‹#›</a:t>
            </a:fld>
            <a:endParaRPr lang="zh-CN" alt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895351" y="251222"/>
            <a:ext cx="7690247" cy="451247"/>
          </a:xfrm>
          <a:prstGeom prst="rect">
            <a:avLst/>
          </a:prstGeom>
        </p:spPr>
        <p:txBody>
          <a:bodyPr/>
          <a:lstStyle/>
          <a:p>
            <a:r>
              <a:rPr lang="zh-CN" altLang="en-US"/>
              <a:t>单击此处编辑母版标题样式</a:t>
            </a:r>
            <a:endParaRPr lang="en-US" dirty="0"/>
          </a:p>
        </p:txBody>
      </p:sp>
      <p:sp>
        <p:nvSpPr>
          <p:cNvPr id="3" name="日期占位符 2"/>
          <p:cNvSpPr>
            <a:spLocks noGrp="1"/>
          </p:cNvSpPr>
          <p:nvPr>
            <p:ph type="dt" sz="half" idx="10"/>
          </p:nvPr>
        </p:nvSpPr>
        <p:spPr/>
        <p:txBody>
          <a:bodyPr rtlCol="0"/>
          <a:lstStyle>
            <a:lvl1pPr fontAlgn="auto">
              <a:spcBef>
                <a:spcPts val="0"/>
              </a:spcBef>
              <a:spcAft>
                <a:spcPts val="0"/>
              </a:spcAft>
              <a:defRPr>
                <a:solidFill>
                  <a:schemeClr val="bg1">
                    <a:lumMod val="65000"/>
                  </a:schemeClr>
                </a:solidFill>
                <a:latin typeface="+mn-lt"/>
                <a:ea typeface="+mn-ea"/>
              </a:defRPr>
            </a:lvl1pPr>
          </a:lstStyle>
          <a:p>
            <a:pPr>
              <a:defRPr/>
            </a:pPr>
            <a:fld id="{75E18762-3EDF-4983-98E8-301F9D5D9E69}" type="datetimeFigureOut">
              <a:rPr lang="zh-CN" altLang="en-US"/>
              <a:t>2026/6/15</a:t>
            </a:fld>
            <a:endParaRPr lang="zh-CN" altLang="en-US"/>
          </a:p>
        </p:txBody>
      </p:sp>
      <p:sp>
        <p:nvSpPr>
          <p:cNvPr id="4" name="页脚占位符 3"/>
          <p:cNvSpPr>
            <a:spLocks noGrp="1"/>
          </p:cNvSpPr>
          <p:nvPr>
            <p:ph type="ftr" sz="quarter" idx="11"/>
          </p:nvPr>
        </p:nvSpPr>
        <p:spPr/>
        <p:txBody>
          <a:bodyPr/>
          <a:lstStyle>
            <a:lvl1pPr algn="l">
              <a:defRPr sz="1350">
                <a:solidFill>
                  <a:schemeClr val="tx1"/>
                </a:solidFill>
              </a:defRPr>
            </a:lvl1pPr>
          </a:lstStyle>
          <a:p>
            <a:pPr>
              <a:defRPr/>
            </a:pPr>
            <a:endParaRPr lang="zh-CN" altLang="en-US"/>
          </a:p>
        </p:txBody>
      </p:sp>
      <p:sp>
        <p:nvSpPr>
          <p:cNvPr id="5" name="灯片编号占位符 4"/>
          <p:cNvSpPr>
            <a:spLocks noGrp="1"/>
          </p:cNvSpPr>
          <p:nvPr>
            <p:ph type="sldNum" sz="quarter" idx="12"/>
          </p:nvPr>
        </p:nvSpPr>
        <p:spPr/>
        <p:txBody>
          <a:bodyPr/>
          <a:lstStyle>
            <a:lvl1pPr>
              <a:defRPr/>
            </a:lvl1pPr>
          </a:lstStyle>
          <a:p>
            <a:pPr>
              <a:defRPr/>
            </a:pPr>
            <a:fld id="{B34624B3-7BC5-45F9-833A-20BAD35DEC91}" type="slidenum">
              <a:rPr lang="zh-CN" altLang="en-US"/>
              <a:t>‹#›</a:t>
            </a:fld>
            <a:endParaRPr lang="zh-CN" alt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a:prstGeom prst="rect">
            <a:avLst/>
          </a:prstGeom>
        </p:spPr>
        <p:txBody>
          <a:bodyPr anchor="b"/>
          <a:lstStyle>
            <a:lvl1pPr>
              <a:defRPr sz="24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740571"/>
            <a:ext cx="4629150" cy="3655219"/>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1543051"/>
            <a:ext cx="2949178" cy="2858691"/>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rtlCol="0"/>
          <a:lstStyle>
            <a:lvl1pPr fontAlgn="auto">
              <a:spcBef>
                <a:spcPts val="0"/>
              </a:spcBef>
              <a:spcAft>
                <a:spcPts val="0"/>
              </a:spcAft>
              <a:defRPr>
                <a:solidFill>
                  <a:schemeClr val="bg1">
                    <a:lumMod val="65000"/>
                  </a:schemeClr>
                </a:solidFill>
                <a:latin typeface="+mn-lt"/>
                <a:ea typeface="+mn-ea"/>
              </a:defRPr>
            </a:lvl1pPr>
          </a:lstStyle>
          <a:p>
            <a:pPr>
              <a:defRPr/>
            </a:pPr>
            <a:fld id="{2A31A2A3-44CF-4E76-A66E-423BD30FDCE3}" type="datetimeFigureOut">
              <a:rPr lang="zh-CN" altLang="en-US"/>
              <a:t>2026/6/15</a:t>
            </a:fld>
            <a:endParaRPr lang="zh-CN" altLang="en-US"/>
          </a:p>
        </p:txBody>
      </p:sp>
      <p:sp>
        <p:nvSpPr>
          <p:cNvPr id="6" name="页脚占位符 5"/>
          <p:cNvSpPr>
            <a:spLocks noGrp="1"/>
          </p:cNvSpPr>
          <p:nvPr>
            <p:ph type="ftr" sz="quarter" idx="11"/>
          </p:nvPr>
        </p:nvSpPr>
        <p:spPr/>
        <p:txBody>
          <a:bodyPr/>
          <a:lstStyle>
            <a:lvl1pPr algn="l">
              <a:defRPr sz="1350">
                <a:solidFill>
                  <a:schemeClr val="tx1"/>
                </a:solidFill>
              </a:defRPr>
            </a:lvl1pPr>
          </a:lstStyle>
          <a:p>
            <a:pPr>
              <a:defRPr/>
            </a:pPr>
            <a:endParaRPr lang="zh-CN" altLang="en-US"/>
          </a:p>
        </p:txBody>
      </p:sp>
      <p:sp>
        <p:nvSpPr>
          <p:cNvPr id="7" name="灯片编号占位符 6"/>
          <p:cNvSpPr>
            <a:spLocks noGrp="1"/>
          </p:cNvSpPr>
          <p:nvPr>
            <p:ph type="sldNum" sz="quarter" idx="12"/>
          </p:nvPr>
        </p:nvSpPr>
        <p:spPr/>
        <p:txBody>
          <a:bodyPr/>
          <a:lstStyle>
            <a:lvl1pPr>
              <a:defRPr/>
            </a:lvl1pPr>
          </a:lstStyle>
          <a:p>
            <a:pPr>
              <a:defRPr/>
            </a:pPr>
            <a:fld id="{495FBAC3-CA8D-4FBA-AF42-538D64ADB8A2}" type="slidenum">
              <a:rPr lang="zh-CN" altLang="en-US"/>
              <a:t>‹#›</a:t>
            </a:fld>
            <a:endParaRPr lang="zh-CN" alt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a:prstGeom prst="rect">
            <a:avLst/>
          </a:prstGeom>
        </p:spPr>
        <p:txBody>
          <a:bodyPr anchor="b"/>
          <a:lstStyle>
            <a:lvl1pPr>
              <a:defRPr sz="24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740571"/>
            <a:ext cx="4629150" cy="3655219"/>
          </a:xfrm>
          <a:prstGeom prst="rect">
            <a:avLst/>
          </a:prstGeom>
        </p:spPr>
        <p:txBody>
          <a:bodyPr vert="horz" lIns="91440" tIns="45720" rIns="91440" bIns="45720" rtlCol="0" anchor="t">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629841" y="1543051"/>
            <a:ext cx="2949178" cy="2858691"/>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rtlCol="0"/>
          <a:lstStyle>
            <a:lvl1pPr fontAlgn="auto">
              <a:spcBef>
                <a:spcPts val="0"/>
              </a:spcBef>
              <a:spcAft>
                <a:spcPts val="0"/>
              </a:spcAft>
              <a:defRPr>
                <a:solidFill>
                  <a:schemeClr val="bg1">
                    <a:lumMod val="65000"/>
                  </a:schemeClr>
                </a:solidFill>
                <a:latin typeface="+mn-lt"/>
                <a:ea typeface="+mn-ea"/>
              </a:defRPr>
            </a:lvl1pPr>
          </a:lstStyle>
          <a:p>
            <a:pPr>
              <a:defRPr/>
            </a:pPr>
            <a:fld id="{9C8A9873-664C-4AEF-AE6F-EDD2894100DF}" type="datetimeFigureOut">
              <a:rPr lang="zh-CN" altLang="en-US"/>
              <a:t>2026/6/15</a:t>
            </a:fld>
            <a:endParaRPr lang="zh-CN" altLang="en-US"/>
          </a:p>
        </p:txBody>
      </p:sp>
      <p:sp>
        <p:nvSpPr>
          <p:cNvPr id="6" name="页脚占位符 5"/>
          <p:cNvSpPr>
            <a:spLocks noGrp="1"/>
          </p:cNvSpPr>
          <p:nvPr>
            <p:ph type="ftr" sz="quarter" idx="11"/>
          </p:nvPr>
        </p:nvSpPr>
        <p:spPr/>
        <p:txBody>
          <a:bodyPr/>
          <a:lstStyle>
            <a:lvl1pPr algn="l">
              <a:defRPr sz="1350">
                <a:solidFill>
                  <a:schemeClr val="tx1"/>
                </a:solidFill>
              </a:defRPr>
            </a:lvl1pPr>
          </a:lstStyle>
          <a:p>
            <a:pPr>
              <a:defRPr/>
            </a:pPr>
            <a:endParaRPr lang="zh-CN" altLang="en-US"/>
          </a:p>
        </p:txBody>
      </p:sp>
      <p:sp>
        <p:nvSpPr>
          <p:cNvPr id="7" name="灯片编号占位符 6"/>
          <p:cNvSpPr>
            <a:spLocks noGrp="1"/>
          </p:cNvSpPr>
          <p:nvPr>
            <p:ph type="sldNum" sz="quarter" idx="12"/>
          </p:nvPr>
        </p:nvSpPr>
        <p:spPr/>
        <p:txBody>
          <a:bodyPr/>
          <a:lstStyle>
            <a:lvl1pPr>
              <a:defRPr/>
            </a:lvl1pPr>
          </a:lstStyle>
          <a:p>
            <a:pPr>
              <a:defRPr/>
            </a:pPr>
            <a:fld id="{7D5D5C9C-7908-44C0-BFF0-3D9BEF03216D}" type="slidenum">
              <a:rPr lang="zh-CN" altLang="en-US"/>
              <a:t>‹#›</a:t>
            </a:fld>
            <a:endParaRPr lang="zh-CN" alt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a:xfrm>
            <a:off x="895351" y="251222"/>
            <a:ext cx="7690247" cy="451247"/>
          </a:xfrm>
          <a:prstGeom prst="rect">
            <a:avLst/>
          </a:prstGeom>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23876" y="981076"/>
            <a:ext cx="8061722" cy="3650456"/>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日期占位符 3"/>
          <p:cNvSpPr>
            <a:spLocks noGrp="1"/>
          </p:cNvSpPr>
          <p:nvPr>
            <p:ph type="dt" sz="half" idx="10"/>
          </p:nvPr>
        </p:nvSpPr>
        <p:spPr/>
        <p:txBody>
          <a:bodyPr rtlCol="0"/>
          <a:lstStyle>
            <a:lvl1pPr fontAlgn="auto">
              <a:spcBef>
                <a:spcPts val="0"/>
              </a:spcBef>
              <a:spcAft>
                <a:spcPts val="0"/>
              </a:spcAft>
              <a:defRPr>
                <a:solidFill>
                  <a:schemeClr val="bg1">
                    <a:lumMod val="65000"/>
                  </a:schemeClr>
                </a:solidFill>
                <a:latin typeface="+mn-lt"/>
                <a:ea typeface="+mn-ea"/>
              </a:defRPr>
            </a:lvl1pPr>
          </a:lstStyle>
          <a:p>
            <a:pPr>
              <a:defRPr/>
            </a:pPr>
            <a:fld id="{AC57DBCE-8C4D-485F-8120-71058D8DF911}" type="datetimeFigureOut">
              <a:rPr lang="zh-CN" altLang="en-US"/>
              <a:t>2026/6/15</a:t>
            </a:fld>
            <a:endParaRPr lang="zh-CN" altLang="en-US"/>
          </a:p>
        </p:txBody>
      </p:sp>
      <p:sp>
        <p:nvSpPr>
          <p:cNvPr id="5" name="页脚占位符 4"/>
          <p:cNvSpPr>
            <a:spLocks noGrp="1"/>
          </p:cNvSpPr>
          <p:nvPr>
            <p:ph type="ftr" sz="quarter" idx="11"/>
          </p:nvPr>
        </p:nvSpPr>
        <p:spPr/>
        <p:txBody>
          <a:bodyPr/>
          <a:lstStyle>
            <a:lvl1pPr algn="l">
              <a:defRPr sz="1350">
                <a:solidFill>
                  <a:schemeClr val="tx1"/>
                </a:solidFill>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5DB91BBE-B70E-4969-8233-69CEDE8997F8}" type="slidenum">
              <a:rPr lang="zh-CN" altLang="en-US"/>
              <a:t>‹#›</a:t>
            </a:fld>
            <a:endParaRPr lang="zh-CN" alt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273845"/>
            <a:ext cx="1971675" cy="4358879"/>
          </a:xfrm>
          <a:prstGeom prst="rect">
            <a:avLst/>
          </a:prstGeo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2" y="273845"/>
            <a:ext cx="5800725" cy="4358879"/>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rtlCol="0"/>
          <a:lstStyle>
            <a:lvl1pPr fontAlgn="auto">
              <a:spcBef>
                <a:spcPts val="0"/>
              </a:spcBef>
              <a:spcAft>
                <a:spcPts val="0"/>
              </a:spcAft>
              <a:defRPr>
                <a:solidFill>
                  <a:schemeClr val="bg1">
                    <a:lumMod val="65000"/>
                  </a:schemeClr>
                </a:solidFill>
                <a:latin typeface="+mn-lt"/>
                <a:ea typeface="+mn-ea"/>
              </a:defRPr>
            </a:lvl1pPr>
          </a:lstStyle>
          <a:p>
            <a:pPr>
              <a:defRPr/>
            </a:pPr>
            <a:fld id="{36FF6F94-A737-4432-A9DC-130A95CCF9BC}" type="datetimeFigureOut">
              <a:rPr lang="zh-CN" altLang="en-US"/>
              <a:t>2026/6/15</a:t>
            </a:fld>
            <a:endParaRPr lang="zh-CN" altLang="en-US"/>
          </a:p>
        </p:txBody>
      </p:sp>
      <p:sp>
        <p:nvSpPr>
          <p:cNvPr id="3" name="页脚占位符 2"/>
          <p:cNvSpPr>
            <a:spLocks noGrp="1"/>
          </p:cNvSpPr>
          <p:nvPr>
            <p:ph type="ftr" sz="quarter" idx="11"/>
          </p:nvPr>
        </p:nvSpPr>
        <p:spPr/>
        <p:txBody>
          <a:bodyPr/>
          <a:lstStyle>
            <a:lvl1pPr algn="l">
              <a:defRPr sz="1350">
                <a:solidFill>
                  <a:schemeClr val="tx1"/>
                </a:solidFill>
              </a:defRPr>
            </a:lvl1pPr>
          </a:lstStyle>
          <a:p>
            <a:pPr>
              <a:defRPr/>
            </a:pPr>
            <a:endParaRPr lang="zh-CN" altLang="en-US"/>
          </a:p>
        </p:txBody>
      </p:sp>
      <p:sp>
        <p:nvSpPr>
          <p:cNvPr id="4" name="灯片编号占位符 3"/>
          <p:cNvSpPr>
            <a:spLocks noGrp="1"/>
          </p:cNvSpPr>
          <p:nvPr>
            <p:ph type="sldNum" sz="quarter" idx="12"/>
          </p:nvPr>
        </p:nvSpPr>
        <p:spPr/>
        <p:txBody>
          <a:bodyPr/>
          <a:lstStyle>
            <a:lvl1pPr>
              <a:defRPr/>
            </a:lvl1pPr>
          </a:lstStyle>
          <a:p>
            <a:pPr>
              <a:defRPr/>
            </a:pPr>
            <a:fld id="{7FBB6A8E-2C65-4CA5-8B62-FDC3161C7866}" type="slidenum">
              <a:rPr lang="zh-CN" altLang="en-US"/>
              <a:t>‹#›</a:t>
            </a:fld>
            <a:endParaRPr lang="zh-CN" alt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组合 8"/>
          <p:cNvGrpSpPr/>
          <p:nvPr/>
        </p:nvGrpSpPr>
        <p:grpSpPr bwMode="auto">
          <a:xfrm>
            <a:off x="0" y="0"/>
            <a:ext cx="9144000" cy="5143500"/>
            <a:chOff x="0" y="1"/>
            <a:chExt cx="12192000" cy="6857999"/>
          </a:xfrm>
        </p:grpSpPr>
        <p:pic>
          <p:nvPicPr>
            <p:cNvPr id="1030" name="图片 6"/>
            <p:cNvPicPr>
              <a:picLocks noChangeAspect="1"/>
            </p:cNvPicPr>
            <p:nvPr userDrawn="1"/>
          </p:nvPicPr>
          <p:blipFill>
            <a:blip r:embed="rId13">
              <a:extLst>
                <a:ext uri="{28A0092B-C50C-407E-A947-70E740481C1C}">
                  <a14:useLocalDpi xmlns:a14="http://schemas.microsoft.com/office/drawing/2010/main" val="0"/>
                </a:ext>
              </a:extLst>
            </a:blip>
            <a:srcRect t="6718" b="67133"/>
            <a:stretch>
              <a:fillRect/>
            </a:stretch>
          </p:blipFill>
          <p:spPr bwMode="auto">
            <a:xfrm>
              <a:off x="3048" y="1"/>
              <a:ext cx="12188952" cy="184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0" y="1828801"/>
              <a:ext cx="12192000" cy="5029199"/>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3765" eaLnBrk="1" fontAlgn="auto" hangingPunct="1">
                <a:spcBef>
                  <a:spcPts val="0"/>
                </a:spcBef>
                <a:spcAft>
                  <a:spcPts val="0"/>
                </a:spcAft>
                <a:defRPr/>
              </a:pPr>
              <a:endParaRPr lang="zh-CN" altLang="en-US" sz="1800"/>
            </a:p>
          </p:txBody>
        </p:sp>
      </p:grpSp>
      <p:sp>
        <p:nvSpPr>
          <p:cNvPr id="4" name="Date Placeholder 3"/>
          <p:cNvSpPr>
            <a:spLocks noGrp="1"/>
          </p:cNvSpPr>
          <p:nvPr>
            <p:ph type="dt" sz="half" idx="2"/>
          </p:nvPr>
        </p:nvSpPr>
        <p:spPr>
          <a:xfrm>
            <a:off x="628650" y="4767263"/>
            <a:ext cx="2057400" cy="273844"/>
          </a:xfrm>
          <a:prstGeom prst="rect">
            <a:avLst/>
          </a:prstGeom>
        </p:spPr>
        <p:txBody>
          <a:bodyPr vert="horz" wrap="square" lIns="91440" tIns="45720" rIns="91440" bIns="45720" numCol="1" anchor="ctr" anchorCtr="0" compatLnSpc="1"/>
          <a:lstStyle>
            <a:lvl1pPr eaLnBrk="1" hangingPunct="1">
              <a:defRPr sz="900">
                <a:solidFill>
                  <a:srgbClr val="A6A6A6"/>
                </a:solidFill>
                <a:ea typeface="幼圆" panose="02010509060101010101" pitchFamily="49" charset="-122"/>
              </a:defRPr>
            </a:lvl1pPr>
          </a:lstStyle>
          <a:p>
            <a:pPr>
              <a:defRPr/>
            </a:pPr>
            <a:r>
              <a:rPr lang="en-US" altLang="zh-CN"/>
              <a:t>2022/8/29</a:t>
            </a:r>
            <a:endParaRPr lang="zh-CN" alt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eaLnBrk="1" fontAlgn="auto" hangingPunct="1">
              <a:spcBef>
                <a:spcPts val="0"/>
              </a:spcBef>
              <a:spcAft>
                <a:spcPts val="0"/>
              </a:spcAft>
              <a:defRPr sz="900">
                <a:solidFill>
                  <a:srgbClr val="373A3B"/>
                </a:solidFill>
                <a:latin typeface="+mn-lt"/>
                <a:ea typeface="+mn-ea"/>
              </a:defRPr>
            </a:lvl1pPr>
          </a:lstStyle>
          <a:p>
            <a:pPr>
              <a:defRPr/>
            </a:pPr>
            <a:endParaRPr lang="en-US" altLang="zh-CN"/>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wrap="square" lIns="91440" tIns="45720" rIns="91440" bIns="45720" numCol="1" anchor="ctr" anchorCtr="0" compatLnSpc="1"/>
          <a:lstStyle>
            <a:lvl1pPr algn="r" eaLnBrk="1" hangingPunct="1">
              <a:defRPr sz="900">
                <a:solidFill>
                  <a:srgbClr val="A6A6A6"/>
                </a:solidFill>
                <a:ea typeface="幼圆" panose="02010509060101010101" pitchFamily="49" charset="-122"/>
              </a:defRPr>
            </a:lvl1pPr>
          </a:lstStyle>
          <a:p>
            <a:pPr>
              <a:defRPr/>
            </a:pPr>
            <a:r>
              <a:rPr lang="en-US" altLang="zh-CN"/>
              <a:t>‹#›</a:t>
            </a: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684530" rtl="0" eaLnBrk="0" fontAlgn="base" hangingPunct="0">
        <a:lnSpc>
          <a:spcPct val="90000"/>
        </a:lnSpc>
        <a:spcBef>
          <a:spcPct val="0"/>
        </a:spcBef>
        <a:spcAft>
          <a:spcPct val="0"/>
        </a:spcAft>
        <a:defRPr sz="2100" kern="1200">
          <a:solidFill>
            <a:schemeClr val="accent1"/>
          </a:solidFill>
          <a:latin typeface="+mj-lt"/>
          <a:ea typeface="+mj-ea"/>
          <a:cs typeface="+mj-cs"/>
        </a:defRPr>
      </a:lvl1pPr>
      <a:lvl2pPr algn="l" defTabSz="684530" rtl="0" eaLnBrk="0" fontAlgn="base" hangingPunct="0">
        <a:lnSpc>
          <a:spcPct val="90000"/>
        </a:lnSpc>
        <a:spcBef>
          <a:spcPct val="0"/>
        </a:spcBef>
        <a:spcAft>
          <a:spcPct val="0"/>
        </a:spcAft>
        <a:defRPr sz="2100">
          <a:solidFill>
            <a:schemeClr val="accent1"/>
          </a:solidFill>
          <a:latin typeface="Arial" panose="020B0604020202020204" pitchFamily="34" charset="0"/>
          <a:ea typeface="幼圆" panose="02010509060101010101" pitchFamily="49" charset="-122"/>
        </a:defRPr>
      </a:lvl2pPr>
      <a:lvl3pPr algn="l" defTabSz="684530" rtl="0" eaLnBrk="0" fontAlgn="base" hangingPunct="0">
        <a:lnSpc>
          <a:spcPct val="90000"/>
        </a:lnSpc>
        <a:spcBef>
          <a:spcPct val="0"/>
        </a:spcBef>
        <a:spcAft>
          <a:spcPct val="0"/>
        </a:spcAft>
        <a:defRPr sz="2100">
          <a:solidFill>
            <a:schemeClr val="accent1"/>
          </a:solidFill>
          <a:latin typeface="Arial" panose="020B0604020202020204" pitchFamily="34" charset="0"/>
          <a:ea typeface="幼圆" panose="02010509060101010101" pitchFamily="49" charset="-122"/>
        </a:defRPr>
      </a:lvl3pPr>
      <a:lvl4pPr algn="l" defTabSz="684530" rtl="0" eaLnBrk="0" fontAlgn="base" hangingPunct="0">
        <a:lnSpc>
          <a:spcPct val="90000"/>
        </a:lnSpc>
        <a:spcBef>
          <a:spcPct val="0"/>
        </a:spcBef>
        <a:spcAft>
          <a:spcPct val="0"/>
        </a:spcAft>
        <a:defRPr sz="2100">
          <a:solidFill>
            <a:schemeClr val="accent1"/>
          </a:solidFill>
          <a:latin typeface="Arial" panose="020B0604020202020204" pitchFamily="34" charset="0"/>
          <a:ea typeface="幼圆" panose="02010509060101010101" pitchFamily="49" charset="-122"/>
        </a:defRPr>
      </a:lvl4pPr>
      <a:lvl5pPr algn="l" defTabSz="684530" rtl="0" eaLnBrk="0" fontAlgn="base" hangingPunct="0">
        <a:lnSpc>
          <a:spcPct val="90000"/>
        </a:lnSpc>
        <a:spcBef>
          <a:spcPct val="0"/>
        </a:spcBef>
        <a:spcAft>
          <a:spcPct val="0"/>
        </a:spcAft>
        <a:defRPr sz="2100">
          <a:solidFill>
            <a:schemeClr val="accent1"/>
          </a:solidFill>
          <a:latin typeface="Arial" panose="020B0604020202020204" pitchFamily="34" charset="0"/>
          <a:ea typeface="幼圆" panose="02010509060101010101" pitchFamily="49" charset="-122"/>
        </a:defRPr>
      </a:lvl5pPr>
      <a:lvl6pPr marL="342900" algn="l" defTabSz="684530" rtl="0" fontAlgn="base">
        <a:lnSpc>
          <a:spcPct val="90000"/>
        </a:lnSpc>
        <a:spcBef>
          <a:spcPct val="0"/>
        </a:spcBef>
        <a:spcAft>
          <a:spcPct val="0"/>
        </a:spcAft>
        <a:defRPr sz="2100">
          <a:solidFill>
            <a:schemeClr val="accent1"/>
          </a:solidFill>
          <a:latin typeface="Arial" panose="020B0604020202020204" pitchFamily="34" charset="0"/>
          <a:ea typeface="幼圆" panose="02010509060101010101" pitchFamily="49" charset="-122"/>
        </a:defRPr>
      </a:lvl6pPr>
      <a:lvl7pPr marL="685800" algn="l" defTabSz="684530" rtl="0" fontAlgn="base">
        <a:lnSpc>
          <a:spcPct val="90000"/>
        </a:lnSpc>
        <a:spcBef>
          <a:spcPct val="0"/>
        </a:spcBef>
        <a:spcAft>
          <a:spcPct val="0"/>
        </a:spcAft>
        <a:defRPr sz="2100">
          <a:solidFill>
            <a:schemeClr val="accent1"/>
          </a:solidFill>
          <a:latin typeface="Arial" panose="020B0604020202020204" pitchFamily="34" charset="0"/>
          <a:ea typeface="幼圆" panose="02010509060101010101" pitchFamily="49" charset="-122"/>
        </a:defRPr>
      </a:lvl7pPr>
      <a:lvl8pPr marL="1028700" algn="l" defTabSz="684530" rtl="0" fontAlgn="base">
        <a:lnSpc>
          <a:spcPct val="90000"/>
        </a:lnSpc>
        <a:spcBef>
          <a:spcPct val="0"/>
        </a:spcBef>
        <a:spcAft>
          <a:spcPct val="0"/>
        </a:spcAft>
        <a:defRPr sz="2100">
          <a:solidFill>
            <a:schemeClr val="accent1"/>
          </a:solidFill>
          <a:latin typeface="Arial" panose="020B0604020202020204" pitchFamily="34" charset="0"/>
          <a:ea typeface="幼圆" panose="02010509060101010101" pitchFamily="49" charset="-122"/>
        </a:defRPr>
      </a:lvl8pPr>
      <a:lvl9pPr marL="1371600" algn="l" defTabSz="684530" rtl="0" fontAlgn="base">
        <a:lnSpc>
          <a:spcPct val="90000"/>
        </a:lnSpc>
        <a:spcBef>
          <a:spcPct val="0"/>
        </a:spcBef>
        <a:spcAft>
          <a:spcPct val="0"/>
        </a:spcAft>
        <a:defRPr sz="2100">
          <a:solidFill>
            <a:schemeClr val="accent1"/>
          </a:solidFill>
          <a:latin typeface="Arial" panose="020B0604020202020204" pitchFamily="34" charset="0"/>
          <a:ea typeface="幼圆" panose="02010509060101010101" pitchFamily="49" charset="-122"/>
        </a:defRPr>
      </a:lvl9pPr>
    </p:titleStyle>
    <p:bodyStyle>
      <a:lvl1pPr marL="321310" indent="-257175" algn="l" defTabSz="684530" rtl="0" eaLnBrk="0" fontAlgn="base" hangingPunct="0">
        <a:lnSpc>
          <a:spcPct val="90000"/>
        </a:lnSpc>
        <a:spcBef>
          <a:spcPts val="1350"/>
        </a:spcBef>
        <a:spcAft>
          <a:spcPct val="0"/>
        </a:spcAft>
        <a:buClr>
          <a:srgbClr val="A95E40"/>
        </a:buClr>
        <a:buSzPct val="75000"/>
        <a:buFont typeface="Arial" panose="020B0604020202020204" pitchFamily="34" charset="0"/>
        <a:buChar char="•"/>
        <a:defRPr sz="1800" kern="1200">
          <a:solidFill>
            <a:srgbClr val="A95E40"/>
          </a:solidFill>
          <a:latin typeface="+mn-lt"/>
          <a:ea typeface="+mn-ea"/>
          <a:cs typeface="+mn-cs"/>
        </a:defRPr>
      </a:lvl1pPr>
      <a:lvl2pPr marL="266700" indent="-266700" algn="l" defTabSz="684530" rtl="0" eaLnBrk="0" fontAlgn="base" hangingPunct="0">
        <a:lnSpc>
          <a:spcPct val="130000"/>
        </a:lnSpc>
        <a:spcBef>
          <a:spcPts val="375"/>
        </a:spcBef>
        <a:spcAft>
          <a:spcPct val="0"/>
        </a:spcAft>
        <a:buFont typeface="Calibri" panose="020F0502020204030204" pitchFamily="34" charset="0"/>
        <a:buChar char=" "/>
        <a:defRPr kern="1200">
          <a:solidFill>
            <a:srgbClr val="7F7F7F"/>
          </a:solidFill>
          <a:latin typeface="+mn-lt"/>
          <a:ea typeface="+mn-ea"/>
          <a:cs typeface="+mn-cs"/>
        </a:defRPr>
      </a:lvl2pPr>
      <a:lvl3pPr marL="857250" indent="-171450" algn="l" defTabSz="684530" rtl="0" eaLnBrk="0" fontAlgn="base" hangingPunct="0">
        <a:lnSpc>
          <a:spcPct val="90000"/>
        </a:lnSpc>
        <a:spcBef>
          <a:spcPts val="375"/>
        </a:spcBef>
        <a:spcAft>
          <a:spcPct val="0"/>
        </a:spcAft>
        <a:buFont typeface="Arial" panose="020B0604020202020204" pitchFamily="34" charset="0"/>
        <a:buChar char="•"/>
        <a:defRPr sz="1500" kern="1200">
          <a:solidFill>
            <a:srgbClr val="7F7F7F"/>
          </a:solidFill>
          <a:latin typeface="+mn-lt"/>
          <a:ea typeface="+mn-ea"/>
          <a:cs typeface="+mn-cs"/>
        </a:defRPr>
      </a:lvl3pPr>
      <a:lvl4pPr marL="1200150" indent="-171450" algn="l" defTabSz="684530" rtl="0" eaLnBrk="0" fontAlgn="base" hangingPunct="0">
        <a:lnSpc>
          <a:spcPct val="90000"/>
        </a:lnSpc>
        <a:spcBef>
          <a:spcPts val="375"/>
        </a:spcBef>
        <a:spcAft>
          <a:spcPct val="0"/>
        </a:spcAft>
        <a:buFont typeface="Arial" panose="020B0604020202020204" pitchFamily="34" charset="0"/>
        <a:buChar char="•"/>
        <a:defRPr kern="1200">
          <a:solidFill>
            <a:srgbClr val="7F7F7F"/>
          </a:solidFill>
          <a:latin typeface="+mn-lt"/>
          <a:ea typeface="+mn-ea"/>
          <a:cs typeface="+mn-cs"/>
        </a:defRPr>
      </a:lvl4pPr>
      <a:lvl5pPr marL="1543050" indent="-171450" algn="l" defTabSz="684530" rtl="0" eaLnBrk="0" fontAlgn="base" hangingPunct="0">
        <a:lnSpc>
          <a:spcPct val="90000"/>
        </a:lnSpc>
        <a:spcBef>
          <a:spcPts val="375"/>
        </a:spcBef>
        <a:spcAft>
          <a:spcPct val="0"/>
        </a:spcAft>
        <a:buFont typeface="Arial" panose="020B0604020202020204" pitchFamily="34" charset="0"/>
        <a:buChar char="•"/>
        <a:defRPr kern="1200">
          <a:solidFill>
            <a:srgbClr val="7F7F7F"/>
          </a:solidFill>
          <a:latin typeface="+mn-lt"/>
          <a:ea typeface="+mn-ea"/>
          <a:cs typeface="+mn-cs"/>
        </a:defRPr>
      </a:lvl5pPr>
      <a:lvl6pPr marL="1885950" indent="-171450" algn="l" defTabSz="685165"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165"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165"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165"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165" rtl="0" eaLnBrk="1" latinLnBrk="0" hangingPunct="1">
        <a:defRPr sz="1350" kern="1200">
          <a:solidFill>
            <a:schemeClr val="tx1"/>
          </a:solidFill>
          <a:latin typeface="+mn-lt"/>
          <a:ea typeface="+mn-ea"/>
          <a:cs typeface="+mn-cs"/>
        </a:defRPr>
      </a:lvl1pPr>
      <a:lvl2pPr marL="342900" algn="l" defTabSz="685165" rtl="0" eaLnBrk="1" latinLnBrk="0" hangingPunct="1">
        <a:defRPr sz="1350" kern="1200">
          <a:solidFill>
            <a:schemeClr val="tx1"/>
          </a:solidFill>
          <a:latin typeface="+mn-lt"/>
          <a:ea typeface="+mn-ea"/>
          <a:cs typeface="+mn-cs"/>
        </a:defRPr>
      </a:lvl2pPr>
      <a:lvl3pPr marL="685800" algn="l" defTabSz="685165" rtl="0" eaLnBrk="1" latinLnBrk="0" hangingPunct="1">
        <a:defRPr sz="1350" kern="1200">
          <a:solidFill>
            <a:schemeClr val="tx1"/>
          </a:solidFill>
          <a:latin typeface="+mn-lt"/>
          <a:ea typeface="+mn-ea"/>
          <a:cs typeface="+mn-cs"/>
        </a:defRPr>
      </a:lvl3pPr>
      <a:lvl4pPr marL="1028700" algn="l" defTabSz="685165" rtl="0" eaLnBrk="1" latinLnBrk="0" hangingPunct="1">
        <a:defRPr sz="1350" kern="1200">
          <a:solidFill>
            <a:schemeClr val="tx1"/>
          </a:solidFill>
          <a:latin typeface="+mn-lt"/>
          <a:ea typeface="+mn-ea"/>
          <a:cs typeface="+mn-cs"/>
        </a:defRPr>
      </a:lvl4pPr>
      <a:lvl5pPr marL="1371600" algn="l" defTabSz="685165" rtl="0" eaLnBrk="1" latinLnBrk="0" hangingPunct="1">
        <a:defRPr sz="1350" kern="1200">
          <a:solidFill>
            <a:schemeClr val="tx1"/>
          </a:solidFill>
          <a:latin typeface="+mn-lt"/>
          <a:ea typeface="+mn-ea"/>
          <a:cs typeface="+mn-cs"/>
        </a:defRPr>
      </a:lvl5pPr>
      <a:lvl6pPr marL="1714500" algn="l" defTabSz="685165" rtl="0" eaLnBrk="1" latinLnBrk="0" hangingPunct="1">
        <a:defRPr sz="1350" kern="1200">
          <a:solidFill>
            <a:schemeClr val="tx1"/>
          </a:solidFill>
          <a:latin typeface="+mn-lt"/>
          <a:ea typeface="+mn-ea"/>
          <a:cs typeface="+mn-cs"/>
        </a:defRPr>
      </a:lvl6pPr>
      <a:lvl7pPr marL="2057400" algn="l" defTabSz="685165" rtl="0" eaLnBrk="1" latinLnBrk="0" hangingPunct="1">
        <a:defRPr sz="1350" kern="1200">
          <a:solidFill>
            <a:schemeClr val="tx1"/>
          </a:solidFill>
          <a:latin typeface="+mn-lt"/>
          <a:ea typeface="+mn-ea"/>
          <a:cs typeface="+mn-cs"/>
        </a:defRPr>
      </a:lvl7pPr>
      <a:lvl8pPr marL="2400300" algn="l" defTabSz="685165" rtl="0" eaLnBrk="1" latinLnBrk="0" hangingPunct="1">
        <a:defRPr sz="1350" kern="1200">
          <a:solidFill>
            <a:schemeClr val="tx1"/>
          </a:solidFill>
          <a:latin typeface="+mn-lt"/>
          <a:ea typeface="+mn-ea"/>
          <a:cs typeface="+mn-cs"/>
        </a:defRPr>
      </a:lvl8pPr>
      <a:lvl9pPr marL="2743200" algn="l" defTabSz="685165"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video" Target="NULL" TargetMode="External"/><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等腰三角形 8"/>
          <p:cNvSpPr/>
          <p:nvPr/>
        </p:nvSpPr>
        <p:spPr>
          <a:xfrm rot="1650064">
            <a:off x="6818085" y="670620"/>
            <a:ext cx="333809" cy="574152"/>
          </a:xfrm>
          <a:prstGeom prst="triangle">
            <a:avLst/>
          </a:prstGeom>
          <a:solidFill>
            <a:srgbClr val="66BFBC"/>
          </a:soli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0" name="等腰三角形 9"/>
          <p:cNvSpPr/>
          <p:nvPr/>
        </p:nvSpPr>
        <p:spPr>
          <a:xfrm rot="12132218">
            <a:off x="4937314" y="278512"/>
            <a:ext cx="292713" cy="591282"/>
          </a:xfrm>
          <a:prstGeom prst="triangle">
            <a:avLst/>
          </a:prstGeom>
          <a:solidFill>
            <a:srgbClr val="FC6E5B">
              <a:alpha val="31000"/>
            </a:srgbClr>
          </a:soli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81" name="任意多边形 80"/>
          <p:cNvSpPr/>
          <p:nvPr/>
        </p:nvSpPr>
        <p:spPr>
          <a:xfrm rot="8289040">
            <a:off x="7578328" y="683419"/>
            <a:ext cx="1860947" cy="146447"/>
          </a:xfrm>
          <a:custGeom>
            <a:avLst/>
            <a:gdLst>
              <a:gd name="connsiteX0" fmla="*/ 0 w 2481081"/>
              <a:gd name="connsiteY0" fmla="*/ 194529 h 194529"/>
              <a:gd name="connsiteX1" fmla="*/ 174230 w 2481081"/>
              <a:gd name="connsiteY1" fmla="*/ 0 h 194529"/>
              <a:gd name="connsiteX2" fmla="*/ 2263889 w 2481081"/>
              <a:gd name="connsiteY2" fmla="*/ 0 h 194529"/>
              <a:gd name="connsiteX3" fmla="*/ 2481081 w 2481081"/>
              <a:gd name="connsiteY3" fmla="*/ 194529 h 194529"/>
            </a:gdLst>
            <a:ahLst/>
            <a:cxnLst>
              <a:cxn ang="0">
                <a:pos x="connsiteX0" y="connsiteY0"/>
              </a:cxn>
              <a:cxn ang="0">
                <a:pos x="connsiteX1" y="connsiteY1"/>
              </a:cxn>
              <a:cxn ang="0">
                <a:pos x="connsiteX2" y="connsiteY2"/>
              </a:cxn>
              <a:cxn ang="0">
                <a:pos x="connsiteX3" y="connsiteY3"/>
              </a:cxn>
            </a:cxnLst>
            <a:rect l="l" t="t" r="r" b="b"/>
            <a:pathLst>
              <a:path w="2481081" h="194529">
                <a:moveTo>
                  <a:pt x="0" y="194529"/>
                </a:moveTo>
                <a:lnTo>
                  <a:pt x="174230" y="0"/>
                </a:lnTo>
                <a:lnTo>
                  <a:pt x="2263889" y="0"/>
                </a:lnTo>
                <a:lnTo>
                  <a:pt x="2481081" y="194529"/>
                </a:lnTo>
                <a:close/>
              </a:path>
            </a:pathLst>
          </a:cu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73" name="任意多边形 72"/>
          <p:cNvSpPr/>
          <p:nvPr/>
        </p:nvSpPr>
        <p:spPr>
          <a:xfrm rot="8289040">
            <a:off x="7637860" y="503635"/>
            <a:ext cx="1614488" cy="33338"/>
          </a:xfrm>
          <a:custGeom>
            <a:avLst/>
            <a:gdLst>
              <a:gd name="connsiteX0" fmla="*/ 51045 w 2151533"/>
              <a:gd name="connsiteY0" fmla="*/ 45719 h 45719"/>
              <a:gd name="connsiteX1" fmla="*/ 0 w 2151533"/>
              <a:gd name="connsiteY1" fmla="*/ 0 h 45719"/>
              <a:gd name="connsiteX2" fmla="*/ 2151533 w 2151533"/>
              <a:gd name="connsiteY2" fmla="*/ 0 h 45719"/>
              <a:gd name="connsiteX3" fmla="*/ 2151533 w 2151533"/>
              <a:gd name="connsiteY3" fmla="*/ 45719 h 45719"/>
            </a:gdLst>
            <a:ahLst/>
            <a:cxnLst>
              <a:cxn ang="0">
                <a:pos x="connsiteX0" y="connsiteY0"/>
              </a:cxn>
              <a:cxn ang="0">
                <a:pos x="connsiteX1" y="connsiteY1"/>
              </a:cxn>
              <a:cxn ang="0">
                <a:pos x="connsiteX2" y="connsiteY2"/>
              </a:cxn>
              <a:cxn ang="0">
                <a:pos x="connsiteX3" y="connsiteY3"/>
              </a:cxn>
            </a:cxnLst>
            <a:rect l="l" t="t" r="r" b="b"/>
            <a:pathLst>
              <a:path w="2151533" h="45719">
                <a:moveTo>
                  <a:pt x="51045" y="45719"/>
                </a:moveTo>
                <a:lnTo>
                  <a:pt x="0" y="0"/>
                </a:lnTo>
                <a:lnTo>
                  <a:pt x="2151533" y="0"/>
                </a:lnTo>
                <a:lnTo>
                  <a:pt x="2151533" y="45719"/>
                </a:lnTo>
                <a:close/>
              </a:path>
            </a:pathLst>
          </a:custGeom>
          <a:solidFill>
            <a:srgbClr val="79C7C5">
              <a:alpha val="4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47" name="任意多边形 46"/>
          <p:cNvSpPr/>
          <p:nvPr/>
        </p:nvSpPr>
        <p:spPr>
          <a:xfrm rot="8289040">
            <a:off x="7946231" y="1422798"/>
            <a:ext cx="1404938" cy="34528"/>
          </a:xfrm>
          <a:custGeom>
            <a:avLst/>
            <a:gdLst>
              <a:gd name="connsiteX0" fmla="*/ 0 w 1873652"/>
              <a:gd name="connsiteY0" fmla="*/ 45719 h 45719"/>
              <a:gd name="connsiteX1" fmla="*/ 40948 w 1873652"/>
              <a:gd name="connsiteY1" fmla="*/ 0 h 45719"/>
              <a:gd name="connsiteX2" fmla="*/ 1873652 w 1873652"/>
              <a:gd name="connsiteY2" fmla="*/ 0 h 45719"/>
              <a:gd name="connsiteX3" fmla="*/ 1873652 w 1873652"/>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873652" h="45719">
                <a:moveTo>
                  <a:pt x="0" y="45719"/>
                </a:moveTo>
                <a:lnTo>
                  <a:pt x="40948" y="0"/>
                </a:lnTo>
                <a:lnTo>
                  <a:pt x="1873652" y="0"/>
                </a:lnTo>
                <a:lnTo>
                  <a:pt x="1873652" y="45719"/>
                </a:lnTo>
                <a:close/>
              </a:path>
            </a:pathLst>
          </a:custGeom>
          <a:solidFill>
            <a:srgbClr val="FC6E5B">
              <a:alpha val="3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76" name="任意多边形 75"/>
          <p:cNvSpPr/>
          <p:nvPr/>
        </p:nvSpPr>
        <p:spPr>
          <a:xfrm rot="8289040">
            <a:off x="7749778" y="1759744"/>
            <a:ext cx="1643063" cy="115491"/>
          </a:xfrm>
          <a:custGeom>
            <a:avLst/>
            <a:gdLst>
              <a:gd name="connsiteX0" fmla="*/ 0 w 2190050"/>
              <a:gd name="connsiteY0" fmla="*/ 155058 h 155058"/>
              <a:gd name="connsiteX1" fmla="*/ 138878 w 2190050"/>
              <a:gd name="connsiteY1" fmla="*/ 0 h 155058"/>
              <a:gd name="connsiteX2" fmla="*/ 2016928 w 2190050"/>
              <a:gd name="connsiteY2" fmla="*/ 0 h 155058"/>
              <a:gd name="connsiteX3" fmla="*/ 2190050 w 2190050"/>
              <a:gd name="connsiteY3" fmla="*/ 155058 h 155058"/>
            </a:gdLst>
            <a:ahLst/>
            <a:cxnLst>
              <a:cxn ang="0">
                <a:pos x="connsiteX0" y="connsiteY0"/>
              </a:cxn>
              <a:cxn ang="0">
                <a:pos x="connsiteX1" y="connsiteY1"/>
              </a:cxn>
              <a:cxn ang="0">
                <a:pos x="connsiteX2" y="connsiteY2"/>
              </a:cxn>
              <a:cxn ang="0">
                <a:pos x="connsiteX3" y="connsiteY3"/>
              </a:cxn>
            </a:cxnLst>
            <a:rect l="l" t="t" r="r" b="b"/>
            <a:pathLst>
              <a:path w="2190050" h="155058">
                <a:moveTo>
                  <a:pt x="0" y="155058"/>
                </a:moveTo>
                <a:lnTo>
                  <a:pt x="138878" y="0"/>
                </a:lnTo>
                <a:lnTo>
                  <a:pt x="2016928" y="0"/>
                </a:lnTo>
                <a:lnTo>
                  <a:pt x="2190050" y="155058"/>
                </a:lnTo>
                <a:close/>
              </a:path>
            </a:pathLst>
          </a:cu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45" name="任意多边形 44"/>
          <p:cNvSpPr/>
          <p:nvPr/>
        </p:nvSpPr>
        <p:spPr>
          <a:xfrm rot="8289040">
            <a:off x="8521304" y="1850231"/>
            <a:ext cx="744140" cy="34529"/>
          </a:xfrm>
          <a:custGeom>
            <a:avLst/>
            <a:gdLst>
              <a:gd name="connsiteX0" fmla="*/ 0 w 991862"/>
              <a:gd name="connsiteY0" fmla="*/ 45719 h 45719"/>
              <a:gd name="connsiteX1" fmla="*/ 40948 w 991862"/>
              <a:gd name="connsiteY1" fmla="*/ 0 h 45719"/>
              <a:gd name="connsiteX2" fmla="*/ 991862 w 991862"/>
              <a:gd name="connsiteY2" fmla="*/ 0 h 45719"/>
              <a:gd name="connsiteX3" fmla="*/ 991862 w 991862"/>
              <a:gd name="connsiteY3" fmla="*/ 45719 h 45719"/>
            </a:gdLst>
            <a:ahLst/>
            <a:cxnLst>
              <a:cxn ang="0">
                <a:pos x="connsiteX0" y="connsiteY0"/>
              </a:cxn>
              <a:cxn ang="0">
                <a:pos x="connsiteX1" y="connsiteY1"/>
              </a:cxn>
              <a:cxn ang="0">
                <a:pos x="connsiteX2" y="connsiteY2"/>
              </a:cxn>
              <a:cxn ang="0">
                <a:pos x="connsiteX3" y="connsiteY3"/>
              </a:cxn>
            </a:cxnLst>
            <a:rect l="l" t="t" r="r" b="b"/>
            <a:pathLst>
              <a:path w="991862" h="45719">
                <a:moveTo>
                  <a:pt x="0" y="45719"/>
                </a:moveTo>
                <a:lnTo>
                  <a:pt x="40948" y="0"/>
                </a:lnTo>
                <a:lnTo>
                  <a:pt x="991862" y="0"/>
                </a:lnTo>
                <a:lnTo>
                  <a:pt x="991862" y="45719"/>
                </a:lnTo>
                <a:close/>
              </a:path>
            </a:pathLst>
          </a:custGeom>
          <a:solidFill>
            <a:srgbClr val="8CC066">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nvGrpSpPr>
          <p:cNvPr id="2" name="组合 163"/>
          <p:cNvGrpSpPr/>
          <p:nvPr/>
        </p:nvGrpSpPr>
        <p:grpSpPr bwMode="auto">
          <a:xfrm>
            <a:off x="8003382" y="2431256"/>
            <a:ext cx="721519" cy="838200"/>
            <a:chOff x="10670736" y="3241053"/>
            <a:chExt cx="962659" cy="1118718"/>
          </a:xfrm>
        </p:grpSpPr>
        <p:sp>
          <p:nvSpPr>
            <p:cNvPr id="16" name="等腰三角形 15"/>
            <p:cNvSpPr/>
            <p:nvPr/>
          </p:nvSpPr>
          <p:spPr>
            <a:xfrm rot="2928219">
              <a:off x="10597584" y="3314205"/>
              <a:ext cx="1060704" cy="914400"/>
            </a:xfrm>
            <a:prstGeom prst="triangle">
              <a:avLst/>
            </a:prstGeom>
            <a:solidFill>
              <a:srgbClr val="66BFBC">
                <a:alpha val="76000"/>
              </a:srgbClr>
            </a:soli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7" name="等腰三角形 16"/>
            <p:cNvSpPr/>
            <p:nvPr/>
          </p:nvSpPr>
          <p:spPr>
            <a:xfrm rot="20901646">
              <a:off x="10936527" y="3445371"/>
              <a:ext cx="696868" cy="914400"/>
            </a:xfrm>
            <a:custGeom>
              <a:avLst/>
              <a:gdLst>
                <a:gd name="connsiteX0" fmla="*/ 0 w 1060704"/>
                <a:gd name="connsiteY0" fmla="*/ 914400 h 914400"/>
                <a:gd name="connsiteX1" fmla="*/ 530352 w 1060704"/>
                <a:gd name="connsiteY1" fmla="*/ 0 h 914400"/>
                <a:gd name="connsiteX2" fmla="*/ 1060704 w 1060704"/>
                <a:gd name="connsiteY2" fmla="*/ 914400 h 914400"/>
                <a:gd name="connsiteX3" fmla="*/ 0 w 1060704"/>
                <a:gd name="connsiteY3" fmla="*/ 914400 h 914400"/>
                <a:gd name="connsiteX0-1" fmla="*/ 0 w 696868"/>
                <a:gd name="connsiteY0-2" fmla="*/ 914400 h 914400"/>
                <a:gd name="connsiteX1-3" fmla="*/ 530352 w 696868"/>
                <a:gd name="connsiteY1-4" fmla="*/ 0 h 914400"/>
                <a:gd name="connsiteX2-5" fmla="*/ 696868 w 696868"/>
                <a:gd name="connsiteY2-6" fmla="*/ 839454 h 914400"/>
                <a:gd name="connsiteX3-7" fmla="*/ 0 w 696868"/>
                <a:gd name="connsiteY3-8" fmla="*/ 914400 h 914400"/>
              </a:gdLst>
              <a:ahLst/>
              <a:cxnLst>
                <a:cxn ang="0">
                  <a:pos x="connsiteX0-1" y="connsiteY0-2"/>
                </a:cxn>
                <a:cxn ang="0">
                  <a:pos x="connsiteX1-3" y="connsiteY1-4"/>
                </a:cxn>
                <a:cxn ang="0">
                  <a:pos x="connsiteX2-5" y="connsiteY2-6"/>
                </a:cxn>
                <a:cxn ang="0">
                  <a:pos x="connsiteX3-7" y="connsiteY3-8"/>
                </a:cxn>
              </a:cxnLst>
              <a:rect l="l" t="t" r="r" b="b"/>
              <a:pathLst>
                <a:path w="696868" h="914400">
                  <a:moveTo>
                    <a:pt x="0" y="914400"/>
                  </a:moveTo>
                  <a:lnTo>
                    <a:pt x="530352" y="0"/>
                  </a:lnTo>
                  <a:lnTo>
                    <a:pt x="696868" y="839454"/>
                  </a:lnTo>
                  <a:lnTo>
                    <a:pt x="0" y="914400"/>
                  </a:lnTo>
                  <a:close/>
                </a:path>
              </a:pathLst>
            </a:custGeom>
            <a:solidFill>
              <a:srgbClr val="66BFBC"/>
            </a:solidFill>
            <a:ln>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sp>
        <p:nvSpPr>
          <p:cNvPr id="24" name="等腰三角形 23"/>
          <p:cNvSpPr/>
          <p:nvPr/>
        </p:nvSpPr>
        <p:spPr>
          <a:xfrm rot="14549936" flipH="1">
            <a:off x="5116580" y="3430487"/>
            <a:ext cx="333809" cy="574152"/>
          </a:xfrm>
          <a:prstGeom prst="triangle">
            <a:avLst/>
          </a:prstGeom>
          <a:solidFill>
            <a:srgbClr val="66BFBC"/>
          </a:solidFill>
          <a:ln>
            <a:noFill/>
          </a:ln>
          <a:effectLst>
            <a:softEdge rad="889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30" name="等腰三角形 29"/>
          <p:cNvSpPr/>
          <p:nvPr/>
        </p:nvSpPr>
        <p:spPr>
          <a:xfrm rot="14549936" flipH="1">
            <a:off x="4147800" y="3563063"/>
            <a:ext cx="333809" cy="574152"/>
          </a:xfrm>
          <a:prstGeom prst="triangle">
            <a:avLst/>
          </a:prstGeom>
          <a:solidFill>
            <a:srgbClr val="66BFBC"/>
          </a:solidFill>
          <a:ln>
            <a:noFill/>
          </a:ln>
          <a:effectLst>
            <a:softEdge rad="889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31" name="等腰三角形 30"/>
          <p:cNvSpPr/>
          <p:nvPr/>
        </p:nvSpPr>
        <p:spPr>
          <a:xfrm rot="14549936" flipH="1">
            <a:off x="5551738" y="3580769"/>
            <a:ext cx="333809" cy="574152"/>
          </a:xfrm>
          <a:prstGeom prst="triangle">
            <a:avLst/>
          </a:prstGeom>
          <a:solidFill>
            <a:srgbClr val="FC6E5B"/>
          </a:solidFill>
          <a:ln>
            <a:noFill/>
          </a:ln>
          <a:effectLst>
            <a:softEdge rad="889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nvGrpSpPr>
          <p:cNvPr id="3" name="组合 10"/>
          <p:cNvGrpSpPr/>
          <p:nvPr/>
        </p:nvGrpSpPr>
        <p:grpSpPr bwMode="auto">
          <a:xfrm>
            <a:off x="720329" y="1735932"/>
            <a:ext cx="620315" cy="692944"/>
            <a:chOff x="1354861" y="2750116"/>
            <a:chExt cx="828164" cy="924005"/>
          </a:xfrm>
        </p:grpSpPr>
        <p:sp>
          <p:nvSpPr>
            <p:cNvPr id="33" name="直角三角形 32"/>
            <p:cNvSpPr/>
            <p:nvPr/>
          </p:nvSpPr>
          <p:spPr>
            <a:xfrm rot="3161904">
              <a:off x="1665936" y="3157032"/>
              <a:ext cx="517570" cy="516609"/>
            </a:xfrm>
            <a:prstGeom prst="rtTriangle">
              <a:avLst/>
            </a:prstGeom>
            <a:solidFill>
              <a:srgbClr val="66BFBC">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34" name="直角三角形 33"/>
            <p:cNvSpPr/>
            <p:nvPr/>
          </p:nvSpPr>
          <p:spPr>
            <a:xfrm rot="3161904" flipH="1">
              <a:off x="1354381" y="2750596"/>
              <a:ext cx="517570" cy="516609"/>
            </a:xfrm>
            <a:prstGeom prst="rtTriangle">
              <a:avLst/>
            </a:prstGeom>
            <a:solidFill>
              <a:srgbClr val="66BFBC">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sp>
        <p:nvSpPr>
          <p:cNvPr id="39" name="直角三角形 38"/>
          <p:cNvSpPr/>
          <p:nvPr/>
        </p:nvSpPr>
        <p:spPr>
          <a:xfrm rot="3176496">
            <a:off x="2666724" y="3947868"/>
            <a:ext cx="230419" cy="230418"/>
          </a:xfrm>
          <a:prstGeom prst="rtTriangle">
            <a:avLst/>
          </a:prstGeom>
          <a:solidFill>
            <a:srgbClr val="66BFBC">
              <a:alpha val="60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40" name="直角三角形 39"/>
          <p:cNvSpPr/>
          <p:nvPr/>
        </p:nvSpPr>
        <p:spPr>
          <a:xfrm rot="3176496" flipH="1">
            <a:off x="2545217" y="3786292"/>
            <a:ext cx="230419" cy="230418"/>
          </a:xfrm>
          <a:prstGeom prst="rtTriangle">
            <a:avLst/>
          </a:prstGeom>
          <a:solidFill>
            <a:srgbClr val="66BFBC">
              <a:alpha val="90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82" name="等腰三角形 81"/>
          <p:cNvSpPr/>
          <p:nvPr/>
        </p:nvSpPr>
        <p:spPr>
          <a:xfrm rot="8943941">
            <a:off x="2458504" y="963636"/>
            <a:ext cx="646247" cy="809888"/>
          </a:xfrm>
          <a:prstGeom prst="triangle">
            <a:avLst/>
          </a:prstGeom>
          <a:solidFill>
            <a:srgbClr val="FC6E5B">
              <a:alpha val="62000"/>
            </a:srgbClr>
          </a:solidFill>
          <a:ln>
            <a:noFill/>
          </a:ln>
          <a:effectLst>
            <a:softEdge rad="1524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83" name="椭圆 82"/>
          <p:cNvSpPr/>
          <p:nvPr/>
        </p:nvSpPr>
        <p:spPr>
          <a:xfrm>
            <a:off x="1959685" y="1250983"/>
            <a:ext cx="582704" cy="644636"/>
          </a:xfrm>
          <a:prstGeom prst="ellipse">
            <a:avLst/>
          </a:prstGeom>
          <a:solidFill>
            <a:srgbClr val="FBC75D">
              <a:alpha val="56000"/>
            </a:srgbClr>
          </a:solidFill>
          <a:ln>
            <a:noFill/>
          </a:ln>
          <a:effectLst>
            <a:softEdge rad="2540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88" name="等腰三角形 87"/>
          <p:cNvSpPr/>
          <p:nvPr/>
        </p:nvSpPr>
        <p:spPr>
          <a:xfrm rot="7669978">
            <a:off x="1265381" y="1570446"/>
            <a:ext cx="227435" cy="216216"/>
          </a:xfrm>
          <a:prstGeom prst="triangle">
            <a:avLst/>
          </a:prstGeom>
          <a:solidFill>
            <a:srgbClr val="8CC066">
              <a:alpha val="62000"/>
            </a:srgbClr>
          </a:solidFill>
          <a:ln>
            <a:noFill/>
          </a:ln>
          <a:effectLst>
            <a:softEdge rad="254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78" name="任意多边形 77"/>
          <p:cNvSpPr/>
          <p:nvPr/>
        </p:nvSpPr>
        <p:spPr>
          <a:xfrm rot="8289040">
            <a:off x="5639991" y="4461273"/>
            <a:ext cx="2016919" cy="145256"/>
          </a:xfrm>
          <a:custGeom>
            <a:avLst/>
            <a:gdLst>
              <a:gd name="connsiteX0" fmla="*/ 217193 w 2688632"/>
              <a:gd name="connsiteY0" fmla="*/ 194530 h 194530"/>
              <a:gd name="connsiteX1" fmla="*/ 0 w 2688632"/>
              <a:gd name="connsiteY1" fmla="*/ 0 h 194530"/>
              <a:gd name="connsiteX2" fmla="*/ 2471440 w 2688632"/>
              <a:gd name="connsiteY2" fmla="*/ 0 h 194530"/>
              <a:gd name="connsiteX3" fmla="*/ 2688632 w 2688632"/>
              <a:gd name="connsiteY3" fmla="*/ 194529 h 194530"/>
            </a:gdLst>
            <a:ahLst/>
            <a:cxnLst>
              <a:cxn ang="0">
                <a:pos x="connsiteX0" y="connsiteY0"/>
              </a:cxn>
              <a:cxn ang="0">
                <a:pos x="connsiteX1" y="connsiteY1"/>
              </a:cxn>
              <a:cxn ang="0">
                <a:pos x="connsiteX2" y="connsiteY2"/>
              </a:cxn>
              <a:cxn ang="0">
                <a:pos x="connsiteX3" y="connsiteY3"/>
              </a:cxn>
            </a:cxnLst>
            <a:rect l="l" t="t" r="r" b="b"/>
            <a:pathLst>
              <a:path w="2688632" h="194530">
                <a:moveTo>
                  <a:pt x="217193" y="194530"/>
                </a:moveTo>
                <a:lnTo>
                  <a:pt x="0" y="0"/>
                </a:lnTo>
                <a:lnTo>
                  <a:pt x="2471440" y="0"/>
                </a:lnTo>
                <a:lnTo>
                  <a:pt x="2688632" y="194529"/>
                </a:lnTo>
                <a:close/>
              </a:path>
            </a:pathLst>
          </a:cu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66" name="任意多边形 65"/>
          <p:cNvSpPr/>
          <p:nvPr/>
        </p:nvSpPr>
        <p:spPr>
          <a:xfrm rot="8289040">
            <a:off x="6201967" y="4785122"/>
            <a:ext cx="1087040" cy="33338"/>
          </a:xfrm>
          <a:custGeom>
            <a:avLst/>
            <a:gdLst>
              <a:gd name="connsiteX0" fmla="*/ 0 w 1448568"/>
              <a:gd name="connsiteY0" fmla="*/ 45719 h 45719"/>
              <a:gd name="connsiteX1" fmla="*/ 0 w 1448568"/>
              <a:gd name="connsiteY1" fmla="*/ 0 h 45719"/>
              <a:gd name="connsiteX2" fmla="*/ 1397523 w 1448568"/>
              <a:gd name="connsiteY2" fmla="*/ 0 h 45719"/>
              <a:gd name="connsiteX3" fmla="*/ 1448568 w 1448568"/>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448568" h="45719">
                <a:moveTo>
                  <a:pt x="0" y="45719"/>
                </a:moveTo>
                <a:lnTo>
                  <a:pt x="0" y="0"/>
                </a:lnTo>
                <a:lnTo>
                  <a:pt x="1397523" y="0"/>
                </a:lnTo>
                <a:lnTo>
                  <a:pt x="1448568" y="45719"/>
                </a:lnTo>
                <a:close/>
              </a:path>
            </a:pathLst>
          </a:custGeom>
          <a:solidFill>
            <a:srgbClr val="FC6E5B">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64" name="任意多边形 63"/>
          <p:cNvSpPr/>
          <p:nvPr/>
        </p:nvSpPr>
        <p:spPr>
          <a:xfrm rot="8289040">
            <a:off x="6536532" y="4701779"/>
            <a:ext cx="1332310" cy="34528"/>
          </a:xfrm>
          <a:custGeom>
            <a:avLst/>
            <a:gdLst>
              <a:gd name="connsiteX0" fmla="*/ 0 w 1776912"/>
              <a:gd name="connsiteY0" fmla="*/ 45719 h 45719"/>
              <a:gd name="connsiteX1" fmla="*/ 0 w 1776912"/>
              <a:gd name="connsiteY1" fmla="*/ 0 h 45719"/>
              <a:gd name="connsiteX2" fmla="*/ 1725868 w 1776912"/>
              <a:gd name="connsiteY2" fmla="*/ 1 h 45719"/>
              <a:gd name="connsiteX3" fmla="*/ 1776912 w 1776912"/>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776912" h="45719">
                <a:moveTo>
                  <a:pt x="0" y="45719"/>
                </a:moveTo>
                <a:lnTo>
                  <a:pt x="0" y="0"/>
                </a:lnTo>
                <a:lnTo>
                  <a:pt x="1725868" y="1"/>
                </a:lnTo>
                <a:lnTo>
                  <a:pt x="1776912" y="45719"/>
                </a:lnTo>
                <a:close/>
              </a:path>
            </a:pathLst>
          </a:custGeom>
          <a:solidFill>
            <a:srgbClr val="66BFBC">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70" name="任意多边形 69"/>
          <p:cNvSpPr/>
          <p:nvPr/>
        </p:nvSpPr>
        <p:spPr>
          <a:xfrm rot="8289040">
            <a:off x="5232798" y="4589860"/>
            <a:ext cx="1674019" cy="34528"/>
          </a:xfrm>
          <a:custGeom>
            <a:avLst/>
            <a:gdLst>
              <a:gd name="connsiteX0" fmla="*/ 0 w 2230870"/>
              <a:gd name="connsiteY0" fmla="*/ 45719 h 45719"/>
              <a:gd name="connsiteX1" fmla="*/ 0 w 2230870"/>
              <a:gd name="connsiteY1" fmla="*/ 0 h 45719"/>
              <a:gd name="connsiteX2" fmla="*/ 2179825 w 2230870"/>
              <a:gd name="connsiteY2" fmla="*/ 0 h 45719"/>
              <a:gd name="connsiteX3" fmla="*/ 2230870 w 2230870"/>
              <a:gd name="connsiteY3" fmla="*/ 45719 h 45719"/>
            </a:gdLst>
            <a:ahLst/>
            <a:cxnLst>
              <a:cxn ang="0">
                <a:pos x="connsiteX0" y="connsiteY0"/>
              </a:cxn>
              <a:cxn ang="0">
                <a:pos x="connsiteX1" y="connsiteY1"/>
              </a:cxn>
              <a:cxn ang="0">
                <a:pos x="connsiteX2" y="connsiteY2"/>
              </a:cxn>
              <a:cxn ang="0">
                <a:pos x="connsiteX3" y="connsiteY3"/>
              </a:cxn>
            </a:cxnLst>
            <a:rect l="l" t="t" r="r" b="b"/>
            <a:pathLst>
              <a:path w="2230870" h="45719">
                <a:moveTo>
                  <a:pt x="0" y="45719"/>
                </a:moveTo>
                <a:lnTo>
                  <a:pt x="0" y="0"/>
                </a:lnTo>
                <a:lnTo>
                  <a:pt x="2179825" y="0"/>
                </a:lnTo>
                <a:lnTo>
                  <a:pt x="2230870" y="45719"/>
                </a:lnTo>
                <a:close/>
              </a:path>
            </a:pathLst>
          </a:custGeom>
          <a:solidFill>
            <a:srgbClr val="66BFBC">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72" name="任意多边形 71"/>
          <p:cNvSpPr/>
          <p:nvPr/>
        </p:nvSpPr>
        <p:spPr>
          <a:xfrm rot="8289040">
            <a:off x="4748212" y="4879181"/>
            <a:ext cx="806054" cy="33338"/>
          </a:xfrm>
          <a:custGeom>
            <a:avLst/>
            <a:gdLst>
              <a:gd name="connsiteX0" fmla="*/ 0 w 1075142"/>
              <a:gd name="connsiteY0" fmla="*/ 45719 h 45719"/>
              <a:gd name="connsiteX1" fmla="*/ 0 w 1075142"/>
              <a:gd name="connsiteY1" fmla="*/ 0 h 45719"/>
              <a:gd name="connsiteX2" fmla="*/ 1024097 w 1075142"/>
              <a:gd name="connsiteY2" fmla="*/ 0 h 45719"/>
              <a:gd name="connsiteX3" fmla="*/ 1075142 w 1075142"/>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075142" h="45719">
                <a:moveTo>
                  <a:pt x="0" y="45719"/>
                </a:moveTo>
                <a:lnTo>
                  <a:pt x="0" y="0"/>
                </a:lnTo>
                <a:lnTo>
                  <a:pt x="1024097" y="0"/>
                </a:lnTo>
                <a:lnTo>
                  <a:pt x="1075142" y="45719"/>
                </a:lnTo>
                <a:close/>
              </a:path>
            </a:pathLst>
          </a:custGeom>
          <a:solidFill>
            <a:srgbClr val="8CC066">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80" name="任意多边形 79"/>
          <p:cNvSpPr/>
          <p:nvPr/>
        </p:nvSpPr>
        <p:spPr>
          <a:xfrm rot="8289040">
            <a:off x="-406004" y="4099322"/>
            <a:ext cx="2983707" cy="94059"/>
          </a:xfrm>
          <a:custGeom>
            <a:avLst/>
            <a:gdLst>
              <a:gd name="connsiteX0" fmla="*/ 139966 w 3978903"/>
              <a:gd name="connsiteY0" fmla="*/ 125361 h 125361"/>
              <a:gd name="connsiteX1" fmla="*/ 0 w 3978903"/>
              <a:gd name="connsiteY1" fmla="*/ 0 h 125361"/>
              <a:gd name="connsiteX2" fmla="*/ 3939559 w 3978903"/>
              <a:gd name="connsiteY2" fmla="*/ 0 h 125361"/>
              <a:gd name="connsiteX3" fmla="*/ 3978903 w 3978903"/>
              <a:gd name="connsiteY3" fmla="*/ 35238 h 125361"/>
              <a:gd name="connsiteX4" fmla="*/ 3898184 w 3978903"/>
              <a:gd name="connsiteY4" fmla="*/ 125361 h 1253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78903" h="125361">
                <a:moveTo>
                  <a:pt x="139966" y="125361"/>
                </a:moveTo>
                <a:lnTo>
                  <a:pt x="0" y="0"/>
                </a:lnTo>
                <a:lnTo>
                  <a:pt x="3939559" y="0"/>
                </a:lnTo>
                <a:lnTo>
                  <a:pt x="3978903" y="35238"/>
                </a:lnTo>
                <a:lnTo>
                  <a:pt x="3898184" y="125361"/>
                </a:lnTo>
                <a:close/>
              </a:path>
            </a:pathLst>
          </a:cu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6" name="任意多边形 55"/>
          <p:cNvSpPr/>
          <p:nvPr/>
        </p:nvSpPr>
        <p:spPr>
          <a:xfrm rot="8289040">
            <a:off x="-426244" y="3720704"/>
            <a:ext cx="3161110" cy="34528"/>
          </a:xfrm>
          <a:custGeom>
            <a:avLst/>
            <a:gdLst>
              <a:gd name="connsiteX0" fmla="*/ 0 w 4213929"/>
              <a:gd name="connsiteY0" fmla="*/ 45719 h 45719"/>
              <a:gd name="connsiteX1" fmla="*/ 0 w 4213929"/>
              <a:gd name="connsiteY1" fmla="*/ 0 h 45719"/>
              <a:gd name="connsiteX2" fmla="*/ 4213929 w 4213929"/>
              <a:gd name="connsiteY2" fmla="*/ 0 h 45719"/>
              <a:gd name="connsiteX3" fmla="*/ 4172980 w 4213929"/>
              <a:gd name="connsiteY3" fmla="*/ 45719 h 45719"/>
            </a:gdLst>
            <a:ahLst/>
            <a:cxnLst>
              <a:cxn ang="0">
                <a:pos x="connsiteX0" y="connsiteY0"/>
              </a:cxn>
              <a:cxn ang="0">
                <a:pos x="connsiteX1" y="connsiteY1"/>
              </a:cxn>
              <a:cxn ang="0">
                <a:pos x="connsiteX2" y="connsiteY2"/>
              </a:cxn>
              <a:cxn ang="0">
                <a:pos x="connsiteX3" y="connsiteY3"/>
              </a:cxn>
            </a:cxnLst>
            <a:rect l="l" t="t" r="r" b="b"/>
            <a:pathLst>
              <a:path w="4213929" h="45719">
                <a:moveTo>
                  <a:pt x="0" y="45719"/>
                </a:moveTo>
                <a:lnTo>
                  <a:pt x="0" y="0"/>
                </a:lnTo>
                <a:lnTo>
                  <a:pt x="4213929" y="0"/>
                </a:lnTo>
                <a:lnTo>
                  <a:pt x="4172980" y="45719"/>
                </a:lnTo>
                <a:close/>
              </a:path>
            </a:pathLst>
          </a:custGeom>
          <a:solidFill>
            <a:srgbClr val="FC6E5B">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4" name="任意多边形 53"/>
          <p:cNvSpPr/>
          <p:nvPr/>
        </p:nvSpPr>
        <p:spPr>
          <a:xfrm rot="8289040">
            <a:off x="-200025" y="3527823"/>
            <a:ext cx="1385888" cy="34528"/>
          </a:xfrm>
          <a:custGeom>
            <a:avLst/>
            <a:gdLst>
              <a:gd name="connsiteX0" fmla="*/ 0 w 1847733"/>
              <a:gd name="connsiteY0" fmla="*/ 45719 h 45719"/>
              <a:gd name="connsiteX1" fmla="*/ 0 w 1847733"/>
              <a:gd name="connsiteY1" fmla="*/ 0 h 45719"/>
              <a:gd name="connsiteX2" fmla="*/ 1847733 w 1847733"/>
              <a:gd name="connsiteY2" fmla="*/ 0 h 45719"/>
              <a:gd name="connsiteX3" fmla="*/ 1806784 w 1847733"/>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847733" h="45719">
                <a:moveTo>
                  <a:pt x="0" y="45719"/>
                </a:moveTo>
                <a:lnTo>
                  <a:pt x="0" y="0"/>
                </a:lnTo>
                <a:lnTo>
                  <a:pt x="1847733" y="0"/>
                </a:lnTo>
                <a:lnTo>
                  <a:pt x="1806784" y="45719"/>
                </a:lnTo>
                <a:close/>
              </a:path>
            </a:pathLst>
          </a:custGeom>
          <a:solidFill>
            <a:srgbClr val="66BFBC">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2" name="任意多边形 51"/>
          <p:cNvSpPr/>
          <p:nvPr/>
        </p:nvSpPr>
        <p:spPr>
          <a:xfrm rot="8289040">
            <a:off x="-221457" y="3196829"/>
            <a:ext cx="1557338" cy="34528"/>
          </a:xfrm>
          <a:custGeom>
            <a:avLst/>
            <a:gdLst>
              <a:gd name="connsiteX0" fmla="*/ 0 w 2076814"/>
              <a:gd name="connsiteY0" fmla="*/ 45719 h 45719"/>
              <a:gd name="connsiteX1" fmla="*/ 0 w 2076814"/>
              <a:gd name="connsiteY1" fmla="*/ 0 h 45719"/>
              <a:gd name="connsiteX2" fmla="*/ 2076814 w 2076814"/>
              <a:gd name="connsiteY2" fmla="*/ 0 h 45719"/>
              <a:gd name="connsiteX3" fmla="*/ 2035866 w 2076814"/>
              <a:gd name="connsiteY3" fmla="*/ 45719 h 45719"/>
            </a:gdLst>
            <a:ahLst/>
            <a:cxnLst>
              <a:cxn ang="0">
                <a:pos x="connsiteX0" y="connsiteY0"/>
              </a:cxn>
              <a:cxn ang="0">
                <a:pos x="connsiteX1" y="connsiteY1"/>
              </a:cxn>
              <a:cxn ang="0">
                <a:pos x="connsiteX2" y="connsiteY2"/>
              </a:cxn>
              <a:cxn ang="0">
                <a:pos x="connsiteX3" y="connsiteY3"/>
              </a:cxn>
            </a:cxnLst>
            <a:rect l="l" t="t" r="r" b="b"/>
            <a:pathLst>
              <a:path w="2076814" h="45719">
                <a:moveTo>
                  <a:pt x="0" y="45719"/>
                </a:moveTo>
                <a:lnTo>
                  <a:pt x="0" y="0"/>
                </a:lnTo>
                <a:lnTo>
                  <a:pt x="2076814" y="0"/>
                </a:lnTo>
                <a:lnTo>
                  <a:pt x="2035866" y="45719"/>
                </a:lnTo>
                <a:close/>
              </a:path>
            </a:pathLst>
          </a:custGeom>
          <a:solidFill>
            <a:srgbClr val="8CC066">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60" name="任意多边形 59"/>
          <p:cNvSpPr/>
          <p:nvPr/>
        </p:nvSpPr>
        <p:spPr>
          <a:xfrm rot="8289040">
            <a:off x="211931" y="4530329"/>
            <a:ext cx="1824038" cy="34528"/>
          </a:xfrm>
          <a:custGeom>
            <a:avLst/>
            <a:gdLst>
              <a:gd name="connsiteX0" fmla="*/ 0 w 2432620"/>
              <a:gd name="connsiteY0" fmla="*/ 45719 h 45719"/>
              <a:gd name="connsiteX1" fmla="*/ 0 w 2432620"/>
              <a:gd name="connsiteY1" fmla="*/ 0 h 45719"/>
              <a:gd name="connsiteX2" fmla="*/ 2381575 w 2432620"/>
              <a:gd name="connsiteY2" fmla="*/ 0 h 45719"/>
              <a:gd name="connsiteX3" fmla="*/ 2432620 w 2432620"/>
              <a:gd name="connsiteY3" fmla="*/ 45719 h 45719"/>
            </a:gdLst>
            <a:ahLst/>
            <a:cxnLst>
              <a:cxn ang="0">
                <a:pos x="connsiteX0" y="connsiteY0"/>
              </a:cxn>
              <a:cxn ang="0">
                <a:pos x="connsiteX1" y="connsiteY1"/>
              </a:cxn>
              <a:cxn ang="0">
                <a:pos x="connsiteX2" y="connsiteY2"/>
              </a:cxn>
              <a:cxn ang="0">
                <a:pos x="connsiteX3" y="connsiteY3"/>
              </a:cxn>
            </a:cxnLst>
            <a:rect l="l" t="t" r="r" b="b"/>
            <a:pathLst>
              <a:path w="2432620" h="45719">
                <a:moveTo>
                  <a:pt x="0" y="45719"/>
                </a:moveTo>
                <a:lnTo>
                  <a:pt x="0" y="0"/>
                </a:lnTo>
                <a:lnTo>
                  <a:pt x="2381575" y="0"/>
                </a:lnTo>
                <a:lnTo>
                  <a:pt x="2432620" y="45719"/>
                </a:lnTo>
                <a:close/>
              </a:path>
            </a:pathLst>
          </a:custGeom>
          <a:solidFill>
            <a:srgbClr val="8CC066">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90" name="任意多边形 89"/>
          <p:cNvSpPr/>
          <p:nvPr/>
        </p:nvSpPr>
        <p:spPr>
          <a:xfrm rot="8289040">
            <a:off x="2164557" y="4819650"/>
            <a:ext cx="989410" cy="71438"/>
          </a:xfrm>
          <a:custGeom>
            <a:avLst/>
            <a:gdLst>
              <a:gd name="connsiteX0" fmla="*/ 217193 w 2688632"/>
              <a:gd name="connsiteY0" fmla="*/ 194530 h 194530"/>
              <a:gd name="connsiteX1" fmla="*/ 0 w 2688632"/>
              <a:gd name="connsiteY1" fmla="*/ 0 h 194530"/>
              <a:gd name="connsiteX2" fmla="*/ 2471440 w 2688632"/>
              <a:gd name="connsiteY2" fmla="*/ 0 h 194530"/>
              <a:gd name="connsiteX3" fmla="*/ 2688632 w 2688632"/>
              <a:gd name="connsiteY3" fmla="*/ 194529 h 194530"/>
            </a:gdLst>
            <a:ahLst/>
            <a:cxnLst>
              <a:cxn ang="0">
                <a:pos x="connsiteX0" y="connsiteY0"/>
              </a:cxn>
              <a:cxn ang="0">
                <a:pos x="connsiteX1" y="connsiteY1"/>
              </a:cxn>
              <a:cxn ang="0">
                <a:pos x="connsiteX2" y="connsiteY2"/>
              </a:cxn>
              <a:cxn ang="0">
                <a:pos x="connsiteX3" y="connsiteY3"/>
              </a:cxn>
            </a:cxnLst>
            <a:rect l="l" t="t" r="r" b="b"/>
            <a:pathLst>
              <a:path w="2688632" h="194530">
                <a:moveTo>
                  <a:pt x="217193" y="194530"/>
                </a:moveTo>
                <a:lnTo>
                  <a:pt x="0" y="0"/>
                </a:lnTo>
                <a:lnTo>
                  <a:pt x="2471440" y="0"/>
                </a:lnTo>
                <a:lnTo>
                  <a:pt x="2688632" y="194529"/>
                </a:lnTo>
                <a:close/>
              </a:path>
            </a:pathLst>
          </a:cu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91" name="任意多边形 90"/>
          <p:cNvSpPr/>
          <p:nvPr/>
        </p:nvSpPr>
        <p:spPr>
          <a:xfrm rot="8289040">
            <a:off x="2439591" y="4979194"/>
            <a:ext cx="533400" cy="16669"/>
          </a:xfrm>
          <a:custGeom>
            <a:avLst/>
            <a:gdLst>
              <a:gd name="connsiteX0" fmla="*/ 0 w 1448568"/>
              <a:gd name="connsiteY0" fmla="*/ 45719 h 45719"/>
              <a:gd name="connsiteX1" fmla="*/ 0 w 1448568"/>
              <a:gd name="connsiteY1" fmla="*/ 0 h 45719"/>
              <a:gd name="connsiteX2" fmla="*/ 1397523 w 1448568"/>
              <a:gd name="connsiteY2" fmla="*/ 0 h 45719"/>
              <a:gd name="connsiteX3" fmla="*/ 1448568 w 1448568"/>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448568" h="45719">
                <a:moveTo>
                  <a:pt x="0" y="45719"/>
                </a:moveTo>
                <a:lnTo>
                  <a:pt x="0" y="0"/>
                </a:lnTo>
                <a:lnTo>
                  <a:pt x="1397523" y="0"/>
                </a:lnTo>
                <a:lnTo>
                  <a:pt x="1448568" y="45719"/>
                </a:lnTo>
                <a:close/>
              </a:path>
            </a:pathLst>
          </a:custGeom>
          <a:solidFill>
            <a:srgbClr val="FC6E5B">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92" name="任意多边形 91"/>
          <p:cNvSpPr/>
          <p:nvPr/>
        </p:nvSpPr>
        <p:spPr>
          <a:xfrm rot="8289040">
            <a:off x="2603898" y="4937523"/>
            <a:ext cx="653653" cy="16669"/>
          </a:xfrm>
          <a:custGeom>
            <a:avLst/>
            <a:gdLst>
              <a:gd name="connsiteX0" fmla="*/ 0 w 1776912"/>
              <a:gd name="connsiteY0" fmla="*/ 45719 h 45719"/>
              <a:gd name="connsiteX1" fmla="*/ 0 w 1776912"/>
              <a:gd name="connsiteY1" fmla="*/ 0 h 45719"/>
              <a:gd name="connsiteX2" fmla="*/ 1725868 w 1776912"/>
              <a:gd name="connsiteY2" fmla="*/ 1 h 45719"/>
              <a:gd name="connsiteX3" fmla="*/ 1776912 w 1776912"/>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776912" h="45719">
                <a:moveTo>
                  <a:pt x="0" y="45719"/>
                </a:moveTo>
                <a:lnTo>
                  <a:pt x="0" y="0"/>
                </a:lnTo>
                <a:lnTo>
                  <a:pt x="1725868" y="1"/>
                </a:lnTo>
                <a:lnTo>
                  <a:pt x="1776912" y="45719"/>
                </a:lnTo>
                <a:close/>
              </a:path>
            </a:pathLst>
          </a:custGeom>
          <a:solidFill>
            <a:srgbClr val="66BFBC">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93" name="任意多边形 92"/>
          <p:cNvSpPr/>
          <p:nvPr/>
        </p:nvSpPr>
        <p:spPr>
          <a:xfrm rot="8289040">
            <a:off x="1964531" y="4882754"/>
            <a:ext cx="820341" cy="16669"/>
          </a:xfrm>
          <a:custGeom>
            <a:avLst/>
            <a:gdLst>
              <a:gd name="connsiteX0" fmla="*/ 0 w 2230870"/>
              <a:gd name="connsiteY0" fmla="*/ 45719 h 45719"/>
              <a:gd name="connsiteX1" fmla="*/ 0 w 2230870"/>
              <a:gd name="connsiteY1" fmla="*/ 0 h 45719"/>
              <a:gd name="connsiteX2" fmla="*/ 2179825 w 2230870"/>
              <a:gd name="connsiteY2" fmla="*/ 0 h 45719"/>
              <a:gd name="connsiteX3" fmla="*/ 2230870 w 2230870"/>
              <a:gd name="connsiteY3" fmla="*/ 45719 h 45719"/>
            </a:gdLst>
            <a:ahLst/>
            <a:cxnLst>
              <a:cxn ang="0">
                <a:pos x="connsiteX0" y="connsiteY0"/>
              </a:cxn>
              <a:cxn ang="0">
                <a:pos x="connsiteX1" y="connsiteY1"/>
              </a:cxn>
              <a:cxn ang="0">
                <a:pos x="connsiteX2" y="connsiteY2"/>
              </a:cxn>
              <a:cxn ang="0">
                <a:pos x="connsiteX3" y="connsiteY3"/>
              </a:cxn>
            </a:cxnLst>
            <a:rect l="l" t="t" r="r" b="b"/>
            <a:pathLst>
              <a:path w="2230870" h="45719">
                <a:moveTo>
                  <a:pt x="0" y="45719"/>
                </a:moveTo>
                <a:lnTo>
                  <a:pt x="0" y="0"/>
                </a:lnTo>
                <a:lnTo>
                  <a:pt x="2179825" y="0"/>
                </a:lnTo>
                <a:lnTo>
                  <a:pt x="2230870" y="45719"/>
                </a:lnTo>
                <a:close/>
              </a:path>
            </a:pathLst>
          </a:custGeom>
          <a:solidFill>
            <a:srgbClr val="66BFBC">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94" name="任意多边形 93"/>
          <p:cNvSpPr/>
          <p:nvPr/>
        </p:nvSpPr>
        <p:spPr>
          <a:xfrm rot="8289040">
            <a:off x="1726406" y="5024438"/>
            <a:ext cx="395288" cy="16669"/>
          </a:xfrm>
          <a:custGeom>
            <a:avLst/>
            <a:gdLst>
              <a:gd name="connsiteX0" fmla="*/ 0 w 1075142"/>
              <a:gd name="connsiteY0" fmla="*/ 45719 h 45719"/>
              <a:gd name="connsiteX1" fmla="*/ 0 w 1075142"/>
              <a:gd name="connsiteY1" fmla="*/ 0 h 45719"/>
              <a:gd name="connsiteX2" fmla="*/ 1024097 w 1075142"/>
              <a:gd name="connsiteY2" fmla="*/ 0 h 45719"/>
              <a:gd name="connsiteX3" fmla="*/ 1075142 w 1075142"/>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075142" h="45719">
                <a:moveTo>
                  <a:pt x="0" y="45719"/>
                </a:moveTo>
                <a:lnTo>
                  <a:pt x="0" y="0"/>
                </a:lnTo>
                <a:lnTo>
                  <a:pt x="1024097" y="0"/>
                </a:lnTo>
                <a:lnTo>
                  <a:pt x="1075142" y="45719"/>
                </a:lnTo>
                <a:close/>
              </a:path>
            </a:pathLst>
          </a:custGeom>
          <a:solidFill>
            <a:srgbClr val="8CC066">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04" name="等腰三角形 103"/>
          <p:cNvSpPr/>
          <p:nvPr/>
        </p:nvSpPr>
        <p:spPr>
          <a:xfrm rot="8791815">
            <a:off x="3510890" y="415254"/>
            <a:ext cx="205978" cy="98822"/>
          </a:xfrm>
          <a:prstGeom prst="triangle">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05" name="等腰三角形 104"/>
          <p:cNvSpPr/>
          <p:nvPr/>
        </p:nvSpPr>
        <p:spPr>
          <a:xfrm rot="10800000">
            <a:off x="3735451" y="543949"/>
            <a:ext cx="1030688" cy="1037132"/>
          </a:xfrm>
          <a:prstGeom prst="triangle">
            <a:avLst/>
          </a:prstGeom>
          <a:solidFill>
            <a:srgbClr val="66BFBC"/>
          </a:solidFill>
          <a:ln>
            <a:noFill/>
          </a:ln>
          <a:effectLst>
            <a:softEdge rad="3683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06" name="等腰三角形 105"/>
          <p:cNvSpPr/>
          <p:nvPr/>
        </p:nvSpPr>
        <p:spPr>
          <a:xfrm rot="8791815">
            <a:off x="6009085" y="823912"/>
            <a:ext cx="205978" cy="100013"/>
          </a:xfrm>
          <a:prstGeom prst="triangle">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07" name="等腰三角形 106"/>
          <p:cNvSpPr/>
          <p:nvPr/>
        </p:nvSpPr>
        <p:spPr>
          <a:xfrm rot="8791815">
            <a:off x="6568679" y="3526632"/>
            <a:ext cx="205978" cy="98822"/>
          </a:xfrm>
          <a:prstGeom prst="triangle">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08" name="等腰三角形 107"/>
          <p:cNvSpPr/>
          <p:nvPr/>
        </p:nvSpPr>
        <p:spPr>
          <a:xfrm rot="8791815">
            <a:off x="5689998" y="4532710"/>
            <a:ext cx="205978" cy="98822"/>
          </a:xfrm>
          <a:prstGeom prst="triangle">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09" name="等腰三角形 108"/>
          <p:cNvSpPr/>
          <p:nvPr/>
        </p:nvSpPr>
        <p:spPr>
          <a:xfrm rot="8791815">
            <a:off x="4199335" y="4115991"/>
            <a:ext cx="205978" cy="98822"/>
          </a:xfrm>
          <a:prstGeom prst="triangle">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10" name="等腰三角形 109"/>
          <p:cNvSpPr/>
          <p:nvPr/>
        </p:nvSpPr>
        <p:spPr>
          <a:xfrm rot="8791815">
            <a:off x="3458766" y="3836194"/>
            <a:ext cx="205978" cy="100013"/>
          </a:xfrm>
          <a:prstGeom prst="triangle">
            <a:avLst/>
          </a:prstGeom>
          <a:solidFill>
            <a:srgbClr val="FC6E5B">
              <a:alpha val="6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11" name="等腰三角形 110"/>
          <p:cNvSpPr/>
          <p:nvPr/>
        </p:nvSpPr>
        <p:spPr>
          <a:xfrm rot="8791815">
            <a:off x="4926530" y="3899794"/>
            <a:ext cx="517410" cy="580007"/>
          </a:xfrm>
          <a:prstGeom prst="triangle">
            <a:avLst/>
          </a:prstGeom>
          <a:solidFill>
            <a:srgbClr val="8CC066"/>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12" name="等腰三角形 111"/>
          <p:cNvSpPr/>
          <p:nvPr/>
        </p:nvSpPr>
        <p:spPr>
          <a:xfrm rot="12808185" flipH="1">
            <a:off x="4394598" y="4475560"/>
            <a:ext cx="205978" cy="98822"/>
          </a:xfrm>
          <a:prstGeom prst="triangle">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13" name="等腰三角形 112"/>
          <p:cNvSpPr/>
          <p:nvPr/>
        </p:nvSpPr>
        <p:spPr>
          <a:xfrm rot="8791815">
            <a:off x="1835944" y="4321969"/>
            <a:ext cx="205979" cy="100013"/>
          </a:xfrm>
          <a:prstGeom prst="triangle">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15" name="等腰三角形 114"/>
          <p:cNvSpPr/>
          <p:nvPr/>
        </p:nvSpPr>
        <p:spPr>
          <a:xfrm rot="9746558" flipV="1">
            <a:off x="7453390" y="3395174"/>
            <a:ext cx="180053" cy="364038"/>
          </a:xfrm>
          <a:prstGeom prst="triangle">
            <a:avLst>
              <a:gd name="adj" fmla="val 41342"/>
            </a:avLst>
          </a:prstGeom>
          <a:solidFill>
            <a:srgbClr val="66BFBC"/>
          </a:solidFill>
          <a:ln>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17" name="直角三角形 116"/>
          <p:cNvSpPr/>
          <p:nvPr/>
        </p:nvSpPr>
        <p:spPr>
          <a:xfrm rot="11669251" flipH="1">
            <a:off x="8460582" y="4707732"/>
            <a:ext cx="160735" cy="160735"/>
          </a:xfrm>
          <a:prstGeom prst="rtTriangle">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21" name="直角三角形 120"/>
          <p:cNvSpPr/>
          <p:nvPr/>
        </p:nvSpPr>
        <p:spPr>
          <a:xfrm rot="8729171" flipH="1">
            <a:off x="3640133" y="4237150"/>
            <a:ext cx="1302486" cy="536711"/>
          </a:xfrm>
          <a:prstGeom prst="rtTriangle">
            <a:avLst/>
          </a:prstGeom>
          <a:solidFill>
            <a:srgbClr val="FBC75D"/>
          </a:solidFill>
          <a:ln>
            <a:noFill/>
          </a:ln>
          <a:effectLst>
            <a:softEdge rad="1524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22" name="直角三角形 121"/>
          <p:cNvSpPr/>
          <p:nvPr/>
        </p:nvSpPr>
        <p:spPr>
          <a:xfrm rot="1054849">
            <a:off x="7460457" y="1371601"/>
            <a:ext cx="117872" cy="145256"/>
          </a:xfrm>
          <a:prstGeom prst="rtTriangle">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25" name="直角三角形 124"/>
          <p:cNvSpPr/>
          <p:nvPr/>
        </p:nvSpPr>
        <p:spPr>
          <a:xfrm rot="11669251" flipH="1">
            <a:off x="8715375" y="4249341"/>
            <a:ext cx="160735" cy="159544"/>
          </a:xfrm>
          <a:prstGeom prst="rtTriangle">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26" name="直角三角形 125"/>
          <p:cNvSpPr/>
          <p:nvPr/>
        </p:nvSpPr>
        <p:spPr>
          <a:xfrm rot="9930749">
            <a:off x="8058150" y="4216004"/>
            <a:ext cx="160735" cy="159544"/>
          </a:xfrm>
          <a:prstGeom prst="rtTriangle">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27" name="直角三角形 126"/>
          <p:cNvSpPr/>
          <p:nvPr/>
        </p:nvSpPr>
        <p:spPr>
          <a:xfrm rot="11669251" flipH="1">
            <a:off x="7781925" y="4777979"/>
            <a:ext cx="160735" cy="159544"/>
          </a:xfrm>
          <a:prstGeom prst="rtTriangle">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28" name="直角三角形 127"/>
          <p:cNvSpPr/>
          <p:nvPr/>
        </p:nvSpPr>
        <p:spPr>
          <a:xfrm rot="9930749">
            <a:off x="8785622" y="3448050"/>
            <a:ext cx="160734" cy="160735"/>
          </a:xfrm>
          <a:prstGeom prst="rtTriangle">
            <a:avLst/>
          </a:prstGeom>
          <a:solidFill>
            <a:srgbClr val="FC6E5B">
              <a:alpha val="6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29" name="直角三角形 128"/>
          <p:cNvSpPr/>
          <p:nvPr/>
        </p:nvSpPr>
        <p:spPr>
          <a:xfrm rot="11669251" flipH="1">
            <a:off x="8337947" y="3655219"/>
            <a:ext cx="160734" cy="160735"/>
          </a:xfrm>
          <a:prstGeom prst="rtTriangle">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45" name="任意多边形 144"/>
          <p:cNvSpPr/>
          <p:nvPr/>
        </p:nvSpPr>
        <p:spPr>
          <a:xfrm rot="10011152">
            <a:off x="2789370" y="625995"/>
            <a:ext cx="184547" cy="153590"/>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53" name="任意多边形 152"/>
          <p:cNvSpPr/>
          <p:nvPr/>
        </p:nvSpPr>
        <p:spPr>
          <a:xfrm rot="17730414">
            <a:off x="5966738" y="660491"/>
            <a:ext cx="848059" cy="706660"/>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8CC066"/>
          </a:solidFill>
          <a:ln>
            <a:noFill/>
          </a:ln>
          <a:effectLst>
            <a:softEdge rad="1778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54" name="任意多边形 153"/>
          <p:cNvSpPr/>
          <p:nvPr/>
        </p:nvSpPr>
        <p:spPr>
          <a:xfrm rot="10011152">
            <a:off x="6686551" y="644129"/>
            <a:ext cx="183356" cy="153590"/>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56" name="任意多边形 155"/>
          <p:cNvSpPr/>
          <p:nvPr/>
        </p:nvSpPr>
        <p:spPr>
          <a:xfrm rot="10011152">
            <a:off x="7405688" y="760810"/>
            <a:ext cx="184547" cy="153590"/>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57" name="任意多边形 156"/>
          <p:cNvSpPr/>
          <p:nvPr/>
        </p:nvSpPr>
        <p:spPr>
          <a:xfrm rot="10011152">
            <a:off x="4468152" y="340245"/>
            <a:ext cx="184547" cy="153590"/>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58" name="任意多边形 157"/>
          <p:cNvSpPr/>
          <p:nvPr/>
        </p:nvSpPr>
        <p:spPr>
          <a:xfrm rot="10011152">
            <a:off x="3036043" y="825417"/>
            <a:ext cx="707769" cy="952955"/>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FBC75D"/>
          </a:solidFill>
          <a:ln>
            <a:noFill/>
          </a:ln>
          <a:effectLst>
            <a:softEdge rad="1778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1" name="任意多边形 160"/>
          <p:cNvSpPr/>
          <p:nvPr/>
        </p:nvSpPr>
        <p:spPr>
          <a:xfrm rot="17840340">
            <a:off x="2689682" y="3005288"/>
            <a:ext cx="808761" cy="673914"/>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66BFBC"/>
          </a:solidFill>
          <a:ln>
            <a:noFill/>
          </a:ln>
          <a:effectLst>
            <a:softEdge rad="1778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3" name="任意多边形 162"/>
          <p:cNvSpPr/>
          <p:nvPr/>
        </p:nvSpPr>
        <p:spPr>
          <a:xfrm rot="10011152">
            <a:off x="3321844" y="4398169"/>
            <a:ext cx="183356" cy="153591"/>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nvGrpSpPr>
          <p:cNvPr id="4" name="组合 164"/>
          <p:cNvGrpSpPr/>
          <p:nvPr/>
        </p:nvGrpSpPr>
        <p:grpSpPr bwMode="auto">
          <a:xfrm rot="11957288">
            <a:off x="1591867" y="1173957"/>
            <a:ext cx="431006" cy="498872"/>
            <a:chOff x="10670736" y="3241053"/>
            <a:chExt cx="917923" cy="1060882"/>
          </a:xfrm>
        </p:grpSpPr>
        <p:sp>
          <p:nvSpPr>
            <p:cNvPr id="166" name="等腰三角形 165"/>
            <p:cNvSpPr/>
            <p:nvPr/>
          </p:nvSpPr>
          <p:spPr>
            <a:xfrm rot="2928219">
              <a:off x="10597584" y="3314205"/>
              <a:ext cx="1060704" cy="914400"/>
            </a:xfrm>
            <a:prstGeom prst="triangle">
              <a:avLst/>
            </a:prstGeom>
            <a:solidFill>
              <a:srgbClr val="66BFBC">
                <a:alpha val="76000"/>
              </a:srgbClr>
            </a:soli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7" name="等腰三角形 16"/>
            <p:cNvSpPr/>
            <p:nvPr/>
          </p:nvSpPr>
          <p:spPr>
            <a:xfrm rot="20901646">
              <a:off x="10891792" y="3387535"/>
              <a:ext cx="696867" cy="914400"/>
            </a:xfrm>
            <a:custGeom>
              <a:avLst/>
              <a:gdLst>
                <a:gd name="connsiteX0" fmla="*/ 0 w 1060704"/>
                <a:gd name="connsiteY0" fmla="*/ 914400 h 914400"/>
                <a:gd name="connsiteX1" fmla="*/ 530352 w 1060704"/>
                <a:gd name="connsiteY1" fmla="*/ 0 h 914400"/>
                <a:gd name="connsiteX2" fmla="*/ 1060704 w 1060704"/>
                <a:gd name="connsiteY2" fmla="*/ 914400 h 914400"/>
                <a:gd name="connsiteX3" fmla="*/ 0 w 1060704"/>
                <a:gd name="connsiteY3" fmla="*/ 914400 h 914400"/>
                <a:gd name="connsiteX0-1" fmla="*/ 0 w 696868"/>
                <a:gd name="connsiteY0-2" fmla="*/ 914400 h 914400"/>
                <a:gd name="connsiteX1-3" fmla="*/ 530352 w 696868"/>
                <a:gd name="connsiteY1-4" fmla="*/ 0 h 914400"/>
                <a:gd name="connsiteX2-5" fmla="*/ 696868 w 696868"/>
                <a:gd name="connsiteY2-6" fmla="*/ 839454 h 914400"/>
                <a:gd name="connsiteX3-7" fmla="*/ 0 w 696868"/>
                <a:gd name="connsiteY3-8" fmla="*/ 914400 h 914400"/>
              </a:gdLst>
              <a:ahLst/>
              <a:cxnLst>
                <a:cxn ang="0">
                  <a:pos x="connsiteX0-1" y="connsiteY0-2"/>
                </a:cxn>
                <a:cxn ang="0">
                  <a:pos x="connsiteX1-3" y="connsiteY1-4"/>
                </a:cxn>
                <a:cxn ang="0">
                  <a:pos x="connsiteX2-5" y="connsiteY2-6"/>
                </a:cxn>
                <a:cxn ang="0">
                  <a:pos x="connsiteX3-7" y="connsiteY3-8"/>
                </a:cxn>
              </a:cxnLst>
              <a:rect l="l" t="t" r="r" b="b"/>
              <a:pathLst>
                <a:path w="696868" h="914400">
                  <a:moveTo>
                    <a:pt x="0" y="914400"/>
                  </a:moveTo>
                  <a:lnTo>
                    <a:pt x="530352" y="0"/>
                  </a:lnTo>
                  <a:lnTo>
                    <a:pt x="696868" y="839454"/>
                  </a:lnTo>
                  <a:lnTo>
                    <a:pt x="0" y="914400"/>
                  </a:lnTo>
                  <a:close/>
                </a:path>
              </a:pathLst>
            </a:custGeom>
            <a:solidFill>
              <a:srgbClr val="66BFBC"/>
            </a:solidFill>
            <a:ln>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grpSp>
        <p:nvGrpSpPr>
          <p:cNvPr id="55" name="组合 54"/>
          <p:cNvGrpSpPr/>
          <p:nvPr/>
        </p:nvGrpSpPr>
        <p:grpSpPr>
          <a:xfrm>
            <a:off x="3329517" y="3787579"/>
            <a:ext cx="1990725" cy="328613"/>
            <a:chOff x="3576638" y="3250844"/>
            <a:chExt cx="1990725" cy="328613"/>
          </a:xfrm>
        </p:grpSpPr>
        <p:grpSp>
          <p:nvGrpSpPr>
            <p:cNvPr id="6" name="组合 85"/>
            <p:cNvGrpSpPr/>
            <p:nvPr/>
          </p:nvGrpSpPr>
          <p:grpSpPr bwMode="auto">
            <a:xfrm>
              <a:off x="4685110" y="3250844"/>
              <a:ext cx="327422" cy="328613"/>
              <a:chOff x="5477628" y="816362"/>
              <a:chExt cx="1120629" cy="1120629"/>
            </a:xfrm>
          </p:grpSpPr>
          <p:sp>
            <p:nvSpPr>
              <p:cNvPr id="87" name="椭圆 86"/>
              <p:cNvSpPr/>
              <p:nvPr/>
            </p:nvSpPr>
            <p:spPr>
              <a:xfrm>
                <a:off x="5477628" y="816362"/>
                <a:ext cx="1120629" cy="1120629"/>
              </a:xfrm>
              <a:prstGeom prst="ellipse">
                <a:avLst/>
              </a:prstGeom>
              <a:pattFill prst="wdUpDiag">
                <a:fgClr>
                  <a:srgbClr val="FACA5E"/>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89" name="椭圆 88"/>
              <p:cNvSpPr/>
              <p:nvPr/>
            </p:nvSpPr>
            <p:spPr>
              <a:xfrm>
                <a:off x="5563202" y="897567"/>
                <a:ext cx="949481" cy="954160"/>
              </a:xfrm>
              <a:prstGeom prst="ellipse">
                <a:avLst/>
              </a:prstGeom>
              <a:solidFill>
                <a:srgbClr val="FACA5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nvGrpSpPr>
              <p:cNvPr id="7" name="组合 94"/>
              <p:cNvGrpSpPr>
                <a:grpSpLocks noChangeAspect="1"/>
              </p:cNvGrpSpPr>
              <p:nvPr/>
            </p:nvGrpSpPr>
            <p:grpSpPr>
              <a:xfrm>
                <a:off x="5768479" y="1056071"/>
                <a:ext cx="566457" cy="566457"/>
                <a:chOff x="6267960" y="2101505"/>
                <a:chExt cx="731377" cy="731377"/>
              </a:xfrm>
              <a:solidFill>
                <a:schemeClr val="bg1"/>
              </a:solidFill>
            </p:grpSpPr>
            <p:sp>
              <p:nvSpPr>
                <p:cNvPr id="97" name="Freeform 578"/>
                <p:cNvSpPr/>
                <p:nvPr/>
              </p:nvSpPr>
              <p:spPr bwMode="auto">
                <a:xfrm>
                  <a:off x="6859409" y="2488832"/>
                  <a:ext cx="97373" cy="194024"/>
                </a:xfrm>
                <a:custGeom>
                  <a:avLst/>
                  <a:gdLst>
                    <a:gd name="T0" fmla="*/ 0 w 57"/>
                    <a:gd name="T1" fmla="*/ 99 h 114"/>
                    <a:gd name="T2" fmla="*/ 22 w 57"/>
                    <a:gd name="T3" fmla="*/ 114 h 114"/>
                    <a:gd name="T4" fmla="*/ 57 w 57"/>
                    <a:gd name="T5" fmla="*/ 0 h 114"/>
                    <a:gd name="T6" fmla="*/ 31 w 57"/>
                    <a:gd name="T7" fmla="*/ 0 h 114"/>
                    <a:gd name="T8" fmla="*/ 0 w 57"/>
                    <a:gd name="T9" fmla="*/ 99 h 114"/>
                  </a:gdLst>
                  <a:ahLst/>
                  <a:cxnLst>
                    <a:cxn ang="0">
                      <a:pos x="T0" y="T1"/>
                    </a:cxn>
                    <a:cxn ang="0">
                      <a:pos x="T2" y="T3"/>
                    </a:cxn>
                    <a:cxn ang="0">
                      <a:pos x="T4" y="T5"/>
                    </a:cxn>
                    <a:cxn ang="0">
                      <a:pos x="T6" y="T7"/>
                    </a:cxn>
                    <a:cxn ang="0">
                      <a:pos x="T8" y="T9"/>
                    </a:cxn>
                  </a:cxnLst>
                  <a:rect l="0" t="0" r="r" b="b"/>
                  <a:pathLst>
                    <a:path w="57" h="114">
                      <a:moveTo>
                        <a:pt x="0" y="99"/>
                      </a:moveTo>
                      <a:cubicBezTo>
                        <a:pt x="22" y="114"/>
                        <a:pt x="22" y="114"/>
                        <a:pt x="22" y="114"/>
                      </a:cubicBezTo>
                      <a:cubicBezTo>
                        <a:pt x="44" y="82"/>
                        <a:pt x="57" y="42"/>
                        <a:pt x="57" y="0"/>
                      </a:cubicBezTo>
                      <a:cubicBezTo>
                        <a:pt x="31" y="0"/>
                        <a:pt x="31" y="0"/>
                        <a:pt x="31" y="0"/>
                      </a:cubicBezTo>
                      <a:cubicBezTo>
                        <a:pt x="31" y="37"/>
                        <a:pt x="20" y="71"/>
                        <a:pt x="0" y="99"/>
                      </a:cubicBezTo>
                      <a:close/>
                    </a:path>
                  </a:pathLst>
                </a:custGeom>
                <a:grpFill/>
                <a:ln>
                  <a:noFill/>
                </a:ln>
              </p:spPr>
              <p:txBody>
                <a:bodyPr/>
                <a:lstStyle/>
                <a:p>
                  <a:pPr defTabSz="685800">
                    <a:defRPr/>
                  </a:pPr>
                  <a:endParaRPr lang="zh-CN" altLang="en-US" sz="1350">
                    <a:solidFill>
                      <a:prstClr val="black"/>
                    </a:solidFill>
                    <a:latin typeface="Arial" panose="020B0604020202020204"/>
                    <a:ea typeface="幼圆" panose="02010509060101010101" pitchFamily="49" charset="-122"/>
                  </a:endParaRPr>
                </a:p>
              </p:txBody>
            </p:sp>
            <p:sp>
              <p:nvSpPr>
                <p:cNvPr id="100" name="Freeform 579"/>
                <p:cNvSpPr/>
                <p:nvPr/>
              </p:nvSpPr>
              <p:spPr bwMode="auto">
                <a:xfrm>
                  <a:off x="6637976" y="2101505"/>
                  <a:ext cx="361361" cy="362804"/>
                </a:xfrm>
                <a:custGeom>
                  <a:avLst/>
                  <a:gdLst>
                    <a:gd name="T0" fmla="*/ 187 w 212"/>
                    <a:gd name="T1" fmla="*/ 213 h 213"/>
                    <a:gd name="T2" fmla="*/ 212 w 212"/>
                    <a:gd name="T3" fmla="*/ 213 h 213"/>
                    <a:gd name="T4" fmla="*/ 0 w 212"/>
                    <a:gd name="T5" fmla="*/ 0 h 213"/>
                    <a:gd name="T6" fmla="*/ 0 w 212"/>
                    <a:gd name="T7" fmla="*/ 25 h 213"/>
                    <a:gd name="T8" fmla="*/ 0 w 212"/>
                    <a:gd name="T9" fmla="*/ 52 h 213"/>
                    <a:gd name="T10" fmla="*/ 0 w 212"/>
                    <a:gd name="T11" fmla="*/ 213 h 213"/>
                    <a:gd name="T12" fmla="*/ 160 w 212"/>
                    <a:gd name="T13" fmla="*/ 213 h 213"/>
                    <a:gd name="T14" fmla="*/ 187 w 212"/>
                    <a:gd name="T15" fmla="*/ 213 h 21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2" h="213">
                      <a:moveTo>
                        <a:pt x="187" y="213"/>
                      </a:moveTo>
                      <a:cubicBezTo>
                        <a:pt x="212" y="213"/>
                        <a:pt x="212" y="213"/>
                        <a:pt x="212" y="213"/>
                      </a:cubicBezTo>
                      <a:cubicBezTo>
                        <a:pt x="187" y="7"/>
                        <a:pt x="0" y="0"/>
                        <a:pt x="0" y="0"/>
                      </a:cubicBezTo>
                      <a:cubicBezTo>
                        <a:pt x="0" y="25"/>
                        <a:pt x="0" y="25"/>
                        <a:pt x="0" y="25"/>
                      </a:cubicBezTo>
                      <a:cubicBezTo>
                        <a:pt x="0" y="52"/>
                        <a:pt x="0" y="52"/>
                        <a:pt x="0" y="52"/>
                      </a:cubicBezTo>
                      <a:cubicBezTo>
                        <a:pt x="0" y="213"/>
                        <a:pt x="0" y="213"/>
                        <a:pt x="0" y="213"/>
                      </a:cubicBezTo>
                      <a:cubicBezTo>
                        <a:pt x="160" y="213"/>
                        <a:pt x="160" y="213"/>
                        <a:pt x="160" y="213"/>
                      </a:cubicBezTo>
                      <a:lnTo>
                        <a:pt x="187" y="213"/>
                      </a:lnTo>
                      <a:close/>
                    </a:path>
                  </a:pathLst>
                </a:custGeom>
                <a:grpFill/>
                <a:ln>
                  <a:noFill/>
                </a:ln>
              </p:spPr>
              <p:txBody>
                <a:bodyPr/>
                <a:lstStyle/>
                <a:p>
                  <a:pPr defTabSz="685800">
                    <a:defRPr/>
                  </a:pPr>
                  <a:endParaRPr lang="zh-CN" altLang="en-US" sz="1350">
                    <a:solidFill>
                      <a:prstClr val="black"/>
                    </a:solidFill>
                    <a:latin typeface="Arial" panose="020B0604020202020204"/>
                    <a:ea typeface="幼圆" panose="02010509060101010101" pitchFamily="49" charset="-122"/>
                  </a:endParaRPr>
                </a:p>
              </p:txBody>
            </p:sp>
            <p:sp>
              <p:nvSpPr>
                <p:cNvPr id="101" name="Freeform 580"/>
                <p:cNvSpPr/>
                <p:nvPr/>
              </p:nvSpPr>
              <p:spPr bwMode="auto">
                <a:xfrm>
                  <a:off x="6267960" y="2144060"/>
                  <a:ext cx="605154" cy="688822"/>
                </a:xfrm>
                <a:custGeom>
                  <a:avLst/>
                  <a:gdLst>
                    <a:gd name="T0" fmla="*/ 202 w 355"/>
                    <a:gd name="T1" fmla="*/ 202 h 404"/>
                    <a:gd name="T2" fmla="*/ 202 w 355"/>
                    <a:gd name="T3" fmla="*/ 26 h 404"/>
                    <a:gd name="T4" fmla="*/ 202 w 355"/>
                    <a:gd name="T5" fmla="*/ 0 h 404"/>
                    <a:gd name="T6" fmla="*/ 0 w 355"/>
                    <a:gd name="T7" fmla="*/ 202 h 404"/>
                    <a:gd name="T8" fmla="*/ 202 w 355"/>
                    <a:gd name="T9" fmla="*/ 404 h 404"/>
                    <a:gd name="T10" fmla="*/ 355 w 355"/>
                    <a:gd name="T11" fmla="*/ 335 h 404"/>
                    <a:gd name="T12" fmla="*/ 335 w 355"/>
                    <a:gd name="T13" fmla="*/ 317 h 404"/>
                    <a:gd name="T14" fmla="*/ 202 w 355"/>
                    <a:gd name="T15" fmla="*/ 202 h 40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55" h="404">
                      <a:moveTo>
                        <a:pt x="202" y="202"/>
                      </a:moveTo>
                      <a:cubicBezTo>
                        <a:pt x="202" y="26"/>
                        <a:pt x="202" y="26"/>
                        <a:pt x="202" y="26"/>
                      </a:cubicBezTo>
                      <a:cubicBezTo>
                        <a:pt x="202" y="0"/>
                        <a:pt x="202" y="0"/>
                        <a:pt x="202" y="0"/>
                      </a:cubicBezTo>
                      <a:cubicBezTo>
                        <a:pt x="91" y="0"/>
                        <a:pt x="0" y="90"/>
                        <a:pt x="0" y="202"/>
                      </a:cubicBezTo>
                      <a:cubicBezTo>
                        <a:pt x="0" y="314"/>
                        <a:pt x="91" y="404"/>
                        <a:pt x="202" y="404"/>
                      </a:cubicBezTo>
                      <a:cubicBezTo>
                        <a:pt x="263" y="404"/>
                        <a:pt x="318" y="377"/>
                        <a:pt x="355" y="335"/>
                      </a:cubicBezTo>
                      <a:cubicBezTo>
                        <a:pt x="335" y="317"/>
                        <a:pt x="335" y="317"/>
                        <a:pt x="335" y="317"/>
                      </a:cubicBezTo>
                      <a:lnTo>
                        <a:pt x="202" y="202"/>
                      </a:lnTo>
                      <a:close/>
                    </a:path>
                  </a:pathLst>
                </a:custGeom>
                <a:grpFill/>
                <a:ln>
                  <a:noFill/>
                </a:ln>
              </p:spPr>
              <p:txBody>
                <a:bodyPr/>
                <a:lstStyle/>
                <a:p>
                  <a:pPr defTabSz="685800">
                    <a:defRPr/>
                  </a:pPr>
                  <a:endParaRPr lang="zh-CN" altLang="en-US" sz="1350">
                    <a:solidFill>
                      <a:prstClr val="black"/>
                    </a:solidFill>
                    <a:latin typeface="Arial" panose="020B0604020202020204"/>
                    <a:ea typeface="幼圆" panose="02010509060101010101" pitchFamily="49" charset="-122"/>
                  </a:endParaRPr>
                </a:p>
              </p:txBody>
            </p:sp>
          </p:grpSp>
        </p:grpSp>
        <p:grpSp>
          <p:nvGrpSpPr>
            <p:cNvPr id="8" name="组合 101"/>
            <p:cNvGrpSpPr/>
            <p:nvPr/>
          </p:nvGrpSpPr>
          <p:grpSpPr bwMode="auto">
            <a:xfrm>
              <a:off x="5239941" y="3250844"/>
              <a:ext cx="327422" cy="328613"/>
              <a:chOff x="5477628" y="2367482"/>
              <a:chExt cx="1120629" cy="1120629"/>
            </a:xfrm>
          </p:grpSpPr>
          <p:sp>
            <p:nvSpPr>
              <p:cNvPr id="114" name="椭圆 113"/>
              <p:cNvSpPr/>
              <p:nvPr/>
            </p:nvSpPr>
            <p:spPr>
              <a:xfrm>
                <a:off x="5477628" y="2367482"/>
                <a:ext cx="1120629" cy="1120629"/>
              </a:xfrm>
              <a:prstGeom prst="ellipse">
                <a:avLst/>
              </a:prstGeom>
              <a:pattFill prst="wdUpDiag">
                <a:fgClr>
                  <a:srgbClr val="FD6D5C"/>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16" name="椭圆 115"/>
              <p:cNvSpPr/>
              <p:nvPr/>
            </p:nvSpPr>
            <p:spPr>
              <a:xfrm>
                <a:off x="5563202" y="2456808"/>
                <a:ext cx="949481" cy="954160"/>
              </a:xfrm>
              <a:prstGeom prst="ellipse">
                <a:avLst/>
              </a:prstGeom>
              <a:solidFill>
                <a:srgbClr val="FD6D5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nvGrpSpPr>
              <p:cNvPr id="11" name="组合 117"/>
              <p:cNvGrpSpPr>
                <a:grpSpLocks noChangeAspect="1"/>
              </p:cNvGrpSpPr>
              <p:nvPr/>
            </p:nvGrpSpPr>
            <p:grpSpPr>
              <a:xfrm>
                <a:off x="5795817" y="2669148"/>
                <a:ext cx="556960" cy="512269"/>
                <a:chOff x="8374817" y="3976831"/>
                <a:chExt cx="719115" cy="661413"/>
              </a:xfrm>
              <a:solidFill>
                <a:schemeClr val="bg1"/>
              </a:solidFill>
            </p:grpSpPr>
            <p:sp>
              <p:nvSpPr>
                <p:cNvPr id="119" name="Freeform 44"/>
                <p:cNvSpPr/>
                <p:nvPr/>
              </p:nvSpPr>
              <p:spPr bwMode="auto">
                <a:xfrm>
                  <a:off x="9018919" y="4072040"/>
                  <a:ext cx="75013" cy="68522"/>
                </a:xfrm>
                <a:custGeom>
                  <a:avLst/>
                  <a:gdLst>
                    <a:gd name="T0" fmla="*/ 28 w 44"/>
                    <a:gd name="T1" fmla="*/ 11 h 40"/>
                    <a:gd name="T2" fmla="*/ 0 w 44"/>
                    <a:gd name="T3" fmla="*/ 18 h 40"/>
                    <a:gd name="T4" fmla="*/ 31 w 44"/>
                    <a:gd name="T5" fmla="*/ 40 h 40"/>
                    <a:gd name="T6" fmla="*/ 28 w 44"/>
                    <a:gd name="T7" fmla="*/ 11 h 40"/>
                  </a:gdLst>
                  <a:ahLst/>
                  <a:cxnLst>
                    <a:cxn ang="0">
                      <a:pos x="T0" y="T1"/>
                    </a:cxn>
                    <a:cxn ang="0">
                      <a:pos x="T2" y="T3"/>
                    </a:cxn>
                    <a:cxn ang="0">
                      <a:pos x="T4" y="T5"/>
                    </a:cxn>
                    <a:cxn ang="0">
                      <a:pos x="T6" y="T7"/>
                    </a:cxn>
                  </a:cxnLst>
                  <a:rect l="0" t="0" r="r" b="b"/>
                  <a:pathLst>
                    <a:path w="44" h="40">
                      <a:moveTo>
                        <a:pt x="28" y="11"/>
                      </a:moveTo>
                      <a:cubicBezTo>
                        <a:pt x="13" y="0"/>
                        <a:pt x="0" y="18"/>
                        <a:pt x="0" y="18"/>
                      </a:cubicBezTo>
                      <a:cubicBezTo>
                        <a:pt x="31" y="40"/>
                        <a:pt x="31" y="40"/>
                        <a:pt x="31" y="40"/>
                      </a:cubicBezTo>
                      <a:cubicBezTo>
                        <a:pt x="31" y="40"/>
                        <a:pt x="44" y="22"/>
                        <a:pt x="28" y="11"/>
                      </a:cubicBezTo>
                      <a:close/>
                    </a:path>
                  </a:pathLst>
                </a:custGeom>
                <a:grpFill/>
                <a:ln>
                  <a:noFill/>
                </a:ln>
              </p:spPr>
              <p:txBody>
                <a:bodyPr/>
                <a:lstStyle/>
                <a:p>
                  <a:pPr defTabSz="685800">
                    <a:defRPr/>
                  </a:pPr>
                  <a:endParaRPr lang="zh-CN" altLang="en-US" sz="1350">
                    <a:solidFill>
                      <a:prstClr val="black"/>
                    </a:solidFill>
                    <a:latin typeface="Arial" panose="020B0604020202020204"/>
                    <a:ea typeface="幼圆" panose="02010509060101010101" pitchFamily="49" charset="-122"/>
                  </a:endParaRPr>
                </a:p>
              </p:txBody>
            </p:sp>
            <p:sp>
              <p:nvSpPr>
                <p:cNvPr id="120" name="Freeform 45"/>
                <p:cNvSpPr/>
                <p:nvPr/>
              </p:nvSpPr>
              <p:spPr bwMode="auto">
                <a:xfrm>
                  <a:off x="8831387" y="4116759"/>
                  <a:ext cx="230088" cy="284184"/>
                </a:xfrm>
                <a:custGeom>
                  <a:avLst/>
                  <a:gdLst>
                    <a:gd name="T0" fmla="*/ 187 w 319"/>
                    <a:gd name="T1" fmla="*/ 85 h 394"/>
                    <a:gd name="T2" fmla="*/ 156 w 319"/>
                    <a:gd name="T3" fmla="*/ 125 h 394"/>
                    <a:gd name="T4" fmla="*/ 104 w 319"/>
                    <a:gd name="T5" fmla="*/ 198 h 394"/>
                    <a:gd name="T6" fmla="*/ 0 w 319"/>
                    <a:gd name="T7" fmla="*/ 342 h 394"/>
                    <a:gd name="T8" fmla="*/ 74 w 319"/>
                    <a:gd name="T9" fmla="*/ 394 h 394"/>
                    <a:gd name="T10" fmla="*/ 104 w 319"/>
                    <a:gd name="T11" fmla="*/ 352 h 394"/>
                    <a:gd name="T12" fmla="*/ 130 w 319"/>
                    <a:gd name="T13" fmla="*/ 314 h 394"/>
                    <a:gd name="T14" fmla="*/ 156 w 319"/>
                    <a:gd name="T15" fmla="*/ 276 h 394"/>
                    <a:gd name="T16" fmla="*/ 319 w 319"/>
                    <a:gd name="T17" fmla="*/ 52 h 394"/>
                    <a:gd name="T18" fmla="*/ 248 w 319"/>
                    <a:gd name="T19" fmla="*/ 0 h 394"/>
                    <a:gd name="T20" fmla="*/ 187 w 319"/>
                    <a:gd name="T21" fmla="*/ 85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9" h="394">
                      <a:moveTo>
                        <a:pt x="187" y="85"/>
                      </a:moveTo>
                      <a:lnTo>
                        <a:pt x="156" y="125"/>
                      </a:lnTo>
                      <a:lnTo>
                        <a:pt x="104" y="198"/>
                      </a:lnTo>
                      <a:lnTo>
                        <a:pt x="0" y="342"/>
                      </a:lnTo>
                      <a:lnTo>
                        <a:pt x="74" y="394"/>
                      </a:lnTo>
                      <a:lnTo>
                        <a:pt x="104" y="352"/>
                      </a:lnTo>
                      <a:lnTo>
                        <a:pt x="130" y="314"/>
                      </a:lnTo>
                      <a:lnTo>
                        <a:pt x="156" y="276"/>
                      </a:lnTo>
                      <a:lnTo>
                        <a:pt x="319" y="52"/>
                      </a:lnTo>
                      <a:lnTo>
                        <a:pt x="248" y="0"/>
                      </a:lnTo>
                      <a:lnTo>
                        <a:pt x="187" y="85"/>
                      </a:lnTo>
                      <a:close/>
                    </a:path>
                  </a:pathLst>
                </a:custGeom>
                <a:grpFill/>
                <a:ln>
                  <a:noFill/>
                </a:ln>
              </p:spPr>
              <p:txBody>
                <a:bodyPr/>
                <a:lstStyle/>
                <a:p>
                  <a:pPr defTabSz="685800">
                    <a:defRPr/>
                  </a:pPr>
                  <a:endParaRPr lang="zh-CN" altLang="en-US" sz="1350">
                    <a:solidFill>
                      <a:prstClr val="black"/>
                    </a:solidFill>
                    <a:latin typeface="Arial" panose="020B0604020202020204"/>
                    <a:ea typeface="幼圆" panose="02010509060101010101" pitchFamily="49" charset="-122"/>
                  </a:endParaRPr>
                </a:p>
              </p:txBody>
            </p:sp>
            <p:sp>
              <p:nvSpPr>
                <p:cNvPr id="123" name="Freeform 46"/>
                <p:cNvSpPr/>
                <p:nvPr/>
              </p:nvSpPr>
              <p:spPr bwMode="auto">
                <a:xfrm>
                  <a:off x="8374817" y="3976831"/>
                  <a:ext cx="569090" cy="661413"/>
                </a:xfrm>
                <a:custGeom>
                  <a:avLst/>
                  <a:gdLst>
                    <a:gd name="T0" fmla="*/ 312 w 334"/>
                    <a:gd name="T1" fmla="*/ 348 h 388"/>
                    <a:gd name="T2" fmla="*/ 293 w 334"/>
                    <a:gd name="T3" fmla="*/ 366 h 388"/>
                    <a:gd name="T4" fmla="*/ 40 w 334"/>
                    <a:gd name="T5" fmla="*/ 366 h 388"/>
                    <a:gd name="T6" fmla="*/ 22 w 334"/>
                    <a:gd name="T7" fmla="*/ 348 h 388"/>
                    <a:gd name="T8" fmla="*/ 22 w 334"/>
                    <a:gd name="T9" fmla="*/ 41 h 388"/>
                    <a:gd name="T10" fmla="*/ 40 w 334"/>
                    <a:gd name="T11" fmla="*/ 23 h 388"/>
                    <a:gd name="T12" fmla="*/ 293 w 334"/>
                    <a:gd name="T13" fmla="*/ 23 h 388"/>
                    <a:gd name="T14" fmla="*/ 312 w 334"/>
                    <a:gd name="T15" fmla="*/ 41 h 388"/>
                    <a:gd name="T16" fmla="*/ 312 w 334"/>
                    <a:gd name="T17" fmla="*/ 140 h 388"/>
                    <a:gd name="T18" fmla="*/ 334 w 334"/>
                    <a:gd name="T19" fmla="*/ 109 h 388"/>
                    <a:gd name="T20" fmla="*/ 334 w 334"/>
                    <a:gd name="T21" fmla="*/ 21 h 388"/>
                    <a:gd name="T22" fmla="*/ 313 w 334"/>
                    <a:gd name="T23" fmla="*/ 0 h 388"/>
                    <a:gd name="T24" fmla="*/ 21 w 334"/>
                    <a:gd name="T25" fmla="*/ 0 h 388"/>
                    <a:gd name="T26" fmla="*/ 0 w 334"/>
                    <a:gd name="T27" fmla="*/ 21 h 388"/>
                    <a:gd name="T28" fmla="*/ 0 w 334"/>
                    <a:gd name="T29" fmla="*/ 368 h 388"/>
                    <a:gd name="T30" fmla="*/ 21 w 334"/>
                    <a:gd name="T31" fmla="*/ 388 h 388"/>
                    <a:gd name="T32" fmla="*/ 313 w 334"/>
                    <a:gd name="T33" fmla="*/ 388 h 388"/>
                    <a:gd name="T34" fmla="*/ 334 w 334"/>
                    <a:gd name="T35" fmla="*/ 368 h 388"/>
                    <a:gd name="T36" fmla="*/ 334 w 334"/>
                    <a:gd name="T37" fmla="*/ 223 h 388"/>
                    <a:gd name="T38" fmla="*/ 312 w 334"/>
                    <a:gd name="T39" fmla="*/ 254 h 388"/>
                    <a:gd name="T40" fmla="*/ 312 w 334"/>
                    <a:gd name="T41" fmla="*/ 348 h 3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34" h="388">
                      <a:moveTo>
                        <a:pt x="312" y="348"/>
                      </a:moveTo>
                      <a:cubicBezTo>
                        <a:pt x="312" y="358"/>
                        <a:pt x="303" y="366"/>
                        <a:pt x="293" y="366"/>
                      </a:cubicBezTo>
                      <a:cubicBezTo>
                        <a:pt x="40" y="366"/>
                        <a:pt x="40" y="366"/>
                        <a:pt x="40" y="366"/>
                      </a:cubicBezTo>
                      <a:cubicBezTo>
                        <a:pt x="30" y="366"/>
                        <a:pt x="22" y="358"/>
                        <a:pt x="22" y="348"/>
                      </a:cubicBezTo>
                      <a:cubicBezTo>
                        <a:pt x="22" y="41"/>
                        <a:pt x="22" y="41"/>
                        <a:pt x="22" y="41"/>
                      </a:cubicBezTo>
                      <a:cubicBezTo>
                        <a:pt x="22" y="31"/>
                        <a:pt x="30" y="23"/>
                        <a:pt x="40" y="23"/>
                      </a:cubicBezTo>
                      <a:cubicBezTo>
                        <a:pt x="293" y="23"/>
                        <a:pt x="293" y="23"/>
                        <a:pt x="293" y="23"/>
                      </a:cubicBezTo>
                      <a:cubicBezTo>
                        <a:pt x="303" y="23"/>
                        <a:pt x="312" y="31"/>
                        <a:pt x="312" y="41"/>
                      </a:cubicBezTo>
                      <a:cubicBezTo>
                        <a:pt x="312" y="140"/>
                        <a:pt x="312" y="140"/>
                        <a:pt x="312" y="140"/>
                      </a:cubicBezTo>
                      <a:cubicBezTo>
                        <a:pt x="334" y="109"/>
                        <a:pt x="334" y="109"/>
                        <a:pt x="334" y="109"/>
                      </a:cubicBezTo>
                      <a:cubicBezTo>
                        <a:pt x="334" y="21"/>
                        <a:pt x="334" y="21"/>
                        <a:pt x="334" y="21"/>
                      </a:cubicBezTo>
                      <a:cubicBezTo>
                        <a:pt x="334" y="10"/>
                        <a:pt x="325" y="0"/>
                        <a:pt x="313" y="0"/>
                      </a:cubicBezTo>
                      <a:cubicBezTo>
                        <a:pt x="21" y="0"/>
                        <a:pt x="21" y="0"/>
                        <a:pt x="21" y="0"/>
                      </a:cubicBezTo>
                      <a:cubicBezTo>
                        <a:pt x="9" y="0"/>
                        <a:pt x="0" y="10"/>
                        <a:pt x="0" y="21"/>
                      </a:cubicBezTo>
                      <a:cubicBezTo>
                        <a:pt x="0" y="368"/>
                        <a:pt x="0" y="368"/>
                        <a:pt x="0" y="368"/>
                      </a:cubicBezTo>
                      <a:cubicBezTo>
                        <a:pt x="0" y="379"/>
                        <a:pt x="9" y="388"/>
                        <a:pt x="21" y="388"/>
                      </a:cubicBezTo>
                      <a:cubicBezTo>
                        <a:pt x="313" y="388"/>
                        <a:pt x="313" y="388"/>
                        <a:pt x="313" y="388"/>
                      </a:cubicBezTo>
                      <a:cubicBezTo>
                        <a:pt x="325" y="388"/>
                        <a:pt x="334" y="379"/>
                        <a:pt x="334" y="368"/>
                      </a:cubicBezTo>
                      <a:cubicBezTo>
                        <a:pt x="334" y="223"/>
                        <a:pt x="334" y="223"/>
                        <a:pt x="334" y="223"/>
                      </a:cubicBezTo>
                      <a:cubicBezTo>
                        <a:pt x="312" y="254"/>
                        <a:pt x="312" y="254"/>
                        <a:pt x="312" y="254"/>
                      </a:cubicBezTo>
                      <a:lnTo>
                        <a:pt x="312" y="348"/>
                      </a:lnTo>
                      <a:close/>
                    </a:path>
                  </a:pathLst>
                </a:custGeom>
                <a:grpFill/>
                <a:ln>
                  <a:noFill/>
                </a:ln>
              </p:spPr>
              <p:txBody>
                <a:bodyPr/>
                <a:lstStyle/>
                <a:p>
                  <a:pPr defTabSz="685800">
                    <a:defRPr/>
                  </a:pPr>
                  <a:endParaRPr lang="zh-CN" altLang="en-US" sz="1350">
                    <a:solidFill>
                      <a:prstClr val="black"/>
                    </a:solidFill>
                    <a:latin typeface="Arial" panose="020B0604020202020204"/>
                    <a:ea typeface="幼圆" panose="02010509060101010101" pitchFamily="49" charset="-122"/>
                  </a:endParaRPr>
                </a:p>
              </p:txBody>
            </p:sp>
            <p:sp>
              <p:nvSpPr>
                <p:cNvPr id="124" name="Freeform 47"/>
                <p:cNvSpPr/>
                <p:nvPr/>
              </p:nvSpPr>
              <p:spPr bwMode="auto">
                <a:xfrm>
                  <a:off x="8806142" y="4377142"/>
                  <a:ext cx="67800" cy="77177"/>
                </a:xfrm>
                <a:custGeom>
                  <a:avLst/>
                  <a:gdLst>
                    <a:gd name="T0" fmla="*/ 21 w 94"/>
                    <a:gd name="T1" fmla="*/ 0 h 107"/>
                    <a:gd name="T2" fmla="*/ 0 w 94"/>
                    <a:gd name="T3" fmla="*/ 107 h 107"/>
                    <a:gd name="T4" fmla="*/ 94 w 94"/>
                    <a:gd name="T5" fmla="*/ 52 h 107"/>
                    <a:gd name="T6" fmla="*/ 21 w 94"/>
                    <a:gd name="T7" fmla="*/ 0 h 107"/>
                  </a:gdLst>
                  <a:ahLst/>
                  <a:cxnLst>
                    <a:cxn ang="0">
                      <a:pos x="T0" y="T1"/>
                    </a:cxn>
                    <a:cxn ang="0">
                      <a:pos x="T2" y="T3"/>
                    </a:cxn>
                    <a:cxn ang="0">
                      <a:pos x="T4" y="T5"/>
                    </a:cxn>
                    <a:cxn ang="0">
                      <a:pos x="T6" y="T7"/>
                    </a:cxn>
                  </a:cxnLst>
                  <a:rect l="0" t="0" r="r" b="b"/>
                  <a:pathLst>
                    <a:path w="94" h="107">
                      <a:moveTo>
                        <a:pt x="21" y="0"/>
                      </a:moveTo>
                      <a:lnTo>
                        <a:pt x="0" y="107"/>
                      </a:lnTo>
                      <a:lnTo>
                        <a:pt x="94" y="52"/>
                      </a:lnTo>
                      <a:lnTo>
                        <a:pt x="21" y="0"/>
                      </a:lnTo>
                      <a:close/>
                    </a:path>
                  </a:pathLst>
                </a:custGeom>
                <a:grpFill/>
                <a:ln>
                  <a:noFill/>
                </a:ln>
              </p:spPr>
              <p:txBody>
                <a:bodyPr/>
                <a:lstStyle/>
                <a:p>
                  <a:pPr defTabSz="685800">
                    <a:defRPr/>
                  </a:pPr>
                  <a:endParaRPr lang="zh-CN" altLang="en-US" sz="1350">
                    <a:solidFill>
                      <a:prstClr val="black"/>
                    </a:solidFill>
                    <a:latin typeface="Arial" panose="020B0604020202020204"/>
                    <a:ea typeface="幼圆" panose="02010509060101010101" pitchFamily="49" charset="-122"/>
                  </a:endParaRPr>
                </a:p>
              </p:txBody>
            </p:sp>
            <p:sp>
              <p:nvSpPr>
                <p:cNvPr id="130" name="Rectangle 48"/>
                <p:cNvSpPr>
                  <a:spLocks noChangeArrowheads="1"/>
                </p:cNvSpPr>
                <p:nvPr/>
              </p:nvSpPr>
              <p:spPr bwMode="auto">
                <a:xfrm>
                  <a:off x="8459928" y="4504808"/>
                  <a:ext cx="228646" cy="34621"/>
                </a:xfrm>
                <a:prstGeom prst="rect">
                  <a:avLst/>
                </a:prstGeom>
                <a:grpFill/>
                <a:ln>
                  <a:noFill/>
                </a:ln>
              </p:spPr>
              <p:txBody>
                <a:bodyPr/>
                <a:lstStyle/>
                <a:p>
                  <a:pPr defTabSz="685800">
                    <a:defRPr/>
                  </a:pPr>
                  <a:endParaRPr lang="zh-CN" altLang="en-US" sz="1350">
                    <a:solidFill>
                      <a:prstClr val="black"/>
                    </a:solidFill>
                    <a:latin typeface="Arial" panose="020B0604020202020204"/>
                    <a:ea typeface="幼圆" panose="02010509060101010101" pitchFamily="49" charset="-122"/>
                  </a:endParaRPr>
                </a:p>
              </p:txBody>
            </p:sp>
            <p:sp>
              <p:nvSpPr>
                <p:cNvPr id="131" name="Rectangle 49"/>
                <p:cNvSpPr>
                  <a:spLocks noChangeArrowheads="1"/>
                </p:cNvSpPr>
                <p:nvPr/>
              </p:nvSpPr>
              <p:spPr bwMode="auto">
                <a:xfrm>
                  <a:off x="8459928" y="4428352"/>
                  <a:ext cx="228646" cy="33900"/>
                </a:xfrm>
                <a:prstGeom prst="rect">
                  <a:avLst/>
                </a:prstGeom>
                <a:grpFill/>
                <a:ln>
                  <a:noFill/>
                </a:ln>
              </p:spPr>
              <p:txBody>
                <a:bodyPr/>
                <a:lstStyle/>
                <a:p>
                  <a:pPr defTabSz="685800">
                    <a:defRPr/>
                  </a:pPr>
                  <a:endParaRPr lang="zh-CN" altLang="en-US" sz="1350">
                    <a:solidFill>
                      <a:prstClr val="black"/>
                    </a:solidFill>
                    <a:latin typeface="Arial" panose="020B0604020202020204"/>
                    <a:ea typeface="幼圆" panose="02010509060101010101" pitchFamily="49" charset="-122"/>
                  </a:endParaRPr>
                </a:p>
              </p:txBody>
            </p:sp>
            <p:sp>
              <p:nvSpPr>
                <p:cNvPr id="132" name="Rectangle 50"/>
                <p:cNvSpPr>
                  <a:spLocks noChangeArrowheads="1"/>
                </p:cNvSpPr>
                <p:nvPr/>
              </p:nvSpPr>
              <p:spPr bwMode="auto">
                <a:xfrm>
                  <a:off x="8459928" y="4354782"/>
                  <a:ext cx="228646" cy="32458"/>
                </a:xfrm>
                <a:prstGeom prst="rect">
                  <a:avLst/>
                </a:prstGeom>
                <a:grpFill/>
                <a:ln>
                  <a:noFill/>
                </a:ln>
              </p:spPr>
              <p:txBody>
                <a:bodyPr/>
                <a:lstStyle/>
                <a:p>
                  <a:pPr defTabSz="685800">
                    <a:defRPr/>
                  </a:pPr>
                  <a:endParaRPr lang="zh-CN" altLang="en-US" sz="1350">
                    <a:solidFill>
                      <a:prstClr val="black"/>
                    </a:solidFill>
                    <a:latin typeface="Arial" panose="020B0604020202020204"/>
                    <a:ea typeface="幼圆" panose="02010509060101010101" pitchFamily="49" charset="-122"/>
                  </a:endParaRPr>
                </a:p>
              </p:txBody>
            </p:sp>
            <p:sp>
              <p:nvSpPr>
                <p:cNvPr id="133" name="Rectangle 51"/>
                <p:cNvSpPr>
                  <a:spLocks noChangeArrowheads="1"/>
                </p:cNvSpPr>
                <p:nvPr/>
              </p:nvSpPr>
              <p:spPr bwMode="auto">
                <a:xfrm>
                  <a:off x="8459928" y="4278326"/>
                  <a:ext cx="228646" cy="32458"/>
                </a:xfrm>
                <a:prstGeom prst="rect">
                  <a:avLst/>
                </a:prstGeom>
                <a:grpFill/>
                <a:ln>
                  <a:noFill/>
                </a:ln>
              </p:spPr>
              <p:txBody>
                <a:bodyPr/>
                <a:lstStyle/>
                <a:p>
                  <a:pPr defTabSz="685800">
                    <a:defRPr/>
                  </a:pPr>
                  <a:endParaRPr lang="zh-CN" altLang="en-US" sz="1350">
                    <a:solidFill>
                      <a:prstClr val="black"/>
                    </a:solidFill>
                    <a:latin typeface="Arial" panose="020B0604020202020204"/>
                    <a:ea typeface="幼圆" panose="02010509060101010101" pitchFamily="49" charset="-122"/>
                  </a:endParaRPr>
                </a:p>
              </p:txBody>
            </p:sp>
            <p:sp>
              <p:nvSpPr>
                <p:cNvPr id="134" name="Rectangle 52"/>
                <p:cNvSpPr>
                  <a:spLocks noChangeArrowheads="1"/>
                </p:cNvSpPr>
                <p:nvPr/>
              </p:nvSpPr>
              <p:spPr bwMode="auto">
                <a:xfrm>
                  <a:off x="8459928" y="4201870"/>
                  <a:ext cx="228646" cy="33900"/>
                </a:xfrm>
                <a:prstGeom prst="rect">
                  <a:avLst/>
                </a:prstGeom>
                <a:grpFill/>
                <a:ln>
                  <a:noFill/>
                </a:ln>
              </p:spPr>
              <p:txBody>
                <a:bodyPr/>
                <a:lstStyle/>
                <a:p>
                  <a:pPr defTabSz="685800">
                    <a:defRPr/>
                  </a:pPr>
                  <a:endParaRPr lang="zh-CN" altLang="en-US" sz="1350">
                    <a:solidFill>
                      <a:prstClr val="black"/>
                    </a:solidFill>
                    <a:latin typeface="Arial" panose="020B0604020202020204"/>
                    <a:ea typeface="幼圆" panose="02010509060101010101" pitchFamily="49" charset="-122"/>
                  </a:endParaRPr>
                </a:p>
              </p:txBody>
            </p:sp>
            <p:sp>
              <p:nvSpPr>
                <p:cNvPr id="135" name="Rectangle 53"/>
                <p:cNvSpPr>
                  <a:spLocks noChangeArrowheads="1"/>
                </p:cNvSpPr>
                <p:nvPr/>
              </p:nvSpPr>
              <p:spPr bwMode="auto">
                <a:xfrm>
                  <a:off x="8459928" y="4124694"/>
                  <a:ext cx="228646" cy="34621"/>
                </a:xfrm>
                <a:prstGeom prst="rect">
                  <a:avLst/>
                </a:prstGeom>
                <a:grpFill/>
                <a:ln>
                  <a:noFill/>
                </a:ln>
              </p:spPr>
              <p:txBody>
                <a:bodyPr/>
                <a:lstStyle/>
                <a:p>
                  <a:pPr defTabSz="685800">
                    <a:defRPr/>
                  </a:pPr>
                  <a:endParaRPr lang="zh-CN" altLang="en-US" sz="1350">
                    <a:solidFill>
                      <a:prstClr val="black"/>
                    </a:solidFill>
                    <a:latin typeface="Arial" panose="020B0604020202020204"/>
                    <a:ea typeface="幼圆" panose="02010509060101010101" pitchFamily="49" charset="-122"/>
                  </a:endParaRPr>
                </a:p>
              </p:txBody>
            </p:sp>
          </p:grpSp>
        </p:grpSp>
        <p:grpSp>
          <p:nvGrpSpPr>
            <p:cNvPr id="14" name="组合 135"/>
            <p:cNvGrpSpPr/>
            <p:nvPr/>
          </p:nvGrpSpPr>
          <p:grpSpPr bwMode="auto">
            <a:xfrm>
              <a:off x="3576638" y="3250844"/>
              <a:ext cx="327422" cy="328613"/>
              <a:chOff x="5477628" y="2052505"/>
              <a:chExt cx="1120629" cy="1120629"/>
            </a:xfrm>
          </p:grpSpPr>
          <p:sp>
            <p:nvSpPr>
              <p:cNvPr id="137" name="椭圆 136"/>
              <p:cNvSpPr/>
              <p:nvPr/>
            </p:nvSpPr>
            <p:spPr>
              <a:xfrm>
                <a:off x="5477628" y="2052505"/>
                <a:ext cx="1120629" cy="1120629"/>
              </a:xfrm>
              <a:prstGeom prst="ellipse">
                <a:avLst/>
              </a:prstGeom>
              <a:pattFill prst="wdUpDiag">
                <a:fgClr>
                  <a:srgbClr val="6080A6"/>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nvGrpSpPr>
              <p:cNvPr id="26741" name="组合 137"/>
              <p:cNvGrpSpPr/>
              <p:nvPr/>
            </p:nvGrpSpPr>
            <p:grpSpPr bwMode="auto">
              <a:xfrm>
                <a:off x="5561692" y="2136569"/>
                <a:ext cx="952500" cy="952500"/>
                <a:chOff x="5561693" y="2132697"/>
                <a:chExt cx="952500" cy="952500"/>
              </a:xfrm>
            </p:grpSpPr>
            <p:sp>
              <p:nvSpPr>
                <p:cNvPr id="139" name="椭圆 138"/>
                <p:cNvSpPr/>
                <p:nvPr/>
              </p:nvSpPr>
              <p:spPr>
                <a:xfrm>
                  <a:off x="5563205" y="2133899"/>
                  <a:ext cx="949476" cy="950098"/>
                </a:xfrm>
                <a:prstGeom prst="ellipse">
                  <a:avLst/>
                </a:prstGeom>
                <a:solidFill>
                  <a:srgbClr val="6080A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nvGrpSpPr>
                <p:cNvPr id="19" name="组合 139"/>
                <p:cNvGrpSpPr>
                  <a:grpSpLocks noChangeAspect="1"/>
                </p:cNvGrpSpPr>
                <p:nvPr/>
              </p:nvGrpSpPr>
              <p:grpSpPr>
                <a:xfrm>
                  <a:off x="5786662" y="2400413"/>
                  <a:ext cx="502563" cy="417068"/>
                  <a:chOff x="9404083" y="1238855"/>
                  <a:chExt cx="801342" cy="665020"/>
                </a:xfrm>
                <a:solidFill>
                  <a:schemeClr val="bg1"/>
                </a:solidFill>
              </p:grpSpPr>
              <p:sp>
                <p:nvSpPr>
                  <p:cNvPr id="141" name="Freeform 583"/>
                  <p:cNvSpPr/>
                  <p:nvPr/>
                </p:nvSpPr>
                <p:spPr bwMode="auto">
                  <a:xfrm>
                    <a:off x="9404083" y="1238855"/>
                    <a:ext cx="801342" cy="308708"/>
                  </a:xfrm>
                  <a:custGeom>
                    <a:avLst/>
                    <a:gdLst>
                      <a:gd name="T0" fmla="*/ 924 w 1111"/>
                      <a:gd name="T1" fmla="*/ 0 h 428"/>
                      <a:gd name="T2" fmla="*/ 958 w 1111"/>
                      <a:gd name="T3" fmla="*/ 55 h 428"/>
                      <a:gd name="T4" fmla="*/ 542 w 1111"/>
                      <a:gd name="T5" fmla="*/ 281 h 428"/>
                      <a:gd name="T6" fmla="*/ 0 w 1111"/>
                      <a:gd name="T7" fmla="*/ 355 h 428"/>
                      <a:gd name="T8" fmla="*/ 3 w 1111"/>
                      <a:gd name="T9" fmla="*/ 428 h 428"/>
                      <a:gd name="T10" fmla="*/ 570 w 1111"/>
                      <a:gd name="T11" fmla="*/ 355 h 428"/>
                      <a:gd name="T12" fmla="*/ 986 w 1111"/>
                      <a:gd name="T13" fmla="*/ 121 h 428"/>
                      <a:gd name="T14" fmla="*/ 1021 w 1111"/>
                      <a:gd name="T15" fmla="*/ 184 h 428"/>
                      <a:gd name="T16" fmla="*/ 1111 w 1111"/>
                      <a:gd name="T17" fmla="*/ 0 h 428"/>
                      <a:gd name="T18" fmla="*/ 924 w 1111"/>
                      <a:gd name="T19" fmla="*/ 0 h 4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11" h="428">
                        <a:moveTo>
                          <a:pt x="924" y="0"/>
                        </a:moveTo>
                        <a:lnTo>
                          <a:pt x="958" y="55"/>
                        </a:lnTo>
                        <a:lnTo>
                          <a:pt x="542" y="281"/>
                        </a:lnTo>
                        <a:lnTo>
                          <a:pt x="0" y="355"/>
                        </a:lnTo>
                        <a:lnTo>
                          <a:pt x="3" y="428"/>
                        </a:lnTo>
                        <a:lnTo>
                          <a:pt x="570" y="355"/>
                        </a:lnTo>
                        <a:lnTo>
                          <a:pt x="986" y="121"/>
                        </a:lnTo>
                        <a:lnTo>
                          <a:pt x="1021" y="184"/>
                        </a:lnTo>
                        <a:lnTo>
                          <a:pt x="1111" y="0"/>
                        </a:lnTo>
                        <a:lnTo>
                          <a:pt x="924" y="0"/>
                        </a:lnTo>
                        <a:close/>
                      </a:path>
                    </a:pathLst>
                  </a:custGeom>
                  <a:grpFill/>
                  <a:ln>
                    <a:noFill/>
                  </a:ln>
                </p:spPr>
                <p:txBody>
                  <a:bodyPr/>
                  <a:lstStyle/>
                  <a:p>
                    <a:pPr defTabSz="685800">
                      <a:defRPr/>
                    </a:pPr>
                    <a:endParaRPr lang="zh-CN" altLang="en-US" sz="1350">
                      <a:noFill/>
                      <a:latin typeface="Arial" panose="020B0604020202020204"/>
                      <a:ea typeface="幼圆" panose="02010509060101010101" pitchFamily="49" charset="-122"/>
                    </a:endParaRPr>
                  </a:p>
                </p:txBody>
              </p:sp>
              <p:sp>
                <p:nvSpPr>
                  <p:cNvPr id="142" name="Freeform 584"/>
                  <p:cNvSpPr/>
                  <p:nvPr/>
                </p:nvSpPr>
                <p:spPr bwMode="auto">
                  <a:xfrm>
                    <a:off x="9915470" y="1392487"/>
                    <a:ext cx="208450" cy="511387"/>
                  </a:xfrm>
                  <a:custGeom>
                    <a:avLst/>
                    <a:gdLst>
                      <a:gd name="T0" fmla="*/ 0 w 289"/>
                      <a:gd name="T1" fmla="*/ 709 h 709"/>
                      <a:gd name="T2" fmla="*/ 289 w 289"/>
                      <a:gd name="T3" fmla="*/ 709 h 709"/>
                      <a:gd name="T4" fmla="*/ 289 w 289"/>
                      <a:gd name="T5" fmla="*/ 0 h 709"/>
                      <a:gd name="T6" fmla="*/ 0 w 289"/>
                      <a:gd name="T7" fmla="*/ 161 h 709"/>
                      <a:gd name="T8" fmla="*/ 0 w 289"/>
                      <a:gd name="T9" fmla="*/ 709 h 709"/>
                    </a:gdLst>
                    <a:ahLst/>
                    <a:cxnLst>
                      <a:cxn ang="0">
                        <a:pos x="T0" y="T1"/>
                      </a:cxn>
                      <a:cxn ang="0">
                        <a:pos x="T2" y="T3"/>
                      </a:cxn>
                      <a:cxn ang="0">
                        <a:pos x="T4" y="T5"/>
                      </a:cxn>
                      <a:cxn ang="0">
                        <a:pos x="T6" y="T7"/>
                      </a:cxn>
                      <a:cxn ang="0">
                        <a:pos x="T8" y="T9"/>
                      </a:cxn>
                    </a:cxnLst>
                    <a:rect l="0" t="0" r="r" b="b"/>
                    <a:pathLst>
                      <a:path w="289" h="709">
                        <a:moveTo>
                          <a:pt x="0" y="709"/>
                        </a:moveTo>
                        <a:lnTo>
                          <a:pt x="289" y="709"/>
                        </a:lnTo>
                        <a:lnTo>
                          <a:pt x="289" y="0"/>
                        </a:lnTo>
                        <a:lnTo>
                          <a:pt x="0" y="161"/>
                        </a:lnTo>
                        <a:lnTo>
                          <a:pt x="0" y="709"/>
                        </a:lnTo>
                        <a:close/>
                      </a:path>
                    </a:pathLst>
                  </a:custGeom>
                  <a:grpFill/>
                  <a:ln>
                    <a:noFill/>
                  </a:ln>
                </p:spPr>
                <p:txBody>
                  <a:bodyPr/>
                  <a:lstStyle/>
                  <a:p>
                    <a:pPr defTabSz="685800">
                      <a:defRPr/>
                    </a:pPr>
                    <a:endParaRPr lang="zh-CN" altLang="en-US" sz="1350">
                      <a:noFill/>
                      <a:latin typeface="Arial" panose="020B0604020202020204"/>
                      <a:ea typeface="幼圆" panose="02010509060101010101" pitchFamily="49" charset="-122"/>
                    </a:endParaRPr>
                  </a:p>
                </p:txBody>
              </p:sp>
              <p:sp>
                <p:nvSpPr>
                  <p:cNvPr id="143" name="Freeform 585"/>
                  <p:cNvSpPr/>
                  <p:nvPr/>
                </p:nvSpPr>
                <p:spPr bwMode="auto">
                  <a:xfrm>
                    <a:off x="9663743" y="1528809"/>
                    <a:ext cx="180320" cy="375065"/>
                  </a:xfrm>
                  <a:custGeom>
                    <a:avLst/>
                    <a:gdLst>
                      <a:gd name="T0" fmla="*/ 0 w 250"/>
                      <a:gd name="T1" fmla="*/ 520 h 520"/>
                      <a:gd name="T2" fmla="*/ 250 w 250"/>
                      <a:gd name="T3" fmla="*/ 520 h 520"/>
                      <a:gd name="T4" fmla="*/ 250 w 250"/>
                      <a:gd name="T5" fmla="*/ 0 h 520"/>
                      <a:gd name="T6" fmla="*/ 0 w 250"/>
                      <a:gd name="T7" fmla="*/ 42 h 520"/>
                      <a:gd name="T8" fmla="*/ 0 w 250"/>
                      <a:gd name="T9" fmla="*/ 520 h 520"/>
                    </a:gdLst>
                    <a:ahLst/>
                    <a:cxnLst>
                      <a:cxn ang="0">
                        <a:pos x="T0" y="T1"/>
                      </a:cxn>
                      <a:cxn ang="0">
                        <a:pos x="T2" y="T3"/>
                      </a:cxn>
                      <a:cxn ang="0">
                        <a:pos x="T4" y="T5"/>
                      </a:cxn>
                      <a:cxn ang="0">
                        <a:pos x="T6" y="T7"/>
                      </a:cxn>
                      <a:cxn ang="0">
                        <a:pos x="T8" y="T9"/>
                      </a:cxn>
                    </a:cxnLst>
                    <a:rect l="0" t="0" r="r" b="b"/>
                    <a:pathLst>
                      <a:path w="250" h="520">
                        <a:moveTo>
                          <a:pt x="0" y="520"/>
                        </a:moveTo>
                        <a:lnTo>
                          <a:pt x="250" y="520"/>
                        </a:lnTo>
                        <a:lnTo>
                          <a:pt x="250" y="0"/>
                        </a:lnTo>
                        <a:lnTo>
                          <a:pt x="0" y="42"/>
                        </a:lnTo>
                        <a:lnTo>
                          <a:pt x="0" y="520"/>
                        </a:lnTo>
                        <a:close/>
                      </a:path>
                    </a:pathLst>
                  </a:custGeom>
                  <a:grpFill/>
                  <a:ln>
                    <a:noFill/>
                  </a:ln>
                </p:spPr>
                <p:txBody>
                  <a:bodyPr/>
                  <a:lstStyle/>
                  <a:p>
                    <a:pPr defTabSz="685800">
                      <a:defRPr/>
                    </a:pPr>
                    <a:endParaRPr lang="zh-CN" altLang="en-US" sz="1350">
                      <a:noFill/>
                      <a:latin typeface="Arial" panose="020B0604020202020204"/>
                      <a:ea typeface="幼圆" panose="02010509060101010101" pitchFamily="49" charset="-122"/>
                    </a:endParaRPr>
                  </a:p>
                </p:txBody>
              </p:sp>
              <p:sp>
                <p:nvSpPr>
                  <p:cNvPr id="144" name="Freeform 586"/>
                  <p:cNvSpPr/>
                  <p:nvPr/>
                </p:nvSpPr>
                <p:spPr bwMode="auto">
                  <a:xfrm>
                    <a:off x="9404083" y="1569922"/>
                    <a:ext cx="189697" cy="333953"/>
                  </a:xfrm>
                  <a:custGeom>
                    <a:avLst/>
                    <a:gdLst>
                      <a:gd name="T0" fmla="*/ 0 w 263"/>
                      <a:gd name="T1" fmla="*/ 463 h 463"/>
                      <a:gd name="T2" fmla="*/ 263 w 263"/>
                      <a:gd name="T3" fmla="*/ 463 h 463"/>
                      <a:gd name="T4" fmla="*/ 263 w 263"/>
                      <a:gd name="T5" fmla="*/ 0 h 463"/>
                      <a:gd name="T6" fmla="*/ 0 w 263"/>
                      <a:gd name="T7" fmla="*/ 30 h 463"/>
                      <a:gd name="T8" fmla="*/ 0 w 263"/>
                      <a:gd name="T9" fmla="*/ 463 h 463"/>
                    </a:gdLst>
                    <a:ahLst/>
                    <a:cxnLst>
                      <a:cxn ang="0">
                        <a:pos x="T0" y="T1"/>
                      </a:cxn>
                      <a:cxn ang="0">
                        <a:pos x="T2" y="T3"/>
                      </a:cxn>
                      <a:cxn ang="0">
                        <a:pos x="T4" y="T5"/>
                      </a:cxn>
                      <a:cxn ang="0">
                        <a:pos x="T6" y="T7"/>
                      </a:cxn>
                      <a:cxn ang="0">
                        <a:pos x="T8" y="T9"/>
                      </a:cxn>
                    </a:cxnLst>
                    <a:rect l="0" t="0" r="r" b="b"/>
                    <a:pathLst>
                      <a:path w="263" h="463">
                        <a:moveTo>
                          <a:pt x="0" y="463"/>
                        </a:moveTo>
                        <a:lnTo>
                          <a:pt x="263" y="463"/>
                        </a:lnTo>
                        <a:lnTo>
                          <a:pt x="263" y="0"/>
                        </a:lnTo>
                        <a:lnTo>
                          <a:pt x="0" y="30"/>
                        </a:lnTo>
                        <a:lnTo>
                          <a:pt x="0" y="463"/>
                        </a:lnTo>
                        <a:close/>
                      </a:path>
                    </a:pathLst>
                  </a:custGeom>
                  <a:grpFill/>
                  <a:ln>
                    <a:noFill/>
                  </a:ln>
                </p:spPr>
                <p:txBody>
                  <a:bodyPr/>
                  <a:lstStyle/>
                  <a:p>
                    <a:pPr defTabSz="685800">
                      <a:defRPr/>
                    </a:pPr>
                    <a:endParaRPr lang="zh-CN" altLang="en-US" sz="1350">
                      <a:noFill/>
                      <a:latin typeface="Arial" panose="020B0604020202020204"/>
                      <a:ea typeface="幼圆" panose="02010509060101010101" pitchFamily="49" charset="-122"/>
                    </a:endParaRPr>
                  </a:p>
                </p:txBody>
              </p:sp>
            </p:grpSp>
          </p:grpSp>
        </p:grpSp>
        <p:grpSp>
          <p:nvGrpSpPr>
            <p:cNvPr id="22" name="组合 145"/>
            <p:cNvGrpSpPr/>
            <p:nvPr/>
          </p:nvGrpSpPr>
          <p:grpSpPr bwMode="auto">
            <a:xfrm>
              <a:off x="4131469" y="3250844"/>
              <a:ext cx="327422" cy="328613"/>
              <a:chOff x="5477628" y="3606228"/>
              <a:chExt cx="1120629" cy="1120629"/>
            </a:xfrm>
          </p:grpSpPr>
          <p:sp>
            <p:nvSpPr>
              <p:cNvPr id="147" name="椭圆 146"/>
              <p:cNvSpPr/>
              <p:nvPr/>
            </p:nvSpPr>
            <p:spPr>
              <a:xfrm>
                <a:off x="5477628" y="3606228"/>
                <a:ext cx="1120629" cy="1120629"/>
              </a:xfrm>
              <a:prstGeom prst="ellipse">
                <a:avLst/>
              </a:prstGeom>
              <a:pattFill prst="wdUpDiag">
                <a:fgClr>
                  <a:srgbClr val="66BFBC"/>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nvGrpSpPr>
              <p:cNvPr id="26737" name="组合 147"/>
              <p:cNvGrpSpPr/>
              <p:nvPr/>
            </p:nvGrpSpPr>
            <p:grpSpPr bwMode="auto">
              <a:xfrm>
                <a:off x="5561692" y="3690292"/>
                <a:ext cx="952500" cy="952500"/>
                <a:chOff x="5561693" y="3690293"/>
                <a:chExt cx="952500" cy="952500"/>
              </a:xfrm>
            </p:grpSpPr>
            <p:sp>
              <p:nvSpPr>
                <p:cNvPr id="149" name="椭圆 148"/>
                <p:cNvSpPr/>
                <p:nvPr/>
              </p:nvSpPr>
              <p:spPr>
                <a:xfrm>
                  <a:off x="5563205" y="3691495"/>
                  <a:ext cx="949476" cy="950098"/>
                </a:xfrm>
                <a:prstGeom prst="ellipse">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nvGrpSpPr>
                <p:cNvPr id="25" name="组合 149"/>
                <p:cNvGrpSpPr>
                  <a:grpSpLocks noChangeAspect="1"/>
                </p:cNvGrpSpPr>
                <p:nvPr/>
              </p:nvGrpSpPr>
              <p:grpSpPr>
                <a:xfrm>
                  <a:off x="5786679" y="3839402"/>
                  <a:ext cx="502529" cy="654282"/>
                  <a:chOff x="3196030" y="1160235"/>
                  <a:chExt cx="582794" cy="758785"/>
                </a:xfrm>
                <a:solidFill>
                  <a:schemeClr val="bg1"/>
                </a:solidFill>
              </p:grpSpPr>
              <p:sp>
                <p:nvSpPr>
                  <p:cNvPr id="151" name="Freeform 634"/>
                  <p:cNvSpPr>
                    <a:spLocks noEditPoints="1"/>
                  </p:cNvSpPr>
                  <p:nvPr/>
                </p:nvSpPr>
                <p:spPr bwMode="auto">
                  <a:xfrm>
                    <a:off x="3243635" y="1160235"/>
                    <a:ext cx="535189" cy="533747"/>
                  </a:xfrm>
                  <a:custGeom>
                    <a:avLst/>
                    <a:gdLst>
                      <a:gd name="T0" fmla="*/ 225 w 314"/>
                      <a:gd name="T1" fmla="*/ 39 h 313"/>
                      <a:gd name="T2" fmla="*/ 34 w 314"/>
                      <a:gd name="T3" fmla="*/ 89 h 313"/>
                      <a:gd name="T4" fmla="*/ 62 w 314"/>
                      <a:gd name="T5" fmla="*/ 264 h 313"/>
                      <a:gd name="T6" fmla="*/ 84 w 314"/>
                      <a:gd name="T7" fmla="*/ 280 h 313"/>
                      <a:gd name="T8" fmla="*/ 110 w 314"/>
                      <a:gd name="T9" fmla="*/ 292 h 313"/>
                      <a:gd name="T10" fmla="*/ 275 w 314"/>
                      <a:gd name="T11" fmla="*/ 230 h 313"/>
                      <a:gd name="T12" fmla="*/ 225 w 314"/>
                      <a:gd name="T13" fmla="*/ 39 h 313"/>
                      <a:gd name="T14" fmla="*/ 229 w 314"/>
                      <a:gd name="T15" fmla="*/ 203 h 313"/>
                      <a:gd name="T16" fmla="*/ 111 w 314"/>
                      <a:gd name="T17" fmla="*/ 234 h 313"/>
                      <a:gd name="T18" fmla="*/ 79 w 314"/>
                      <a:gd name="T19" fmla="*/ 116 h 313"/>
                      <a:gd name="T20" fmla="*/ 198 w 314"/>
                      <a:gd name="T21" fmla="*/ 84 h 313"/>
                      <a:gd name="T22" fmla="*/ 229 w 314"/>
                      <a:gd name="T23" fmla="*/ 203 h 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4" h="313">
                        <a:moveTo>
                          <a:pt x="225" y="39"/>
                        </a:moveTo>
                        <a:cubicBezTo>
                          <a:pt x="158" y="0"/>
                          <a:pt x="72" y="23"/>
                          <a:pt x="34" y="89"/>
                        </a:cubicBezTo>
                        <a:cubicBezTo>
                          <a:pt x="0" y="148"/>
                          <a:pt x="13" y="221"/>
                          <a:pt x="62" y="264"/>
                        </a:cubicBezTo>
                        <a:cubicBezTo>
                          <a:pt x="69" y="270"/>
                          <a:pt x="76" y="275"/>
                          <a:pt x="84" y="280"/>
                        </a:cubicBezTo>
                        <a:cubicBezTo>
                          <a:pt x="92" y="285"/>
                          <a:pt x="101" y="289"/>
                          <a:pt x="110" y="292"/>
                        </a:cubicBezTo>
                        <a:cubicBezTo>
                          <a:pt x="171" y="313"/>
                          <a:pt x="241" y="288"/>
                          <a:pt x="275" y="230"/>
                        </a:cubicBezTo>
                        <a:cubicBezTo>
                          <a:pt x="314" y="163"/>
                          <a:pt x="291" y="77"/>
                          <a:pt x="225" y="39"/>
                        </a:cubicBezTo>
                        <a:close/>
                        <a:moveTo>
                          <a:pt x="229" y="203"/>
                        </a:moveTo>
                        <a:cubicBezTo>
                          <a:pt x="205" y="244"/>
                          <a:pt x="152" y="259"/>
                          <a:pt x="111" y="234"/>
                        </a:cubicBezTo>
                        <a:cubicBezTo>
                          <a:pt x="69" y="210"/>
                          <a:pt x="55" y="157"/>
                          <a:pt x="79" y="116"/>
                        </a:cubicBezTo>
                        <a:cubicBezTo>
                          <a:pt x="103" y="74"/>
                          <a:pt x="157" y="60"/>
                          <a:pt x="198" y="84"/>
                        </a:cubicBezTo>
                        <a:cubicBezTo>
                          <a:pt x="239" y="108"/>
                          <a:pt x="254" y="162"/>
                          <a:pt x="229" y="203"/>
                        </a:cubicBezTo>
                        <a:close/>
                      </a:path>
                    </a:pathLst>
                  </a:custGeom>
                  <a:grpFill/>
                  <a:ln>
                    <a:noFill/>
                  </a:ln>
                </p:spPr>
                <p:txBody>
                  <a:bodyPr/>
                  <a:lstStyle/>
                  <a:p>
                    <a:pPr defTabSz="685800">
                      <a:defRPr/>
                    </a:pPr>
                    <a:endParaRPr lang="zh-CN" altLang="en-US" sz="1350">
                      <a:noFill/>
                      <a:latin typeface="Arial" panose="020B0604020202020204"/>
                      <a:ea typeface="幼圆" panose="02010509060101010101" pitchFamily="49" charset="-122"/>
                    </a:endParaRPr>
                  </a:p>
                </p:txBody>
              </p:sp>
              <p:sp>
                <p:nvSpPr>
                  <p:cNvPr id="152" name="Oval 635"/>
                  <p:cNvSpPr>
                    <a:spLocks noChangeArrowheads="1"/>
                  </p:cNvSpPr>
                  <p:nvPr/>
                </p:nvSpPr>
                <p:spPr bwMode="auto">
                  <a:xfrm>
                    <a:off x="3465068" y="1327572"/>
                    <a:ext cx="85111" cy="87275"/>
                  </a:xfrm>
                  <a:prstGeom prst="ellipse">
                    <a:avLst/>
                  </a:prstGeom>
                  <a:grpFill/>
                  <a:ln>
                    <a:noFill/>
                  </a:ln>
                </p:spPr>
                <p:txBody>
                  <a:bodyPr/>
                  <a:lstStyle/>
                  <a:p>
                    <a:pPr defTabSz="685800">
                      <a:defRPr/>
                    </a:pPr>
                    <a:endParaRPr lang="zh-CN" altLang="en-US" sz="1350">
                      <a:noFill/>
                      <a:latin typeface="Arial" panose="020B0604020202020204"/>
                      <a:ea typeface="幼圆" panose="02010509060101010101" pitchFamily="49" charset="-122"/>
                    </a:endParaRPr>
                  </a:p>
                </p:txBody>
              </p:sp>
              <p:sp>
                <p:nvSpPr>
                  <p:cNvPr id="155" name="Freeform 636"/>
                  <p:cNvSpPr/>
                  <p:nvPr/>
                </p:nvSpPr>
                <p:spPr bwMode="auto">
                  <a:xfrm>
                    <a:off x="3507623" y="1422781"/>
                    <a:ext cx="92324" cy="98816"/>
                  </a:xfrm>
                  <a:custGeom>
                    <a:avLst/>
                    <a:gdLst>
                      <a:gd name="T0" fmla="*/ 13 w 54"/>
                      <a:gd name="T1" fmla="*/ 0 h 58"/>
                      <a:gd name="T2" fmla="*/ 0 w 54"/>
                      <a:gd name="T3" fmla="*/ 11 h 58"/>
                      <a:gd name="T4" fmla="*/ 13 w 54"/>
                      <a:gd name="T5" fmla="*/ 40 h 58"/>
                      <a:gd name="T6" fmla="*/ 0 w 54"/>
                      <a:gd name="T7" fmla="*/ 58 h 58"/>
                      <a:gd name="T8" fmla="*/ 4 w 54"/>
                      <a:gd name="T9" fmla="*/ 58 h 58"/>
                      <a:gd name="T10" fmla="*/ 44 w 54"/>
                      <a:gd name="T11" fmla="*/ 16 h 58"/>
                      <a:gd name="T12" fmla="*/ 13 w 54"/>
                      <a:gd name="T13" fmla="*/ 0 h 58"/>
                    </a:gdLst>
                    <a:ahLst/>
                    <a:cxnLst>
                      <a:cxn ang="0">
                        <a:pos x="T0" y="T1"/>
                      </a:cxn>
                      <a:cxn ang="0">
                        <a:pos x="T2" y="T3"/>
                      </a:cxn>
                      <a:cxn ang="0">
                        <a:pos x="T4" y="T5"/>
                      </a:cxn>
                      <a:cxn ang="0">
                        <a:pos x="T6" y="T7"/>
                      </a:cxn>
                      <a:cxn ang="0">
                        <a:pos x="T8" y="T9"/>
                      </a:cxn>
                      <a:cxn ang="0">
                        <a:pos x="T10" y="T11"/>
                      </a:cxn>
                      <a:cxn ang="0">
                        <a:pos x="T12" y="T13"/>
                      </a:cxn>
                    </a:cxnLst>
                    <a:rect l="0" t="0" r="r" b="b"/>
                    <a:pathLst>
                      <a:path w="54" h="58">
                        <a:moveTo>
                          <a:pt x="13" y="0"/>
                        </a:moveTo>
                        <a:cubicBezTo>
                          <a:pt x="0" y="11"/>
                          <a:pt x="0" y="11"/>
                          <a:pt x="0" y="11"/>
                        </a:cubicBezTo>
                        <a:cubicBezTo>
                          <a:pt x="13" y="40"/>
                          <a:pt x="13" y="40"/>
                          <a:pt x="13" y="40"/>
                        </a:cubicBezTo>
                        <a:cubicBezTo>
                          <a:pt x="0" y="58"/>
                          <a:pt x="0" y="58"/>
                          <a:pt x="0" y="58"/>
                        </a:cubicBezTo>
                        <a:cubicBezTo>
                          <a:pt x="4" y="58"/>
                          <a:pt x="4" y="58"/>
                          <a:pt x="4" y="58"/>
                        </a:cubicBezTo>
                        <a:cubicBezTo>
                          <a:pt x="54" y="58"/>
                          <a:pt x="44" y="29"/>
                          <a:pt x="44" y="16"/>
                        </a:cubicBezTo>
                        <a:cubicBezTo>
                          <a:pt x="44" y="6"/>
                          <a:pt x="24" y="2"/>
                          <a:pt x="13" y="0"/>
                        </a:cubicBezTo>
                        <a:close/>
                      </a:path>
                    </a:pathLst>
                  </a:custGeom>
                  <a:grpFill/>
                  <a:ln>
                    <a:noFill/>
                  </a:ln>
                </p:spPr>
                <p:txBody>
                  <a:bodyPr/>
                  <a:lstStyle/>
                  <a:p>
                    <a:pPr defTabSz="685800">
                      <a:defRPr/>
                    </a:pPr>
                    <a:endParaRPr lang="zh-CN" altLang="en-US" sz="1350">
                      <a:noFill/>
                      <a:latin typeface="Arial" panose="020B0604020202020204"/>
                      <a:ea typeface="幼圆" panose="02010509060101010101" pitchFamily="49" charset="-122"/>
                    </a:endParaRPr>
                  </a:p>
                </p:txBody>
              </p:sp>
              <p:sp>
                <p:nvSpPr>
                  <p:cNvPr id="159" name="Freeform 637"/>
                  <p:cNvSpPr/>
                  <p:nvPr/>
                </p:nvSpPr>
                <p:spPr bwMode="auto">
                  <a:xfrm>
                    <a:off x="3416021" y="1422781"/>
                    <a:ext cx="91603" cy="98816"/>
                  </a:xfrm>
                  <a:custGeom>
                    <a:avLst/>
                    <a:gdLst>
                      <a:gd name="T0" fmla="*/ 54 w 54"/>
                      <a:gd name="T1" fmla="*/ 11 h 58"/>
                      <a:gd name="T2" fmla="*/ 41 w 54"/>
                      <a:gd name="T3" fmla="*/ 0 h 58"/>
                      <a:gd name="T4" fmla="*/ 11 w 54"/>
                      <a:gd name="T5" fmla="*/ 16 h 58"/>
                      <a:gd name="T6" fmla="*/ 50 w 54"/>
                      <a:gd name="T7" fmla="*/ 58 h 58"/>
                      <a:gd name="T8" fmla="*/ 54 w 54"/>
                      <a:gd name="T9" fmla="*/ 58 h 58"/>
                      <a:gd name="T10" fmla="*/ 41 w 54"/>
                      <a:gd name="T11" fmla="*/ 40 h 58"/>
                      <a:gd name="T12" fmla="*/ 54 w 54"/>
                      <a:gd name="T13" fmla="*/ 11 h 58"/>
                    </a:gdLst>
                    <a:ahLst/>
                    <a:cxnLst>
                      <a:cxn ang="0">
                        <a:pos x="T0" y="T1"/>
                      </a:cxn>
                      <a:cxn ang="0">
                        <a:pos x="T2" y="T3"/>
                      </a:cxn>
                      <a:cxn ang="0">
                        <a:pos x="T4" y="T5"/>
                      </a:cxn>
                      <a:cxn ang="0">
                        <a:pos x="T6" y="T7"/>
                      </a:cxn>
                      <a:cxn ang="0">
                        <a:pos x="T8" y="T9"/>
                      </a:cxn>
                      <a:cxn ang="0">
                        <a:pos x="T10" y="T11"/>
                      </a:cxn>
                      <a:cxn ang="0">
                        <a:pos x="T12" y="T13"/>
                      </a:cxn>
                    </a:cxnLst>
                    <a:rect l="0" t="0" r="r" b="b"/>
                    <a:pathLst>
                      <a:path w="54" h="58">
                        <a:moveTo>
                          <a:pt x="54" y="11"/>
                        </a:moveTo>
                        <a:cubicBezTo>
                          <a:pt x="41" y="0"/>
                          <a:pt x="41" y="0"/>
                          <a:pt x="41" y="0"/>
                        </a:cubicBezTo>
                        <a:cubicBezTo>
                          <a:pt x="30" y="2"/>
                          <a:pt x="11" y="6"/>
                          <a:pt x="11" y="16"/>
                        </a:cubicBezTo>
                        <a:cubicBezTo>
                          <a:pt x="11" y="29"/>
                          <a:pt x="0" y="58"/>
                          <a:pt x="50" y="58"/>
                        </a:cubicBezTo>
                        <a:cubicBezTo>
                          <a:pt x="54" y="58"/>
                          <a:pt x="54" y="58"/>
                          <a:pt x="54" y="58"/>
                        </a:cubicBezTo>
                        <a:cubicBezTo>
                          <a:pt x="41" y="40"/>
                          <a:pt x="41" y="40"/>
                          <a:pt x="41" y="40"/>
                        </a:cubicBezTo>
                        <a:lnTo>
                          <a:pt x="54" y="11"/>
                        </a:lnTo>
                        <a:close/>
                      </a:path>
                    </a:pathLst>
                  </a:custGeom>
                  <a:grpFill/>
                  <a:ln>
                    <a:noFill/>
                  </a:ln>
                </p:spPr>
                <p:txBody>
                  <a:bodyPr/>
                  <a:lstStyle/>
                  <a:p>
                    <a:pPr defTabSz="685800">
                      <a:defRPr/>
                    </a:pPr>
                    <a:endParaRPr lang="zh-CN" altLang="en-US" sz="1350">
                      <a:noFill/>
                      <a:latin typeface="Arial" panose="020B0604020202020204"/>
                      <a:ea typeface="幼圆" panose="02010509060101010101" pitchFamily="49" charset="-122"/>
                    </a:endParaRPr>
                  </a:p>
                </p:txBody>
              </p:sp>
              <p:sp>
                <p:nvSpPr>
                  <p:cNvPr id="160" name="Freeform 638"/>
                  <p:cNvSpPr/>
                  <p:nvPr/>
                </p:nvSpPr>
                <p:spPr bwMode="auto">
                  <a:xfrm>
                    <a:off x="3196030" y="1626181"/>
                    <a:ext cx="225039" cy="292839"/>
                  </a:xfrm>
                  <a:custGeom>
                    <a:avLst/>
                    <a:gdLst>
                      <a:gd name="T0" fmla="*/ 85 w 132"/>
                      <a:gd name="T1" fmla="*/ 0 h 172"/>
                      <a:gd name="T2" fmla="*/ 12 w 132"/>
                      <a:gd name="T3" fmla="*/ 125 h 172"/>
                      <a:gd name="T4" fmla="*/ 25 w 132"/>
                      <a:gd name="T5" fmla="*/ 158 h 172"/>
                      <a:gd name="T6" fmla="*/ 58 w 132"/>
                      <a:gd name="T7" fmla="*/ 156 h 172"/>
                      <a:gd name="T8" fmla="*/ 132 w 132"/>
                      <a:gd name="T9" fmla="*/ 28 h 172"/>
                      <a:gd name="T10" fmla="*/ 105 w 132"/>
                      <a:gd name="T11" fmla="*/ 19 h 172"/>
                      <a:gd name="T12" fmla="*/ 85 w 132"/>
                      <a:gd name="T13" fmla="*/ 0 h 172"/>
                    </a:gdLst>
                    <a:ahLst/>
                    <a:cxnLst>
                      <a:cxn ang="0">
                        <a:pos x="T0" y="T1"/>
                      </a:cxn>
                      <a:cxn ang="0">
                        <a:pos x="T2" y="T3"/>
                      </a:cxn>
                      <a:cxn ang="0">
                        <a:pos x="T4" y="T5"/>
                      </a:cxn>
                      <a:cxn ang="0">
                        <a:pos x="T6" y="T7"/>
                      </a:cxn>
                      <a:cxn ang="0">
                        <a:pos x="T8" y="T9"/>
                      </a:cxn>
                      <a:cxn ang="0">
                        <a:pos x="T10" y="T11"/>
                      </a:cxn>
                      <a:cxn ang="0">
                        <a:pos x="T12" y="T13"/>
                      </a:cxn>
                    </a:cxnLst>
                    <a:rect l="0" t="0" r="r" b="b"/>
                    <a:pathLst>
                      <a:path w="132" h="172">
                        <a:moveTo>
                          <a:pt x="85" y="0"/>
                        </a:moveTo>
                        <a:cubicBezTo>
                          <a:pt x="12" y="125"/>
                          <a:pt x="12" y="125"/>
                          <a:pt x="12" y="125"/>
                        </a:cubicBezTo>
                        <a:cubicBezTo>
                          <a:pt x="12" y="125"/>
                          <a:pt x="0" y="144"/>
                          <a:pt x="25" y="158"/>
                        </a:cubicBezTo>
                        <a:cubicBezTo>
                          <a:pt x="49" y="172"/>
                          <a:pt x="58" y="156"/>
                          <a:pt x="58" y="156"/>
                        </a:cubicBezTo>
                        <a:cubicBezTo>
                          <a:pt x="132" y="28"/>
                          <a:pt x="132" y="28"/>
                          <a:pt x="132" y="28"/>
                        </a:cubicBezTo>
                        <a:cubicBezTo>
                          <a:pt x="132" y="28"/>
                          <a:pt x="119" y="27"/>
                          <a:pt x="105" y="19"/>
                        </a:cubicBezTo>
                        <a:cubicBezTo>
                          <a:pt x="92" y="11"/>
                          <a:pt x="85" y="0"/>
                          <a:pt x="85" y="0"/>
                        </a:cubicBezTo>
                        <a:close/>
                      </a:path>
                    </a:pathLst>
                  </a:custGeom>
                  <a:grpFill/>
                  <a:ln>
                    <a:noFill/>
                  </a:ln>
                </p:spPr>
                <p:txBody>
                  <a:bodyPr/>
                  <a:lstStyle/>
                  <a:p>
                    <a:pPr defTabSz="685800">
                      <a:defRPr/>
                    </a:pPr>
                    <a:endParaRPr lang="zh-CN" altLang="en-US" sz="1350">
                      <a:noFill/>
                      <a:latin typeface="Arial" panose="020B0604020202020204"/>
                      <a:ea typeface="幼圆" panose="02010509060101010101" pitchFamily="49" charset="-122"/>
                    </a:endParaRPr>
                  </a:p>
                </p:txBody>
              </p:sp>
            </p:grpSp>
          </p:grpSp>
        </p:grpSp>
      </p:grpSp>
      <p:sp>
        <p:nvSpPr>
          <p:cNvPr id="162" name="等腰三角形 161"/>
          <p:cNvSpPr/>
          <p:nvPr/>
        </p:nvSpPr>
        <p:spPr>
          <a:xfrm rot="1650064">
            <a:off x="7255663" y="2696716"/>
            <a:ext cx="333809" cy="574152"/>
          </a:xfrm>
          <a:prstGeom prst="triangle">
            <a:avLst/>
          </a:prstGeom>
          <a:solidFill>
            <a:srgbClr val="66BFBC"/>
          </a:soli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0" name="标题 1"/>
          <p:cNvSpPr txBox="1"/>
          <p:nvPr/>
        </p:nvSpPr>
        <p:spPr>
          <a:xfrm>
            <a:off x="576118" y="1007132"/>
            <a:ext cx="7835358" cy="1321094"/>
          </a:xfrm>
          <a:prstGeom prst="rect">
            <a:avLst/>
          </a:prstGeom>
          <a:noFill/>
          <a:ln>
            <a:noFill/>
          </a:ln>
          <a:effectLst/>
        </p:spPr>
        <p:txBody>
          <a:bodyPr vert="horz" wrap="square" lIns="0" tIns="0" rIns="0" bIns="0" rtlCol="0" anchor="ctr"/>
          <a:lstStyle/>
          <a:p>
            <a:pPr>
              <a:lnSpc>
                <a:spcPct val="130000"/>
              </a:lnSpc>
            </a:pPr>
            <a:r>
              <a:rPr kumimoji="1" lang="en-US" altLang="zh-CN" sz="2400" b="1" dirty="0" err="1">
                <a:ln w="12700">
                  <a:noFill/>
                </a:ln>
                <a:solidFill>
                  <a:srgbClr val="002060"/>
                </a:solidFill>
                <a:latin typeface="仿宋" panose="02010609060101010101" charset="-122"/>
                <a:ea typeface="仿宋" panose="02010609060101010101" charset="-122"/>
                <a:cs typeface="OPPOSans H" panose="00020600040101010101" charset="-122"/>
              </a:rPr>
              <a:t>RCAFlow</a:t>
            </a:r>
            <a:r>
              <a:rPr kumimoji="1" lang="en-US" altLang="zh-CN" sz="2400" b="1" dirty="0">
                <a:ln w="12700">
                  <a:noFill/>
                </a:ln>
                <a:solidFill>
                  <a:srgbClr val="002060"/>
                </a:solidFill>
                <a:latin typeface="仿宋" panose="02010609060101010101" charset="-122"/>
                <a:ea typeface="仿宋" panose="02010609060101010101" charset="-122"/>
                <a:cs typeface="OPPOSans H" panose="00020600040101010101" charset="-122"/>
              </a:rPr>
              <a:t>: A Workflow-Informed Hierarchical Planning Multi-Agent System for Root Cause Analysis</a:t>
            </a:r>
          </a:p>
        </p:txBody>
      </p:sp>
      <p:sp>
        <p:nvSpPr>
          <p:cNvPr id="51" name="标题 1"/>
          <p:cNvSpPr txBox="1"/>
          <p:nvPr/>
        </p:nvSpPr>
        <p:spPr>
          <a:xfrm>
            <a:off x="590934" y="2628455"/>
            <a:ext cx="5292000" cy="36000"/>
          </a:xfrm>
          <a:prstGeom prst="rect">
            <a:avLst/>
          </a:prstGeom>
          <a:gradFill>
            <a:gsLst>
              <a:gs pos="0">
                <a:schemeClr val="accent1">
                  <a:lumMod val="60000"/>
                  <a:lumOff val="40000"/>
                </a:schemeClr>
              </a:gs>
              <a:gs pos="100000">
                <a:schemeClr val="accent2">
                  <a:lumMod val="60000"/>
                  <a:lumOff val="40000"/>
                  <a:alpha val="0"/>
                </a:schemeClr>
              </a:gs>
            </a:gsLst>
            <a:lin ang="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53" name="文本框 52"/>
          <p:cNvSpPr txBox="1"/>
          <p:nvPr/>
        </p:nvSpPr>
        <p:spPr>
          <a:xfrm>
            <a:off x="539348" y="2759373"/>
            <a:ext cx="6745181" cy="338554"/>
          </a:xfrm>
          <a:prstGeom prst="rect">
            <a:avLst/>
          </a:prstGeom>
          <a:noFill/>
        </p:spPr>
        <p:txBody>
          <a:bodyPr wrap="square" rtlCol="0">
            <a:spAutoFit/>
          </a:bodyPr>
          <a:lstStyle/>
          <a:p>
            <a:r>
              <a:rPr lang="en-US" altLang="zh-CN" sz="1600"/>
              <a:t>Yufei Gao, Zhengong Cai*, Bowei Yang</a:t>
            </a:r>
            <a:endParaRPr lang="en-US" altLang="zh-CN" sz="1600" baseline="30000" dirty="0"/>
          </a:p>
        </p:txBody>
      </p:sp>
      <p:sp>
        <p:nvSpPr>
          <p:cNvPr id="5" name="标题 1">
            <a:extLst>
              <a:ext uri="{FF2B5EF4-FFF2-40B4-BE49-F238E27FC236}">
                <a16:creationId xmlns:a16="http://schemas.microsoft.com/office/drawing/2014/main" id="{65931182-11CA-9F3E-E0DD-2E9E6EADBE14}"/>
              </a:ext>
            </a:extLst>
          </p:cNvPr>
          <p:cNvSpPr txBox="1"/>
          <p:nvPr/>
        </p:nvSpPr>
        <p:spPr>
          <a:xfrm>
            <a:off x="3860402" y="4064670"/>
            <a:ext cx="1852252" cy="422958"/>
          </a:xfrm>
          <a:prstGeom prst="rect">
            <a:avLst/>
          </a:prstGeom>
          <a:noFill/>
          <a:ln>
            <a:noFill/>
          </a:ln>
          <a:effectLst/>
        </p:spPr>
        <p:txBody>
          <a:bodyPr vert="horz" wrap="square" lIns="0" tIns="0" rIns="0" bIns="0" rtlCol="0" anchor="ctr"/>
          <a:lstStyle/>
          <a:p>
            <a:pPr>
              <a:lnSpc>
                <a:spcPct val="130000"/>
              </a:lnSpc>
            </a:pPr>
            <a:r>
              <a:rPr kumimoji="1" lang="en-US" altLang="zh-CN" sz="2000" b="1">
                <a:ln w="12700">
                  <a:noFill/>
                </a:ln>
                <a:solidFill>
                  <a:srgbClr val="002060"/>
                </a:solidFill>
                <a:latin typeface="仿宋" panose="02010609060101010101" charset="-122"/>
                <a:ea typeface="仿宋" panose="02010609060101010101" charset="-122"/>
                <a:cs typeface="OPPOSans H" panose="00020600040101010101" charset="-122"/>
              </a:rPr>
              <a:t>AAAI 2026</a:t>
            </a:r>
            <a:endParaRPr kumimoji="1" lang="en-US" altLang="zh-CN" sz="2000" b="1" dirty="0">
              <a:ln w="12700">
                <a:noFill/>
              </a:ln>
              <a:solidFill>
                <a:srgbClr val="002060"/>
              </a:solidFill>
              <a:latin typeface="仿宋" panose="02010609060101010101" charset="-122"/>
              <a:ea typeface="仿宋" panose="02010609060101010101" charset="-122"/>
              <a:cs typeface="OPPOSans H" panose="00020600040101010101"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 name="矩形 15"/>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7" name="矩形 16"/>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8" name="矩形 17"/>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26" name="文本框 25"/>
          <p:cNvSpPr txBox="1"/>
          <p:nvPr/>
        </p:nvSpPr>
        <p:spPr bwMode="auto">
          <a:xfrm>
            <a:off x="813586" y="287917"/>
            <a:ext cx="2897204"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dirty="0">
                <a:solidFill>
                  <a:srgbClr val="E5DEDB">
                    <a:lumMod val="10000"/>
                    <a:alpha val="85000"/>
                  </a:srgbClr>
                </a:solidFill>
                <a:latin typeface="Times New Roman" panose="02020603050405020304" pitchFamily="18" charset="0"/>
                <a:cs typeface="Times New Roman" panose="02020603050405020304" pitchFamily="18" charset="0"/>
              </a:rPr>
              <a:t>Introduction</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4" name="文本框 3"/>
          <p:cNvSpPr txBox="1"/>
          <p:nvPr/>
        </p:nvSpPr>
        <p:spPr>
          <a:xfrm>
            <a:off x="813585" y="879231"/>
            <a:ext cx="6997560" cy="952953"/>
          </a:xfrm>
          <a:prstGeom prst="rect">
            <a:avLst/>
          </a:prstGeom>
          <a:noFill/>
        </p:spPr>
        <p:txBody>
          <a:bodyPr wrap="square">
            <a:spAutoFit/>
          </a:bodyPr>
          <a:lstStyle/>
          <a:p>
            <a:pPr>
              <a:lnSpc>
                <a:spcPct val="120000"/>
              </a:lnSpc>
            </a:pPr>
            <a:r>
              <a:rPr lang="en-US" altLang="zh-CN" sz="1600" dirty="0">
                <a:latin typeface="Times New Roman" panose="02020603050405020304" pitchFamily="18" charset="0"/>
                <a:cs typeface="Times New Roman" panose="02020603050405020304" pitchFamily="18" charset="0"/>
              </a:rPr>
              <a:t>In microservice architectures, the complex inter-service dependencies make Root Cause Analysis (RCA) the most critical and challenging part of the incident response process.</a:t>
            </a:r>
            <a:endParaRPr lang="zh-CN" altLang="en-US" sz="1600" dirty="0">
              <a:latin typeface="Times New Roman" panose="02020603050405020304" pitchFamily="18" charset="0"/>
              <a:cs typeface="Times New Roman" panose="02020603050405020304" pitchFamily="18" charset="0"/>
            </a:endParaRPr>
          </a:p>
        </p:txBody>
      </p:sp>
      <p:sp>
        <p:nvSpPr>
          <p:cNvPr id="2" name="文本框 1">
            <a:extLst>
              <a:ext uri="{FF2B5EF4-FFF2-40B4-BE49-F238E27FC236}">
                <a16:creationId xmlns:a16="http://schemas.microsoft.com/office/drawing/2014/main" id="{087ABA66-33D5-44AE-AE19-1BD4E93C238D}"/>
              </a:ext>
            </a:extLst>
          </p:cNvPr>
          <p:cNvSpPr txBox="1"/>
          <p:nvPr/>
        </p:nvSpPr>
        <p:spPr>
          <a:xfrm>
            <a:off x="813585" y="2026659"/>
            <a:ext cx="7340849" cy="952953"/>
          </a:xfrm>
          <a:prstGeom prst="rect">
            <a:avLst/>
          </a:prstGeom>
          <a:noFill/>
        </p:spPr>
        <p:txBody>
          <a:bodyPr wrap="square">
            <a:spAutoFit/>
          </a:bodyPr>
          <a:lstStyle/>
          <a:p>
            <a:pPr>
              <a:lnSpc>
                <a:spcPct val="120000"/>
              </a:lnSpc>
            </a:pPr>
            <a:r>
              <a:rPr lang="en-US" altLang="zh-CN" sz="1600" b="1" dirty="0">
                <a:latin typeface="Times New Roman" panose="02020603050405020304" pitchFamily="18" charset="0"/>
                <a:cs typeface="Times New Roman" panose="02020603050405020304" pitchFamily="18" charset="0"/>
              </a:rPr>
              <a:t>Traditional Methods</a:t>
            </a:r>
            <a:r>
              <a:rPr lang="en-US" altLang="zh-CN" sz="1600" dirty="0">
                <a:latin typeface="Times New Roman" panose="02020603050405020304" pitchFamily="18" charset="0"/>
                <a:cs typeface="Times New Roman" panose="02020603050405020304" pitchFamily="18" charset="0"/>
              </a:rPr>
              <a:t>: Researchers have proposed various learning-based methods to mitigate the complexity of manual diagnosis. However, they often rely on predefined workflows, causal graphs, static fault-symptom models, resulting in one-off analyses.</a:t>
            </a:r>
            <a:endParaRPr lang="zh-CN" altLang="en-US" sz="1600" dirty="0">
              <a:latin typeface="Times New Roman" panose="02020603050405020304" pitchFamily="18" charset="0"/>
              <a:cs typeface="Times New Roman" panose="02020603050405020304" pitchFamily="18" charset="0"/>
            </a:endParaRPr>
          </a:p>
        </p:txBody>
      </p:sp>
      <p:sp>
        <p:nvSpPr>
          <p:cNvPr id="5" name="文本框 4">
            <a:extLst>
              <a:ext uri="{FF2B5EF4-FFF2-40B4-BE49-F238E27FC236}">
                <a16:creationId xmlns:a16="http://schemas.microsoft.com/office/drawing/2014/main" id="{7AB5F774-F2A2-D0A4-55B8-429ED164E4B4}"/>
              </a:ext>
            </a:extLst>
          </p:cNvPr>
          <p:cNvSpPr txBox="1"/>
          <p:nvPr/>
        </p:nvSpPr>
        <p:spPr>
          <a:xfrm>
            <a:off x="813585" y="3174087"/>
            <a:ext cx="7340849" cy="1543884"/>
          </a:xfrm>
          <a:prstGeom prst="rect">
            <a:avLst/>
          </a:prstGeom>
          <a:noFill/>
        </p:spPr>
        <p:txBody>
          <a:bodyPr wrap="square">
            <a:spAutoFit/>
          </a:bodyPr>
          <a:lstStyle/>
          <a:p>
            <a:pPr>
              <a:lnSpc>
                <a:spcPct val="120000"/>
              </a:lnSpc>
            </a:pPr>
            <a:r>
              <a:rPr lang="en-US" altLang="zh-CN" sz="1600" b="1" dirty="0">
                <a:latin typeface="Times New Roman" panose="02020603050405020304" pitchFamily="18" charset="0"/>
                <a:cs typeface="Times New Roman" panose="02020603050405020304" pitchFamily="18" charset="0"/>
              </a:rPr>
              <a:t>LLMs</a:t>
            </a:r>
            <a:r>
              <a:rPr lang="en-US" altLang="zh-CN" sz="1600" dirty="0">
                <a:latin typeface="Times New Roman" panose="02020603050405020304" pitchFamily="18" charset="0"/>
                <a:cs typeface="Times New Roman" panose="02020603050405020304" pitchFamily="18" charset="0"/>
              </a:rPr>
              <a:t>: Some studies have introduced multi-agent systems. Others leverage semantic retrieval to incorporate historical incidents, troubleshooting guides (TSGs), or standard operating procedures (SOPs) as domain knowledge for LLMs. However, these methods rely on static flows, where agents follow predefined action sequences without adapting to intermediate feedback. </a:t>
            </a:r>
            <a:endParaRPr lang="zh-CN" altLang="en-US" sz="1600" dirty="0">
              <a:latin typeface="Times New Roman" panose="02020603050405020304" pitchFamily="18" charset="0"/>
              <a:cs typeface="Times New Roman" panose="02020603050405020304" pitchFamily="18" charset="0"/>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 name="矩形 15"/>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7" name="矩形 16"/>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8" name="矩形 17"/>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26" name="文本框 25"/>
          <p:cNvSpPr txBox="1"/>
          <p:nvPr/>
        </p:nvSpPr>
        <p:spPr bwMode="auto">
          <a:xfrm>
            <a:off x="813586" y="287917"/>
            <a:ext cx="2897204"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a:solidFill>
                  <a:srgbClr val="E5DEDB">
                    <a:lumMod val="10000"/>
                    <a:alpha val="85000"/>
                  </a:srgbClr>
                </a:solidFill>
                <a:latin typeface="Times New Roman" panose="02020603050405020304" pitchFamily="18" charset="0"/>
                <a:cs typeface="Times New Roman" panose="02020603050405020304" pitchFamily="18" charset="0"/>
              </a:rPr>
              <a:t>Framework</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4" name="文本框 3"/>
          <p:cNvSpPr txBox="1"/>
          <p:nvPr/>
        </p:nvSpPr>
        <p:spPr>
          <a:xfrm>
            <a:off x="752476" y="2952832"/>
            <a:ext cx="7136161" cy="584775"/>
          </a:xfrm>
          <a:prstGeom prst="rect">
            <a:avLst/>
          </a:prstGeom>
          <a:noFill/>
        </p:spPr>
        <p:txBody>
          <a:bodyPr wrap="square">
            <a:spAutoFit/>
          </a:bodyPr>
          <a:lstStyle/>
          <a:p>
            <a:r>
              <a:rPr lang="en-US" altLang="zh-CN" sz="1600" dirty="0">
                <a:latin typeface="Times New Roman" panose="02020603050405020304" pitchFamily="18" charset="0"/>
                <a:cs typeface="Times New Roman" panose="02020603050405020304" pitchFamily="18" charset="0"/>
              </a:rPr>
              <a:t>Based on the output of </a:t>
            </a:r>
            <a:r>
              <a:rPr lang="en-US" altLang="zh-CN" sz="1600" i="1" dirty="0">
                <a:latin typeface="Times New Roman" panose="02020603050405020304" pitchFamily="18" charset="0"/>
                <a:cs typeface="Times New Roman" panose="02020603050405020304" pitchFamily="18" charset="0"/>
              </a:rPr>
              <a:t>Planner</a:t>
            </a:r>
            <a:r>
              <a:rPr lang="en-US" altLang="zh-CN" sz="1600" dirty="0">
                <a:latin typeface="Times New Roman" panose="02020603050405020304" pitchFamily="18" charset="0"/>
                <a:cs typeface="Times New Roman" panose="02020603050405020304" pitchFamily="18" charset="0"/>
              </a:rPr>
              <a:t>, tasks are either delegated to </a:t>
            </a:r>
            <a:r>
              <a:rPr lang="en-US" altLang="zh-CN" sz="1600">
                <a:latin typeface="Times New Roman" panose="02020603050405020304" pitchFamily="18" charset="0"/>
                <a:cs typeface="Times New Roman" panose="02020603050405020304" pitchFamily="18" charset="0"/>
              </a:rPr>
              <a:t>the next-level </a:t>
            </a:r>
            <a:r>
              <a:rPr lang="en-US" altLang="zh-CN" sz="1600" dirty="0">
                <a:latin typeface="Times New Roman" panose="02020603050405020304" pitchFamily="18" charset="0"/>
                <a:cs typeface="Times New Roman" panose="02020603050405020304" pitchFamily="18" charset="0"/>
              </a:rPr>
              <a:t>branch or directly executed by </a:t>
            </a:r>
            <a:r>
              <a:rPr lang="en-US" altLang="zh-CN" sz="1600" i="1" dirty="0">
                <a:latin typeface="Times New Roman" panose="02020603050405020304" pitchFamily="18" charset="0"/>
                <a:cs typeface="Times New Roman" panose="02020603050405020304" pitchFamily="18" charset="0"/>
              </a:rPr>
              <a:t>Executor</a:t>
            </a:r>
            <a:r>
              <a:rPr lang="en-US" altLang="zh-CN" sz="1600" dirty="0">
                <a:latin typeface="Times New Roman" panose="02020603050405020304" pitchFamily="18" charset="0"/>
                <a:cs typeface="Times New Roman" panose="02020603050405020304" pitchFamily="18" charset="0"/>
              </a:rPr>
              <a:t> following the planned steps. </a:t>
            </a:r>
            <a:endParaRPr lang="zh-CN" altLang="en-US" sz="1600" dirty="0">
              <a:latin typeface="Times New Roman" panose="02020603050405020304" pitchFamily="18" charset="0"/>
              <a:cs typeface="Times New Roman" panose="02020603050405020304" pitchFamily="18" charset="0"/>
            </a:endParaRPr>
          </a:p>
        </p:txBody>
      </p:sp>
      <p:sp>
        <p:nvSpPr>
          <p:cNvPr id="2" name="文本框 1"/>
          <p:cNvSpPr txBox="1"/>
          <p:nvPr/>
        </p:nvSpPr>
        <p:spPr>
          <a:xfrm>
            <a:off x="752476" y="821063"/>
            <a:ext cx="7450205" cy="830997"/>
          </a:xfrm>
          <a:prstGeom prst="rect">
            <a:avLst/>
          </a:prstGeom>
          <a:noFill/>
        </p:spPr>
        <p:txBody>
          <a:bodyPr wrap="square">
            <a:spAutoFit/>
          </a:bodyPr>
          <a:lstStyle/>
          <a:p>
            <a:r>
              <a:rPr lang="en-US" altLang="zh-CN" sz="1600" dirty="0">
                <a:latin typeface="Times New Roman" panose="02020603050405020304" pitchFamily="18" charset="0"/>
                <a:cs typeface="Times New Roman" panose="02020603050405020304" pitchFamily="18" charset="0"/>
              </a:rPr>
              <a:t>Transform structured knowledge such as Troubleshooting Guides (TSGs) and Standard Operating Procedures (SOPs) into three types of workflow to construct a knowledge base that supports task planning.</a:t>
            </a:r>
          </a:p>
        </p:txBody>
      </p:sp>
      <p:sp>
        <p:nvSpPr>
          <p:cNvPr id="3" name="文本框 2"/>
          <p:cNvSpPr txBox="1"/>
          <p:nvPr/>
        </p:nvSpPr>
        <p:spPr>
          <a:xfrm>
            <a:off x="772121" y="1763837"/>
            <a:ext cx="7282851" cy="1077218"/>
          </a:xfrm>
          <a:prstGeom prst="rect">
            <a:avLst/>
          </a:prstGeom>
          <a:noFill/>
        </p:spPr>
        <p:txBody>
          <a:bodyPr wrap="square">
            <a:spAutoFit/>
          </a:bodyPr>
          <a:lstStyle/>
          <a:p>
            <a:r>
              <a:rPr lang="en-US" altLang="zh-CN" sz="1600" dirty="0">
                <a:solidFill>
                  <a:srgbClr val="000000"/>
                </a:solidFill>
                <a:latin typeface="Times New Roman" panose="02020603050405020304" pitchFamily="18" charset="0"/>
                <a:ea typeface="幼圆" panose="02010509060101010101" pitchFamily="49" charset="-122"/>
                <a:cs typeface="Times New Roman" panose="02020603050405020304" pitchFamily="18" charset="0"/>
              </a:rPr>
              <a:t>The hierarchical planning process is jointly driven by </a:t>
            </a:r>
            <a:r>
              <a:rPr lang="en-US" altLang="zh-CN" sz="1600" b="1" dirty="0">
                <a:solidFill>
                  <a:srgbClr val="000000"/>
                </a:solidFill>
                <a:latin typeface="Times New Roman" panose="02020603050405020304" pitchFamily="18" charset="0"/>
                <a:ea typeface="幼圆" panose="02010509060101010101" pitchFamily="49" charset="-122"/>
                <a:cs typeface="Times New Roman" panose="02020603050405020304" pitchFamily="18" charset="0"/>
              </a:rPr>
              <a:t>Planner</a:t>
            </a:r>
            <a:r>
              <a:rPr lang="en-US" altLang="zh-CN" sz="1600" dirty="0">
                <a:solidFill>
                  <a:srgbClr val="000000"/>
                </a:solidFill>
                <a:latin typeface="Times New Roman" panose="02020603050405020304" pitchFamily="18" charset="0"/>
                <a:ea typeface="幼圆" panose="02010509060101010101" pitchFamily="49" charset="-122"/>
                <a:cs typeface="Times New Roman" panose="02020603050405020304" pitchFamily="18" charset="0"/>
              </a:rPr>
              <a:t> and the </a:t>
            </a:r>
            <a:r>
              <a:rPr lang="en-US" altLang="zh-CN" sz="1600" b="1" dirty="0">
                <a:solidFill>
                  <a:srgbClr val="000000"/>
                </a:solidFill>
                <a:latin typeface="Times New Roman" panose="02020603050405020304" pitchFamily="18" charset="0"/>
                <a:ea typeface="幼圆" panose="02010509060101010101" pitchFamily="49" charset="-122"/>
                <a:cs typeface="Times New Roman" panose="02020603050405020304" pitchFamily="18" charset="0"/>
              </a:rPr>
              <a:t>Workflow Knowledge Base (WKB)</a:t>
            </a:r>
            <a:r>
              <a:rPr lang="en-US" altLang="zh-CN" sz="1600" dirty="0">
                <a:solidFill>
                  <a:srgbClr val="000000"/>
                </a:solidFill>
                <a:latin typeface="Times New Roman" panose="02020603050405020304" pitchFamily="18" charset="0"/>
                <a:ea typeface="幼圆" panose="02010509060101010101" pitchFamily="49" charset="-122"/>
                <a:cs typeface="Times New Roman" panose="02020603050405020304" pitchFamily="18" charset="0"/>
              </a:rPr>
              <a:t>, and is organized and controlled through a Git-inspired branch management mechanism. </a:t>
            </a:r>
            <a:r>
              <a:rPr lang="en-US" altLang="zh-CN" sz="1600" b="1" dirty="0">
                <a:solidFill>
                  <a:srgbClr val="000000"/>
                </a:solidFill>
                <a:latin typeface="Times New Roman" panose="02020603050405020304" pitchFamily="18" charset="0"/>
                <a:ea typeface="幼圆" panose="02010509060101010101" pitchFamily="49" charset="-122"/>
                <a:cs typeface="Times New Roman" panose="02020603050405020304" pitchFamily="18" charset="0"/>
              </a:rPr>
              <a:t>Brancher</a:t>
            </a:r>
            <a:r>
              <a:rPr lang="en-US" altLang="zh-CN" sz="1600" dirty="0">
                <a:solidFill>
                  <a:srgbClr val="000000"/>
                </a:solidFill>
                <a:latin typeface="Times New Roman" panose="02020603050405020304" pitchFamily="18" charset="0"/>
                <a:ea typeface="幼圆" panose="02010509060101010101" pitchFamily="49" charset="-122"/>
                <a:cs typeface="Times New Roman" panose="02020603050405020304" pitchFamily="18" charset="0"/>
              </a:rPr>
              <a:t> creates and merges branches, while </a:t>
            </a:r>
            <a:r>
              <a:rPr lang="en-US" altLang="zh-CN" sz="1600" b="1" dirty="0">
                <a:solidFill>
                  <a:srgbClr val="000000"/>
                </a:solidFill>
                <a:latin typeface="Times New Roman" panose="02020603050405020304" pitchFamily="18" charset="0"/>
                <a:ea typeface="幼圆" panose="02010509060101010101" pitchFamily="49" charset="-122"/>
                <a:cs typeface="Times New Roman" panose="02020603050405020304" pitchFamily="18" charset="0"/>
              </a:rPr>
              <a:t>Coordinator</a:t>
            </a:r>
            <a:r>
              <a:rPr lang="en-US" altLang="zh-CN" sz="1600" dirty="0">
                <a:solidFill>
                  <a:srgbClr val="000000"/>
                </a:solidFill>
                <a:latin typeface="Times New Roman" panose="02020603050405020304" pitchFamily="18" charset="0"/>
                <a:ea typeface="幼圆" panose="02010509060101010101" pitchFamily="49" charset="-122"/>
                <a:cs typeface="Times New Roman" panose="02020603050405020304" pitchFamily="18" charset="0"/>
              </a:rPr>
              <a:t> manages global task scheduling.</a:t>
            </a:r>
            <a:endParaRPr lang="zh-CN" altLang="zh-CN" sz="1600" dirty="0">
              <a:effectLst/>
            </a:endParaRPr>
          </a:p>
        </p:txBody>
      </p:sp>
      <p:sp>
        <p:nvSpPr>
          <p:cNvPr id="5" name="文本框 4">
            <a:extLst>
              <a:ext uri="{FF2B5EF4-FFF2-40B4-BE49-F238E27FC236}">
                <a16:creationId xmlns:a16="http://schemas.microsoft.com/office/drawing/2014/main" id="{D5197614-335A-115C-0EB4-07725D078C7A}"/>
              </a:ext>
            </a:extLst>
          </p:cNvPr>
          <p:cNvSpPr txBox="1"/>
          <p:nvPr/>
        </p:nvSpPr>
        <p:spPr>
          <a:xfrm>
            <a:off x="752476" y="3726328"/>
            <a:ext cx="7069002" cy="830997"/>
          </a:xfrm>
          <a:prstGeom prst="rect">
            <a:avLst/>
          </a:prstGeom>
          <a:noFill/>
        </p:spPr>
        <p:txBody>
          <a:bodyPr wrap="square">
            <a:spAutoFit/>
          </a:bodyPr>
          <a:lstStyle/>
          <a:p>
            <a:r>
              <a:rPr lang="en-US" altLang="zh-CN" sz="1600" dirty="0">
                <a:latin typeface="Times New Roman" panose="02020603050405020304" pitchFamily="18" charset="0"/>
                <a:cs typeface="Times New Roman" panose="02020603050405020304" pitchFamily="18" charset="0"/>
              </a:rPr>
              <a:t>In addition, the system records the complete reasoning trajectory and execution results in the current branch’s workspace, enabling data access and process traceability for other branches.</a:t>
            </a:r>
            <a:endParaRPr lang="zh-CN" altLang="en-US" sz="1600" dirty="0">
              <a:latin typeface="Times New Roman" panose="02020603050405020304" pitchFamily="18" charset="0"/>
              <a:cs typeface="Times New Roman" panose="02020603050405020304" pitchFamily="18" charset="0"/>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 name="矩形 15"/>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7" name="矩形 16"/>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8" name="矩形 17"/>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26" name="文本框 25"/>
          <p:cNvSpPr txBox="1"/>
          <p:nvPr/>
        </p:nvSpPr>
        <p:spPr bwMode="auto">
          <a:xfrm>
            <a:off x="813586" y="287917"/>
            <a:ext cx="2897204"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dirty="0">
                <a:solidFill>
                  <a:srgbClr val="E5DEDB">
                    <a:lumMod val="10000"/>
                    <a:alpha val="85000"/>
                  </a:srgbClr>
                </a:solidFill>
                <a:latin typeface="Times New Roman" panose="02020603050405020304" pitchFamily="18" charset="0"/>
                <a:cs typeface="Times New Roman" panose="02020603050405020304" pitchFamily="18" charset="0"/>
              </a:rPr>
              <a:t>Contributions</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4" name="文本框 3"/>
          <p:cNvSpPr txBox="1"/>
          <p:nvPr/>
        </p:nvSpPr>
        <p:spPr>
          <a:xfrm>
            <a:off x="791766" y="957092"/>
            <a:ext cx="7115579" cy="3372077"/>
          </a:xfrm>
          <a:prstGeom prst="rect">
            <a:avLst/>
          </a:prstGeom>
          <a:noFill/>
        </p:spPr>
        <p:txBody>
          <a:bodyPr wrap="square">
            <a:spAutoFit/>
          </a:bodyPr>
          <a:lstStyle/>
          <a:p>
            <a:pPr marL="285750" indent="-285750">
              <a:lnSpc>
                <a:spcPct val="150000"/>
              </a:lnSpc>
              <a:buFont typeface="Wingdings" panose="05000000000000000000" pitchFamily="2" charset="2"/>
              <a:buChar char="l"/>
            </a:pPr>
            <a:r>
              <a:rPr lang="en-US" altLang="zh-CN" sz="1600" dirty="0">
                <a:latin typeface="Times New Roman" panose="02020603050405020304" pitchFamily="18" charset="0"/>
                <a:cs typeface="Times New Roman" panose="02020603050405020304" pitchFamily="18" charset="0"/>
              </a:rPr>
              <a:t>Propose </a:t>
            </a:r>
            <a:r>
              <a:rPr lang="en-US" altLang="zh-CN" sz="1600" dirty="0" err="1">
                <a:latin typeface="Times New Roman" panose="02020603050405020304" pitchFamily="18" charset="0"/>
                <a:cs typeface="Times New Roman" panose="02020603050405020304" pitchFamily="18" charset="0"/>
              </a:rPr>
              <a:t>RCAFlow</a:t>
            </a:r>
            <a:r>
              <a:rPr lang="en-US" altLang="zh-CN" sz="1600" dirty="0">
                <a:latin typeface="Times New Roman" panose="02020603050405020304" pitchFamily="18" charset="0"/>
                <a:cs typeface="Times New Roman" panose="02020603050405020304" pitchFamily="18" charset="0"/>
              </a:rPr>
              <a:t>, a multi-agent framework that integrates structured knowledge guidance, hierarchical task planning, modular execution, and self-reflection and is tailored for RCA in complex, heterogeneous cloud systems. </a:t>
            </a:r>
          </a:p>
          <a:p>
            <a:pPr marL="285750" indent="-285750">
              <a:lnSpc>
                <a:spcPct val="150000"/>
              </a:lnSpc>
              <a:buFont typeface="Wingdings" panose="05000000000000000000" pitchFamily="2" charset="2"/>
              <a:buChar char="l"/>
            </a:pPr>
            <a:r>
              <a:rPr lang="en-US" altLang="zh-CN" sz="1600" dirty="0">
                <a:latin typeface="Times New Roman" panose="02020603050405020304" pitchFamily="18" charset="0"/>
                <a:cs typeface="Times New Roman" panose="02020603050405020304" pitchFamily="18" charset="0"/>
              </a:rPr>
              <a:t>Construct a structured workflow knowledge base by converting troubleshooting documents into behavior-</a:t>
            </a:r>
            <a:r>
              <a:rPr lang="en-US" altLang="zh-CN" sz="1600" dirty="0" err="1">
                <a:latin typeface="Times New Roman" panose="02020603050405020304" pitchFamily="18" charset="0"/>
                <a:cs typeface="Times New Roman" panose="02020603050405020304" pitchFamily="18" charset="0"/>
              </a:rPr>
              <a:t>treestyle</a:t>
            </a:r>
            <a:r>
              <a:rPr lang="en-US" altLang="zh-CN" sz="1600" dirty="0">
                <a:latin typeface="Times New Roman" panose="02020603050405020304" pitchFamily="18" charset="0"/>
                <a:cs typeface="Times New Roman" panose="02020603050405020304" pitchFamily="18" charset="0"/>
              </a:rPr>
              <a:t> processes. </a:t>
            </a:r>
          </a:p>
          <a:p>
            <a:pPr marL="285750" indent="-285750">
              <a:lnSpc>
                <a:spcPct val="150000"/>
              </a:lnSpc>
              <a:buFont typeface="Wingdings" panose="05000000000000000000" pitchFamily="2" charset="2"/>
              <a:buChar char="l"/>
            </a:pPr>
            <a:r>
              <a:rPr lang="en-US" altLang="zh-CN" sz="1600" dirty="0">
                <a:latin typeface="Times New Roman" panose="02020603050405020304" pitchFamily="18" charset="0"/>
                <a:cs typeface="Times New Roman" panose="02020603050405020304" pitchFamily="18" charset="0"/>
              </a:rPr>
              <a:t>Design a Git-inspired branching mechanism and hierarchical coordination to decouple reasoning paths, support modular execution. </a:t>
            </a:r>
          </a:p>
          <a:p>
            <a:pPr marL="285750" indent="-285750">
              <a:lnSpc>
                <a:spcPct val="150000"/>
              </a:lnSpc>
              <a:buFont typeface="Wingdings" panose="05000000000000000000" pitchFamily="2" charset="2"/>
              <a:buChar char="l"/>
            </a:pPr>
            <a:r>
              <a:rPr lang="en-US" altLang="zh-CN" sz="1600" dirty="0" err="1">
                <a:latin typeface="Times New Roman" panose="02020603050405020304" pitchFamily="18" charset="0"/>
                <a:cs typeface="Times New Roman" panose="02020603050405020304" pitchFamily="18" charset="0"/>
              </a:rPr>
              <a:t>RCAFlow</a:t>
            </a:r>
            <a:r>
              <a:rPr lang="en-US" altLang="zh-CN" sz="1600" dirty="0">
                <a:latin typeface="Times New Roman" panose="02020603050405020304" pitchFamily="18" charset="0"/>
                <a:cs typeface="Times New Roman" panose="02020603050405020304" pitchFamily="18" charset="0"/>
              </a:rPr>
              <a:t> achieves state-of-the-art performance on the challenging </a:t>
            </a:r>
            <a:r>
              <a:rPr lang="en-US" altLang="zh-CN" sz="1600" dirty="0" err="1">
                <a:latin typeface="Times New Roman" panose="02020603050405020304" pitchFamily="18" charset="0"/>
                <a:cs typeface="Times New Roman" panose="02020603050405020304" pitchFamily="18" charset="0"/>
              </a:rPr>
              <a:t>OpenRCA</a:t>
            </a:r>
            <a:r>
              <a:rPr lang="en-US" altLang="zh-CN" sz="1600" dirty="0">
                <a:latin typeface="Times New Roman" panose="02020603050405020304" pitchFamily="18" charset="0"/>
                <a:cs typeface="Times New Roman" panose="02020603050405020304" pitchFamily="18" charset="0"/>
              </a:rPr>
              <a:t> benchmark, demonstrating its effectiveness in complex root cause analysis.</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B63B7D-8E28-5000-A1ED-F0A6F8E616DE}"/>
            </a:ext>
          </a:extLst>
        </p:cNvPr>
        <p:cNvGrpSpPr/>
        <p:nvPr/>
      </p:nvGrpSpPr>
      <p:grpSpPr>
        <a:xfrm>
          <a:off x="0" y="0"/>
          <a:ext cx="0" cy="0"/>
          <a:chOff x="0" y="0"/>
          <a:chExt cx="0" cy="0"/>
        </a:xfrm>
      </p:grpSpPr>
      <p:sp>
        <p:nvSpPr>
          <p:cNvPr id="15" name="矩形 14">
            <a:extLst>
              <a:ext uri="{FF2B5EF4-FFF2-40B4-BE49-F238E27FC236}">
                <a16:creationId xmlns:a16="http://schemas.microsoft.com/office/drawing/2014/main" id="{D8A6CC2B-A23A-F382-3070-224ADF5CBFD7}"/>
              </a:ext>
            </a:extLst>
          </p:cNvPr>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 name="矩形 15">
            <a:extLst>
              <a:ext uri="{FF2B5EF4-FFF2-40B4-BE49-F238E27FC236}">
                <a16:creationId xmlns:a16="http://schemas.microsoft.com/office/drawing/2014/main" id="{1FD7D774-56E2-396E-EA31-B9E3DAF73072}"/>
              </a:ext>
            </a:extLst>
          </p:cNvPr>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7" name="矩形 16">
            <a:extLst>
              <a:ext uri="{FF2B5EF4-FFF2-40B4-BE49-F238E27FC236}">
                <a16:creationId xmlns:a16="http://schemas.microsoft.com/office/drawing/2014/main" id="{5C024354-1E3D-A09A-B0F6-EE32A0C2B3D8}"/>
              </a:ext>
            </a:extLst>
          </p:cNvPr>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8" name="矩形 17">
            <a:extLst>
              <a:ext uri="{FF2B5EF4-FFF2-40B4-BE49-F238E27FC236}">
                <a16:creationId xmlns:a16="http://schemas.microsoft.com/office/drawing/2014/main" id="{ED251A4B-33FC-2884-B67E-3E3C7F88154D}"/>
              </a:ext>
            </a:extLst>
          </p:cNvPr>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26" name="文本框 25">
            <a:extLst>
              <a:ext uri="{FF2B5EF4-FFF2-40B4-BE49-F238E27FC236}">
                <a16:creationId xmlns:a16="http://schemas.microsoft.com/office/drawing/2014/main" id="{8390DFA6-D56C-68B8-4877-03230EE16282}"/>
              </a:ext>
            </a:extLst>
          </p:cNvPr>
          <p:cNvSpPr txBox="1"/>
          <p:nvPr/>
        </p:nvSpPr>
        <p:spPr bwMode="auto">
          <a:xfrm>
            <a:off x="813585" y="287917"/>
            <a:ext cx="6373027"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a:solidFill>
                  <a:srgbClr val="E5DEDB">
                    <a:lumMod val="10000"/>
                    <a:alpha val="85000"/>
                  </a:srgbClr>
                </a:solidFill>
                <a:latin typeface="Times New Roman" panose="02020603050405020304" pitchFamily="18" charset="0"/>
                <a:cs typeface="Times New Roman" panose="02020603050405020304" pitchFamily="18" charset="0"/>
              </a:rPr>
              <a:t>Problem Formulation</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2ABC5451-2CE3-C588-0CDA-D8C31E8C2C22}"/>
                  </a:ext>
                </a:extLst>
              </p:cNvPr>
              <p:cNvSpPr txBox="1"/>
              <p:nvPr/>
            </p:nvSpPr>
            <p:spPr>
              <a:xfrm>
                <a:off x="2766417" y="1953584"/>
                <a:ext cx="3611165" cy="553998"/>
              </a:xfrm>
              <a:prstGeom prst="rect">
                <a:avLst/>
              </a:prstGeom>
              <a:noFill/>
            </p:spPr>
            <p:txBody>
              <a:bodyPr wrap="square">
                <a:spAutoFit/>
              </a:bodyPr>
              <a:lstStyle/>
              <a:p>
                <a:pPr>
                  <a:lnSpc>
                    <a:spcPct val="150000"/>
                  </a:lnSpc>
                </a:pPr>
                <a14:m>
                  <m:oMathPara xmlns:m="http://schemas.openxmlformats.org/officeDocument/2006/math">
                    <m:oMathParaPr>
                      <m:jc m:val="centerGroup"/>
                    </m:oMathParaPr>
                    <m:oMath xmlns:m="http://schemas.openxmlformats.org/officeDocument/2006/math">
                      <m:sSub>
                        <m:sSubPr>
                          <m:ctrlPr>
                            <a:rPr lang="en-US" altLang="zh-CN" sz="2000" i="1" smtClean="0">
                              <a:latin typeface="Cambria Math" panose="02040503050406030204" pitchFamily="18" charset="0"/>
                              <a:cs typeface="Times New Roman" panose="02020603050405020304" pitchFamily="18" charset="0"/>
                            </a:rPr>
                          </m:ctrlPr>
                        </m:sSubPr>
                        <m:e>
                          <m:r>
                            <m:rPr>
                              <m:sty m:val="p"/>
                            </m:rPr>
                            <a:rPr lang="en-US" altLang="zh-CN" sz="2000" i="0">
                              <a:latin typeface="Cambria Math" panose="02040503050406030204" pitchFamily="18" charset="0"/>
                              <a:cs typeface="Times New Roman" panose="02020603050405020304" pitchFamily="18" charset="0"/>
                            </a:rPr>
                            <m:t>Σ</m:t>
                          </m:r>
                        </m:e>
                        <m:sub>
                          <m:r>
                            <a:rPr lang="en-US" altLang="zh-CN" sz="2000" i="1">
                              <a:latin typeface="Cambria Math" panose="02040503050406030204" pitchFamily="18" charset="0"/>
                              <a:cs typeface="Times New Roman" panose="02020603050405020304" pitchFamily="18" charset="0"/>
                            </a:rPr>
                            <m:t>𝒜</m:t>
                          </m:r>
                        </m:sub>
                      </m:sSub>
                      <m:r>
                        <a:rPr lang="en-US" altLang="zh-CN" sz="2000" i="1">
                          <a:latin typeface="Cambria Math" panose="02040503050406030204" pitchFamily="18" charset="0"/>
                          <a:cs typeface="Times New Roman" panose="02020603050405020304" pitchFamily="18" charset="0"/>
                        </a:rPr>
                        <m:t>=</m:t>
                      </m:r>
                      <m:d>
                        <m:dPr>
                          <m:ctrlPr>
                            <a:rPr lang="en-US" altLang="zh-CN" sz="2000" i="1">
                              <a:latin typeface="Cambria Math" panose="02040503050406030204" pitchFamily="18" charset="0"/>
                              <a:cs typeface="Times New Roman" panose="02020603050405020304" pitchFamily="18" charset="0"/>
                            </a:rPr>
                          </m:ctrlPr>
                        </m:dPr>
                        <m:e>
                          <m:r>
                            <a:rPr lang="en-US" altLang="zh-CN" sz="2000" i="1">
                              <a:latin typeface="Cambria Math" panose="02040503050406030204" pitchFamily="18" charset="0"/>
                              <a:cs typeface="Times New Roman" panose="02020603050405020304" pitchFamily="18" charset="0"/>
                            </a:rPr>
                            <m:t>𝒜</m:t>
                          </m:r>
                          <m:r>
                            <a:rPr lang="en-US" altLang="zh-CN" sz="2000" i="1">
                              <a:latin typeface="Cambria Math" panose="02040503050406030204" pitchFamily="18" charset="0"/>
                              <a:cs typeface="Times New Roman" panose="02020603050405020304" pitchFamily="18" charset="0"/>
                            </a:rPr>
                            <m:t>,</m:t>
                          </m:r>
                          <m:r>
                            <a:rPr lang="en-US" altLang="zh-CN" sz="2000" i="1">
                              <a:latin typeface="Cambria Math" panose="02040503050406030204" pitchFamily="18" charset="0"/>
                              <a:cs typeface="Times New Roman" panose="02020603050405020304" pitchFamily="18" charset="0"/>
                            </a:rPr>
                            <m:t>𝒦</m:t>
                          </m:r>
                          <m:r>
                            <a:rPr lang="en-US" altLang="zh-CN" sz="2000" i="1">
                              <a:latin typeface="Cambria Math" panose="02040503050406030204" pitchFamily="18" charset="0"/>
                              <a:cs typeface="Times New Roman" panose="02020603050405020304" pitchFamily="18" charset="0"/>
                            </a:rPr>
                            <m:t>,</m:t>
                          </m:r>
                          <m:r>
                            <a:rPr lang="en-US" altLang="zh-CN" sz="2000" i="1">
                              <a:latin typeface="Cambria Math" panose="02040503050406030204" pitchFamily="18" charset="0"/>
                              <a:cs typeface="Times New Roman" panose="02020603050405020304" pitchFamily="18" charset="0"/>
                            </a:rPr>
                            <m:t>𝒪</m:t>
                          </m:r>
                          <m:r>
                            <a:rPr lang="en-US" altLang="zh-CN" sz="2000" i="1">
                              <a:latin typeface="Cambria Math" panose="02040503050406030204" pitchFamily="18" charset="0"/>
                              <a:cs typeface="Times New Roman" panose="02020603050405020304" pitchFamily="18" charset="0"/>
                            </a:rPr>
                            <m:t>,</m:t>
                          </m:r>
                          <m:r>
                            <a:rPr lang="en-US" altLang="zh-CN" sz="2000" i="1">
                              <a:latin typeface="Cambria Math" panose="02040503050406030204" pitchFamily="18" charset="0"/>
                              <a:cs typeface="Times New Roman" panose="02020603050405020304" pitchFamily="18" charset="0"/>
                            </a:rPr>
                            <m:t>ℳ</m:t>
                          </m:r>
                          <m:r>
                            <a:rPr lang="en-US" altLang="zh-CN" sz="2000" i="1">
                              <a:latin typeface="Cambria Math" panose="02040503050406030204" pitchFamily="18" charset="0"/>
                              <a:cs typeface="Times New Roman" panose="02020603050405020304" pitchFamily="18" charset="0"/>
                            </a:rPr>
                            <m:t>,</m:t>
                          </m:r>
                          <m:r>
                            <a:rPr lang="en-US" altLang="zh-CN" sz="2000" i="1">
                              <a:latin typeface="Cambria Math" panose="02040503050406030204" pitchFamily="18" charset="0"/>
                              <a:cs typeface="Times New Roman" panose="02020603050405020304" pitchFamily="18" charset="0"/>
                            </a:rPr>
                            <m:t>𝒲</m:t>
                          </m:r>
                        </m:e>
                      </m:d>
                    </m:oMath>
                  </m:oMathPara>
                </a14:m>
                <a:endParaRPr lang="en-US" altLang="zh-CN" sz="2000">
                  <a:latin typeface="Times New Roman" panose="02020603050405020304" pitchFamily="18" charset="0"/>
                  <a:cs typeface="Times New Roman" panose="02020603050405020304" pitchFamily="18" charset="0"/>
                </a:endParaRPr>
              </a:p>
            </p:txBody>
          </p:sp>
        </mc:Choice>
        <mc:Fallback xmlns="">
          <p:sp>
            <p:nvSpPr>
              <p:cNvPr id="2" name="文本框 1">
                <a:extLst>
                  <a:ext uri="{FF2B5EF4-FFF2-40B4-BE49-F238E27FC236}">
                    <a16:creationId xmlns:a16="http://schemas.microsoft.com/office/drawing/2014/main" id="{2ABC5451-2CE3-C588-0CDA-D8C31E8C2C22}"/>
                  </a:ext>
                </a:extLst>
              </p:cNvPr>
              <p:cNvSpPr txBox="1">
                <a:spLocks noRot="1" noChangeAspect="1" noMove="1" noResize="1" noEditPoints="1" noAdjustHandles="1" noChangeArrowheads="1" noChangeShapeType="1" noTextEdit="1"/>
              </p:cNvSpPr>
              <p:nvPr/>
            </p:nvSpPr>
            <p:spPr>
              <a:xfrm>
                <a:off x="2766417" y="1953584"/>
                <a:ext cx="3611165" cy="553998"/>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6365B65E-4827-0E59-E341-2E672A43B32E}"/>
                  </a:ext>
                </a:extLst>
              </p:cNvPr>
              <p:cNvSpPr txBox="1"/>
              <p:nvPr/>
            </p:nvSpPr>
            <p:spPr>
              <a:xfrm>
                <a:off x="813584" y="841251"/>
                <a:ext cx="7115579" cy="1020664"/>
              </a:xfrm>
              <a:prstGeom prst="rect">
                <a:avLst/>
              </a:prstGeom>
              <a:noFill/>
            </p:spPr>
            <p:txBody>
              <a:bodyPr wrap="square">
                <a:spAutoFit/>
              </a:bodyPr>
              <a:lstStyle/>
              <a:p>
                <a:pPr>
                  <a:lnSpc>
                    <a:spcPct val="130000"/>
                  </a:lnSpc>
                </a:pPr>
                <a:r>
                  <a:rPr lang="en-US" altLang="zh-CN" sz="1600" dirty="0">
                    <a:latin typeface="Times New Roman" panose="02020603050405020304" pitchFamily="18" charset="0"/>
                    <a:cs typeface="Times New Roman" panose="02020603050405020304" pitchFamily="18" charset="0"/>
                  </a:rPr>
                  <a:t>given a complex RCA task </a:t>
                </a:r>
                <a14:m>
                  <m:oMath xmlns:m="http://schemas.openxmlformats.org/officeDocument/2006/math">
                    <m:r>
                      <a:rPr lang="en-US" altLang="zh-CN" sz="1600" i="1" smtClean="0">
                        <a:latin typeface="Cambria Math" panose="02040503050406030204" pitchFamily="18" charset="0"/>
                        <a:cs typeface="Times New Roman" panose="02020603050405020304" pitchFamily="18" charset="0"/>
                      </a:rPr>
                      <m:t>𝒯</m:t>
                    </m:r>
                  </m:oMath>
                </a14:m>
                <a:r>
                  <a:rPr lang="en-US" altLang="zh-CN" sz="1600" dirty="0">
                    <a:latin typeface="Times New Roman" panose="02020603050405020304" pitchFamily="18" charset="0"/>
                    <a:cs typeface="Times New Roman" panose="02020603050405020304" pitchFamily="18" charset="0"/>
                  </a:rPr>
                  <a:t> and an external environment </a:t>
                </a:r>
                <a14:m>
                  <m:oMath xmlns:m="http://schemas.openxmlformats.org/officeDocument/2006/math">
                    <m:r>
                      <a:rPr lang="en-US" altLang="zh-CN" sz="1600" i="1" smtClean="0">
                        <a:latin typeface="Cambria Math" panose="02040503050406030204" pitchFamily="18" charset="0"/>
                        <a:cs typeface="Times New Roman" panose="02020603050405020304" pitchFamily="18" charset="0"/>
                      </a:rPr>
                      <m:t>ℰ</m:t>
                    </m:r>
                  </m:oMath>
                </a14:m>
                <a:r>
                  <a:rPr lang="en-US" altLang="zh-CN" sz="1600" dirty="0">
                    <a:latin typeface="Times New Roman" panose="02020603050405020304" pitchFamily="18" charset="0"/>
                    <a:cs typeface="Times New Roman" panose="02020603050405020304" pitchFamily="18" charset="0"/>
                  </a:rPr>
                  <a:t>, our goal is to build a system </a:t>
                </a:r>
                <a14:m>
                  <m:oMath xmlns:m="http://schemas.openxmlformats.org/officeDocument/2006/math">
                    <m:r>
                      <a:rPr lang="en-US" altLang="zh-CN" sz="1600" i="1" smtClean="0">
                        <a:latin typeface="Cambria Math" panose="02040503050406030204" pitchFamily="18" charset="0"/>
                        <a:cs typeface="Times New Roman" panose="02020603050405020304" pitchFamily="18" charset="0"/>
                      </a:rPr>
                      <m:t>𝒜</m:t>
                    </m:r>
                  </m:oMath>
                </a14:m>
                <a:r>
                  <a:rPr lang="en-US" altLang="zh-CN" sz="1600" dirty="0">
                    <a:latin typeface="Times New Roman" panose="02020603050405020304" pitchFamily="18" charset="0"/>
                    <a:cs typeface="Times New Roman" panose="02020603050405020304" pitchFamily="18" charset="0"/>
                  </a:rPr>
                  <a:t> that generates the final root cause explanation along with its corresponding reasoning trajectory. </a:t>
                </a:r>
                <a14:m>
                  <m:oMath xmlns:m="http://schemas.openxmlformats.org/officeDocument/2006/math">
                    <m:r>
                      <a:rPr lang="en-US" altLang="zh-CN" sz="1600" i="1" smtClean="0">
                        <a:latin typeface="Cambria Math" panose="02040503050406030204" pitchFamily="18" charset="0"/>
                        <a:cs typeface="Times New Roman" panose="02020603050405020304" pitchFamily="18" charset="0"/>
                      </a:rPr>
                      <m:t>𝒜</m:t>
                    </m:r>
                  </m:oMath>
                </a14:m>
                <a:r>
                  <a:rPr lang="en-US" altLang="zh-CN" sz="1600" dirty="0">
                    <a:latin typeface="Times New Roman" panose="02020603050405020304" pitchFamily="18" charset="0"/>
                    <a:cs typeface="Times New Roman" panose="02020603050405020304" pitchFamily="18" charset="0"/>
                  </a:rPr>
                  <a:t> multi-agent system is a tuple</a:t>
                </a:r>
              </a:p>
            </p:txBody>
          </p:sp>
        </mc:Choice>
        <mc:Fallback xmlns="">
          <p:sp>
            <p:nvSpPr>
              <p:cNvPr id="3" name="文本框 2">
                <a:extLst>
                  <a:ext uri="{FF2B5EF4-FFF2-40B4-BE49-F238E27FC236}">
                    <a16:creationId xmlns:a16="http://schemas.microsoft.com/office/drawing/2014/main" id="{6365B65E-4827-0E59-E341-2E672A43B32E}"/>
                  </a:ext>
                </a:extLst>
              </p:cNvPr>
              <p:cNvSpPr txBox="1">
                <a:spLocks noRot="1" noChangeAspect="1" noMove="1" noResize="1" noEditPoints="1" noAdjustHandles="1" noChangeArrowheads="1" noChangeShapeType="1" noTextEdit="1"/>
              </p:cNvSpPr>
              <p:nvPr/>
            </p:nvSpPr>
            <p:spPr>
              <a:xfrm>
                <a:off x="813584" y="841251"/>
                <a:ext cx="7115579" cy="1020664"/>
              </a:xfrm>
              <a:prstGeom prst="rect">
                <a:avLst/>
              </a:prstGeom>
              <a:blipFill>
                <a:blip r:embed="rId4"/>
                <a:stretch>
                  <a:fillRect l="-428" b="-718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BB6F3319-7828-7310-979F-ECEE4F195C3E}"/>
                  </a:ext>
                </a:extLst>
              </p:cNvPr>
              <p:cNvSpPr txBox="1"/>
              <p:nvPr/>
            </p:nvSpPr>
            <p:spPr>
              <a:xfrm>
                <a:off x="813585" y="2554568"/>
                <a:ext cx="7115579" cy="2301015"/>
              </a:xfrm>
              <a:prstGeom prst="rect">
                <a:avLst/>
              </a:prstGeom>
              <a:noFill/>
            </p:spPr>
            <p:txBody>
              <a:bodyPr wrap="square">
                <a:spAutoFit/>
              </a:bodyPr>
              <a:lstStyle/>
              <a:p>
                <a:pPr marL="285750" indent="-285750">
                  <a:lnSpc>
                    <a:spcPct val="130000"/>
                  </a:lnSpc>
                  <a:buFont typeface="Wingdings" panose="05000000000000000000" pitchFamily="2" charset="2"/>
                  <a:buChar char="l"/>
                </a:pPr>
                <a14:m>
                  <m:oMath xmlns:m="http://schemas.openxmlformats.org/officeDocument/2006/math">
                    <m:r>
                      <a:rPr lang="en-US" altLang="zh-CN" sz="1600" i="1" smtClean="0">
                        <a:latin typeface="Cambria Math" panose="02040503050406030204" pitchFamily="18" charset="0"/>
                        <a:cs typeface="Times New Roman" panose="02020603050405020304" pitchFamily="18" charset="0"/>
                      </a:rPr>
                      <m:t>𝒜</m:t>
                    </m:r>
                  </m:oMath>
                </a14:m>
                <a:r>
                  <a:rPr lang="en-US" altLang="zh-CN" sz="1600" dirty="0">
                    <a:latin typeface="Times New Roman" panose="02020603050405020304" pitchFamily="18" charset="0"/>
                    <a:cs typeface="Times New Roman" panose="02020603050405020304" pitchFamily="18" charset="0"/>
                  </a:rPr>
                  <a:t> is the multi-agent system.</a:t>
                </a:r>
              </a:p>
              <a:p>
                <a:pPr marL="285750" indent="-285750">
                  <a:lnSpc>
                    <a:spcPct val="130000"/>
                  </a:lnSpc>
                  <a:buFont typeface="Wingdings" panose="05000000000000000000" pitchFamily="2" charset="2"/>
                  <a:buChar char="l"/>
                </a:pPr>
                <a14:m>
                  <m:oMath xmlns:m="http://schemas.openxmlformats.org/officeDocument/2006/math">
                    <m:r>
                      <a:rPr lang="en-US" altLang="zh-CN" sz="1600" i="1" smtClean="0">
                        <a:latin typeface="Cambria Math" panose="02040503050406030204" pitchFamily="18" charset="0"/>
                        <a:cs typeface="Times New Roman" panose="02020603050405020304" pitchFamily="18" charset="0"/>
                      </a:rPr>
                      <m:t>𝒦</m:t>
                    </m:r>
                  </m:oMath>
                </a14:m>
                <a:r>
                  <a:rPr lang="en-US" altLang="zh-CN" sz="1600" dirty="0">
                    <a:latin typeface="Times New Roman" panose="02020603050405020304" pitchFamily="18" charset="0"/>
                    <a:cs typeface="Times New Roman" panose="02020603050405020304" pitchFamily="18" charset="0"/>
                  </a:rPr>
                  <a:t> is the structured knowledge base.</a:t>
                </a:r>
              </a:p>
              <a:p>
                <a:pPr marL="285750" indent="-285750">
                  <a:lnSpc>
                    <a:spcPct val="130000"/>
                  </a:lnSpc>
                  <a:buFont typeface="Wingdings" panose="05000000000000000000" pitchFamily="2" charset="2"/>
                  <a:buChar char="l"/>
                </a:pPr>
                <a14:m>
                  <m:oMath xmlns:m="http://schemas.openxmlformats.org/officeDocument/2006/math">
                    <m:r>
                      <a:rPr lang="en-US" altLang="zh-CN" sz="1600" i="1" smtClean="0">
                        <a:latin typeface="Cambria Math" panose="02040503050406030204" pitchFamily="18" charset="0"/>
                        <a:cs typeface="Times New Roman" panose="02020603050405020304" pitchFamily="18" charset="0"/>
                      </a:rPr>
                      <m:t>𝒪</m:t>
                    </m:r>
                  </m:oMath>
                </a14:m>
                <a:r>
                  <a:rPr lang="en-US" altLang="zh-CN" sz="1600" dirty="0">
                    <a:latin typeface="Times New Roman" panose="02020603050405020304" pitchFamily="18" charset="0"/>
                    <a:cs typeface="Times New Roman" panose="02020603050405020304" pitchFamily="18" charset="0"/>
                  </a:rPr>
                  <a:t> is the input-output interface that provides access to multimodal information from the environment </a:t>
                </a:r>
                <a14:m>
                  <m:oMath xmlns:m="http://schemas.openxmlformats.org/officeDocument/2006/math">
                    <m:r>
                      <a:rPr lang="en-US" altLang="zh-CN" sz="1600" i="1" smtClean="0">
                        <a:latin typeface="Cambria Math" panose="02040503050406030204" pitchFamily="18" charset="0"/>
                        <a:cs typeface="Times New Roman" panose="02020603050405020304" pitchFamily="18" charset="0"/>
                      </a:rPr>
                      <m:t>ℰ</m:t>
                    </m:r>
                  </m:oMath>
                </a14:m>
                <a:r>
                  <a:rPr lang="en-US" altLang="zh-CN" sz="1600" dirty="0">
                    <a:latin typeface="Times New Roman" panose="02020603050405020304" pitchFamily="18" charset="0"/>
                    <a:cs typeface="Times New Roman" panose="02020603050405020304" pitchFamily="18" charset="0"/>
                  </a:rPr>
                  <a:t>, as well as the input task </a:t>
                </a:r>
                <a14:m>
                  <m:oMath xmlns:m="http://schemas.openxmlformats.org/officeDocument/2006/math">
                    <m:r>
                      <a:rPr lang="en-US" altLang="zh-CN" sz="1600" i="1" smtClean="0">
                        <a:latin typeface="Cambria Math" panose="02040503050406030204" pitchFamily="18" charset="0"/>
                        <a:cs typeface="Times New Roman" panose="02020603050405020304" pitchFamily="18" charset="0"/>
                      </a:rPr>
                      <m:t>𝒯</m:t>
                    </m:r>
                  </m:oMath>
                </a14:m>
                <a:r>
                  <a:rPr lang="en-US" altLang="zh-CN" sz="1600" dirty="0">
                    <a:latin typeface="Times New Roman" panose="02020603050405020304" pitchFamily="18" charset="0"/>
                    <a:cs typeface="Times New Roman" panose="02020603050405020304" pitchFamily="18" charset="0"/>
                  </a:rPr>
                  <a:t>.</a:t>
                </a:r>
              </a:p>
              <a:p>
                <a:pPr marL="285750" indent="-285750">
                  <a:lnSpc>
                    <a:spcPct val="130000"/>
                  </a:lnSpc>
                  <a:buFont typeface="Wingdings" panose="05000000000000000000" pitchFamily="2" charset="2"/>
                  <a:buChar char="l"/>
                </a:pPr>
                <a14:m>
                  <m:oMath xmlns:m="http://schemas.openxmlformats.org/officeDocument/2006/math">
                    <m:r>
                      <a:rPr lang="en-US" altLang="zh-CN" sz="1600" i="1" smtClean="0">
                        <a:latin typeface="Cambria Math" panose="02040503050406030204" pitchFamily="18" charset="0"/>
                        <a:cs typeface="Times New Roman" panose="02020603050405020304" pitchFamily="18" charset="0"/>
                      </a:rPr>
                      <m:t>ℳ</m:t>
                    </m:r>
                  </m:oMath>
                </a14:m>
                <a:r>
                  <a:rPr lang="en-US" altLang="zh-CN" sz="1600" dirty="0">
                    <a:latin typeface="Times New Roman" panose="02020603050405020304" pitchFamily="18" charset="0"/>
                    <a:cs typeface="Times New Roman" panose="02020603050405020304" pitchFamily="18" charset="0"/>
                  </a:rPr>
                  <a:t> is the internal memory module for storing intermediate reasoning states and knowledge.</a:t>
                </a:r>
              </a:p>
              <a:p>
                <a:pPr marL="285750" indent="-285750">
                  <a:lnSpc>
                    <a:spcPct val="130000"/>
                  </a:lnSpc>
                  <a:buFont typeface="Wingdings" panose="05000000000000000000" pitchFamily="2" charset="2"/>
                  <a:buChar char="l"/>
                </a:pPr>
                <a14:m>
                  <m:oMath xmlns:m="http://schemas.openxmlformats.org/officeDocument/2006/math">
                    <m:r>
                      <a:rPr lang="en-US" altLang="zh-CN" sz="1600" i="1" smtClean="0">
                        <a:latin typeface="Cambria Math" panose="02040503050406030204" pitchFamily="18" charset="0"/>
                        <a:cs typeface="Times New Roman" panose="02020603050405020304" pitchFamily="18" charset="0"/>
                      </a:rPr>
                      <m:t>𝒲</m:t>
                    </m:r>
                  </m:oMath>
                </a14:m>
                <a:r>
                  <a:rPr lang="en-US" altLang="zh-CN" sz="1600" dirty="0">
                    <a:latin typeface="Times New Roman" panose="02020603050405020304" pitchFamily="18" charset="0"/>
                    <a:cs typeface="Times New Roman" panose="02020603050405020304" pitchFamily="18" charset="0"/>
                  </a:rPr>
                  <a:t> is the workspace that maintains the execution trajectories of branches.</a:t>
                </a:r>
              </a:p>
            </p:txBody>
          </p:sp>
        </mc:Choice>
        <mc:Fallback xmlns="">
          <p:sp>
            <p:nvSpPr>
              <p:cNvPr id="6" name="文本框 5">
                <a:extLst>
                  <a:ext uri="{FF2B5EF4-FFF2-40B4-BE49-F238E27FC236}">
                    <a16:creationId xmlns:a16="http://schemas.microsoft.com/office/drawing/2014/main" id="{BB6F3319-7828-7310-979F-ECEE4F195C3E}"/>
                  </a:ext>
                </a:extLst>
              </p:cNvPr>
              <p:cNvSpPr txBox="1">
                <a:spLocks noRot="1" noChangeAspect="1" noMove="1" noResize="1" noEditPoints="1" noAdjustHandles="1" noChangeArrowheads="1" noChangeShapeType="1" noTextEdit="1"/>
              </p:cNvSpPr>
              <p:nvPr/>
            </p:nvSpPr>
            <p:spPr>
              <a:xfrm>
                <a:off x="813585" y="2554568"/>
                <a:ext cx="7115579" cy="2301015"/>
              </a:xfrm>
              <a:prstGeom prst="rect">
                <a:avLst/>
              </a:prstGeom>
              <a:blipFill>
                <a:blip r:embed="rId5"/>
                <a:stretch>
                  <a:fillRect l="-342" b="-238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07819545"/>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062C3-FAC9-F039-44C5-79144F1635DA}"/>
            </a:ext>
          </a:extLst>
        </p:cNvPr>
        <p:cNvGrpSpPr/>
        <p:nvPr/>
      </p:nvGrpSpPr>
      <p:grpSpPr>
        <a:xfrm>
          <a:off x="0" y="0"/>
          <a:ext cx="0" cy="0"/>
          <a:chOff x="0" y="0"/>
          <a:chExt cx="0" cy="0"/>
        </a:xfrm>
      </p:grpSpPr>
      <p:sp>
        <p:nvSpPr>
          <p:cNvPr id="15" name="矩形 14">
            <a:extLst>
              <a:ext uri="{FF2B5EF4-FFF2-40B4-BE49-F238E27FC236}">
                <a16:creationId xmlns:a16="http://schemas.microsoft.com/office/drawing/2014/main" id="{C7BEFCBD-CB75-66FC-23B0-C402EFDBF438}"/>
              </a:ext>
            </a:extLst>
          </p:cNvPr>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 name="矩形 15">
            <a:extLst>
              <a:ext uri="{FF2B5EF4-FFF2-40B4-BE49-F238E27FC236}">
                <a16:creationId xmlns:a16="http://schemas.microsoft.com/office/drawing/2014/main" id="{26DFD99D-531D-EBCE-DF5B-3E8D9A0270E1}"/>
              </a:ext>
            </a:extLst>
          </p:cNvPr>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7" name="矩形 16">
            <a:extLst>
              <a:ext uri="{FF2B5EF4-FFF2-40B4-BE49-F238E27FC236}">
                <a16:creationId xmlns:a16="http://schemas.microsoft.com/office/drawing/2014/main" id="{295FDD7B-3463-9F57-AFCD-192DE75DFCC6}"/>
              </a:ext>
            </a:extLst>
          </p:cNvPr>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8" name="矩形 17">
            <a:extLst>
              <a:ext uri="{FF2B5EF4-FFF2-40B4-BE49-F238E27FC236}">
                <a16:creationId xmlns:a16="http://schemas.microsoft.com/office/drawing/2014/main" id="{1A380457-B549-98B7-87EC-1C5585093CDA}"/>
              </a:ext>
            </a:extLst>
          </p:cNvPr>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26" name="文本框 25">
            <a:extLst>
              <a:ext uri="{FF2B5EF4-FFF2-40B4-BE49-F238E27FC236}">
                <a16:creationId xmlns:a16="http://schemas.microsoft.com/office/drawing/2014/main" id="{82541425-D707-2395-4B5B-BF92B3BF6205}"/>
              </a:ext>
            </a:extLst>
          </p:cNvPr>
          <p:cNvSpPr txBox="1"/>
          <p:nvPr/>
        </p:nvSpPr>
        <p:spPr bwMode="auto">
          <a:xfrm>
            <a:off x="813585" y="287917"/>
            <a:ext cx="6373027"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dirty="0">
                <a:solidFill>
                  <a:srgbClr val="E5DEDB">
                    <a:lumMod val="10000"/>
                    <a:alpha val="85000"/>
                  </a:srgbClr>
                </a:solidFill>
                <a:latin typeface="Times New Roman" panose="02020603050405020304" pitchFamily="18" charset="0"/>
                <a:cs typeface="Times New Roman" panose="02020603050405020304" pitchFamily="18" charset="0"/>
              </a:rPr>
              <a:t>Overview</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pic>
        <p:nvPicPr>
          <p:cNvPr id="4" name="图片 3">
            <a:extLst>
              <a:ext uri="{FF2B5EF4-FFF2-40B4-BE49-F238E27FC236}">
                <a16:creationId xmlns:a16="http://schemas.microsoft.com/office/drawing/2014/main" id="{5EA52C72-E714-5E0E-52AB-60EE37A7EF50}"/>
              </a:ext>
            </a:extLst>
          </p:cNvPr>
          <p:cNvPicPr>
            <a:picLocks noChangeAspect="1"/>
          </p:cNvPicPr>
          <p:nvPr/>
        </p:nvPicPr>
        <p:blipFill>
          <a:blip r:embed="rId3"/>
          <a:stretch>
            <a:fillRect/>
          </a:stretch>
        </p:blipFill>
        <p:spPr>
          <a:xfrm>
            <a:off x="813585" y="749582"/>
            <a:ext cx="7502678" cy="4393918"/>
          </a:xfrm>
          <a:prstGeom prst="rect">
            <a:avLst/>
          </a:prstGeom>
        </p:spPr>
      </p:pic>
    </p:spTree>
    <p:extLst>
      <p:ext uri="{BB962C8B-B14F-4D97-AF65-F5344CB8AC3E}">
        <p14:creationId xmlns:p14="http://schemas.microsoft.com/office/powerpoint/2010/main" val="142000600"/>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45007-2BA8-86EC-9E2D-262E716B7951}"/>
            </a:ext>
          </a:extLst>
        </p:cNvPr>
        <p:cNvGrpSpPr/>
        <p:nvPr/>
      </p:nvGrpSpPr>
      <p:grpSpPr>
        <a:xfrm>
          <a:off x="0" y="0"/>
          <a:ext cx="0" cy="0"/>
          <a:chOff x="0" y="0"/>
          <a:chExt cx="0" cy="0"/>
        </a:xfrm>
      </p:grpSpPr>
      <p:sp>
        <p:nvSpPr>
          <p:cNvPr id="15" name="矩形 14">
            <a:extLst>
              <a:ext uri="{FF2B5EF4-FFF2-40B4-BE49-F238E27FC236}">
                <a16:creationId xmlns:a16="http://schemas.microsoft.com/office/drawing/2014/main" id="{AD08B195-AF5D-7F22-973E-3AF1345DB856}"/>
              </a:ext>
            </a:extLst>
          </p:cNvPr>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 name="矩形 15">
            <a:extLst>
              <a:ext uri="{FF2B5EF4-FFF2-40B4-BE49-F238E27FC236}">
                <a16:creationId xmlns:a16="http://schemas.microsoft.com/office/drawing/2014/main" id="{AF86CC28-7B14-129A-8C74-F838DD697396}"/>
              </a:ext>
            </a:extLst>
          </p:cNvPr>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7" name="矩形 16">
            <a:extLst>
              <a:ext uri="{FF2B5EF4-FFF2-40B4-BE49-F238E27FC236}">
                <a16:creationId xmlns:a16="http://schemas.microsoft.com/office/drawing/2014/main" id="{DB70F829-18A8-F755-3E98-CA6976ED2C1C}"/>
              </a:ext>
            </a:extLst>
          </p:cNvPr>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8" name="矩形 17">
            <a:extLst>
              <a:ext uri="{FF2B5EF4-FFF2-40B4-BE49-F238E27FC236}">
                <a16:creationId xmlns:a16="http://schemas.microsoft.com/office/drawing/2014/main" id="{8E1B75BB-FD26-ABA6-1F0E-1CE191FB2A72}"/>
              </a:ext>
            </a:extLst>
          </p:cNvPr>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26" name="文本框 25">
            <a:extLst>
              <a:ext uri="{FF2B5EF4-FFF2-40B4-BE49-F238E27FC236}">
                <a16:creationId xmlns:a16="http://schemas.microsoft.com/office/drawing/2014/main" id="{7882A375-7580-96EB-E3D8-7AF383235FC7}"/>
              </a:ext>
            </a:extLst>
          </p:cNvPr>
          <p:cNvSpPr txBox="1"/>
          <p:nvPr/>
        </p:nvSpPr>
        <p:spPr bwMode="auto">
          <a:xfrm>
            <a:off x="813585" y="287917"/>
            <a:ext cx="6373027"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a:solidFill>
                  <a:srgbClr val="E5DEDB">
                    <a:lumMod val="10000"/>
                    <a:alpha val="85000"/>
                  </a:srgbClr>
                </a:solidFill>
                <a:latin typeface="Times New Roman" panose="02020603050405020304" pitchFamily="18" charset="0"/>
                <a:cs typeface="Times New Roman" panose="02020603050405020304" pitchFamily="18" charset="0"/>
              </a:rPr>
              <a:t>Overview of the RCAFlow Framework</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2" name="文本框 1">
            <a:extLst>
              <a:ext uri="{FF2B5EF4-FFF2-40B4-BE49-F238E27FC236}">
                <a16:creationId xmlns:a16="http://schemas.microsoft.com/office/drawing/2014/main" id="{CC99112F-A964-C55E-6766-7DE6479EFC08}"/>
              </a:ext>
            </a:extLst>
          </p:cNvPr>
          <p:cNvSpPr txBox="1"/>
          <p:nvPr/>
        </p:nvSpPr>
        <p:spPr>
          <a:xfrm>
            <a:off x="791766" y="906071"/>
            <a:ext cx="7115579" cy="3002745"/>
          </a:xfrm>
          <a:prstGeom prst="rect">
            <a:avLst/>
          </a:prstGeom>
          <a:noFill/>
        </p:spPr>
        <p:txBody>
          <a:bodyPr wrap="square">
            <a:spAutoFit/>
          </a:bodyPr>
          <a:lstStyle/>
          <a:p>
            <a:pPr marL="285750" indent="-285750">
              <a:lnSpc>
                <a:spcPct val="150000"/>
              </a:lnSpc>
              <a:buFont typeface="Wingdings" panose="05000000000000000000" pitchFamily="2" charset="2"/>
              <a:buChar char="l"/>
            </a:pPr>
            <a:r>
              <a:rPr lang="en-US" altLang="zh-CN" sz="1600" b="1" dirty="0">
                <a:latin typeface="Times New Roman" panose="02020603050405020304" pitchFamily="18" charset="0"/>
                <a:cs typeface="Times New Roman" panose="02020603050405020304" pitchFamily="18" charset="0"/>
              </a:rPr>
              <a:t>Workflow-Informed Task Planning</a:t>
            </a:r>
            <a:r>
              <a:rPr lang="en-US" altLang="zh-CN" sz="1600" dirty="0">
                <a:latin typeface="Times New Roman" panose="02020603050405020304" pitchFamily="18" charset="0"/>
                <a:cs typeface="Times New Roman" panose="02020603050405020304" pitchFamily="18" charset="0"/>
              </a:rPr>
              <a:t>: This module leverages structured workflows to guide the generation of interpretable hierarchical reasoning plans.</a:t>
            </a:r>
          </a:p>
          <a:p>
            <a:pPr marL="285750" indent="-285750">
              <a:lnSpc>
                <a:spcPct val="150000"/>
              </a:lnSpc>
              <a:buFont typeface="Wingdings" panose="05000000000000000000" pitchFamily="2" charset="2"/>
              <a:buChar char="l"/>
            </a:pPr>
            <a:r>
              <a:rPr lang="en-US" altLang="zh-CN" sz="1600" b="1" dirty="0">
                <a:latin typeface="Times New Roman" panose="02020603050405020304" pitchFamily="18" charset="0"/>
                <a:cs typeface="Times New Roman" panose="02020603050405020304" pitchFamily="18" charset="0"/>
              </a:rPr>
              <a:t>Branch-Enhanced Hierarchical Coordinator</a:t>
            </a:r>
            <a:r>
              <a:rPr lang="en-US" altLang="zh-CN" sz="1600" dirty="0">
                <a:latin typeface="Times New Roman" panose="02020603050405020304" pitchFamily="18" charset="0"/>
                <a:cs typeface="Times New Roman" panose="02020603050405020304" pitchFamily="18" charset="0"/>
              </a:rPr>
              <a:t>: Designed for procedural control, this module incorporates Git-inspired branching mechanisms to enable hierarchical management and flexible scheduling of tasks.</a:t>
            </a:r>
          </a:p>
          <a:p>
            <a:pPr marL="285750" indent="-285750">
              <a:lnSpc>
                <a:spcPct val="150000"/>
              </a:lnSpc>
              <a:buFont typeface="Wingdings" panose="05000000000000000000" pitchFamily="2" charset="2"/>
              <a:buChar char="l"/>
            </a:pPr>
            <a:r>
              <a:rPr lang="en-US" altLang="zh-CN" sz="1600" b="1" dirty="0">
                <a:latin typeface="Times New Roman" panose="02020603050405020304" pitchFamily="18" charset="0"/>
                <a:cs typeface="Times New Roman" panose="02020603050405020304" pitchFamily="18" charset="0"/>
              </a:rPr>
              <a:t>State-Aware Task Execution</a:t>
            </a:r>
            <a:r>
              <a:rPr lang="en-US" altLang="zh-CN" sz="1600" dirty="0">
                <a:latin typeface="Times New Roman" panose="02020603050405020304" pitchFamily="18" charset="0"/>
                <a:cs typeface="Times New Roman" panose="02020603050405020304" pitchFamily="18" charset="0"/>
              </a:rPr>
              <a:t>: This module can generate or invoke existing tools for data processing and analysis, with the additional ability to assess the execution state and task completion status.</a:t>
            </a:r>
          </a:p>
        </p:txBody>
      </p:sp>
    </p:spTree>
    <p:extLst>
      <p:ext uri="{BB962C8B-B14F-4D97-AF65-F5344CB8AC3E}">
        <p14:creationId xmlns:p14="http://schemas.microsoft.com/office/powerpoint/2010/main" val="2755598167"/>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F122E7-80C7-7527-F6BC-54AD7DFB1059}"/>
            </a:ext>
          </a:extLst>
        </p:cNvPr>
        <p:cNvGrpSpPr/>
        <p:nvPr/>
      </p:nvGrpSpPr>
      <p:grpSpPr>
        <a:xfrm>
          <a:off x="0" y="0"/>
          <a:ext cx="0" cy="0"/>
          <a:chOff x="0" y="0"/>
          <a:chExt cx="0" cy="0"/>
        </a:xfrm>
      </p:grpSpPr>
      <p:sp>
        <p:nvSpPr>
          <p:cNvPr id="15" name="矩形 14">
            <a:extLst>
              <a:ext uri="{FF2B5EF4-FFF2-40B4-BE49-F238E27FC236}">
                <a16:creationId xmlns:a16="http://schemas.microsoft.com/office/drawing/2014/main" id="{BF169622-8687-DE1C-9F1A-C17719ACB80F}"/>
              </a:ext>
            </a:extLst>
          </p:cNvPr>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 name="矩形 15">
            <a:extLst>
              <a:ext uri="{FF2B5EF4-FFF2-40B4-BE49-F238E27FC236}">
                <a16:creationId xmlns:a16="http://schemas.microsoft.com/office/drawing/2014/main" id="{A4AAB642-F4F2-8637-DEC1-C82AACA71591}"/>
              </a:ext>
            </a:extLst>
          </p:cNvPr>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7" name="矩形 16">
            <a:extLst>
              <a:ext uri="{FF2B5EF4-FFF2-40B4-BE49-F238E27FC236}">
                <a16:creationId xmlns:a16="http://schemas.microsoft.com/office/drawing/2014/main" id="{54D00DF0-B3CC-A9D9-5F75-D59FA45DB6A3}"/>
              </a:ext>
            </a:extLst>
          </p:cNvPr>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8" name="矩形 17">
            <a:extLst>
              <a:ext uri="{FF2B5EF4-FFF2-40B4-BE49-F238E27FC236}">
                <a16:creationId xmlns:a16="http://schemas.microsoft.com/office/drawing/2014/main" id="{EBE67C73-3796-07AE-FE63-4911B88ED85B}"/>
              </a:ext>
            </a:extLst>
          </p:cNvPr>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26" name="文本框 25">
            <a:extLst>
              <a:ext uri="{FF2B5EF4-FFF2-40B4-BE49-F238E27FC236}">
                <a16:creationId xmlns:a16="http://schemas.microsoft.com/office/drawing/2014/main" id="{2F89E443-ED36-694F-CB85-EAD3EFAA1F0C}"/>
              </a:ext>
            </a:extLst>
          </p:cNvPr>
          <p:cNvSpPr txBox="1"/>
          <p:nvPr/>
        </p:nvSpPr>
        <p:spPr bwMode="auto">
          <a:xfrm>
            <a:off x="813585" y="287917"/>
            <a:ext cx="5037145"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a:solidFill>
                  <a:srgbClr val="E5DEDB">
                    <a:lumMod val="10000"/>
                    <a:alpha val="85000"/>
                  </a:srgbClr>
                </a:solidFill>
                <a:latin typeface="Times New Roman" panose="02020603050405020304" pitchFamily="18" charset="0"/>
                <a:cs typeface="Times New Roman" panose="02020603050405020304" pitchFamily="18" charset="0"/>
              </a:rPr>
              <a:t>Structured Workflow Definition</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9" name="文本框 8">
            <a:extLst>
              <a:ext uri="{FF2B5EF4-FFF2-40B4-BE49-F238E27FC236}">
                <a16:creationId xmlns:a16="http://schemas.microsoft.com/office/drawing/2014/main" id="{9812AB14-DFDD-0B0E-EBC9-3068AAF9BB5E}"/>
              </a:ext>
            </a:extLst>
          </p:cNvPr>
          <p:cNvSpPr txBox="1"/>
          <p:nvPr/>
        </p:nvSpPr>
        <p:spPr>
          <a:xfrm>
            <a:off x="752476" y="1763975"/>
            <a:ext cx="7219702" cy="657488"/>
          </a:xfrm>
          <a:prstGeom prst="rect">
            <a:avLst/>
          </a:prstGeom>
          <a:noFill/>
        </p:spPr>
        <p:txBody>
          <a:bodyPr wrap="square">
            <a:spAutoFit/>
          </a:bodyPr>
          <a:lstStyle/>
          <a:p>
            <a:pPr>
              <a:lnSpc>
                <a:spcPct val="120000"/>
              </a:lnSpc>
            </a:pPr>
            <a:r>
              <a:rPr lang="en-US" altLang="zh-CN" sz="1600" b="1" dirty="0">
                <a:latin typeface="Times New Roman" panose="02020603050405020304" pitchFamily="18" charset="0"/>
                <a:cs typeface="Times New Roman" panose="02020603050405020304" pitchFamily="18" charset="0"/>
              </a:rPr>
              <a:t>Condition/rule related</a:t>
            </a:r>
            <a:r>
              <a:rPr lang="en-US" altLang="zh-CN" sz="1600" dirty="0">
                <a:latin typeface="Times New Roman" panose="02020603050405020304" pitchFamily="18" charset="0"/>
                <a:cs typeface="Times New Roman" panose="02020603050405020304" pitchFamily="18" charset="0"/>
              </a:rPr>
              <a:t>: Define explicit preconditions and exception handling mechanisms for each workflow node to standardize valid state transitions.</a:t>
            </a:r>
          </a:p>
        </p:txBody>
      </p:sp>
      <p:sp>
        <p:nvSpPr>
          <p:cNvPr id="2" name="文本框 1">
            <a:extLst>
              <a:ext uri="{FF2B5EF4-FFF2-40B4-BE49-F238E27FC236}">
                <a16:creationId xmlns:a16="http://schemas.microsoft.com/office/drawing/2014/main" id="{5700C60E-8EA3-AB65-7A67-DC6BE76A3BC4}"/>
              </a:ext>
            </a:extLst>
          </p:cNvPr>
          <p:cNvSpPr txBox="1"/>
          <p:nvPr/>
        </p:nvSpPr>
        <p:spPr>
          <a:xfrm>
            <a:off x="772121" y="2509444"/>
            <a:ext cx="7219702" cy="952953"/>
          </a:xfrm>
          <a:prstGeom prst="rect">
            <a:avLst/>
          </a:prstGeom>
          <a:noFill/>
        </p:spPr>
        <p:txBody>
          <a:bodyPr wrap="square">
            <a:spAutoFit/>
          </a:bodyPr>
          <a:lstStyle/>
          <a:p>
            <a:pPr>
              <a:lnSpc>
                <a:spcPct val="120000"/>
              </a:lnSpc>
            </a:pPr>
            <a:r>
              <a:rPr lang="en-US" altLang="zh-CN" sz="1600" b="1" dirty="0">
                <a:latin typeface="Times New Roman" panose="02020603050405020304" pitchFamily="18" charset="0"/>
                <a:cs typeface="Times New Roman" panose="02020603050405020304" pitchFamily="18" charset="0"/>
              </a:rPr>
              <a:t>Tool/data related</a:t>
            </a:r>
            <a:r>
              <a:rPr lang="en-US" altLang="zh-CN" sz="1600" dirty="0">
                <a:latin typeface="Times New Roman" panose="02020603050405020304" pitchFamily="18" charset="0"/>
                <a:cs typeface="Times New Roman" panose="02020603050405020304" pitchFamily="18" charset="0"/>
              </a:rPr>
              <a:t>: Encapsulate atomic operational capabilities as callable nodes with standardized APIs and data dependencies, enabling a decoupled design between reasoning logic and low-level execution.</a:t>
            </a:r>
          </a:p>
        </p:txBody>
      </p:sp>
      <p:sp>
        <p:nvSpPr>
          <p:cNvPr id="3" name="文本框 2">
            <a:extLst>
              <a:ext uri="{FF2B5EF4-FFF2-40B4-BE49-F238E27FC236}">
                <a16:creationId xmlns:a16="http://schemas.microsoft.com/office/drawing/2014/main" id="{293BE1A5-38A7-3689-9E76-4CC70297D292}"/>
              </a:ext>
            </a:extLst>
          </p:cNvPr>
          <p:cNvSpPr txBox="1"/>
          <p:nvPr/>
        </p:nvSpPr>
        <p:spPr>
          <a:xfrm>
            <a:off x="752476" y="749582"/>
            <a:ext cx="7427521" cy="952953"/>
          </a:xfrm>
          <a:prstGeom prst="rect">
            <a:avLst/>
          </a:prstGeom>
          <a:noFill/>
        </p:spPr>
        <p:txBody>
          <a:bodyPr wrap="square">
            <a:spAutoFit/>
          </a:bodyPr>
          <a:lstStyle/>
          <a:p>
            <a:pPr>
              <a:lnSpc>
                <a:spcPct val="120000"/>
              </a:lnSpc>
            </a:pPr>
            <a:r>
              <a:rPr lang="en-US" altLang="zh-CN" sz="1600" b="1" dirty="0">
                <a:latin typeface="Times New Roman" panose="02020603050405020304" pitchFamily="18" charset="0"/>
                <a:cs typeface="Times New Roman" panose="02020603050405020304" pitchFamily="18" charset="0"/>
              </a:rPr>
              <a:t>Operation process related</a:t>
            </a:r>
            <a:r>
              <a:rPr lang="en-US" altLang="zh-CN" sz="1600" dirty="0">
                <a:latin typeface="Times New Roman" panose="02020603050405020304" pitchFamily="18" charset="0"/>
                <a:cs typeface="Times New Roman" panose="02020603050405020304" pitchFamily="18" charset="0"/>
              </a:rPr>
              <a:t>: Describe the necessary steps and their execution order for task completion. Given the RCA tasks’ inherent complexity and uncertainty, we adopt the Behavior Tree paradigm as the organizational framework for process control logic.</a:t>
            </a:r>
          </a:p>
        </p:txBody>
      </p:sp>
      <p:pic>
        <p:nvPicPr>
          <p:cNvPr id="5" name="图片 4">
            <a:extLst>
              <a:ext uri="{FF2B5EF4-FFF2-40B4-BE49-F238E27FC236}">
                <a16:creationId xmlns:a16="http://schemas.microsoft.com/office/drawing/2014/main" id="{10C86660-8113-F2A7-6589-154567D6A8A8}"/>
              </a:ext>
            </a:extLst>
          </p:cNvPr>
          <p:cNvPicPr>
            <a:picLocks noChangeAspect="1"/>
          </p:cNvPicPr>
          <p:nvPr/>
        </p:nvPicPr>
        <p:blipFill>
          <a:blip r:embed="rId3"/>
          <a:stretch>
            <a:fillRect/>
          </a:stretch>
        </p:blipFill>
        <p:spPr>
          <a:xfrm>
            <a:off x="576126" y="3477895"/>
            <a:ext cx="7991748" cy="1654085"/>
          </a:xfrm>
          <a:prstGeom prst="rect">
            <a:avLst/>
          </a:prstGeom>
        </p:spPr>
      </p:pic>
    </p:spTree>
    <p:extLst>
      <p:ext uri="{BB962C8B-B14F-4D97-AF65-F5344CB8AC3E}">
        <p14:creationId xmlns:p14="http://schemas.microsoft.com/office/powerpoint/2010/main" val="4232319665"/>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B0C25-B35F-24BC-B23B-6F6B93F88FE8}"/>
            </a:ext>
          </a:extLst>
        </p:cNvPr>
        <p:cNvGrpSpPr/>
        <p:nvPr/>
      </p:nvGrpSpPr>
      <p:grpSpPr>
        <a:xfrm>
          <a:off x="0" y="0"/>
          <a:ext cx="0" cy="0"/>
          <a:chOff x="0" y="0"/>
          <a:chExt cx="0" cy="0"/>
        </a:xfrm>
      </p:grpSpPr>
      <p:sp>
        <p:nvSpPr>
          <p:cNvPr id="15" name="矩形 14">
            <a:extLst>
              <a:ext uri="{FF2B5EF4-FFF2-40B4-BE49-F238E27FC236}">
                <a16:creationId xmlns:a16="http://schemas.microsoft.com/office/drawing/2014/main" id="{5CE0143C-6609-332F-663A-381A4B39EB1C}"/>
              </a:ext>
            </a:extLst>
          </p:cNvPr>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 name="矩形 15">
            <a:extLst>
              <a:ext uri="{FF2B5EF4-FFF2-40B4-BE49-F238E27FC236}">
                <a16:creationId xmlns:a16="http://schemas.microsoft.com/office/drawing/2014/main" id="{E5995FEC-16CB-7B4A-0307-29015640A0BB}"/>
              </a:ext>
            </a:extLst>
          </p:cNvPr>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7" name="矩形 16">
            <a:extLst>
              <a:ext uri="{FF2B5EF4-FFF2-40B4-BE49-F238E27FC236}">
                <a16:creationId xmlns:a16="http://schemas.microsoft.com/office/drawing/2014/main" id="{6668E51C-006F-99D5-8F96-04B8C4A0EB54}"/>
              </a:ext>
            </a:extLst>
          </p:cNvPr>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8" name="矩形 17">
            <a:extLst>
              <a:ext uri="{FF2B5EF4-FFF2-40B4-BE49-F238E27FC236}">
                <a16:creationId xmlns:a16="http://schemas.microsoft.com/office/drawing/2014/main" id="{E9AB2168-CF79-AD3D-C840-4D74AAB00797}"/>
              </a:ext>
            </a:extLst>
          </p:cNvPr>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26" name="文本框 25">
            <a:extLst>
              <a:ext uri="{FF2B5EF4-FFF2-40B4-BE49-F238E27FC236}">
                <a16:creationId xmlns:a16="http://schemas.microsoft.com/office/drawing/2014/main" id="{54509AED-0766-8626-4E34-59F68446DA1A}"/>
              </a:ext>
            </a:extLst>
          </p:cNvPr>
          <p:cNvSpPr txBox="1"/>
          <p:nvPr/>
        </p:nvSpPr>
        <p:spPr bwMode="auto">
          <a:xfrm>
            <a:off x="813585" y="287917"/>
            <a:ext cx="5037145"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a:latin typeface="Times New Roman" panose="02020603050405020304" pitchFamily="18" charset="0"/>
                <a:cs typeface="Times New Roman" panose="02020603050405020304" pitchFamily="18" charset="0"/>
              </a:rPr>
              <a:t>Operation process related</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9" name="文本框 8">
            <a:extLst>
              <a:ext uri="{FF2B5EF4-FFF2-40B4-BE49-F238E27FC236}">
                <a16:creationId xmlns:a16="http://schemas.microsoft.com/office/drawing/2014/main" id="{C18466ED-6E07-E8CE-7BE1-9B812BD88225}"/>
              </a:ext>
            </a:extLst>
          </p:cNvPr>
          <p:cNvSpPr txBox="1"/>
          <p:nvPr/>
        </p:nvSpPr>
        <p:spPr>
          <a:xfrm>
            <a:off x="813585" y="799929"/>
            <a:ext cx="7013971" cy="1967590"/>
          </a:xfrm>
          <a:prstGeom prst="rect">
            <a:avLst/>
          </a:prstGeom>
          <a:noFill/>
        </p:spPr>
        <p:txBody>
          <a:bodyPr wrap="square">
            <a:spAutoFit/>
          </a:bodyPr>
          <a:lstStyle/>
          <a:p>
            <a:pPr marL="285750" indent="-285750">
              <a:lnSpc>
                <a:spcPct val="120000"/>
              </a:lnSpc>
              <a:spcBef>
                <a:spcPts val="500"/>
              </a:spcBef>
              <a:buFont typeface="Arial" panose="020B0604020202020204" pitchFamily="34" charset="0"/>
              <a:buChar char="•"/>
            </a:pPr>
            <a:r>
              <a:rPr lang="en-US" altLang="zh-CN" sz="1600" b="1" dirty="0">
                <a:latin typeface="Times New Roman" panose="02020603050405020304" pitchFamily="18" charset="0"/>
                <a:cs typeface="Times New Roman" panose="02020603050405020304" pitchFamily="18" charset="0"/>
              </a:rPr>
              <a:t>Sequence</a:t>
            </a:r>
            <a:r>
              <a:rPr lang="en-US" altLang="zh-CN" sz="1600" dirty="0">
                <a:latin typeface="Times New Roman" panose="02020603050405020304" pitchFamily="18" charset="0"/>
                <a:cs typeface="Times New Roman" panose="02020603050405020304" pitchFamily="18" charset="0"/>
              </a:rPr>
              <a:t>: Executes all child nodes sequentially; succeeds only if all succeed. Suitable for strongly dependent task chains. </a:t>
            </a:r>
          </a:p>
          <a:p>
            <a:pPr marL="285750" indent="-285750">
              <a:lnSpc>
                <a:spcPct val="120000"/>
              </a:lnSpc>
              <a:spcBef>
                <a:spcPts val="500"/>
              </a:spcBef>
              <a:buFont typeface="Arial" panose="020B0604020202020204" pitchFamily="34" charset="0"/>
              <a:buChar char="•"/>
            </a:pPr>
            <a:r>
              <a:rPr lang="en-US" altLang="zh-CN" sz="1600" b="1" dirty="0">
                <a:latin typeface="Times New Roman" panose="02020603050405020304" pitchFamily="18" charset="0"/>
                <a:cs typeface="Times New Roman" panose="02020603050405020304" pitchFamily="18" charset="0"/>
              </a:rPr>
              <a:t>Selector</a:t>
            </a:r>
            <a:r>
              <a:rPr lang="en-US" altLang="zh-CN" sz="1600" dirty="0">
                <a:latin typeface="Times New Roman" panose="02020603050405020304" pitchFamily="18" charset="0"/>
                <a:cs typeface="Times New Roman" panose="02020603050405020304" pitchFamily="18" charset="0"/>
              </a:rPr>
              <a:t>: Attempts child nodes in order; succeeds if any one succeeds. Suitable for multi-strategy exploration.</a:t>
            </a:r>
          </a:p>
          <a:p>
            <a:pPr marL="285750" indent="-285750">
              <a:lnSpc>
                <a:spcPct val="120000"/>
              </a:lnSpc>
              <a:spcBef>
                <a:spcPts val="500"/>
              </a:spcBef>
              <a:buFont typeface="Arial" panose="020B0604020202020204" pitchFamily="34" charset="0"/>
              <a:buChar char="•"/>
            </a:pPr>
            <a:r>
              <a:rPr lang="en-US" altLang="zh-CN" sz="1600" b="1" dirty="0">
                <a:latin typeface="Times New Roman" panose="02020603050405020304" pitchFamily="18" charset="0"/>
                <a:cs typeface="Times New Roman" panose="02020603050405020304" pitchFamily="18" charset="0"/>
              </a:rPr>
              <a:t>Parallel</a:t>
            </a:r>
            <a:r>
              <a:rPr lang="en-US" altLang="zh-CN" sz="1600" dirty="0">
                <a:latin typeface="Times New Roman" panose="02020603050405020304" pitchFamily="18" charset="0"/>
                <a:cs typeface="Times New Roman" panose="02020603050405020304" pitchFamily="18" charset="0"/>
              </a:rPr>
              <a:t>: Executes child nodes concurrently; completion is determined by an aggregation condition. Suitable for multi-source data fusion.</a:t>
            </a:r>
          </a:p>
        </p:txBody>
      </p:sp>
      <p:pic>
        <p:nvPicPr>
          <p:cNvPr id="3" name="图片 2">
            <a:extLst>
              <a:ext uri="{FF2B5EF4-FFF2-40B4-BE49-F238E27FC236}">
                <a16:creationId xmlns:a16="http://schemas.microsoft.com/office/drawing/2014/main" id="{537B5451-1F20-C99D-7D3C-09764B5FEC0A}"/>
              </a:ext>
            </a:extLst>
          </p:cNvPr>
          <p:cNvPicPr>
            <a:picLocks noChangeAspect="1"/>
          </p:cNvPicPr>
          <p:nvPr/>
        </p:nvPicPr>
        <p:blipFill>
          <a:blip r:embed="rId3"/>
          <a:stretch>
            <a:fillRect/>
          </a:stretch>
        </p:blipFill>
        <p:spPr>
          <a:xfrm>
            <a:off x="0" y="2947147"/>
            <a:ext cx="9144000" cy="2196353"/>
          </a:xfrm>
          <a:prstGeom prst="rect">
            <a:avLst/>
          </a:prstGeom>
        </p:spPr>
      </p:pic>
    </p:spTree>
    <p:extLst>
      <p:ext uri="{BB962C8B-B14F-4D97-AF65-F5344CB8AC3E}">
        <p14:creationId xmlns:p14="http://schemas.microsoft.com/office/powerpoint/2010/main" val="3545730607"/>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AF4E44-0777-5B26-F7E8-696CEAEB3AB5}"/>
            </a:ext>
          </a:extLst>
        </p:cNvPr>
        <p:cNvGrpSpPr/>
        <p:nvPr/>
      </p:nvGrpSpPr>
      <p:grpSpPr>
        <a:xfrm>
          <a:off x="0" y="0"/>
          <a:ext cx="0" cy="0"/>
          <a:chOff x="0" y="0"/>
          <a:chExt cx="0" cy="0"/>
        </a:xfrm>
      </p:grpSpPr>
      <p:sp>
        <p:nvSpPr>
          <p:cNvPr id="15" name="矩形 14">
            <a:extLst>
              <a:ext uri="{FF2B5EF4-FFF2-40B4-BE49-F238E27FC236}">
                <a16:creationId xmlns:a16="http://schemas.microsoft.com/office/drawing/2014/main" id="{9948FF0E-2A35-C5F1-93EF-33062E3A5223}"/>
              </a:ext>
            </a:extLst>
          </p:cNvPr>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 name="矩形 15">
            <a:extLst>
              <a:ext uri="{FF2B5EF4-FFF2-40B4-BE49-F238E27FC236}">
                <a16:creationId xmlns:a16="http://schemas.microsoft.com/office/drawing/2014/main" id="{DA607823-DEE6-70C4-AE61-2B8396209B98}"/>
              </a:ext>
            </a:extLst>
          </p:cNvPr>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7" name="矩形 16">
            <a:extLst>
              <a:ext uri="{FF2B5EF4-FFF2-40B4-BE49-F238E27FC236}">
                <a16:creationId xmlns:a16="http://schemas.microsoft.com/office/drawing/2014/main" id="{844A2909-0E10-94ED-3877-322EF7A351BD}"/>
              </a:ext>
            </a:extLst>
          </p:cNvPr>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8" name="矩形 17">
            <a:extLst>
              <a:ext uri="{FF2B5EF4-FFF2-40B4-BE49-F238E27FC236}">
                <a16:creationId xmlns:a16="http://schemas.microsoft.com/office/drawing/2014/main" id="{9384E6AC-D4A9-0849-111F-43F34B8048A9}"/>
              </a:ext>
            </a:extLst>
          </p:cNvPr>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26" name="文本框 25">
            <a:extLst>
              <a:ext uri="{FF2B5EF4-FFF2-40B4-BE49-F238E27FC236}">
                <a16:creationId xmlns:a16="http://schemas.microsoft.com/office/drawing/2014/main" id="{C422B888-8E5E-955E-617D-ABFAF2FD0812}"/>
              </a:ext>
            </a:extLst>
          </p:cNvPr>
          <p:cNvSpPr txBox="1"/>
          <p:nvPr/>
        </p:nvSpPr>
        <p:spPr bwMode="auto">
          <a:xfrm>
            <a:off x="813585" y="287917"/>
            <a:ext cx="5037145"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a:latin typeface="Times New Roman" panose="02020603050405020304" pitchFamily="18" charset="0"/>
                <a:cs typeface="Times New Roman" panose="02020603050405020304" pitchFamily="18" charset="0"/>
              </a:rPr>
              <a:t>Automated Workflow Generation</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3" name="文本框 2">
            <a:extLst>
              <a:ext uri="{FF2B5EF4-FFF2-40B4-BE49-F238E27FC236}">
                <a16:creationId xmlns:a16="http://schemas.microsoft.com/office/drawing/2014/main" id="{A0029C98-9E06-D738-0429-0BA9501DB6DF}"/>
              </a:ext>
            </a:extLst>
          </p:cNvPr>
          <p:cNvSpPr txBox="1"/>
          <p:nvPr/>
        </p:nvSpPr>
        <p:spPr>
          <a:xfrm>
            <a:off x="752475" y="759551"/>
            <a:ext cx="7427521" cy="952953"/>
          </a:xfrm>
          <a:prstGeom prst="rect">
            <a:avLst/>
          </a:prstGeom>
          <a:noFill/>
        </p:spPr>
        <p:txBody>
          <a:bodyPr wrap="square">
            <a:spAutoFit/>
          </a:bodyPr>
          <a:lstStyle/>
          <a:p>
            <a:pPr>
              <a:lnSpc>
                <a:spcPct val="120000"/>
              </a:lnSpc>
            </a:pPr>
            <a:r>
              <a:rPr lang="en-US" altLang="zh-CN" sz="1600" dirty="0" err="1">
                <a:latin typeface="Times New Roman" panose="02020603050405020304" pitchFamily="18" charset="0"/>
                <a:cs typeface="Times New Roman" panose="02020603050405020304" pitchFamily="18" charset="0"/>
              </a:rPr>
              <a:t>RCAFlow</a:t>
            </a:r>
            <a:r>
              <a:rPr lang="en-US" altLang="zh-CN" sz="1600" dirty="0">
                <a:latin typeface="Times New Roman" panose="02020603050405020304" pitchFamily="18" charset="0"/>
                <a:cs typeface="Times New Roman" panose="02020603050405020304" pitchFamily="18" charset="0"/>
              </a:rPr>
              <a:t> leverages LLMs to automatically extract key task </a:t>
            </a:r>
            <a:r>
              <a:rPr lang="en-US" altLang="zh-CN" sz="1600" b="1" dirty="0">
                <a:latin typeface="Times New Roman" panose="02020603050405020304" pitchFamily="18" charset="0"/>
                <a:cs typeface="Times New Roman" panose="02020603050405020304" pitchFamily="18" charset="0"/>
              </a:rPr>
              <a:t>elements, control logic</a:t>
            </a:r>
            <a:r>
              <a:rPr lang="en-US" altLang="zh-CN" sz="1600" dirty="0">
                <a:latin typeface="Times New Roman" panose="02020603050405020304" pitchFamily="18" charset="0"/>
                <a:cs typeface="Times New Roman" panose="02020603050405020304" pitchFamily="18" charset="0"/>
              </a:rPr>
              <a:t>, and </a:t>
            </a:r>
            <a:r>
              <a:rPr lang="en-US" altLang="zh-CN" sz="1600" b="1" dirty="0">
                <a:latin typeface="Times New Roman" panose="02020603050405020304" pitchFamily="18" charset="0"/>
                <a:cs typeface="Times New Roman" panose="02020603050405020304" pitchFamily="18" charset="0"/>
              </a:rPr>
              <a:t>tool metadata</a:t>
            </a:r>
            <a:r>
              <a:rPr lang="en-US" altLang="zh-CN" sz="1600" dirty="0">
                <a:latin typeface="Times New Roman" panose="02020603050405020304" pitchFamily="18" charset="0"/>
                <a:cs typeface="Times New Roman" panose="02020603050405020304" pitchFamily="18" charset="0"/>
              </a:rPr>
              <a:t> from fault diagnosis rules, organizing them into JSON-based workflow graphs that conform to a predefined schema.</a:t>
            </a:r>
          </a:p>
        </p:txBody>
      </p:sp>
      <p:sp>
        <p:nvSpPr>
          <p:cNvPr id="4" name="文本框 3">
            <a:extLst>
              <a:ext uri="{FF2B5EF4-FFF2-40B4-BE49-F238E27FC236}">
                <a16:creationId xmlns:a16="http://schemas.microsoft.com/office/drawing/2014/main" id="{18C3F7EC-83D9-1756-B584-CB1F1597F164}"/>
              </a:ext>
            </a:extLst>
          </p:cNvPr>
          <p:cNvSpPr txBox="1"/>
          <p:nvPr/>
        </p:nvSpPr>
        <p:spPr>
          <a:xfrm>
            <a:off x="772121" y="1778289"/>
            <a:ext cx="7633692" cy="657488"/>
          </a:xfrm>
          <a:prstGeom prst="rect">
            <a:avLst/>
          </a:prstGeom>
          <a:noFill/>
        </p:spPr>
        <p:txBody>
          <a:bodyPr wrap="square">
            <a:spAutoFit/>
          </a:bodyPr>
          <a:lstStyle/>
          <a:p>
            <a:pPr>
              <a:lnSpc>
                <a:spcPct val="120000"/>
              </a:lnSpc>
            </a:pPr>
            <a:r>
              <a:rPr lang="en-US" altLang="zh-CN" sz="1600" dirty="0">
                <a:latin typeface="Times New Roman" panose="02020603050405020304" pitchFamily="18" charset="0"/>
                <a:cs typeface="Times New Roman" panose="02020603050405020304" pitchFamily="18" charset="0"/>
              </a:rPr>
              <a:t>The system further extracts node-level </a:t>
            </a:r>
            <a:r>
              <a:rPr lang="en-US" altLang="zh-CN" sz="1600" b="1" dirty="0">
                <a:latin typeface="Times New Roman" panose="02020603050405020304" pitchFamily="18" charset="0"/>
                <a:cs typeface="Times New Roman" panose="02020603050405020304" pitchFamily="18" charset="0"/>
              </a:rPr>
              <a:t>preconditions, execution rules, and dependencies</a:t>
            </a:r>
            <a:r>
              <a:rPr lang="en-US" altLang="zh-CN" sz="1600" dirty="0">
                <a:latin typeface="Times New Roman" panose="02020603050405020304" pitchFamily="18" charset="0"/>
                <a:cs typeface="Times New Roman" panose="02020603050405020304" pitchFamily="18" charset="0"/>
              </a:rPr>
              <a:t>, and performs semantic validation to ensure logical consistency and executability. </a:t>
            </a:r>
          </a:p>
        </p:txBody>
      </p:sp>
      <p:sp>
        <p:nvSpPr>
          <p:cNvPr id="5" name="文本框 4">
            <a:extLst>
              <a:ext uri="{FF2B5EF4-FFF2-40B4-BE49-F238E27FC236}">
                <a16:creationId xmlns:a16="http://schemas.microsoft.com/office/drawing/2014/main" id="{531018AA-6376-D338-A37A-8D21C9FDA72D}"/>
              </a:ext>
            </a:extLst>
          </p:cNvPr>
          <p:cNvSpPr txBox="1"/>
          <p:nvPr/>
        </p:nvSpPr>
        <p:spPr>
          <a:xfrm>
            <a:off x="757833" y="2497981"/>
            <a:ext cx="7427521" cy="952953"/>
          </a:xfrm>
          <a:prstGeom prst="rect">
            <a:avLst/>
          </a:prstGeom>
          <a:noFill/>
        </p:spPr>
        <p:txBody>
          <a:bodyPr wrap="square">
            <a:spAutoFit/>
          </a:bodyPr>
          <a:lstStyle/>
          <a:p>
            <a:pPr>
              <a:lnSpc>
                <a:spcPct val="120000"/>
              </a:lnSpc>
            </a:pPr>
            <a:r>
              <a:rPr lang="en-US" altLang="zh-CN" sz="1600" dirty="0">
                <a:latin typeface="Times New Roman" panose="02020603050405020304" pitchFamily="18" charset="0"/>
                <a:cs typeface="Times New Roman" panose="02020603050405020304" pitchFamily="18" charset="0"/>
              </a:rPr>
              <a:t>It also supports automatic generation of names and descriptions for undocumented tools based on context, enabling dynamic code generation within </a:t>
            </a:r>
            <a:r>
              <a:rPr lang="en-US" altLang="zh-CN" sz="1600" dirty="0" err="1">
                <a:latin typeface="Times New Roman" panose="02020603050405020304" pitchFamily="18" charset="0"/>
                <a:cs typeface="Times New Roman" panose="02020603050405020304" pitchFamily="18" charset="0"/>
              </a:rPr>
              <a:t>RCAFlow</a:t>
            </a:r>
            <a:r>
              <a:rPr lang="en-US" altLang="zh-CN" sz="1600" dirty="0">
                <a:latin typeface="Times New Roman" panose="02020603050405020304" pitchFamily="18" charset="0"/>
                <a:cs typeface="Times New Roman" panose="02020603050405020304" pitchFamily="18" charset="0"/>
              </a:rPr>
              <a:t> and contributing to a high-quality, searchable knowledge base.</a:t>
            </a:r>
          </a:p>
        </p:txBody>
      </p:sp>
      <p:pic>
        <p:nvPicPr>
          <p:cNvPr id="8" name="图片 7">
            <a:extLst>
              <a:ext uri="{FF2B5EF4-FFF2-40B4-BE49-F238E27FC236}">
                <a16:creationId xmlns:a16="http://schemas.microsoft.com/office/drawing/2014/main" id="{5D39F703-32B2-1C25-46C1-60D2DF362D42}"/>
              </a:ext>
            </a:extLst>
          </p:cNvPr>
          <p:cNvPicPr>
            <a:picLocks noChangeAspect="1"/>
          </p:cNvPicPr>
          <p:nvPr/>
        </p:nvPicPr>
        <p:blipFill>
          <a:blip r:embed="rId3"/>
          <a:stretch>
            <a:fillRect/>
          </a:stretch>
        </p:blipFill>
        <p:spPr>
          <a:xfrm>
            <a:off x="0" y="3654349"/>
            <a:ext cx="9144000" cy="1320952"/>
          </a:xfrm>
          <a:prstGeom prst="rect">
            <a:avLst/>
          </a:prstGeom>
        </p:spPr>
      </p:pic>
    </p:spTree>
    <p:extLst>
      <p:ext uri="{BB962C8B-B14F-4D97-AF65-F5344CB8AC3E}">
        <p14:creationId xmlns:p14="http://schemas.microsoft.com/office/powerpoint/2010/main" val="3410031208"/>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 name="矩形 15"/>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7" name="矩形 16"/>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8" name="矩形 17"/>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26" name="文本框 25"/>
          <p:cNvSpPr txBox="1"/>
          <p:nvPr/>
        </p:nvSpPr>
        <p:spPr bwMode="auto">
          <a:xfrm>
            <a:off x="813586" y="287917"/>
            <a:ext cx="4044164"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a:solidFill>
                  <a:srgbClr val="E5DEDB">
                    <a:lumMod val="10000"/>
                    <a:alpha val="85000"/>
                  </a:srgbClr>
                </a:solidFill>
                <a:latin typeface="Times New Roman" panose="02020603050405020304" pitchFamily="18" charset="0"/>
                <a:cs typeface="Times New Roman" panose="02020603050405020304" pitchFamily="18" charset="0"/>
              </a:rPr>
              <a:t>Reasoning Plan Generation</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7DD29C83-FD2F-6F06-12B6-CD03F322EA72}"/>
                  </a:ext>
                </a:extLst>
              </p:cNvPr>
              <p:cNvSpPr txBox="1"/>
              <p:nvPr/>
            </p:nvSpPr>
            <p:spPr>
              <a:xfrm>
                <a:off x="813586" y="884530"/>
                <a:ext cx="6914902" cy="1590628"/>
              </a:xfrm>
              <a:prstGeom prst="rect">
                <a:avLst/>
              </a:prstGeom>
              <a:noFill/>
            </p:spPr>
            <p:txBody>
              <a:bodyPr wrap="square">
                <a:spAutoFit/>
              </a:bodyPr>
              <a:lstStyle/>
              <a:p>
                <a:pPr marL="285750" indent="-285750">
                  <a:lnSpc>
                    <a:spcPct val="120000"/>
                  </a:lnSpc>
                  <a:buFont typeface="Arial" panose="020B0604020202020204" pitchFamily="34" charset="0"/>
                  <a:buChar char="•"/>
                </a:pPr>
                <a:r>
                  <a:rPr lang="en-US" altLang="zh-CN" sz="1600" dirty="0">
                    <a:latin typeface="Times New Roman" panose="02020603050405020304" pitchFamily="18" charset="0"/>
                    <a:cs typeface="Times New Roman" panose="02020603050405020304" pitchFamily="18" charset="0"/>
                  </a:rPr>
                  <a:t>System </a:t>
                </a:r>
                <a:r>
                  <a:rPr lang="en-US" altLang="zh-CN" sz="1600" b="1" dirty="0">
                    <a:latin typeface="Times New Roman" panose="02020603050405020304" pitchFamily="18" charset="0"/>
                    <a:cs typeface="Times New Roman" panose="02020603050405020304" pitchFamily="18" charset="0"/>
                  </a:rPr>
                  <a:t>queries</a:t>
                </a:r>
                <a:r>
                  <a:rPr lang="en-US" altLang="zh-CN" sz="1600" dirty="0">
                    <a:latin typeface="Times New Roman" panose="02020603050405020304" pitchFamily="18" charset="0"/>
                    <a:cs typeface="Times New Roman" panose="02020603050405020304" pitchFamily="18" charset="0"/>
                  </a:rPr>
                  <a:t> the structured template library based on module </a:t>
                </a:r>
                <a14:m>
                  <m:oMath xmlns:m="http://schemas.openxmlformats.org/officeDocument/2006/math">
                    <m:sSub>
                      <m:sSubPr>
                        <m:ctrlPr>
                          <a:rPr lang="en-US" altLang="zh-CN" sz="1600" b="0" i="1" smtClean="0">
                            <a:latin typeface="Cambria Math" panose="02040503050406030204" pitchFamily="18" charset="0"/>
                            <a:cs typeface="Times New Roman" panose="02020603050405020304" pitchFamily="18" charset="0"/>
                          </a:rPr>
                        </m:ctrlPr>
                      </m:sSubPr>
                      <m:e>
                        <m:r>
                          <a:rPr lang="en-US" altLang="zh-CN" sz="1600" i="1" smtClean="0">
                            <a:latin typeface="Cambria Math" panose="02040503050406030204" pitchFamily="18" charset="0"/>
                            <a:cs typeface="Times New Roman" panose="02020603050405020304" pitchFamily="18" charset="0"/>
                          </a:rPr>
                          <m:t>𝑃</m:t>
                        </m:r>
                      </m:e>
                      <m:sub>
                        <m:r>
                          <a:rPr lang="en-US" altLang="zh-CN" sz="1600" i="1" smtClean="0">
                            <a:latin typeface="Cambria Math" panose="02040503050406030204" pitchFamily="18" charset="0"/>
                            <a:cs typeface="Times New Roman" panose="02020603050405020304" pitchFamily="18" charset="0"/>
                          </a:rPr>
                          <m:t>𝑛𝑎𝑚𝑒</m:t>
                        </m:r>
                      </m:sub>
                    </m:sSub>
                  </m:oMath>
                </a14:m>
                <a:r>
                  <a:rPr lang="en-US" altLang="zh-CN" sz="1600" dirty="0">
                    <a:latin typeface="Times New Roman" panose="02020603050405020304" pitchFamily="18" charset="0"/>
                    <a:cs typeface="Times New Roman" panose="02020603050405020304" pitchFamily="18" charset="0"/>
                  </a:rPr>
                  <a:t> and </a:t>
                </a:r>
                <a14:m>
                  <m:oMath xmlns:m="http://schemas.openxmlformats.org/officeDocument/2006/math">
                    <m:sSub>
                      <m:sSubPr>
                        <m:ctrlPr>
                          <a:rPr lang="en-US" altLang="zh-CN" sz="1600" b="0" i="1" smtClean="0">
                            <a:latin typeface="Cambria Math" panose="02040503050406030204" pitchFamily="18" charset="0"/>
                            <a:cs typeface="Times New Roman" panose="02020603050405020304" pitchFamily="18" charset="0"/>
                          </a:rPr>
                        </m:ctrlPr>
                      </m:sSubPr>
                      <m:e>
                        <m:r>
                          <a:rPr lang="en-US" altLang="zh-CN" sz="1600" i="1" smtClean="0">
                            <a:latin typeface="Cambria Math" panose="02040503050406030204" pitchFamily="18" charset="0"/>
                            <a:cs typeface="Times New Roman" panose="02020603050405020304" pitchFamily="18" charset="0"/>
                          </a:rPr>
                          <m:t>𝑃</m:t>
                        </m:r>
                      </m:e>
                      <m:sub>
                        <m:r>
                          <a:rPr lang="en-US" altLang="zh-CN" sz="1600" i="1" smtClean="0">
                            <a:latin typeface="Cambria Math" panose="02040503050406030204" pitchFamily="18" charset="0"/>
                            <a:cs typeface="Times New Roman" panose="02020603050405020304" pitchFamily="18" charset="0"/>
                          </a:rPr>
                          <m:t>𝑡𝑎𝑔</m:t>
                        </m:r>
                      </m:sub>
                    </m:sSub>
                  </m:oMath>
                </a14:m>
                <a:r>
                  <a:rPr lang="en-US" altLang="zh-CN" sz="1600" dirty="0">
                    <a:latin typeface="Times New Roman" panose="02020603050405020304" pitchFamily="18" charset="0"/>
                    <a:cs typeface="Times New Roman" panose="02020603050405020304" pitchFamily="18" charset="0"/>
                  </a:rPr>
                  <a:t>, computes embedding similarities.</a:t>
                </a:r>
              </a:p>
              <a:p>
                <a:pPr marL="285750" indent="-285750">
                  <a:lnSpc>
                    <a:spcPct val="120000"/>
                  </a:lnSpc>
                  <a:buFont typeface="Arial" panose="020B0604020202020204" pitchFamily="34" charset="0"/>
                  <a:buChar char="•"/>
                </a:pPr>
                <a:r>
                  <a:rPr lang="en-US" altLang="zh-CN" sz="1600" b="1" dirty="0">
                    <a:latin typeface="Times New Roman" panose="02020603050405020304" pitchFamily="18" charset="0"/>
                    <a:cs typeface="Times New Roman" panose="02020603050405020304" pitchFamily="18" charset="0"/>
                  </a:rPr>
                  <a:t>Ranks</a:t>
                </a:r>
                <a:r>
                  <a:rPr lang="en-US" altLang="zh-CN" sz="1600" dirty="0">
                    <a:latin typeface="Times New Roman" panose="02020603050405020304" pitchFamily="18" charset="0"/>
                    <a:cs typeface="Times New Roman" panose="02020603050405020304" pitchFamily="18" charset="0"/>
                  </a:rPr>
                  <a:t> candidate templates to retrieve the most relevant process template </a:t>
                </a:r>
                <a14:m>
                  <m:oMath xmlns:m="http://schemas.openxmlformats.org/officeDocument/2006/math">
                    <m:sSub>
                      <m:sSubPr>
                        <m:ctrlPr>
                          <a:rPr lang="en-US" altLang="zh-CN" sz="1600" b="0" i="1" smtClean="0">
                            <a:latin typeface="Cambria Math" panose="02040503050406030204" pitchFamily="18" charset="0"/>
                            <a:cs typeface="Times New Roman" panose="02020603050405020304" pitchFamily="18" charset="0"/>
                          </a:rPr>
                        </m:ctrlPr>
                      </m:sSubPr>
                      <m:e>
                        <m:r>
                          <a:rPr lang="en-US" altLang="zh-CN" sz="1600" i="1" smtClean="0">
                            <a:latin typeface="Cambria Math" panose="02040503050406030204" pitchFamily="18" charset="0"/>
                            <a:cs typeface="Times New Roman" panose="02020603050405020304" pitchFamily="18" charset="0"/>
                          </a:rPr>
                          <m:t>𝑃</m:t>
                        </m:r>
                      </m:e>
                      <m:sub>
                        <m:r>
                          <a:rPr lang="en-US" altLang="zh-CN" sz="1600" i="1" smtClean="0">
                            <a:latin typeface="Cambria Math" panose="02040503050406030204" pitchFamily="18" charset="0"/>
                            <a:cs typeface="Times New Roman" panose="02020603050405020304" pitchFamily="18" charset="0"/>
                          </a:rPr>
                          <m:t>𝑘</m:t>
                        </m:r>
                      </m:sub>
                    </m:sSub>
                  </m:oMath>
                </a14:m>
                <a:r>
                  <a:rPr lang="en-US" altLang="zh-CN" sz="1600" dirty="0">
                    <a:latin typeface="Times New Roman" panose="02020603050405020304" pitchFamily="18" charset="0"/>
                    <a:cs typeface="Times New Roman" panose="02020603050405020304" pitchFamily="18" charset="0"/>
                  </a:rPr>
                  <a:t> in </a:t>
                </a:r>
                <a14:m>
                  <m:oMath xmlns:m="http://schemas.openxmlformats.org/officeDocument/2006/math">
                    <m:sSub>
                      <m:sSubPr>
                        <m:ctrlPr>
                          <a:rPr lang="en-US" altLang="zh-CN" sz="1600" b="0" i="1" smtClean="0">
                            <a:latin typeface="Cambria Math" panose="02040503050406030204" pitchFamily="18" charset="0"/>
                            <a:cs typeface="Times New Roman" panose="02020603050405020304" pitchFamily="18" charset="0"/>
                          </a:rPr>
                        </m:ctrlPr>
                      </m:sSubPr>
                      <m:e>
                        <m:r>
                          <a:rPr lang="en-US" altLang="zh-CN" sz="1600" i="1" smtClean="0">
                            <a:latin typeface="Cambria Math" panose="02040503050406030204" pitchFamily="18" charset="0"/>
                            <a:cs typeface="Times New Roman" panose="02020603050405020304" pitchFamily="18" charset="0"/>
                          </a:rPr>
                          <m:t>𝐾</m:t>
                        </m:r>
                      </m:e>
                      <m:sub>
                        <m:r>
                          <a:rPr lang="en-US" altLang="zh-CN" sz="1600" i="1" smtClean="0">
                            <a:latin typeface="Cambria Math" panose="02040503050406030204" pitchFamily="18" charset="0"/>
                            <a:cs typeface="Times New Roman" panose="02020603050405020304" pitchFamily="18" charset="0"/>
                          </a:rPr>
                          <m:t>𝑝</m:t>
                        </m:r>
                      </m:sub>
                    </m:sSub>
                  </m:oMath>
                </a14:m>
                <a:r>
                  <a:rPr lang="en-US" altLang="zh-CN" sz="1600" dirty="0">
                    <a:latin typeface="Times New Roman" panose="02020603050405020304" pitchFamily="18" charset="0"/>
                    <a:cs typeface="Times New Roman" panose="02020603050405020304" pitchFamily="18" charset="0"/>
                  </a:rPr>
                  <a:t> for </a:t>
                </a:r>
                <a14:m>
                  <m:oMath xmlns:m="http://schemas.openxmlformats.org/officeDocument/2006/math">
                    <m:sSub>
                      <m:sSubPr>
                        <m:ctrlPr>
                          <a:rPr lang="en-US" altLang="zh-CN" sz="1600" b="0" i="1" smtClean="0">
                            <a:latin typeface="Cambria Math" panose="02040503050406030204" pitchFamily="18" charset="0"/>
                            <a:cs typeface="Times New Roman" panose="02020603050405020304" pitchFamily="18" charset="0"/>
                          </a:rPr>
                        </m:ctrlPr>
                      </m:sSubPr>
                      <m:e>
                        <m:r>
                          <a:rPr lang="en-US" altLang="zh-CN" sz="1600" i="1" smtClean="0">
                            <a:latin typeface="Cambria Math" panose="02040503050406030204" pitchFamily="18" charset="0"/>
                            <a:cs typeface="Times New Roman" panose="02020603050405020304" pitchFamily="18" charset="0"/>
                          </a:rPr>
                          <m:t>𝑇</m:t>
                        </m:r>
                      </m:e>
                      <m:sub>
                        <m:r>
                          <a:rPr lang="en-US" altLang="zh-CN" sz="1600" i="1" smtClean="0">
                            <a:latin typeface="Cambria Math" panose="02040503050406030204" pitchFamily="18" charset="0"/>
                            <a:cs typeface="Times New Roman" panose="02020603050405020304" pitchFamily="18" charset="0"/>
                          </a:rPr>
                          <m:t>𝑖</m:t>
                        </m:r>
                      </m:sub>
                    </m:sSub>
                  </m:oMath>
                </a14:m>
                <a:r>
                  <a:rPr lang="en-US" altLang="zh-CN" sz="1600" dirty="0">
                    <a:latin typeface="Times New Roman" panose="02020603050405020304" pitchFamily="18" charset="0"/>
                    <a:cs typeface="Times New Roman" panose="02020603050405020304" pitchFamily="18" charset="0"/>
                  </a:rPr>
                  <a:t>.</a:t>
                </a:r>
              </a:p>
              <a:p>
                <a:pPr marL="285750" indent="-285750">
                  <a:lnSpc>
                    <a:spcPct val="120000"/>
                  </a:lnSpc>
                  <a:buFont typeface="Arial" panose="020B0604020202020204" pitchFamily="34" charset="0"/>
                  <a:buChar char="•"/>
                </a:pPr>
                <a:r>
                  <a:rPr lang="en-US" altLang="zh-CN" sz="1600" b="1" dirty="0">
                    <a:latin typeface="Times New Roman" panose="02020603050405020304" pitchFamily="18" charset="0"/>
                    <a:cs typeface="Times New Roman" panose="02020603050405020304" pitchFamily="18" charset="0"/>
                  </a:rPr>
                  <a:t>Constructs</a:t>
                </a:r>
                <a:r>
                  <a:rPr lang="en-US" altLang="zh-CN" sz="1600" dirty="0">
                    <a:latin typeface="Times New Roman" panose="02020603050405020304" pitchFamily="18" charset="0"/>
                    <a:cs typeface="Times New Roman" panose="02020603050405020304" pitchFamily="18" charset="0"/>
                  </a:rPr>
                  <a:t> the behavior tree-style plan </a:t>
                </a:r>
                <a14:m>
                  <m:oMath xmlns:m="http://schemas.openxmlformats.org/officeDocument/2006/math">
                    <m:sSub>
                      <m:sSubPr>
                        <m:ctrlPr>
                          <a:rPr lang="en-US" altLang="zh-CN" sz="1600" i="1" smtClean="0">
                            <a:latin typeface="Cambria Math" panose="02040503050406030204" pitchFamily="18" charset="0"/>
                            <a:cs typeface="Times New Roman" panose="02020603050405020304" pitchFamily="18" charset="0"/>
                          </a:rPr>
                        </m:ctrlPr>
                      </m:sSubPr>
                      <m:e>
                        <m:r>
                          <a:rPr lang="en-US" altLang="zh-CN" sz="1600" i="1" smtClean="0">
                            <a:latin typeface="Cambria Math" panose="02040503050406030204" pitchFamily="18" charset="0"/>
                            <a:cs typeface="Times New Roman" panose="02020603050405020304" pitchFamily="18" charset="0"/>
                          </a:rPr>
                          <m:t>𝜋</m:t>
                        </m:r>
                      </m:e>
                      <m:sub>
                        <m:r>
                          <a:rPr lang="en-US" altLang="zh-CN" sz="1600" i="1" smtClean="0">
                            <a:latin typeface="Cambria Math" panose="02040503050406030204" pitchFamily="18" charset="0"/>
                            <a:cs typeface="Times New Roman" panose="02020603050405020304" pitchFamily="18" charset="0"/>
                          </a:rPr>
                          <m:t>𝑖</m:t>
                        </m:r>
                      </m:sub>
                    </m:sSub>
                  </m:oMath>
                </a14:m>
                <a:r>
                  <a:rPr lang="en-US" altLang="zh-CN" sz="1600" dirty="0">
                    <a:latin typeface="Times New Roman" panose="02020603050405020304" pitchFamily="18" charset="0"/>
                    <a:cs typeface="Times New Roman" panose="02020603050405020304" pitchFamily="18" charset="0"/>
                  </a:rPr>
                  <a:t>.</a:t>
                </a:r>
              </a:p>
            </p:txBody>
          </p:sp>
        </mc:Choice>
        <mc:Fallback xmlns="">
          <p:sp>
            <p:nvSpPr>
              <p:cNvPr id="2" name="文本框 1">
                <a:extLst>
                  <a:ext uri="{FF2B5EF4-FFF2-40B4-BE49-F238E27FC236}">
                    <a16:creationId xmlns:a16="http://schemas.microsoft.com/office/drawing/2014/main" id="{7DD29C83-FD2F-6F06-12B6-CD03F322EA72}"/>
                  </a:ext>
                </a:extLst>
              </p:cNvPr>
              <p:cNvSpPr txBox="1">
                <a:spLocks noRot="1" noChangeAspect="1" noMove="1" noResize="1" noEditPoints="1" noAdjustHandles="1" noChangeArrowheads="1" noChangeShapeType="1" noTextEdit="1"/>
              </p:cNvSpPr>
              <p:nvPr/>
            </p:nvSpPr>
            <p:spPr>
              <a:xfrm>
                <a:off x="813586" y="884530"/>
                <a:ext cx="6914902" cy="1590628"/>
              </a:xfrm>
              <a:prstGeom prst="rect">
                <a:avLst/>
              </a:prstGeom>
              <a:blipFill>
                <a:blip r:embed="rId3"/>
                <a:stretch>
                  <a:fillRect l="-352" r="-1145" b="-42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68ECD622-FB9B-F557-A9E7-C76B3C31FF55}"/>
                  </a:ext>
                </a:extLst>
              </p:cNvPr>
              <p:cNvSpPr txBox="1"/>
              <p:nvPr/>
            </p:nvSpPr>
            <p:spPr>
              <a:xfrm>
                <a:off x="791766" y="3031628"/>
                <a:ext cx="6914902" cy="1271182"/>
              </a:xfrm>
              <a:prstGeom prst="rect">
                <a:avLst/>
              </a:prstGeom>
              <a:noFill/>
            </p:spPr>
            <p:txBody>
              <a:bodyPr wrap="square">
                <a:spAutoFit/>
              </a:bodyPr>
              <a:lstStyle/>
              <a:p>
                <a:pPr>
                  <a:lnSpc>
                    <a:spcPct val="120000"/>
                  </a:lnSpc>
                </a:pPr>
                <a:r>
                  <a:rPr lang="en-US" altLang="zh-CN" sz="1600" dirty="0">
                    <a:latin typeface="Times New Roman" panose="02020603050405020304" pitchFamily="18" charset="0"/>
                    <a:cs typeface="Times New Roman" panose="02020603050405020304" pitchFamily="18" charset="0"/>
                  </a:rPr>
                  <a:t>Suppose the relevance scores of all candidate modules fall below a predefined threshold </a:t>
                </a:r>
                <a14:m>
                  <m:oMath xmlns:m="http://schemas.openxmlformats.org/officeDocument/2006/math">
                    <m:r>
                      <m:rPr>
                        <m:sty m:val="p"/>
                      </m:rPr>
                      <a:rPr lang="en-US" altLang="zh-CN" sz="1600" b="0" i="1" smtClean="0">
                        <a:latin typeface="Cambria Math" panose="02040503050406030204" pitchFamily="18" charset="0"/>
                        <a:cs typeface="Times New Roman" panose="02020603050405020304" pitchFamily="18" charset="0"/>
                      </a:rPr>
                      <m:t>τ</m:t>
                    </m:r>
                  </m:oMath>
                </a14:m>
                <a:r>
                  <a:rPr lang="en-US" altLang="zh-CN" sz="1600" dirty="0">
                    <a:latin typeface="Times New Roman" panose="02020603050405020304" pitchFamily="18" charset="0"/>
                    <a:cs typeface="Times New Roman" panose="02020603050405020304" pitchFamily="18" charset="0"/>
                  </a:rPr>
                  <a:t>, the system falls back to a curated set of high-quality templates </a:t>
                </a:r>
                <a14:m>
                  <m:oMath xmlns:m="http://schemas.openxmlformats.org/officeDocument/2006/math">
                    <m:sSub>
                      <m:sSubPr>
                        <m:ctrlPr>
                          <a:rPr lang="en-US" altLang="zh-CN" sz="1600" b="0" i="1" dirty="0" smtClean="0">
                            <a:latin typeface="Cambria Math" panose="02040503050406030204" pitchFamily="18" charset="0"/>
                            <a:cs typeface="Times New Roman" panose="02020603050405020304" pitchFamily="18" charset="0"/>
                          </a:rPr>
                        </m:ctrlPr>
                      </m:sSubPr>
                      <m:e>
                        <m:r>
                          <a:rPr lang="en-US" altLang="zh-CN" sz="1600" i="1" dirty="0" smtClean="0">
                            <a:latin typeface="Cambria Math" panose="02040503050406030204" pitchFamily="18" charset="0"/>
                            <a:cs typeface="Times New Roman" panose="02020603050405020304" pitchFamily="18" charset="0"/>
                          </a:rPr>
                          <m:t>𝑃</m:t>
                        </m:r>
                      </m:e>
                      <m:sub>
                        <m:r>
                          <a:rPr lang="en-US" altLang="zh-CN" sz="1600" i="1" dirty="0" smtClean="0">
                            <a:latin typeface="Cambria Math" panose="02040503050406030204" pitchFamily="18" charset="0"/>
                            <a:cs typeface="Times New Roman" panose="02020603050405020304" pitchFamily="18" charset="0"/>
                          </a:rPr>
                          <m:t>𝑒𝑥</m:t>
                        </m:r>
                      </m:sub>
                    </m:sSub>
                  </m:oMath>
                </a14:m>
                <a:r>
                  <a:rPr lang="en-US" altLang="zh-CN" sz="1600" dirty="0">
                    <a:latin typeface="Times New Roman" panose="02020603050405020304" pitchFamily="18" charset="0"/>
                    <a:cs typeface="Times New Roman" panose="02020603050405020304" pitchFamily="18" charset="0"/>
                  </a:rPr>
                  <a:t> and augments it with the top </a:t>
                </a:r>
                <a14:m>
                  <m:oMath xmlns:m="http://schemas.openxmlformats.org/officeDocument/2006/math">
                    <m:r>
                      <a:rPr lang="en-US" altLang="zh-CN" sz="1600" i="1" dirty="0" smtClean="0">
                        <a:latin typeface="Cambria Math" panose="02040503050406030204" pitchFamily="18" charset="0"/>
                        <a:cs typeface="Times New Roman" panose="02020603050405020304" pitchFamily="18" charset="0"/>
                      </a:rPr>
                      <m:t>𝑘</m:t>
                    </m:r>
                  </m:oMath>
                </a14:m>
                <a:r>
                  <a:rPr lang="en-US" altLang="zh-CN" sz="1600" dirty="0">
                    <a:latin typeface="Times New Roman" panose="02020603050405020304" pitchFamily="18" charset="0"/>
                    <a:cs typeface="Times New Roman" panose="02020603050405020304" pitchFamily="18" charset="0"/>
                  </a:rPr>
                  <a:t> matches </a:t>
                </a:r>
                <a14:m>
                  <m:oMath xmlns:m="http://schemas.openxmlformats.org/officeDocument/2006/math">
                    <m:sSub>
                      <m:sSubPr>
                        <m:ctrlPr>
                          <a:rPr lang="en-US" altLang="zh-CN" sz="1600" b="0" i="1" dirty="0" smtClean="0">
                            <a:latin typeface="Cambria Math" panose="02040503050406030204" pitchFamily="18" charset="0"/>
                            <a:cs typeface="Times New Roman" panose="02020603050405020304" pitchFamily="18" charset="0"/>
                          </a:rPr>
                        </m:ctrlPr>
                      </m:sSubPr>
                      <m:e>
                        <m:r>
                          <a:rPr lang="en-US" altLang="zh-CN" sz="1600" i="1" dirty="0" smtClean="0">
                            <a:latin typeface="Cambria Math" panose="02040503050406030204" pitchFamily="18" charset="0"/>
                            <a:cs typeface="Times New Roman" panose="02020603050405020304" pitchFamily="18" charset="0"/>
                          </a:rPr>
                          <m:t>𝑃</m:t>
                        </m:r>
                      </m:e>
                      <m:sub>
                        <m:r>
                          <a:rPr lang="en-US" altLang="zh-CN" sz="1600" i="1" dirty="0" smtClean="0">
                            <a:latin typeface="Cambria Math" panose="02040503050406030204" pitchFamily="18" charset="0"/>
                            <a:cs typeface="Times New Roman" panose="02020603050405020304" pitchFamily="18" charset="0"/>
                          </a:rPr>
                          <m:t>𝑐𝑡𝑥</m:t>
                        </m:r>
                      </m:sub>
                    </m:sSub>
                  </m:oMath>
                </a14:m>
                <a:r>
                  <a:rPr lang="en-US" altLang="zh-CN" sz="1600" dirty="0">
                    <a:latin typeface="Times New Roman" panose="02020603050405020304" pitchFamily="18" charset="0"/>
                    <a:cs typeface="Times New Roman" panose="02020603050405020304" pitchFamily="18" charset="0"/>
                  </a:rPr>
                  <a:t> from </a:t>
                </a:r>
                <a14:m>
                  <m:oMath xmlns:m="http://schemas.openxmlformats.org/officeDocument/2006/math">
                    <m:sSub>
                      <m:sSubPr>
                        <m:ctrlPr>
                          <a:rPr lang="en-US" altLang="zh-CN" sz="1600" i="1" dirty="0" smtClean="0">
                            <a:latin typeface="Cambria Math" panose="02040503050406030204" pitchFamily="18" charset="0"/>
                            <a:cs typeface="Times New Roman" panose="02020603050405020304" pitchFamily="18" charset="0"/>
                          </a:rPr>
                        </m:ctrlPr>
                      </m:sSubPr>
                      <m:e>
                        <m:r>
                          <a:rPr lang="en-US" altLang="zh-CN" sz="1600" i="1" dirty="0" smtClean="0">
                            <a:latin typeface="Cambria Math" panose="02040503050406030204" pitchFamily="18" charset="0"/>
                            <a:cs typeface="Times New Roman" panose="02020603050405020304" pitchFamily="18" charset="0"/>
                          </a:rPr>
                          <m:t>𝐾</m:t>
                        </m:r>
                      </m:e>
                      <m:sub>
                        <m:r>
                          <a:rPr lang="en-US" altLang="zh-CN" sz="1600" i="1" dirty="0" err="1" smtClean="0">
                            <a:latin typeface="Cambria Math" panose="02040503050406030204" pitchFamily="18" charset="0"/>
                            <a:cs typeface="Times New Roman" panose="02020603050405020304" pitchFamily="18" charset="0"/>
                          </a:rPr>
                          <m:t>𝑝</m:t>
                        </m:r>
                      </m:sub>
                    </m:sSub>
                  </m:oMath>
                </a14:m>
                <a:r>
                  <a:rPr lang="en-US" altLang="zh-CN" sz="1600" dirty="0">
                    <a:latin typeface="Times New Roman" panose="02020603050405020304" pitchFamily="18" charset="0"/>
                    <a:cs typeface="Times New Roman" panose="02020603050405020304" pitchFamily="18" charset="0"/>
                  </a:rPr>
                  <a:t> as contextual prompts to guide the LLM in the generation of a plan. </a:t>
                </a:r>
              </a:p>
            </p:txBody>
          </p:sp>
        </mc:Choice>
        <mc:Fallback xmlns="">
          <p:sp>
            <p:nvSpPr>
              <p:cNvPr id="4" name="文本框 3">
                <a:extLst>
                  <a:ext uri="{FF2B5EF4-FFF2-40B4-BE49-F238E27FC236}">
                    <a16:creationId xmlns:a16="http://schemas.microsoft.com/office/drawing/2014/main" id="{68ECD622-FB9B-F557-A9E7-C76B3C31FF55}"/>
                  </a:ext>
                </a:extLst>
              </p:cNvPr>
              <p:cNvSpPr txBox="1">
                <a:spLocks noRot="1" noChangeAspect="1" noMove="1" noResize="1" noEditPoints="1" noAdjustHandles="1" noChangeArrowheads="1" noChangeShapeType="1" noTextEdit="1"/>
              </p:cNvSpPr>
              <p:nvPr/>
            </p:nvSpPr>
            <p:spPr>
              <a:xfrm>
                <a:off x="791766" y="3031628"/>
                <a:ext cx="6914902" cy="1271182"/>
              </a:xfrm>
              <a:prstGeom prst="rect">
                <a:avLst/>
              </a:prstGeom>
              <a:blipFill>
                <a:blip r:embed="rId4"/>
                <a:stretch>
                  <a:fillRect l="-529" b="-5263"/>
                </a:stretch>
              </a:blipFill>
            </p:spPr>
            <p:txBody>
              <a:bodyPr/>
              <a:lstStyle/>
              <a:p>
                <a:r>
                  <a:rPr lang="zh-CN" altLang="en-US">
                    <a:noFill/>
                  </a:rPr>
                  <a:t> </a:t>
                </a:r>
              </a:p>
            </p:txBody>
          </p:sp>
        </mc:Fallback>
      </mc:AlternateContent>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DF49D-1BA4-99C7-4FB2-9A30D66C27B7}"/>
            </a:ext>
          </a:extLst>
        </p:cNvPr>
        <p:cNvGrpSpPr/>
        <p:nvPr/>
      </p:nvGrpSpPr>
      <p:grpSpPr>
        <a:xfrm>
          <a:off x="0" y="0"/>
          <a:ext cx="0" cy="0"/>
          <a:chOff x="0" y="0"/>
          <a:chExt cx="0" cy="0"/>
        </a:xfrm>
      </p:grpSpPr>
      <p:sp>
        <p:nvSpPr>
          <p:cNvPr id="15" name="矩形 14">
            <a:extLst>
              <a:ext uri="{FF2B5EF4-FFF2-40B4-BE49-F238E27FC236}">
                <a16:creationId xmlns:a16="http://schemas.microsoft.com/office/drawing/2014/main" id="{4328F21A-832C-E2E5-D5ED-37584317DFC9}"/>
              </a:ext>
            </a:extLst>
          </p:cNvPr>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 name="矩形 15">
            <a:extLst>
              <a:ext uri="{FF2B5EF4-FFF2-40B4-BE49-F238E27FC236}">
                <a16:creationId xmlns:a16="http://schemas.microsoft.com/office/drawing/2014/main" id="{96031A2C-2353-2EBC-9A2F-8DC9EDBA0D80}"/>
              </a:ext>
            </a:extLst>
          </p:cNvPr>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7" name="矩形 16">
            <a:extLst>
              <a:ext uri="{FF2B5EF4-FFF2-40B4-BE49-F238E27FC236}">
                <a16:creationId xmlns:a16="http://schemas.microsoft.com/office/drawing/2014/main" id="{8A3063CE-D839-94E7-E608-4D0938885EE2}"/>
              </a:ext>
            </a:extLst>
          </p:cNvPr>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8" name="矩形 17">
            <a:extLst>
              <a:ext uri="{FF2B5EF4-FFF2-40B4-BE49-F238E27FC236}">
                <a16:creationId xmlns:a16="http://schemas.microsoft.com/office/drawing/2014/main" id="{E36A8CD8-9612-72CD-FC80-4A749F683F10}"/>
              </a:ext>
            </a:extLst>
          </p:cNvPr>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26" name="文本框 25">
            <a:extLst>
              <a:ext uri="{FF2B5EF4-FFF2-40B4-BE49-F238E27FC236}">
                <a16:creationId xmlns:a16="http://schemas.microsoft.com/office/drawing/2014/main" id="{01A31E2E-90B2-2128-EB47-3B8CD3FD6F0D}"/>
              </a:ext>
            </a:extLst>
          </p:cNvPr>
          <p:cNvSpPr txBox="1"/>
          <p:nvPr/>
        </p:nvSpPr>
        <p:spPr bwMode="auto">
          <a:xfrm>
            <a:off x="813585" y="287917"/>
            <a:ext cx="5730089"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a:solidFill>
                  <a:srgbClr val="E5DEDB">
                    <a:lumMod val="10000"/>
                    <a:alpha val="85000"/>
                  </a:srgbClr>
                </a:solidFill>
                <a:latin typeface="Times New Roman" panose="02020603050405020304" pitchFamily="18" charset="0"/>
                <a:cs typeface="Times New Roman" panose="02020603050405020304" pitchFamily="18" charset="0"/>
              </a:rPr>
              <a:t>Git-Inspired Branch Manager</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5DEE15F0-C187-1159-7DBF-8FAECC1A8579}"/>
                  </a:ext>
                </a:extLst>
              </p:cNvPr>
              <p:cNvSpPr txBox="1"/>
              <p:nvPr/>
            </p:nvSpPr>
            <p:spPr>
              <a:xfrm>
                <a:off x="851238" y="790911"/>
                <a:ext cx="6914902" cy="1340752"/>
              </a:xfrm>
              <a:prstGeom prst="rect">
                <a:avLst/>
              </a:prstGeom>
              <a:noFill/>
            </p:spPr>
            <p:txBody>
              <a:bodyPr wrap="square">
                <a:spAutoFit/>
              </a:bodyPr>
              <a:lstStyle/>
              <a:p>
                <a:pPr>
                  <a:lnSpc>
                    <a:spcPct val="130000"/>
                  </a:lnSpc>
                </a:pPr>
                <a:r>
                  <a:rPr lang="en-US" altLang="zh-CN" sz="1600" dirty="0">
                    <a:latin typeface="Times New Roman" panose="02020603050405020304" pitchFamily="18" charset="0"/>
                    <a:cs typeface="Times New Roman" panose="02020603050405020304" pitchFamily="18" charset="0"/>
                  </a:rPr>
                  <a:t>For each subtask </a:t>
                </a:r>
                <a14:m>
                  <m:oMath xmlns:m="http://schemas.openxmlformats.org/officeDocument/2006/math">
                    <m:sSub>
                      <m:sSubPr>
                        <m:ctrlPr>
                          <a:rPr lang="en-US" altLang="zh-CN" sz="1600" b="0" i="1" dirty="0" smtClean="0">
                            <a:latin typeface="Cambria Math" panose="02040503050406030204" pitchFamily="18" charset="0"/>
                            <a:cs typeface="Times New Roman" panose="02020603050405020304" pitchFamily="18" charset="0"/>
                          </a:rPr>
                        </m:ctrlPr>
                      </m:sSubPr>
                      <m:e>
                        <m:r>
                          <a:rPr lang="en-US" altLang="zh-CN" sz="1600" i="1" dirty="0" smtClean="0">
                            <a:latin typeface="Cambria Math" panose="02040503050406030204" pitchFamily="18" charset="0"/>
                            <a:cs typeface="Times New Roman" panose="02020603050405020304" pitchFamily="18" charset="0"/>
                          </a:rPr>
                          <m:t>𝑇</m:t>
                        </m:r>
                      </m:e>
                      <m:sub>
                        <m:r>
                          <a:rPr lang="en-US" altLang="zh-CN" sz="1600" i="1" dirty="0" smtClean="0">
                            <a:latin typeface="Cambria Math" panose="02040503050406030204" pitchFamily="18" charset="0"/>
                            <a:cs typeface="Times New Roman" panose="02020603050405020304" pitchFamily="18" charset="0"/>
                          </a:rPr>
                          <m:t>𝑖</m:t>
                        </m:r>
                      </m:sub>
                    </m:sSub>
                  </m:oMath>
                </a14:m>
                <a:r>
                  <a:rPr lang="en-US" altLang="zh-CN" sz="1600" dirty="0">
                    <a:latin typeface="Times New Roman" panose="02020603050405020304" pitchFamily="18" charset="0"/>
                    <a:cs typeface="Times New Roman" panose="02020603050405020304" pitchFamily="18" charset="0"/>
                  </a:rPr>
                  <a:t>, the system </a:t>
                </a:r>
                <a:r>
                  <a:rPr lang="en-US" altLang="zh-CN" sz="1600" b="1" dirty="0">
                    <a:latin typeface="Times New Roman" panose="02020603050405020304" pitchFamily="18" charset="0"/>
                    <a:cs typeface="Times New Roman" panose="02020603050405020304" pitchFamily="18" charset="0"/>
                  </a:rPr>
                  <a:t>creates</a:t>
                </a:r>
                <a:r>
                  <a:rPr lang="en-US" altLang="zh-CN" sz="1600" dirty="0">
                    <a:latin typeface="Times New Roman" panose="02020603050405020304" pitchFamily="18" charset="0"/>
                    <a:cs typeface="Times New Roman" panose="02020603050405020304" pitchFamily="18" charset="0"/>
                  </a:rPr>
                  <a:t> an independent branch </a:t>
                </a:r>
                <a14:m>
                  <m:oMath xmlns:m="http://schemas.openxmlformats.org/officeDocument/2006/math">
                    <m:sSub>
                      <m:sSubPr>
                        <m:ctrlPr>
                          <a:rPr lang="en-US" altLang="zh-CN" sz="1600" b="0" i="1" dirty="0" smtClean="0">
                            <a:latin typeface="Cambria Math" panose="02040503050406030204" pitchFamily="18" charset="0"/>
                            <a:cs typeface="Times New Roman" panose="02020603050405020304" pitchFamily="18" charset="0"/>
                          </a:rPr>
                        </m:ctrlPr>
                      </m:sSubPr>
                      <m:e>
                        <m:r>
                          <a:rPr lang="en-US" altLang="zh-CN" sz="1600" i="1" dirty="0" smtClean="0">
                            <a:latin typeface="Cambria Math" panose="02040503050406030204" pitchFamily="18" charset="0"/>
                            <a:cs typeface="Times New Roman" panose="02020603050405020304" pitchFamily="18" charset="0"/>
                          </a:rPr>
                          <m:t>𝐵</m:t>
                        </m:r>
                      </m:e>
                      <m:sub>
                        <m:r>
                          <a:rPr lang="en-US" altLang="zh-CN" sz="1600" i="1" dirty="0" smtClean="0">
                            <a:latin typeface="Cambria Math" panose="02040503050406030204" pitchFamily="18" charset="0"/>
                            <a:cs typeface="Times New Roman" panose="02020603050405020304" pitchFamily="18" charset="0"/>
                          </a:rPr>
                          <m:t>𝑖</m:t>
                        </m:r>
                      </m:sub>
                    </m:sSub>
                  </m:oMath>
                </a14:m>
                <a:r>
                  <a:rPr lang="en-US" altLang="zh-CN" sz="1600" dirty="0">
                    <a:latin typeface="Times New Roman" panose="02020603050405020304" pitchFamily="18" charset="0"/>
                    <a:cs typeface="Times New Roman" panose="02020603050405020304" pitchFamily="18" charset="0"/>
                  </a:rPr>
                  <a:t>, representing an isolated reasoning path. </a:t>
                </a:r>
                <a:r>
                  <a:rPr lang="en-US" altLang="zh-CN" sz="1600" b="1" dirty="0">
                    <a:latin typeface="Times New Roman" panose="02020603050405020304" pitchFamily="18" charset="0"/>
                    <a:cs typeface="Times New Roman" panose="02020603050405020304" pitchFamily="18" charset="0"/>
                  </a:rPr>
                  <a:t>Inspired</a:t>
                </a:r>
                <a:r>
                  <a:rPr lang="en-US" altLang="zh-CN" sz="1600" dirty="0">
                    <a:latin typeface="Times New Roman" panose="02020603050405020304" pitchFamily="18" charset="0"/>
                    <a:cs typeface="Times New Roman" panose="02020603050405020304" pitchFamily="18" charset="0"/>
                  </a:rPr>
                  <a:t> by Git’s file system–oriented storage model, each branch maintains its execution record </a:t>
                </a:r>
                <a14:m>
                  <m:oMath xmlns:m="http://schemas.openxmlformats.org/officeDocument/2006/math">
                    <m:sSub>
                      <m:sSubPr>
                        <m:ctrlPr>
                          <a:rPr lang="en-US" altLang="zh-CN" sz="1600" b="0" i="1" dirty="0" smtClean="0">
                            <a:latin typeface="Cambria Math" panose="02040503050406030204" pitchFamily="18" charset="0"/>
                            <a:cs typeface="Times New Roman" panose="02020603050405020304" pitchFamily="18" charset="0"/>
                          </a:rPr>
                        </m:ctrlPr>
                      </m:sSubPr>
                      <m:e>
                        <m:r>
                          <a:rPr lang="en-US" altLang="zh-CN" sz="1600" i="1" dirty="0" smtClean="0">
                            <a:latin typeface="Cambria Math" panose="02040503050406030204" pitchFamily="18" charset="0"/>
                            <a:cs typeface="Times New Roman" panose="02020603050405020304" pitchFamily="18" charset="0"/>
                          </a:rPr>
                          <m:t>𝑊</m:t>
                        </m:r>
                      </m:e>
                      <m:sub>
                        <m:r>
                          <a:rPr lang="en-US" altLang="zh-CN" sz="1600" i="1" dirty="0" smtClean="0">
                            <a:latin typeface="Cambria Math" panose="02040503050406030204" pitchFamily="18" charset="0"/>
                            <a:cs typeface="Times New Roman" panose="02020603050405020304" pitchFamily="18" charset="0"/>
                          </a:rPr>
                          <m:t>𝑖</m:t>
                        </m:r>
                      </m:sub>
                    </m:sSub>
                  </m:oMath>
                </a14:m>
                <a:r>
                  <a:rPr lang="en-US" altLang="zh-CN" sz="1600" dirty="0">
                    <a:latin typeface="Times New Roman" panose="02020603050405020304" pitchFamily="18" charset="0"/>
                    <a:cs typeface="Times New Roman" panose="02020603050405020304" pitchFamily="18" charset="0"/>
                  </a:rPr>
                  <a:t>, the reasoning steps </a:t>
                </a:r>
                <a14:m>
                  <m:oMath xmlns:m="http://schemas.openxmlformats.org/officeDocument/2006/math">
                    <m:sSub>
                      <m:sSubPr>
                        <m:ctrlPr>
                          <a:rPr lang="en-US" altLang="zh-CN" sz="1600" b="0" i="1" dirty="0" smtClean="0">
                            <a:latin typeface="Cambria Math" panose="02040503050406030204" pitchFamily="18" charset="0"/>
                            <a:cs typeface="Times New Roman" panose="02020603050405020304" pitchFamily="18" charset="0"/>
                          </a:rPr>
                        </m:ctrlPr>
                      </m:sSubPr>
                      <m:e>
                        <m:r>
                          <a:rPr lang="en-US" altLang="zh-CN" sz="1600" i="1" dirty="0" smtClean="0">
                            <a:latin typeface="Cambria Math" panose="02040503050406030204" pitchFamily="18" charset="0"/>
                            <a:cs typeface="Times New Roman" panose="02020603050405020304" pitchFamily="18" charset="0"/>
                          </a:rPr>
                          <m:t>𝜋</m:t>
                        </m:r>
                      </m:e>
                      <m:sub>
                        <m:r>
                          <a:rPr lang="en-US" altLang="zh-CN" sz="1600" i="1" dirty="0" err="1">
                            <a:latin typeface="Cambria Math" panose="02040503050406030204" pitchFamily="18" charset="0"/>
                            <a:cs typeface="Times New Roman" panose="02020603050405020304" pitchFamily="18" charset="0"/>
                          </a:rPr>
                          <m:t>𝑖</m:t>
                        </m:r>
                      </m:sub>
                    </m:sSub>
                  </m:oMath>
                </a14:m>
                <a:r>
                  <a:rPr lang="en-US" altLang="zh-CN" sz="1600" dirty="0">
                    <a:latin typeface="Times New Roman" panose="02020603050405020304" pitchFamily="18" charset="0"/>
                    <a:cs typeface="Times New Roman" panose="02020603050405020304" pitchFamily="18" charset="0"/>
                  </a:rPr>
                  <a:t> generated by the </a:t>
                </a:r>
                <a:r>
                  <a:rPr lang="en-US" altLang="zh-CN" sz="1600" i="1" dirty="0">
                    <a:latin typeface="Times New Roman" panose="02020603050405020304" pitchFamily="18" charset="0"/>
                    <a:cs typeface="Times New Roman" panose="02020603050405020304" pitchFamily="18" charset="0"/>
                  </a:rPr>
                  <a:t>Planner</a:t>
                </a:r>
                <a:r>
                  <a:rPr lang="en-US" altLang="zh-CN" sz="1600" dirty="0">
                    <a:latin typeface="Times New Roman" panose="02020603050405020304" pitchFamily="18" charset="0"/>
                    <a:cs typeface="Times New Roman" panose="02020603050405020304" pitchFamily="18" charset="0"/>
                  </a:rPr>
                  <a:t>, and relevant metadata.</a:t>
                </a:r>
              </a:p>
            </p:txBody>
          </p:sp>
        </mc:Choice>
        <mc:Fallback xmlns="">
          <p:sp>
            <p:nvSpPr>
              <p:cNvPr id="2" name="文本框 1">
                <a:extLst>
                  <a:ext uri="{FF2B5EF4-FFF2-40B4-BE49-F238E27FC236}">
                    <a16:creationId xmlns:a16="http://schemas.microsoft.com/office/drawing/2014/main" id="{5DEE15F0-C187-1159-7DBF-8FAECC1A8579}"/>
                  </a:ext>
                </a:extLst>
              </p:cNvPr>
              <p:cNvSpPr txBox="1">
                <a:spLocks noRot="1" noChangeAspect="1" noMove="1" noResize="1" noEditPoints="1" noAdjustHandles="1" noChangeArrowheads="1" noChangeShapeType="1" noTextEdit="1"/>
              </p:cNvSpPr>
              <p:nvPr/>
            </p:nvSpPr>
            <p:spPr>
              <a:xfrm>
                <a:off x="851238" y="790911"/>
                <a:ext cx="6914902" cy="1340752"/>
              </a:xfrm>
              <a:prstGeom prst="rect">
                <a:avLst/>
              </a:prstGeom>
              <a:blipFill>
                <a:blip r:embed="rId3"/>
                <a:stretch>
                  <a:fillRect l="-529" r="-705" b="-5000"/>
                </a:stretch>
              </a:blipFill>
            </p:spPr>
            <p:txBody>
              <a:bodyPr/>
              <a:lstStyle/>
              <a:p>
                <a:r>
                  <a:rPr lang="zh-CN" altLang="en-US">
                    <a:noFill/>
                  </a:rPr>
                  <a:t> </a:t>
                </a:r>
              </a:p>
            </p:txBody>
          </p:sp>
        </mc:Fallback>
      </mc:AlternateContent>
      <p:sp>
        <p:nvSpPr>
          <p:cNvPr id="3" name="文本框 2">
            <a:extLst>
              <a:ext uri="{FF2B5EF4-FFF2-40B4-BE49-F238E27FC236}">
                <a16:creationId xmlns:a16="http://schemas.microsoft.com/office/drawing/2014/main" id="{4624AF06-5A91-5886-851B-60134C8FD430}"/>
              </a:ext>
            </a:extLst>
          </p:cNvPr>
          <p:cNvSpPr txBox="1"/>
          <p:nvPr/>
        </p:nvSpPr>
        <p:spPr>
          <a:xfrm>
            <a:off x="851237" y="2402539"/>
            <a:ext cx="7464087" cy="2430281"/>
          </a:xfrm>
          <a:prstGeom prst="rect">
            <a:avLst/>
          </a:prstGeom>
          <a:noFill/>
        </p:spPr>
        <p:txBody>
          <a:bodyPr wrap="square">
            <a:spAutoFit/>
          </a:bodyPr>
          <a:lstStyle/>
          <a:p>
            <a:pPr>
              <a:lnSpc>
                <a:spcPct val="120000"/>
              </a:lnSpc>
            </a:pPr>
            <a:r>
              <a:rPr lang="en-US" altLang="zh-CN" sz="1600" dirty="0">
                <a:latin typeface="Times New Roman" panose="02020603050405020304" pitchFamily="18" charset="0"/>
                <a:cs typeface="Times New Roman" panose="02020603050405020304" pitchFamily="18" charset="0"/>
              </a:rPr>
              <a:t>The lifecycle of each branch is centrally managed by a global </a:t>
            </a:r>
            <a:r>
              <a:rPr lang="en-US" altLang="zh-CN" sz="1600" b="1" dirty="0">
                <a:latin typeface="Times New Roman" panose="02020603050405020304" pitchFamily="18" charset="0"/>
                <a:cs typeface="Times New Roman" panose="02020603050405020304" pitchFamily="18" charset="0"/>
              </a:rPr>
              <a:t>stack</a:t>
            </a:r>
            <a:r>
              <a:rPr lang="en-US" altLang="zh-CN" sz="1600" dirty="0">
                <a:latin typeface="Times New Roman" panose="02020603050405020304" pitchFamily="18" charset="0"/>
                <a:cs typeface="Times New Roman" panose="02020603050405020304" pitchFamily="18" charset="0"/>
              </a:rPr>
              <a:t> structure maintained. </a:t>
            </a:r>
          </a:p>
          <a:p>
            <a:pPr marL="285750" indent="-285750">
              <a:lnSpc>
                <a:spcPct val="120000"/>
              </a:lnSpc>
              <a:buFont typeface="Arial" panose="020B0604020202020204" pitchFamily="34" charset="0"/>
              <a:buChar char="•"/>
            </a:pPr>
            <a:r>
              <a:rPr lang="en-US" altLang="zh-CN" sz="1600" dirty="0">
                <a:latin typeface="Times New Roman" panose="02020603050405020304" pitchFamily="18" charset="0"/>
                <a:cs typeface="Times New Roman" panose="02020603050405020304" pitchFamily="18" charset="0"/>
              </a:rPr>
              <a:t>When creating a new branch, </a:t>
            </a:r>
            <a:r>
              <a:rPr lang="en-US" altLang="zh-CN" sz="1600" i="1" dirty="0">
                <a:latin typeface="Times New Roman" panose="02020603050405020304" pitchFamily="18" charset="0"/>
                <a:cs typeface="Times New Roman" panose="02020603050405020304" pitchFamily="18" charset="0"/>
              </a:rPr>
              <a:t>Brancher</a:t>
            </a:r>
            <a:r>
              <a:rPr lang="en-US" altLang="zh-CN" sz="1600" dirty="0">
                <a:latin typeface="Times New Roman" panose="02020603050405020304" pitchFamily="18" charset="0"/>
                <a:cs typeface="Times New Roman" panose="02020603050405020304" pitchFamily="18" charset="0"/>
              </a:rPr>
              <a:t> module automatically pushes it onto the stack and switches the execution context. </a:t>
            </a:r>
          </a:p>
          <a:p>
            <a:pPr marL="285750" indent="-285750">
              <a:lnSpc>
                <a:spcPct val="120000"/>
              </a:lnSpc>
              <a:buFont typeface="Arial" panose="020B0604020202020204" pitchFamily="34" charset="0"/>
              <a:buChar char="•"/>
            </a:pPr>
            <a:r>
              <a:rPr lang="en-US" altLang="zh-CN" sz="1600" dirty="0">
                <a:latin typeface="Times New Roman" panose="02020603050405020304" pitchFamily="18" charset="0"/>
                <a:cs typeface="Times New Roman" panose="02020603050405020304" pitchFamily="18" charset="0"/>
              </a:rPr>
              <a:t>During the merging phase</a:t>
            </a:r>
            <a:r>
              <a:rPr lang="en-US" altLang="zh-CN" sz="1600">
                <a:latin typeface="Times New Roman" panose="02020603050405020304" pitchFamily="18" charset="0"/>
                <a:cs typeface="Times New Roman" panose="02020603050405020304" pitchFamily="18" charset="0"/>
              </a:rPr>
              <a:t>, </a:t>
            </a:r>
          </a:p>
          <a:p>
            <a:pPr>
              <a:lnSpc>
                <a:spcPct val="120000"/>
              </a:lnSpc>
            </a:pPr>
            <a:r>
              <a:rPr lang="en-US" altLang="zh-CN" sz="1600">
                <a:latin typeface="Times New Roman" panose="02020603050405020304" pitchFamily="18" charset="0"/>
                <a:cs typeface="Times New Roman" panose="02020603050405020304" pitchFamily="18" charset="0"/>
              </a:rPr>
              <a:t>     (1) the </a:t>
            </a:r>
            <a:r>
              <a:rPr lang="en-US" altLang="zh-CN" sz="1600" dirty="0">
                <a:latin typeface="Times New Roman" panose="02020603050405020304" pitchFamily="18" charset="0"/>
                <a:cs typeface="Times New Roman" panose="02020603050405020304" pitchFamily="18" charset="0"/>
              </a:rPr>
              <a:t>system pops the current branch from the stack</a:t>
            </a:r>
            <a:r>
              <a:rPr lang="en-US" altLang="zh-CN" sz="1600">
                <a:latin typeface="Times New Roman" panose="02020603050405020304" pitchFamily="18" charset="0"/>
                <a:cs typeface="Times New Roman" panose="02020603050405020304" pitchFamily="18" charset="0"/>
              </a:rPr>
              <a:t>. </a:t>
            </a:r>
          </a:p>
          <a:p>
            <a:pPr>
              <a:lnSpc>
                <a:spcPct val="120000"/>
              </a:lnSpc>
            </a:pPr>
            <a:r>
              <a:rPr lang="en-US" altLang="zh-CN" sz="1600">
                <a:latin typeface="Times New Roman" panose="02020603050405020304" pitchFamily="18" charset="0"/>
                <a:cs typeface="Times New Roman" panose="02020603050405020304" pitchFamily="18" charset="0"/>
              </a:rPr>
              <a:t>     (2) The </a:t>
            </a:r>
            <a:r>
              <a:rPr lang="en-US" altLang="zh-CN" sz="1600" i="1">
                <a:latin typeface="Times New Roman" panose="02020603050405020304" pitchFamily="18" charset="0"/>
                <a:cs typeface="Times New Roman" panose="02020603050405020304" pitchFamily="18" charset="0"/>
              </a:rPr>
              <a:t>Coordinator</a:t>
            </a:r>
            <a:r>
              <a:rPr lang="en-US" altLang="zh-CN" sz="1600">
                <a:latin typeface="Times New Roman" panose="02020603050405020304" pitchFamily="18" charset="0"/>
                <a:cs typeface="Times New Roman" panose="02020603050405020304" pitchFamily="18" charset="0"/>
              </a:rPr>
              <a:t> aggregates the execution results into the workspace of its parent branch. </a:t>
            </a:r>
          </a:p>
          <a:p>
            <a:pPr>
              <a:lnSpc>
                <a:spcPct val="120000"/>
              </a:lnSpc>
            </a:pPr>
            <a:r>
              <a:rPr lang="en-US" altLang="zh-CN" sz="1600">
                <a:latin typeface="Times New Roman" panose="02020603050405020304" pitchFamily="18" charset="0"/>
                <a:cs typeface="Times New Roman" panose="02020603050405020304" pitchFamily="18" charset="0"/>
              </a:rPr>
              <a:t>     (3) </a:t>
            </a:r>
            <a:r>
              <a:rPr lang="en-US" altLang="zh-CN" sz="1600" i="1">
                <a:latin typeface="Times New Roman" panose="02020603050405020304" pitchFamily="18" charset="0"/>
                <a:cs typeface="Times New Roman" panose="02020603050405020304" pitchFamily="18" charset="0"/>
              </a:rPr>
              <a:t>Brancher</a:t>
            </a:r>
            <a:r>
              <a:rPr lang="en-US" altLang="zh-CN" sz="1600">
                <a:latin typeface="Times New Roman" panose="02020603050405020304" pitchFamily="18" charset="0"/>
                <a:cs typeface="Times New Roman" panose="02020603050405020304" pitchFamily="18" charset="0"/>
              </a:rPr>
              <a:t> then merges the completed branch into the main reasoning path. </a:t>
            </a:r>
            <a:endParaRPr lang="en-US" altLang="zh-C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40072999"/>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64333-B683-413A-DB08-613177E80C48}"/>
            </a:ext>
          </a:extLst>
        </p:cNvPr>
        <p:cNvGrpSpPr/>
        <p:nvPr/>
      </p:nvGrpSpPr>
      <p:grpSpPr>
        <a:xfrm>
          <a:off x="0" y="0"/>
          <a:ext cx="0" cy="0"/>
          <a:chOff x="0" y="0"/>
          <a:chExt cx="0" cy="0"/>
        </a:xfrm>
      </p:grpSpPr>
      <p:sp>
        <p:nvSpPr>
          <p:cNvPr id="15" name="矩形 14">
            <a:extLst>
              <a:ext uri="{FF2B5EF4-FFF2-40B4-BE49-F238E27FC236}">
                <a16:creationId xmlns:a16="http://schemas.microsoft.com/office/drawing/2014/main" id="{EFEFBB5F-A822-82C9-344E-7DABEF19BB97}"/>
              </a:ext>
            </a:extLst>
          </p:cNvPr>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 name="矩形 15">
            <a:extLst>
              <a:ext uri="{FF2B5EF4-FFF2-40B4-BE49-F238E27FC236}">
                <a16:creationId xmlns:a16="http://schemas.microsoft.com/office/drawing/2014/main" id="{B067BDEE-AF75-300C-9A2D-060A59173981}"/>
              </a:ext>
            </a:extLst>
          </p:cNvPr>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7" name="矩形 16">
            <a:extLst>
              <a:ext uri="{FF2B5EF4-FFF2-40B4-BE49-F238E27FC236}">
                <a16:creationId xmlns:a16="http://schemas.microsoft.com/office/drawing/2014/main" id="{DEE579A9-3421-2A8C-818F-1DC77801089B}"/>
              </a:ext>
            </a:extLst>
          </p:cNvPr>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8" name="矩形 17">
            <a:extLst>
              <a:ext uri="{FF2B5EF4-FFF2-40B4-BE49-F238E27FC236}">
                <a16:creationId xmlns:a16="http://schemas.microsoft.com/office/drawing/2014/main" id="{50927682-FC86-CECF-2333-887B14ACFFEC}"/>
              </a:ext>
            </a:extLst>
          </p:cNvPr>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26" name="文本框 25">
            <a:extLst>
              <a:ext uri="{FF2B5EF4-FFF2-40B4-BE49-F238E27FC236}">
                <a16:creationId xmlns:a16="http://schemas.microsoft.com/office/drawing/2014/main" id="{B4A68B43-42E4-6C90-E84A-F6B4A43352DA}"/>
              </a:ext>
            </a:extLst>
          </p:cNvPr>
          <p:cNvSpPr txBox="1"/>
          <p:nvPr/>
        </p:nvSpPr>
        <p:spPr bwMode="auto">
          <a:xfrm>
            <a:off x="813585" y="287917"/>
            <a:ext cx="5222884"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a:solidFill>
                  <a:srgbClr val="E5DEDB">
                    <a:lumMod val="10000"/>
                    <a:alpha val="85000"/>
                  </a:srgbClr>
                </a:solidFill>
                <a:latin typeface="Times New Roman" panose="02020603050405020304" pitchFamily="18" charset="0"/>
                <a:cs typeface="Times New Roman" panose="02020603050405020304" pitchFamily="18" charset="0"/>
              </a:rPr>
              <a:t>Adaptive Hierarchical Coordinator</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4B34A8DF-7DA5-67B2-69CE-989B76E0CA25}"/>
                  </a:ext>
                </a:extLst>
              </p:cNvPr>
              <p:cNvSpPr txBox="1"/>
              <p:nvPr/>
            </p:nvSpPr>
            <p:spPr>
              <a:xfrm>
                <a:off x="752476" y="957589"/>
                <a:ext cx="6914902" cy="3701398"/>
              </a:xfrm>
              <a:prstGeom prst="rect">
                <a:avLst/>
              </a:prstGeom>
              <a:noFill/>
            </p:spPr>
            <p:txBody>
              <a:bodyPr wrap="square">
                <a:spAutoFit/>
              </a:bodyPr>
              <a:lstStyle/>
              <a:p>
                <a:pPr marL="342900" indent="-252000">
                  <a:lnSpc>
                    <a:spcPct val="120000"/>
                  </a:lnSpc>
                  <a:spcBef>
                    <a:spcPts val="500"/>
                  </a:spcBef>
                  <a:buAutoNum type="arabicPeriod"/>
                </a:pPr>
                <a:r>
                  <a:rPr lang="en-US" altLang="zh-CN" sz="1600" dirty="0">
                    <a:latin typeface="Times New Roman" panose="02020603050405020304" pitchFamily="18" charset="0"/>
                    <a:cs typeface="Times New Roman" panose="02020603050405020304" pitchFamily="18" charset="0"/>
                  </a:rPr>
                  <a:t>Coordinator incrementally parses the plan trajectory </a:t>
                </a:r>
                <a14:m>
                  <m:oMath xmlns:m="http://schemas.openxmlformats.org/officeDocument/2006/math">
                    <m:r>
                      <a:rPr lang="en-US" altLang="zh-CN" sz="1600" i="1" dirty="0" smtClean="0">
                        <a:latin typeface="Cambria Math" panose="02040503050406030204" pitchFamily="18" charset="0"/>
                        <a:cs typeface="Times New Roman" panose="02020603050405020304" pitchFamily="18" charset="0"/>
                      </a:rPr>
                      <m:t>𝜋</m:t>
                    </m:r>
                  </m:oMath>
                </a14:m>
                <a:r>
                  <a:rPr lang="en-US" altLang="zh-CN" sz="1600" dirty="0">
                    <a:latin typeface="Times New Roman" panose="02020603050405020304" pitchFamily="18" charset="0"/>
                    <a:cs typeface="Times New Roman" panose="02020603050405020304" pitchFamily="18" charset="0"/>
                  </a:rPr>
                  <a:t> generated by </a:t>
                </a:r>
                <a:r>
                  <a:rPr lang="en-US" altLang="zh-CN" sz="1600" i="1" dirty="0">
                    <a:latin typeface="Times New Roman" panose="02020603050405020304" pitchFamily="18" charset="0"/>
                    <a:cs typeface="Times New Roman" panose="02020603050405020304" pitchFamily="18" charset="0"/>
                  </a:rPr>
                  <a:t>Planner</a:t>
                </a:r>
                <a:r>
                  <a:rPr lang="en-US" altLang="zh-CN" sz="1600" dirty="0">
                    <a:latin typeface="Times New Roman" panose="02020603050405020304" pitchFamily="18" charset="0"/>
                    <a:cs typeface="Times New Roman" panose="02020603050405020304" pitchFamily="18" charset="0"/>
                  </a:rPr>
                  <a:t>. </a:t>
                </a:r>
              </a:p>
              <a:p>
                <a:pPr marL="342900" indent="-252000">
                  <a:lnSpc>
                    <a:spcPct val="120000"/>
                  </a:lnSpc>
                  <a:spcBef>
                    <a:spcPts val="500"/>
                  </a:spcBef>
                  <a:buAutoNum type="arabicPeriod"/>
                </a:pPr>
                <a:r>
                  <a:rPr lang="en-US" altLang="zh-CN" sz="1600" dirty="0">
                    <a:latin typeface="Times New Roman" panose="02020603050405020304" pitchFamily="18" charset="0"/>
                    <a:cs typeface="Times New Roman" panose="02020603050405020304" pitchFamily="18" charset="0"/>
                  </a:rPr>
                  <a:t>Evaluates the execution complexity of each step </a:t>
                </a:r>
                <a14:m>
                  <m:oMath xmlns:m="http://schemas.openxmlformats.org/officeDocument/2006/math">
                    <m:sSub>
                      <m:sSubPr>
                        <m:ctrlPr>
                          <a:rPr lang="en-US" altLang="zh-CN" sz="1600" b="0" i="1" dirty="0" smtClean="0">
                            <a:latin typeface="Cambria Math" panose="02040503050406030204" pitchFamily="18" charset="0"/>
                            <a:cs typeface="Times New Roman" panose="02020603050405020304" pitchFamily="18" charset="0"/>
                          </a:rPr>
                        </m:ctrlPr>
                      </m:sSubPr>
                      <m:e>
                        <m:r>
                          <a:rPr lang="en-US" altLang="zh-CN" sz="1600" i="1" dirty="0" smtClean="0">
                            <a:latin typeface="Cambria Math" panose="02040503050406030204" pitchFamily="18" charset="0"/>
                            <a:cs typeface="Times New Roman" panose="02020603050405020304" pitchFamily="18" charset="0"/>
                          </a:rPr>
                          <m:t>𝑠</m:t>
                        </m:r>
                      </m:e>
                      <m:sub>
                        <m:r>
                          <a:rPr lang="en-US" altLang="zh-CN" sz="1600" i="1" dirty="0" smtClean="0">
                            <a:latin typeface="Cambria Math" panose="02040503050406030204" pitchFamily="18" charset="0"/>
                            <a:cs typeface="Times New Roman" panose="02020603050405020304" pitchFamily="18" charset="0"/>
                          </a:rPr>
                          <m:t>𝑖</m:t>
                        </m:r>
                      </m:sub>
                    </m:sSub>
                  </m:oMath>
                </a14:m>
                <a:r>
                  <a:rPr lang="en-US" altLang="zh-CN" sz="1600" dirty="0">
                    <a:latin typeface="Times New Roman" panose="02020603050405020304" pitchFamily="18" charset="0"/>
                    <a:cs typeface="Times New Roman" panose="02020603050405020304" pitchFamily="18" charset="0"/>
                  </a:rPr>
                  <a:t>.</a:t>
                </a:r>
              </a:p>
              <a:p>
                <a:pPr marL="342900" indent="-252000">
                  <a:lnSpc>
                    <a:spcPct val="120000"/>
                  </a:lnSpc>
                  <a:spcBef>
                    <a:spcPts val="500"/>
                  </a:spcBef>
                  <a:buAutoNum type="arabicPeriod"/>
                </a:pPr>
                <a:r>
                  <a:rPr lang="en-US" altLang="zh-CN" sz="1600" dirty="0">
                    <a:latin typeface="Times New Roman" panose="02020603050405020304" pitchFamily="18" charset="0"/>
                    <a:cs typeface="Times New Roman" panose="02020603050405020304" pitchFamily="18" charset="0"/>
                  </a:rPr>
                  <a:t>If a step matches an existing process template, it is handed over to </a:t>
                </a:r>
                <a:r>
                  <a:rPr lang="en-US" altLang="zh-CN" sz="1600" i="1" dirty="0">
                    <a:latin typeface="Times New Roman" panose="02020603050405020304" pitchFamily="18" charset="0"/>
                    <a:cs typeface="Times New Roman" panose="02020603050405020304" pitchFamily="18" charset="0"/>
                  </a:rPr>
                  <a:t>Brancher</a:t>
                </a:r>
                <a:r>
                  <a:rPr lang="en-US" altLang="zh-CN" sz="1600" dirty="0">
                    <a:latin typeface="Times New Roman" panose="02020603050405020304" pitchFamily="18" charset="0"/>
                    <a:cs typeface="Times New Roman" panose="02020603050405020304" pitchFamily="18" charset="0"/>
                  </a:rPr>
                  <a:t>. </a:t>
                </a:r>
              </a:p>
              <a:p>
                <a:pPr marL="342900" indent="-252000">
                  <a:lnSpc>
                    <a:spcPct val="120000"/>
                  </a:lnSpc>
                  <a:spcBef>
                    <a:spcPts val="500"/>
                  </a:spcBef>
                  <a:buAutoNum type="arabicPeriod"/>
                </a:pPr>
                <a:r>
                  <a:rPr lang="en-US" altLang="zh-CN" sz="1600" dirty="0">
                    <a:latin typeface="Times New Roman" panose="02020603050405020304" pitchFamily="18" charset="0"/>
                    <a:cs typeface="Times New Roman" panose="02020603050405020304" pitchFamily="18" charset="0"/>
                  </a:rPr>
                  <a:t>Otherwise, the system evaluates the implementation difficulty of the step to decide whether a new branch should still be created.</a:t>
                </a:r>
              </a:p>
              <a:p>
                <a:pPr marL="342900" indent="-252000">
                  <a:lnSpc>
                    <a:spcPct val="120000"/>
                  </a:lnSpc>
                  <a:spcBef>
                    <a:spcPts val="500"/>
                  </a:spcBef>
                  <a:buAutoNum type="arabicPeriod"/>
                </a:pPr>
                <a:r>
                  <a:rPr lang="en-US" altLang="zh-CN" sz="1600" dirty="0">
                    <a:latin typeface="Times New Roman" panose="02020603050405020304" pitchFamily="18" charset="0"/>
                    <a:cs typeface="Times New Roman" panose="02020603050405020304" pitchFamily="18" charset="0"/>
                  </a:rPr>
                  <a:t>Once all tasks within a branch are completed, or when a selector step finishes execution, the system assigns a confidence score </a:t>
                </a:r>
                <a14:m>
                  <m:oMath xmlns:m="http://schemas.openxmlformats.org/officeDocument/2006/math">
                    <m:r>
                      <a:rPr lang="en-US" altLang="zh-CN" sz="1600" i="1" dirty="0" smtClean="0">
                        <a:latin typeface="Cambria Math" panose="02040503050406030204" pitchFamily="18" charset="0"/>
                        <a:cs typeface="Times New Roman" panose="02020603050405020304" pitchFamily="18" charset="0"/>
                      </a:rPr>
                      <m:t>𝑐</m:t>
                    </m:r>
                  </m:oMath>
                </a14:m>
                <a:r>
                  <a:rPr lang="en-US" altLang="zh-CN" sz="1600" dirty="0">
                    <a:latin typeface="Times New Roman" panose="02020603050405020304" pitchFamily="18" charset="0"/>
                    <a:cs typeface="Times New Roman" panose="02020603050405020304" pitchFamily="18" charset="0"/>
                  </a:rPr>
                  <a:t> and compares it against a threshold </a:t>
                </a:r>
                <a14:m>
                  <m:oMath xmlns:m="http://schemas.openxmlformats.org/officeDocument/2006/math">
                    <m:r>
                      <a:rPr lang="en-US" altLang="zh-CN" sz="1600" i="1" dirty="0" smtClean="0">
                        <a:latin typeface="Cambria Math" panose="02040503050406030204" pitchFamily="18" charset="0"/>
                        <a:cs typeface="Times New Roman" panose="02020603050405020304" pitchFamily="18" charset="0"/>
                      </a:rPr>
                      <m:t>𝜃</m:t>
                    </m:r>
                  </m:oMath>
                </a14:m>
                <a:r>
                  <a:rPr lang="en-US" altLang="zh-CN" sz="1600" dirty="0">
                    <a:latin typeface="Times New Roman" panose="02020603050405020304" pitchFamily="18" charset="0"/>
                    <a:cs typeface="Times New Roman" panose="02020603050405020304" pitchFamily="18" charset="0"/>
                  </a:rPr>
                  <a:t>.</a:t>
                </a:r>
              </a:p>
              <a:p>
                <a:pPr marL="342900" indent="-252000">
                  <a:lnSpc>
                    <a:spcPct val="120000"/>
                  </a:lnSpc>
                  <a:spcBef>
                    <a:spcPts val="500"/>
                  </a:spcBef>
                  <a:buAutoNum type="arabicPeriod"/>
                </a:pPr>
                <a:r>
                  <a:rPr lang="en-US" altLang="zh-CN" sz="1600" dirty="0">
                    <a:latin typeface="Times New Roman" panose="02020603050405020304" pitchFamily="18" charset="0"/>
                    <a:cs typeface="Times New Roman" panose="02020603050405020304" pitchFamily="18" charset="0"/>
                  </a:rPr>
                  <a:t>If </a:t>
                </a:r>
                <a14:m>
                  <m:oMath xmlns:m="http://schemas.openxmlformats.org/officeDocument/2006/math">
                    <m:r>
                      <a:rPr lang="en-US" altLang="zh-CN" sz="1600" i="1" dirty="0" smtClean="0">
                        <a:latin typeface="Cambria Math" panose="02040503050406030204" pitchFamily="18" charset="0"/>
                        <a:cs typeface="Times New Roman" panose="02020603050405020304" pitchFamily="18" charset="0"/>
                      </a:rPr>
                      <m:t>𝑐</m:t>
                    </m:r>
                    <m:r>
                      <a:rPr lang="en-US" altLang="zh-CN" sz="1600" i="1" dirty="0" smtClean="0">
                        <a:latin typeface="Cambria Math" panose="02040503050406030204" pitchFamily="18" charset="0"/>
                        <a:cs typeface="Times New Roman" panose="02020603050405020304" pitchFamily="18" charset="0"/>
                      </a:rPr>
                      <m:t> ≤ </m:t>
                    </m:r>
                    <m:r>
                      <a:rPr lang="en-US" altLang="zh-CN" sz="1600" i="1" dirty="0" smtClean="0">
                        <a:latin typeface="Cambria Math" panose="02040503050406030204" pitchFamily="18" charset="0"/>
                        <a:cs typeface="Times New Roman" panose="02020603050405020304" pitchFamily="18" charset="0"/>
                      </a:rPr>
                      <m:t>𝜃</m:t>
                    </m:r>
                  </m:oMath>
                </a14:m>
                <a:r>
                  <a:rPr lang="en-US" altLang="zh-CN" sz="1600" dirty="0">
                    <a:latin typeface="Times New Roman" panose="02020603050405020304" pitchFamily="18" charset="0"/>
                    <a:cs typeface="Times New Roman" panose="02020603050405020304" pitchFamily="18" charset="0"/>
                  </a:rPr>
                  <a:t>, the current information cannot complete the task.</a:t>
                </a:r>
              </a:p>
              <a:p>
                <a:pPr marL="342900" indent="-252000">
                  <a:lnSpc>
                    <a:spcPct val="120000"/>
                  </a:lnSpc>
                  <a:spcBef>
                    <a:spcPts val="500"/>
                  </a:spcBef>
                  <a:buAutoNum type="arabicPeriod"/>
                </a:pPr>
                <a:r>
                  <a:rPr lang="en-US" altLang="zh-CN" sz="1600" dirty="0">
                    <a:latin typeface="Times New Roman" panose="02020603050405020304" pitchFamily="18" charset="0"/>
                    <a:cs typeface="Times New Roman" panose="02020603050405020304" pitchFamily="18" charset="0"/>
                  </a:rPr>
                  <a:t>In such cases, </a:t>
                </a:r>
                <a:r>
                  <a:rPr lang="en-US" altLang="zh-CN" sz="1600" i="1" dirty="0">
                    <a:latin typeface="Times New Roman" panose="02020603050405020304" pitchFamily="18" charset="0"/>
                    <a:cs typeface="Times New Roman" panose="02020603050405020304" pitchFamily="18" charset="0"/>
                  </a:rPr>
                  <a:t>Coordinator</a:t>
                </a:r>
                <a:r>
                  <a:rPr lang="en-US" altLang="zh-CN" sz="1600" dirty="0">
                    <a:latin typeface="Times New Roman" panose="02020603050405020304" pitchFamily="18" charset="0"/>
                    <a:cs typeface="Times New Roman" panose="02020603050405020304" pitchFamily="18" charset="0"/>
                  </a:rPr>
                  <a:t> re-invokes </a:t>
                </a:r>
                <a:r>
                  <a:rPr lang="en-US" altLang="zh-CN" sz="1600" i="1" dirty="0">
                    <a:latin typeface="Times New Roman" panose="02020603050405020304" pitchFamily="18" charset="0"/>
                    <a:cs typeface="Times New Roman" panose="02020603050405020304" pitchFamily="18" charset="0"/>
                  </a:rPr>
                  <a:t>Planner</a:t>
                </a:r>
                <a:r>
                  <a:rPr lang="en-US" altLang="zh-CN" sz="1600" dirty="0">
                    <a:latin typeface="Times New Roman" panose="02020603050405020304" pitchFamily="18" charset="0"/>
                    <a:cs typeface="Times New Roman" panose="02020603050405020304" pitchFamily="18" charset="0"/>
                  </a:rPr>
                  <a:t> to insert supplementary steps or replan the current execution trajectory.</a:t>
                </a:r>
              </a:p>
            </p:txBody>
          </p:sp>
        </mc:Choice>
        <mc:Fallback xmlns="">
          <p:sp>
            <p:nvSpPr>
              <p:cNvPr id="2" name="文本框 1">
                <a:extLst>
                  <a:ext uri="{FF2B5EF4-FFF2-40B4-BE49-F238E27FC236}">
                    <a16:creationId xmlns:a16="http://schemas.microsoft.com/office/drawing/2014/main" id="{4B34A8DF-7DA5-67B2-69CE-989B76E0CA25}"/>
                  </a:ext>
                </a:extLst>
              </p:cNvPr>
              <p:cNvSpPr txBox="1">
                <a:spLocks noRot="1" noChangeAspect="1" noMove="1" noResize="1" noEditPoints="1" noAdjustHandles="1" noChangeArrowheads="1" noChangeShapeType="1" noTextEdit="1"/>
              </p:cNvSpPr>
              <p:nvPr/>
            </p:nvSpPr>
            <p:spPr>
              <a:xfrm>
                <a:off x="752476" y="957589"/>
                <a:ext cx="6914902" cy="3701398"/>
              </a:xfrm>
              <a:prstGeom prst="rect">
                <a:avLst/>
              </a:prstGeom>
              <a:blipFill>
                <a:blip r:embed="rId3"/>
                <a:stretch>
                  <a:fillRect r="-88" b="-131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929553076"/>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4DC442-AC96-2C12-5A84-95DA855F33BA}"/>
            </a:ext>
          </a:extLst>
        </p:cNvPr>
        <p:cNvGrpSpPr/>
        <p:nvPr/>
      </p:nvGrpSpPr>
      <p:grpSpPr>
        <a:xfrm>
          <a:off x="0" y="0"/>
          <a:ext cx="0" cy="0"/>
          <a:chOff x="0" y="0"/>
          <a:chExt cx="0" cy="0"/>
        </a:xfrm>
      </p:grpSpPr>
      <p:sp>
        <p:nvSpPr>
          <p:cNvPr id="15" name="矩形 14">
            <a:extLst>
              <a:ext uri="{FF2B5EF4-FFF2-40B4-BE49-F238E27FC236}">
                <a16:creationId xmlns:a16="http://schemas.microsoft.com/office/drawing/2014/main" id="{F3B0EED6-9BE6-DE0F-2B29-121A54C78C88}"/>
              </a:ext>
            </a:extLst>
          </p:cNvPr>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 name="矩形 15">
            <a:extLst>
              <a:ext uri="{FF2B5EF4-FFF2-40B4-BE49-F238E27FC236}">
                <a16:creationId xmlns:a16="http://schemas.microsoft.com/office/drawing/2014/main" id="{DA8A3D2D-5B7C-25A7-F493-835BA7FF7F83}"/>
              </a:ext>
            </a:extLst>
          </p:cNvPr>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7" name="矩形 16">
            <a:extLst>
              <a:ext uri="{FF2B5EF4-FFF2-40B4-BE49-F238E27FC236}">
                <a16:creationId xmlns:a16="http://schemas.microsoft.com/office/drawing/2014/main" id="{C48BB987-D590-D7DE-CDB3-4E454C404C64}"/>
              </a:ext>
            </a:extLst>
          </p:cNvPr>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8" name="矩形 17">
            <a:extLst>
              <a:ext uri="{FF2B5EF4-FFF2-40B4-BE49-F238E27FC236}">
                <a16:creationId xmlns:a16="http://schemas.microsoft.com/office/drawing/2014/main" id="{AE43E428-626E-F0CC-3C0B-220C731CFE91}"/>
              </a:ext>
            </a:extLst>
          </p:cNvPr>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26" name="文本框 25">
            <a:extLst>
              <a:ext uri="{FF2B5EF4-FFF2-40B4-BE49-F238E27FC236}">
                <a16:creationId xmlns:a16="http://schemas.microsoft.com/office/drawing/2014/main" id="{177BF52A-6A47-65FF-DA60-CAD39CA45185}"/>
              </a:ext>
            </a:extLst>
          </p:cNvPr>
          <p:cNvSpPr txBox="1"/>
          <p:nvPr/>
        </p:nvSpPr>
        <p:spPr bwMode="auto">
          <a:xfrm>
            <a:off x="813585" y="287917"/>
            <a:ext cx="5730089"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dirty="0">
                <a:solidFill>
                  <a:srgbClr val="E5DEDB">
                    <a:lumMod val="10000"/>
                    <a:alpha val="85000"/>
                  </a:srgbClr>
                </a:solidFill>
                <a:latin typeface="Times New Roman" panose="02020603050405020304" pitchFamily="18" charset="0"/>
                <a:cs typeface="Times New Roman" panose="02020603050405020304" pitchFamily="18" charset="0"/>
              </a:rPr>
              <a:t>Reflection </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7AFD9FC8-03B8-9B78-C6A6-079777E075C3}"/>
                  </a:ext>
                </a:extLst>
              </p:cNvPr>
              <p:cNvSpPr txBox="1"/>
              <p:nvPr/>
            </p:nvSpPr>
            <p:spPr>
              <a:xfrm>
                <a:off x="813585" y="957092"/>
                <a:ext cx="6914902" cy="1967590"/>
              </a:xfrm>
              <a:prstGeom prst="rect">
                <a:avLst/>
              </a:prstGeom>
              <a:noFill/>
            </p:spPr>
            <p:txBody>
              <a:bodyPr wrap="square">
                <a:spAutoFit/>
              </a:bodyPr>
              <a:lstStyle/>
              <a:p>
                <a:pPr>
                  <a:lnSpc>
                    <a:spcPct val="120000"/>
                  </a:lnSpc>
                  <a:spcBef>
                    <a:spcPts val="500"/>
                  </a:spcBef>
                </a:pPr>
                <a:r>
                  <a:rPr lang="en-US" altLang="zh-CN" sz="1600" dirty="0">
                    <a:latin typeface="Times New Roman" panose="02020603050405020304" pitchFamily="18" charset="0"/>
                    <a:cs typeface="Times New Roman" panose="02020603050405020304" pitchFamily="18" charset="0"/>
                  </a:rPr>
                  <a:t>Upon completing task </a:t>
                </a:r>
                <a14:m>
                  <m:oMath xmlns:m="http://schemas.openxmlformats.org/officeDocument/2006/math">
                    <m:r>
                      <a:rPr lang="en-US" altLang="zh-CN" sz="1600" i="1" dirty="0" smtClean="0">
                        <a:latin typeface="Cambria Math" panose="02040503050406030204" pitchFamily="18" charset="0"/>
                        <a:cs typeface="Times New Roman" panose="02020603050405020304" pitchFamily="18" charset="0"/>
                      </a:rPr>
                      <m:t>𝑇</m:t>
                    </m:r>
                  </m:oMath>
                </a14:m>
                <a:r>
                  <a:rPr lang="en-US" altLang="zh-CN" sz="1600" dirty="0">
                    <a:latin typeface="Times New Roman" panose="02020603050405020304" pitchFamily="18" charset="0"/>
                    <a:cs typeface="Times New Roman" panose="02020603050405020304" pitchFamily="18" charset="0"/>
                  </a:rPr>
                  <a:t> , the system performs reflective analysis based on the execution outcome. </a:t>
                </a:r>
              </a:p>
              <a:p>
                <a:pPr>
                  <a:lnSpc>
                    <a:spcPct val="120000"/>
                  </a:lnSpc>
                  <a:spcBef>
                    <a:spcPts val="500"/>
                  </a:spcBef>
                </a:pPr>
                <a:r>
                  <a:rPr lang="en-US" altLang="zh-CN" sz="1600" dirty="0">
                    <a:latin typeface="Times New Roman" panose="02020603050405020304" pitchFamily="18" charset="0"/>
                    <a:cs typeface="Times New Roman" panose="02020603050405020304" pitchFamily="18" charset="0"/>
                  </a:rPr>
                  <a:t>In the case of failure, it conducts a post-hoc examination of both the result and the reasoning trajectory. </a:t>
                </a:r>
              </a:p>
              <a:p>
                <a:pPr>
                  <a:lnSpc>
                    <a:spcPct val="120000"/>
                  </a:lnSpc>
                  <a:spcBef>
                    <a:spcPts val="500"/>
                  </a:spcBef>
                </a:pPr>
                <a:r>
                  <a:rPr lang="en-US" altLang="zh-CN" sz="1600" dirty="0">
                    <a:latin typeface="Times New Roman" panose="02020603050405020304" pitchFamily="18" charset="0"/>
                    <a:cs typeface="Times New Roman" panose="02020603050405020304" pitchFamily="18" charset="0"/>
                  </a:rPr>
                  <a:t>It archives the extracted insights into the memory </a:t>
                </a:r>
                <a14:m>
                  <m:oMath xmlns:m="http://schemas.openxmlformats.org/officeDocument/2006/math">
                    <m:sSub>
                      <m:sSubPr>
                        <m:ctrlPr>
                          <a:rPr lang="en-US" altLang="zh-CN" sz="1600" b="0" i="1" dirty="0" smtClean="0">
                            <a:latin typeface="Cambria Math" panose="02040503050406030204" pitchFamily="18" charset="0"/>
                            <a:cs typeface="Times New Roman" panose="02020603050405020304" pitchFamily="18" charset="0"/>
                          </a:rPr>
                        </m:ctrlPr>
                      </m:sSubPr>
                      <m:e>
                        <m:r>
                          <a:rPr lang="en-US" altLang="zh-CN" sz="1600" i="1" dirty="0" smtClean="0">
                            <a:latin typeface="Cambria Math" panose="02040503050406030204" pitchFamily="18" charset="0"/>
                            <a:cs typeface="Times New Roman" panose="02020603050405020304" pitchFamily="18" charset="0"/>
                          </a:rPr>
                          <m:t>𝑀</m:t>
                        </m:r>
                      </m:e>
                      <m:sub>
                        <m:r>
                          <a:rPr lang="en-US" altLang="zh-CN" sz="1600" i="1" dirty="0" smtClean="0">
                            <a:latin typeface="Cambria Math" panose="02040503050406030204" pitchFamily="18" charset="0"/>
                            <a:cs typeface="Times New Roman" panose="02020603050405020304" pitchFamily="18" charset="0"/>
                          </a:rPr>
                          <m:t>𝑟</m:t>
                        </m:r>
                      </m:sub>
                    </m:sSub>
                  </m:oMath>
                </a14:m>
                <a:r>
                  <a:rPr lang="en-US" altLang="zh-CN" sz="1600" dirty="0">
                    <a:latin typeface="Times New Roman" panose="02020603050405020304" pitchFamily="18" charset="0"/>
                    <a:cs typeface="Times New Roman" panose="02020603050405020304" pitchFamily="18" charset="0"/>
                  </a:rPr>
                  <a:t>, as a knowledge substrate for subsequent RCA processes and strategy refinement.</a:t>
                </a:r>
              </a:p>
            </p:txBody>
          </p:sp>
        </mc:Choice>
        <mc:Fallback xmlns="">
          <p:sp>
            <p:nvSpPr>
              <p:cNvPr id="5" name="文本框 4">
                <a:extLst>
                  <a:ext uri="{FF2B5EF4-FFF2-40B4-BE49-F238E27FC236}">
                    <a16:creationId xmlns:a16="http://schemas.microsoft.com/office/drawing/2014/main" id="{7AFD9FC8-03B8-9B78-C6A6-079777E075C3}"/>
                  </a:ext>
                </a:extLst>
              </p:cNvPr>
              <p:cNvSpPr txBox="1">
                <a:spLocks noRot="1" noChangeAspect="1" noMove="1" noResize="1" noEditPoints="1" noAdjustHandles="1" noChangeArrowheads="1" noChangeShapeType="1" noTextEdit="1"/>
              </p:cNvSpPr>
              <p:nvPr/>
            </p:nvSpPr>
            <p:spPr>
              <a:xfrm>
                <a:off x="813585" y="957092"/>
                <a:ext cx="6914902" cy="1967590"/>
              </a:xfrm>
              <a:prstGeom prst="rect">
                <a:avLst/>
              </a:prstGeom>
              <a:blipFill>
                <a:blip r:embed="rId3"/>
                <a:stretch>
                  <a:fillRect l="-441" r="-793" b="-309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71380128"/>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1D0DF-6816-3AF1-8A00-DBB6EC7AC4CE}"/>
            </a:ext>
          </a:extLst>
        </p:cNvPr>
        <p:cNvGrpSpPr/>
        <p:nvPr/>
      </p:nvGrpSpPr>
      <p:grpSpPr>
        <a:xfrm>
          <a:off x="0" y="0"/>
          <a:ext cx="0" cy="0"/>
          <a:chOff x="0" y="0"/>
          <a:chExt cx="0" cy="0"/>
        </a:xfrm>
      </p:grpSpPr>
      <p:sp>
        <p:nvSpPr>
          <p:cNvPr id="15" name="矩形 14">
            <a:extLst>
              <a:ext uri="{FF2B5EF4-FFF2-40B4-BE49-F238E27FC236}">
                <a16:creationId xmlns:a16="http://schemas.microsoft.com/office/drawing/2014/main" id="{1FF1C136-569F-9ED6-D3C1-7C5B383E6A9D}"/>
              </a:ext>
            </a:extLst>
          </p:cNvPr>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 name="矩形 15">
            <a:extLst>
              <a:ext uri="{FF2B5EF4-FFF2-40B4-BE49-F238E27FC236}">
                <a16:creationId xmlns:a16="http://schemas.microsoft.com/office/drawing/2014/main" id="{D31CF28A-BAE4-351C-6E9F-04F4B293DB7C}"/>
              </a:ext>
            </a:extLst>
          </p:cNvPr>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7" name="矩形 16">
            <a:extLst>
              <a:ext uri="{FF2B5EF4-FFF2-40B4-BE49-F238E27FC236}">
                <a16:creationId xmlns:a16="http://schemas.microsoft.com/office/drawing/2014/main" id="{E80027BA-FB74-DBE4-914E-6BF4F610D97F}"/>
              </a:ext>
            </a:extLst>
          </p:cNvPr>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8" name="矩形 17">
            <a:extLst>
              <a:ext uri="{FF2B5EF4-FFF2-40B4-BE49-F238E27FC236}">
                <a16:creationId xmlns:a16="http://schemas.microsoft.com/office/drawing/2014/main" id="{812BCA6F-C6E3-D85B-9934-6FBA6105ABEF}"/>
              </a:ext>
            </a:extLst>
          </p:cNvPr>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26" name="文本框 25">
            <a:extLst>
              <a:ext uri="{FF2B5EF4-FFF2-40B4-BE49-F238E27FC236}">
                <a16:creationId xmlns:a16="http://schemas.microsoft.com/office/drawing/2014/main" id="{3E65587F-5234-593C-10F7-7EDA4D5B6CE9}"/>
              </a:ext>
            </a:extLst>
          </p:cNvPr>
          <p:cNvSpPr txBox="1"/>
          <p:nvPr/>
        </p:nvSpPr>
        <p:spPr bwMode="auto">
          <a:xfrm>
            <a:off x="813585" y="287917"/>
            <a:ext cx="5222884"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dirty="0">
                <a:solidFill>
                  <a:srgbClr val="E5DEDB">
                    <a:lumMod val="10000"/>
                    <a:alpha val="85000"/>
                  </a:srgbClr>
                </a:solidFill>
                <a:latin typeface="Times New Roman" panose="02020603050405020304" pitchFamily="18" charset="0"/>
                <a:cs typeface="Times New Roman" panose="02020603050405020304" pitchFamily="18" charset="0"/>
              </a:rPr>
              <a:t>Dynamic Task Execution</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2" name="文本框 1">
            <a:extLst>
              <a:ext uri="{FF2B5EF4-FFF2-40B4-BE49-F238E27FC236}">
                <a16:creationId xmlns:a16="http://schemas.microsoft.com/office/drawing/2014/main" id="{3D6876FD-7135-E20E-C4FC-E99F0DA3D319}"/>
              </a:ext>
            </a:extLst>
          </p:cNvPr>
          <p:cNvSpPr txBox="1"/>
          <p:nvPr/>
        </p:nvSpPr>
        <p:spPr>
          <a:xfrm>
            <a:off x="813585" y="814688"/>
            <a:ext cx="6914902" cy="952953"/>
          </a:xfrm>
          <a:prstGeom prst="rect">
            <a:avLst/>
          </a:prstGeom>
          <a:noFill/>
        </p:spPr>
        <p:txBody>
          <a:bodyPr wrap="square">
            <a:spAutoFit/>
          </a:bodyPr>
          <a:lstStyle/>
          <a:p>
            <a:pPr>
              <a:lnSpc>
                <a:spcPct val="120000"/>
              </a:lnSpc>
              <a:spcBef>
                <a:spcPts val="500"/>
              </a:spcBef>
            </a:pPr>
            <a:r>
              <a:rPr lang="en-US" altLang="zh-CN" sz="1600" dirty="0">
                <a:latin typeface="Times New Roman" panose="02020603050405020304" pitchFamily="18" charset="0"/>
                <a:cs typeface="Times New Roman" panose="02020603050405020304" pitchFamily="18" charset="0"/>
              </a:rPr>
              <a:t>In real-world scenarios such as the anomaly detection tasks in </a:t>
            </a:r>
            <a:r>
              <a:rPr lang="en-US" altLang="zh-CN" sz="1600" dirty="0" err="1">
                <a:latin typeface="Times New Roman" panose="02020603050405020304" pitchFamily="18" charset="0"/>
                <a:cs typeface="Times New Roman" panose="02020603050405020304" pitchFamily="18" charset="0"/>
              </a:rPr>
              <a:t>OpenRCA</a:t>
            </a:r>
            <a:r>
              <a:rPr lang="en-US" altLang="zh-CN" sz="1600" dirty="0">
                <a:latin typeface="Times New Roman" panose="02020603050405020304" pitchFamily="18" charset="0"/>
                <a:cs typeface="Times New Roman" panose="02020603050405020304" pitchFamily="18" charset="0"/>
              </a:rPr>
              <a:t>, the combined volume of logs, metrics, and traces can exceed 68GB, far beyond the context limits of current mainstream LLMs.</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6E5ED813-D6F4-3EDA-3078-0F98936EC911}"/>
                  </a:ext>
                </a:extLst>
              </p:cNvPr>
              <p:cNvSpPr txBox="1"/>
              <p:nvPr/>
            </p:nvSpPr>
            <p:spPr>
              <a:xfrm>
                <a:off x="813585" y="2800169"/>
                <a:ext cx="6914902" cy="1967590"/>
              </a:xfrm>
              <a:prstGeom prst="rect">
                <a:avLst/>
              </a:prstGeom>
              <a:noFill/>
            </p:spPr>
            <p:txBody>
              <a:bodyPr wrap="square">
                <a:spAutoFit/>
              </a:bodyPr>
              <a:lstStyle/>
              <a:p>
                <a:pPr marL="285750" indent="-285750">
                  <a:lnSpc>
                    <a:spcPct val="120000"/>
                  </a:lnSpc>
                  <a:spcBef>
                    <a:spcPts val="500"/>
                  </a:spcBef>
                  <a:buFont typeface="Arial" panose="020B0604020202020204" pitchFamily="34" charset="0"/>
                  <a:buChar char="•"/>
                </a:pPr>
                <a:r>
                  <a:rPr lang="en-US" altLang="zh-CN" sz="1600" dirty="0">
                    <a:latin typeface="Times New Roman" panose="02020603050405020304" pitchFamily="18" charset="0"/>
                    <a:cs typeface="Times New Roman" panose="02020603050405020304" pitchFamily="18" charset="0"/>
                  </a:rPr>
                  <a:t>The system leverages the </a:t>
                </a:r>
                <a:r>
                  <a:rPr lang="en-US" altLang="zh-CN" sz="1600" i="1" dirty="0">
                    <a:latin typeface="Times New Roman" panose="02020603050405020304" pitchFamily="18" charset="0"/>
                    <a:cs typeface="Times New Roman" panose="02020603050405020304" pitchFamily="18" charset="0"/>
                  </a:rPr>
                  <a:t>Coordinator</a:t>
                </a:r>
                <a:r>
                  <a:rPr lang="en-US" altLang="zh-CN" sz="1600" dirty="0">
                    <a:latin typeface="Times New Roman" panose="02020603050405020304" pitchFamily="18" charset="0"/>
                    <a:cs typeface="Times New Roman" panose="02020603050405020304" pitchFamily="18" charset="0"/>
                  </a:rPr>
                  <a:t> to retrieve appropriate analytical tools </a:t>
                </a:r>
                <a14:m>
                  <m:oMath xmlns:m="http://schemas.openxmlformats.org/officeDocument/2006/math">
                    <m:sSub>
                      <m:sSubPr>
                        <m:ctrlPr>
                          <a:rPr lang="en-US" altLang="zh-CN" sz="1600" b="0" i="1" dirty="0" smtClean="0">
                            <a:latin typeface="Cambria Math" panose="02040503050406030204" pitchFamily="18" charset="0"/>
                            <a:cs typeface="Times New Roman" panose="02020603050405020304" pitchFamily="18" charset="0"/>
                          </a:rPr>
                        </m:ctrlPr>
                      </m:sSubPr>
                      <m:e>
                        <m:r>
                          <a:rPr lang="en-US" altLang="zh-CN" sz="1600" i="1" dirty="0" smtClean="0">
                            <a:latin typeface="Cambria Math" panose="02040503050406030204" pitchFamily="18" charset="0"/>
                            <a:cs typeface="Times New Roman" panose="02020603050405020304" pitchFamily="18" charset="0"/>
                          </a:rPr>
                          <m:t>𝐾</m:t>
                        </m:r>
                      </m:e>
                      <m:sub>
                        <m:r>
                          <a:rPr lang="en-US" altLang="zh-CN" sz="1600" i="1" dirty="0" smtClean="0">
                            <a:latin typeface="Cambria Math" panose="02040503050406030204" pitchFamily="18" charset="0"/>
                            <a:cs typeface="Times New Roman" panose="02020603050405020304" pitchFamily="18" charset="0"/>
                          </a:rPr>
                          <m:t>𝑡</m:t>
                        </m:r>
                      </m:sub>
                    </m:sSub>
                  </m:oMath>
                </a14:m>
                <a:r>
                  <a:rPr lang="en-US" altLang="zh-CN" sz="1600" dirty="0">
                    <a:latin typeface="Times New Roman" panose="02020603050405020304" pitchFamily="18" charset="0"/>
                    <a:cs typeface="Times New Roman" panose="02020603050405020304" pitchFamily="18" charset="0"/>
                  </a:rPr>
                  <a:t> based on the current reasoning plan S and task objective </a:t>
                </a:r>
                <a14:m>
                  <m:oMath xmlns:m="http://schemas.openxmlformats.org/officeDocument/2006/math">
                    <m:r>
                      <a:rPr lang="en-US" altLang="zh-CN" sz="1600" i="1" dirty="0" smtClean="0">
                        <a:latin typeface="Cambria Math" panose="02040503050406030204" pitchFamily="18" charset="0"/>
                        <a:cs typeface="Times New Roman" panose="02020603050405020304" pitchFamily="18" charset="0"/>
                      </a:rPr>
                      <m:t>𝑇</m:t>
                    </m:r>
                  </m:oMath>
                </a14:m>
                <a:r>
                  <a:rPr lang="en-US" altLang="zh-CN" sz="1600" dirty="0">
                    <a:latin typeface="Times New Roman" panose="02020603050405020304" pitchFamily="18" charset="0"/>
                    <a:cs typeface="Times New Roman" panose="02020603050405020304" pitchFamily="18" charset="0"/>
                  </a:rPr>
                  <a:t>.</a:t>
                </a:r>
              </a:p>
              <a:p>
                <a:pPr marL="285750" indent="-285750">
                  <a:lnSpc>
                    <a:spcPct val="120000"/>
                  </a:lnSpc>
                  <a:spcBef>
                    <a:spcPts val="500"/>
                  </a:spcBef>
                  <a:buFont typeface="Arial" panose="020B0604020202020204" pitchFamily="34" charset="0"/>
                  <a:buChar char="•"/>
                </a:pPr>
                <a:r>
                  <a:rPr lang="en-US" altLang="zh-CN" sz="1600" dirty="0">
                    <a:latin typeface="Times New Roman" panose="02020603050405020304" pitchFamily="18" charset="0"/>
                    <a:cs typeface="Times New Roman" panose="02020603050405020304" pitchFamily="18" charset="0"/>
                  </a:rPr>
                  <a:t>The system invokes LLM to automatically generate executable analytical code if the required tool is not in the predefined toolset.</a:t>
                </a:r>
              </a:p>
              <a:p>
                <a:pPr marL="285750" indent="-285750">
                  <a:lnSpc>
                    <a:spcPct val="120000"/>
                  </a:lnSpc>
                  <a:spcBef>
                    <a:spcPts val="500"/>
                  </a:spcBef>
                  <a:buFont typeface="Arial" panose="020B0604020202020204" pitchFamily="34" charset="0"/>
                  <a:buChar char="•"/>
                </a:pPr>
                <a:r>
                  <a:rPr lang="en-US" altLang="zh-CN" sz="1600" dirty="0">
                    <a:latin typeface="Times New Roman" panose="02020603050405020304" pitchFamily="18" charset="0"/>
                    <a:cs typeface="Times New Roman" panose="02020603050405020304" pitchFamily="18" charset="0"/>
                  </a:rPr>
                  <a:t>The </a:t>
                </a:r>
                <a:r>
                  <a:rPr lang="en-US" altLang="zh-CN" sz="1600" i="1" dirty="0">
                    <a:latin typeface="Times New Roman" panose="02020603050405020304" pitchFamily="18" charset="0"/>
                    <a:cs typeface="Times New Roman" panose="02020603050405020304" pitchFamily="18" charset="0"/>
                  </a:rPr>
                  <a:t>Executor</a:t>
                </a:r>
                <a:r>
                  <a:rPr lang="en-US" altLang="zh-CN" sz="1600" dirty="0">
                    <a:latin typeface="Times New Roman" panose="02020603050405020304" pitchFamily="18" charset="0"/>
                    <a:cs typeface="Times New Roman" panose="02020603050405020304" pitchFamily="18" charset="0"/>
                  </a:rPr>
                  <a:t> executes this code in an isolated Python environment to perform data analysis and anomaly detection.</a:t>
                </a:r>
              </a:p>
            </p:txBody>
          </p:sp>
        </mc:Choice>
        <mc:Fallback xmlns="">
          <p:sp>
            <p:nvSpPr>
              <p:cNvPr id="3" name="文本框 2">
                <a:extLst>
                  <a:ext uri="{FF2B5EF4-FFF2-40B4-BE49-F238E27FC236}">
                    <a16:creationId xmlns:a16="http://schemas.microsoft.com/office/drawing/2014/main" id="{6E5ED813-D6F4-3EDA-3078-0F98936EC911}"/>
                  </a:ext>
                </a:extLst>
              </p:cNvPr>
              <p:cNvSpPr txBox="1">
                <a:spLocks noRot="1" noChangeAspect="1" noMove="1" noResize="1" noEditPoints="1" noAdjustHandles="1" noChangeArrowheads="1" noChangeShapeType="1" noTextEdit="1"/>
              </p:cNvSpPr>
              <p:nvPr/>
            </p:nvSpPr>
            <p:spPr>
              <a:xfrm>
                <a:off x="813585" y="2800169"/>
                <a:ext cx="6914902" cy="1967590"/>
              </a:xfrm>
              <a:prstGeom prst="rect">
                <a:avLst/>
              </a:prstGeom>
              <a:blipFill>
                <a:blip r:embed="rId3"/>
                <a:stretch>
                  <a:fillRect l="-352" r="-705" b="-3096"/>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13C2A28E-FBF1-1A77-A0A6-C09F71C8BBF1}"/>
              </a:ext>
            </a:extLst>
          </p:cNvPr>
          <p:cNvSpPr txBox="1"/>
          <p:nvPr/>
        </p:nvSpPr>
        <p:spPr>
          <a:xfrm>
            <a:off x="813585" y="1914262"/>
            <a:ext cx="6914902" cy="657488"/>
          </a:xfrm>
          <a:prstGeom prst="rect">
            <a:avLst/>
          </a:prstGeom>
          <a:noFill/>
        </p:spPr>
        <p:txBody>
          <a:bodyPr wrap="square">
            <a:spAutoFit/>
          </a:bodyPr>
          <a:lstStyle/>
          <a:p>
            <a:pPr>
              <a:lnSpc>
                <a:spcPct val="120000"/>
              </a:lnSpc>
              <a:spcBef>
                <a:spcPts val="500"/>
              </a:spcBef>
            </a:pPr>
            <a:r>
              <a:rPr lang="en-US" altLang="zh-CN" sz="1600" dirty="0">
                <a:latin typeface="Times New Roman" panose="02020603050405020304" pitchFamily="18" charset="0"/>
                <a:cs typeface="Times New Roman" panose="02020603050405020304" pitchFamily="18" charset="0"/>
              </a:rPr>
              <a:t>Therefore, </a:t>
            </a:r>
            <a:r>
              <a:rPr lang="en-US" altLang="zh-CN" sz="1600" dirty="0" err="1">
                <a:latin typeface="Times New Roman" panose="02020603050405020304" pitchFamily="18" charset="0"/>
                <a:cs typeface="Times New Roman" panose="02020603050405020304" pitchFamily="18" charset="0"/>
              </a:rPr>
              <a:t>RCAFlow</a:t>
            </a:r>
            <a:r>
              <a:rPr lang="en-US" altLang="zh-CN" sz="1600" dirty="0">
                <a:latin typeface="Times New Roman" panose="02020603050405020304" pitchFamily="18" charset="0"/>
                <a:cs typeface="Times New Roman" panose="02020603050405020304" pitchFamily="18" charset="0"/>
              </a:rPr>
              <a:t> is designed to orchestrate external analytical tools for dynamic data processing. </a:t>
            </a:r>
          </a:p>
        </p:txBody>
      </p:sp>
    </p:spTree>
    <p:extLst>
      <p:ext uri="{BB962C8B-B14F-4D97-AF65-F5344CB8AC3E}">
        <p14:creationId xmlns:p14="http://schemas.microsoft.com/office/powerpoint/2010/main" val="2954431318"/>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89C5DE-87D6-4C56-CEE2-F32D7C4C8466}"/>
            </a:ext>
          </a:extLst>
        </p:cNvPr>
        <p:cNvGrpSpPr/>
        <p:nvPr/>
      </p:nvGrpSpPr>
      <p:grpSpPr>
        <a:xfrm>
          <a:off x="0" y="0"/>
          <a:ext cx="0" cy="0"/>
          <a:chOff x="0" y="0"/>
          <a:chExt cx="0" cy="0"/>
        </a:xfrm>
      </p:grpSpPr>
      <p:sp>
        <p:nvSpPr>
          <p:cNvPr id="15" name="矩形 14">
            <a:extLst>
              <a:ext uri="{FF2B5EF4-FFF2-40B4-BE49-F238E27FC236}">
                <a16:creationId xmlns:a16="http://schemas.microsoft.com/office/drawing/2014/main" id="{6026630F-904F-B084-A767-13F9E256215B}"/>
              </a:ext>
            </a:extLst>
          </p:cNvPr>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 name="矩形 15">
            <a:extLst>
              <a:ext uri="{FF2B5EF4-FFF2-40B4-BE49-F238E27FC236}">
                <a16:creationId xmlns:a16="http://schemas.microsoft.com/office/drawing/2014/main" id="{CFBE1B58-918E-2D65-75D7-806E0C88B601}"/>
              </a:ext>
            </a:extLst>
          </p:cNvPr>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7" name="矩形 16">
            <a:extLst>
              <a:ext uri="{FF2B5EF4-FFF2-40B4-BE49-F238E27FC236}">
                <a16:creationId xmlns:a16="http://schemas.microsoft.com/office/drawing/2014/main" id="{CD62A54C-1692-12D0-65A1-9553AA5E6C04}"/>
              </a:ext>
            </a:extLst>
          </p:cNvPr>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8" name="矩形 17">
            <a:extLst>
              <a:ext uri="{FF2B5EF4-FFF2-40B4-BE49-F238E27FC236}">
                <a16:creationId xmlns:a16="http://schemas.microsoft.com/office/drawing/2014/main" id="{F24E1770-C64C-E69F-F9B4-192D7EE9F6C4}"/>
              </a:ext>
            </a:extLst>
          </p:cNvPr>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26" name="文本框 25">
            <a:extLst>
              <a:ext uri="{FF2B5EF4-FFF2-40B4-BE49-F238E27FC236}">
                <a16:creationId xmlns:a16="http://schemas.microsoft.com/office/drawing/2014/main" id="{7591AC54-42E7-2A5E-7895-84635525CBA7}"/>
              </a:ext>
            </a:extLst>
          </p:cNvPr>
          <p:cNvSpPr txBox="1"/>
          <p:nvPr/>
        </p:nvSpPr>
        <p:spPr bwMode="auto">
          <a:xfrm>
            <a:off x="813585" y="287917"/>
            <a:ext cx="5222884"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dirty="0">
                <a:solidFill>
                  <a:srgbClr val="E5DEDB">
                    <a:lumMod val="10000"/>
                    <a:alpha val="85000"/>
                  </a:srgbClr>
                </a:solidFill>
                <a:latin typeface="Times New Roman" panose="02020603050405020304" pitchFamily="18" charset="0"/>
                <a:cs typeface="Times New Roman" panose="02020603050405020304" pitchFamily="18" charset="0"/>
              </a:rPr>
              <a:t>State-Aware Analyzer</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2" name="文本框 1">
            <a:extLst>
              <a:ext uri="{FF2B5EF4-FFF2-40B4-BE49-F238E27FC236}">
                <a16:creationId xmlns:a16="http://schemas.microsoft.com/office/drawing/2014/main" id="{8D623F55-ADE3-1781-BFDE-02E3CA656080}"/>
              </a:ext>
            </a:extLst>
          </p:cNvPr>
          <p:cNvSpPr txBox="1"/>
          <p:nvPr/>
        </p:nvSpPr>
        <p:spPr>
          <a:xfrm>
            <a:off x="813585" y="827073"/>
            <a:ext cx="6914902" cy="952953"/>
          </a:xfrm>
          <a:prstGeom prst="rect">
            <a:avLst/>
          </a:prstGeom>
          <a:noFill/>
        </p:spPr>
        <p:txBody>
          <a:bodyPr wrap="square">
            <a:spAutoFit/>
          </a:bodyPr>
          <a:lstStyle/>
          <a:p>
            <a:pPr>
              <a:lnSpc>
                <a:spcPct val="120000"/>
              </a:lnSpc>
              <a:spcBef>
                <a:spcPts val="500"/>
              </a:spcBef>
            </a:pPr>
            <a:r>
              <a:rPr lang="en-US" altLang="zh-CN" sz="1600" dirty="0">
                <a:latin typeface="Times New Roman" panose="02020603050405020304" pitchFamily="18" charset="0"/>
                <a:cs typeface="Times New Roman" panose="02020603050405020304" pitchFamily="18" charset="0"/>
              </a:rPr>
              <a:t>Poorly designed reasoning chains may lead to premature termination (missing critical steps) or excessive expansion (introducing redundant information), which can disrupt LLM context retention and degrade diagnostic accuracy and stability.</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AAF71669-01DB-56CA-B4B9-A191C98A0262}"/>
                  </a:ext>
                </a:extLst>
              </p:cNvPr>
              <p:cNvSpPr txBox="1"/>
              <p:nvPr/>
            </p:nvSpPr>
            <p:spPr>
              <a:xfrm>
                <a:off x="813585" y="2043691"/>
                <a:ext cx="6914902" cy="2982227"/>
              </a:xfrm>
              <a:prstGeom prst="rect">
                <a:avLst/>
              </a:prstGeom>
              <a:noFill/>
            </p:spPr>
            <p:txBody>
              <a:bodyPr wrap="square">
                <a:spAutoFit/>
              </a:bodyPr>
              <a:lstStyle/>
              <a:p>
                <a:pPr marL="285750" indent="-285750">
                  <a:lnSpc>
                    <a:spcPct val="120000"/>
                  </a:lnSpc>
                  <a:spcBef>
                    <a:spcPts val="500"/>
                  </a:spcBef>
                  <a:buFont typeface="Arial" panose="020B0604020202020204" pitchFamily="34" charset="0"/>
                  <a:buChar char="•"/>
                </a:pPr>
                <a:r>
                  <a:rPr lang="en-US" altLang="zh-CN" sz="1600" dirty="0">
                    <a:latin typeface="Times New Roman" panose="02020603050405020304" pitchFamily="18" charset="0"/>
                    <a:cs typeface="Times New Roman" panose="02020603050405020304" pitchFamily="18" charset="0"/>
                  </a:rPr>
                  <a:t>For </a:t>
                </a:r>
                <a:r>
                  <a:rPr lang="en-US" altLang="zh-CN" sz="1600" b="1" dirty="0">
                    <a:latin typeface="Times New Roman" panose="02020603050405020304" pitchFamily="18" charset="0"/>
                    <a:cs typeface="Times New Roman" panose="02020603050405020304" pitchFamily="18" charset="0"/>
                  </a:rPr>
                  <a:t>data processing </a:t>
                </a:r>
                <a:r>
                  <a:rPr lang="en-US" altLang="zh-CN" sz="1600" dirty="0">
                    <a:latin typeface="Times New Roman" panose="02020603050405020304" pitchFamily="18" charset="0"/>
                    <a:cs typeface="Times New Roman" panose="02020603050405020304" pitchFamily="18" charset="0"/>
                  </a:rPr>
                  <a:t>tasks, </a:t>
                </a:r>
                <a:r>
                  <a:rPr lang="en-US" altLang="zh-CN" sz="1600" i="1" dirty="0">
                    <a:latin typeface="Times New Roman" panose="02020603050405020304" pitchFamily="18" charset="0"/>
                    <a:cs typeface="Times New Roman" panose="02020603050405020304" pitchFamily="18" charset="0"/>
                  </a:rPr>
                  <a:t>Analyzer</a:t>
                </a:r>
                <a:r>
                  <a:rPr lang="en-US" altLang="zh-CN" sz="1600" dirty="0">
                    <a:latin typeface="Times New Roman" panose="02020603050405020304" pitchFamily="18" charset="0"/>
                    <a:cs typeface="Times New Roman" panose="02020603050405020304" pitchFamily="18" charset="0"/>
                  </a:rPr>
                  <a:t> writes the results to the file directory of the corresponding workspace </a:t>
                </a:r>
                <a14:m>
                  <m:oMath xmlns:m="http://schemas.openxmlformats.org/officeDocument/2006/math">
                    <m:sSub>
                      <m:sSubPr>
                        <m:ctrlPr>
                          <a:rPr lang="en-US" altLang="zh-CN" sz="1600" b="0" i="1" dirty="0" smtClean="0">
                            <a:latin typeface="Cambria Math" panose="02040503050406030204" pitchFamily="18" charset="0"/>
                            <a:cs typeface="Times New Roman" panose="02020603050405020304" pitchFamily="18" charset="0"/>
                          </a:rPr>
                        </m:ctrlPr>
                      </m:sSubPr>
                      <m:e>
                        <m:r>
                          <a:rPr lang="en-US" altLang="zh-CN" sz="1600" i="1" dirty="0" smtClean="0">
                            <a:latin typeface="Cambria Math" panose="02040503050406030204" pitchFamily="18" charset="0"/>
                            <a:cs typeface="Times New Roman" panose="02020603050405020304" pitchFamily="18" charset="0"/>
                          </a:rPr>
                          <m:t>𝑊</m:t>
                        </m:r>
                      </m:e>
                      <m:sub>
                        <m:r>
                          <a:rPr lang="en-US" altLang="zh-CN" sz="1600" i="1" dirty="0" smtClean="0">
                            <a:latin typeface="Cambria Math" panose="02040503050406030204" pitchFamily="18" charset="0"/>
                            <a:cs typeface="Times New Roman" panose="02020603050405020304" pitchFamily="18" charset="0"/>
                          </a:rPr>
                          <m:t>𝑖</m:t>
                        </m:r>
                      </m:sub>
                    </m:sSub>
                  </m:oMath>
                </a14:m>
                <a:r>
                  <a:rPr lang="en-US" altLang="zh-CN" sz="1600" dirty="0">
                    <a:latin typeface="Times New Roman" panose="02020603050405020304" pitchFamily="18" charset="0"/>
                    <a:cs typeface="Times New Roman" panose="02020603050405020304" pitchFamily="18" charset="0"/>
                  </a:rPr>
                  <a:t>.</a:t>
                </a:r>
              </a:p>
              <a:p>
                <a:pPr marL="285750" indent="-285750">
                  <a:lnSpc>
                    <a:spcPct val="120000"/>
                  </a:lnSpc>
                  <a:spcBef>
                    <a:spcPts val="500"/>
                  </a:spcBef>
                  <a:buFont typeface="Arial" panose="020B0604020202020204" pitchFamily="34" charset="0"/>
                  <a:buChar char="•"/>
                </a:pPr>
                <a:r>
                  <a:rPr lang="en-US" altLang="zh-CN" sz="1600" dirty="0">
                    <a:latin typeface="Times New Roman" panose="02020603050405020304" pitchFamily="18" charset="0"/>
                    <a:cs typeface="Times New Roman" panose="02020603050405020304" pitchFamily="18" charset="0"/>
                  </a:rPr>
                  <a:t>For </a:t>
                </a:r>
                <a:r>
                  <a:rPr lang="en-US" altLang="zh-CN" sz="1600" b="1" dirty="0">
                    <a:latin typeface="Times New Roman" panose="02020603050405020304" pitchFamily="18" charset="0"/>
                    <a:cs typeface="Times New Roman" panose="02020603050405020304" pitchFamily="18" charset="0"/>
                  </a:rPr>
                  <a:t>analytical</a:t>
                </a:r>
                <a:r>
                  <a:rPr lang="en-US" altLang="zh-CN" sz="1600" dirty="0">
                    <a:latin typeface="Times New Roman" panose="02020603050405020304" pitchFamily="18" charset="0"/>
                    <a:cs typeface="Times New Roman" panose="02020603050405020304" pitchFamily="18" charset="0"/>
                  </a:rPr>
                  <a:t> tasks, it contextualizes low-level raw outputs by associating them with system metadata. </a:t>
                </a:r>
              </a:p>
              <a:p>
                <a:pPr marL="285750" indent="-285750">
                  <a:lnSpc>
                    <a:spcPct val="120000"/>
                  </a:lnSpc>
                  <a:spcBef>
                    <a:spcPts val="500"/>
                  </a:spcBef>
                  <a:buFont typeface="Arial" panose="020B0604020202020204" pitchFamily="34" charset="0"/>
                  <a:buChar char="•"/>
                </a:pPr>
                <a:r>
                  <a:rPr lang="en-US" altLang="zh-CN" sz="1600" dirty="0">
                    <a:latin typeface="Times New Roman" panose="02020603050405020304" pitchFamily="18" charset="0"/>
                    <a:cs typeface="Times New Roman" panose="02020603050405020304" pitchFamily="18" charset="0"/>
                  </a:rPr>
                  <a:t>The results are returned as structured summaries with highlighted key fields, effectively filtering out noisy elements.</a:t>
                </a:r>
              </a:p>
              <a:p>
                <a:pPr marL="285750" indent="-285750">
                  <a:lnSpc>
                    <a:spcPct val="120000"/>
                  </a:lnSpc>
                  <a:spcBef>
                    <a:spcPts val="500"/>
                  </a:spcBef>
                  <a:buFont typeface="Arial" panose="020B0604020202020204" pitchFamily="34" charset="0"/>
                  <a:buChar char="•"/>
                </a:pPr>
                <a:r>
                  <a:rPr lang="en-US" altLang="zh-CN" sz="1600" dirty="0">
                    <a:latin typeface="Times New Roman" panose="02020603050405020304" pitchFamily="18" charset="0"/>
                    <a:cs typeface="Times New Roman" panose="02020603050405020304" pitchFamily="18" charset="0"/>
                  </a:rPr>
                  <a:t>The </a:t>
                </a:r>
                <a:r>
                  <a:rPr lang="en-US" altLang="zh-CN" sz="1600" i="1" dirty="0">
                    <a:latin typeface="Times New Roman" panose="02020603050405020304" pitchFamily="18" charset="0"/>
                    <a:cs typeface="Times New Roman" panose="02020603050405020304" pitchFamily="18" charset="0"/>
                  </a:rPr>
                  <a:t>Analyzer</a:t>
                </a:r>
                <a:r>
                  <a:rPr lang="en-US" altLang="zh-CN" sz="1600" dirty="0">
                    <a:latin typeface="Times New Roman" panose="02020603050405020304" pitchFamily="18" charset="0"/>
                    <a:cs typeface="Times New Roman" panose="02020603050405020304" pitchFamily="18" charset="0"/>
                  </a:rPr>
                  <a:t> computes metrics such as the number of abnormal entries and the percentage of anomalies to assess task completeness. </a:t>
                </a:r>
              </a:p>
              <a:p>
                <a:pPr marL="285750" indent="-285750">
                  <a:lnSpc>
                    <a:spcPct val="120000"/>
                  </a:lnSpc>
                  <a:spcBef>
                    <a:spcPts val="500"/>
                  </a:spcBef>
                  <a:buFont typeface="Arial" panose="020B0604020202020204" pitchFamily="34" charset="0"/>
                  <a:buChar char="•"/>
                </a:pPr>
                <a:r>
                  <a:rPr lang="en-US" altLang="zh-CN" sz="1600" dirty="0">
                    <a:latin typeface="Times New Roman" panose="02020603050405020304" pitchFamily="18" charset="0"/>
                    <a:cs typeface="Times New Roman" panose="02020603050405020304" pitchFamily="18" charset="0"/>
                  </a:rPr>
                  <a:t>These aggregated evaluation results are passed back to </a:t>
                </a:r>
                <a:r>
                  <a:rPr lang="en-US" altLang="zh-CN" sz="1600" i="1" dirty="0">
                    <a:latin typeface="Times New Roman" panose="02020603050405020304" pitchFamily="18" charset="0"/>
                    <a:cs typeface="Times New Roman" panose="02020603050405020304" pitchFamily="18" charset="0"/>
                  </a:rPr>
                  <a:t>Coordinator</a:t>
                </a:r>
                <a:r>
                  <a:rPr lang="en-US" altLang="zh-CN" sz="1600" dirty="0">
                    <a:latin typeface="Times New Roman" panose="02020603050405020304" pitchFamily="18" charset="0"/>
                    <a:cs typeface="Times New Roman" panose="02020603050405020304" pitchFamily="18" charset="0"/>
                  </a:rPr>
                  <a:t>.</a:t>
                </a:r>
              </a:p>
            </p:txBody>
          </p:sp>
        </mc:Choice>
        <mc:Fallback xmlns="">
          <p:sp>
            <p:nvSpPr>
              <p:cNvPr id="3" name="文本框 2">
                <a:extLst>
                  <a:ext uri="{FF2B5EF4-FFF2-40B4-BE49-F238E27FC236}">
                    <a16:creationId xmlns:a16="http://schemas.microsoft.com/office/drawing/2014/main" id="{AAF71669-01DB-56CA-B4B9-A191C98A0262}"/>
                  </a:ext>
                </a:extLst>
              </p:cNvPr>
              <p:cNvSpPr txBox="1">
                <a:spLocks noRot="1" noChangeAspect="1" noMove="1" noResize="1" noEditPoints="1" noAdjustHandles="1" noChangeArrowheads="1" noChangeShapeType="1" noTextEdit="1"/>
              </p:cNvSpPr>
              <p:nvPr/>
            </p:nvSpPr>
            <p:spPr>
              <a:xfrm>
                <a:off x="813585" y="2043691"/>
                <a:ext cx="6914902" cy="2982227"/>
              </a:xfrm>
              <a:prstGeom prst="rect">
                <a:avLst/>
              </a:prstGeom>
              <a:blipFill>
                <a:blip r:embed="rId3"/>
                <a:stretch>
                  <a:fillRect l="-352" b="-184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542695286"/>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817DD-F7A6-1BE3-1641-5B5F6A32390A}"/>
            </a:ext>
          </a:extLst>
        </p:cNvPr>
        <p:cNvGrpSpPr/>
        <p:nvPr/>
      </p:nvGrpSpPr>
      <p:grpSpPr>
        <a:xfrm>
          <a:off x="0" y="0"/>
          <a:ext cx="0" cy="0"/>
          <a:chOff x="0" y="0"/>
          <a:chExt cx="0" cy="0"/>
        </a:xfrm>
      </p:grpSpPr>
      <p:sp>
        <p:nvSpPr>
          <p:cNvPr id="44" name="矩形 43">
            <a:extLst>
              <a:ext uri="{FF2B5EF4-FFF2-40B4-BE49-F238E27FC236}">
                <a16:creationId xmlns:a16="http://schemas.microsoft.com/office/drawing/2014/main" id="{9B8596B4-9085-A4BB-25B0-E00DC8331EFB}"/>
              </a:ext>
            </a:extLst>
          </p:cNvPr>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49" name="矩形 48">
            <a:extLst>
              <a:ext uri="{FF2B5EF4-FFF2-40B4-BE49-F238E27FC236}">
                <a16:creationId xmlns:a16="http://schemas.microsoft.com/office/drawing/2014/main" id="{1FAE3146-1699-6701-F719-36FE2D2140B2}"/>
              </a:ext>
            </a:extLst>
          </p:cNvPr>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2" name="矩形 51">
            <a:extLst>
              <a:ext uri="{FF2B5EF4-FFF2-40B4-BE49-F238E27FC236}">
                <a16:creationId xmlns:a16="http://schemas.microsoft.com/office/drawing/2014/main" id="{46F60CA6-9830-EC1C-AA43-0DF127772F0E}"/>
              </a:ext>
            </a:extLst>
          </p:cNvPr>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3" name="矩形 52">
            <a:extLst>
              <a:ext uri="{FF2B5EF4-FFF2-40B4-BE49-F238E27FC236}">
                <a16:creationId xmlns:a16="http://schemas.microsoft.com/office/drawing/2014/main" id="{6848A710-C758-EF3D-E125-C6EE1A420270}"/>
              </a:ext>
            </a:extLst>
          </p:cNvPr>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5" name="文本框 54">
            <a:extLst>
              <a:ext uri="{FF2B5EF4-FFF2-40B4-BE49-F238E27FC236}">
                <a16:creationId xmlns:a16="http://schemas.microsoft.com/office/drawing/2014/main" id="{7BC36837-90EA-F7A7-9414-E34F5B2677CA}"/>
              </a:ext>
            </a:extLst>
          </p:cNvPr>
          <p:cNvSpPr txBox="1"/>
          <p:nvPr/>
        </p:nvSpPr>
        <p:spPr bwMode="auto">
          <a:xfrm>
            <a:off x="813585" y="287917"/>
            <a:ext cx="6894239"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dirty="0">
                <a:solidFill>
                  <a:srgbClr val="E5DEDB">
                    <a:lumMod val="10000"/>
                    <a:alpha val="85000"/>
                  </a:srgbClr>
                </a:solidFill>
                <a:latin typeface="Times New Roman" panose="02020603050405020304" pitchFamily="18" charset="0"/>
                <a:cs typeface="Times New Roman" panose="02020603050405020304" pitchFamily="18" charset="0"/>
              </a:rPr>
              <a:t>Experiment Setup</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3" name="文本框 2">
            <a:extLst>
              <a:ext uri="{FF2B5EF4-FFF2-40B4-BE49-F238E27FC236}">
                <a16:creationId xmlns:a16="http://schemas.microsoft.com/office/drawing/2014/main" id="{72B83661-8E11-54FA-CB4F-F9489A320B55}"/>
              </a:ext>
            </a:extLst>
          </p:cNvPr>
          <p:cNvSpPr txBox="1"/>
          <p:nvPr/>
        </p:nvSpPr>
        <p:spPr>
          <a:xfrm>
            <a:off x="813585" y="938981"/>
            <a:ext cx="7080218" cy="1060547"/>
          </a:xfrm>
          <a:prstGeom prst="rect">
            <a:avLst/>
          </a:prstGeom>
          <a:noFill/>
        </p:spPr>
        <p:txBody>
          <a:bodyPr wrap="square">
            <a:spAutoFit/>
          </a:bodyPr>
          <a:lstStyle/>
          <a:p>
            <a:pPr>
              <a:lnSpc>
                <a:spcPct val="120000"/>
              </a:lnSpc>
            </a:pPr>
            <a:r>
              <a:rPr lang="en-US" altLang="zh-CN" b="1" dirty="0">
                <a:latin typeface="Times New Roman" panose="02020603050405020304" pitchFamily="18" charset="0"/>
                <a:cs typeface="Times New Roman" panose="02020603050405020304" pitchFamily="18" charset="0"/>
              </a:rPr>
              <a:t>Dataset. </a:t>
            </a:r>
            <a:r>
              <a:rPr lang="en-US" altLang="zh-CN" dirty="0">
                <a:latin typeface="Times New Roman" panose="02020603050405020304" pitchFamily="18" charset="0"/>
                <a:cs typeface="Times New Roman" panose="02020603050405020304" pitchFamily="18" charset="0"/>
              </a:rPr>
              <a:t>Three challenging datasets from </a:t>
            </a:r>
            <a:r>
              <a:rPr lang="en-US" altLang="zh-CN" dirty="0" err="1">
                <a:latin typeface="Times New Roman" panose="02020603050405020304" pitchFamily="18" charset="0"/>
                <a:cs typeface="Times New Roman" panose="02020603050405020304" pitchFamily="18" charset="0"/>
              </a:rPr>
              <a:t>OpenRCA</a:t>
            </a:r>
            <a:r>
              <a:rPr lang="en-US" altLang="zh-CN"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Bank</a:t>
            </a:r>
            <a:r>
              <a:rPr lang="en-US" altLang="zh-CN"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Market</a:t>
            </a:r>
            <a:r>
              <a:rPr lang="en-US" altLang="zh-CN" dirty="0">
                <a:latin typeface="Times New Roman" panose="02020603050405020304" pitchFamily="18" charset="0"/>
                <a:cs typeface="Times New Roman" panose="02020603050405020304" pitchFamily="18" charset="0"/>
              </a:rPr>
              <a:t>, and </a:t>
            </a:r>
            <a:r>
              <a:rPr lang="en-US" altLang="zh-CN" b="1" dirty="0">
                <a:latin typeface="Times New Roman" panose="02020603050405020304" pitchFamily="18" charset="0"/>
                <a:cs typeface="Times New Roman" panose="02020603050405020304" pitchFamily="18" charset="0"/>
              </a:rPr>
              <a:t>Telecom</a:t>
            </a:r>
            <a:r>
              <a:rPr lang="en-US" altLang="zh-CN" dirty="0">
                <a:latin typeface="Times New Roman" panose="02020603050405020304" pitchFamily="18" charset="0"/>
                <a:cs typeface="Times New Roman" panose="02020603050405020304" pitchFamily="18" charset="0"/>
              </a:rPr>
              <a:t>, corresponding to a banking system, an online retail system, and a telecommunications database system, respectively. </a:t>
            </a:r>
          </a:p>
        </p:txBody>
      </p:sp>
      <p:sp>
        <p:nvSpPr>
          <p:cNvPr id="5" name="文本框 4">
            <a:extLst>
              <a:ext uri="{FF2B5EF4-FFF2-40B4-BE49-F238E27FC236}">
                <a16:creationId xmlns:a16="http://schemas.microsoft.com/office/drawing/2014/main" id="{09673509-01A4-328C-8147-2767DE55FB4D}"/>
              </a:ext>
            </a:extLst>
          </p:cNvPr>
          <p:cNvSpPr txBox="1"/>
          <p:nvPr/>
        </p:nvSpPr>
        <p:spPr>
          <a:xfrm>
            <a:off x="813585" y="2420585"/>
            <a:ext cx="7080218" cy="2057743"/>
          </a:xfrm>
          <a:prstGeom prst="rect">
            <a:avLst/>
          </a:prstGeom>
          <a:noFill/>
        </p:spPr>
        <p:txBody>
          <a:bodyPr wrap="square">
            <a:spAutoFit/>
          </a:bodyPr>
          <a:lstStyle/>
          <a:p>
            <a:pPr>
              <a:lnSpc>
                <a:spcPct val="120000"/>
              </a:lnSpc>
            </a:pPr>
            <a:r>
              <a:rPr lang="en-US" altLang="zh-CN" b="1" dirty="0">
                <a:latin typeface="Times New Roman" panose="02020603050405020304" pitchFamily="18" charset="0"/>
                <a:cs typeface="Times New Roman" panose="02020603050405020304" pitchFamily="18" charset="0"/>
              </a:rPr>
              <a:t>Evaluation Metrics. </a:t>
            </a:r>
            <a:endParaRPr lang="en-US" altLang="zh-CN" dirty="0">
              <a:latin typeface="Times New Roman" panose="02020603050405020304" pitchFamily="18" charset="0"/>
              <a:cs typeface="Times New Roman" panose="02020603050405020304" pitchFamily="18" charset="0"/>
            </a:endParaRPr>
          </a:p>
          <a:p>
            <a:pPr>
              <a:lnSpc>
                <a:spcPct val="120000"/>
              </a:lnSpc>
            </a:pPr>
            <a:r>
              <a:rPr lang="en-US" altLang="zh-CN" b="1" dirty="0">
                <a:latin typeface="Times New Roman" panose="02020603050405020304" pitchFamily="18" charset="0"/>
                <a:cs typeface="Times New Roman" panose="02020603050405020304" pitchFamily="18" charset="0"/>
              </a:rPr>
              <a:t>Correct accuracy</a:t>
            </a:r>
            <a:r>
              <a:rPr lang="en-US" altLang="zh-CN" dirty="0">
                <a:latin typeface="Times New Roman" panose="02020603050405020304" pitchFamily="18" charset="0"/>
                <a:cs typeface="Times New Roman" panose="02020603050405020304" pitchFamily="18" charset="0"/>
              </a:rPr>
              <a:t>: requires all predicted root cause elements—including the component, timestamp, and reason—to match their corresponding ground-truth labels exactly.</a:t>
            </a:r>
          </a:p>
          <a:p>
            <a:pPr>
              <a:lnSpc>
                <a:spcPct val="120000"/>
              </a:lnSpc>
            </a:pPr>
            <a:r>
              <a:rPr lang="en-US" altLang="zh-CN" b="1" dirty="0">
                <a:latin typeface="Times New Roman" panose="02020603050405020304" pitchFamily="18" charset="0"/>
                <a:cs typeface="Times New Roman" panose="02020603050405020304" pitchFamily="18" charset="0"/>
              </a:rPr>
              <a:t>Partial Accuracy</a:t>
            </a:r>
            <a:r>
              <a:rPr lang="en-US" altLang="zh-CN" dirty="0">
                <a:latin typeface="Times New Roman" panose="02020603050405020304" pitchFamily="18" charset="0"/>
                <a:cs typeface="Times New Roman" panose="02020603050405020304" pitchFamily="18" charset="0"/>
              </a:rPr>
              <a:t>: measures whether the model successfully identifies at least one correct root cause element.</a:t>
            </a:r>
          </a:p>
        </p:txBody>
      </p:sp>
    </p:spTree>
    <p:extLst>
      <p:ext uri="{BB962C8B-B14F-4D97-AF65-F5344CB8AC3E}">
        <p14:creationId xmlns:p14="http://schemas.microsoft.com/office/powerpoint/2010/main" val="2065762409"/>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矩形 43"/>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49" name="矩形 48"/>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2" name="矩形 51"/>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3" name="矩形 52"/>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5" name="文本框 54"/>
          <p:cNvSpPr txBox="1"/>
          <p:nvPr/>
        </p:nvSpPr>
        <p:spPr bwMode="auto">
          <a:xfrm>
            <a:off x="813585" y="287917"/>
            <a:ext cx="6894239"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dirty="0">
                <a:solidFill>
                  <a:srgbClr val="E5DEDB">
                    <a:lumMod val="10000"/>
                    <a:alpha val="85000"/>
                  </a:srgbClr>
                </a:solidFill>
                <a:latin typeface="Times New Roman" panose="02020603050405020304" pitchFamily="18" charset="0"/>
                <a:cs typeface="Times New Roman" panose="02020603050405020304" pitchFamily="18" charset="0"/>
              </a:rPr>
              <a:t>Main Results</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3" name="文本框 2"/>
          <p:cNvSpPr txBox="1"/>
          <p:nvPr/>
        </p:nvSpPr>
        <p:spPr>
          <a:xfrm>
            <a:off x="813585" y="865127"/>
            <a:ext cx="7130513" cy="1060547"/>
          </a:xfrm>
          <a:prstGeom prst="rect">
            <a:avLst/>
          </a:prstGeom>
          <a:noFill/>
        </p:spPr>
        <p:txBody>
          <a:bodyPr wrap="square">
            <a:spAutoFit/>
          </a:bodyPr>
          <a:lstStyle/>
          <a:p>
            <a:pPr marL="285750" indent="-285750">
              <a:lnSpc>
                <a:spcPct val="120000"/>
              </a:lnSpc>
              <a:buFont typeface="Arial" panose="020B0604020202020204" pitchFamily="34" charset="0"/>
              <a:buChar char="•"/>
            </a:pPr>
            <a:r>
              <a:rPr lang="en-US" altLang="zh-CN" dirty="0" err="1">
                <a:latin typeface="Times New Roman" panose="02020603050405020304" pitchFamily="18" charset="0"/>
                <a:cs typeface="Times New Roman" panose="02020603050405020304" pitchFamily="18" charset="0"/>
              </a:rPr>
              <a:t>RCAFlow</a:t>
            </a:r>
            <a:r>
              <a:rPr lang="en-US" altLang="zh-CN" dirty="0">
                <a:latin typeface="Times New Roman" panose="02020603050405020304" pitchFamily="18" charset="0"/>
                <a:cs typeface="Times New Roman" panose="02020603050405020304" pitchFamily="18" charset="0"/>
              </a:rPr>
              <a:t> consistently achieves the highest success rate across all datasets regardless of the backbone.</a:t>
            </a:r>
          </a:p>
          <a:p>
            <a:pPr marL="285750" indent="-285750">
              <a:lnSpc>
                <a:spcPct val="120000"/>
              </a:lnSpc>
              <a:buFont typeface="Arial" panose="020B0604020202020204" pitchFamily="34" charset="0"/>
              <a:buChar char="•"/>
            </a:pPr>
            <a:r>
              <a:rPr lang="en-US" altLang="zh-CN" dirty="0" err="1">
                <a:latin typeface="Times New Roman" panose="02020603050405020304" pitchFamily="18" charset="0"/>
                <a:cs typeface="Times New Roman" panose="02020603050405020304" pitchFamily="18" charset="0"/>
              </a:rPr>
              <a:t>RCAFlow</a:t>
            </a:r>
            <a:r>
              <a:rPr lang="en-US" altLang="zh-CN" dirty="0">
                <a:latin typeface="Times New Roman" panose="02020603050405020304" pitchFamily="18" charset="0"/>
                <a:cs typeface="Times New Roman" panose="02020603050405020304" pitchFamily="18" charset="0"/>
              </a:rPr>
              <a:t> achieves leading performance across both evaluation metrics.</a:t>
            </a:r>
          </a:p>
        </p:txBody>
      </p:sp>
      <p:pic>
        <p:nvPicPr>
          <p:cNvPr id="4" name="图片 3">
            <a:extLst>
              <a:ext uri="{FF2B5EF4-FFF2-40B4-BE49-F238E27FC236}">
                <a16:creationId xmlns:a16="http://schemas.microsoft.com/office/drawing/2014/main" id="{40BEDEB2-9444-8635-4F4B-01612053ED51}"/>
              </a:ext>
            </a:extLst>
          </p:cNvPr>
          <p:cNvPicPr>
            <a:picLocks noChangeAspect="1"/>
          </p:cNvPicPr>
          <p:nvPr/>
        </p:nvPicPr>
        <p:blipFill>
          <a:blip r:embed="rId3"/>
          <a:stretch>
            <a:fillRect/>
          </a:stretch>
        </p:blipFill>
        <p:spPr>
          <a:xfrm>
            <a:off x="1110711" y="2041220"/>
            <a:ext cx="6529954" cy="2984651"/>
          </a:xfrm>
          <a:prstGeom prst="rect">
            <a:avLst/>
          </a:prstGeom>
        </p:spPr>
      </p:pic>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A9855-94B1-BCCE-EE49-9CBB54E8657B}"/>
            </a:ext>
          </a:extLst>
        </p:cNvPr>
        <p:cNvGrpSpPr/>
        <p:nvPr/>
      </p:nvGrpSpPr>
      <p:grpSpPr>
        <a:xfrm>
          <a:off x="0" y="0"/>
          <a:ext cx="0" cy="0"/>
          <a:chOff x="0" y="0"/>
          <a:chExt cx="0" cy="0"/>
        </a:xfrm>
      </p:grpSpPr>
      <p:sp>
        <p:nvSpPr>
          <p:cNvPr id="44" name="矩形 43">
            <a:extLst>
              <a:ext uri="{FF2B5EF4-FFF2-40B4-BE49-F238E27FC236}">
                <a16:creationId xmlns:a16="http://schemas.microsoft.com/office/drawing/2014/main" id="{4B4C86FB-8D11-2AFF-1DEB-5231526296F4}"/>
              </a:ext>
            </a:extLst>
          </p:cNvPr>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49" name="矩形 48">
            <a:extLst>
              <a:ext uri="{FF2B5EF4-FFF2-40B4-BE49-F238E27FC236}">
                <a16:creationId xmlns:a16="http://schemas.microsoft.com/office/drawing/2014/main" id="{82FFF298-3942-E49E-2A10-8CCFDC46B137}"/>
              </a:ext>
            </a:extLst>
          </p:cNvPr>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2" name="矩形 51">
            <a:extLst>
              <a:ext uri="{FF2B5EF4-FFF2-40B4-BE49-F238E27FC236}">
                <a16:creationId xmlns:a16="http://schemas.microsoft.com/office/drawing/2014/main" id="{BBF0F462-7CE2-1024-2A26-53DE189F438C}"/>
              </a:ext>
            </a:extLst>
          </p:cNvPr>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3" name="矩形 52">
            <a:extLst>
              <a:ext uri="{FF2B5EF4-FFF2-40B4-BE49-F238E27FC236}">
                <a16:creationId xmlns:a16="http://schemas.microsoft.com/office/drawing/2014/main" id="{7528A6E6-7FB9-5D6D-47FD-9702E889CD62}"/>
              </a:ext>
            </a:extLst>
          </p:cNvPr>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5" name="文本框 54">
            <a:extLst>
              <a:ext uri="{FF2B5EF4-FFF2-40B4-BE49-F238E27FC236}">
                <a16:creationId xmlns:a16="http://schemas.microsoft.com/office/drawing/2014/main" id="{C2DBD3E4-D32D-31E1-0B97-793E2D46AC28}"/>
              </a:ext>
            </a:extLst>
          </p:cNvPr>
          <p:cNvSpPr txBox="1"/>
          <p:nvPr/>
        </p:nvSpPr>
        <p:spPr bwMode="auto">
          <a:xfrm>
            <a:off x="813585" y="287917"/>
            <a:ext cx="6894239"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dirty="0">
                <a:solidFill>
                  <a:srgbClr val="E5DEDB">
                    <a:lumMod val="10000"/>
                    <a:alpha val="85000"/>
                  </a:srgbClr>
                </a:solidFill>
                <a:latin typeface="Times New Roman" panose="02020603050405020304" pitchFamily="18" charset="0"/>
                <a:cs typeface="Times New Roman" panose="02020603050405020304" pitchFamily="18" charset="0"/>
              </a:rPr>
              <a:t>Ablation Study</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pic>
        <p:nvPicPr>
          <p:cNvPr id="5" name="图片 4">
            <a:extLst>
              <a:ext uri="{FF2B5EF4-FFF2-40B4-BE49-F238E27FC236}">
                <a16:creationId xmlns:a16="http://schemas.microsoft.com/office/drawing/2014/main" id="{6874F5CE-227A-92D6-ED6C-FA1CF0EBD163}"/>
              </a:ext>
            </a:extLst>
          </p:cNvPr>
          <p:cNvPicPr>
            <a:picLocks noChangeAspect="1"/>
          </p:cNvPicPr>
          <p:nvPr/>
        </p:nvPicPr>
        <p:blipFill>
          <a:blip r:embed="rId3"/>
          <a:stretch>
            <a:fillRect/>
          </a:stretch>
        </p:blipFill>
        <p:spPr>
          <a:xfrm>
            <a:off x="1005475" y="1999337"/>
            <a:ext cx="6510458" cy="2905720"/>
          </a:xfrm>
          <a:prstGeom prst="rect">
            <a:avLst/>
          </a:prstGeom>
        </p:spPr>
      </p:pic>
      <p:sp>
        <p:nvSpPr>
          <p:cNvPr id="6" name="文本框 5">
            <a:extLst>
              <a:ext uri="{FF2B5EF4-FFF2-40B4-BE49-F238E27FC236}">
                <a16:creationId xmlns:a16="http://schemas.microsoft.com/office/drawing/2014/main" id="{006925C2-7339-90B8-1F5E-BDB6F23A5006}"/>
              </a:ext>
            </a:extLst>
          </p:cNvPr>
          <p:cNvSpPr txBox="1"/>
          <p:nvPr/>
        </p:nvSpPr>
        <p:spPr>
          <a:xfrm>
            <a:off x="1005475" y="911622"/>
            <a:ext cx="6623769" cy="728148"/>
          </a:xfrm>
          <a:prstGeom prst="rect">
            <a:avLst/>
          </a:prstGeom>
          <a:noFill/>
        </p:spPr>
        <p:txBody>
          <a:bodyPr wrap="square">
            <a:spAutoFit/>
          </a:bodyPr>
          <a:lstStyle/>
          <a:p>
            <a:pPr>
              <a:lnSpc>
                <a:spcPct val="120000"/>
              </a:lnSpc>
            </a:pPr>
            <a:r>
              <a:rPr lang="en-US" altLang="zh-CN" dirty="0">
                <a:latin typeface="Times New Roman" panose="02020603050405020304" pitchFamily="18" charset="0"/>
                <a:cs typeface="Times New Roman" panose="02020603050405020304" pitchFamily="18" charset="0"/>
              </a:rPr>
              <a:t>All variants exhibit varying degrees of performance degradation, confirming the necessity and effectiveness of each module.</a:t>
            </a:r>
          </a:p>
        </p:txBody>
      </p:sp>
    </p:spTree>
    <p:extLst>
      <p:ext uri="{BB962C8B-B14F-4D97-AF65-F5344CB8AC3E}">
        <p14:creationId xmlns:p14="http://schemas.microsoft.com/office/powerpoint/2010/main" val="1824905687"/>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9F9FB-83B5-75A6-AFAB-061BB158449D}"/>
            </a:ext>
          </a:extLst>
        </p:cNvPr>
        <p:cNvGrpSpPr/>
        <p:nvPr/>
      </p:nvGrpSpPr>
      <p:grpSpPr>
        <a:xfrm>
          <a:off x="0" y="0"/>
          <a:ext cx="0" cy="0"/>
          <a:chOff x="0" y="0"/>
          <a:chExt cx="0" cy="0"/>
        </a:xfrm>
      </p:grpSpPr>
      <p:sp>
        <p:nvSpPr>
          <p:cNvPr id="44" name="矩形 43">
            <a:extLst>
              <a:ext uri="{FF2B5EF4-FFF2-40B4-BE49-F238E27FC236}">
                <a16:creationId xmlns:a16="http://schemas.microsoft.com/office/drawing/2014/main" id="{98048573-FFC7-DF04-4B02-4B7558B25286}"/>
              </a:ext>
            </a:extLst>
          </p:cNvPr>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49" name="矩形 48">
            <a:extLst>
              <a:ext uri="{FF2B5EF4-FFF2-40B4-BE49-F238E27FC236}">
                <a16:creationId xmlns:a16="http://schemas.microsoft.com/office/drawing/2014/main" id="{DD790CE7-399F-5D0E-E6CF-63F86898EB75}"/>
              </a:ext>
            </a:extLst>
          </p:cNvPr>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2" name="矩形 51">
            <a:extLst>
              <a:ext uri="{FF2B5EF4-FFF2-40B4-BE49-F238E27FC236}">
                <a16:creationId xmlns:a16="http://schemas.microsoft.com/office/drawing/2014/main" id="{B5A38968-8F58-8E59-107C-B47D368AF674}"/>
              </a:ext>
            </a:extLst>
          </p:cNvPr>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3" name="矩形 52">
            <a:extLst>
              <a:ext uri="{FF2B5EF4-FFF2-40B4-BE49-F238E27FC236}">
                <a16:creationId xmlns:a16="http://schemas.microsoft.com/office/drawing/2014/main" id="{834196A3-4B2D-9617-E1EF-1C4DCA7559CE}"/>
              </a:ext>
            </a:extLst>
          </p:cNvPr>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mc:AlternateContent xmlns:mc="http://schemas.openxmlformats.org/markup-compatibility/2006" xmlns:a14="http://schemas.microsoft.com/office/drawing/2010/main">
        <mc:Choice Requires="a14">
          <p:sp>
            <p:nvSpPr>
              <p:cNvPr id="55" name="文本框 54">
                <a:extLst>
                  <a:ext uri="{FF2B5EF4-FFF2-40B4-BE49-F238E27FC236}">
                    <a16:creationId xmlns:a16="http://schemas.microsoft.com/office/drawing/2014/main" id="{44B0E768-EBA5-833E-2E23-D6A3ED96A0C7}"/>
                  </a:ext>
                </a:extLst>
              </p:cNvPr>
              <p:cNvSpPr txBox="1"/>
              <p:nvPr/>
            </p:nvSpPr>
            <p:spPr bwMode="auto">
              <a:xfrm>
                <a:off x="813585" y="287917"/>
                <a:ext cx="6894239"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dirty="0">
                    <a:solidFill>
                      <a:srgbClr val="E5DEDB">
                        <a:lumMod val="10000"/>
                        <a:alpha val="85000"/>
                      </a:srgbClr>
                    </a:solidFill>
                    <a:latin typeface="Times New Roman" panose="02020603050405020304" pitchFamily="18" charset="0"/>
                    <a:cs typeface="Times New Roman" panose="02020603050405020304" pitchFamily="18" charset="0"/>
                  </a:rPr>
                  <a:t>Impact of threshold </a:t>
                </a:r>
                <a14:m>
                  <m:oMath xmlns:m="http://schemas.openxmlformats.org/officeDocument/2006/math">
                    <m:r>
                      <a:rPr lang="el-GR" altLang="zh-CN" i="1" dirty="0" smtClean="0">
                        <a:solidFill>
                          <a:srgbClr val="E5DEDB">
                            <a:lumMod val="10000"/>
                            <a:alpha val="85000"/>
                          </a:srgbClr>
                        </a:solidFill>
                        <a:latin typeface="Cambria Math" panose="02040503050406030204" pitchFamily="18" charset="0"/>
                        <a:cs typeface="Times New Roman" panose="02020603050405020304" pitchFamily="18" charset="0"/>
                      </a:rPr>
                      <m:t>𝜃</m:t>
                    </m:r>
                  </m:oMath>
                </a14:m>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mc:Choice>
        <mc:Fallback xmlns="">
          <p:sp>
            <p:nvSpPr>
              <p:cNvPr id="55" name="文本框 54">
                <a:extLst>
                  <a:ext uri="{FF2B5EF4-FFF2-40B4-BE49-F238E27FC236}">
                    <a16:creationId xmlns:a16="http://schemas.microsoft.com/office/drawing/2014/main" id="{44B0E768-EBA5-833E-2E23-D6A3ED96A0C7}"/>
                  </a:ext>
                </a:extLst>
              </p:cNvPr>
              <p:cNvSpPr txBox="1">
                <a:spLocks noRot="1" noChangeAspect="1" noMove="1" noResize="1" noEditPoints="1" noAdjustHandles="1" noChangeArrowheads="1" noChangeShapeType="1" noTextEdit="1"/>
              </p:cNvSpPr>
              <p:nvPr/>
            </p:nvSpPr>
            <p:spPr bwMode="auto">
              <a:xfrm>
                <a:off x="813585" y="287917"/>
                <a:ext cx="6894239" cy="461665"/>
              </a:xfrm>
              <a:prstGeom prst="rect">
                <a:avLst/>
              </a:prstGeom>
              <a:blipFill>
                <a:blip r:embed="rId3"/>
                <a:stretch>
                  <a:fillRect l="-1326" t="-10526" b="-28947"/>
                </a:stretch>
              </a:blipFill>
            </p:spPr>
            <p:txBody>
              <a:bodyPr/>
              <a:lstStyle/>
              <a:p>
                <a:r>
                  <a:rPr lang="zh-CN" altLang="en-US">
                    <a:noFill/>
                  </a:rPr>
                  <a:t> </a:t>
                </a:r>
              </a:p>
            </p:txBody>
          </p:sp>
        </mc:Fallback>
      </mc:AlternateContent>
      <p:pic>
        <p:nvPicPr>
          <p:cNvPr id="3" name="图片 2">
            <a:extLst>
              <a:ext uri="{FF2B5EF4-FFF2-40B4-BE49-F238E27FC236}">
                <a16:creationId xmlns:a16="http://schemas.microsoft.com/office/drawing/2014/main" id="{18AE36F8-3E66-C574-FC57-7723FD0EF7BF}"/>
              </a:ext>
            </a:extLst>
          </p:cNvPr>
          <p:cNvPicPr>
            <a:picLocks noChangeAspect="1"/>
          </p:cNvPicPr>
          <p:nvPr/>
        </p:nvPicPr>
        <p:blipFill>
          <a:blip r:embed="rId4"/>
          <a:stretch>
            <a:fillRect/>
          </a:stretch>
        </p:blipFill>
        <p:spPr>
          <a:xfrm>
            <a:off x="3898784" y="749582"/>
            <a:ext cx="4513668" cy="4393918"/>
          </a:xfrm>
          <a:prstGeom prst="rect">
            <a:avLst/>
          </a:prstGeom>
        </p:spPr>
      </p:pic>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2865242B-7C37-47CE-C51B-AF13099B58FD}"/>
                  </a:ext>
                </a:extLst>
              </p:cNvPr>
              <p:cNvSpPr txBox="1"/>
              <p:nvPr/>
            </p:nvSpPr>
            <p:spPr>
              <a:xfrm>
                <a:off x="813586" y="957092"/>
                <a:ext cx="2913072" cy="1717714"/>
              </a:xfrm>
              <a:prstGeom prst="rect">
                <a:avLst/>
              </a:prstGeom>
              <a:noFill/>
            </p:spPr>
            <p:txBody>
              <a:bodyPr wrap="square">
                <a:spAutoFit/>
              </a:bodyPr>
              <a:lstStyle/>
              <a:p>
                <a:pPr>
                  <a:lnSpc>
                    <a:spcPct val="120000"/>
                  </a:lnSpc>
                </a:pPr>
                <a:r>
                  <a:rPr lang="en-US" altLang="zh-CN" dirty="0">
                    <a:latin typeface="Times New Roman" panose="02020603050405020304" pitchFamily="18" charset="0"/>
                    <a:cs typeface="Times New Roman" panose="02020603050405020304" pitchFamily="18" charset="0"/>
                  </a:rPr>
                  <a:t>Average Path Length (APL).</a:t>
                </a:r>
              </a:p>
              <a:p>
                <a:pPr>
                  <a:lnSpc>
                    <a:spcPct val="120000"/>
                  </a:lnSpc>
                </a:pPr>
                <a:r>
                  <a:rPr lang="en-US" altLang="zh-CN" dirty="0">
                    <a:latin typeface="Times New Roman" panose="02020603050405020304" pitchFamily="18" charset="0"/>
                    <a:cs typeface="Times New Roman" panose="02020603050405020304" pitchFamily="18" charset="0"/>
                  </a:rPr>
                  <a:t>APL is denoted by </a:t>
                </a:r>
              </a:p>
              <a:p>
                <a:pPr>
                  <a:lnSpc>
                    <a:spcPct val="120000"/>
                  </a:lnSpc>
                </a:pPr>
                <a14:m>
                  <m:oMathPara xmlns:m="http://schemas.openxmlformats.org/officeDocument/2006/math">
                    <m:oMathParaPr>
                      <m:jc m:val="centerGroup"/>
                    </m:oMathParaPr>
                    <m:oMath xmlns:m="http://schemas.openxmlformats.org/officeDocument/2006/math">
                      <m:f>
                        <m:fPr>
                          <m:ctrlPr>
                            <a:rPr lang="en-US" altLang="zh-CN" i="1" smtClean="0">
                              <a:latin typeface="Cambria Math" panose="02040503050406030204" pitchFamily="18" charset="0"/>
                              <a:cs typeface="Times New Roman" panose="02020603050405020304" pitchFamily="18" charset="0"/>
                            </a:rPr>
                          </m:ctrlPr>
                        </m:fPr>
                        <m:num>
                          <m:r>
                            <a:rPr lang="en-US" altLang="zh-CN" i="1" smtClean="0">
                              <a:latin typeface="Cambria Math" panose="02040503050406030204" pitchFamily="18" charset="0"/>
                              <a:cs typeface="Times New Roman" panose="02020603050405020304" pitchFamily="18" charset="0"/>
                            </a:rPr>
                            <m:t>1</m:t>
                          </m:r>
                        </m:num>
                        <m:den>
                          <m:sSub>
                            <m:sSubPr>
                              <m:ctrlPr>
                                <a:rPr lang="en-US" altLang="zh-CN" i="1" smtClean="0">
                                  <a:latin typeface="Cambria Math" panose="02040503050406030204" pitchFamily="18" charset="0"/>
                                  <a:cs typeface="Times New Roman" panose="02020603050405020304" pitchFamily="18" charset="0"/>
                                </a:rPr>
                              </m:ctrlPr>
                            </m:sSubPr>
                            <m:e>
                              <m:r>
                                <a:rPr lang="en-US" altLang="zh-CN" i="1" smtClean="0">
                                  <a:latin typeface="Cambria Math" panose="02040503050406030204" pitchFamily="18" charset="0"/>
                                  <a:cs typeface="Times New Roman" panose="02020603050405020304" pitchFamily="18" charset="0"/>
                                </a:rPr>
                                <m:t>𝑁</m:t>
                              </m:r>
                            </m:e>
                            <m:sub>
                              <m:r>
                                <a:rPr lang="en-US" altLang="zh-CN" i="1" smtClean="0">
                                  <a:latin typeface="Cambria Math" panose="02040503050406030204" pitchFamily="18" charset="0"/>
                                  <a:cs typeface="Times New Roman" panose="02020603050405020304" pitchFamily="18" charset="0"/>
                                </a:rPr>
                                <m:t>𝑝</m:t>
                              </m:r>
                            </m:sub>
                          </m:sSub>
                        </m:den>
                      </m:f>
                      <m:nary>
                        <m:naryPr>
                          <m:chr m:val="∑"/>
                          <m:ctrlPr>
                            <a:rPr lang="en-US" altLang="zh-CN" i="1" smtClean="0">
                              <a:latin typeface="Cambria Math" panose="02040503050406030204" pitchFamily="18" charset="0"/>
                              <a:cs typeface="Times New Roman" panose="02020603050405020304" pitchFamily="18" charset="0"/>
                            </a:rPr>
                          </m:ctrlPr>
                        </m:naryPr>
                        <m:sub>
                          <m:r>
                            <a:rPr lang="en-US" altLang="zh-CN" i="1" smtClean="0">
                              <a:latin typeface="Cambria Math" panose="02040503050406030204" pitchFamily="18" charset="0"/>
                              <a:cs typeface="Times New Roman" panose="02020603050405020304" pitchFamily="18" charset="0"/>
                            </a:rPr>
                            <m:t>𝑘</m:t>
                          </m:r>
                          <m:r>
                            <a:rPr lang="en-US" altLang="zh-CN" i="1" smtClean="0">
                              <a:latin typeface="Cambria Math" panose="02040503050406030204" pitchFamily="18" charset="0"/>
                              <a:cs typeface="Times New Roman" panose="02020603050405020304" pitchFamily="18" charset="0"/>
                            </a:rPr>
                            <m:t>=1</m:t>
                          </m:r>
                        </m:sub>
                        <m:sup>
                          <m:sSub>
                            <m:sSubPr>
                              <m:ctrlPr>
                                <a:rPr lang="en-US" altLang="zh-CN" i="1" smtClean="0">
                                  <a:latin typeface="Cambria Math" panose="02040503050406030204" pitchFamily="18" charset="0"/>
                                  <a:cs typeface="Times New Roman" panose="02020603050405020304" pitchFamily="18" charset="0"/>
                                </a:rPr>
                              </m:ctrlPr>
                            </m:sSubPr>
                            <m:e>
                              <m:r>
                                <a:rPr lang="en-US" altLang="zh-CN" i="1" smtClean="0">
                                  <a:latin typeface="Cambria Math" panose="02040503050406030204" pitchFamily="18" charset="0"/>
                                  <a:cs typeface="Times New Roman" panose="02020603050405020304" pitchFamily="18" charset="0"/>
                                </a:rPr>
                                <m:t>𝑁</m:t>
                              </m:r>
                            </m:e>
                            <m:sub>
                              <m:r>
                                <a:rPr lang="en-US" altLang="zh-CN" i="1" smtClean="0">
                                  <a:latin typeface="Cambria Math" panose="02040503050406030204" pitchFamily="18" charset="0"/>
                                  <a:cs typeface="Times New Roman" panose="02020603050405020304" pitchFamily="18" charset="0"/>
                                </a:rPr>
                                <m:t>𝑝</m:t>
                              </m:r>
                            </m:sub>
                          </m:sSub>
                        </m:sup>
                        <m:e>
                          <m:sSub>
                            <m:sSubPr>
                              <m:ctrlPr>
                                <a:rPr lang="en-US" altLang="zh-CN" i="1" smtClean="0">
                                  <a:latin typeface="Cambria Math" panose="02040503050406030204" pitchFamily="18" charset="0"/>
                                  <a:cs typeface="Times New Roman" panose="02020603050405020304" pitchFamily="18" charset="0"/>
                                </a:rPr>
                              </m:ctrlPr>
                            </m:sSubPr>
                            <m:e>
                              <m:r>
                                <a:rPr lang="en-US" altLang="zh-CN" i="1" smtClean="0">
                                  <a:latin typeface="Cambria Math" panose="02040503050406030204" pitchFamily="18" charset="0"/>
                                  <a:cs typeface="Times New Roman" panose="02020603050405020304" pitchFamily="18" charset="0"/>
                                </a:rPr>
                                <m:t>𝐿</m:t>
                              </m:r>
                            </m:e>
                            <m:sub>
                              <m:r>
                                <a:rPr lang="en-US" altLang="zh-CN" i="1" smtClean="0">
                                  <a:latin typeface="Cambria Math" panose="02040503050406030204" pitchFamily="18" charset="0"/>
                                  <a:cs typeface="Times New Roman" panose="02020603050405020304" pitchFamily="18" charset="0"/>
                                </a:rPr>
                                <m:t>𝑘</m:t>
                              </m:r>
                            </m:sub>
                          </m:sSub>
                        </m:e>
                      </m:nary>
                    </m:oMath>
                  </m:oMathPara>
                </a14:m>
                <a:endParaRPr lang="en-US" altLang="zh-CN" dirty="0">
                  <a:latin typeface="Times New Roman" panose="02020603050405020304" pitchFamily="18" charset="0"/>
                  <a:cs typeface="Times New Roman" panose="02020603050405020304" pitchFamily="18" charset="0"/>
                </a:endParaRPr>
              </a:p>
            </p:txBody>
          </p:sp>
        </mc:Choice>
        <mc:Fallback xmlns="">
          <p:sp>
            <p:nvSpPr>
              <p:cNvPr id="6" name="文本框 5">
                <a:extLst>
                  <a:ext uri="{FF2B5EF4-FFF2-40B4-BE49-F238E27FC236}">
                    <a16:creationId xmlns:a16="http://schemas.microsoft.com/office/drawing/2014/main" id="{2865242B-7C37-47CE-C51B-AF13099B58FD}"/>
                  </a:ext>
                </a:extLst>
              </p:cNvPr>
              <p:cNvSpPr txBox="1">
                <a:spLocks noRot="1" noChangeAspect="1" noMove="1" noResize="1" noEditPoints="1" noAdjustHandles="1" noChangeArrowheads="1" noChangeShapeType="1" noTextEdit="1"/>
              </p:cNvSpPr>
              <p:nvPr/>
            </p:nvSpPr>
            <p:spPr>
              <a:xfrm>
                <a:off x="813586" y="957092"/>
                <a:ext cx="2913072" cy="1717714"/>
              </a:xfrm>
              <a:prstGeom prst="rect">
                <a:avLst/>
              </a:prstGeom>
              <a:blipFill>
                <a:blip r:embed="rId5"/>
                <a:stretch>
                  <a:fillRect l="-167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24584056"/>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AE22F-B88C-759D-FE87-5FFFBFB105B5}"/>
            </a:ext>
          </a:extLst>
        </p:cNvPr>
        <p:cNvGrpSpPr/>
        <p:nvPr/>
      </p:nvGrpSpPr>
      <p:grpSpPr>
        <a:xfrm>
          <a:off x="0" y="0"/>
          <a:ext cx="0" cy="0"/>
          <a:chOff x="0" y="0"/>
          <a:chExt cx="0" cy="0"/>
        </a:xfrm>
      </p:grpSpPr>
      <p:sp>
        <p:nvSpPr>
          <p:cNvPr id="44" name="矩形 43">
            <a:extLst>
              <a:ext uri="{FF2B5EF4-FFF2-40B4-BE49-F238E27FC236}">
                <a16:creationId xmlns:a16="http://schemas.microsoft.com/office/drawing/2014/main" id="{9DA132E5-E3CF-97E9-9788-B549006C235B}"/>
              </a:ext>
            </a:extLst>
          </p:cNvPr>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49" name="矩形 48">
            <a:extLst>
              <a:ext uri="{FF2B5EF4-FFF2-40B4-BE49-F238E27FC236}">
                <a16:creationId xmlns:a16="http://schemas.microsoft.com/office/drawing/2014/main" id="{4FCECBB7-037E-34B9-AF7B-83A15056A1FE}"/>
              </a:ext>
            </a:extLst>
          </p:cNvPr>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2" name="矩形 51">
            <a:extLst>
              <a:ext uri="{FF2B5EF4-FFF2-40B4-BE49-F238E27FC236}">
                <a16:creationId xmlns:a16="http://schemas.microsoft.com/office/drawing/2014/main" id="{920D5362-C7EE-EC01-2B1B-3998AFE33009}"/>
              </a:ext>
            </a:extLst>
          </p:cNvPr>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3" name="矩形 52">
            <a:extLst>
              <a:ext uri="{FF2B5EF4-FFF2-40B4-BE49-F238E27FC236}">
                <a16:creationId xmlns:a16="http://schemas.microsoft.com/office/drawing/2014/main" id="{0741166A-A693-730E-A4BF-B01D9052ABE8}"/>
              </a:ext>
            </a:extLst>
          </p:cNvPr>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5" name="文本框 54">
            <a:extLst>
              <a:ext uri="{FF2B5EF4-FFF2-40B4-BE49-F238E27FC236}">
                <a16:creationId xmlns:a16="http://schemas.microsoft.com/office/drawing/2014/main" id="{1E29546F-70F7-F0D1-530A-27263C515913}"/>
              </a:ext>
            </a:extLst>
          </p:cNvPr>
          <p:cNvSpPr txBox="1"/>
          <p:nvPr/>
        </p:nvSpPr>
        <p:spPr bwMode="auto">
          <a:xfrm>
            <a:off x="813585" y="287917"/>
            <a:ext cx="6894239"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dirty="0">
                <a:solidFill>
                  <a:srgbClr val="E5DEDB">
                    <a:lumMod val="10000"/>
                    <a:alpha val="85000"/>
                  </a:srgbClr>
                </a:solidFill>
                <a:latin typeface="Times New Roman" panose="02020603050405020304" pitchFamily="18" charset="0"/>
                <a:cs typeface="Times New Roman" panose="02020603050405020304" pitchFamily="18" charset="0"/>
              </a:rPr>
              <a:t>Sensitivity Analysis of Workflow</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6" name="文本框 5">
            <a:extLst>
              <a:ext uri="{FF2B5EF4-FFF2-40B4-BE49-F238E27FC236}">
                <a16:creationId xmlns:a16="http://schemas.microsoft.com/office/drawing/2014/main" id="{6F206BC8-99C1-BC78-5C8D-63C436809546}"/>
              </a:ext>
            </a:extLst>
          </p:cNvPr>
          <p:cNvSpPr txBox="1"/>
          <p:nvPr/>
        </p:nvSpPr>
        <p:spPr>
          <a:xfrm>
            <a:off x="2967654" y="846877"/>
            <a:ext cx="1916841" cy="395749"/>
          </a:xfrm>
          <a:prstGeom prst="rect">
            <a:avLst/>
          </a:prstGeom>
          <a:noFill/>
        </p:spPr>
        <p:txBody>
          <a:bodyPr wrap="square">
            <a:spAutoFit/>
          </a:bodyPr>
          <a:lstStyle/>
          <a:p>
            <a:pPr algn="ctr">
              <a:lnSpc>
                <a:spcPct val="120000"/>
              </a:lnSpc>
            </a:pPr>
            <a:r>
              <a:rPr lang="en-US" altLang="zh-CN" b="1">
                <a:latin typeface="Times New Roman" panose="02020603050405020304" pitchFamily="18" charset="0"/>
                <a:cs typeface="Times New Roman" panose="02020603050405020304" pitchFamily="18" charset="0"/>
              </a:rPr>
              <a:t>Initial Workflow</a:t>
            </a:r>
            <a:endParaRPr lang="en-US" altLang="zh-CN" b="1" dirty="0">
              <a:latin typeface="Times New Roman" panose="02020603050405020304" pitchFamily="18" charset="0"/>
              <a:cs typeface="Times New Roman" panose="02020603050405020304" pitchFamily="18" charset="0"/>
            </a:endParaRPr>
          </a:p>
        </p:txBody>
      </p:sp>
      <p:pic>
        <p:nvPicPr>
          <p:cNvPr id="4" name="图片 3">
            <a:extLst>
              <a:ext uri="{FF2B5EF4-FFF2-40B4-BE49-F238E27FC236}">
                <a16:creationId xmlns:a16="http://schemas.microsoft.com/office/drawing/2014/main" id="{18F7E68D-76A2-B808-8988-4E179E436A44}"/>
              </a:ext>
            </a:extLst>
          </p:cNvPr>
          <p:cNvPicPr>
            <a:picLocks noChangeAspect="1"/>
          </p:cNvPicPr>
          <p:nvPr/>
        </p:nvPicPr>
        <p:blipFill>
          <a:blip r:embed="rId3"/>
          <a:stretch>
            <a:fillRect/>
          </a:stretch>
        </p:blipFill>
        <p:spPr>
          <a:xfrm>
            <a:off x="950117" y="1282713"/>
            <a:ext cx="6041606" cy="1289037"/>
          </a:xfrm>
          <a:prstGeom prst="rect">
            <a:avLst/>
          </a:prstGeom>
        </p:spPr>
      </p:pic>
      <p:pic>
        <p:nvPicPr>
          <p:cNvPr id="7" name="图片 6">
            <a:extLst>
              <a:ext uri="{FF2B5EF4-FFF2-40B4-BE49-F238E27FC236}">
                <a16:creationId xmlns:a16="http://schemas.microsoft.com/office/drawing/2014/main" id="{AFC23092-BDA9-697A-B310-B93C2F11981E}"/>
              </a:ext>
            </a:extLst>
          </p:cNvPr>
          <p:cNvPicPr>
            <a:picLocks noChangeAspect="1"/>
          </p:cNvPicPr>
          <p:nvPr/>
        </p:nvPicPr>
        <p:blipFill>
          <a:blip r:embed="rId4"/>
          <a:stretch>
            <a:fillRect/>
          </a:stretch>
        </p:blipFill>
        <p:spPr>
          <a:xfrm>
            <a:off x="1098128" y="3378994"/>
            <a:ext cx="5893595" cy="1569122"/>
          </a:xfrm>
          <a:prstGeom prst="rect">
            <a:avLst/>
          </a:prstGeom>
        </p:spPr>
      </p:pic>
      <p:sp>
        <p:nvSpPr>
          <p:cNvPr id="2" name="文本框 1">
            <a:extLst>
              <a:ext uri="{FF2B5EF4-FFF2-40B4-BE49-F238E27FC236}">
                <a16:creationId xmlns:a16="http://schemas.microsoft.com/office/drawing/2014/main" id="{11D14E07-CF62-40D5-A632-C3511A00986F}"/>
              </a:ext>
            </a:extLst>
          </p:cNvPr>
          <p:cNvSpPr txBox="1"/>
          <p:nvPr/>
        </p:nvSpPr>
        <p:spPr>
          <a:xfrm>
            <a:off x="2967654" y="2983245"/>
            <a:ext cx="2375872" cy="395749"/>
          </a:xfrm>
          <a:prstGeom prst="rect">
            <a:avLst/>
          </a:prstGeom>
          <a:noFill/>
        </p:spPr>
        <p:txBody>
          <a:bodyPr wrap="square">
            <a:spAutoFit/>
          </a:bodyPr>
          <a:lstStyle/>
          <a:p>
            <a:pPr algn="ctr">
              <a:lnSpc>
                <a:spcPct val="120000"/>
              </a:lnSpc>
            </a:pPr>
            <a:r>
              <a:rPr lang="en-US" altLang="zh-CN" b="1">
                <a:latin typeface="Times New Roman" panose="02020603050405020304" pitchFamily="18" charset="0"/>
                <a:cs typeface="Times New Roman" panose="02020603050405020304" pitchFamily="18" charset="0"/>
              </a:rPr>
              <a:t>Workflow Generation</a:t>
            </a:r>
            <a:endParaRPr lang="en-US" altLang="zh-C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40972664"/>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等腰三角形 8"/>
          <p:cNvSpPr/>
          <p:nvPr/>
        </p:nvSpPr>
        <p:spPr>
          <a:xfrm rot="1650064">
            <a:off x="6818085" y="670620"/>
            <a:ext cx="333809" cy="574152"/>
          </a:xfrm>
          <a:prstGeom prst="triangle">
            <a:avLst/>
          </a:prstGeom>
          <a:solidFill>
            <a:srgbClr val="66BFBC"/>
          </a:soli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0" name="等腰三角形 9"/>
          <p:cNvSpPr/>
          <p:nvPr/>
        </p:nvSpPr>
        <p:spPr>
          <a:xfrm rot="12132218">
            <a:off x="5106647" y="570490"/>
            <a:ext cx="292713" cy="591282"/>
          </a:xfrm>
          <a:prstGeom prst="triangle">
            <a:avLst/>
          </a:prstGeom>
          <a:solidFill>
            <a:srgbClr val="FC6E5B">
              <a:alpha val="31000"/>
            </a:srgbClr>
          </a:soli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81" name="任意多边形 80"/>
          <p:cNvSpPr/>
          <p:nvPr/>
        </p:nvSpPr>
        <p:spPr>
          <a:xfrm rot="8289040">
            <a:off x="7578328" y="683419"/>
            <a:ext cx="1860947" cy="146447"/>
          </a:xfrm>
          <a:custGeom>
            <a:avLst/>
            <a:gdLst>
              <a:gd name="connsiteX0" fmla="*/ 0 w 2481081"/>
              <a:gd name="connsiteY0" fmla="*/ 194529 h 194529"/>
              <a:gd name="connsiteX1" fmla="*/ 174230 w 2481081"/>
              <a:gd name="connsiteY1" fmla="*/ 0 h 194529"/>
              <a:gd name="connsiteX2" fmla="*/ 2263889 w 2481081"/>
              <a:gd name="connsiteY2" fmla="*/ 0 h 194529"/>
              <a:gd name="connsiteX3" fmla="*/ 2481081 w 2481081"/>
              <a:gd name="connsiteY3" fmla="*/ 194529 h 194529"/>
            </a:gdLst>
            <a:ahLst/>
            <a:cxnLst>
              <a:cxn ang="0">
                <a:pos x="connsiteX0" y="connsiteY0"/>
              </a:cxn>
              <a:cxn ang="0">
                <a:pos x="connsiteX1" y="connsiteY1"/>
              </a:cxn>
              <a:cxn ang="0">
                <a:pos x="connsiteX2" y="connsiteY2"/>
              </a:cxn>
              <a:cxn ang="0">
                <a:pos x="connsiteX3" y="connsiteY3"/>
              </a:cxn>
            </a:cxnLst>
            <a:rect l="l" t="t" r="r" b="b"/>
            <a:pathLst>
              <a:path w="2481081" h="194529">
                <a:moveTo>
                  <a:pt x="0" y="194529"/>
                </a:moveTo>
                <a:lnTo>
                  <a:pt x="174230" y="0"/>
                </a:lnTo>
                <a:lnTo>
                  <a:pt x="2263889" y="0"/>
                </a:lnTo>
                <a:lnTo>
                  <a:pt x="2481081" y="194529"/>
                </a:lnTo>
                <a:close/>
              </a:path>
            </a:pathLst>
          </a:cu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73" name="任意多边形 72"/>
          <p:cNvSpPr/>
          <p:nvPr/>
        </p:nvSpPr>
        <p:spPr>
          <a:xfrm rot="8289040">
            <a:off x="7637860" y="503635"/>
            <a:ext cx="1614488" cy="33338"/>
          </a:xfrm>
          <a:custGeom>
            <a:avLst/>
            <a:gdLst>
              <a:gd name="connsiteX0" fmla="*/ 51045 w 2151533"/>
              <a:gd name="connsiteY0" fmla="*/ 45719 h 45719"/>
              <a:gd name="connsiteX1" fmla="*/ 0 w 2151533"/>
              <a:gd name="connsiteY1" fmla="*/ 0 h 45719"/>
              <a:gd name="connsiteX2" fmla="*/ 2151533 w 2151533"/>
              <a:gd name="connsiteY2" fmla="*/ 0 h 45719"/>
              <a:gd name="connsiteX3" fmla="*/ 2151533 w 2151533"/>
              <a:gd name="connsiteY3" fmla="*/ 45719 h 45719"/>
            </a:gdLst>
            <a:ahLst/>
            <a:cxnLst>
              <a:cxn ang="0">
                <a:pos x="connsiteX0" y="connsiteY0"/>
              </a:cxn>
              <a:cxn ang="0">
                <a:pos x="connsiteX1" y="connsiteY1"/>
              </a:cxn>
              <a:cxn ang="0">
                <a:pos x="connsiteX2" y="connsiteY2"/>
              </a:cxn>
              <a:cxn ang="0">
                <a:pos x="connsiteX3" y="connsiteY3"/>
              </a:cxn>
            </a:cxnLst>
            <a:rect l="l" t="t" r="r" b="b"/>
            <a:pathLst>
              <a:path w="2151533" h="45719">
                <a:moveTo>
                  <a:pt x="51045" y="45719"/>
                </a:moveTo>
                <a:lnTo>
                  <a:pt x="0" y="0"/>
                </a:lnTo>
                <a:lnTo>
                  <a:pt x="2151533" y="0"/>
                </a:lnTo>
                <a:lnTo>
                  <a:pt x="2151533" y="45719"/>
                </a:lnTo>
                <a:close/>
              </a:path>
            </a:pathLst>
          </a:custGeom>
          <a:solidFill>
            <a:srgbClr val="79C7C5">
              <a:alpha val="4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47" name="任意多边形 46"/>
          <p:cNvSpPr/>
          <p:nvPr/>
        </p:nvSpPr>
        <p:spPr>
          <a:xfrm rot="8289040">
            <a:off x="7946231" y="1422798"/>
            <a:ext cx="1404938" cy="34528"/>
          </a:xfrm>
          <a:custGeom>
            <a:avLst/>
            <a:gdLst>
              <a:gd name="connsiteX0" fmla="*/ 0 w 1873652"/>
              <a:gd name="connsiteY0" fmla="*/ 45719 h 45719"/>
              <a:gd name="connsiteX1" fmla="*/ 40948 w 1873652"/>
              <a:gd name="connsiteY1" fmla="*/ 0 h 45719"/>
              <a:gd name="connsiteX2" fmla="*/ 1873652 w 1873652"/>
              <a:gd name="connsiteY2" fmla="*/ 0 h 45719"/>
              <a:gd name="connsiteX3" fmla="*/ 1873652 w 1873652"/>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873652" h="45719">
                <a:moveTo>
                  <a:pt x="0" y="45719"/>
                </a:moveTo>
                <a:lnTo>
                  <a:pt x="40948" y="0"/>
                </a:lnTo>
                <a:lnTo>
                  <a:pt x="1873652" y="0"/>
                </a:lnTo>
                <a:lnTo>
                  <a:pt x="1873652" y="45719"/>
                </a:lnTo>
                <a:close/>
              </a:path>
            </a:pathLst>
          </a:custGeom>
          <a:solidFill>
            <a:srgbClr val="FC6E5B">
              <a:alpha val="3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76" name="任意多边形 75"/>
          <p:cNvSpPr/>
          <p:nvPr/>
        </p:nvSpPr>
        <p:spPr>
          <a:xfrm rot="8289040">
            <a:off x="7749778" y="1759744"/>
            <a:ext cx="1643063" cy="115491"/>
          </a:xfrm>
          <a:custGeom>
            <a:avLst/>
            <a:gdLst>
              <a:gd name="connsiteX0" fmla="*/ 0 w 2190050"/>
              <a:gd name="connsiteY0" fmla="*/ 155058 h 155058"/>
              <a:gd name="connsiteX1" fmla="*/ 138878 w 2190050"/>
              <a:gd name="connsiteY1" fmla="*/ 0 h 155058"/>
              <a:gd name="connsiteX2" fmla="*/ 2016928 w 2190050"/>
              <a:gd name="connsiteY2" fmla="*/ 0 h 155058"/>
              <a:gd name="connsiteX3" fmla="*/ 2190050 w 2190050"/>
              <a:gd name="connsiteY3" fmla="*/ 155058 h 155058"/>
            </a:gdLst>
            <a:ahLst/>
            <a:cxnLst>
              <a:cxn ang="0">
                <a:pos x="connsiteX0" y="connsiteY0"/>
              </a:cxn>
              <a:cxn ang="0">
                <a:pos x="connsiteX1" y="connsiteY1"/>
              </a:cxn>
              <a:cxn ang="0">
                <a:pos x="connsiteX2" y="connsiteY2"/>
              </a:cxn>
              <a:cxn ang="0">
                <a:pos x="connsiteX3" y="connsiteY3"/>
              </a:cxn>
            </a:cxnLst>
            <a:rect l="l" t="t" r="r" b="b"/>
            <a:pathLst>
              <a:path w="2190050" h="155058">
                <a:moveTo>
                  <a:pt x="0" y="155058"/>
                </a:moveTo>
                <a:lnTo>
                  <a:pt x="138878" y="0"/>
                </a:lnTo>
                <a:lnTo>
                  <a:pt x="2016928" y="0"/>
                </a:lnTo>
                <a:lnTo>
                  <a:pt x="2190050" y="155058"/>
                </a:lnTo>
                <a:close/>
              </a:path>
            </a:pathLst>
          </a:cu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45" name="任意多边形 44"/>
          <p:cNvSpPr/>
          <p:nvPr/>
        </p:nvSpPr>
        <p:spPr>
          <a:xfrm rot="8289040">
            <a:off x="8521304" y="1850231"/>
            <a:ext cx="744140" cy="34529"/>
          </a:xfrm>
          <a:custGeom>
            <a:avLst/>
            <a:gdLst>
              <a:gd name="connsiteX0" fmla="*/ 0 w 991862"/>
              <a:gd name="connsiteY0" fmla="*/ 45719 h 45719"/>
              <a:gd name="connsiteX1" fmla="*/ 40948 w 991862"/>
              <a:gd name="connsiteY1" fmla="*/ 0 h 45719"/>
              <a:gd name="connsiteX2" fmla="*/ 991862 w 991862"/>
              <a:gd name="connsiteY2" fmla="*/ 0 h 45719"/>
              <a:gd name="connsiteX3" fmla="*/ 991862 w 991862"/>
              <a:gd name="connsiteY3" fmla="*/ 45719 h 45719"/>
            </a:gdLst>
            <a:ahLst/>
            <a:cxnLst>
              <a:cxn ang="0">
                <a:pos x="connsiteX0" y="connsiteY0"/>
              </a:cxn>
              <a:cxn ang="0">
                <a:pos x="connsiteX1" y="connsiteY1"/>
              </a:cxn>
              <a:cxn ang="0">
                <a:pos x="connsiteX2" y="connsiteY2"/>
              </a:cxn>
              <a:cxn ang="0">
                <a:pos x="connsiteX3" y="connsiteY3"/>
              </a:cxn>
            </a:cxnLst>
            <a:rect l="l" t="t" r="r" b="b"/>
            <a:pathLst>
              <a:path w="991862" h="45719">
                <a:moveTo>
                  <a:pt x="0" y="45719"/>
                </a:moveTo>
                <a:lnTo>
                  <a:pt x="40948" y="0"/>
                </a:lnTo>
                <a:lnTo>
                  <a:pt x="991862" y="0"/>
                </a:lnTo>
                <a:lnTo>
                  <a:pt x="991862" y="45719"/>
                </a:lnTo>
                <a:close/>
              </a:path>
            </a:pathLst>
          </a:custGeom>
          <a:solidFill>
            <a:srgbClr val="8CC066">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nvGrpSpPr>
          <p:cNvPr id="2" name="组合 163"/>
          <p:cNvGrpSpPr/>
          <p:nvPr/>
        </p:nvGrpSpPr>
        <p:grpSpPr bwMode="auto">
          <a:xfrm>
            <a:off x="8003382" y="2431256"/>
            <a:ext cx="721519" cy="838200"/>
            <a:chOff x="10670736" y="3241053"/>
            <a:chExt cx="962659" cy="1118718"/>
          </a:xfrm>
        </p:grpSpPr>
        <p:sp>
          <p:nvSpPr>
            <p:cNvPr id="16" name="等腰三角形 15"/>
            <p:cNvSpPr/>
            <p:nvPr/>
          </p:nvSpPr>
          <p:spPr>
            <a:xfrm rot="2928219">
              <a:off x="10597584" y="3314205"/>
              <a:ext cx="1060704" cy="914400"/>
            </a:xfrm>
            <a:prstGeom prst="triangle">
              <a:avLst/>
            </a:prstGeom>
            <a:solidFill>
              <a:srgbClr val="66BFBC">
                <a:alpha val="76000"/>
              </a:srgbClr>
            </a:soli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7" name="等腰三角形 16"/>
            <p:cNvSpPr/>
            <p:nvPr/>
          </p:nvSpPr>
          <p:spPr>
            <a:xfrm rot="20901646">
              <a:off x="10936527" y="3445371"/>
              <a:ext cx="696868" cy="914400"/>
            </a:xfrm>
            <a:custGeom>
              <a:avLst/>
              <a:gdLst>
                <a:gd name="connsiteX0" fmla="*/ 0 w 1060704"/>
                <a:gd name="connsiteY0" fmla="*/ 914400 h 914400"/>
                <a:gd name="connsiteX1" fmla="*/ 530352 w 1060704"/>
                <a:gd name="connsiteY1" fmla="*/ 0 h 914400"/>
                <a:gd name="connsiteX2" fmla="*/ 1060704 w 1060704"/>
                <a:gd name="connsiteY2" fmla="*/ 914400 h 914400"/>
                <a:gd name="connsiteX3" fmla="*/ 0 w 1060704"/>
                <a:gd name="connsiteY3" fmla="*/ 914400 h 914400"/>
                <a:gd name="connsiteX0-1" fmla="*/ 0 w 696868"/>
                <a:gd name="connsiteY0-2" fmla="*/ 914400 h 914400"/>
                <a:gd name="connsiteX1-3" fmla="*/ 530352 w 696868"/>
                <a:gd name="connsiteY1-4" fmla="*/ 0 h 914400"/>
                <a:gd name="connsiteX2-5" fmla="*/ 696868 w 696868"/>
                <a:gd name="connsiteY2-6" fmla="*/ 839454 h 914400"/>
                <a:gd name="connsiteX3-7" fmla="*/ 0 w 696868"/>
                <a:gd name="connsiteY3-8" fmla="*/ 914400 h 914400"/>
              </a:gdLst>
              <a:ahLst/>
              <a:cxnLst>
                <a:cxn ang="0">
                  <a:pos x="connsiteX0-1" y="connsiteY0-2"/>
                </a:cxn>
                <a:cxn ang="0">
                  <a:pos x="connsiteX1-3" y="connsiteY1-4"/>
                </a:cxn>
                <a:cxn ang="0">
                  <a:pos x="connsiteX2-5" y="connsiteY2-6"/>
                </a:cxn>
                <a:cxn ang="0">
                  <a:pos x="connsiteX3-7" y="connsiteY3-8"/>
                </a:cxn>
              </a:cxnLst>
              <a:rect l="l" t="t" r="r" b="b"/>
              <a:pathLst>
                <a:path w="696868" h="914400">
                  <a:moveTo>
                    <a:pt x="0" y="914400"/>
                  </a:moveTo>
                  <a:lnTo>
                    <a:pt x="530352" y="0"/>
                  </a:lnTo>
                  <a:lnTo>
                    <a:pt x="696868" y="839454"/>
                  </a:lnTo>
                  <a:lnTo>
                    <a:pt x="0" y="914400"/>
                  </a:lnTo>
                  <a:close/>
                </a:path>
              </a:pathLst>
            </a:custGeom>
            <a:solidFill>
              <a:srgbClr val="66BFBC"/>
            </a:solidFill>
            <a:ln>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sp>
        <p:nvSpPr>
          <p:cNvPr id="24" name="等腰三角形 23"/>
          <p:cNvSpPr/>
          <p:nvPr/>
        </p:nvSpPr>
        <p:spPr>
          <a:xfrm rot="14549936" flipH="1">
            <a:off x="5116580" y="3430487"/>
            <a:ext cx="333809" cy="574152"/>
          </a:xfrm>
          <a:prstGeom prst="triangle">
            <a:avLst/>
          </a:prstGeom>
          <a:solidFill>
            <a:srgbClr val="66BFBC"/>
          </a:solidFill>
          <a:ln>
            <a:noFill/>
          </a:ln>
          <a:effectLst>
            <a:softEdge rad="889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30" name="等腰三角形 29"/>
          <p:cNvSpPr/>
          <p:nvPr/>
        </p:nvSpPr>
        <p:spPr>
          <a:xfrm rot="14549936" flipH="1">
            <a:off x="4147800" y="3563063"/>
            <a:ext cx="333809" cy="574152"/>
          </a:xfrm>
          <a:prstGeom prst="triangle">
            <a:avLst/>
          </a:prstGeom>
          <a:solidFill>
            <a:srgbClr val="66BFBC"/>
          </a:solidFill>
          <a:ln>
            <a:noFill/>
          </a:ln>
          <a:effectLst>
            <a:softEdge rad="889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31" name="等腰三角形 30"/>
          <p:cNvSpPr/>
          <p:nvPr/>
        </p:nvSpPr>
        <p:spPr>
          <a:xfrm rot="14549936" flipH="1">
            <a:off x="5551738" y="3580769"/>
            <a:ext cx="333809" cy="574152"/>
          </a:xfrm>
          <a:prstGeom prst="triangle">
            <a:avLst/>
          </a:prstGeom>
          <a:solidFill>
            <a:srgbClr val="FC6E5B"/>
          </a:solidFill>
          <a:ln>
            <a:noFill/>
          </a:ln>
          <a:effectLst>
            <a:softEdge rad="889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nvGrpSpPr>
          <p:cNvPr id="3" name="组合 10"/>
          <p:cNvGrpSpPr/>
          <p:nvPr/>
        </p:nvGrpSpPr>
        <p:grpSpPr bwMode="auto">
          <a:xfrm>
            <a:off x="720329" y="1735932"/>
            <a:ext cx="620315" cy="692944"/>
            <a:chOff x="1354861" y="2750116"/>
            <a:chExt cx="828164" cy="924005"/>
          </a:xfrm>
        </p:grpSpPr>
        <p:sp>
          <p:nvSpPr>
            <p:cNvPr id="33" name="直角三角形 32"/>
            <p:cNvSpPr/>
            <p:nvPr/>
          </p:nvSpPr>
          <p:spPr>
            <a:xfrm rot="3161904">
              <a:off x="1665936" y="3157032"/>
              <a:ext cx="517570" cy="516609"/>
            </a:xfrm>
            <a:prstGeom prst="rtTriangle">
              <a:avLst/>
            </a:prstGeom>
            <a:solidFill>
              <a:srgbClr val="66BFBC">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34" name="直角三角形 33"/>
            <p:cNvSpPr/>
            <p:nvPr/>
          </p:nvSpPr>
          <p:spPr>
            <a:xfrm rot="3161904" flipH="1">
              <a:off x="1354381" y="2750596"/>
              <a:ext cx="517570" cy="516609"/>
            </a:xfrm>
            <a:prstGeom prst="rtTriangle">
              <a:avLst/>
            </a:prstGeom>
            <a:solidFill>
              <a:srgbClr val="66BFBC">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sp>
        <p:nvSpPr>
          <p:cNvPr id="39" name="直角三角形 38"/>
          <p:cNvSpPr/>
          <p:nvPr/>
        </p:nvSpPr>
        <p:spPr>
          <a:xfrm rot="3176496">
            <a:off x="2666724" y="3947868"/>
            <a:ext cx="230419" cy="230418"/>
          </a:xfrm>
          <a:prstGeom prst="rtTriangle">
            <a:avLst/>
          </a:prstGeom>
          <a:solidFill>
            <a:srgbClr val="66BFBC">
              <a:alpha val="60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40" name="直角三角形 39"/>
          <p:cNvSpPr/>
          <p:nvPr/>
        </p:nvSpPr>
        <p:spPr>
          <a:xfrm rot="3176496" flipH="1">
            <a:off x="2545217" y="3786292"/>
            <a:ext cx="230419" cy="230418"/>
          </a:xfrm>
          <a:prstGeom prst="rtTriangle">
            <a:avLst/>
          </a:prstGeom>
          <a:solidFill>
            <a:srgbClr val="66BFBC">
              <a:alpha val="90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82" name="等腰三角形 81"/>
          <p:cNvSpPr/>
          <p:nvPr/>
        </p:nvSpPr>
        <p:spPr>
          <a:xfrm rot="8943941">
            <a:off x="2458504" y="963636"/>
            <a:ext cx="646247" cy="809888"/>
          </a:xfrm>
          <a:prstGeom prst="triangle">
            <a:avLst/>
          </a:prstGeom>
          <a:solidFill>
            <a:srgbClr val="FC6E5B">
              <a:alpha val="62000"/>
            </a:srgbClr>
          </a:solidFill>
          <a:ln>
            <a:noFill/>
          </a:ln>
          <a:effectLst>
            <a:softEdge rad="1524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83" name="椭圆 82"/>
          <p:cNvSpPr/>
          <p:nvPr/>
        </p:nvSpPr>
        <p:spPr>
          <a:xfrm>
            <a:off x="1959685" y="1250983"/>
            <a:ext cx="582704" cy="644636"/>
          </a:xfrm>
          <a:prstGeom prst="ellipse">
            <a:avLst/>
          </a:prstGeom>
          <a:solidFill>
            <a:srgbClr val="FBC75D">
              <a:alpha val="56000"/>
            </a:srgbClr>
          </a:solidFill>
          <a:ln>
            <a:noFill/>
          </a:ln>
          <a:effectLst>
            <a:softEdge rad="2540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88" name="等腰三角形 87"/>
          <p:cNvSpPr/>
          <p:nvPr/>
        </p:nvSpPr>
        <p:spPr>
          <a:xfrm rot="7669978">
            <a:off x="1265381" y="1570446"/>
            <a:ext cx="227435" cy="216216"/>
          </a:xfrm>
          <a:prstGeom prst="triangle">
            <a:avLst/>
          </a:prstGeom>
          <a:solidFill>
            <a:srgbClr val="8CC066">
              <a:alpha val="62000"/>
            </a:srgbClr>
          </a:solidFill>
          <a:ln>
            <a:noFill/>
          </a:ln>
          <a:effectLst>
            <a:softEdge rad="254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78" name="任意多边形 77"/>
          <p:cNvSpPr/>
          <p:nvPr/>
        </p:nvSpPr>
        <p:spPr>
          <a:xfrm rot="8289040">
            <a:off x="5639991" y="4461273"/>
            <a:ext cx="2016919" cy="145256"/>
          </a:xfrm>
          <a:custGeom>
            <a:avLst/>
            <a:gdLst>
              <a:gd name="connsiteX0" fmla="*/ 217193 w 2688632"/>
              <a:gd name="connsiteY0" fmla="*/ 194530 h 194530"/>
              <a:gd name="connsiteX1" fmla="*/ 0 w 2688632"/>
              <a:gd name="connsiteY1" fmla="*/ 0 h 194530"/>
              <a:gd name="connsiteX2" fmla="*/ 2471440 w 2688632"/>
              <a:gd name="connsiteY2" fmla="*/ 0 h 194530"/>
              <a:gd name="connsiteX3" fmla="*/ 2688632 w 2688632"/>
              <a:gd name="connsiteY3" fmla="*/ 194529 h 194530"/>
            </a:gdLst>
            <a:ahLst/>
            <a:cxnLst>
              <a:cxn ang="0">
                <a:pos x="connsiteX0" y="connsiteY0"/>
              </a:cxn>
              <a:cxn ang="0">
                <a:pos x="connsiteX1" y="connsiteY1"/>
              </a:cxn>
              <a:cxn ang="0">
                <a:pos x="connsiteX2" y="connsiteY2"/>
              </a:cxn>
              <a:cxn ang="0">
                <a:pos x="connsiteX3" y="connsiteY3"/>
              </a:cxn>
            </a:cxnLst>
            <a:rect l="l" t="t" r="r" b="b"/>
            <a:pathLst>
              <a:path w="2688632" h="194530">
                <a:moveTo>
                  <a:pt x="217193" y="194530"/>
                </a:moveTo>
                <a:lnTo>
                  <a:pt x="0" y="0"/>
                </a:lnTo>
                <a:lnTo>
                  <a:pt x="2471440" y="0"/>
                </a:lnTo>
                <a:lnTo>
                  <a:pt x="2688632" y="194529"/>
                </a:lnTo>
                <a:close/>
              </a:path>
            </a:pathLst>
          </a:cu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66" name="任意多边形 65"/>
          <p:cNvSpPr/>
          <p:nvPr/>
        </p:nvSpPr>
        <p:spPr>
          <a:xfrm rot="8289040">
            <a:off x="6201967" y="4785122"/>
            <a:ext cx="1087040" cy="33338"/>
          </a:xfrm>
          <a:custGeom>
            <a:avLst/>
            <a:gdLst>
              <a:gd name="connsiteX0" fmla="*/ 0 w 1448568"/>
              <a:gd name="connsiteY0" fmla="*/ 45719 h 45719"/>
              <a:gd name="connsiteX1" fmla="*/ 0 w 1448568"/>
              <a:gd name="connsiteY1" fmla="*/ 0 h 45719"/>
              <a:gd name="connsiteX2" fmla="*/ 1397523 w 1448568"/>
              <a:gd name="connsiteY2" fmla="*/ 0 h 45719"/>
              <a:gd name="connsiteX3" fmla="*/ 1448568 w 1448568"/>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448568" h="45719">
                <a:moveTo>
                  <a:pt x="0" y="45719"/>
                </a:moveTo>
                <a:lnTo>
                  <a:pt x="0" y="0"/>
                </a:lnTo>
                <a:lnTo>
                  <a:pt x="1397523" y="0"/>
                </a:lnTo>
                <a:lnTo>
                  <a:pt x="1448568" y="45719"/>
                </a:lnTo>
                <a:close/>
              </a:path>
            </a:pathLst>
          </a:custGeom>
          <a:solidFill>
            <a:srgbClr val="FC6E5B">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64" name="任意多边形 63"/>
          <p:cNvSpPr/>
          <p:nvPr/>
        </p:nvSpPr>
        <p:spPr>
          <a:xfrm rot="8289040">
            <a:off x="6536532" y="4701779"/>
            <a:ext cx="1332310" cy="34528"/>
          </a:xfrm>
          <a:custGeom>
            <a:avLst/>
            <a:gdLst>
              <a:gd name="connsiteX0" fmla="*/ 0 w 1776912"/>
              <a:gd name="connsiteY0" fmla="*/ 45719 h 45719"/>
              <a:gd name="connsiteX1" fmla="*/ 0 w 1776912"/>
              <a:gd name="connsiteY1" fmla="*/ 0 h 45719"/>
              <a:gd name="connsiteX2" fmla="*/ 1725868 w 1776912"/>
              <a:gd name="connsiteY2" fmla="*/ 1 h 45719"/>
              <a:gd name="connsiteX3" fmla="*/ 1776912 w 1776912"/>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776912" h="45719">
                <a:moveTo>
                  <a:pt x="0" y="45719"/>
                </a:moveTo>
                <a:lnTo>
                  <a:pt x="0" y="0"/>
                </a:lnTo>
                <a:lnTo>
                  <a:pt x="1725868" y="1"/>
                </a:lnTo>
                <a:lnTo>
                  <a:pt x="1776912" y="45719"/>
                </a:lnTo>
                <a:close/>
              </a:path>
            </a:pathLst>
          </a:custGeom>
          <a:solidFill>
            <a:srgbClr val="66BFBC">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70" name="任意多边形 69"/>
          <p:cNvSpPr/>
          <p:nvPr/>
        </p:nvSpPr>
        <p:spPr>
          <a:xfrm rot="8289040">
            <a:off x="5232798" y="4589860"/>
            <a:ext cx="1674019" cy="34528"/>
          </a:xfrm>
          <a:custGeom>
            <a:avLst/>
            <a:gdLst>
              <a:gd name="connsiteX0" fmla="*/ 0 w 2230870"/>
              <a:gd name="connsiteY0" fmla="*/ 45719 h 45719"/>
              <a:gd name="connsiteX1" fmla="*/ 0 w 2230870"/>
              <a:gd name="connsiteY1" fmla="*/ 0 h 45719"/>
              <a:gd name="connsiteX2" fmla="*/ 2179825 w 2230870"/>
              <a:gd name="connsiteY2" fmla="*/ 0 h 45719"/>
              <a:gd name="connsiteX3" fmla="*/ 2230870 w 2230870"/>
              <a:gd name="connsiteY3" fmla="*/ 45719 h 45719"/>
            </a:gdLst>
            <a:ahLst/>
            <a:cxnLst>
              <a:cxn ang="0">
                <a:pos x="connsiteX0" y="connsiteY0"/>
              </a:cxn>
              <a:cxn ang="0">
                <a:pos x="connsiteX1" y="connsiteY1"/>
              </a:cxn>
              <a:cxn ang="0">
                <a:pos x="connsiteX2" y="connsiteY2"/>
              </a:cxn>
              <a:cxn ang="0">
                <a:pos x="connsiteX3" y="connsiteY3"/>
              </a:cxn>
            </a:cxnLst>
            <a:rect l="l" t="t" r="r" b="b"/>
            <a:pathLst>
              <a:path w="2230870" h="45719">
                <a:moveTo>
                  <a:pt x="0" y="45719"/>
                </a:moveTo>
                <a:lnTo>
                  <a:pt x="0" y="0"/>
                </a:lnTo>
                <a:lnTo>
                  <a:pt x="2179825" y="0"/>
                </a:lnTo>
                <a:lnTo>
                  <a:pt x="2230870" y="45719"/>
                </a:lnTo>
                <a:close/>
              </a:path>
            </a:pathLst>
          </a:custGeom>
          <a:solidFill>
            <a:srgbClr val="66BFBC">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72" name="任意多边形 71"/>
          <p:cNvSpPr/>
          <p:nvPr/>
        </p:nvSpPr>
        <p:spPr>
          <a:xfrm rot="8289040">
            <a:off x="4748212" y="4879181"/>
            <a:ext cx="806054" cy="33338"/>
          </a:xfrm>
          <a:custGeom>
            <a:avLst/>
            <a:gdLst>
              <a:gd name="connsiteX0" fmla="*/ 0 w 1075142"/>
              <a:gd name="connsiteY0" fmla="*/ 45719 h 45719"/>
              <a:gd name="connsiteX1" fmla="*/ 0 w 1075142"/>
              <a:gd name="connsiteY1" fmla="*/ 0 h 45719"/>
              <a:gd name="connsiteX2" fmla="*/ 1024097 w 1075142"/>
              <a:gd name="connsiteY2" fmla="*/ 0 h 45719"/>
              <a:gd name="connsiteX3" fmla="*/ 1075142 w 1075142"/>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075142" h="45719">
                <a:moveTo>
                  <a:pt x="0" y="45719"/>
                </a:moveTo>
                <a:lnTo>
                  <a:pt x="0" y="0"/>
                </a:lnTo>
                <a:lnTo>
                  <a:pt x="1024097" y="0"/>
                </a:lnTo>
                <a:lnTo>
                  <a:pt x="1075142" y="45719"/>
                </a:lnTo>
                <a:close/>
              </a:path>
            </a:pathLst>
          </a:custGeom>
          <a:solidFill>
            <a:srgbClr val="8CC066">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80" name="任意多边形 79"/>
          <p:cNvSpPr/>
          <p:nvPr/>
        </p:nvSpPr>
        <p:spPr>
          <a:xfrm rot="8289040">
            <a:off x="-406004" y="4099322"/>
            <a:ext cx="2983707" cy="94059"/>
          </a:xfrm>
          <a:custGeom>
            <a:avLst/>
            <a:gdLst>
              <a:gd name="connsiteX0" fmla="*/ 139966 w 3978903"/>
              <a:gd name="connsiteY0" fmla="*/ 125361 h 125361"/>
              <a:gd name="connsiteX1" fmla="*/ 0 w 3978903"/>
              <a:gd name="connsiteY1" fmla="*/ 0 h 125361"/>
              <a:gd name="connsiteX2" fmla="*/ 3939559 w 3978903"/>
              <a:gd name="connsiteY2" fmla="*/ 0 h 125361"/>
              <a:gd name="connsiteX3" fmla="*/ 3978903 w 3978903"/>
              <a:gd name="connsiteY3" fmla="*/ 35238 h 125361"/>
              <a:gd name="connsiteX4" fmla="*/ 3898184 w 3978903"/>
              <a:gd name="connsiteY4" fmla="*/ 125361 h 1253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78903" h="125361">
                <a:moveTo>
                  <a:pt x="139966" y="125361"/>
                </a:moveTo>
                <a:lnTo>
                  <a:pt x="0" y="0"/>
                </a:lnTo>
                <a:lnTo>
                  <a:pt x="3939559" y="0"/>
                </a:lnTo>
                <a:lnTo>
                  <a:pt x="3978903" y="35238"/>
                </a:lnTo>
                <a:lnTo>
                  <a:pt x="3898184" y="125361"/>
                </a:lnTo>
                <a:close/>
              </a:path>
            </a:pathLst>
          </a:cu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6" name="任意多边形 55"/>
          <p:cNvSpPr/>
          <p:nvPr/>
        </p:nvSpPr>
        <p:spPr>
          <a:xfrm rot="8289040">
            <a:off x="-426244" y="3720704"/>
            <a:ext cx="3161110" cy="34528"/>
          </a:xfrm>
          <a:custGeom>
            <a:avLst/>
            <a:gdLst>
              <a:gd name="connsiteX0" fmla="*/ 0 w 4213929"/>
              <a:gd name="connsiteY0" fmla="*/ 45719 h 45719"/>
              <a:gd name="connsiteX1" fmla="*/ 0 w 4213929"/>
              <a:gd name="connsiteY1" fmla="*/ 0 h 45719"/>
              <a:gd name="connsiteX2" fmla="*/ 4213929 w 4213929"/>
              <a:gd name="connsiteY2" fmla="*/ 0 h 45719"/>
              <a:gd name="connsiteX3" fmla="*/ 4172980 w 4213929"/>
              <a:gd name="connsiteY3" fmla="*/ 45719 h 45719"/>
            </a:gdLst>
            <a:ahLst/>
            <a:cxnLst>
              <a:cxn ang="0">
                <a:pos x="connsiteX0" y="connsiteY0"/>
              </a:cxn>
              <a:cxn ang="0">
                <a:pos x="connsiteX1" y="connsiteY1"/>
              </a:cxn>
              <a:cxn ang="0">
                <a:pos x="connsiteX2" y="connsiteY2"/>
              </a:cxn>
              <a:cxn ang="0">
                <a:pos x="connsiteX3" y="connsiteY3"/>
              </a:cxn>
            </a:cxnLst>
            <a:rect l="l" t="t" r="r" b="b"/>
            <a:pathLst>
              <a:path w="4213929" h="45719">
                <a:moveTo>
                  <a:pt x="0" y="45719"/>
                </a:moveTo>
                <a:lnTo>
                  <a:pt x="0" y="0"/>
                </a:lnTo>
                <a:lnTo>
                  <a:pt x="4213929" y="0"/>
                </a:lnTo>
                <a:lnTo>
                  <a:pt x="4172980" y="45719"/>
                </a:lnTo>
                <a:close/>
              </a:path>
            </a:pathLst>
          </a:custGeom>
          <a:solidFill>
            <a:srgbClr val="FC6E5B">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4" name="任意多边形 53"/>
          <p:cNvSpPr/>
          <p:nvPr/>
        </p:nvSpPr>
        <p:spPr>
          <a:xfrm rot="8289040">
            <a:off x="-200025" y="3527823"/>
            <a:ext cx="1385888" cy="34528"/>
          </a:xfrm>
          <a:custGeom>
            <a:avLst/>
            <a:gdLst>
              <a:gd name="connsiteX0" fmla="*/ 0 w 1847733"/>
              <a:gd name="connsiteY0" fmla="*/ 45719 h 45719"/>
              <a:gd name="connsiteX1" fmla="*/ 0 w 1847733"/>
              <a:gd name="connsiteY1" fmla="*/ 0 h 45719"/>
              <a:gd name="connsiteX2" fmla="*/ 1847733 w 1847733"/>
              <a:gd name="connsiteY2" fmla="*/ 0 h 45719"/>
              <a:gd name="connsiteX3" fmla="*/ 1806784 w 1847733"/>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847733" h="45719">
                <a:moveTo>
                  <a:pt x="0" y="45719"/>
                </a:moveTo>
                <a:lnTo>
                  <a:pt x="0" y="0"/>
                </a:lnTo>
                <a:lnTo>
                  <a:pt x="1847733" y="0"/>
                </a:lnTo>
                <a:lnTo>
                  <a:pt x="1806784" y="45719"/>
                </a:lnTo>
                <a:close/>
              </a:path>
            </a:pathLst>
          </a:custGeom>
          <a:solidFill>
            <a:srgbClr val="66BFBC">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2" name="任意多边形 51"/>
          <p:cNvSpPr/>
          <p:nvPr/>
        </p:nvSpPr>
        <p:spPr>
          <a:xfrm rot="8289040">
            <a:off x="-221457" y="3196829"/>
            <a:ext cx="1557338" cy="34528"/>
          </a:xfrm>
          <a:custGeom>
            <a:avLst/>
            <a:gdLst>
              <a:gd name="connsiteX0" fmla="*/ 0 w 2076814"/>
              <a:gd name="connsiteY0" fmla="*/ 45719 h 45719"/>
              <a:gd name="connsiteX1" fmla="*/ 0 w 2076814"/>
              <a:gd name="connsiteY1" fmla="*/ 0 h 45719"/>
              <a:gd name="connsiteX2" fmla="*/ 2076814 w 2076814"/>
              <a:gd name="connsiteY2" fmla="*/ 0 h 45719"/>
              <a:gd name="connsiteX3" fmla="*/ 2035866 w 2076814"/>
              <a:gd name="connsiteY3" fmla="*/ 45719 h 45719"/>
            </a:gdLst>
            <a:ahLst/>
            <a:cxnLst>
              <a:cxn ang="0">
                <a:pos x="connsiteX0" y="connsiteY0"/>
              </a:cxn>
              <a:cxn ang="0">
                <a:pos x="connsiteX1" y="connsiteY1"/>
              </a:cxn>
              <a:cxn ang="0">
                <a:pos x="connsiteX2" y="connsiteY2"/>
              </a:cxn>
              <a:cxn ang="0">
                <a:pos x="connsiteX3" y="connsiteY3"/>
              </a:cxn>
            </a:cxnLst>
            <a:rect l="l" t="t" r="r" b="b"/>
            <a:pathLst>
              <a:path w="2076814" h="45719">
                <a:moveTo>
                  <a:pt x="0" y="45719"/>
                </a:moveTo>
                <a:lnTo>
                  <a:pt x="0" y="0"/>
                </a:lnTo>
                <a:lnTo>
                  <a:pt x="2076814" y="0"/>
                </a:lnTo>
                <a:lnTo>
                  <a:pt x="2035866" y="45719"/>
                </a:lnTo>
                <a:close/>
              </a:path>
            </a:pathLst>
          </a:custGeom>
          <a:solidFill>
            <a:srgbClr val="8CC066">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60" name="任意多边形 59"/>
          <p:cNvSpPr/>
          <p:nvPr/>
        </p:nvSpPr>
        <p:spPr>
          <a:xfrm rot="8289040">
            <a:off x="211931" y="4530329"/>
            <a:ext cx="1824038" cy="34528"/>
          </a:xfrm>
          <a:custGeom>
            <a:avLst/>
            <a:gdLst>
              <a:gd name="connsiteX0" fmla="*/ 0 w 2432620"/>
              <a:gd name="connsiteY0" fmla="*/ 45719 h 45719"/>
              <a:gd name="connsiteX1" fmla="*/ 0 w 2432620"/>
              <a:gd name="connsiteY1" fmla="*/ 0 h 45719"/>
              <a:gd name="connsiteX2" fmla="*/ 2381575 w 2432620"/>
              <a:gd name="connsiteY2" fmla="*/ 0 h 45719"/>
              <a:gd name="connsiteX3" fmla="*/ 2432620 w 2432620"/>
              <a:gd name="connsiteY3" fmla="*/ 45719 h 45719"/>
            </a:gdLst>
            <a:ahLst/>
            <a:cxnLst>
              <a:cxn ang="0">
                <a:pos x="connsiteX0" y="connsiteY0"/>
              </a:cxn>
              <a:cxn ang="0">
                <a:pos x="connsiteX1" y="connsiteY1"/>
              </a:cxn>
              <a:cxn ang="0">
                <a:pos x="connsiteX2" y="connsiteY2"/>
              </a:cxn>
              <a:cxn ang="0">
                <a:pos x="connsiteX3" y="connsiteY3"/>
              </a:cxn>
            </a:cxnLst>
            <a:rect l="l" t="t" r="r" b="b"/>
            <a:pathLst>
              <a:path w="2432620" h="45719">
                <a:moveTo>
                  <a:pt x="0" y="45719"/>
                </a:moveTo>
                <a:lnTo>
                  <a:pt x="0" y="0"/>
                </a:lnTo>
                <a:lnTo>
                  <a:pt x="2381575" y="0"/>
                </a:lnTo>
                <a:lnTo>
                  <a:pt x="2432620" y="45719"/>
                </a:lnTo>
                <a:close/>
              </a:path>
            </a:pathLst>
          </a:custGeom>
          <a:solidFill>
            <a:srgbClr val="8CC066">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90" name="任意多边形 89"/>
          <p:cNvSpPr/>
          <p:nvPr/>
        </p:nvSpPr>
        <p:spPr>
          <a:xfrm rot="8289040">
            <a:off x="2164557" y="4819650"/>
            <a:ext cx="989410" cy="71438"/>
          </a:xfrm>
          <a:custGeom>
            <a:avLst/>
            <a:gdLst>
              <a:gd name="connsiteX0" fmla="*/ 217193 w 2688632"/>
              <a:gd name="connsiteY0" fmla="*/ 194530 h 194530"/>
              <a:gd name="connsiteX1" fmla="*/ 0 w 2688632"/>
              <a:gd name="connsiteY1" fmla="*/ 0 h 194530"/>
              <a:gd name="connsiteX2" fmla="*/ 2471440 w 2688632"/>
              <a:gd name="connsiteY2" fmla="*/ 0 h 194530"/>
              <a:gd name="connsiteX3" fmla="*/ 2688632 w 2688632"/>
              <a:gd name="connsiteY3" fmla="*/ 194529 h 194530"/>
            </a:gdLst>
            <a:ahLst/>
            <a:cxnLst>
              <a:cxn ang="0">
                <a:pos x="connsiteX0" y="connsiteY0"/>
              </a:cxn>
              <a:cxn ang="0">
                <a:pos x="connsiteX1" y="connsiteY1"/>
              </a:cxn>
              <a:cxn ang="0">
                <a:pos x="connsiteX2" y="connsiteY2"/>
              </a:cxn>
              <a:cxn ang="0">
                <a:pos x="connsiteX3" y="connsiteY3"/>
              </a:cxn>
            </a:cxnLst>
            <a:rect l="l" t="t" r="r" b="b"/>
            <a:pathLst>
              <a:path w="2688632" h="194530">
                <a:moveTo>
                  <a:pt x="217193" y="194530"/>
                </a:moveTo>
                <a:lnTo>
                  <a:pt x="0" y="0"/>
                </a:lnTo>
                <a:lnTo>
                  <a:pt x="2471440" y="0"/>
                </a:lnTo>
                <a:lnTo>
                  <a:pt x="2688632" y="194529"/>
                </a:lnTo>
                <a:close/>
              </a:path>
            </a:pathLst>
          </a:cu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91" name="任意多边形 90"/>
          <p:cNvSpPr/>
          <p:nvPr/>
        </p:nvSpPr>
        <p:spPr>
          <a:xfrm rot="8289040">
            <a:off x="2439591" y="4979194"/>
            <a:ext cx="533400" cy="16669"/>
          </a:xfrm>
          <a:custGeom>
            <a:avLst/>
            <a:gdLst>
              <a:gd name="connsiteX0" fmla="*/ 0 w 1448568"/>
              <a:gd name="connsiteY0" fmla="*/ 45719 h 45719"/>
              <a:gd name="connsiteX1" fmla="*/ 0 w 1448568"/>
              <a:gd name="connsiteY1" fmla="*/ 0 h 45719"/>
              <a:gd name="connsiteX2" fmla="*/ 1397523 w 1448568"/>
              <a:gd name="connsiteY2" fmla="*/ 0 h 45719"/>
              <a:gd name="connsiteX3" fmla="*/ 1448568 w 1448568"/>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448568" h="45719">
                <a:moveTo>
                  <a:pt x="0" y="45719"/>
                </a:moveTo>
                <a:lnTo>
                  <a:pt x="0" y="0"/>
                </a:lnTo>
                <a:lnTo>
                  <a:pt x="1397523" y="0"/>
                </a:lnTo>
                <a:lnTo>
                  <a:pt x="1448568" y="45719"/>
                </a:lnTo>
                <a:close/>
              </a:path>
            </a:pathLst>
          </a:custGeom>
          <a:solidFill>
            <a:srgbClr val="FC6E5B">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92" name="任意多边形 91"/>
          <p:cNvSpPr/>
          <p:nvPr/>
        </p:nvSpPr>
        <p:spPr>
          <a:xfrm rot="8289040">
            <a:off x="2603898" y="4937523"/>
            <a:ext cx="653653" cy="16669"/>
          </a:xfrm>
          <a:custGeom>
            <a:avLst/>
            <a:gdLst>
              <a:gd name="connsiteX0" fmla="*/ 0 w 1776912"/>
              <a:gd name="connsiteY0" fmla="*/ 45719 h 45719"/>
              <a:gd name="connsiteX1" fmla="*/ 0 w 1776912"/>
              <a:gd name="connsiteY1" fmla="*/ 0 h 45719"/>
              <a:gd name="connsiteX2" fmla="*/ 1725868 w 1776912"/>
              <a:gd name="connsiteY2" fmla="*/ 1 h 45719"/>
              <a:gd name="connsiteX3" fmla="*/ 1776912 w 1776912"/>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776912" h="45719">
                <a:moveTo>
                  <a:pt x="0" y="45719"/>
                </a:moveTo>
                <a:lnTo>
                  <a:pt x="0" y="0"/>
                </a:lnTo>
                <a:lnTo>
                  <a:pt x="1725868" y="1"/>
                </a:lnTo>
                <a:lnTo>
                  <a:pt x="1776912" y="45719"/>
                </a:lnTo>
                <a:close/>
              </a:path>
            </a:pathLst>
          </a:custGeom>
          <a:solidFill>
            <a:srgbClr val="66BFBC">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93" name="任意多边形 92"/>
          <p:cNvSpPr/>
          <p:nvPr/>
        </p:nvSpPr>
        <p:spPr>
          <a:xfrm rot="8289040">
            <a:off x="1964531" y="4882754"/>
            <a:ext cx="820341" cy="16669"/>
          </a:xfrm>
          <a:custGeom>
            <a:avLst/>
            <a:gdLst>
              <a:gd name="connsiteX0" fmla="*/ 0 w 2230870"/>
              <a:gd name="connsiteY0" fmla="*/ 45719 h 45719"/>
              <a:gd name="connsiteX1" fmla="*/ 0 w 2230870"/>
              <a:gd name="connsiteY1" fmla="*/ 0 h 45719"/>
              <a:gd name="connsiteX2" fmla="*/ 2179825 w 2230870"/>
              <a:gd name="connsiteY2" fmla="*/ 0 h 45719"/>
              <a:gd name="connsiteX3" fmla="*/ 2230870 w 2230870"/>
              <a:gd name="connsiteY3" fmla="*/ 45719 h 45719"/>
            </a:gdLst>
            <a:ahLst/>
            <a:cxnLst>
              <a:cxn ang="0">
                <a:pos x="connsiteX0" y="connsiteY0"/>
              </a:cxn>
              <a:cxn ang="0">
                <a:pos x="connsiteX1" y="connsiteY1"/>
              </a:cxn>
              <a:cxn ang="0">
                <a:pos x="connsiteX2" y="connsiteY2"/>
              </a:cxn>
              <a:cxn ang="0">
                <a:pos x="connsiteX3" y="connsiteY3"/>
              </a:cxn>
            </a:cxnLst>
            <a:rect l="l" t="t" r="r" b="b"/>
            <a:pathLst>
              <a:path w="2230870" h="45719">
                <a:moveTo>
                  <a:pt x="0" y="45719"/>
                </a:moveTo>
                <a:lnTo>
                  <a:pt x="0" y="0"/>
                </a:lnTo>
                <a:lnTo>
                  <a:pt x="2179825" y="0"/>
                </a:lnTo>
                <a:lnTo>
                  <a:pt x="2230870" y="45719"/>
                </a:lnTo>
                <a:close/>
              </a:path>
            </a:pathLst>
          </a:custGeom>
          <a:solidFill>
            <a:srgbClr val="66BFBC">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94" name="任意多边形 93"/>
          <p:cNvSpPr/>
          <p:nvPr/>
        </p:nvSpPr>
        <p:spPr>
          <a:xfrm rot="8289040">
            <a:off x="1726406" y="5024438"/>
            <a:ext cx="395288" cy="16669"/>
          </a:xfrm>
          <a:custGeom>
            <a:avLst/>
            <a:gdLst>
              <a:gd name="connsiteX0" fmla="*/ 0 w 1075142"/>
              <a:gd name="connsiteY0" fmla="*/ 45719 h 45719"/>
              <a:gd name="connsiteX1" fmla="*/ 0 w 1075142"/>
              <a:gd name="connsiteY1" fmla="*/ 0 h 45719"/>
              <a:gd name="connsiteX2" fmla="*/ 1024097 w 1075142"/>
              <a:gd name="connsiteY2" fmla="*/ 0 h 45719"/>
              <a:gd name="connsiteX3" fmla="*/ 1075142 w 1075142"/>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075142" h="45719">
                <a:moveTo>
                  <a:pt x="0" y="45719"/>
                </a:moveTo>
                <a:lnTo>
                  <a:pt x="0" y="0"/>
                </a:lnTo>
                <a:lnTo>
                  <a:pt x="1024097" y="0"/>
                </a:lnTo>
                <a:lnTo>
                  <a:pt x="1075142" y="45719"/>
                </a:lnTo>
                <a:close/>
              </a:path>
            </a:pathLst>
          </a:custGeom>
          <a:solidFill>
            <a:srgbClr val="8CC066">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04" name="等腰三角形 103"/>
          <p:cNvSpPr/>
          <p:nvPr/>
        </p:nvSpPr>
        <p:spPr>
          <a:xfrm rot="8791815">
            <a:off x="3680223" y="707232"/>
            <a:ext cx="205978" cy="98822"/>
          </a:xfrm>
          <a:prstGeom prst="triangle">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05" name="等腰三角形 104"/>
          <p:cNvSpPr/>
          <p:nvPr/>
        </p:nvSpPr>
        <p:spPr>
          <a:xfrm rot="10800000">
            <a:off x="3735451" y="543949"/>
            <a:ext cx="1030688" cy="1037132"/>
          </a:xfrm>
          <a:prstGeom prst="triangle">
            <a:avLst/>
          </a:prstGeom>
          <a:solidFill>
            <a:srgbClr val="66BFBC"/>
          </a:solidFill>
          <a:ln>
            <a:noFill/>
          </a:ln>
          <a:effectLst>
            <a:softEdge rad="3683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06" name="等腰三角形 105"/>
          <p:cNvSpPr/>
          <p:nvPr/>
        </p:nvSpPr>
        <p:spPr>
          <a:xfrm rot="8791815">
            <a:off x="6009085" y="823912"/>
            <a:ext cx="205978" cy="100013"/>
          </a:xfrm>
          <a:prstGeom prst="triangle">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07" name="等腰三角形 106"/>
          <p:cNvSpPr/>
          <p:nvPr/>
        </p:nvSpPr>
        <p:spPr>
          <a:xfrm rot="8791815">
            <a:off x="6568679" y="3526632"/>
            <a:ext cx="205978" cy="98822"/>
          </a:xfrm>
          <a:prstGeom prst="triangle">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08" name="等腰三角形 107"/>
          <p:cNvSpPr/>
          <p:nvPr/>
        </p:nvSpPr>
        <p:spPr>
          <a:xfrm rot="8791815">
            <a:off x="5689998" y="4532710"/>
            <a:ext cx="205978" cy="98822"/>
          </a:xfrm>
          <a:prstGeom prst="triangle">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09" name="等腰三角形 108"/>
          <p:cNvSpPr/>
          <p:nvPr/>
        </p:nvSpPr>
        <p:spPr>
          <a:xfrm rot="8791815">
            <a:off x="4199335" y="4115991"/>
            <a:ext cx="205978" cy="98822"/>
          </a:xfrm>
          <a:prstGeom prst="triangle">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10" name="等腰三角形 109"/>
          <p:cNvSpPr/>
          <p:nvPr/>
        </p:nvSpPr>
        <p:spPr>
          <a:xfrm rot="8791815">
            <a:off x="3458766" y="3836194"/>
            <a:ext cx="205978" cy="100013"/>
          </a:xfrm>
          <a:prstGeom prst="triangle">
            <a:avLst/>
          </a:prstGeom>
          <a:solidFill>
            <a:srgbClr val="FC6E5B">
              <a:alpha val="6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11" name="等腰三角形 110"/>
          <p:cNvSpPr/>
          <p:nvPr/>
        </p:nvSpPr>
        <p:spPr>
          <a:xfrm rot="8791815">
            <a:off x="4926530" y="3899794"/>
            <a:ext cx="517410" cy="580007"/>
          </a:xfrm>
          <a:prstGeom prst="triangle">
            <a:avLst/>
          </a:prstGeom>
          <a:solidFill>
            <a:srgbClr val="8CC066"/>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12" name="等腰三角形 111"/>
          <p:cNvSpPr/>
          <p:nvPr/>
        </p:nvSpPr>
        <p:spPr>
          <a:xfrm rot="12808185" flipH="1">
            <a:off x="4394598" y="4475560"/>
            <a:ext cx="205978" cy="98822"/>
          </a:xfrm>
          <a:prstGeom prst="triangle">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13" name="等腰三角形 112"/>
          <p:cNvSpPr/>
          <p:nvPr/>
        </p:nvSpPr>
        <p:spPr>
          <a:xfrm rot="8791815">
            <a:off x="1835944" y="4321969"/>
            <a:ext cx="205979" cy="100013"/>
          </a:xfrm>
          <a:prstGeom prst="triangle">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15" name="等腰三角形 114"/>
          <p:cNvSpPr/>
          <p:nvPr/>
        </p:nvSpPr>
        <p:spPr>
          <a:xfrm rot="9746558" flipV="1">
            <a:off x="7453390" y="3395174"/>
            <a:ext cx="180053" cy="364038"/>
          </a:xfrm>
          <a:prstGeom prst="triangle">
            <a:avLst>
              <a:gd name="adj" fmla="val 41342"/>
            </a:avLst>
          </a:prstGeom>
          <a:solidFill>
            <a:srgbClr val="66BFBC"/>
          </a:solidFill>
          <a:ln>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17" name="直角三角形 116"/>
          <p:cNvSpPr/>
          <p:nvPr/>
        </p:nvSpPr>
        <p:spPr>
          <a:xfrm rot="11669251" flipH="1">
            <a:off x="8460582" y="4707732"/>
            <a:ext cx="160735" cy="160735"/>
          </a:xfrm>
          <a:prstGeom prst="rtTriangle">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21" name="直角三角形 120"/>
          <p:cNvSpPr/>
          <p:nvPr/>
        </p:nvSpPr>
        <p:spPr>
          <a:xfrm rot="8729171" flipH="1">
            <a:off x="3640133" y="4237150"/>
            <a:ext cx="1302486" cy="536711"/>
          </a:xfrm>
          <a:prstGeom prst="rtTriangle">
            <a:avLst/>
          </a:prstGeom>
          <a:solidFill>
            <a:srgbClr val="FBC75D"/>
          </a:solidFill>
          <a:ln>
            <a:noFill/>
          </a:ln>
          <a:effectLst>
            <a:softEdge rad="1524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22" name="直角三角形 121"/>
          <p:cNvSpPr/>
          <p:nvPr/>
        </p:nvSpPr>
        <p:spPr>
          <a:xfrm rot="1054849">
            <a:off x="7460457" y="1371601"/>
            <a:ext cx="117872" cy="145256"/>
          </a:xfrm>
          <a:prstGeom prst="rtTriangle">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25" name="直角三角形 124"/>
          <p:cNvSpPr/>
          <p:nvPr/>
        </p:nvSpPr>
        <p:spPr>
          <a:xfrm rot="11669251" flipH="1">
            <a:off x="8715375" y="4249341"/>
            <a:ext cx="160735" cy="159544"/>
          </a:xfrm>
          <a:prstGeom prst="rtTriangle">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26" name="直角三角形 125"/>
          <p:cNvSpPr/>
          <p:nvPr/>
        </p:nvSpPr>
        <p:spPr>
          <a:xfrm rot="9930749">
            <a:off x="8058150" y="4216004"/>
            <a:ext cx="160735" cy="159544"/>
          </a:xfrm>
          <a:prstGeom prst="rtTriangle">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27" name="直角三角形 126"/>
          <p:cNvSpPr/>
          <p:nvPr/>
        </p:nvSpPr>
        <p:spPr>
          <a:xfrm rot="11669251" flipH="1">
            <a:off x="7781925" y="4777979"/>
            <a:ext cx="160735" cy="159544"/>
          </a:xfrm>
          <a:prstGeom prst="rtTriangle">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28" name="直角三角形 127"/>
          <p:cNvSpPr/>
          <p:nvPr/>
        </p:nvSpPr>
        <p:spPr>
          <a:xfrm rot="9930749">
            <a:off x="8785622" y="3448050"/>
            <a:ext cx="160734" cy="160735"/>
          </a:xfrm>
          <a:prstGeom prst="rtTriangle">
            <a:avLst/>
          </a:prstGeom>
          <a:solidFill>
            <a:srgbClr val="FC6E5B">
              <a:alpha val="6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29" name="直角三角形 128"/>
          <p:cNvSpPr/>
          <p:nvPr/>
        </p:nvSpPr>
        <p:spPr>
          <a:xfrm rot="11669251" flipH="1">
            <a:off x="8337947" y="3655219"/>
            <a:ext cx="160734" cy="160735"/>
          </a:xfrm>
          <a:prstGeom prst="rtTriangle">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45" name="任意多边形 144"/>
          <p:cNvSpPr/>
          <p:nvPr/>
        </p:nvSpPr>
        <p:spPr>
          <a:xfrm rot="10011152">
            <a:off x="2958703" y="917973"/>
            <a:ext cx="184547" cy="153590"/>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53" name="任意多边形 152"/>
          <p:cNvSpPr/>
          <p:nvPr/>
        </p:nvSpPr>
        <p:spPr>
          <a:xfrm rot="17730414">
            <a:off x="5966738" y="660491"/>
            <a:ext cx="848059" cy="706660"/>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8CC066"/>
          </a:solidFill>
          <a:ln>
            <a:noFill/>
          </a:ln>
          <a:effectLst>
            <a:softEdge rad="1778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54" name="任意多边形 153"/>
          <p:cNvSpPr/>
          <p:nvPr/>
        </p:nvSpPr>
        <p:spPr>
          <a:xfrm rot="10011152">
            <a:off x="6686551" y="644129"/>
            <a:ext cx="183356" cy="153590"/>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56" name="任意多边形 155"/>
          <p:cNvSpPr/>
          <p:nvPr/>
        </p:nvSpPr>
        <p:spPr>
          <a:xfrm rot="10011152">
            <a:off x="7405688" y="760810"/>
            <a:ext cx="184547" cy="153590"/>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57" name="任意多边形 156"/>
          <p:cNvSpPr/>
          <p:nvPr/>
        </p:nvSpPr>
        <p:spPr>
          <a:xfrm rot="10011152">
            <a:off x="4637485" y="632223"/>
            <a:ext cx="184547" cy="153590"/>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58" name="任意多边形 157"/>
          <p:cNvSpPr/>
          <p:nvPr/>
        </p:nvSpPr>
        <p:spPr>
          <a:xfrm rot="10011152">
            <a:off x="3036043" y="825417"/>
            <a:ext cx="707769" cy="952955"/>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FBC75D"/>
          </a:solidFill>
          <a:ln>
            <a:noFill/>
          </a:ln>
          <a:effectLst>
            <a:softEdge rad="1778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1" name="任意多边形 160"/>
          <p:cNvSpPr/>
          <p:nvPr/>
        </p:nvSpPr>
        <p:spPr>
          <a:xfrm rot="17840340">
            <a:off x="2689682" y="3005288"/>
            <a:ext cx="808761" cy="673914"/>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66BFBC"/>
          </a:solidFill>
          <a:ln>
            <a:noFill/>
          </a:ln>
          <a:effectLst>
            <a:softEdge rad="1778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3" name="任意多边形 162"/>
          <p:cNvSpPr/>
          <p:nvPr/>
        </p:nvSpPr>
        <p:spPr>
          <a:xfrm rot="10011152">
            <a:off x="3321844" y="4398169"/>
            <a:ext cx="183356" cy="153591"/>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nvGrpSpPr>
          <p:cNvPr id="4" name="组合 164"/>
          <p:cNvGrpSpPr/>
          <p:nvPr/>
        </p:nvGrpSpPr>
        <p:grpSpPr bwMode="auto">
          <a:xfrm rot="11957288">
            <a:off x="1591867" y="1173957"/>
            <a:ext cx="431006" cy="498872"/>
            <a:chOff x="10670736" y="3241053"/>
            <a:chExt cx="917923" cy="1060882"/>
          </a:xfrm>
        </p:grpSpPr>
        <p:sp>
          <p:nvSpPr>
            <p:cNvPr id="166" name="等腰三角形 165"/>
            <p:cNvSpPr/>
            <p:nvPr/>
          </p:nvSpPr>
          <p:spPr>
            <a:xfrm rot="2928219">
              <a:off x="10597584" y="3314205"/>
              <a:ext cx="1060704" cy="914400"/>
            </a:xfrm>
            <a:prstGeom prst="triangle">
              <a:avLst/>
            </a:prstGeom>
            <a:solidFill>
              <a:srgbClr val="66BFBC">
                <a:alpha val="76000"/>
              </a:srgbClr>
            </a:soli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7" name="等腰三角形 16"/>
            <p:cNvSpPr/>
            <p:nvPr/>
          </p:nvSpPr>
          <p:spPr>
            <a:xfrm rot="20901646">
              <a:off x="10891792" y="3387535"/>
              <a:ext cx="696867" cy="914400"/>
            </a:xfrm>
            <a:custGeom>
              <a:avLst/>
              <a:gdLst>
                <a:gd name="connsiteX0" fmla="*/ 0 w 1060704"/>
                <a:gd name="connsiteY0" fmla="*/ 914400 h 914400"/>
                <a:gd name="connsiteX1" fmla="*/ 530352 w 1060704"/>
                <a:gd name="connsiteY1" fmla="*/ 0 h 914400"/>
                <a:gd name="connsiteX2" fmla="*/ 1060704 w 1060704"/>
                <a:gd name="connsiteY2" fmla="*/ 914400 h 914400"/>
                <a:gd name="connsiteX3" fmla="*/ 0 w 1060704"/>
                <a:gd name="connsiteY3" fmla="*/ 914400 h 914400"/>
                <a:gd name="connsiteX0-1" fmla="*/ 0 w 696868"/>
                <a:gd name="connsiteY0-2" fmla="*/ 914400 h 914400"/>
                <a:gd name="connsiteX1-3" fmla="*/ 530352 w 696868"/>
                <a:gd name="connsiteY1-4" fmla="*/ 0 h 914400"/>
                <a:gd name="connsiteX2-5" fmla="*/ 696868 w 696868"/>
                <a:gd name="connsiteY2-6" fmla="*/ 839454 h 914400"/>
                <a:gd name="connsiteX3-7" fmla="*/ 0 w 696868"/>
                <a:gd name="connsiteY3-8" fmla="*/ 914400 h 914400"/>
              </a:gdLst>
              <a:ahLst/>
              <a:cxnLst>
                <a:cxn ang="0">
                  <a:pos x="connsiteX0-1" y="connsiteY0-2"/>
                </a:cxn>
                <a:cxn ang="0">
                  <a:pos x="connsiteX1-3" y="connsiteY1-4"/>
                </a:cxn>
                <a:cxn ang="0">
                  <a:pos x="connsiteX2-5" y="connsiteY2-6"/>
                </a:cxn>
                <a:cxn ang="0">
                  <a:pos x="connsiteX3-7" y="connsiteY3-8"/>
                </a:cxn>
              </a:cxnLst>
              <a:rect l="l" t="t" r="r" b="b"/>
              <a:pathLst>
                <a:path w="696868" h="914400">
                  <a:moveTo>
                    <a:pt x="0" y="914400"/>
                  </a:moveTo>
                  <a:lnTo>
                    <a:pt x="530352" y="0"/>
                  </a:lnTo>
                  <a:lnTo>
                    <a:pt x="696868" y="839454"/>
                  </a:lnTo>
                  <a:lnTo>
                    <a:pt x="0" y="914400"/>
                  </a:lnTo>
                  <a:close/>
                </a:path>
              </a:pathLst>
            </a:custGeom>
            <a:solidFill>
              <a:srgbClr val="66BFBC"/>
            </a:solidFill>
            <a:ln>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pic>
        <p:nvPicPr>
          <p:cNvPr id="6" name="Mika - Relax(Take It Easy)">
            <a:hlinkClick r:id="" action="ppaction://media"/>
          </p:cNvPr>
          <p:cNvPicPr>
            <a:picLocks noChangeAspect="1"/>
          </p:cNvPicPr>
          <p:nvPr>
            <a:videoFile r:link="rId1"/>
          </p:nvPr>
        </p:nvPicPr>
        <p:blipFill>
          <a:blip r:embed="rId4">
            <a:extLst>
              <a:ext uri="{28A0092B-C50C-407E-A947-70E740481C1C}">
                <a14:useLocalDpi xmlns:a14="http://schemas.microsoft.com/office/drawing/2010/main" val="0"/>
              </a:ext>
            </a:extLst>
          </a:blip>
          <a:srcRect/>
          <a:stretch>
            <a:fillRect/>
          </a:stretch>
        </p:blipFill>
        <p:spPr bwMode="auto">
          <a:xfrm>
            <a:off x="9239250" y="4885135"/>
            <a:ext cx="305991" cy="307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矩形 11"/>
          <p:cNvSpPr>
            <a:spLocks noChangeArrowheads="1"/>
          </p:cNvSpPr>
          <p:nvPr/>
        </p:nvSpPr>
        <p:spPr bwMode="auto">
          <a:xfrm>
            <a:off x="1929121" y="1961099"/>
            <a:ext cx="547741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dist" defTabSz="685800" fontAlgn="base">
              <a:spcBef>
                <a:spcPct val="0"/>
              </a:spcBef>
              <a:spcAft>
                <a:spcPct val="0"/>
              </a:spcAft>
            </a:pPr>
            <a:r>
              <a:rPr lang="en-US" altLang="zh-CN" sz="2800" dirty="0">
                <a:solidFill>
                  <a:prstClr val="black"/>
                </a:solidFill>
                <a:latin typeface="Times New Roman" panose="02020603050405020304" pitchFamily="18" charset="0"/>
                <a:ea typeface="幼圆" panose="02010509060101010101" pitchFamily="49" charset="-122"/>
                <a:cs typeface="Times New Roman" panose="02020603050405020304" pitchFamily="18" charset="0"/>
              </a:rPr>
              <a:t>THANK YOU FOR LISTENING</a:t>
            </a:r>
            <a:endParaRPr lang="zh-CN" altLang="en-US" sz="2800" dirty="0">
              <a:solidFill>
                <a:prstClr val="black"/>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62" name="等腰三角形 161"/>
          <p:cNvSpPr/>
          <p:nvPr/>
        </p:nvSpPr>
        <p:spPr>
          <a:xfrm rot="1650064">
            <a:off x="7255663" y="2696716"/>
            <a:ext cx="333809" cy="574152"/>
          </a:xfrm>
          <a:prstGeom prst="triangle">
            <a:avLst/>
          </a:prstGeom>
          <a:solidFill>
            <a:srgbClr val="66BFBC"/>
          </a:soli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Tree>
  </p:cSld>
  <p:clrMapOvr>
    <a:masterClrMapping/>
  </p:clrMapOvr>
  <p:transition/>
  <p:timing>
    <p:tnLst>
      <p:par>
        <p:cTn id="1" dur="indefinite" restart="never" nodeType="tmRoot">
          <p:childTnLst>
            <p:video>
              <p:cMediaNode vol="80000" numSld="999" showWhenStopped="0">
                <p:cTn id="2" repeatCount="indefinite" fill="remove" display="0">
                  <p:stCondLst>
                    <p:cond delay="indefinite"/>
                  </p:stCondLst>
                  <p:endCondLst>
                    <p:cond evt="onStopAudio" delay="0">
                      <p:tgtEl>
                        <p:sldTgt/>
                      </p:tgtEl>
                    </p:cond>
                  </p:endCondLst>
                </p:cTn>
                <p:tgtEl>
                  <p:spTgt spid="6"/>
                </p:tgtEl>
              </p:cMediaNode>
            </p:video>
          </p:childTnLst>
        </p:cTn>
      </p:par>
    </p:tnLst>
  </p:timing>
</p:sld>
</file>

<file path=ppt/theme/theme1.xml><?xml version="1.0" encoding="utf-8"?>
<a:theme xmlns:a="http://schemas.openxmlformats.org/drawingml/2006/main" name="PPTe吧 | PPT爱好者之家">
  <a:themeElements>
    <a:clrScheme name="自定义 66">
      <a:dk1>
        <a:sysClr val="windowText" lastClr="000000"/>
      </a:dk1>
      <a:lt1>
        <a:sysClr val="window" lastClr="FFFFFF"/>
      </a:lt1>
      <a:dk2>
        <a:srgbClr val="39302A"/>
      </a:dk2>
      <a:lt2>
        <a:srgbClr val="E5DEDB"/>
      </a:lt2>
      <a:accent1>
        <a:srgbClr val="C8886E"/>
      </a:accent1>
      <a:accent2>
        <a:srgbClr val="A59183"/>
      </a:accent2>
      <a:accent3>
        <a:srgbClr val="AC8282"/>
      </a:accent3>
      <a:accent4>
        <a:srgbClr val="E79747"/>
      </a:accent4>
      <a:accent5>
        <a:srgbClr val="7F723D"/>
      </a:accent5>
      <a:accent6>
        <a:srgbClr val="CA4A62"/>
      </a:accent6>
      <a:hlink>
        <a:srgbClr val="868B57"/>
      </a:hlink>
      <a:folHlink>
        <a:srgbClr val="657A56"/>
      </a:folHlink>
    </a:clrScheme>
    <a:fontScheme name="自定义 11">
      <a:majorFont>
        <a:latin typeface="Arial"/>
        <a:ea typeface="幼圆"/>
        <a:cs typeface=""/>
      </a:majorFont>
      <a:minorFont>
        <a:latin typeface="Arial"/>
        <a:ea typeface="幼圆"/>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3543</TotalTime>
  <Words>3752</Words>
  <Application>Microsoft Office PowerPoint</Application>
  <PresentationFormat>全屏显示(16:9)</PresentationFormat>
  <Paragraphs>206</Paragraphs>
  <Slides>22</Slides>
  <Notes>22</Notes>
  <HiddenSlides>0</HiddenSlides>
  <MMClips>1</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22</vt:i4>
      </vt:variant>
    </vt:vector>
  </HeadingPairs>
  <TitlesOfParts>
    <vt:vector size="30" baseType="lpstr">
      <vt:lpstr>等线</vt:lpstr>
      <vt:lpstr>仿宋</vt:lpstr>
      <vt:lpstr>Arial</vt:lpstr>
      <vt:lpstr>Calibri</vt:lpstr>
      <vt:lpstr>Cambria Math</vt:lpstr>
      <vt:lpstr>Times New Roman</vt:lpstr>
      <vt:lpstr>Wingdings</vt:lpstr>
      <vt:lpstr>PPTe吧 | PPT爱好者之家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rush pencil</dc:creator>
  <cp:lastModifiedBy>pencil</cp:lastModifiedBy>
  <cp:revision>662</cp:revision>
  <dcterms:created xsi:type="dcterms:W3CDTF">2017-09-03T13:26:00Z</dcterms:created>
  <dcterms:modified xsi:type="dcterms:W3CDTF">2026-06-15T06:37:26Z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A5BB37F60EFF4CA69CDCEF250FD7AFED_12</vt:lpwstr>
  </property>
  <property fmtid="{D5CDD505-2E9C-101B-9397-08002B2CF9AE}" pid="3" name="KSOProductBuildVer">
    <vt:lpwstr>2052-12.1.0.25225</vt:lpwstr>
  </property>
</Properties>
</file>