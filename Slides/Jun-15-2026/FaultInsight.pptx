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2"/>
  </p:notesMasterIdLst>
  <p:sldIdLst>
    <p:sldId id="256" r:id="rId2"/>
    <p:sldId id="258" r:id="rId3"/>
    <p:sldId id="259" r:id="rId4"/>
    <p:sldId id="263" r:id="rId5"/>
    <p:sldId id="265" r:id="rId6"/>
    <p:sldId id="284" r:id="rId7"/>
    <p:sldId id="300" r:id="rId8"/>
    <p:sldId id="307" r:id="rId9"/>
    <p:sldId id="308" r:id="rId10"/>
    <p:sldId id="301" r:id="rId11"/>
    <p:sldId id="309" r:id="rId12"/>
    <p:sldId id="310" r:id="rId13"/>
    <p:sldId id="311" r:id="rId14"/>
    <p:sldId id="312" r:id="rId15"/>
    <p:sldId id="278" r:id="rId16"/>
    <p:sldId id="279" r:id="rId17"/>
    <p:sldId id="288" r:id="rId18"/>
    <p:sldId id="281" r:id="rId19"/>
    <p:sldId id="306" r:id="rId20"/>
    <p:sldId id="282" r:id="rId21"/>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83617" autoAdjust="0"/>
  </p:normalViewPr>
  <p:slideViewPr>
    <p:cSldViewPr snapToGrid="0">
      <p:cViewPr varScale="1">
        <p:scale>
          <a:sx n="92" d="100"/>
          <a:sy n="92" d="100"/>
        </p:scale>
        <p:origin x="1110" y="90"/>
      </p:cViewPr>
      <p:guideLst/>
    </p:cSldViewPr>
  </p:slideViewPr>
  <p:outlineViewPr>
    <p:cViewPr>
      <p:scale>
        <a:sx n="33" d="100"/>
        <a:sy n="33" d="100"/>
      </p:scale>
      <p:origin x="0" y="0"/>
    </p:cViewPr>
  </p:outlineViewPr>
  <p:notesTextViewPr>
    <p:cViewPr>
      <p:scale>
        <a:sx n="1" d="1"/>
        <a:sy n="1" d="1"/>
      </p:scale>
      <p:origin x="0" y="0"/>
    </p:cViewPr>
  </p:notesTextViewPr>
  <p:notesViewPr>
    <p:cSldViewPr snapToGrid="0">
      <p:cViewPr varScale="1">
        <p:scale>
          <a:sx n="81" d="100"/>
          <a:sy n="81" d="100"/>
        </p:scale>
        <p:origin x="3738" y="9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C5549F5-1CC0-4F34-88F6-5945530E48D1}" type="datetimeFigureOut">
              <a:rPr lang="zh-CN" altLang="en-US" smtClean="0"/>
              <a:t>2026/6/15</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82BA46B-E1B2-4520-80B7-3F1B8A68F93F}" type="slidenum">
              <a:rPr lang="zh-CN" altLang="en-US" smtClean="0"/>
              <a:t>‹#›</a:t>
            </a:fld>
            <a:endParaRPr lang="zh-CN" altLang="en-US"/>
          </a:p>
        </p:txBody>
      </p:sp>
    </p:spTree>
    <p:extLst>
      <p:ext uri="{BB962C8B-B14F-4D97-AF65-F5344CB8AC3E}">
        <p14:creationId xmlns:p14="http://schemas.microsoft.com/office/powerpoint/2010/main" val="14879316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en-US" altLang="zh-CN" dirty="0" err="1"/>
              <a:t>FaultInsight</a:t>
            </a:r>
            <a:r>
              <a:rPr lang="zh-CN" altLang="en-US" dirty="0"/>
              <a:t>：面向超大规模数据中心主机故障的可解释诊断，</a:t>
            </a:r>
            <a:r>
              <a:rPr lang="en-US" altLang="zh-CN" dirty="0"/>
              <a:t>kdd2024</a:t>
            </a:r>
            <a:r>
              <a:rPr lang="zh-CN" altLang="en-US" dirty="0"/>
              <a:t>，北京大学</a:t>
            </a:r>
            <a:endParaRPr lang="zh-CN" altLang="en-US" b="1" i="0" dirty="0">
              <a:solidFill>
                <a:srgbClr val="000000"/>
              </a:solidFill>
              <a:effectLst/>
              <a:latin typeface="Montserrat" panose="00000500000000000000" pitchFamily="2" charset="0"/>
            </a:endParaRPr>
          </a:p>
        </p:txBody>
      </p:sp>
      <p:sp>
        <p:nvSpPr>
          <p:cNvPr id="4" name="灯片编号占位符 3"/>
          <p:cNvSpPr>
            <a:spLocks noGrp="1"/>
          </p:cNvSpPr>
          <p:nvPr>
            <p:ph type="sldNum" sz="quarter" idx="5"/>
          </p:nvPr>
        </p:nvSpPr>
        <p:spPr/>
        <p:txBody>
          <a:bodyPr/>
          <a:lstStyle/>
          <a:p>
            <a:fld id="{982BA46B-E1B2-4520-80B7-3F1B8A68F93F}" type="slidenum">
              <a:rPr lang="zh-CN" altLang="en-US" smtClean="0"/>
              <a:t>1</a:t>
            </a:fld>
            <a:endParaRPr lang="zh-CN" altLang="en-US"/>
          </a:p>
        </p:txBody>
      </p:sp>
    </p:spTree>
    <p:extLst>
      <p:ext uri="{BB962C8B-B14F-4D97-AF65-F5344CB8AC3E}">
        <p14:creationId xmlns:p14="http://schemas.microsoft.com/office/powerpoint/2010/main" val="38223290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将从五个方面介绍这篇文章，引言 挑战 方法 实验 结论</a:t>
            </a:r>
          </a:p>
        </p:txBody>
      </p:sp>
      <p:sp>
        <p:nvSpPr>
          <p:cNvPr id="4" name="灯片编号占位符 3"/>
          <p:cNvSpPr>
            <a:spLocks noGrp="1"/>
          </p:cNvSpPr>
          <p:nvPr>
            <p:ph type="sldNum" sz="quarter" idx="5"/>
          </p:nvPr>
        </p:nvSpPr>
        <p:spPr/>
        <p:txBody>
          <a:bodyPr/>
          <a:lstStyle/>
          <a:p>
            <a:fld id="{982BA46B-E1B2-4520-80B7-3F1B8A68F93F}" type="slidenum">
              <a:rPr lang="zh-CN" altLang="en-US" smtClean="0"/>
              <a:t>2</a:t>
            </a:fld>
            <a:endParaRPr lang="zh-CN" altLang="en-US"/>
          </a:p>
        </p:txBody>
      </p:sp>
    </p:spTree>
    <p:extLst>
      <p:ext uri="{BB962C8B-B14F-4D97-AF65-F5344CB8AC3E}">
        <p14:creationId xmlns:p14="http://schemas.microsoft.com/office/powerpoint/2010/main" val="24785143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首先介绍一下背景。对于拥有数百万服务主机的超大规模数据中心而言，其运维工作极其复杂。系统故障频繁发生，运维人员往往需要花费大量时间浏览各种性能指标，以诊断故障根因并防止问题再次出现。现有的大多数方法都是针对“同构服务级 </a:t>
            </a:r>
            <a:r>
              <a:rPr lang="en-US" altLang="zh-CN" dirty="0"/>
              <a:t>KPI”</a:t>
            </a:r>
            <a:r>
              <a:rPr lang="zh-CN" altLang="en-US" dirty="0"/>
              <a:t>设计，的。服务级 </a:t>
            </a:r>
            <a:r>
              <a:rPr lang="en-US" altLang="zh-CN" dirty="0"/>
              <a:t>KPI </a:t>
            </a:r>
            <a:r>
              <a:rPr lang="zh-CN" altLang="en-US" dirty="0"/>
              <a:t>诊断主要关注不同服务之间的性能指标关系，例如服务延迟、错误率或吞吐量等，其目标是定位“哪个服务出现问题”，通常依赖微服务拓扑或服务调用链构建因果依赖关系，因此适用于同构指标场景。而主机级 </a:t>
            </a:r>
            <a:r>
              <a:rPr lang="en-US" altLang="zh-CN" dirty="0"/>
              <a:t>KPI </a:t>
            </a:r>
            <a:r>
              <a:rPr lang="zh-CN" altLang="en-US" dirty="0"/>
              <a:t>诊断则面向 </a:t>
            </a:r>
            <a:r>
              <a:rPr lang="en-US" altLang="zh-CN" dirty="0"/>
              <a:t>CPU</a:t>
            </a:r>
            <a:r>
              <a:rPr lang="zh-CN" altLang="en-US" dirty="0"/>
              <a:t>、内存、磁盘 </a:t>
            </a:r>
            <a:r>
              <a:rPr lang="en-US" altLang="zh-CN" dirty="0"/>
              <a:t>I/O</a:t>
            </a:r>
            <a:r>
              <a:rPr lang="zh-CN" altLang="en-US" dirty="0"/>
              <a:t>、网络、进程等异构系统指标，其故障传播往往跨越多个系统组件，具有更强的动态性与复杂性。</a:t>
            </a:r>
          </a:p>
        </p:txBody>
      </p:sp>
      <p:sp>
        <p:nvSpPr>
          <p:cNvPr id="4" name="灯片编号占位符 3"/>
          <p:cNvSpPr>
            <a:spLocks noGrp="1"/>
          </p:cNvSpPr>
          <p:nvPr>
            <p:ph type="sldNum" sz="quarter" idx="5"/>
          </p:nvPr>
        </p:nvSpPr>
        <p:spPr/>
        <p:txBody>
          <a:bodyPr/>
          <a:lstStyle/>
          <a:p>
            <a:fld id="{982BA46B-E1B2-4520-80B7-3F1B8A68F93F}" type="slidenum">
              <a:rPr lang="zh-CN" altLang="en-US" smtClean="0"/>
              <a:t>3</a:t>
            </a:fld>
            <a:endParaRPr lang="zh-CN" altLang="en-US"/>
          </a:p>
        </p:txBody>
      </p:sp>
    </p:spTree>
    <p:extLst>
      <p:ext uri="{BB962C8B-B14F-4D97-AF65-F5344CB8AC3E}">
        <p14:creationId xmlns:p14="http://schemas.microsoft.com/office/powerpoint/2010/main" val="40188874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2</a:t>
            </a:r>
            <a:r>
              <a:rPr lang="zh-CN" altLang="en-US" dirty="0"/>
              <a:t>挑战。挑战</a:t>
            </a:r>
            <a:r>
              <a:rPr lang="en-US" altLang="zh-CN" dirty="0"/>
              <a:t>1 </a:t>
            </a:r>
            <a:r>
              <a:rPr lang="zh-CN" altLang="en-US" dirty="0"/>
              <a:t>缺乏适用于异构指标的动态因果发现方法</a:t>
            </a:r>
            <a:r>
              <a:rPr lang="en-US" altLang="zh-CN" dirty="0"/>
              <a:t>,</a:t>
            </a:r>
            <a:r>
              <a:rPr lang="zh-CN" altLang="en-US" dirty="0"/>
              <a:t>现有方法主要针对同构指标，无法有效建模复杂资源间的交互，无法描述整个故障生命周期中的动态传播。</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挑战二：缺乏可解释性。现有方法通常只输出一个根因指标排序列表 缺乏直观洞察。</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挑战三：线上部署要求高。需高效、可扩展、适配大规模输入。</a:t>
            </a:r>
          </a:p>
        </p:txBody>
      </p:sp>
      <p:sp>
        <p:nvSpPr>
          <p:cNvPr id="4" name="灯片编号占位符 3"/>
          <p:cNvSpPr>
            <a:spLocks noGrp="1"/>
          </p:cNvSpPr>
          <p:nvPr>
            <p:ph type="sldNum" sz="quarter" idx="5"/>
          </p:nvPr>
        </p:nvSpPr>
        <p:spPr/>
        <p:txBody>
          <a:bodyPr/>
          <a:lstStyle/>
          <a:p>
            <a:fld id="{982BA46B-E1B2-4520-80B7-3F1B8A68F93F}" type="slidenum">
              <a:rPr lang="zh-CN" altLang="en-US" smtClean="0"/>
              <a:t>4</a:t>
            </a:fld>
            <a:endParaRPr lang="zh-CN" altLang="en-US"/>
          </a:p>
        </p:txBody>
      </p:sp>
    </p:spTree>
    <p:extLst>
      <p:ext uri="{BB962C8B-B14F-4D97-AF65-F5344CB8AC3E}">
        <p14:creationId xmlns:p14="http://schemas.microsoft.com/office/powerpoint/2010/main" val="91604179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针对这些挑战，本文提出的方法</a:t>
            </a:r>
            <a:r>
              <a:rPr lang="en-US" altLang="zh-CN" dirty="0" err="1"/>
              <a:t>FaultInsight</a:t>
            </a:r>
            <a:r>
              <a:rPr lang="zh-CN" altLang="en-US" dirty="0"/>
              <a:t>，</a:t>
            </a:r>
            <a:r>
              <a:rPr lang="en-US" altLang="zh-CN" dirty="0"/>
              <a:t> </a:t>
            </a:r>
            <a:r>
              <a:rPr lang="zh-CN" altLang="en-US" dirty="0"/>
              <a:t>包含三个阶段：</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阶段一：故障动态发现，构建故障动态因果图。</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阶段二：故障动态分析，计算动态影响、识别峰值、区分因果角色。</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阶段三：故障动态解释，对故障生成多种可视化解释。</a:t>
            </a:r>
          </a:p>
        </p:txBody>
      </p:sp>
      <p:sp>
        <p:nvSpPr>
          <p:cNvPr id="4" name="灯片编号占位符 3"/>
          <p:cNvSpPr>
            <a:spLocks noGrp="1"/>
          </p:cNvSpPr>
          <p:nvPr>
            <p:ph type="sldNum" sz="quarter" idx="5"/>
          </p:nvPr>
        </p:nvSpPr>
        <p:spPr/>
        <p:txBody>
          <a:bodyPr/>
          <a:lstStyle/>
          <a:p>
            <a:fld id="{982BA46B-E1B2-4520-80B7-3F1B8A68F93F}" type="slidenum">
              <a:rPr lang="zh-CN" altLang="en-US" smtClean="0"/>
              <a:t>5</a:t>
            </a:fld>
            <a:endParaRPr lang="zh-CN" altLang="en-US"/>
          </a:p>
        </p:txBody>
      </p:sp>
    </p:spTree>
    <p:extLst>
      <p:ext uri="{BB962C8B-B14F-4D97-AF65-F5344CB8AC3E}">
        <p14:creationId xmlns:p14="http://schemas.microsoft.com/office/powerpoint/2010/main" val="195458767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b="0" dirty="0">
                <a:solidFill>
                  <a:srgbClr val="000000"/>
                </a:solidFill>
                <a:effectLst/>
                <a:latin typeface="ui-sans-serif"/>
              </a:rPr>
              <a:t>第一部分 故障动态发现。针对主机故障诊断场景中的数据异构性 本文将</a:t>
            </a:r>
            <a:r>
              <a:rPr lang="en-US" altLang="zh-CN" b="0" dirty="0">
                <a:solidFill>
                  <a:srgbClr val="000000"/>
                </a:solidFill>
                <a:effectLst/>
                <a:latin typeface="ui-sans-serif"/>
              </a:rPr>
              <a:t>TCN </a:t>
            </a:r>
            <a:r>
              <a:rPr lang="zh-CN" altLang="en-US" b="0" dirty="0">
                <a:solidFill>
                  <a:srgbClr val="000000"/>
                </a:solidFill>
                <a:effectLst/>
                <a:latin typeface="ui-sans-serif"/>
              </a:rPr>
              <a:t>自动编码器与潜在向量自回归预测器集成 。其次还设计了一种基于时间扰动的动态因果发现方法，以提取动态因果关系。</a:t>
            </a:r>
            <a:endParaRPr lang="en-US" altLang="zh-CN" b="0" dirty="0">
              <a:solidFill>
                <a:srgbClr val="000000"/>
              </a:solidFill>
              <a:effectLst/>
              <a:latin typeface="ui-sans-serif"/>
            </a:endParaRPr>
          </a:p>
          <a:p>
            <a:pPr algn="l"/>
            <a:r>
              <a:rPr lang="en-US" altLang="zh-CN" b="0" dirty="0">
                <a:solidFill>
                  <a:srgbClr val="000000"/>
                </a:solidFill>
                <a:effectLst/>
                <a:latin typeface="ui-sans-serif"/>
              </a:rPr>
              <a:t>TCN </a:t>
            </a:r>
            <a:r>
              <a:rPr lang="zh-CN" altLang="en-US" b="0" dirty="0">
                <a:solidFill>
                  <a:srgbClr val="000000"/>
                </a:solidFill>
                <a:effectLst/>
                <a:latin typeface="ui-sans-serif"/>
              </a:rPr>
              <a:t>自动编码器由一对单变量 </a:t>
            </a:r>
            <a:r>
              <a:rPr lang="en-US" altLang="zh-CN" b="0" dirty="0">
                <a:solidFill>
                  <a:srgbClr val="000000"/>
                </a:solidFill>
                <a:effectLst/>
                <a:latin typeface="ui-sans-serif"/>
              </a:rPr>
              <a:t>TCN </a:t>
            </a:r>
            <a:r>
              <a:rPr lang="zh-CN" altLang="en-US" b="0" dirty="0">
                <a:solidFill>
                  <a:srgbClr val="000000"/>
                </a:solidFill>
                <a:effectLst/>
                <a:latin typeface="ui-sans-serif"/>
              </a:rPr>
              <a:t>编码器 </a:t>
            </a:r>
            <a:r>
              <a:rPr lang="en-US" altLang="zh-CN" b="0" dirty="0">
                <a:solidFill>
                  <a:srgbClr val="000000"/>
                </a:solidFill>
                <a:effectLst/>
                <a:latin typeface="ui-sans-serif"/>
              </a:rPr>
              <a:t>g* </a:t>
            </a:r>
            <a:r>
              <a:rPr lang="zh-CN" altLang="en-US" b="0" dirty="0">
                <a:solidFill>
                  <a:srgbClr val="000000"/>
                </a:solidFill>
                <a:effectLst/>
                <a:latin typeface="ui-sans-serif"/>
              </a:rPr>
              <a:t>和解码器 </a:t>
            </a:r>
            <a:r>
              <a:rPr lang="en-US" altLang="zh-CN" b="0" dirty="0">
                <a:solidFill>
                  <a:srgbClr val="000000"/>
                </a:solidFill>
                <a:effectLst/>
                <a:latin typeface="ui-sans-serif"/>
              </a:rPr>
              <a:t>f* </a:t>
            </a:r>
            <a:r>
              <a:rPr lang="zh-CN" altLang="en-US" b="0" dirty="0">
                <a:solidFill>
                  <a:srgbClr val="000000"/>
                </a:solidFill>
                <a:effectLst/>
                <a:latin typeface="ui-sans-serif"/>
              </a:rPr>
              <a:t>组成，重构任务可以表述如下公式：其中 </a:t>
            </a:r>
            <a:r>
              <a:rPr lang="en-US" altLang="zh-CN" b="0" dirty="0">
                <a:solidFill>
                  <a:srgbClr val="000000"/>
                </a:solidFill>
                <a:effectLst/>
                <a:latin typeface="ui-sans-serif"/>
              </a:rPr>
              <a:t>Xi,1:t </a:t>
            </a:r>
            <a:r>
              <a:rPr lang="zh-CN" altLang="en-US" b="0" dirty="0">
                <a:solidFill>
                  <a:srgbClr val="000000"/>
                </a:solidFill>
                <a:effectLst/>
                <a:latin typeface="ui-sans-serif"/>
              </a:rPr>
              <a:t>表示从时间步 </a:t>
            </a:r>
            <a:r>
              <a:rPr lang="en-US" altLang="zh-CN" b="0" dirty="0">
                <a:solidFill>
                  <a:srgbClr val="000000"/>
                </a:solidFill>
                <a:effectLst/>
                <a:latin typeface="ui-sans-serif"/>
              </a:rPr>
              <a:t>1 </a:t>
            </a:r>
            <a:r>
              <a:rPr lang="zh-CN" altLang="en-US" b="0" dirty="0">
                <a:solidFill>
                  <a:srgbClr val="000000"/>
                </a:solidFill>
                <a:effectLst/>
                <a:latin typeface="ui-sans-serif"/>
              </a:rPr>
              <a:t>到 </a:t>
            </a:r>
            <a:r>
              <a:rPr lang="en-US" altLang="zh-CN" b="0" dirty="0">
                <a:solidFill>
                  <a:srgbClr val="000000"/>
                </a:solidFill>
                <a:effectLst/>
                <a:latin typeface="ui-sans-serif"/>
              </a:rPr>
              <a:t>t </a:t>
            </a:r>
            <a:r>
              <a:rPr lang="zh-CN" altLang="en-US" b="0" dirty="0">
                <a:solidFill>
                  <a:srgbClr val="000000"/>
                </a:solidFill>
                <a:effectLst/>
                <a:latin typeface="ui-sans-serif"/>
              </a:rPr>
              <a:t>的指标 </a:t>
            </a:r>
            <a:r>
              <a:rPr lang="en-US" altLang="zh-CN" b="0" dirty="0" err="1">
                <a:solidFill>
                  <a:srgbClr val="000000"/>
                </a:solidFill>
                <a:effectLst/>
                <a:latin typeface="ui-sans-serif"/>
              </a:rPr>
              <a:t>i</a:t>
            </a:r>
            <a:r>
              <a:rPr lang="en-US" altLang="zh-CN" b="0" dirty="0">
                <a:solidFill>
                  <a:srgbClr val="000000"/>
                </a:solidFill>
                <a:effectLst/>
                <a:latin typeface="ui-sans-serif"/>
              </a:rPr>
              <a:t> </a:t>
            </a:r>
            <a:r>
              <a:rPr lang="zh-CN" altLang="en-US" b="0" dirty="0">
                <a:solidFill>
                  <a:srgbClr val="000000"/>
                </a:solidFill>
                <a:effectLst/>
                <a:latin typeface="ui-sans-serif"/>
              </a:rPr>
              <a:t>的值，</a:t>
            </a:r>
            <a:r>
              <a:rPr lang="en-US" altLang="zh-CN" b="0" dirty="0">
                <a:solidFill>
                  <a:srgbClr val="000000"/>
                </a:solidFill>
                <a:effectLst/>
                <a:latin typeface="ui-sans-serif"/>
              </a:rPr>
              <a:t>Z ∈ R N ×T ×C </a:t>
            </a:r>
            <a:r>
              <a:rPr lang="zh-CN" altLang="en-US" b="0" dirty="0">
                <a:solidFill>
                  <a:srgbClr val="000000"/>
                </a:solidFill>
                <a:effectLst/>
                <a:latin typeface="ui-sans-serif"/>
              </a:rPr>
              <a:t>表示 </a:t>
            </a:r>
            <a:r>
              <a:rPr lang="en-US" altLang="zh-CN" b="0" dirty="0">
                <a:solidFill>
                  <a:srgbClr val="000000"/>
                </a:solidFill>
                <a:effectLst/>
                <a:latin typeface="ui-sans-serif"/>
              </a:rPr>
              <a:t>X </a:t>
            </a:r>
            <a:r>
              <a:rPr lang="zh-CN" altLang="en-US" b="0" dirty="0">
                <a:solidFill>
                  <a:srgbClr val="000000"/>
                </a:solidFill>
                <a:effectLst/>
                <a:latin typeface="ui-sans-serif"/>
              </a:rPr>
              <a:t>的潜在表示序列，</a:t>
            </a:r>
            <a:r>
              <a:rPr lang="en-US" altLang="zh-CN" b="0" dirty="0">
                <a:solidFill>
                  <a:srgbClr val="000000"/>
                </a:solidFill>
                <a:effectLst/>
                <a:latin typeface="ui-sans-serif"/>
              </a:rPr>
              <a:t>C </a:t>
            </a:r>
            <a:r>
              <a:rPr lang="zh-CN" altLang="en-US" b="0" dirty="0">
                <a:solidFill>
                  <a:srgbClr val="000000"/>
                </a:solidFill>
                <a:effectLst/>
                <a:latin typeface="ui-sans-serif"/>
              </a:rPr>
              <a:t>是潜在语义通道的数量，</a:t>
            </a:r>
            <a:r>
              <a:rPr lang="en-US" altLang="zh-CN" b="0" dirty="0">
                <a:solidFill>
                  <a:srgbClr val="000000"/>
                </a:solidFill>
                <a:effectLst/>
                <a:latin typeface="ui-sans-serif"/>
              </a:rPr>
              <a:t>X ̃ </a:t>
            </a:r>
            <a:r>
              <a:rPr lang="zh-CN" altLang="en-US" b="0" dirty="0">
                <a:solidFill>
                  <a:srgbClr val="000000"/>
                </a:solidFill>
                <a:effectLst/>
                <a:latin typeface="ui-sans-serif"/>
              </a:rPr>
              <a:t>表示重构的度量。</a:t>
            </a:r>
            <a:endParaRPr lang="en-US" altLang="zh-CN" b="0" dirty="0">
              <a:solidFill>
                <a:srgbClr val="000000"/>
              </a:solidFill>
              <a:effectLst/>
              <a:latin typeface="ui-sans-serif"/>
            </a:endParaRPr>
          </a:p>
          <a:p>
            <a:pPr algn="l"/>
            <a:r>
              <a:rPr lang="zh-CN" altLang="en-US" b="0" dirty="0">
                <a:solidFill>
                  <a:srgbClr val="000000"/>
                </a:solidFill>
                <a:effectLst/>
                <a:latin typeface="ui-sans-serif"/>
              </a:rPr>
              <a:t>使用均方误差（</a:t>
            </a:r>
            <a:r>
              <a:rPr lang="en-US" altLang="zh-CN" b="0" dirty="0">
                <a:solidFill>
                  <a:srgbClr val="000000"/>
                </a:solidFill>
                <a:effectLst/>
                <a:latin typeface="ui-sans-serif"/>
              </a:rPr>
              <a:t>MSE</a:t>
            </a:r>
            <a:r>
              <a:rPr lang="zh-CN" altLang="en-US" b="0" dirty="0">
                <a:solidFill>
                  <a:srgbClr val="000000"/>
                </a:solidFill>
                <a:effectLst/>
                <a:latin typeface="ui-sans-serif"/>
              </a:rPr>
              <a:t>）作为损失函数。</a:t>
            </a:r>
          </a:p>
        </p:txBody>
      </p:sp>
      <p:sp>
        <p:nvSpPr>
          <p:cNvPr id="4" name="灯片编号占位符 3"/>
          <p:cNvSpPr>
            <a:spLocks noGrp="1"/>
          </p:cNvSpPr>
          <p:nvPr>
            <p:ph type="sldNum" sz="quarter" idx="5"/>
          </p:nvPr>
        </p:nvSpPr>
        <p:spPr/>
        <p:txBody>
          <a:bodyPr/>
          <a:lstStyle/>
          <a:p>
            <a:fld id="{982BA46B-E1B2-4520-80B7-3F1B8A68F93F}" type="slidenum">
              <a:rPr lang="zh-CN" altLang="en-US" smtClean="0"/>
              <a:t>6</a:t>
            </a:fld>
            <a:endParaRPr lang="zh-CN" altLang="en-US"/>
          </a:p>
        </p:txBody>
      </p:sp>
    </p:spTree>
    <p:extLst>
      <p:ext uri="{BB962C8B-B14F-4D97-AF65-F5344CB8AC3E}">
        <p14:creationId xmlns:p14="http://schemas.microsoft.com/office/powerpoint/2010/main" val="344799183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dirty="0"/>
              <a:t>潜在向量自回归预测器，它根据潜在空间中所有指标的过去值来预测指标的未来值。潜在向量自回归预测器被集成到 </a:t>
            </a:r>
            <a:r>
              <a:rPr lang="en-US" altLang="zh-CN" dirty="0"/>
              <a:t>TCN </a:t>
            </a:r>
            <a:r>
              <a:rPr lang="zh-CN" altLang="en-US" dirty="0"/>
              <a:t>自动编码器中（如右图所示）。预测任务可以表述如下，其中</a:t>
            </a:r>
            <a:r>
              <a:rPr lang="en-US" altLang="zh-CN" dirty="0"/>
              <a:t>Z^</a:t>
            </a:r>
            <a:r>
              <a:rPr lang="zh-CN" altLang="en-US" dirty="0"/>
              <a:t>和</a:t>
            </a:r>
            <a:r>
              <a:rPr lang="en-US" altLang="zh-CN" dirty="0"/>
              <a:t>^X</a:t>
            </a:r>
            <a:r>
              <a:rPr lang="zh-CN" altLang="en-US" dirty="0"/>
              <a:t>分别表示预测的潜在表示和指标，</a:t>
            </a:r>
            <a:r>
              <a:rPr lang="en-US" altLang="zh-CN" dirty="0"/>
              <a:t>σ</a:t>
            </a:r>
            <a:r>
              <a:rPr lang="zh-CN" altLang="en-US" dirty="0"/>
              <a:t>是</a:t>
            </a:r>
            <a:r>
              <a:rPr lang="en-US" altLang="zh-CN" dirty="0"/>
              <a:t>TCN</a:t>
            </a:r>
            <a:r>
              <a:rPr lang="zh-CN" altLang="en-US" dirty="0"/>
              <a:t>自动编码器中的激活函数，</a:t>
            </a:r>
            <a:r>
              <a:rPr lang="en-US" altLang="zh-CN" dirty="0"/>
              <a:t>W </a:t>
            </a:r>
            <a:r>
              <a:rPr lang="zh-CN" altLang="en-US" dirty="0"/>
              <a:t>是可训练张量。预测的 </a:t>
            </a:r>
            <a:r>
              <a:rPr lang="en-US" altLang="zh-CN" dirty="0"/>
              <a:t>MSE </a:t>
            </a:r>
            <a:r>
              <a:rPr lang="zh-CN" altLang="en-US" dirty="0"/>
              <a:t>损失 </a:t>
            </a:r>
            <a:r>
              <a:rPr lang="en-US" altLang="zh-CN" dirty="0" err="1"/>
              <a:t>lpred</a:t>
            </a:r>
            <a:r>
              <a:rPr lang="en-US" altLang="zh-CN" dirty="0"/>
              <a:t> </a:t>
            </a:r>
            <a:r>
              <a:rPr lang="zh-CN" altLang="en-US" dirty="0"/>
              <a:t>为：</a:t>
            </a:r>
            <a:endParaRPr lang="zh-CN" altLang="en-US" b="0" dirty="0">
              <a:solidFill>
                <a:srgbClr val="000000"/>
              </a:solidFill>
              <a:effectLst/>
              <a:latin typeface="ui-sans-serif"/>
            </a:endParaRPr>
          </a:p>
        </p:txBody>
      </p:sp>
      <p:sp>
        <p:nvSpPr>
          <p:cNvPr id="4" name="灯片编号占位符 3"/>
          <p:cNvSpPr>
            <a:spLocks noGrp="1"/>
          </p:cNvSpPr>
          <p:nvPr>
            <p:ph type="sldNum" sz="quarter" idx="5"/>
          </p:nvPr>
        </p:nvSpPr>
        <p:spPr/>
        <p:txBody>
          <a:bodyPr/>
          <a:lstStyle/>
          <a:p>
            <a:fld id="{982BA46B-E1B2-4520-80B7-3F1B8A68F93F}" type="slidenum">
              <a:rPr lang="zh-CN" altLang="en-US" smtClean="0"/>
              <a:t>7</a:t>
            </a:fld>
            <a:endParaRPr lang="zh-CN" altLang="en-US"/>
          </a:p>
        </p:txBody>
      </p:sp>
    </p:spTree>
    <p:extLst>
      <p:ext uri="{BB962C8B-B14F-4D97-AF65-F5344CB8AC3E}">
        <p14:creationId xmlns:p14="http://schemas.microsoft.com/office/powerpoint/2010/main" val="380837597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dirty="0"/>
              <a:t>本文还使用了结构化稀疏正则化。我们对 </a:t>
            </a:r>
            <a:r>
              <a:rPr lang="en-US" altLang="zh-CN" dirty="0"/>
              <a:t>TCN </a:t>
            </a:r>
            <a:r>
              <a:rPr lang="zh-CN" altLang="en-US" dirty="0"/>
              <a:t>自动编码器 </a:t>
            </a:r>
            <a:r>
              <a:rPr lang="en-US" altLang="zh-CN" dirty="0"/>
              <a:t>g*</a:t>
            </a:r>
            <a:r>
              <a:rPr lang="zh-CN" altLang="en-US" dirty="0"/>
              <a:t>、</a:t>
            </a:r>
            <a:r>
              <a:rPr lang="en-US" altLang="zh-CN" dirty="0"/>
              <a:t>f* </a:t>
            </a:r>
            <a:r>
              <a:rPr lang="zh-CN" altLang="en-US" dirty="0"/>
              <a:t>和 </a:t>
            </a:r>
            <a:r>
              <a:rPr lang="en-US" altLang="zh-CN" dirty="0"/>
              <a:t>L1 </a:t>
            </a:r>
            <a:r>
              <a:rPr lang="zh-CN" altLang="en-US" dirty="0"/>
              <a:t>正则化采用空间 </a:t>
            </a:r>
            <a:r>
              <a:rPr lang="en-US" altLang="zh-CN" dirty="0"/>
              <a:t>dropout</a:t>
            </a:r>
            <a:r>
              <a:rPr lang="zh-CN" altLang="en-US" dirty="0"/>
              <a:t>，对潜在预测器 </a:t>
            </a:r>
            <a:r>
              <a:rPr lang="en-US" altLang="zh-CN" dirty="0"/>
              <a:t>p </a:t>
            </a:r>
            <a:r>
              <a:rPr lang="zh-CN" altLang="en-US" dirty="0"/>
              <a:t>和输出层 </a:t>
            </a:r>
            <a:r>
              <a:rPr lang="en-US" altLang="zh-CN" dirty="0"/>
              <a:t>o </a:t>
            </a:r>
            <a:r>
              <a:rPr lang="zh-CN" altLang="en-US" dirty="0"/>
              <a:t>的可学习参数进行正则化，就是给模型加 “稀疏惩罚”，从而降低编码器 </a:t>
            </a:r>
            <a:r>
              <a:rPr lang="en-US" altLang="zh-CN" dirty="0"/>
              <a:t>/ </a:t>
            </a:r>
            <a:r>
              <a:rPr lang="zh-CN" altLang="en-US" dirty="0"/>
              <a:t>解码器连接冗余，约束预测器参数，突出强因果关系。</a:t>
            </a:r>
            <a:endParaRPr lang="en-US" altLang="zh-CN" dirty="0"/>
          </a:p>
          <a:p>
            <a:pPr algn="l"/>
            <a:r>
              <a:rPr lang="zh-CN" altLang="en-US" b="0" dirty="0">
                <a:solidFill>
                  <a:srgbClr val="000000"/>
                </a:solidFill>
                <a:effectLst/>
                <a:latin typeface="ui-sans-serif"/>
              </a:rPr>
              <a:t>最后通过时间扰动进行动态因果关系提取。这个方法是 当指标 </a:t>
            </a:r>
            <a:r>
              <a:rPr lang="en-US" altLang="zh-CN" b="0" dirty="0">
                <a:solidFill>
                  <a:srgbClr val="000000"/>
                </a:solidFill>
                <a:effectLst/>
                <a:latin typeface="ui-sans-serif"/>
              </a:rPr>
              <a:t>j </a:t>
            </a:r>
            <a:r>
              <a:rPr lang="zh-CN" altLang="en-US" b="0" dirty="0">
                <a:solidFill>
                  <a:srgbClr val="000000"/>
                </a:solidFill>
                <a:effectLst/>
                <a:latin typeface="ui-sans-serif"/>
              </a:rPr>
              <a:t>受到扰动时，指标 </a:t>
            </a:r>
            <a:r>
              <a:rPr lang="en-US" altLang="zh-CN" b="0" dirty="0" err="1">
                <a:solidFill>
                  <a:srgbClr val="000000"/>
                </a:solidFill>
                <a:effectLst/>
                <a:latin typeface="ui-sans-serif"/>
              </a:rPr>
              <a:t>i</a:t>
            </a:r>
            <a:r>
              <a:rPr lang="en-US" altLang="zh-CN" b="0" dirty="0">
                <a:solidFill>
                  <a:srgbClr val="000000"/>
                </a:solidFill>
                <a:effectLst/>
                <a:latin typeface="ui-sans-serif"/>
              </a:rPr>
              <a:t> </a:t>
            </a:r>
            <a:r>
              <a:rPr lang="zh-CN" altLang="en-US" b="0" dirty="0">
                <a:solidFill>
                  <a:srgbClr val="000000"/>
                </a:solidFill>
                <a:effectLst/>
                <a:latin typeface="ui-sans-serif"/>
              </a:rPr>
              <a:t>在时间步 </a:t>
            </a:r>
            <a:r>
              <a:rPr lang="en-US" altLang="zh-CN" b="0" dirty="0">
                <a:solidFill>
                  <a:srgbClr val="000000"/>
                </a:solidFill>
                <a:effectLst/>
                <a:latin typeface="ui-sans-serif"/>
              </a:rPr>
              <a:t>t </a:t>
            </a:r>
            <a:r>
              <a:rPr lang="zh-CN" altLang="en-US" b="0" dirty="0">
                <a:solidFill>
                  <a:srgbClr val="000000"/>
                </a:solidFill>
                <a:effectLst/>
                <a:latin typeface="ui-sans-serif"/>
              </a:rPr>
              <a:t>处的预测值误差变化可以解释为在 </a:t>
            </a:r>
            <a:r>
              <a:rPr lang="en-US" altLang="zh-CN" b="0" dirty="0">
                <a:solidFill>
                  <a:srgbClr val="000000"/>
                </a:solidFill>
                <a:effectLst/>
                <a:latin typeface="ui-sans-serif"/>
              </a:rPr>
              <a:t>t </a:t>
            </a:r>
            <a:r>
              <a:rPr lang="zh-CN" altLang="en-US" b="0" dirty="0">
                <a:solidFill>
                  <a:srgbClr val="000000"/>
                </a:solidFill>
                <a:effectLst/>
                <a:latin typeface="ui-sans-serif"/>
              </a:rPr>
              <a:t>时刻从</a:t>
            </a:r>
            <a:r>
              <a:rPr lang="en-US" altLang="zh-CN" b="0" dirty="0">
                <a:solidFill>
                  <a:srgbClr val="000000"/>
                </a:solidFill>
                <a:effectLst/>
                <a:latin typeface="ui-sans-serif"/>
              </a:rPr>
              <a:t>j</a:t>
            </a:r>
            <a:r>
              <a:rPr lang="zh-CN" altLang="en-US" b="0" dirty="0">
                <a:solidFill>
                  <a:srgbClr val="000000"/>
                </a:solidFill>
                <a:effectLst/>
                <a:latin typeface="ui-sans-serif"/>
              </a:rPr>
              <a:t>到</a:t>
            </a:r>
            <a:r>
              <a:rPr lang="en-US" altLang="zh-CN" b="0" dirty="0" err="1">
                <a:solidFill>
                  <a:srgbClr val="000000"/>
                </a:solidFill>
                <a:effectLst/>
                <a:latin typeface="ui-sans-serif"/>
              </a:rPr>
              <a:t>i</a:t>
            </a:r>
            <a:r>
              <a:rPr lang="zh-CN" altLang="en-US" b="0" dirty="0">
                <a:solidFill>
                  <a:srgbClr val="000000"/>
                </a:solidFill>
                <a:effectLst/>
                <a:latin typeface="ui-sans-serif"/>
              </a:rPr>
              <a:t>的因果效应的强度 。</a:t>
            </a:r>
          </a:p>
        </p:txBody>
      </p:sp>
      <p:sp>
        <p:nvSpPr>
          <p:cNvPr id="4" name="灯片编号占位符 3"/>
          <p:cNvSpPr>
            <a:spLocks noGrp="1"/>
          </p:cNvSpPr>
          <p:nvPr>
            <p:ph type="sldNum" sz="quarter" idx="5"/>
          </p:nvPr>
        </p:nvSpPr>
        <p:spPr/>
        <p:txBody>
          <a:bodyPr/>
          <a:lstStyle/>
          <a:p>
            <a:fld id="{982BA46B-E1B2-4520-80B7-3F1B8A68F93F}" type="slidenum">
              <a:rPr lang="zh-CN" altLang="en-US" smtClean="0"/>
              <a:t>8</a:t>
            </a:fld>
            <a:endParaRPr lang="zh-CN" altLang="en-US"/>
          </a:p>
        </p:txBody>
      </p:sp>
    </p:spTree>
    <p:extLst>
      <p:ext uri="{BB962C8B-B14F-4D97-AF65-F5344CB8AC3E}">
        <p14:creationId xmlns:p14="http://schemas.microsoft.com/office/powerpoint/2010/main" val="236323326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b="0" dirty="0">
                <a:solidFill>
                  <a:srgbClr val="000000"/>
                </a:solidFill>
                <a:effectLst/>
                <a:latin typeface="ui-sans-serif"/>
              </a:rPr>
              <a:t>故障动态发现。右边是本框架第一部分算法伪代码，我们首先</a:t>
            </a:r>
            <a:r>
              <a:rPr lang="zh-CN" altLang="en-US" dirty="0"/>
              <a:t>联合训练 重构和预测任务，接下来，我们通过时间扰动使用经过训练的模型和输入指标提取动态因果关系图。最后 总共 </a:t>
            </a:r>
            <a:r>
              <a:rPr lang="en-US" altLang="zh-CN" dirty="0"/>
              <a:t>n</a:t>
            </a:r>
            <a:r>
              <a:rPr lang="zh-CN" altLang="en-US" dirty="0"/>
              <a:t>轮次重复提取 取平均得到动态因果强度 </a:t>
            </a:r>
            <a:r>
              <a:rPr lang="en-US" altLang="zh-CN" dirty="0"/>
              <a:t>D</a:t>
            </a:r>
            <a:r>
              <a:rPr lang="zh-CN" altLang="en-US" dirty="0"/>
              <a:t>。</a:t>
            </a:r>
            <a:endParaRPr lang="zh-CN" altLang="en-US" b="0" dirty="0">
              <a:solidFill>
                <a:srgbClr val="000000"/>
              </a:solidFill>
              <a:effectLst/>
              <a:latin typeface="ui-sans-serif"/>
            </a:endParaRPr>
          </a:p>
        </p:txBody>
      </p:sp>
      <p:sp>
        <p:nvSpPr>
          <p:cNvPr id="4" name="灯片编号占位符 3"/>
          <p:cNvSpPr>
            <a:spLocks noGrp="1"/>
          </p:cNvSpPr>
          <p:nvPr>
            <p:ph type="sldNum" sz="quarter" idx="5"/>
          </p:nvPr>
        </p:nvSpPr>
        <p:spPr/>
        <p:txBody>
          <a:bodyPr/>
          <a:lstStyle/>
          <a:p>
            <a:fld id="{982BA46B-E1B2-4520-80B7-3F1B8A68F93F}" type="slidenum">
              <a:rPr lang="zh-CN" altLang="en-US" smtClean="0"/>
              <a:t>9</a:t>
            </a:fld>
            <a:endParaRPr lang="zh-CN" altLang="en-US"/>
          </a:p>
        </p:txBody>
      </p:sp>
    </p:spTree>
    <p:extLst>
      <p:ext uri="{BB962C8B-B14F-4D97-AF65-F5344CB8AC3E}">
        <p14:creationId xmlns:p14="http://schemas.microsoft.com/office/powerpoint/2010/main" val="267439436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dirty="0"/>
              <a:t>框架的第二部分 故障动态分析。首先是动态影响评分 ，定义两类影响：向外影响（</a:t>
            </a:r>
            <a:r>
              <a:rPr lang="en-US" altLang="zh-CN" dirty="0"/>
              <a:t>outward</a:t>
            </a:r>
            <a:r>
              <a:rPr lang="zh-CN" altLang="en-US" dirty="0"/>
              <a:t>）：指标向其他指标传播异常。向内影响（</a:t>
            </a:r>
            <a:r>
              <a:rPr lang="en-US" altLang="zh-CN" dirty="0"/>
              <a:t>inward</a:t>
            </a:r>
            <a:r>
              <a:rPr lang="zh-CN" altLang="en-US" dirty="0"/>
              <a:t>）：指标从其他指标接收异常。分别使用</a:t>
            </a:r>
            <a:r>
              <a:rPr lang="en-US" altLang="zh-CN" dirty="0"/>
              <a:t>S</a:t>
            </a:r>
            <a:r>
              <a:rPr lang="zh-CN" altLang="en-US" dirty="0"/>
              <a:t>和</a:t>
            </a:r>
            <a:r>
              <a:rPr lang="en-US" altLang="zh-CN" dirty="0"/>
              <a:t>S</a:t>
            </a:r>
            <a:r>
              <a:rPr lang="zh-CN" altLang="en-US" dirty="0"/>
              <a:t>横表示。</a:t>
            </a:r>
            <a:endParaRPr lang="en-US" altLang="zh-CN" dirty="0"/>
          </a:p>
          <a:p>
            <a:pPr algn="l"/>
            <a:r>
              <a:rPr lang="zh-CN" altLang="en-US" b="0" dirty="0">
                <a:solidFill>
                  <a:srgbClr val="000000"/>
                </a:solidFill>
                <a:effectLst/>
                <a:latin typeface="ui-sans-serif"/>
              </a:rPr>
              <a:t>动态影响评分的计算公式如下，其中 </a:t>
            </a:r>
            <a:r>
              <a:rPr lang="en-US" altLang="zh-CN" b="0" dirty="0">
                <a:solidFill>
                  <a:srgbClr val="000000"/>
                </a:solidFill>
                <a:effectLst/>
                <a:latin typeface="ui-sans-serif"/>
              </a:rPr>
              <a:t>γ </a:t>
            </a:r>
            <a:r>
              <a:rPr lang="zh-CN" altLang="en-US" b="0" dirty="0">
                <a:solidFill>
                  <a:srgbClr val="000000"/>
                </a:solidFill>
                <a:effectLst/>
                <a:latin typeface="ui-sans-serif"/>
              </a:rPr>
              <a:t>是时间折扣函数，</a:t>
            </a:r>
            <a:r>
              <a:rPr lang="en-US" altLang="zh-CN" b="0" dirty="0">
                <a:solidFill>
                  <a:srgbClr val="000000"/>
                </a:solidFill>
                <a:effectLst/>
                <a:latin typeface="ui-sans-serif"/>
              </a:rPr>
              <a:t>Delta t</a:t>
            </a:r>
            <a:r>
              <a:rPr lang="zh-CN" altLang="en-US" b="0" dirty="0">
                <a:solidFill>
                  <a:srgbClr val="000000"/>
                </a:solidFill>
                <a:effectLst/>
                <a:latin typeface="ui-sans-serif"/>
              </a:rPr>
              <a:t>越大，权重越低（根据经验，指标的延迟影响通常不会花很长时间就会显现出来。），</a:t>
            </a:r>
            <a:r>
              <a:rPr lang="en-US" altLang="zh-CN" b="0" dirty="0">
                <a:solidFill>
                  <a:srgbClr val="000000"/>
                </a:solidFill>
                <a:effectLst/>
                <a:latin typeface="ui-sans-serif"/>
              </a:rPr>
              <a:t>β </a:t>
            </a:r>
            <a:r>
              <a:rPr lang="zh-CN" altLang="en-US" b="0" dirty="0">
                <a:solidFill>
                  <a:srgbClr val="000000"/>
                </a:solidFill>
                <a:effectLst/>
                <a:latin typeface="ui-sans-serif"/>
              </a:rPr>
              <a:t>是时间折扣超参数。</a:t>
            </a:r>
            <a:r>
              <a:rPr lang="en-US" altLang="zh-CN" b="0" dirty="0">
                <a:solidFill>
                  <a:srgbClr val="000000"/>
                </a:solidFill>
                <a:effectLst/>
                <a:latin typeface="ui-sans-serif"/>
              </a:rPr>
              <a:t>α ε (0, 1) </a:t>
            </a:r>
            <a:r>
              <a:rPr lang="zh-CN" altLang="en-US" b="0" dirty="0">
                <a:solidFill>
                  <a:srgbClr val="000000"/>
                </a:solidFill>
                <a:effectLst/>
                <a:latin typeface="ui-sans-serif"/>
              </a:rPr>
              <a:t>是平滑度超参数。</a:t>
            </a:r>
            <a:r>
              <a:rPr lang="en-US" altLang="zh-CN" b="0" dirty="0">
                <a:solidFill>
                  <a:srgbClr val="000000"/>
                </a:solidFill>
                <a:effectLst/>
                <a:latin typeface="ui-sans-serif"/>
              </a:rPr>
              <a:t>D</a:t>
            </a:r>
            <a:r>
              <a:rPr lang="zh-CN" altLang="en-US" b="0" dirty="0">
                <a:solidFill>
                  <a:srgbClr val="000000"/>
                </a:solidFill>
                <a:effectLst/>
                <a:latin typeface="ui-sans-serif"/>
              </a:rPr>
              <a:t>是第一部分计算的动态因果强度，中间这一块是归一化的因果强度，表示 “在 </a:t>
            </a:r>
            <a:r>
              <a:rPr lang="en-US" altLang="zh-CN" b="0" dirty="0" err="1">
                <a:solidFill>
                  <a:srgbClr val="000000"/>
                </a:solidFill>
                <a:effectLst/>
                <a:latin typeface="ui-sans-serif"/>
              </a:rPr>
              <a:t>t+Delta</a:t>
            </a:r>
            <a:r>
              <a:rPr lang="en-US" altLang="zh-CN" b="0" dirty="0">
                <a:solidFill>
                  <a:srgbClr val="000000"/>
                </a:solidFill>
                <a:effectLst/>
                <a:latin typeface="ui-sans-serif"/>
              </a:rPr>
              <a:t> t </a:t>
            </a:r>
            <a:r>
              <a:rPr lang="zh-CN" altLang="en-US" b="0" dirty="0">
                <a:solidFill>
                  <a:srgbClr val="000000"/>
                </a:solidFill>
                <a:effectLst/>
                <a:latin typeface="ui-sans-serif"/>
              </a:rPr>
              <a:t>时刻，</a:t>
            </a:r>
            <a:r>
              <a:rPr lang="en-US" altLang="zh-CN" b="0" dirty="0" err="1">
                <a:solidFill>
                  <a:srgbClr val="000000"/>
                </a:solidFill>
                <a:effectLst/>
                <a:latin typeface="ui-sans-serif"/>
              </a:rPr>
              <a:t>i</a:t>
            </a:r>
            <a:r>
              <a:rPr lang="en-US" altLang="zh-CN" b="0" dirty="0">
                <a:solidFill>
                  <a:srgbClr val="000000"/>
                </a:solidFill>
                <a:effectLst/>
                <a:latin typeface="ui-sans-serif"/>
              </a:rPr>
              <a:t> </a:t>
            </a:r>
            <a:r>
              <a:rPr lang="zh-CN" altLang="en-US" b="0" dirty="0">
                <a:solidFill>
                  <a:srgbClr val="000000"/>
                </a:solidFill>
                <a:effectLst/>
                <a:latin typeface="ui-sans-serif"/>
              </a:rPr>
              <a:t>对 </a:t>
            </a:r>
            <a:r>
              <a:rPr lang="en-US" altLang="zh-CN" b="0" dirty="0">
                <a:solidFill>
                  <a:srgbClr val="000000"/>
                </a:solidFill>
                <a:effectLst/>
                <a:latin typeface="ui-sans-serif"/>
              </a:rPr>
              <a:t>j </a:t>
            </a:r>
            <a:r>
              <a:rPr lang="zh-CN" altLang="en-US" b="0" dirty="0">
                <a:solidFill>
                  <a:srgbClr val="000000"/>
                </a:solidFill>
                <a:effectLst/>
                <a:latin typeface="ui-sans-serif"/>
              </a:rPr>
              <a:t>的影响占 </a:t>
            </a:r>
            <a:r>
              <a:rPr lang="en-US" altLang="zh-CN" b="0" dirty="0">
                <a:solidFill>
                  <a:srgbClr val="000000"/>
                </a:solidFill>
                <a:effectLst/>
                <a:latin typeface="ui-sans-serif"/>
              </a:rPr>
              <a:t>j </a:t>
            </a:r>
            <a:r>
              <a:rPr lang="zh-CN" altLang="en-US" b="0" dirty="0">
                <a:solidFill>
                  <a:srgbClr val="000000"/>
                </a:solidFill>
                <a:effectLst/>
                <a:latin typeface="ui-sans-serif"/>
              </a:rPr>
              <a:t>所有入边影响的比例”。一句话解释这个公式：</a:t>
            </a:r>
            <a:r>
              <a:rPr lang="en-US" altLang="zh-CN" b="0" dirty="0">
                <a:solidFill>
                  <a:srgbClr val="000000"/>
                </a:solidFill>
                <a:effectLst/>
                <a:latin typeface="ui-sans-serif"/>
              </a:rPr>
              <a:t>S(</a:t>
            </a:r>
            <a:r>
              <a:rPr lang="en-US" altLang="zh-CN" b="0" dirty="0" err="1">
                <a:solidFill>
                  <a:srgbClr val="000000"/>
                </a:solidFill>
                <a:effectLst/>
                <a:latin typeface="ui-sans-serif"/>
              </a:rPr>
              <a:t>i,t</a:t>
            </a:r>
            <a:r>
              <a:rPr lang="en-US" altLang="zh-CN" b="0" dirty="0">
                <a:solidFill>
                  <a:srgbClr val="000000"/>
                </a:solidFill>
                <a:effectLst/>
                <a:latin typeface="ui-sans-serif"/>
              </a:rPr>
              <a:t>)</a:t>
            </a:r>
            <a:r>
              <a:rPr lang="zh-CN" altLang="en-US" b="0" dirty="0">
                <a:solidFill>
                  <a:srgbClr val="000000"/>
                </a:solidFill>
                <a:effectLst/>
                <a:latin typeface="ui-sans-serif"/>
              </a:rPr>
              <a:t>表示：指标 </a:t>
            </a:r>
            <a:r>
              <a:rPr lang="en-US" altLang="zh-CN" b="0" dirty="0" err="1">
                <a:solidFill>
                  <a:srgbClr val="000000"/>
                </a:solidFill>
                <a:effectLst/>
                <a:latin typeface="ui-sans-serif"/>
              </a:rPr>
              <a:t>i</a:t>
            </a:r>
            <a:r>
              <a:rPr lang="en-US" altLang="zh-CN" b="0" dirty="0">
                <a:solidFill>
                  <a:srgbClr val="000000"/>
                </a:solidFill>
                <a:effectLst/>
                <a:latin typeface="ui-sans-serif"/>
              </a:rPr>
              <a:t> </a:t>
            </a:r>
            <a:r>
              <a:rPr lang="zh-CN" altLang="en-US" b="0" dirty="0">
                <a:solidFill>
                  <a:srgbClr val="000000"/>
                </a:solidFill>
                <a:effectLst/>
                <a:latin typeface="ui-sans-serif"/>
              </a:rPr>
              <a:t>在 </a:t>
            </a:r>
            <a:r>
              <a:rPr lang="en-US" altLang="zh-CN" b="0" dirty="0">
                <a:solidFill>
                  <a:srgbClr val="000000"/>
                </a:solidFill>
                <a:effectLst/>
                <a:latin typeface="ui-sans-serif"/>
              </a:rPr>
              <a:t>t </a:t>
            </a:r>
            <a:r>
              <a:rPr lang="zh-CN" altLang="en-US" b="0" dirty="0">
                <a:solidFill>
                  <a:srgbClr val="000000"/>
                </a:solidFill>
                <a:effectLst/>
                <a:latin typeface="ui-sans-serif"/>
              </a:rPr>
              <a:t>时刻的异常，会通过不同延迟的因果边，传播给后续所有指标 </a:t>
            </a:r>
            <a:r>
              <a:rPr lang="en-US" altLang="zh-CN" b="0" dirty="0">
                <a:solidFill>
                  <a:srgbClr val="000000"/>
                </a:solidFill>
                <a:effectLst/>
                <a:latin typeface="ui-sans-serif"/>
              </a:rPr>
              <a:t>j</a:t>
            </a:r>
            <a:r>
              <a:rPr lang="zh-CN" altLang="en-US" b="0" dirty="0">
                <a:solidFill>
                  <a:srgbClr val="000000"/>
                </a:solidFill>
                <a:effectLst/>
                <a:latin typeface="ui-sans-serif"/>
              </a:rPr>
              <a:t>，这些后续影响按时间衰减后，加权回传给 </a:t>
            </a:r>
            <a:r>
              <a:rPr lang="en-US" altLang="zh-CN" b="0" dirty="0" err="1">
                <a:solidFill>
                  <a:srgbClr val="000000"/>
                </a:solidFill>
                <a:effectLst/>
                <a:latin typeface="ui-sans-serif"/>
              </a:rPr>
              <a:t>i</a:t>
            </a:r>
            <a:r>
              <a:rPr lang="en-US" altLang="zh-CN" b="0" dirty="0">
                <a:solidFill>
                  <a:srgbClr val="000000"/>
                </a:solidFill>
                <a:effectLst/>
                <a:latin typeface="ui-sans-serif"/>
              </a:rPr>
              <a:t> </a:t>
            </a:r>
            <a:r>
              <a:rPr lang="zh-CN" altLang="en-US" b="0" dirty="0">
                <a:solidFill>
                  <a:srgbClr val="000000"/>
                </a:solidFill>
                <a:effectLst/>
                <a:latin typeface="ui-sans-serif"/>
              </a:rPr>
              <a:t>本身，得到它的 “总向外影响力”。下面这个同理，表示：指标 </a:t>
            </a:r>
            <a:r>
              <a:rPr lang="en-US" altLang="zh-CN" b="0" dirty="0" err="1">
                <a:solidFill>
                  <a:srgbClr val="000000"/>
                </a:solidFill>
                <a:effectLst/>
                <a:latin typeface="ui-sans-serif"/>
              </a:rPr>
              <a:t>i</a:t>
            </a:r>
            <a:r>
              <a:rPr lang="en-US" altLang="zh-CN" b="0" dirty="0">
                <a:solidFill>
                  <a:srgbClr val="000000"/>
                </a:solidFill>
                <a:effectLst/>
                <a:latin typeface="ui-sans-serif"/>
              </a:rPr>
              <a:t> </a:t>
            </a:r>
            <a:r>
              <a:rPr lang="zh-CN" altLang="en-US" b="0" dirty="0">
                <a:solidFill>
                  <a:srgbClr val="000000"/>
                </a:solidFill>
                <a:effectLst/>
                <a:latin typeface="ui-sans-serif"/>
              </a:rPr>
              <a:t>在 </a:t>
            </a:r>
            <a:r>
              <a:rPr lang="en-US" altLang="zh-CN" b="0" dirty="0">
                <a:solidFill>
                  <a:srgbClr val="000000"/>
                </a:solidFill>
                <a:effectLst/>
                <a:latin typeface="ui-sans-serif"/>
              </a:rPr>
              <a:t>t </a:t>
            </a:r>
            <a:r>
              <a:rPr lang="zh-CN" altLang="en-US" b="0" dirty="0">
                <a:solidFill>
                  <a:srgbClr val="000000"/>
                </a:solidFill>
                <a:effectLst/>
                <a:latin typeface="ui-sans-serif"/>
              </a:rPr>
              <a:t>时刻，接收到的来自过去所有指标的异常影响，按时间衰减后得到的总 “向内影响力”。</a:t>
            </a:r>
          </a:p>
        </p:txBody>
      </p:sp>
      <p:sp>
        <p:nvSpPr>
          <p:cNvPr id="4" name="灯片编号占位符 3"/>
          <p:cNvSpPr>
            <a:spLocks noGrp="1"/>
          </p:cNvSpPr>
          <p:nvPr>
            <p:ph type="sldNum" sz="quarter" idx="5"/>
          </p:nvPr>
        </p:nvSpPr>
        <p:spPr/>
        <p:txBody>
          <a:bodyPr/>
          <a:lstStyle/>
          <a:p>
            <a:fld id="{982BA46B-E1B2-4520-80B7-3F1B8A68F93F}" type="slidenum">
              <a:rPr lang="zh-CN" altLang="en-US" smtClean="0"/>
              <a:t>10</a:t>
            </a:fld>
            <a:endParaRPr lang="zh-CN" altLang="en-US"/>
          </a:p>
        </p:txBody>
      </p:sp>
    </p:spTree>
    <p:extLst>
      <p:ext uri="{BB962C8B-B14F-4D97-AF65-F5344CB8AC3E}">
        <p14:creationId xmlns:p14="http://schemas.microsoft.com/office/powerpoint/2010/main" val="215889896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b="0" dirty="0">
                <a:solidFill>
                  <a:srgbClr val="000000"/>
                </a:solidFill>
                <a:effectLst/>
                <a:latin typeface="ui-sans-serif"/>
              </a:rPr>
              <a:t>我们将外向和内向动态影响力得分的曲线下面积计算为累积的影响力得分</a:t>
            </a:r>
            <a:r>
              <a:rPr lang="en-US" altLang="zh-CN" b="0" dirty="0">
                <a:solidFill>
                  <a:srgbClr val="000000"/>
                </a:solidFill>
                <a:effectLst/>
                <a:latin typeface="ui-sans-serif"/>
              </a:rPr>
              <a:t>.</a:t>
            </a:r>
            <a:r>
              <a:rPr lang="zh-CN" altLang="en-US" b="0" dirty="0">
                <a:solidFill>
                  <a:srgbClr val="000000"/>
                </a:solidFill>
                <a:effectLst/>
                <a:latin typeface="ui-sans-serif"/>
              </a:rPr>
              <a:t>如果指标 </a:t>
            </a:r>
            <a:r>
              <a:rPr lang="en-US" altLang="zh-CN" b="0" dirty="0" err="1">
                <a:solidFill>
                  <a:srgbClr val="000000"/>
                </a:solidFill>
                <a:effectLst/>
                <a:latin typeface="ui-sans-serif"/>
              </a:rPr>
              <a:t>i</a:t>
            </a:r>
            <a:r>
              <a:rPr lang="en-US" altLang="zh-CN" b="0" dirty="0">
                <a:solidFill>
                  <a:srgbClr val="000000"/>
                </a:solidFill>
                <a:effectLst/>
                <a:latin typeface="ui-sans-serif"/>
              </a:rPr>
              <a:t> </a:t>
            </a:r>
            <a:r>
              <a:rPr lang="zh-CN" altLang="en-US" b="0" dirty="0">
                <a:solidFill>
                  <a:srgbClr val="000000"/>
                </a:solidFill>
                <a:effectLst/>
                <a:latin typeface="ui-sans-serif"/>
              </a:rPr>
              <a:t>的累计向外影响力得分 </a:t>
            </a:r>
            <a:r>
              <a:rPr lang="en-US" altLang="zh-CN" b="0" dirty="0">
                <a:solidFill>
                  <a:srgbClr val="000000"/>
                </a:solidFill>
                <a:effectLst/>
                <a:latin typeface="ui-sans-serif"/>
              </a:rPr>
              <a:t>S</a:t>
            </a:r>
            <a:r>
              <a:rPr lang="el-GR" altLang="zh-CN" b="0" dirty="0">
                <a:solidFill>
                  <a:srgbClr val="000000"/>
                </a:solidFill>
                <a:effectLst/>
                <a:latin typeface="ui-sans-serif"/>
              </a:rPr>
              <a:t>Σ </a:t>
            </a:r>
            <a:r>
              <a:rPr lang="en-US" altLang="zh-CN" b="0" dirty="0" err="1">
                <a:solidFill>
                  <a:srgbClr val="000000"/>
                </a:solidFill>
                <a:effectLst/>
                <a:latin typeface="ui-sans-serif"/>
              </a:rPr>
              <a:t>i</a:t>
            </a:r>
            <a:r>
              <a:rPr lang="en-US" altLang="zh-CN" b="0" dirty="0">
                <a:solidFill>
                  <a:srgbClr val="000000"/>
                </a:solidFill>
                <a:effectLst/>
                <a:latin typeface="ui-sans-serif"/>
              </a:rPr>
              <a:t> </a:t>
            </a:r>
            <a:r>
              <a:rPr lang="zh-CN" altLang="en-US" b="0" dirty="0">
                <a:solidFill>
                  <a:srgbClr val="000000"/>
                </a:solidFill>
                <a:effectLst/>
                <a:latin typeface="ui-sans-serif"/>
              </a:rPr>
              <a:t>超过其向内对应得分 </a:t>
            </a:r>
            <a:r>
              <a:rPr lang="en-US" altLang="zh-CN" b="0" dirty="0">
                <a:solidFill>
                  <a:srgbClr val="000000"/>
                </a:solidFill>
                <a:effectLst/>
                <a:latin typeface="ui-sans-serif"/>
              </a:rPr>
              <a:t>S ̄</a:t>
            </a:r>
            <a:r>
              <a:rPr lang="el-GR" altLang="zh-CN" b="0" dirty="0">
                <a:solidFill>
                  <a:srgbClr val="000000"/>
                </a:solidFill>
                <a:effectLst/>
                <a:latin typeface="ui-sans-serif"/>
              </a:rPr>
              <a:t>Σ </a:t>
            </a:r>
            <a:r>
              <a:rPr lang="en-US" altLang="zh-CN" b="0" dirty="0" err="1">
                <a:solidFill>
                  <a:srgbClr val="000000"/>
                </a:solidFill>
                <a:effectLst/>
                <a:latin typeface="ui-sans-serif"/>
              </a:rPr>
              <a:t>i</a:t>
            </a:r>
            <a:r>
              <a:rPr lang="en-US" altLang="zh-CN" b="0" dirty="0">
                <a:solidFill>
                  <a:srgbClr val="000000"/>
                </a:solidFill>
                <a:effectLst/>
                <a:latin typeface="ui-sans-serif"/>
              </a:rPr>
              <a:t> </a:t>
            </a:r>
            <a:r>
              <a:rPr lang="zh-CN" altLang="en-US" b="0" dirty="0">
                <a:solidFill>
                  <a:srgbClr val="000000"/>
                </a:solidFill>
                <a:effectLst/>
                <a:latin typeface="ui-sans-serif"/>
              </a:rPr>
              <a:t>，我们认为度量 </a:t>
            </a:r>
            <a:r>
              <a:rPr lang="en-US" altLang="zh-CN" b="0" dirty="0" err="1">
                <a:solidFill>
                  <a:srgbClr val="000000"/>
                </a:solidFill>
                <a:effectLst/>
                <a:latin typeface="ui-sans-serif"/>
              </a:rPr>
              <a:t>i</a:t>
            </a:r>
            <a:r>
              <a:rPr lang="en-US" altLang="zh-CN" b="0" dirty="0">
                <a:solidFill>
                  <a:srgbClr val="000000"/>
                </a:solidFill>
                <a:effectLst/>
                <a:latin typeface="ui-sans-serif"/>
              </a:rPr>
              <a:t> </a:t>
            </a:r>
            <a:r>
              <a:rPr lang="zh-CN" altLang="en-US" b="0" dirty="0">
                <a:solidFill>
                  <a:srgbClr val="000000"/>
                </a:solidFill>
                <a:effectLst/>
                <a:latin typeface="ui-sans-serif"/>
              </a:rPr>
              <a:t>是原因指标，反之则是结果指标。</a:t>
            </a:r>
            <a:endParaRPr lang="en-US" altLang="zh-CN" b="0" dirty="0">
              <a:solidFill>
                <a:srgbClr val="000000"/>
              </a:solidFill>
              <a:effectLst/>
              <a:latin typeface="ui-sans-serif"/>
            </a:endParaRPr>
          </a:p>
          <a:p>
            <a:pPr algn="l"/>
            <a:r>
              <a:rPr lang="zh-CN" altLang="en-US" b="0" dirty="0">
                <a:solidFill>
                  <a:srgbClr val="000000"/>
                </a:solidFill>
                <a:effectLst/>
                <a:latin typeface="ui-sans-serif"/>
              </a:rPr>
              <a:t>除了影响力得分，本文还计算一个峰值传播时间</a:t>
            </a:r>
            <a:r>
              <a:rPr lang="en-US" altLang="zh-CN" b="0" dirty="0">
                <a:solidFill>
                  <a:srgbClr val="000000"/>
                </a:solidFill>
                <a:effectLst/>
                <a:latin typeface="ui-sans-serif"/>
              </a:rPr>
              <a:t>,</a:t>
            </a:r>
            <a:r>
              <a:rPr lang="zh-CN" altLang="en-US" b="0" dirty="0">
                <a:solidFill>
                  <a:srgbClr val="000000"/>
                </a:solidFill>
                <a:effectLst/>
                <a:latin typeface="ui-sans-serif"/>
              </a:rPr>
              <a:t>计算影响强度分布的均值，定位指标影响最强的时刻 </a:t>
            </a:r>
            <a:r>
              <a:rPr lang="en-US" altLang="zh-CN" b="0" dirty="0" err="1">
                <a:solidFill>
                  <a:srgbClr val="000000"/>
                </a:solidFill>
                <a:effectLst/>
                <a:latin typeface="ui-sans-serif"/>
              </a:rPr>
              <a:t>T_i</a:t>
            </a:r>
            <a:r>
              <a:rPr lang="zh-CN" altLang="en-US" b="0" dirty="0">
                <a:solidFill>
                  <a:srgbClr val="000000"/>
                </a:solidFill>
                <a:effectLst/>
                <a:latin typeface="ui-sans-serif"/>
              </a:rPr>
              <a:t>（图中黑色三角形）。计算公式如下。上面这个是减去 </a:t>
            </a:r>
            <a:r>
              <a:rPr lang="en-US" altLang="zh-CN" b="0" dirty="0">
                <a:solidFill>
                  <a:srgbClr val="000000"/>
                </a:solidFill>
                <a:effectLst/>
                <a:latin typeface="ui-sans-serif"/>
              </a:rPr>
              <a:t>Si,: </a:t>
            </a:r>
            <a:r>
              <a:rPr lang="zh-CN" altLang="en-US" b="0" dirty="0">
                <a:solidFill>
                  <a:srgbClr val="000000"/>
                </a:solidFill>
                <a:effectLst/>
                <a:latin typeface="ui-sans-serif"/>
              </a:rPr>
              <a:t>的 </a:t>
            </a:r>
            <a:r>
              <a:rPr lang="en-US" altLang="zh-CN" b="0" dirty="0">
                <a:solidFill>
                  <a:srgbClr val="000000"/>
                </a:solidFill>
                <a:effectLst/>
                <a:latin typeface="ui-sans-serif"/>
              </a:rPr>
              <a:t>q </a:t>
            </a:r>
            <a:r>
              <a:rPr lang="zh-CN" altLang="en-US" b="0" dirty="0">
                <a:solidFill>
                  <a:srgbClr val="000000"/>
                </a:solidFill>
                <a:effectLst/>
                <a:latin typeface="ui-sans-serif"/>
              </a:rPr>
              <a:t>百分位 </a:t>
            </a:r>
            <a:r>
              <a:rPr lang="en-US" altLang="zh-CN" b="0" dirty="0">
                <a:solidFill>
                  <a:srgbClr val="000000"/>
                </a:solidFill>
                <a:effectLst/>
                <a:latin typeface="ui-sans-serif"/>
              </a:rPr>
              <a:t>Q </a:t>
            </a:r>
            <a:r>
              <a:rPr lang="zh-CN" altLang="en-US" b="0" dirty="0">
                <a:solidFill>
                  <a:srgbClr val="000000"/>
                </a:solidFill>
                <a:effectLst/>
                <a:latin typeface="ui-sans-serif"/>
              </a:rPr>
              <a:t>，滤除非峰值。这个时间在框架第三部分会用到。</a:t>
            </a:r>
          </a:p>
        </p:txBody>
      </p:sp>
      <p:sp>
        <p:nvSpPr>
          <p:cNvPr id="4" name="灯片编号占位符 3"/>
          <p:cNvSpPr>
            <a:spLocks noGrp="1"/>
          </p:cNvSpPr>
          <p:nvPr>
            <p:ph type="sldNum" sz="quarter" idx="5"/>
          </p:nvPr>
        </p:nvSpPr>
        <p:spPr/>
        <p:txBody>
          <a:bodyPr/>
          <a:lstStyle/>
          <a:p>
            <a:fld id="{982BA46B-E1B2-4520-80B7-3F1B8A68F93F}" type="slidenum">
              <a:rPr lang="zh-CN" altLang="en-US" smtClean="0"/>
              <a:t>11</a:t>
            </a:fld>
            <a:endParaRPr lang="zh-CN" altLang="en-US"/>
          </a:p>
        </p:txBody>
      </p:sp>
    </p:spTree>
    <p:extLst>
      <p:ext uri="{BB962C8B-B14F-4D97-AF65-F5344CB8AC3E}">
        <p14:creationId xmlns:p14="http://schemas.microsoft.com/office/powerpoint/2010/main" val="249023418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dirty="0"/>
              <a:t>接下来是模型第三部分 故障动态解释</a:t>
            </a:r>
            <a:r>
              <a:rPr lang="zh-CN" altLang="en-US" b="0" dirty="0">
                <a:solidFill>
                  <a:srgbClr val="000000"/>
                </a:solidFill>
                <a:effectLst/>
                <a:latin typeface="ui-sans-serif"/>
              </a:rPr>
              <a:t>。</a:t>
            </a:r>
            <a:r>
              <a:rPr lang="en-US" altLang="zh-CN" b="0" dirty="0" err="1">
                <a:solidFill>
                  <a:srgbClr val="000000"/>
                </a:solidFill>
                <a:effectLst/>
                <a:latin typeface="ui-sans-serif"/>
              </a:rPr>
              <a:t>FaultInsight</a:t>
            </a:r>
            <a:r>
              <a:rPr lang="en-US" altLang="zh-CN" b="0" dirty="0">
                <a:solidFill>
                  <a:srgbClr val="000000"/>
                </a:solidFill>
                <a:effectLst/>
                <a:latin typeface="ui-sans-serif"/>
              </a:rPr>
              <a:t> </a:t>
            </a:r>
            <a:r>
              <a:rPr lang="zh-CN" altLang="en-US" b="0" dirty="0">
                <a:solidFill>
                  <a:srgbClr val="000000"/>
                </a:solidFill>
                <a:effectLst/>
                <a:latin typeface="ui-sans-serif"/>
              </a:rPr>
              <a:t>根据累积的外部影响分数对潜在的根本原因指标进行排名，从而实现根因定位。接下来是三个直观的解释性图，第一个指标级概览图，</a:t>
            </a:r>
            <a:r>
              <a:rPr lang="en-US" altLang="zh-CN" b="0" dirty="0" err="1">
                <a:solidFill>
                  <a:srgbClr val="000000"/>
                </a:solidFill>
                <a:effectLst/>
                <a:latin typeface="ui-sans-serif"/>
              </a:rPr>
              <a:t>FaultInsight</a:t>
            </a:r>
            <a:r>
              <a:rPr lang="zh-CN" altLang="en-US" b="0" dirty="0">
                <a:solidFill>
                  <a:srgbClr val="000000"/>
                </a:solidFill>
                <a:effectLst/>
                <a:latin typeface="ui-sans-serif"/>
              </a:rPr>
              <a:t>的指标级概览图从指标间影响方面概述了主机故障案例，并包含各种诊断结果</a:t>
            </a:r>
            <a:r>
              <a:rPr lang="en-US" altLang="zh-CN" b="0" dirty="0">
                <a:solidFill>
                  <a:srgbClr val="000000"/>
                </a:solidFill>
                <a:effectLst/>
                <a:latin typeface="ui-sans-serif"/>
              </a:rPr>
              <a:t>.</a:t>
            </a:r>
            <a:r>
              <a:rPr lang="zh-CN" altLang="en-US" b="0" dirty="0">
                <a:solidFill>
                  <a:srgbClr val="000000"/>
                </a:solidFill>
                <a:effectLst/>
                <a:latin typeface="ui-sans-serif"/>
              </a:rPr>
              <a:t>如右图所示，节点是指标，形状（圆 </a:t>
            </a:r>
            <a:r>
              <a:rPr lang="en-US" altLang="zh-CN" b="0" dirty="0">
                <a:solidFill>
                  <a:srgbClr val="000000"/>
                </a:solidFill>
                <a:effectLst/>
                <a:latin typeface="ui-sans-serif"/>
              </a:rPr>
              <a:t>= </a:t>
            </a:r>
            <a:r>
              <a:rPr lang="zh-CN" altLang="en-US" b="0" dirty="0">
                <a:solidFill>
                  <a:srgbClr val="000000"/>
                </a:solidFill>
                <a:effectLst/>
                <a:latin typeface="ui-sans-serif"/>
              </a:rPr>
              <a:t>原因，三角 </a:t>
            </a:r>
            <a:r>
              <a:rPr lang="en-US" altLang="zh-CN" b="0" dirty="0">
                <a:solidFill>
                  <a:srgbClr val="000000"/>
                </a:solidFill>
                <a:effectLst/>
                <a:latin typeface="ui-sans-serif"/>
              </a:rPr>
              <a:t>= </a:t>
            </a:r>
            <a:r>
              <a:rPr lang="zh-CN" altLang="en-US" b="0" dirty="0">
                <a:solidFill>
                  <a:srgbClr val="000000"/>
                </a:solidFill>
                <a:effectLst/>
                <a:latin typeface="ui-sans-serif"/>
              </a:rPr>
              <a:t>结果）；图形的大小表示影响强度。边：指标之间的因果关系；边颜色越深 </a:t>
            </a:r>
            <a:r>
              <a:rPr lang="en-US" altLang="zh-CN" b="0" dirty="0">
                <a:solidFill>
                  <a:srgbClr val="000000"/>
                </a:solidFill>
                <a:effectLst/>
                <a:latin typeface="ui-sans-serif"/>
              </a:rPr>
              <a:t>= </a:t>
            </a:r>
            <a:r>
              <a:rPr lang="zh-CN" altLang="en-US" b="0" dirty="0">
                <a:solidFill>
                  <a:srgbClr val="000000"/>
                </a:solidFill>
                <a:effectLst/>
                <a:latin typeface="ui-sans-serif"/>
              </a:rPr>
              <a:t>强度越高。布局：力导向布局，强关联节点聚集。</a:t>
            </a:r>
          </a:p>
        </p:txBody>
      </p:sp>
      <p:sp>
        <p:nvSpPr>
          <p:cNvPr id="4" name="灯片编号占位符 3"/>
          <p:cNvSpPr>
            <a:spLocks noGrp="1"/>
          </p:cNvSpPr>
          <p:nvPr>
            <p:ph type="sldNum" sz="quarter" idx="5"/>
          </p:nvPr>
        </p:nvSpPr>
        <p:spPr/>
        <p:txBody>
          <a:bodyPr/>
          <a:lstStyle/>
          <a:p>
            <a:fld id="{982BA46B-E1B2-4520-80B7-3F1B8A68F93F}" type="slidenum">
              <a:rPr lang="zh-CN" altLang="en-US" smtClean="0"/>
              <a:t>12</a:t>
            </a:fld>
            <a:endParaRPr lang="zh-CN" altLang="en-US"/>
          </a:p>
        </p:txBody>
      </p:sp>
    </p:spTree>
    <p:extLst>
      <p:ext uri="{BB962C8B-B14F-4D97-AF65-F5344CB8AC3E}">
        <p14:creationId xmlns:p14="http://schemas.microsoft.com/office/powerpoint/2010/main" val="50326648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en-US" altLang="zh-CN" dirty="0" err="1"/>
              <a:t>FaultInsight</a:t>
            </a:r>
            <a:r>
              <a:rPr lang="zh-CN" altLang="en-US" dirty="0"/>
              <a:t>还提供了以桑基图的形式表示的组件级流程图，以桑基图的形式说明更高层次结构中故障主机的系统组件之间的主要异常影响。左侧：</a:t>
            </a:r>
            <a:r>
              <a:rPr lang="en-US" altLang="zh-CN" dirty="0"/>
              <a:t>Top-N </a:t>
            </a:r>
            <a:r>
              <a:rPr lang="zh-CN" altLang="en-US" dirty="0"/>
              <a:t>原因指标 → 聚合到所属组件，右侧：</a:t>
            </a:r>
            <a:r>
              <a:rPr lang="en-US" altLang="zh-CN" dirty="0"/>
              <a:t>Top-N </a:t>
            </a:r>
            <a:r>
              <a:rPr lang="zh-CN" altLang="en-US" dirty="0"/>
              <a:t>结果指标 → 聚合到所属组件，中间：组件间主导影响流，</a:t>
            </a:r>
            <a:endParaRPr lang="zh-CN" altLang="en-US" b="0" dirty="0">
              <a:solidFill>
                <a:srgbClr val="000000"/>
              </a:solidFill>
              <a:effectLst/>
              <a:latin typeface="ui-sans-serif"/>
            </a:endParaRPr>
          </a:p>
        </p:txBody>
      </p:sp>
      <p:sp>
        <p:nvSpPr>
          <p:cNvPr id="4" name="灯片编号占位符 3"/>
          <p:cNvSpPr>
            <a:spLocks noGrp="1"/>
          </p:cNvSpPr>
          <p:nvPr>
            <p:ph type="sldNum" sz="quarter" idx="5"/>
          </p:nvPr>
        </p:nvSpPr>
        <p:spPr/>
        <p:txBody>
          <a:bodyPr/>
          <a:lstStyle/>
          <a:p>
            <a:fld id="{982BA46B-E1B2-4520-80B7-3F1B8A68F93F}" type="slidenum">
              <a:rPr lang="zh-CN" altLang="en-US" smtClean="0"/>
              <a:t>13</a:t>
            </a:fld>
            <a:endParaRPr lang="zh-CN" altLang="en-US"/>
          </a:p>
        </p:txBody>
      </p:sp>
    </p:spTree>
    <p:extLst>
      <p:ext uri="{BB962C8B-B14F-4D97-AF65-F5344CB8AC3E}">
        <p14:creationId xmlns:p14="http://schemas.microsoft.com/office/powerpoint/2010/main" val="339829736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dirty="0"/>
              <a:t>第三个是时序对齐传播网络</a:t>
            </a:r>
            <a:r>
              <a:rPr lang="en-US" altLang="zh-CN" dirty="0"/>
              <a:t>. </a:t>
            </a:r>
            <a:r>
              <a:rPr lang="zh-CN" altLang="en-US" dirty="0"/>
              <a:t>这个图 节点和边的定义和第一个图相同。添加一些约束：要符合时间先后、然后结果指标指向原因指标的边去掉。再对</a:t>
            </a:r>
            <a:r>
              <a:rPr lang="en-US" altLang="zh-CN" dirty="0"/>
              <a:t>top</a:t>
            </a:r>
            <a:r>
              <a:rPr lang="zh-CN" altLang="en-US" dirty="0"/>
              <a:t>原因指标 </a:t>
            </a:r>
            <a:r>
              <a:rPr lang="en-US" altLang="zh-CN" dirty="0" err="1"/>
              <a:t>nmetrics</a:t>
            </a:r>
            <a:r>
              <a:rPr lang="en-US" altLang="zh-CN" dirty="0"/>
              <a:t> </a:t>
            </a:r>
            <a:r>
              <a:rPr lang="zh-CN" altLang="en-US" dirty="0"/>
              <a:t>进行波束搜索以构建时间对齐的传播网络。</a:t>
            </a:r>
            <a:endParaRPr lang="zh-CN" altLang="en-US" b="0" dirty="0">
              <a:solidFill>
                <a:srgbClr val="000000"/>
              </a:solidFill>
              <a:effectLst/>
              <a:latin typeface="ui-sans-serif"/>
            </a:endParaRPr>
          </a:p>
        </p:txBody>
      </p:sp>
      <p:sp>
        <p:nvSpPr>
          <p:cNvPr id="4" name="灯片编号占位符 3"/>
          <p:cNvSpPr>
            <a:spLocks noGrp="1"/>
          </p:cNvSpPr>
          <p:nvPr>
            <p:ph type="sldNum" sz="quarter" idx="5"/>
          </p:nvPr>
        </p:nvSpPr>
        <p:spPr/>
        <p:txBody>
          <a:bodyPr/>
          <a:lstStyle/>
          <a:p>
            <a:fld id="{982BA46B-E1B2-4520-80B7-3F1B8A68F93F}" type="slidenum">
              <a:rPr lang="zh-CN" altLang="en-US" smtClean="0"/>
              <a:t>14</a:t>
            </a:fld>
            <a:endParaRPr lang="zh-CN" altLang="en-US"/>
          </a:p>
        </p:txBody>
      </p:sp>
    </p:spTree>
    <p:extLst>
      <p:ext uri="{BB962C8B-B14F-4D97-AF65-F5344CB8AC3E}">
        <p14:creationId xmlns:p14="http://schemas.microsoft.com/office/powerpoint/2010/main" val="106068902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buFont typeface="Arial" panose="020B0604020202020204" pitchFamily="34" charset="0"/>
              <a:buNone/>
            </a:pPr>
            <a:r>
              <a:rPr lang="zh-CN" altLang="en-US" dirty="0"/>
              <a:t>评估的数据集包含公司生产环境中发生的真实事件。</a:t>
            </a:r>
            <a:endParaRPr lang="en-US" altLang="zh-CN" dirty="0"/>
          </a:p>
          <a:p>
            <a:pPr algn="l">
              <a:buFont typeface="Arial" panose="020B0604020202020204" pitchFamily="34" charset="0"/>
              <a:buNone/>
            </a:pPr>
            <a:r>
              <a:rPr lang="zh-CN" altLang="en-US" dirty="0"/>
              <a:t>基线。我们将</a:t>
            </a:r>
            <a:r>
              <a:rPr lang="en-US" altLang="zh-CN" dirty="0" err="1"/>
              <a:t>FaultInsight</a:t>
            </a:r>
            <a:r>
              <a:rPr lang="en-US" altLang="zh-CN" dirty="0"/>
              <a:t> </a:t>
            </a:r>
            <a:r>
              <a:rPr lang="zh-CN" altLang="en-US" dirty="0"/>
              <a:t>与两类方法进行比较。 </a:t>
            </a:r>
            <a:r>
              <a:rPr lang="en-US" altLang="zh-CN" dirty="0"/>
              <a:t>1</a:t>
            </a:r>
            <a:r>
              <a:rPr lang="zh-CN" altLang="en-US" dirty="0"/>
              <a:t>）服务级故障诊断：</a:t>
            </a:r>
            <a:r>
              <a:rPr lang="en-US" altLang="zh-CN" dirty="0"/>
              <a:t>ε-</a:t>
            </a:r>
            <a:r>
              <a:rPr lang="zh-CN" altLang="en-US" dirty="0"/>
              <a:t>诊断。 </a:t>
            </a:r>
            <a:r>
              <a:rPr lang="en-US" altLang="zh-CN" dirty="0" err="1"/>
              <a:t>DyCause</a:t>
            </a:r>
            <a:r>
              <a:rPr lang="en-US" altLang="zh-CN" dirty="0"/>
              <a:t> [31] </a:t>
            </a:r>
            <a:r>
              <a:rPr lang="zh-CN" altLang="en-US" dirty="0"/>
              <a:t>和 </a:t>
            </a:r>
            <a:r>
              <a:rPr lang="en-US" altLang="zh-CN" dirty="0" err="1"/>
              <a:t>CloudRanger</a:t>
            </a:r>
            <a:r>
              <a:rPr lang="en-US" altLang="zh-CN" dirty="0"/>
              <a:t> [45] </a:t>
            </a:r>
            <a:r>
              <a:rPr lang="zh-CN" altLang="en-US" dirty="0"/>
              <a:t>是统计方法。 </a:t>
            </a:r>
            <a:r>
              <a:rPr lang="en-US" altLang="zh-CN" dirty="0"/>
              <a:t>RCD [13] </a:t>
            </a:r>
            <a:r>
              <a:rPr lang="zh-CN" altLang="en-US" dirty="0"/>
              <a:t>和 </a:t>
            </a:r>
            <a:r>
              <a:rPr lang="en-US" altLang="zh-CN" dirty="0"/>
              <a:t>CIRCA [18] </a:t>
            </a:r>
            <a:r>
              <a:rPr lang="zh-CN" altLang="en-US" dirty="0"/>
              <a:t>使用因果干预。</a:t>
            </a:r>
            <a:endParaRPr lang="en-US" altLang="zh-CN" dirty="0"/>
          </a:p>
          <a:p>
            <a:pPr algn="l">
              <a:buFont typeface="Arial" panose="020B0604020202020204" pitchFamily="34" charset="0"/>
              <a:buNone/>
            </a:pPr>
            <a:r>
              <a:rPr lang="zh-CN" altLang="en-US" dirty="0"/>
              <a:t> </a:t>
            </a:r>
            <a:r>
              <a:rPr lang="en-US" altLang="zh-CN" dirty="0"/>
              <a:t>2</a:t>
            </a:r>
            <a:r>
              <a:rPr lang="zh-CN" altLang="en-US" dirty="0"/>
              <a:t>）时间序列因果发现：我们评估了两种统计方法，格兰杰因果检验</a:t>
            </a:r>
            <a:r>
              <a:rPr lang="en-US" altLang="zh-CN" dirty="0"/>
              <a:t>[11]</a:t>
            </a:r>
            <a:r>
              <a:rPr lang="zh-CN" altLang="en-US" dirty="0"/>
              <a:t>和</a:t>
            </a:r>
            <a:r>
              <a:rPr lang="en-US" altLang="zh-CN" dirty="0"/>
              <a:t>PCMCI [34]</a:t>
            </a:r>
            <a:r>
              <a:rPr lang="zh-CN" altLang="en-US" dirty="0"/>
              <a:t>，以及两种神经网络方法，</a:t>
            </a:r>
            <a:r>
              <a:rPr lang="en-US" altLang="zh-CN" dirty="0" err="1"/>
              <a:t>cMLP</a:t>
            </a:r>
            <a:r>
              <a:rPr lang="en-US" altLang="zh-CN" dirty="0"/>
              <a:t> [41]</a:t>
            </a:r>
            <a:r>
              <a:rPr lang="zh-CN" altLang="en-US" dirty="0"/>
              <a:t>和</a:t>
            </a:r>
            <a:r>
              <a:rPr lang="en-US" altLang="zh-CN" dirty="0"/>
              <a:t>TCDF [29]</a:t>
            </a:r>
            <a:r>
              <a:rPr lang="zh-CN" altLang="en-US" dirty="0"/>
              <a:t>。</a:t>
            </a:r>
            <a:endParaRPr lang="en-US" altLang="zh-CN" dirty="0"/>
          </a:p>
          <a:p>
            <a:pPr algn="l">
              <a:buFont typeface="Arial" panose="020B0604020202020204" pitchFamily="34" charset="0"/>
              <a:buNone/>
            </a:pPr>
            <a:r>
              <a:rPr lang="zh-CN" altLang="en-US" b="0" i="0" dirty="0">
                <a:solidFill>
                  <a:srgbClr val="000000"/>
                </a:solidFill>
                <a:effectLst/>
                <a:latin typeface="Inter"/>
              </a:rPr>
              <a:t>评估指标作者使用：</a:t>
            </a:r>
            <a:r>
              <a:rPr lang="en-US" altLang="zh-CN" b="0" i="0" dirty="0" err="1">
                <a:solidFill>
                  <a:srgbClr val="000000"/>
                </a:solidFill>
                <a:effectLst/>
                <a:latin typeface="Inter"/>
              </a:rPr>
              <a:t>PR@k</a:t>
            </a:r>
            <a:r>
              <a:rPr lang="en-US" altLang="zh-CN" b="0" i="0" dirty="0">
                <a:solidFill>
                  <a:srgbClr val="000000"/>
                </a:solidFill>
                <a:effectLst/>
                <a:latin typeface="Inter"/>
              </a:rPr>
              <a:t>%</a:t>
            </a:r>
            <a:r>
              <a:rPr lang="zh-CN" altLang="en-US" b="0" i="0" dirty="0">
                <a:solidFill>
                  <a:srgbClr val="000000"/>
                </a:solidFill>
                <a:effectLst/>
                <a:latin typeface="Inter"/>
              </a:rPr>
              <a:t>表示：</a:t>
            </a:r>
            <a:r>
              <a:rPr lang="en-US" altLang="zh-CN" b="0" i="0" dirty="0">
                <a:solidFill>
                  <a:srgbClr val="000000"/>
                </a:solidFill>
                <a:effectLst/>
                <a:latin typeface="Inter"/>
              </a:rPr>
              <a:t>Top-k </a:t>
            </a:r>
            <a:r>
              <a:rPr lang="zh-CN" altLang="en-US" b="0" i="0" dirty="0">
                <a:solidFill>
                  <a:srgbClr val="000000"/>
                </a:solidFill>
                <a:effectLst/>
                <a:latin typeface="Inter"/>
              </a:rPr>
              <a:t>中命中根因的比例。</a:t>
            </a:r>
            <a:r>
              <a:rPr lang="en-US" altLang="zh-CN" b="0" i="0" dirty="0" err="1">
                <a:solidFill>
                  <a:srgbClr val="000000"/>
                </a:solidFill>
                <a:effectLst/>
                <a:latin typeface="Inter"/>
              </a:rPr>
              <a:t>RankScore</a:t>
            </a:r>
            <a:r>
              <a:rPr lang="zh-CN" altLang="en-US" b="0" i="0" dirty="0">
                <a:solidFill>
                  <a:srgbClr val="000000"/>
                </a:solidFill>
                <a:effectLst/>
                <a:latin typeface="Inter"/>
              </a:rPr>
              <a:t>用于衡量：根因在排序中的位置。排名越靠前：分数越高。</a:t>
            </a:r>
          </a:p>
        </p:txBody>
      </p:sp>
      <p:sp>
        <p:nvSpPr>
          <p:cNvPr id="4" name="灯片编号占位符 3"/>
          <p:cNvSpPr>
            <a:spLocks noGrp="1"/>
          </p:cNvSpPr>
          <p:nvPr>
            <p:ph type="sldNum" sz="quarter" idx="5"/>
          </p:nvPr>
        </p:nvSpPr>
        <p:spPr/>
        <p:txBody>
          <a:bodyPr/>
          <a:lstStyle/>
          <a:p>
            <a:fld id="{982BA46B-E1B2-4520-80B7-3F1B8A68F93F}" type="slidenum">
              <a:rPr lang="zh-CN" altLang="en-US" smtClean="0"/>
              <a:t>15</a:t>
            </a:fld>
            <a:endParaRPr lang="zh-CN" altLang="en-US"/>
          </a:p>
        </p:txBody>
      </p:sp>
    </p:spTree>
    <p:extLst>
      <p:ext uri="{BB962C8B-B14F-4D97-AF65-F5344CB8AC3E}">
        <p14:creationId xmlns:p14="http://schemas.microsoft.com/office/powerpoint/2010/main" val="37194131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dirty="0"/>
              <a:t>我们使用</a:t>
            </a:r>
            <a:r>
              <a:rPr lang="en-US" altLang="zh-CN" dirty="0" err="1"/>
              <a:t>FaultInsight</a:t>
            </a:r>
            <a:r>
              <a:rPr lang="en-US" altLang="zh-CN" dirty="0"/>
              <a:t> </a:t>
            </a:r>
            <a:r>
              <a:rPr lang="zh-CN" altLang="en-US" dirty="0"/>
              <a:t>和基线对数据集的每个案例进行根本原因识别。 下表展示了结果，我们看到服务级故障诊断方法未能有效地识别主机故障案例中的根本原因。时间序列因果发现方法在 </a:t>
            </a:r>
            <a:r>
              <a:rPr lang="en-US" altLang="zh-CN" dirty="0" err="1"/>
              <a:t>RankScore</a:t>
            </a:r>
            <a:r>
              <a:rPr lang="en-US" altLang="zh-CN" dirty="0"/>
              <a:t> </a:t>
            </a:r>
            <a:r>
              <a:rPr lang="zh-CN" altLang="en-US" dirty="0"/>
              <a:t>中得分较高。与所有基线相比，</a:t>
            </a:r>
            <a:r>
              <a:rPr lang="en-US" altLang="zh-CN" dirty="0" err="1"/>
              <a:t>FaultInsight</a:t>
            </a:r>
            <a:r>
              <a:rPr lang="en-US" altLang="zh-CN" dirty="0"/>
              <a:t> </a:t>
            </a:r>
            <a:r>
              <a:rPr lang="zh-CN" altLang="en-US" dirty="0"/>
              <a:t>提供的 </a:t>
            </a:r>
            <a:r>
              <a:rPr lang="en-US" altLang="zh-CN" dirty="0" err="1"/>
              <a:t>PR@k</a:t>
            </a:r>
            <a:r>
              <a:rPr lang="en-US" altLang="zh-CN" dirty="0"/>
              <a:t>% </a:t>
            </a:r>
            <a:r>
              <a:rPr lang="zh-CN" altLang="en-US" dirty="0"/>
              <a:t>和 </a:t>
            </a:r>
            <a:r>
              <a:rPr lang="en-US" altLang="zh-CN" dirty="0" err="1"/>
              <a:t>RankScore</a:t>
            </a:r>
            <a:r>
              <a:rPr lang="en-US" altLang="zh-CN" dirty="0"/>
              <a:t> </a:t>
            </a:r>
            <a:r>
              <a:rPr lang="zh-CN" altLang="en-US" dirty="0"/>
              <a:t>显着更高。</a:t>
            </a:r>
            <a:endParaRPr lang="zh-CN" altLang="en-US" b="0" i="0" dirty="0">
              <a:solidFill>
                <a:srgbClr val="000000"/>
              </a:solidFill>
              <a:effectLst/>
              <a:latin typeface="Inter"/>
            </a:endParaRPr>
          </a:p>
        </p:txBody>
      </p:sp>
      <p:sp>
        <p:nvSpPr>
          <p:cNvPr id="4" name="灯片编号占位符 3"/>
          <p:cNvSpPr>
            <a:spLocks noGrp="1"/>
          </p:cNvSpPr>
          <p:nvPr>
            <p:ph type="sldNum" sz="quarter" idx="5"/>
          </p:nvPr>
        </p:nvSpPr>
        <p:spPr/>
        <p:txBody>
          <a:bodyPr/>
          <a:lstStyle/>
          <a:p>
            <a:fld id="{982BA46B-E1B2-4520-80B7-3F1B8A68F93F}" type="slidenum">
              <a:rPr lang="zh-CN" altLang="en-US" smtClean="0"/>
              <a:t>16</a:t>
            </a:fld>
            <a:endParaRPr lang="zh-CN" altLang="en-US"/>
          </a:p>
        </p:txBody>
      </p:sp>
    </p:spTree>
    <p:extLst>
      <p:ext uri="{BB962C8B-B14F-4D97-AF65-F5344CB8AC3E}">
        <p14:creationId xmlns:p14="http://schemas.microsoft.com/office/powerpoint/2010/main" val="154971200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B75D03-1E8E-65CF-9933-68B6990E786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B0704DF-5FE0-34C4-27F3-69505026FB5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EF086BB-4570-BAA3-784A-1917F1F8CD9F}"/>
              </a:ext>
            </a:extLst>
          </p:cNvPr>
          <p:cNvSpPr>
            <a:spLocks noGrp="1"/>
          </p:cNvSpPr>
          <p:nvPr>
            <p:ph type="body" idx="1"/>
          </p:nvPr>
        </p:nvSpPr>
        <p:spPr/>
        <p:txBody>
          <a:bodyPr/>
          <a:lstStyle/>
          <a:p>
            <a:r>
              <a:rPr lang="en-US" altLang="zh-CN" dirty="0"/>
              <a:t>4.3</a:t>
            </a:r>
            <a:r>
              <a:rPr lang="zh-CN" altLang="en-US" dirty="0"/>
              <a:t>效率分析。</a:t>
            </a:r>
            <a:r>
              <a:rPr lang="en-US" altLang="zh-CN" dirty="0"/>
              <a:t>1</a:t>
            </a:r>
            <a:r>
              <a:rPr lang="zh-CN" altLang="en-US" dirty="0"/>
              <a:t>、时间成本分布的比较。在小提琴图中显示了所有方法的时间成本分布，其中每条曲线的宽度对应于每个区域中时间成本的近似频率。此外，在小提琴内部绘制了箱须图，白色水平条显示时间成本的中位数，深灰色框的顶部和底部显示上分位数和下分位数。如图所示，</a:t>
            </a:r>
            <a:r>
              <a:rPr lang="en-US" altLang="zh-CN" dirty="0" err="1"/>
              <a:t>FaultInsight</a:t>
            </a:r>
            <a:r>
              <a:rPr lang="en-US" altLang="zh-CN" dirty="0"/>
              <a:t> </a:t>
            </a:r>
            <a:r>
              <a:rPr lang="zh-CN" altLang="en-US" dirty="0"/>
              <a:t>在不同数据规模的所有情况下都是最稳定的方法。</a:t>
            </a:r>
            <a:endParaRPr lang="en-US" altLang="zh-CN" dirty="0"/>
          </a:p>
          <a:p>
            <a:r>
              <a:rPr lang="en-US" altLang="zh-CN" sz="1200" b="0" kern="1200" dirty="0">
                <a:solidFill>
                  <a:schemeClr val="tx1"/>
                </a:solidFill>
                <a:effectLst/>
                <a:latin typeface="+mn-lt"/>
                <a:ea typeface="+mn-ea"/>
                <a:cs typeface="+mn-cs"/>
              </a:rPr>
              <a:t>2</a:t>
            </a:r>
            <a:r>
              <a:rPr lang="zh-CN" altLang="en-US" sz="1200" b="0" kern="1200" dirty="0">
                <a:solidFill>
                  <a:schemeClr val="tx1"/>
                </a:solidFill>
                <a:effectLst/>
                <a:latin typeface="+mn-lt"/>
                <a:ea typeface="+mn-ea"/>
                <a:cs typeface="+mn-cs"/>
              </a:rPr>
              <a:t>、大规模数据集的可扩展性。为了测试方法的可扩展性，我们构建了一个标准正态分布填充的合成数据集。图 </a:t>
            </a:r>
            <a:r>
              <a:rPr lang="en-US" altLang="zh-CN" sz="1200" b="0" kern="1200" dirty="0">
                <a:solidFill>
                  <a:schemeClr val="tx1"/>
                </a:solidFill>
                <a:effectLst/>
                <a:latin typeface="+mn-lt"/>
                <a:ea typeface="+mn-ea"/>
                <a:cs typeface="+mn-cs"/>
              </a:rPr>
              <a:t>11 </a:t>
            </a:r>
            <a:r>
              <a:rPr lang="zh-CN" altLang="en-US" sz="1200" b="0" kern="1200" dirty="0">
                <a:solidFill>
                  <a:schemeClr val="tx1"/>
                </a:solidFill>
                <a:effectLst/>
                <a:latin typeface="+mn-lt"/>
                <a:ea typeface="+mn-ea"/>
                <a:cs typeface="+mn-cs"/>
              </a:rPr>
              <a:t>左侧显示了合成数据集上所有方法的时间成本。如图所示，</a:t>
            </a:r>
            <a:r>
              <a:rPr lang="en-US" altLang="zh-CN" sz="1200" b="0" kern="1200" dirty="0" err="1">
                <a:solidFill>
                  <a:schemeClr val="tx1"/>
                </a:solidFill>
                <a:effectLst/>
                <a:latin typeface="+mn-lt"/>
                <a:ea typeface="+mn-ea"/>
                <a:cs typeface="+mn-cs"/>
              </a:rPr>
              <a:t>FaultInsight</a:t>
            </a:r>
            <a:r>
              <a:rPr lang="en-US" altLang="zh-CN" sz="1200" b="0" kern="1200" dirty="0">
                <a:solidFill>
                  <a:schemeClr val="tx1"/>
                </a:solidFill>
                <a:effectLst/>
                <a:latin typeface="+mn-lt"/>
                <a:ea typeface="+mn-ea"/>
                <a:cs typeface="+mn-cs"/>
              </a:rPr>
              <a:t> </a:t>
            </a:r>
            <a:r>
              <a:rPr lang="zh-CN" altLang="en-US" sz="1200" b="0" kern="1200" dirty="0">
                <a:solidFill>
                  <a:schemeClr val="tx1"/>
                </a:solidFill>
                <a:effectLst/>
                <a:latin typeface="+mn-lt"/>
                <a:ea typeface="+mn-ea"/>
                <a:cs typeface="+mn-cs"/>
              </a:rPr>
              <a:t>的效率优势在具有大规模指标的情况下变得更加突出</a:t>
            </a:r>
            <a:r>
              <a:rPr lang="en-US" altLang="zh-CN" sz="1200" b="0"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指标数为</a:t>
            </a:r>
            <a:r>
              <a:rPr lang="en-US" altLang="zh-CN" sz="1200" b="0" kern="1200" dirty="0">
                <a:solidFill>
                  <a:schemeClr val="tx1"/>
                </a:solidFill>
                <a:effectLst/>
                <a:latin typeface="+mn-lt"/>
                <a:ea typeface="+mn-ea"/>
                <a:cs typeface="+mn-cs"/>
              </a:rPr>
              <a:t>50</a:t>
            </a:r>
            <a:r>
              <a:rPr lang="zh-CN" altLang="en-US" sz="1200" b="0" kern="1200" dirty="0">
                <a:solidFill>
                  <a:schemeClr val="tx1"/>
                </a:solidFill>
                <a:effectLst/>
                <a:latin typeface="+mn-lt"/>
                <a:ea typeface="+mn-ea"/>
                <a:cs typeface="+mn-cs"/>
              </a:rPr>
              <a:t>时好几种方法时间成本要少于本文方法，但是指标数上升</a:t>
            </a:r>
            <a:r>
              <a:rPr lang="en-US" altLang="zh-CN" sz="1200" b="0"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 。图</a:t>
            </a:r>
            <a:r>
              <a:rPr lang="en-US" altLang="zh-CN" sz="1200" b="0" kern="1200" dirty="0">
                <a:solidFill>
                  <a:schemeClr val="tx1"/>
                </a:solidFill>
                <a:effectLst/>
                <a:latin typeface="+mn-lt"/>
                <a:ea typeface="+mn-ea"/>
                <a:cs typeface="+mn-cs"/>
              </a:rPr>
              <a:t>11</a:t>
            </a:r>
            <a:r>
              <a:rPr lang="zh-CN" altLang="en-US" sz="1200" b="0" kern="1200" dirty="0">
                <a:solidFill>
                  <a:schemeClr val="tx1"/>
                </a:solidFill>
                <a:effectLst/>
                <a:latin typeface="+mn-lt"/>
                <a:ea typeface="+mn-ea"/>
                <a:cs typeface="+mn-cs"/>
              </a:rPr>
              <a:t>右图为</a:t>
            </a:r>
            <a:r>
              <a:rPr lang="en-US" altLang="zh-CN" sz="1200" b="0" kern="1200" dirty="0" err="1">
                <a:solidFill>
                  <a:schemeClr val="tx1"/>
                </a:solidFill>
                <a:effectLst/>
                <a:latin typeface="+mn-lt"/>
                <a:ea typeface="+mn-ea"/>
                <a:cs typeface="+mn-cs"/>
              </a:rPr>
              <a:t>FaultInsight</a:t>
            </a:r>
            <a:r>
              <a:rPr lang="zh-CN" altLang="en-US" sz="1200" b="0" kern="1200" dirty="0">
                <a:solidFill>
                  <a:schemeClr val="tx1"/>
                </a:solidFill>
                <a:effectLst/>
                <a:latin typeface="+mn-lt"/>
                <a:ea typeface="+mn-ea"/>
                <a:cs typeface="+mn-cs"/>
              </a:rPr>
              <a:t>的时间成本分解分析，其中</a:t>
            </a:r>
            <a:r>
              <a:rPr lang="en-US" altLang="zh-CN" sz="1200" b="0" kern="1200" dirty="0" err="1">
                <a:solidFill>
                  <a:schemeClr val="tx1"/>
                </a:solidFill>
                <a:effectLst/>
                <a:latin typeface="+mn-lt"/>
                <a:ea typeface="+mn-ea"/>
                <a:cs typeface="+mn-cs"/>
              </a:rPr>
              <a:t>FaultInsight</a:t>
            </a:r>
            <a:r>
              <a:rPr lang="zh-CN" altLang="en-US" sz="1200" b="0" kern="1200" dirty="0">
                <a:solidFill>
                  <a:schemeClr val="tx1"/>
                </a:solidFill>
                <a:effectLst/>
                <a:latin typeface="+mn-lt"/>
                <a:ea typeface="+mn-ea"/>
                <a:cs typeface="+mn-cs"/>
              </a:rPr>
              <a:t>的时间成本被分解为三部分。如图所示，随着 </a:t>
            </a:r>
            <a:r>
              <a:rPr lang="en-US" altLang="zh-CN" sz="1200" b="0" kern="1200" dirty="0">
                <a:solidFill>
                  <a:schemeClr val="tx1"/>
                </a:solidFill>
                <a:effectLst/>
                <a:latin typeface="+mn-lt"/>
                <a:ea typeface="+mn-ea"/>
                <a:cs typeface="+mn-cs"/>
              </a:rPr>
              <a:t>N </a:t>
            </a:r>
            <a:r>
              <a:rPr lang="zh-CN" altLang="en-US" sz="1200" b="0" kern="1200" dirty="0">
                <a:solidFill>
                  <a:schemeClr val="tx1"/>
                </a:solidFill>
                <a:effectLst/>
                <a:latin typeface="+mn-lt"/>
                <a:ea typeface="+mn-ea"/>
                <a:cs typeface="+mn-cs"/>
              </a:rPr>
              <a:t>越来越大，因果图提取的时间成本上升比其他两个部分（即模型训练和动态度量影响评分）更显着，因为其时间复杂度为 </a:t>
            </a:r>
            <a:r>
              <a:rPr lang="en-US" altLang="zh-CN" sz="1200" b="0" kern="1200" dirty="0">
                <a:solidFill>
                  <a:schemeClr val="tx1"/>
                </a:solidFill>
                <a:effectLst/>
                <a:latin typeface="+mn-lt"/>
                <a:ea typeface="+mn-ea"/>
                <a:cs typeface="+mn-cs"/>
              </a:rPr>
              <a:t>O (N 2)</a:t>
            </a:r>
            <a:r>
              <a:rPr lang="zh-CN" altLang="en-US" sz="1200" b="0" kern="1200" dirty="0">
                <a:solidFill>
                  <a:schemeClr val="tx1"/>
                </a:solidFill>
                <a:effectLst/>
                <a:latin typeface="+mn-lt"/>
                <a:ea typeface="+mn-ea"/>
                <a:cs typeface="+mn-cs"/>
              </a:rPr>
              <a:t>。</a:t>
            </a:r>
          </a:p>
        </p:txBody>
      </p:sp>
      <p:sp>
        <p:nvSpPr>
          <p:cNvPr id="4" name="灯片编号占位符 3">
            <a:extLst>
              <a:ext uri="{FF2B5EF4-FFF2-40B4-BE49-F238E27FC236}">
                <a16:creationId xmlns:a16="http://schemas.microsoft.com/office/drawing/2014/main" id="{D84020E2-DFC3-E4B8-D1DF-60D22E6C1E8C}"/>
              </a:ext>
            </a:extLst>
          </p:cNvPr>
          <p:cNvSpPr>
            <a:spLocks noGrp="1"/>
          </p:cNvSpPr>
          <p:nvPr>
            <p:ph type="sldNum" sz="quarter" idx="5"/>
          </p:nvPr>
        </p:nvSpPr>
        <p:spPr/>
        <p:txBody>
          <a:bodyPr/>
          <a:lstStyle/>
          <a:p>
            <a:fld id="{982BA46B-E1B2-4520-80B7-3F1B8A68F93F}" type="slidenum">
              <a:rPr lang="zh-CN" altLang="en-US" smtClean="0"/>
              <a:t>17</a:t>
            </a:fld>
            <a:endParaRPr lang="zh-CN" altLang="en-US"/>
          </a:p>
        </p:txBody>
      </p:sp>
    </p:spTree>
    <p:extLst>
      <p:ext uri="{BB962C8B-B14F-4D97-AF65-F5344CB8AC3E}">
        <p14:creationId xmlns:p14="http://schemas.microsoft.com/office/powerpoint/2010/main" val="183152862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buFont typeface="Arial" panose="020B0604020202020204" pitchFamily="34" charset="0"/>
              <a:buNone/>
            </a:pPr>
            <a:r>
              <a:rPr lang="en-US" altLang="zh-CN" b="0" i="0" dirty="0">
                <a:solidFill>
                  <a:srgbClr val="000000"/>
                </a:solidFill>
                <a:effectLst/>
                <a:latin typeface="Inter"/>
              </a:rPr>
              <a:t>4.4</a:t>
            </a:r>
            <a:r>
              <a:rPr lang="zh-CN" altLang="en-US" b="0" i="0" dirty="0">
                <a:solidFill>
                  <a:srgbClr val="000000"/>
                </a:solidFill>
                <a:effectLst/>
                <a:latin typeface="Inter"/>
              </a:rPr>
              <a:t>参数敏感性。</a:t>
            </a:r>
            <a:r>
              <a:rPr lang="en-US" altLang="zh-CN" b="0" i="0" dirty="0">
                <a:solidFill>
                  <a:srgbClr val="000000"/>
                </a:solidFill>
                <a:effectLst/>
                <a:latin typeface="Inter"/>
              </a:rPr>
              <a:t>α</a:t>
            </a:r>
            <a:r>
              <a:rPr lang="zh-CN" altLang="en-US" b="0" i="0" dirty="0">
                <a:solidFill>
                  <a:srgbClr val="000000"/>
                </a:solidFill>
                <a:effectLst/>
                <a:latin typeface="Inter"/>
              </a:rPr>
              <a:t>（随机游走参数）</a:t>
            </a:r>
            <a:r>
              <a:rPr lang="en-US" altLang="zh-CN" b="0" i="0" dirty="0">
                <a:solidFill>
                  <a:srgbClr val="000000"/>
                </a:solidFill>
                <a:effectLst/>
                <a:latin typeface="Inter"/>
              </a:rPr>
              <a:t>β</a:t>
            </a:r>
            <a:r>
              <a:rPr lang="zh-CN" altLang="en-US" b="0" i="0" dirty="0">
                <a:solidFill>
                  <a:srgbClr val="000000"/>
                </a:solidFill>
                <a:effectLst/>
                <a:latin typeface="Inter"/>
              </a:rPr>
              <a:t>（时间衰减参数），</a:t>
            </a:r>
            <a:r>
              <a:rPr lang="en-US" altLang="zh-CN" b="0" i="0" dirty="0">
                <a:solidFill>
                  <a:srgbClr val="000000"/>
                </a:solidFill>
                <a:effectLst/>
                <a:latin typeface="Inter"/>
              </a:rPr>
              <a:t>α </a:t>
            </a:r>
            <a:r>
              <a:rPr lang="zh-CN" altLang="en-US" b="0" i="0" dirty="0">
                <a:solidFill>
                  <a:srgbClr val="000000"/>
                </a:solidFill>
                <a:effectLst/>
                <a:latin typeface="Inter"/>
              </a:rPr>
              <a:t>和 </a:t>
            </a:r>
            <a:r>
              <a:rPr lang="en-US" altLang="zh-CN" b="0" i="0" dirty="0">
                <a:solidFill>
                  <a:srgbClr val="000000"/>
                </a:solidFill>
                <a:effectLst/>
                <a:latin typeface="Inter"/>
              </a:rPr>
              <a:t>β </a:t>
            </a:r>
            <a:r>
              <a:rPr lang="zh-CN" altLang="en-US" b="0" i="0" dirty="0">
                <a:solidFill>
                  <a:srgbClr val="000000"/>
                </a:solidFill>
                <a:effectLst/>
                <a:latin typeface="Inter"/>
              </a:rPr>
              <a:t>分别在 </a:t>
            </a:r>
            <a:r>
              <a:rPr lang="en-US" altLang="zh-CN" b="0" i="0" dirty="0">
                <a:solidFill>
                  <a:srgbClr val="000000"/>
                </a:solidFill>
                <a:effectLst/>
                <a:latin typeface="Inter"/>
              </a:rPr>
              <a:t>0.85 </a:t>
            </a:r>
            <a:r>
              <a:rPr lang="zh-CN" altLang="en-US" b="0" i="0" dirty="0">
                <a:solidFill>
                  <a:srgbClr val="000000"/>
                </a:solidFill>
                <a:effectLst/>
                <a:latin typeface="Inter"/>
              </a:rPr>
              <a:t>和 </a:t>
            </a:r>
            <a:r>
              <a:rPr lang="en-US" altLang="zh-CN" b="0" i="0" dirty="0">
                <a:solidFill>
                  <a:srgbClr val="000000"/>
                </a:solidFill>
                <a:effectLst/>
                <a:latin typeface="Inter"/>
              </a:rPr>
              <a:t>0.95 </a:t>
            </a:r>
            <a:r>
              <a:rPr lang="zh-CN" altLang="en-US" b="0" i="0" dirty="0">
                <a:solidFill>
                  <a:srgbClr val="000000"/>
                </a:solidFill>
                <a:effectLst/>
                <a:latin typeface="Inter"/>
              </a:rPr>
              <a:t>左右会产生最佳结果，这迫使</a:t>
            </a:r>
            <a:r>
              <a:rPr lang="en-US" altLang="zh-CN" b="0" i="0" dirty="0" err="1">
                <a:solidFill>
                  <a:srgbClr val="000000"/>
                </a:solidFill>
                <a:effectLst/>
                <a:latin typeface="Inter"/>
              </a:rPr>
              <a:t>FaultInsight</a:t>
            </a:r>
            <a:r>
              <a:rPr lang="zh-CN" altLang="en-US" dirty="0"/>
              <a:t>模型聚焦故障发生后短时段内的直接传播链路，忽略长时段的远距离滞后影响。</a:t>
            </a:r>
            <a:endParaRPr lang="zh-CN" altLang="en-US" b="0" i="0" dirty="0">
              <a:solidFill>
                <a:srgbClr val="000000"/>
              </a:solidFill>
              <a:effectLst/>
              <a:latin typeface="Inter"/>
            </a:endParaRPr>
          </a:p>
        </p:txBody>
      </p:sp>
      <p:sp>
        <p:nvSpPr>
          <p:cNvPr id="4" name="灯片编号占位符 3"/>
          <p:cNvSpPr>
            <a:spLocks noGrp="1"/>
          </p:cNvSpPr>
          <p:nvPr>
            <p:ph type="sldNum" sz="quarter" idx="5"/>
          </p:nvPr>
        </p:nvSpPr>
        <p:spPr/>
        <p:txBody>
          <a:bodyPr/>
          <a:lstStyle/>
          <a:p>
            <a:fld id="{982BA46B-E1B2-4520-80B7-3F1B8A68F93F}" type="slidenum">
              <a:rPr lang="zh-CN" altLang="en-US" smtClean="0"/>
              <a:t>18</a:t>
            </a:fld>
            <a:endParaRPr lang="zh-CN" altLang="en-US"/>
          </a:p>
        </p:txBody>
      </p:sp>
    </p:spTree>
    <p:extLst>
      <p:ext uri="{BB962C8B-B14F-4D97-AF65-F5344CB8AC3E}">
        <p14:creationId xmlns:p14="http://schemas.microsoft.com/office/powerpoint/2010/main" val="407670457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buFont typeface="Arial" panose="020B0604020202020204" pitchFamily="34" charset="0"/>
              <a:buNone/>
            </a:pPr>
            <a:r>
              <a:rPr lang="en-US" altLang="zh-CN" b="0" i="0" dirty="0">
                <a:solidFill>
                  <a:srgbClr val="000000"/>
                </a:solidFill>
                <a:effectLst/>
                <a:latin typeface="Inter"/>
              </a:rPr>
              <a:t>4.5</a:t>
            </a:r>
            <a:r>
              <a:rPr lang="zh-CN" altLang="en-US" b="0" i="0" dirty="0">
                <a:solidFill>
                  <a:srgbClr val="000000"/>
                </a:solidFill>
                <a:effectLst/>
                <a:latin typeface="Inter"/>
              </a:rPr>
              <a:t>消融实验。（</a:t>
            </a:r>
            <a:r>
              <a:rPr lang="en-US" altLang="zh-CN" b="0" i="0" dirty="0">
                <a:solidFill>
                  <a:srgbClr val="000000"/>
                </a:solidFill>
                <a:effectLst/>
                <a:latin typeface="Inter"/>
              </a:rPr>
              <a:t>1</a:t>
            </a:r>
            <a:r>
              <a:rPr lang="zh-CN" altLang="en-US" b="0" i="0" dirty="0">
                <a:solidFill>
                  <a:srgbClr val="000000"/>
                </a:solidFill>
                <a:effectLst/>
                <a:latin typeface="Inter"/>
              </a:rPr>
              <a:t>）移除重构任务 性能明显下降。说明：</a:t>
            </a:r>
            <a:r>
              <a:rPr lang="en-US" altLang="zh-CN" b="0" i="0" dirty="0">
                <a:solidFill>
                  <a:srgbClr val="000000"/>
                </a:solidFill>
                <a:effectLst/>
                <a:latin typeface="Inter"/>
              </a:rPr>
              <a:t>TCN Auto encoder </a:t>
            </a:r>
            <a:r>
              <a:rPr lang="zh-CN" altLang="en-US" b="0" i="0" dirty="0">
                <a:solidFill>
                  <a:srgbClr val="000000"/>
                </a:solidFill>
                <a:effectLst/>
                <a:latin typeface="Inter"/>
              </a:rPr>
              <a:t>确实帮助了解耦异构指标。（</a:t>
            </a:r>
            <a:r>
              <a:rPr lang="en-US" altLang="zh-CN" b="0" i="0" dirty="0">
                <a:solidFill>
                  <a:srgbClr val="000000"/>
                </a:solidFill>
                <a:effectLst/>
                <a:latin typeface="Inter"/>
              </a:rPr>
              <a:t>2</a:t>
            </a:r>
            <a:r>
              <a:rPr lang="zh-CN" altLang="en-US" b="0" i="0" dirty="0">
                <a:solidFill>
                  <a:srgbClr val="000000"/>
                </a:solidFill>
                <a:effectLst/>
                <a:latin typeface="Inter"/>
              </a:rPr>
              <a:t>）移除稀疏正则化 能也明显下降。说明：稀疏化能够突出真正重要关系。</a:t>
            </a:r>
          </a:p>
        </p:txBody>
      </p:sp>
      <p:sp>
        <p:nvSpPr>
          <p:cNvPr id="4" name="灯片编号占位符 3"/>
          <p:cNvSpPr>
            <a:spLocks noGrp="1"/>
          </p:cNvSpPr>
          <p:nvPr>
            <p:ph type="sldNum" sz="quarter" idx="5"/>
          </p:nvPr>
        </p:nvSpPr>
        <p:spPr/>
        <p:txBody>
          <a:bodyPr/>
          <a:lstStyle/>
          <a:p>
            <a:fld id="{982BA46B-E1B2-4520-80B7-3F1B8A68F93F}" type="slidenum">
              <a:rPr lang="zh-CN" altLang="en-US" smtClean="0"/>
              <a:t>19</a:t>
            </a:fld>
            <a:endParaRPr lang="zh-CN" altLang="en-US"/>
          </a:p>
        </p:txBody>
      </p:sp>
    </p:spTree>
    <p:extLst>
      <p:ext uri="{BB962C8B-B14F-4D97-AF65-F5344CB8AC3E}">
        <p14:creationId xmlns:p14="http://schemas.microsoft.com/office/powerpoint/2010/main" val="56745177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dirty="0"/>
              <a:t>本文介绍了</a:t>
            </a:r>
            <a:r>
              <a:rPr lang="en-US" altLang="zh-CN" dirty="0" err="1"/>
              <a:t>FaultInsight</a:t>
            </a:r>
            <a:r>
              <a:rPr lang="zh-CN" altLang="en-US" dirty="0"/>
              <a:t>，面向超大规模数据中心</a:t>
            </a:r>
            <a:r>
              <a:rPr lang="zh-CN" altLang="en-US" b="0" dirty="0">
                <a:solidFill>
                  <a:srgbClr val="000000"/>
                </a:solidFill>
                <a:effectLst/>
                <a:latin typeface="ui-sans-serif"/>
              </a:rPr>
              <a:t>主机级异构指标</a:t>
            </a:r>
            <a:r>
              <a:rPr lang="zh-CN" altLang="en-US" dirty="0"/>
              <a:t>的深度因果诊断框架，填补该领域研究空白。 </a:t>
            </a:r>
            <a:r>
              <a:rPr lang="en-US" altLang="zh-CN" dirty="0" err="1"/>
              <a:t>FaultInsight</a:t>
            </a:r>
            <a:r>
              <a:rPr lang="en-US" altLang="zh-CN" dirty="0"/>
              <a:t> </a:t>
            </a:r>
            <a:r>
              <a:rPr lang="zh-CN" altLang="en-US" dirty="0"/>
              <a:t>提供</a:t>
            </a:r>
            <a:r>
              <a:rPr lang="zh-CN" altLang="en-US" b="0" dirty="0">
                <a:solidFill>
                  <a:srgbClr val="000000"/>
                </a:solidFill>
                <a:effectLst/>
                <a:latin typeface="ui-sans-serif"/>
              </a:rPr>
              <a:t>多视角可视化故障洞察</a:t>
            </a:r>
            <a:r>
              <a:rPr lang="zh-CN" altLang="en-US" dirty="0"/>
              <a:t>，大幅降低人工排障成本。</a:t>
            </a:r>
            <a:r>
              <a:rPr lang="zh-CN" altLang="en-US" b="0" dirty="0">
                <a:solidFill>
                  <a:srgbClr val="000000"/>
                </a:solidFill>
                <a:effectLst/>
                <a:latin typeface="ui-sans-serif"/>
              </a:rPr>
              <a:t>核心创新包括：</a:t>
            </a:r>
          </a:p>
          <a:p>
            <a:pPr algn="l">
              <a:buFont typeface="+mj-lt"/>
              <a:buAutoNum type="arabicPeriod"/>
            </a:pPr>
            <a:r>
              <a:rPr lang="zh-CN" altLang="en-US" b="0" dirty="0">
                <a:solidFill>
                  <a:srgbClr val="000000"/>
                </a:solidFill>
                <a:effectLst/>
                <a:latin typeface="ui-sans-serif"/>
              </a:rPr>
              <a:t>异构指标动态因果发现</a:t>
            </a:r>
          </a:p>
          <a:p>
            <a:pPr algn="l">
              <a:buFont typeface="+mj-lt"/>
              <a:buAutoNum type="arabicPeriod"/>
            </a:pPr>
            <a:r>
              <a:rPr lang="zh-CN" altLang="en-US" b="0" dirty="0">
                <a:solidFill>
                  <a:srgbClr val="000000"/>
                </a:solidFill>
                <a:effectLst/>
                <a:latin typeface="ui-sans-serif"/>
              </a:rPr>
              <a:t>动态影响评分与角色划分</a:t>
            </a:r>
          </a:p>
          <a:p>
            <a:pPr algn="l">
              <a:buFont typeface="+mj-lt"/>
              <a:buAutoNum type="arabicPeriod"/>
            </a:pPr>
            <a:r>
              <a:rPr lang="zh-CN" altLang="en-US" b="0" dirty="0">
                <a:solidFill>
                  <a:srgbClr val="000000"/>
                </a:solidFill>
                <a:effectLst/>
                <a:latin typeface="ui-sans-serif"/>
              </a:rPr>
              <a:t>三类可解释可视化结果</a:t>
            </a:r>
          </a:p>
          <a:p>
            <a:pPr algn="l"/>
            <a:r>
              <a:rPr lang="zh-CN" altLang="en-US" dirty="0"/>
              <a:t>在本文中，我们使用实际运行案例说明了动态指标影响的概念和提出的三个见解。评估证明了</a:t>
            </a:r>
            <a:r>
              <a:rPr lang="en-US" altLang="zh-CN" dirty="0" err="1"/>
              <a:t>FaultInsight</a:t>
            </a:r>
            <a:r>
              <a:rPr lang="zh-CN" altLang="en-US" dirty="0"/>
              <a:t>的准确性、计算效率和有效性。</a:t>
            </a:r>
            <a:endParaRPr lang="zh-CN" altLang="en-US" b="0" dirty="0">
              <a:solidFill>
                <a:srgbClr val="000000"/>
              </a:solidFill>
              <a:effectLst/>
              <a:latin typeface="ui-sans-serif"/>
            </a:endParaRPr>
          </a:p>
        </p:txBody>
      </p:sp>
      <p:sp>
        <p:nvSpPr>
          <p:cNvPr id="4" name="灯片编号占位符 3"/>
          <p:cNvSpPr>
            <a:spLocks noGrp="1"/>
          </p:cNvSpPr>
          <p:nvPr>
            <p:ph type="sldNum" sz="quarter" idx="5"/>
          </p:nvPr>
        </p:nvSpPr>
        <p:spPr/>
        <p:txBody>
          <a:bodyPr/>
          <a:lstStyle/>
          <a:p>
            <a:fld id="{982BA46B-E1B2-4520-80B7-3F1B8A68F93F}" type="slidenum">
              <a:rPr lang="zh-CN" altLang="en-US" smtClean="0"/>
              <a:t>20</a:t>
            </a:fld>
            <a:endParaRPr lang="zh-CN" altLang="en-US"/>
          </a:p>
        </p:txBody>
      </p:sp>
    </p:spTree>
    <p:extLst>
      <p:ext uri="{BB962C8B-B14F-4D97-AF65-F5344CB8AC3E}">
        <p14:creationId xmlns:p14="http://schemas.microsoft.com/office/powerpoint/2010/main" val="27280380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F63FB01-8937-E1E8-FC3D-C5740944378B}"/>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0963F5C1-E01F-623B-2514-EFD5E150AE9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A6CB002E-7D2B-D249-A4FD-13FC14530EC7}"/>
              </a:ext>
            </a:extLst>
          </p:cNvPr>
          <p:cNvSpPr>
            <a:spLocks noGrp="1"/>
          </p:cNvSpPr>
          <p:nvPr>
            <p:ph type="dt" sz="half" idx="10"/>
          </p:nvPr>
        </p:nvSpPr>
        <p:spPr/>
        <p:txBody>
          <a:bodyPr/>
          <a:lstStyle/>
          <a:p>
            <a:fld id="{4091DE36-5A53-4DC6-8B2E-3D9E1353942E}" type="datetimeFigureOut">
              <a:rPr lang="zh-CN" altLang="en-US" smtClean="0"/>
              <a:t>2026/6/15</a:t>
            </a:fld>
            <a:endParaRPr lang="zh-CN" altLang="en-US"/>
          </a:p>
        </p:txBody>
      </p:sp>
      <p:sp>
        <p:nvSpPr>
          <p:cNvPr id="5" name="页脚占位符 4">
            <a:extLst>
              <a:ext uri="{FF2B5EF4-FFF2-40B4-BE49-F238E27FC236}">
                <a16:creationId xmlns:a16="http://schemas.microsoft.com/office/drawing/2014/main" id="{E282CF2D-BEC4-900D-09D9-B218911ADEB2}"/>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7C666173-E753-B4C1-AA9E-BEF532FFE4DB}"/>
              </a:ext>
            </a:extLst>
          </p:cNvPr>
          <p:cNvSpPr>
            <a:spLocks noGrp="1"/>
          </p:cNvSpPr>
          <p:nvPr>
            <p:ph type="sldNum" sz="quarter" idx="12"/>
          </p:nvPr>
        </p:nvSpPr>
        <p:spPr/>
        <p:txBody>
          <a:bodyPr/>
          <a:lstStyle/>
          <a:p>
            <a:fld id="{4F3595E4-A034-47B1-B3D2-EC8B6BFEAFDD}" type="slidenum">
              <a:rPr lang="zh-CN" altLang="en-US" smtClean="0"/>
              <a:t>‹#›</a:t>
            </a:fld>
            <a:endParaRPr lang="zh-CN" altLang="en-US"/>
          </a:p>
        </p:txBody>
      </p:sp>
    </p:spTree>
    <p:extLst>
      <p:ext uri="{BB962C8B-B14F-4D97-AF65-F5344CB8AC3E}">
        <p14:creationId xmlns:p14="http://schemas.microsoft.com/office/powerpoint/2010/main" val="40543614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7E12EFD-6D7C-503F-765D-0793388D35E7}"/>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A7B652E3-896F-46A7-592B-4AE6937010BC}"/>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DBA75B38-ABCD-614E-CDCA-CAAB81447FAA}"/>
              </a:ext>
            </a:extLst>
          </p:cNvPr>
          <p:cNvSpPr>
            <a:spLocks noGrp="1"/>
          </p:cNvSpPr>
          <p:nvPr>
            <p:ph type="dt" sz="half" idx="10"/>
          </p:nvPr>
        </p:nvSpPr>
        <p:spPr/>
        <p:txBody>
          <a:bodyPr/>
          <a:lstStyle/>
          <a:p>
            <a:fld id="{4091DE36-5A53-4DC6-8B2E-3D9E1353942E}" type="datetimeFigureOut">
              <a:rPr lang="zh-CN" altLang="en-US" smtClean="0"/>
              <a:t>2026/6/15</a:t>
            </a:fld>
            <a:endParaRPr lang="zh-CN" altLang="en-US"/>
          </a:p>
        </p:txBody>
      </p:sp>
      <p:sp>
        <p:nvSpPr>
          <p:cNvPr id="5" name="页脚占位符 4">
            <a:extLst>
              <a:ext uri="{FF2B5EF4-FFF2-40B4-BE49-F238E27FC236}">
                <a16:creationId xmlns:a16="http://schemas.microsoft.com/office/drawing/2014/main" id="{3B71854E-FE47-B763-C148-7D76E83AFA43}"/>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0A7F75DB-5F9D-A537-23E0-DE2CCF800AC7}"/>
              </a:ext>
            </a:extLst>
          </p:cNvPr>
          <p:cNvSpPr>
            <a:spLocks noGrp="1"/>
          </p:cNvSpPr>
          <p:nvPr>
            <p:ph type="sldNum" sz="quarter" idx="12"/>
          </p:nvPr>
        </p:nvSpPr>
        <p:spPr/>
        <p:txBody>
          <a:bodyPr/>
          <a:lstStyle/>
          <a:p>
            <a:fld id="{4F3595E4-A034-47B1-B3D2-EC8B6BFEAFDD}" type="slidenum">
              <a:rPr lang="zh-CN" altLang="en-US" smtClean="0"/>
              <a:t>‹#›</a:t>
            </a:fld>
            <a:endParaRPr lang="zh-CN" altLang="en-US"/>
          </a:p>
        </p:txBody>
      </p:sp>
    </p:spTree>
    <p:extLst>
      <p:ext uri="{BB962C8B-B14F-4D97-AF65-F5344CB8AC3E}">
        <p14:creationId xmlns:p14="http://schemas.microsoft.com/office/powerpoint/2010/main" val="4301757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D09DE69-06EF-5C3F-10D6-DE33ADDA9411}"/>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DE374163-024C-7E5F-BD4C-2B3F6C6C8C8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08BB6E43-2ED9-E13C-99C4-A178CB290341}"/>
              </a:ext>
            </a:extLst>
          </p:cNvPr>
          <p:cNvSpPr>
            <a:spLocks noGrp="1"/>
          </p:cNvSpPr>
          <p:nvPr>
            <p:ph type="dt" sz="half" idx="10"/>
          </p:nvPr>
        </p:nvSpPr>
        <p:spPr/>
        <p:txBody>
          <a:bodyPr/>
          <a:lstStyle/>
          <a:p>
            <a:fld id="{4091DE36-5A53-4DC6-8B2E-3D9E1353942E}" type="datetimeFigureOut">
              <a:rPr lang="zh-CN" altLang="en-US" smtClean="0"/>
              <a:t>2026/6/15</a:t>
            </a:fld>
            <a:endParaRPr lang="zh-CN" altLang="en-US"/>
          </a:p>
        </p:txBody>
      </p:sp>
      <p:sp>
        <p:nvSpPr>
          <p:cNvPr id="5" name="页脚占位符 4">
            <a:extLst>
              <a:ext uri="{FF2B5EF4-FFF2-40B4-BE49-F238E27FC236}">
                <a16:creationId xmlns:a16="http://schemas.microsoft.com/office/drawing/2014/main" id="{9A43BB9F-01D9-AD9F-30BF-A7C795C5CFBA}"/>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6353D144-81F0-A9E4-3657-34461C9D6D95}"/>
              </a:ext>
            </a:extLst>
          </p:cNvPr>
          <p:cNvSpPr>
            <a:spLocks noGrp="1"/>
          </p:cNvSpPr>
          <p:nvPr>
            <p:ph type="sldNum" sz="quarter" idx="12"/>
          </p:nvPr>
        </p:nvSpPr>
        <p:spPr/>
        <p:txBody>
          <a:bodyPr/>
          <a:lstStyle/>
          <a:p>
            <a:fld id="{4F3595E4-A034-47B1-B3D2-EC8B6BFEAFDD}" type="slidenum">
              <a:rPr lang="zh-CN" altLang="en-US" smtClean="0"/>
              <a:t>‹#›</a:t>
            </a:fld>
            <a:endParaRPr lang="zh-CN" altLang="en-US"/>
          </a:p>
        </p:txBody>
      </p:sp>
    </p:spTree>
    <p:extLst>
      <p:ext uri="{BB962C8B-B14F-4D97-AF65-F5344CB8AC3E}">
        <p14:creationId xmlns:p14="http://schemas.microsoft.com/office/powerpoint/2010/main" val="37336273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DE8AA75-96A5-584F-D146-D3AD17A62FF0}"/>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10BFE031-3361-C948-0A09-BA99B482B0A9}"/>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2354D976-A6A0-C22A-860A-4B03195312F4}"/>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9BE8A809-A7AA-73A0-5DB8-1022E400CADC}"/>
              </a:ext>
            </a:extLst>
          </p:cNvPr>
          <p:cNvSpPr>
            <a:spLocks noGrp="1"/>
          </p:cNvSpPr>
          <p:nvPr>
            <p:ph type="dt" sz="half" idx="10"/>
          </p:nvPr>
        </p:nvSpPr>
        <p:spPr/>
        <p:txBody>
          <a:bodyPr/>
          <a:lstStyle/>
          <a:p>
            <a:fld id="{4091DE36-5A53-4DC6-8B2E-3D9E1353942E}" type="datetimeFigureOut">
              <a:rPr lang="zh-CN" altLang="en-US" smtClean="0"/>
              <a:t>2026/6/15</a:t>
            </a:fld>
            <a:endParaRPr lang="zh-CN" altLang="en-US"/>
          </a:p>
        </p:txBody>
      </p:sp>
      <p:sp>
        <p:nvSpPr>
          <p:cNvPr id="6" name="页脚占位符 5">
            <a:extLst>
              <a:ext uri="{FF2B5EF4-FFF2-40B4-BE49-F238E27FC236}">
                <a16:creationId xmlns:a16="http://schemas.microsoft.com/office/drawing/2014/main" id="{77C8DD4D-17CA-60E2-51D7-F6E0F6D89F21}"/>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314889B7-521D-A60F-B556-E71F9B901750}"/>
              </a:ext>
            </a:extLst>
          </p:cNvPr>
          <p:cNvSpPr>
            <a:spLocks noGrp="1"/>
          </p:cNvSpPr>
          <p:nvPr>
            <p:ph type="sldNum" sz="quarter" idx="12"/>
          </p:nvPr>
        </p:nvSpPr>
        <p:spPr/>
        <p:txBody>
          <a:bodyPr/>
          <a:lstStyle/>
          <a:p>
            <a:fld id="{4F3595E4-A034-47B1-B3D2-EC8B6BFEAFDD}" type="slidenum">
              <a:rPr lang="zh-CN" altLang="en-US" smtClean="0"/>
              <a:t>‹#›</a:t>
            </a:fld>
            <a:endParaRPr lang="zh-CN" altLang="en-US"/>
          </a:p>
        </p:txBody>
      </p:sp>
    </p:spTree>
    <p:extLst>
      <p:ext uri="{BB962C8B-B14F-4D97-AF65-F5344CB8AC3E}">
        <p14:creationId xmlns:p14="http://schemas.microsoft.com/office/powerpoint/2010/main" val="3151570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67C6DBC-04C3-42FD-54F9-DC540E45516E}"/>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70BDF785-8F5B-11D2-8840-AD321903D5E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B6C27F26-4CF4-5AA7-7FFA-FDDF16E485D6}"/>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C4477AF4-705C-E12A-3FDA-F9250DD065B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49E9664C-F4ED-B5AE-0152-715D1250A626}"/>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A6E7FA51-722C-642A-3635-30386613AEBA}"/>
              </a:ext>
            </a:extLst>
          </p:cNvPr>
          <p:cNvSpPr>
            <a:spLocks noGrp="1"/>
          </p:cNvSpPr>
          <p:nvPr>
            <p:ph type="dt" sz="half" idx="10"/>
          </p:nvPr>
        </p:nvSpPr>
        <p:spPr/>
        <p:txBody>
          <a:bodyPr/>
          <a:lstStyle/>
          <a:p>
            <a:fld id="{4091DE36-5A53-4DC6-8B2E-3D9E1353942E}" type="datetimeFigureOut">
              <a:rPr lang="zh-CN" altLang="en-US" smtClean="0"/>
              <a:t>2026/6/15</a:t>
            </a:fld>
            <a:endParaRPr lang="zh-CN" altLang="en-US"/>
          </a:p>
        </p:txBody>
      </p:sp>
      <p:sp>
        <p:nvSpPr>
          <p:cNvPr id="8" name="页脚占位符 7">
            <a:extLst>
              <a:ext uri="{FF2B5EF4-FFF2-40B4-BE49-F238E27FC236}">
                <a16:creationId xmlns:a16="http://schemas.microsoft.com/office/drawing/2014/main" id="{39420FC9-C3B5-A96E-63D6-8D2E974EB99F}"/>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10809531-9B1E-AD0E-062B-CFA900881DD3}"/>
              </a:ext>
            </a:extLst>
          </p:cNvPr>
          <p:cNvSpPr>
            <a:spLocks noGrp="1"/>
          </p:cNvSpPr>
          <p:nvPr>
            <p:ph type="sldNum" sz="quarter" idx="12"/>
          </p:nvPr>
        </p:nvSpPr>
        <p:spPr/>
        <p:txBody>
          <a:bodyPr/>
          <a:lstStyle/>
          <a:p>
            <a:fld id="{4F3595E4-A034-47B1-B3D2-EC8B6BFEAFDD}" type="slidenum">
              <a:rPr lang="zh-CN" altLang="en-US" smtClean="0"/>
              <a:t>‹#›</a:t>
            </a:fld>
            <a:endParaRPr lang="zh-CN" altLang="en-US"/>
          </a:p>
        </p:txBody>
      </p:sp>
    </p:spTree>
    <p:extLst>
      <p:ext uri="{BB962C8B-B14F-4D97-AF65-F5344CB8AC3E}">
        <p14:creationId xmlns:p14="http://schemas.microsoft.com/office/powerpoint/2010/main" val="703237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8C2E026-630F-BA4C-3038-6100D63919AD}"/>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4752450D-6E5B-F6B1-B0DC-8CF6C7A5B4D4}"/>
              </a:ext>
            </a:extLst>
          </p:cNvPr>
          <p:cNvSpPr>
            <a:spLocks noGrp="1"/>
          </p:cNvSpPr>
          <p:nvPr>
            <p:ph type="dt" sz="half" idx="10"/>
          </p:nvPr>
        </p:nvSpPr>
        <p:spPr/>
        <p:txBody>
          <a:bodyPr/>
          <a:lstStyle/>
          <a:p>
            <a:fld id="{4091DE36-5A53-4DC6-8B2E-3D9E1353942E}" type="datetimeFigureOut">
              <a:rPr lang="zh-CN" altLang="en-US" smtClean="0"/>
              <a:t>2026/6/15</a:t>
            </a:fld>
            <a:endParaRPr lang="zh-CN" altLang="en-US"/>
          </a:p>
        </p:txBody>
      </p:sp>
      <p:sp>
        <p:nvSpPr>
          <p:cNvPr id="4" name="页脚占位符 3">
            <a:extLst>
              <a:ext uri="{FF2B5EF4-FFF2-40B4-BE49-F238E27FC236}">
                <a16:creationId xmlns:a16="http://schemas.microsoft.com/office/drawing/2014/main" id="{3E163B42-22F4-8902-BC96-660E19CFF340}"/>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F1FC034C-93E8-0A57-FDC1-25111B39F3E3}"/>
              </a:ext>
            </a:extLst>
          </p:cNvPr>
          <p:cNvSpPr>
            <a:spLocks noGrp="1"/>
          </p:cNvSpPr>
          <p:nvPr>
            <p:ph type="sldNum" sz="quarter" idx="12"/>
          </p:nvPr>
        </p:nvSpPr>
        <p:spPr/>
        <p:txBody>
          <a:bodyPr/>
          <a:lstStyle/>
          <a:p>
            <a:fld id="{4F3595E4-A034-47B1-B3D2-EC8B6BFEAFDD}" type="slidenum">
              <a:rPr lang="zh-CN" altLang="en-US" smtClean="0"/>
              <a:t>‹#›</a:t>
            </a:fld>
            <a:endParaRPr lang="zh-CN" altLang="en-US"/>
          </a:p>
        </p:txBody>
      </p:sp>
    </p:spTree>
    <p:extLst>
      <p:ext uri="{BB962C8B-B14F-4D97-AF65-F5344CB8AC3E}">
        <p14:creationId xmlns:p14="http://schemas.microsoft.com/office/powerpoint/2010/main" val="6144701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E5FEB1A8-CD11-7D02-1406-8F7926A5B693}"/>
              </a:ext>
            </a:extLst>
          </p:cNvPr>
          <p:cNvSpPr>
            <a:spLocks noGrp="1"/>
          </p:cNvSpPr>
          <p:nvPr>
            <p:ph type="dt" sz="half" idx="10"/>
          </p:nvPr>
        </p:nvSpPr>
        <p:spPr/>
        <p:txBody>
          <a:bodyPr/>
          <a:lstStyle/>
          <a:p>
            <a:fld id="{4091DE36-5A53-4DC6-8B2E-3D9E1353942E}" type="datetimeFigureOut">
              <a:rPr lang="zh-CN" altLang="en-US" smtClean="0"/>
              <a:t>2026/6/15</a:t>
            </a:fld>
            <a:endParaRPr lang="zh-CN" altLang="en-US"/>
          </a:p>
        </p:txBody>
      </p:sp>
      <p:sp>
        <p:nvSpPr>
          <p:cNvPr id="3" name="页脚占位符 2">
            <a:extLst>
              <a:ext uri="{FF2B5EF4-FFF2-40B4-BE49-F238E27FC236}">
                <a16:creationId xmlns:a16="http://schemas.microsoft.com/office/drawing/2014/main" id="{E5A9BE81-E616-2182-1EC5-D1582DD603B6}"/>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1864B0AE-E055-37CA-1A00-C80B488B9732}"/>
              </a:ext>
            </a:extLst>
          </p:cNvPr>
          <p:cNvSpPr>
            <a:spLocks noGrp="1"/>
          </p:cNvSpPr>
          <p:nvPr>
            <p:ph type="sldNum" sz="quarter" idx="12"/>
          </p:nvPr>
        </p:nvSpPr>
        <p:spPr/>
        <p:txBody>
          <a:bodyPr/>
          <a:lstStyle/>
          <a:p>
            <a:fld id="{4F3595E4-A034-47B1-B3D2-EC8B6BFEAFDD}" type="slidenum">
              <a:rPr lang="zh-CN" altLang="en-US" smtClean="0"/>
              <a:t>‹#›</a:t>
            </a:fld>
            <a:endParaRPr lang="zh-CN" altLang="en-US"/>
          </a:p>
        </p:txBody>
      </p:sp>
    </p:spTree>
    <p:extLst>
      <p:ext uri="{BB962C8B-B14F-4D97-AF65-F5344CB8AC3E}">
        <p14:creationId xmlns:p14="http://schemas.microsoft.com/office/powerpoint/2010/main" val="39825068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96E07D1-A67D-A281-518D-622E198B9108}"/>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A277A667-B80F-657E-149E-A4474652A23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40FE8B05-F288-CC62-5E97-32BFC14C5A5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E0681916-53EC-DFAB-B039-5D749A33FC59}"/>
              </a:ext>
            </a:extLst>
          </p:cNvPr>
          <p:cNvSpPr>
            <a:spLocks noGrp="1"/>
          </p:cNvSpPr>
          <p:nvPr>
            <p:ph type="dt" sz="half" idx="10"/>
          </p:nvPr>
        </p:nvSpPr>
        <p:spPr/>
        <p:txBody>
          <a:bodyPr/>
          <a:lstStyle/>
          <a:p>
            <a:fld id="{4091DE36-5A53-4DC6-8B2E-3D9E1353942E}" type="datetimeFigureOut">
              <a:rPr lang="zh-CN" altLang="en-US" smtClean="0"/>
              <a:t>2026/6/15</a:t>
            </a:fld>
            <a:endParaRPr lang="zh-CN" altLang="en-US"/>
          </a:p>
        </p:txBody>
      </p:sp>
      <p:sp>
        <p:nvSpPr>
          <p:cNvPr id="6" name="页脚占位符 5">
            <a:extLst>
              <a:ext uri="{FF2B5EF4-FFF2-40B4-BE49-F238E27FC236}">
                <a16:creationId xmlns:a16="http://schemas.microsoft.com/office/drawing/2014/main" id="{91D84BF1-CFFC-4ACE-A3EF-EF7408A31EC0}"/>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9DCFED01-D541-AB8F-2346-EDE67993614B}"/>
              </a:ext>
            </a:extLst>
          </p:cNvPr>
          <p:cNvSpPr>
            <a:spLocks noGrp="1"/>
          </p:cNvSpPr>
          <p:nvPr>
            <p:ph type="sldNum" sz="quarter" idx="12"/>
          </p:nvPr>
        </p:nvSpPr>
        <p:spPr/>
        <p:txBody>
          <a:bodyPr/>
          <a:lstStyle/>
          <a:p>
            <a:fld id="{4F3595E4-A034-47B1-B3D2-EC8B6BFEAFDD}" type="slidenum">
              <a:rPr lang="zh-CN" altLang="en-US" smtClean="0"/>
              <a:t>‹#›</a:t>
            </a:fld>
            <a:endParaRPr lang="zh-CN" altLang="en-US"/>
          </a:p>
        </p:txBody>
      </p:sp>
    </p:spTree>
    <p:extLst>
      <p:ext uri="{BB962C8B-B14F-4D97-AF65-F5344CB8AC3E}">
        <p14:creationId xmlns:p14="http://schemas.microsoft.com/office/powerpoint/2010/main" val="14440552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A9994E0-870A-F75F-81A6-805DDC36491D}"/>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2E5B8796-2898-CD63-62DA-83697C25DD8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A6F1531B-2A99-D210-A72A-019077DD26E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2426392D-E96B-9179-F165-84B117909D13}"/>
              </a:ext>
            </a:extLst>
          </p:cNvPr>
          <p:cNvSpPr>
            <a:spLocks noGrp="1"/>
          </p:cNvSpPr>
          <p:nvPr>
            <p:ph type="dt" sz="half" idx="10"/>
          </p:nvPr>
        </p:nvSpPr>
        <p:spPr/>
        <p:txBody>
          <a:bodyPr/>
          <a:lstStyle/>
          <a:p>
            <a:fld id="{4091DE36-5A53-4DC6-8B2E-3D9E1353942E}" type="datetimeFigureOut">
              <a:rPr lang="zh-CN" altLang="en-US" smtClean="0"/>
              <a:t>2026/6/15</a:t>
            </a:fld>
            <a:endParaRPr lang="zh-CN" altLang="en-US"/>
          </a:p>
        </p:txBody>
      </p:sp>
      <p:sp>
        <p:nvSpPr>
          <p:cNvPr id="6" name="页脚占位符 5">
            <a:extLst>
              <a:ext uri="{FF2B5EF4-FFF2-40B4-BE49-F238E27FC236}">
                <a16:creationId xmlns:a16="http://schemas.microsoft.com/office/drawing/2014/main" id="{990A38F4-364C-9A62-706E-82C40C5FA099}"/>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19CB356B-55EB-E3C3-7243-5480FECD8541}"/>
              </a:ext>
            </a:extLst>
          </p:cNvPr>
          <p:cNvSpPr>
            <a:spLocks noGrp="1"/>
          </p:cNvSpPr>
          <p:nvPr>
            <p:ph type="sldNum" sz="quarter" idx="12"/>
          </p:nvPr>
        </p:nvSpPr>
        <p:spPr/>
        <p:txBody>
          <a:bodyPr/>
          <a:lstStyle/>
          <a:p>
            <a:fld id="{4F3595E4-A034-47B1-B3D2-EC8B6BFEAFDD}" type="slidenum">
              <a:rPr lang="zh-CN" altLang="en-US" smtClean="0"/>
              <a:t>‹#›</a:t>
            </a:fld>
            <a:endParaRPr lang="zh-CN" altLang="en-US"/>
          </a:p>
        </p:txBody>
      </p:sp>
    </p:spTree>
    <p:extLst>
      <p:ext uri="{BB962C8B-B14F-4D97-AF65-F5344CB8AC3E}">
        <p14:creationId xmlns:p14="http://schemas.microsoft.com/office/powerpoint/2010/main" val="19821854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55973B5-8CDB-637E-1325-30E8266577AD}"/>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30C3CF88-741C-A31E-6AD9-048F562DC8C1}"/>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FD74C692-A84F-148C-4544-175D234C114E}"/>
              </a:ext>
            </a:extLst>
          </p:cNvPr>
          <p:cNvSpPr>
            <a:spLocks noGrp="1"/>
          </p:cNvSpPr>
          <p:nvPr>
            <p:ph type="dt" sz="half" idx="10"/>
          </p:nvPr>
        </p:nvSpPr>
        <p:spPr/>
        <p:txBody>
          <a:bodyPr/>
          <a:lstStyle/>
          <a:p>
            <a:fld id="{4091DE36-5A53-4DC6-8B2E-3D9E1353942E}" type="datetimeFigureOut">
              <a:rPr lang="zh-CN" altLang="en-US" smtClean="0"/>
              <a:t>2026/6/15</a:t>
            </a:fld>
            <a:endParaRPr lang="zh-CN" altLang="en-US"/>
          </a:p>
        </p:txBody>
      </p:sp>
      <p:sp>
        <p:nvSpPr>
          <p:cNvPr id="5" name="页脚占位符 4">
            <a:extLst>
              <a:ext uri="{FF2B5EF4-FFF2-40B4-BE49-F238E27FC236}">
                <a16:creationId xmlns:a16="http://schemas.microsoft.com/office/drawing/2014/main" id="{CC4F4FB5-5B43-F3DE-E5F1-FAE6C33A6F2E}"/>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AC890155-18A1-EE8A-45C0-C61CF83B1A9F}"/>
              </a:ext>
            </a:extLst>
          </p:cNvPr>
          <p:cNvSpPr>
            <a:spLocks noGrp="1"/>
          </p:cNvSpPr>
          <p:nvPr>
            <p:ph type="sldNum" sz="quarter" idx="12"/>
          </p:nvPr>
        </p:nvSpPr>
        <p:spPr/>
        <p:txBody>
          <a:bodyPr/>
          <a:lstStyle/>
          <a:p>
            <a:fld id="{4F3595E4-A034-47B1-B3D2-EC8B6BFEAFDD}" type="slidenum">
              <a:rPr lang="zh-CN" altLang="en-US" smtClean="0"/>
              <a:t>‹#›</a:t>
            </a:fld>
            <a:endParaRPr lang="zh-CN" altLang="en-US"/>
          </a:p>
        </p:txBody>
      </p:sp>
    </p:spTree>
    <p:extLst>
      <p:ext uri="{BB962C8B-B14F-4D97-AF65-F5344CB8AC3E}">
        <p14:creationId xmlns:p14="http://schemas.microsoft.com/office/powerpoint/2010/main" val="19675282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9D3F1AB3-AC82-B313-E23B-89FE786249CA}"/>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E71062C6-3BDF-1867-51AE-6F349156DD62}"/>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CC2B622E-1491-A257-A68B-A807A6F700A3}"/>
              </a:ext>
            </a:extLst>
          </p:cNvPr>
          <p:cNvSpPr>
            <a:spLocks noGrp="1"/>
          </p:cNvSpPr>
          <p:nvPr>
            <p:ph type="dt" sz="half" idx="10"/>
          </p:nvPr>
        </p:nvSpPr>
        <p:spPr/>
        <p:txBody>
          <a:bodyPr/>
          <a:lstStyle/>
          <a:p>
            <a:fld id="{4091DE36-5A53-4DC6-8B2E-3D9E1353942E}" type="datetimeFigureOut">
              <a:rPr lang="zh-CN" altLang="en-US" smtClean="0"/>
              <a:t>2026/6/15</a:t>
            </a:fld>
            <a:endParaRPr lang="zh-CN" altLang="en-US"/>
          </a:p>
        </p:txBody>
      </p:sp>
      <p:sp>
        <p:nvSpPr>
          <p:cNvPr id="5" name="页脚占位符 4">
            <a:extLst>
              <a:ext uri="{FF2B5EF4-FFF2-40B4-BE49-F238E27FC236}">
                <a16:creationId xmlns:a16="http://schemas.microsoft.com/office/drawing/2014/main" id="{A52A6B94-2DC7-AEA6-3D38-CCDD538D8E85}"/>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DE57E947-0FAF-CEB5-9FD5-7B9F5EB0382D}"/>
              </a:ext>
            </a:extLst>
          </p:cNvPr>
          <p:cNvSpPr>
            <a:spLocks noGrp="1"/>
          </p:cNvSpPr>
          <p:nvPr>
            <p:ph type="sldNum" sz="quarter" idx="12"/>
          </p:nvPr>
        </p:nvSpPr>
        <p:spPr/>
        <p:txBody>
          <a:bodyPr/>
          <a:lstStyle/>
          <a:p>
            <a:fld id="{4F3595E4-A034-47B1-B3D2-EC8B6BFEAFDD}" type="slidenum">
              <a:rPr lang="zh-CN" altLang="en-US" smtClean="0"/>
              <a:t>‹#›</a:t>
            </a:fld>
            <a:endParaRPr lang="zh-CN" altLang="en-US"/>
          </a:p>
        </p:txBody>
      </p:sp>
    </p:spTree>
    <p:extLst>
      <p:ext uri="{BB962C8B-B14F-4D97-AF65-F5344CB8AC3E}">
        <p14:creationId xmlns:p14="http://schemas.microsoft.com/office/powerpoint/2010/main" val="23837688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38A31C8B-12E1-5DDB-40A1-4BB97A8E61F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FD9C121B-F094-49D6-5762-852F13843B1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CE198A28-5E5F-6758-52B8-31795059A4E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091DE36-5A53-4DC6-8B2E-3D9E1353942E}" type="datetimeFigureOut">
              <a:rPr lang="zh-CN" altLang="en-US" smtClean="0"/>
              <a:t>2026/6/15</a:t>
            </a:fld>
            <a:endParaRPr lang="zh-CN" altLang="en-US"/>
          </a:p>
        </p:txBody>
      </p:sp>
      <p:sp>
        <p:nvSpPr>
          <p:cNvPr id="5" name="页脚占位符 4">
            <a:extLst>
              <a:ext uri="{FF2B5EF4-FFF2-40B4-BE49-F238E27FC236}">
                <a16:creationId xmlns:a16="http://schemas.microsoft.com/office/drawing/2014/main" id="{DB8D8A2B-D0AA-7149-4855-242F0354FBD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zh-CN" altLang="en-US"/>
          </a:p>
        </p:txBody>
      </p:sp>
      <p:sp>
        <p:nvSpPr>
          <p:cNvPr id="6" name="灯片编号占位符 5">
            <a:extLst>
              <a:ext uri="{FF2B5EF4-FFF2-40B4-BE49-F238E27FC236}">
                <a16:creationId xmlns:a16="http://schemas.microsoft.com/office/drawing/2014/main" id="{7E9343F2-6C68-0683-356E-7B55B2FF2B0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F3595E4-A034-47B1-B3D2-EC8B6BFEAFDD}" type="slidenum">
              <a:rPr lang="zh-CN" altLang="en-US" smtClean="0"/>
              <a:t>‹#›</a:t>
            </a:fld>
            <a:endParaRPr lang="zh-CN" altLang="en-US"/>
          </a:p>
        </p:txBody>
      </p:sp>
    </p:spTree>
    <p:extLst>
      <p:ext uri="{BB962C8B-B14F-4D97-AF65-F5344CB8AC3E}">
        <p14:creationId xmlns:p14="http://schemas.microsoft.com/office/powerpoint/2010/main" val="227989715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1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44DA7E30-879A-28D4-13B1-AED7D977BE7E}"/>
              </a:ext>
            </a:extLst>
          </p:cNvPr>
          <p:cNvSpPr txBox="1"/>
          <p:nvPr/>
        </p:nvSpPr>
        <p:spPr>
          <a:xfrm>
            <a:off x="1017868" y="1046867"/>
            <a:ext cx="10201511" cy="1200329"/>
          </a:xfrm>
          <a:prstGeom prst="rect">
            <a:avLst/>
          </a:prstGeom>
          <a:noFill/>
        </p:spPr>
        <p:txBody>
          <a:bodyPr wrap="square" rtlCol="0">
            <a:spAutoFit/>
          </a:bodyPr>
          <a:lstStyle/>
          <a:p>
            <a:pPr algn="ctr"/>
            <a:r>
              <a:rPr lang="en-US" altLang="zh-CN" sz="3600" dirty="0" err="1"/>
              <a:t>FaultInsight</a:t>
            </a:r>
            <a:r>
              <a:rPr lang="en-US" altLang="zh-CN" sz="3600" dirty="0"/>
              <a:t>: Interpreting Hyperscale Data Center Host Faults</a:t>
            </a:r>
          </a:p>
        </p:txBody>
      </p:sp>
      <p:sp>
        <p:nvSpPr>
          <p:cNvPr id="5" name="文本框 4">
            <a:extLst>
              <a:ext uri="{FF2B5EF4-FFF2-40B4-BE49-F238E27FC236}">
                <a16:creationId xmlns:a16="http://schemas.microsoft.com/office/drawing/2014/main" id="{C3D83160-5E89-90B4-6690-2DD53FAD3DD5}"/>
              </a:ext>
            </a:extLst>
          </p:cNvPr>
          <p:cNvSpPr txBox="1"/>
          <p:nvPr/>
        </p:nvSpPr>
        <p:spPr>
          <a:xfrm>
            <a:off x="923635" y="3290892"/>
            <a:ext cx="10344728" cy="830997"/>
          </a:xfrm>
          <a:prstGeom prst="rect">
            <a:avLst/>
          </a:prstGeom>
          <a:noFill/>
        </p:spPr>
        <p:txBody>
          <a:bodyPr wrap="square" rtlCol="0">
            <a:spAutoFit/>
          </a:bodyPr>
          <a:lstStyle/>
          <a:p>
            <a:pPr algn="ctr"/>
            <a:r>
              <a:rPr lang="en-US" altLang="zh-CN" sz="2400" dirty="0" err="1"/>
              <a:t>Tingzhu</a:t>
            </a:r>
            <a:r>
              <a:rPr lang="en-US" altLang="zh-CN" sz="2400" dirty="0"/>
              <a:t> Bi, Zhang Yang, </a:t>
            </a:r>
            <a:r>
              <a:rPr lang="en-US" altLang="zh-CN" sz="2400" dirty="0" err="1"/>
              <a:t>Yicheng</a:t>
            </a:r>
            <a:r>
              <a:rPr lang="en-US" altLang="zh-CN" sz="2400" dirty="0"/>
              <a:t> Pan, Yu Zhang, Meng Ma, Xinrui Jiang, </a:t>
            </a:r>
            <a:r>
              <a:rPr lang="en-US" altLang="zh-CN" sz="2400" dirty="0" err="1"/>
              <a:t>Linlin</a:t>
            </a:r>
            <a:r>
              <a:rPr lang="en-US" altLang="zh-CN" sz="2400" dirty="0"/>
              <a:t> Han, Feng Wang, Xian Liu, Ping Wang</a:t>
            </a:r>
            <a:endParaRPr lang="zh-CN" altLang="en-US" sz="2400" dirty="0"/>
          </a:p>
        </p:txBody>
      </p:sp>
      <p:sp>
        <p:nvSpPr>
          <p:cNvPr id="6" name="文本框 5">
            <a:extLst>
              <a:ext uri="{FF2B5EF4-FFF2-40B4-BE49-F238E27FC236}">
                <a16:creationId xmlns:a16="http://schemas.microsoft.com/office/drawing/2014/main" id="{990547BB-ED81-9DEE-DF5B-8F4C9584658E}"/>
              </a:ext>
            </a:extLst>
          </p:cNvPr>
          <p:cNvSpPr txBox="1"/>
          <p:nvPr/>
        </p:nvSpPr>
        <p:spPr>
          <a:xfrm>
            <a:off x="3939309" y="4805875"/>
            <a:ext cx="4313382" cy="400110"/>
          </a:xfrm>
          <a:prstGeom prst="rect">
            <a:avLst/>
          </a:prstGeom>
          <a:noFill/>
        </p:spPr>
        <p:txBody>
          <a:bodyPr wrap="square" rtlCol="0">
            <a:spAutoFit/>
          </a:bodyPr>
          <a:lstStyle/>
          <a:p>
            <a:pPr algn="ctr"/>
            <a:r>
              <a:rPr lang="en-US" altLang="zh-CN" sz="2000" dirty="0"/>
              <a:t>KDD 2024</a:t>
            </a:r>
            <a:endParaRPr lang="zh-CN" altLang="en-US" sz="2000" dirty="0"/>
          </a:p>
        </p:txBody>
      </p:sp>
      <p:sp>
        <p:nvSpPr>
          <p:cNvPr id="7" name="文本框 6">
            <a:extLst>
              <a:ext uri="{FF2B5EF4-FFF2-40B4-BE49-F238E27FC236}">
                <a16:creationId xmlns:a16="http://schemas.microsoft.com/office/drawing/2014/main" id="{BB4B9F1D-CFB3-767A-9D36-3391BE7845A8}"/>
              </a:ext>
            </a:extLst>
          </p:cNvPr>
          <p:cNvSpPr txBox="1"/>
          <p:nvPr/>
        </p:nvSpPr>
        <p:spPr>
          <a:xfrm>
            <a:off x="4857859" y="5608452"/>
            <a:ext cx="2521528" cy="400110"/>
          </a:xfrm>
          <a:prstGeom prst="rect">
            <a:avLst/>
          </a:prstGeom>
          <a:noFill/>
        </p:spPr>
        <p:txBody>
          <a:bodyPr wrap="square" rtlCol="0">
            <a:spAutoFit/>
          </a:bodyPr>
          <a:lstStyle/>
          <a:p>
            <a:pPr algn="ctr"/>
            <a:r>
              <a:rPr lang="en-US" altLang="zh-CN" sz="2000" dirty="0"/>
              <a:t>24 August, 2024</a:t>
            </a:r>
            <a:endParaRPr lang="zh-CN" altLang="en-US" sz="2000" dirty="0"/>
          </a:p>
        </p:txBody>
      </p:sp>
    </p:spTree>
    <p:extLst>
      <p:ext uri="{BB962C8B-B14F-4D97-AF65-F5344CB8AC3E}">
        <p14:creationId xmlns:p14="http://schemas.microsoft.com/office/powerpoint/2010/main" val="24223387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a:extLst>
              <a:ext uri="{FF2B5EF4-FFF2-40B4-BE49-F238E27FC236}">
                <a16:creationId xmlns:a16="http://schemas.microsoft.com/office/drawing/2014/main" id="{3C321AA5-BA3B-7FC7-6B37-E772F5393D0D}"/>
              </a:ext>
            </a:extLst>
          </p:cNvPr>
          <p:cNvSpPr>
            <a:spLocks noGrp="1"/>
          </p:cNvSpPr>
          <p:nvPr/>
        </p:nvSpPr>
        <p:spPr>
          <a:xfrm>
            <a:off x="838200" y="119269"/>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dirty="0"/>
              <a:t>Outline</a:t>
            </a:r>
            <a:endParaRPr lang="zh-CN" altLang="en-US" dirty="0"/>
          </a:p>
        </p:txBody>
      </p:sp>
      <p:sp>
        <p:nvSpPr>
          <p:cNvPr id="6" name="内容占位符 2">
            <a:extLst>
              <a:ext uri="{FF2B5EF4-FFF2-40B4-BE49-F238E27FC236}">
                <a16:creationId xmlns:a16="http://schemas.microsoft.com/office/drawing/2014/main" id="{4CE4009A-611D-C576-03BA-A2CF76254033}"/>
              </a:ext>
            </a:extLst>
          </p:cNvPr>
          <p:cNvSpPr>
            <a:spLocks noGrp="1"/>
          </p:cNvSpPr>
          <p:nvPr/>
        </p:nvSpPr>
        <p:spPr>
          <a:xfrm>
            <a:off x="838200" y="1590306"/>
            <a:ext cx="10515600" cy="4351338"/>
          </a:xfrm>
          <a:prstGeom prst="rect">
            <a:avLst/>
          </a:prstGeom>
        </p:spPr>
        <p:txBody>
          <a:bodyPr vert="horz" lIns="91440" tIns="45720" rIns="91440" bIns="45720" numCol="1"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pPr>
            <a:r>
              <a:rPr lang="en-US" altLang="zh-CN" dirty="0"/>
              <a:t>1. Introduction</a:t>
            </a:r>
          </a:p>
          <a:p>
            <a:pPr>
              <a:lnSpc>
                <a:spcPct val="150000"/>
              </a:lnSpc>
            </a:pPr>
            <a:r>
              <a:rPr lang="en-US" altLang="zh-CN" dirty="0"/>
              <a:t>2. Challenges </a:t>
            </a:r>
          </a:p>
          <a:p>
            <a:pPr>
              <a:lnSpc>
                <a:spcPct val="150000"/>
              </a:lnSpc>
            </a:pPr>
            <a:r>
              <a:rPr lang="en-US" altLang="zh-CN" dirty="0"/>
              <a:t>3. Methodology</a:t>
            </a:r>
          </a:p>
          <a:p>
            <a:pPr>
              <a:lnSpc>
                <a:spcPct val="150000"/>
              </a:lnSpc>
            </a:pPr>
            <a:r>
              <a:rPr lang="en-US" altLang="zh-CN" dirty="0"/>
              <a:t>4. Experiments</a:t>
            </a:r>
          </a:p>
          <a:p>
            <a:pPr>
              <a:lnSpc>
                <a:spcPct val="150000"/>
              </a:lnSpc>
            </a:pPr>
            <a:r>
              <a:rPr lang="en-US" altLang="zh-CN" dirty="0"/>
              <a:t>5. Conclusion</a:t>
            </a:r>
            <a:endParaRPr lang="zh-CN" altLang="en-US" dirty="0"/>
          </a:p>
        </p:txBody>
      </p:sp>
    </p:spTree>
    <p:extLst>
      <p:ext uri="{BB962C8B-B14F-4D97-AF65-F5344CB8AC3E}">
        <p14:creationId xmlns:p14="http://schemas.microsoft.com/office/powerpoint/2010/main" val="2367758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图片 9">
            <a:extLst>
              <a:ext uri="{FF2B5EF4-FFF2-40B4-BE49-F238E27FC236}">
                <a16:creationId xmlns:a16="http://schemas.microsoft.com/office/drawing/2014/main" id="{6E1F4FD3-CF14-4189-09F6-78B9F4AA1BA2}"/>
              </a:ext>
            </a:extLst>
          </p:cNvPr>
          <p:cNvPicPr>
            <a:picLocks noChangeAspect="1"/>
          </p:cNvPicPr>
          <p:nvPr/>
        </p:nvPicPr>
        <p:blipFill>
          <a:blip r:embed="rId3"/>
          <a:stretch>
            <a:fillRect/>
          </a:stretch>
        </p:blipFill>
        <p:spPr>
          <a:xfrm>
            <a:off x="1775809" y="3103194"/>
            <a:ext cx="8640381" cy="3686689"/>
          </a:xfrm>
          <a:prstGeom prst="rect">
            <a:avLst/>
          </a:prstGeom>
        </p:spPr>
      </p:pic>
      <p:sp>
        <p:nvSpPr>
          <p:cNvPr id="4" name="文本框 3">
            <a:extLst>
              <a:ext uri="{FF2B5EF4-FFF2-40B4-BE49-F238E27FC236}">
                <a16:creationId xmlns:a16="http://schemas.microsoft.com/office/drawing/2014/main" id="{1081C8D6-BF06-BCB6-6B60-DF551B3CF340}"/>
              </a:ext>
            </a:extLst>
          </p:cNvPr>
          <p:cNvSpPr txBox="1"/>
          <p:nvPr/>
        </p:nvSpPr>
        <p:spPr>
          <a:xfrm>
            <a:off x="176323" y="203200"/>
            <a:ext cx="8379133" cy="769441"/>
          </a:xfrm>
          <a:prstGeom prst="rect">
            <a:avLst/>
          </a:prstGeom>
          <a:noFill/>
        </p:spPr>
        <p:txBody>
          <a:bodyPr wrap="square" rtlCol="0">
            <a:spAutoFit/>
          </a:bodyPr>
          <a:lstStyle/>
          <a:p>
            <a:r>
              <a:rPr lang="en-US" altLang="zh-CN" sz="4400" dirty="0"/>
              <a:t>1. Introduction</a:t>
            </a:r>
            <a:endParaRPr lang="zh-CN" altLang="en-US" sz="4400" dirty="0"/>
          </a:p>
        </p:txBody>
      </p:sp>
      <p:sp>
        <p:nvSpPr>
          <p:cNvPr id="2" name="文本框 1">
            <a:extLst>
              <a:ext uri="{FF2B5EF4-FFF2-40B4-BE49-F238E27FC236}">
                <a16:creationId xmlns:a16="http://schemas.microsoft.com/office/drawing/2014/main" id="{D3772A4C-361B-54EA-FF4B-C536F7D7C1DF}"/>
              </a:ext>
            </a:extLst>
          </p:cNvPr>
          <p:cNvSpPr txBox="1"/>
          <p:nvPr/>
        </p:nvSpPr>
        <p:spPr>
          <a:xfrm>
            <a:off x="-1" y="1271447"/>
            <a:ext cx="11731337" cy="1938992"/>
          </a:xfrm>
          <a:prstGeom prst="rect">
            <a:avLst/>
          </a:prstGeom>
          <a:noFill/>
        </p:spPr>
        <p:txBody>
          <a:bodyPr wrap="square" rtlCol="0">
            <a:spAutoFit/>
          </a:bodyPr>
          <a:lstStyle/>
          <a:p>
            <a:pPr marL="742950" lvl="1" indent="-285750">
              <a:spcBef>
                <a:spcPts val="600"/>
              </a:spcBef>
              <a:buFont typeface="Arial" panose="020B0604020202020204" pitchFamily="34" charset="0"/>
              <a:buChar char="•"/>
            </a:pPr>
            <a:r>
              <a:rPr lang="en-US" altLang="zh-CN" sz="2400" b="1" dirty="0">
                <a:solidFill>
                  <a:srgbClr val="000000"/>
                </a:solidFill>
              </a:rPr>
              <a:t>Operating and maintaining hyperscale data centers involving </a:t>
            </a:r>
            <a:r>
              <a:rPr lang="en-US" altLang="zh-CN" sz="2400" b="1" dirty="0" err="1">
                <a:solidFill>
                  <a:srgbClr val="000000"/>
                </a:solidFill>
              </a:rPr>
              <a:t>milions</a:t>
            </a:r>
            <a:r>
              <a:rPr lang="en-US" altLang="zh-CN" sz="2400" b="1" dirty="0">
                <a:solidFill>
                  <a:srgbClr val="000000"/>
                </a:solidFill>
              </a:rPr>
              <a:t> of service hosts has been an extremely intricate task to tackle for top Internet companies. Incessant system failures cost operators countless hours of browsing through performance metrics to diagnose the underlying root cause to prevent the recurrence.</a:t>
            </a:r>
            <a:endParaRPr lang="en-US" altLang="zh-CN" sz="2400" dirty="0">
              <a:solidFill>
                <a:srgbClr val="000000"/>
              </a:solidFill>
            </a:endParaRPr>
          </a:p>
        </p:txBody>
      </p:sp>
    </p:spTree>
    <p:extLst>
      <p:ext uri="{BB962C8B-B14F-4D97-AF65-F5344CB8AC3E}">
        <p14:creationId xmlns:p14="http://schemas.microsoft.com/office/powerpoint/2010/main" val="26113243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1081C8D6-BF06-BCB6-6B60-DF551B3CF340}"/>
              </a:ext>
            </a:extLst>
          </p:cNvPr>
          <p:cNvSpPr txBox="1"/>
          <p:nvPr/>
        </p:nvSpPr>
        <p:spPr>
          <a:xfrm>
            <a:off x="350981" y="203200"/>
            <a:ext cx="8379133" cy="769441"/>
          </a:xfrm>
          <a:prstGeom prst="rect">
            <a:avLst/>
          </a:prstGeom>
          <a:noFill/>
        </p:spPr>
        <p:txBody>
          <a:bodyPr wrap="square" rtlCol="0">
            <a:spAutoFit/>
          </a:bodyPr>
          <a:lstStyle/>
          <a:p>
            <a:r>
              <a:rPr lang="en-US" altLang="zh-CN" sz="4400" dirty="0"/>
              <a:t>2. Challenge </a:t>
            </a:r>
            <a:endParaRPr lang="zh-CN" altLang="en-US" sz="4400" dirty="0"/>
          </a:p>
        </p:txBody>
      </p:sp>
      <p:sp>
        <p:nvSpPr>
          <p:cNvPr id="2" name="文本框 1">
            <a:extLst>
              <a:ext uri="{FF2B5EF4-FFF2-40B4-BE49-F238E27FC236}">
                <a16:creationId xmlns:a16="http://schemas.microsoft.com/office/drawing/2014/main" id="{EEF8EADD-379F-F7A7-F4D7-52CE60B5F1ED}"/>
              </a:ext>
            </a:extLst>
          </p:cNvPr>
          <p:cNvSpPr txBox="1"/>
          <p:nvPr/>
        </p:nvSpPr>
        <p:spPr>
          <a:xfrm>
            <a:off x="472610" y="1655203"/>
            <a:ext cx="10890610" cy="4001095"/>
          </a:xfrm>
          <a:prstGeom prst="rect">
            <a:avLst/>
          </a:prstGeom>
          <a:noFill/>
        </p:spPr>
        <p:txBody>
          <a:bodyPr wrap="square" rtlCol="0">
            <a:spAutoFit/>
          </a:bodyPr>
          <a:lstStyle/>
          <a:p>
            <a:pPr marL="742950" lvl="1" indent="-285750">
              <a:spcBef>
                <a:spcPts val="600"/>
              </a:spcBef>
              <a:buFont typeface="Arial" panose="020B0604020202020204" pitchFamily="34" charset="0"/>
              <a:buChar char="•"/>
            </a:pPr>
            <a:r>
              <a:rPr lang="en-US" altLang="zh-CN" sz="2600" b="1" dirty="0">
                <a:solidFill>
                  <a:srgbClr val="000000"/>
                </a:solidFill>
              </a:rPr>
              <a:t>First, there are currently no available time series analytic methodologies capable of discovering dynamic and heterogeneous impact links.</a:t>
            </a:r>
          </a:p>
          <a:p>
            <a:pPr marL="742950" lvl="1" indent="-285750">
              <a:spcBef>
                <a:spcPts val="600"/>
              </a:spcBef>
              <a:buFont typeface="Arial" panose="020B0604020202020204" pitchFamily="34" charset="0"/>
              <a:buChar char="•"/>
            </a:pPr>
            <a:endParaRPr lang="en-US" altLang="zh-CN" sz="2600" b="1" dirty="0">
              <a:solidFill>
                <a:srgbClr val="000000"/>
              </a:solidFill>
            </a:endParaRPr>
          </a:p>
          <a:p>
            <a:pPr marL="742950" lvl="1" indent="-285750">
              <a:spcBef>
                <a:spcPts val="600"/>
              </a:spcBef>
              <a:buFont typeface="Arial" panose="020B0604020202020204" pitchFamily="34" charset="0"/>
              <a:buChar char="•"/>
            </a:pPr>
            <a:r>
              <a:rPr lang="en-US" altLang="zh-CN" sz="2600" b="1" dirty="0">
                <a:solidFill>
                  <a:srgbClr val="000000"/>
                </a:solidFill>
              </a:rPr>
              <a:t>Secondly, operators need interpretable representations untangling the underlying complicated fault dynamics.</a:t>
            </a:r>
          </a:p>
          <a:p>
            <a:pPr marL="742950" lvl="1" indent="-285750">
              <a:spcBef>
                <a:spcPts val="600"/>
              </a:spcBef>
              <a:buFont typeface="Arial" panose="020B0604020202020204" pitchFamily="34" charset="0"/>
              <a:buChar char="•"/>
            </a:pPr>
            <a:endParaRPr lang="en-US" altLang="zh-CN" sz="2600" b="1" dirty="0">
              <a:solidFill>
                <a:srgbClr val="000000"/>
              </a:solidFill>
            </a:endParaRPr>
          </a:p>
          <a:p>
            <a:pPr marL="742950" lvl="1" indent="-285750">
              <a:spcBef>
                <a:spcPts val="600"/>
              </a:spcBef>
              <a:buFont typeface="Arial" panose="020B0604020202020204" pitchFamily="34" charset="0"/>
              <a:buChar char="•"/>
            </a:pPr>
            <a:r>
              <a:rPr lang="en-US" altLang="zh-CN" sz="2600" b="1" dirty="0">
                <a:solidFill>
                  <a:srgbClr val="000000"/>
                </a:solidFill>
              </a:rPr>
              <a:t>Last but not least, the diagnosis framework should be efficient in terms of speed and scale well on potentially large-scale inputs.</a:t>
            </a:r>
          </a:p>
        </p:txBody>
      </p:sp>
    </p:spTree>
    <p:extLst>
      <p:ext uri="{BB962C8B-B14F-4D97-AF65-F5344CB8AC3E}">
        <p14:creationId xmlns:p14="http://schemas.microsoft.com/office/powerpoint/2010/main" val="32401372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9C6DA461-C54E-62AD-6B18-F786A3FB98C7}"/>
              </a:ext>
            </a:extLst>
          </p:cNvPr>
          <p:cNvPicPr>
            <a:picLocks noChangeAspect="1"/>
          </p:cNvPicPr>
          <p:nvPr/>
        </p:nvPicPr>
        <p:blipFill>
          <a:blip r:embed="rId3"/>
          <a:stretch>
            <a:fillRect/>
          </a:stretch>
        </p:blipFill>
        <p:spPr>
          <a:xfrm>
            <a:off x="2224396" y="2954246"/>
            <a:ext cx="7992590" cy="3762900"/>
          </a:xfrm>
          <a:prstGeom prst="rect">
            <a:avLst/>
          </a:prstGeom>
        </p:spPr>
      </p:pic>
      <p:sp>
        <p:nvSpPr>
          <p:cNvPr id="4" name="文本框 3">
            <a:extLst>
              <a:ext uri="{FF2B5EF4-FFF2-40B4-BE49-F238E27FC236}">
                <a16:creationId xmlns:a16="http://schemas.microsoft.com/office/drawing/2014/main" id="{1081C8D6-BF06-BCB6-6B60-DF551B3CF340}"/>
              </a:ext>
            </a:extLst>
          </p:cNvPr>
          <p:cNvSpPr txBox="1"/>
          <p:nvPr/>
        </p:nvSpPr>
        <p:spPr>
          <a:xfrm>
            <a:off x="350981" y="203200"/>
            <a:ext cx="8379133" cy="769441"/>
          </a:xfrm>
          <a:prstGeom prst="rect">
            <a:avLst/>
          </a:prstGeom>
          <a:noFill/>
        </p:spPr>
        <p:txBody>
          <a:bodyPr wrap="square" rtlCol="0">
            <a:spAutoFit/>
          </a:bodyPr>
          <a:lstStyle/>
          <a:p>
            <a:r>
              <a:rPr lang="en-US" altLang="zh-CN" sz="4400" dirty="0"/>
              <a:t>3.1 </a:t>
            </a:r>
            <a:r>
              <a:rPr lang="en-US" altLang="zh-CN" sz="4400" dirty="0" err="1"/>
              <a:t>FaultInsight</a:t>
            </a:r>
            <a:r>
              <a:rPr lang="en-US" altLang="zh-CN" sz="4400" dirty="0"/>
              <a:t> Overview </a:t>
            </a:r>
            <a:endParaRPr lang="zh-CN" altLang="en-US" sz="4400" dirty="0"/>
          </a:p>
        </p:txBody>
      </p:sp>
      <p:sp>
        <p:nvSpPr>
          <p:cNvPr id="5" name="文本框 4">
            <a:extLst>
              <a:ext uri="{FF2B5EF4-FFF2-40B4-BE49-F238E27FC236}">
                <a16:creationId xmlns:a16="http://schemas.microsoft.com/office/drawing/2014/main" id="{3268FEFB-03C7-F3AD-054E-C75FAF6B2AB8}"/>
              </a:ext>
            </a:extLst>
          </p:cNvPr>
          <p:cNvSpPr txBox="1"/>
          <p:nvPr/>
        </p:nvSpPr>
        <p:spPr>
          <a:xfrm>
            <a:off x="92466" y="1223624"/>
            <a:ext cx="11301573" cy="1938992"/>
          </a:xfrm>
          <a:prstGeom prst="rect">
            <a:avLst/>
          </a:prstGeom>
          <a:noFill/>
        </p:spPr>
        <p:txBody>
          <a:bodyPr wrap="square" rtlCol="0">
            <a:spAutoFit/>
          </a:bodyPr>
          <a:lstStyle/>
          <a:p>
            <a:pPr marL="742950" lvl="1" indent="-285750" algn="l">
              <a:buFont typeface="Arial" panose="020B0604020202020204" pitchFamily="34" charset="0"/>
              <a:buChar char="•"/>
            </a:pPr>
            <a:r>
              <a:rPr lang="en-US" altLang="zh-CN" sz="2400" b="1" i="0" dirty="0">
                <a:solidFill>
                  <a:srgbClr val="000000"/>
                </a:solidFill>
                <a:effectLst/>
              </a:rPr>
              <a:t>In the discovery stage, we obtain a dynamic causal representation of fault dynamics. Next, in the analysis and the final interpretation stages, we analyze the dynamic influence of metrics throughout the fault lifecycle and transform the analytical results into intuitive representations of fault insights.</a:t>
            </a:r>
            <a:endParaRPr lang="en-US" altLang="zh-CN" sz="2400" i="0" dirty="0">
              <a:solidFill>
                <a:srgbClr val="000000"/>
              </a:solidFill>
              <a:effectLst/>
            </a:endParaRPr>
          </a:p>
        </p:txBody>
      </p:sp>
    </p:spTree>
    <p:extLst>
      <p:ext uri="{BB962C8B-B14F-4D97-AF65-F5344CB8AC3E}">
        <p14:creationId xmlns:p14="http://schemas.microsoft.com/office/powerpoint/2010/main" val="42047344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1081C8D6-BF06-BCB6-6B60-DF551B3CF340}"/>
              </a:ext>
            </a:extLst>
          </p:cNvPr>
          <p:cNvSpPr txBox="1"/>
          <p:nvPr/>
        </p:nvSpPr>
        <p:spPr>
          <a:xfrm>
            <a:off x="350981" y="203200"/>
            <a:ext cx="11423203" cy="769441"/>
          </a:xfrm>
          <a:prstGeom prst="rect">
            <a:avLst/>
          </a:prstGeom>
          <a:noFill/>
        </p:spPr>
        <p:txBody>
          <a:bodyPr wrap="square" rtlCol="0">
            <a:spAutoFit/>
          </a:bodyPr>
          <a:lstStyle/>
          <a:p>
            <a:r>
              <a:rPr lang="en-US" altLang="zh-CN" sz="4400" dirty="0"/>
              <a:t>3.2 Fault Dynamics Discovery</a:t>
            </a:r>
            <a:endParaRPr lang="zh-CN" altLang="en-US" sz="4400" dirty="0"/>
          </a:p>
        </p:txBody>
      </p:sp>
      <p:sp>
        <p:nvSpPr>
          <p:cNvPr id="18" name="文本框 17">
            <a:extLst>
              <a:ext uri="{FF2B5EF4-FFF2-40B4-BE49-F238E27FC236}">
                <a16:creationId xmlns:a16="http://schemas.microsoft.com/office/drawing/2014/main" id="{A9096387-E5C9-080E-8216-68A82481810D}"/>
              </a:ext>
            </a:extLst>
          </p:cNvPr>
          <p:cNvSpPr txBox="1"/>
          <p:nvPr/>
        </p:nvSpPr>
        <p:spPr>
          <a:xfrm>
            <a:off x="66138" y="1269813"/>
            <a:ext cx="12125862" cy="4247317"/>
          </a:xfrm>
          <a:prstGeom prst="rect">
            <a:avLst/>
          </a:prstGeom>
          <a:noFill/>
        </p:spPr>
        <p:txBody>
          <a:bodyPr wrap="square" rtlCol="0">
            <a:spAutoFit/>
          </a:bodyPr>
          <a:lstStyle/>
          <a:p>
            <a:pPr marL="742950" lvl="1" indent="-285750">
              <a:spcAft>
                <a:spcPts val="1200"/>
              </a:spcAft>
              <a:buFont typeface="Arial" panose="020B0604020202020204" pitchFamily="34" charset="0"/>
              <a:buChar char="•"/>
            </a:pPr>
            <a:r>
              <a:rPr lang="en-US" altLang="zh-CN" sz="2600" b="1" dirty="0"/>
              <a:t>We integrate a semantics-disentangling TCN autoencoder with latent vector autoregressive predictors to tackle data heterogeneity. We also design a dynamic causal discovery to extract dynamic causal relationships.</a:t>
            </a:r>
            <a:endParaRPr lang="en-US" altLang="zh-CN" sz="2600" dirty="0"/>
          </a:p>
          <a:p>
            <a:pPr marL="742950" lvl="1" indent="-285750">
              <a:buFont typeface="Arial" panose="020B0604020202020204" pitchFamily="34" charset="0"/>
              <a:buChar char="•"/>
            </a:pPr>
            <a:r>
              <a:rPr lang="en-US" altLang="zh-CN" sz="2600" b="1" i="0" dirty="0">
                <a:solidFill>
                  <a:srgbClr val="000000"/>
                </a:solidFill>
                <a:effectLst/>
              </a:rPr>
              <a:t>Semantics-disentangling TCN Autoencoder:</a:t>
            </a:r>
            <a:r>
              <a:rPr lang="en-US" altLang="zh-CN" sz="2600" i="0" dirty="0">
                <a:solidFill>
                  <a:srgbClr val="000000"/>
                </a:solidFill>
                <a:effectLst/>
              </a:rPr>
              <a:t> The semantics disentangling TCN autoencoder is composed of a pair of univariate TCN encoder g∗ and decoder f∗. </a:t>
            </a:r>
            <a:r>
              <a:rPr lang="en-US" altLang="zh-CN" sz="2600" dirty="0">
                <a:solidFill>
                  <a:srgbClr val="000000"/>
                </a:solidFill>
              </a:rPr>
              <a:t>T</a:t>
            </a:r>
            <a:r>
              <a:rPr lang="en-US" altLang="zh-CN" sz="2600" i="0" dirty="0">
                <a:solidFill>
                  <a:srgbClr val="000000"/>
                </a:solidFill>
                <a:effectLst/>
              </a:rPr>
              <a:t>he reconstruction task can be formulated as follows:</a:t>
            </a:r>
          </a:p>
          <a:p>
            <a:pPr marL="742950" lvl="1" indent="-285750">
              <a:buFont typeface="Arial" panose="020B0604020202020204" pitchFamily="34" charset="0"/>
              <a:buChar char="•"/>
            </a:pPr>
            <a:endParaRPr lang="en-US" altLang="zh-CN" sz="2600" dirty="0">
              <a:solidFill>
                <a:srgbClr val="000000"/>
              </a:solidFill>
            </a:endParaRPr>
          </a:p>
          <a:p>
            <a:pPr marL="742950" lvl="1" indent="-285750">
              <a:buFont typeface="Arial" panose="020B0604020202020204" pitchFamily="34" charset="0"/>
              <a:buChar char="•"/>
            </a:pPr>
            <a:endParaRPr lang="en-US" altLang="zh-CN" sz="2600" i="0" dirty="0">
              <a:solidFill>
                <a:srgbClr val="000000"/>
              </a:solidFill>
              <a:effectLst/>
            </a:endParaRPr>
          </a:p>
          <a:p>
            <a:pPr marL="742950" lvl="1" indent="-285750">
              <a:buFont typeface="Arial" panose="020B0604020202020204" pitchFamily="34" charset="0"/>
              <a:buChar char="•"/>
            </a:pPr>
            <a:endParaRPr lang="en-US" altLang="zh-CN" sz="2600" dirty="0">
              <a:solidFill>
                <a:srgbClr val="000000"/>
              </a:solidFill>
            </a:endParaRPr>
          </a:p>
          <a:p>
            <a:pPr marL="742950" lvl="1" indent="-285750">
              <a:buFont typeface="Arial" panose="020B0604020202020204" pitchFamily="34" charset="0"/>
              <a:buChar char="•"/>
            </a:pPr>
            <a:r>
              <a:rPr lang="en-US" altLang="zh-CN" sz="2600" b="1" i="0" dirty="0">
                <a:solidFill>
                  <a:srgbClr val="000000"/>
                </a:solidFill>
                <a:effectLst/>
              </a:rPr>
              <a:t>The mean square error (MSE) loss </a:t>
            </a:r>
            <a:r>
              <a:rPr lang="en-US" altLang="zh-CN" sz="2600" b="1" i="0" dirty="0" err="1">
                <a:solidFill>
                  <a:srgbClr val="000000"/>
                </a:solidFill>
                <a:effectLst/>
              </a:rPr>
              <a:t>lrecon</a:t>
            </a:r>
            <a:r>
              <a:rPr lang="en-US" altLang="zh-CN" sz="2600" b="1" i="0" dirty="0">
                <a:solidFill>
                  <a:srgbClr val="000000"/>
                </a:solidFill>
                <a:effectLst/>
              </a:rPr>
              <a:t> of the reconstruction is:</a:t>
            </a:r>
          </a:p>
        </p:txBody>
      </p:sp>
      <p:pic>
        <p:nvPicPr>
          <p:cNvPr id="5" name="图片 4">
            <a:extLst>
              <a:ext uri="{FF2B5EF4-FFF2-40B4-BE49-F238E27FC236}">
                <a16:creationId xmlns:a16="http://schemas.microsoft.com/office/drawing/2014/main" id="{D2F64ACA-BFF9-1F7A-D09C-20E6721AA492}"/>
              </a:ext>
            </a:extLst>
          </p:cNvPr>
          <p:cNvPicPr>
            <a:picLocks noChangeAspect="1"/>
          </p:cNvPicPr>
          <p:nvPr/>
        </p:nvPicPr>
        <p:blipFill>
          <a:blip r:embed="rId3"/>
          <a:stretch>
            <a:fillRect/>
          </a:stretch>
        </p:blipFill>
        <p:spPr>
          <a:xfrm>
            <a:off x="4868421" y="3917428"/>
            <a:ext cx="2455158" cy="1111770"/>
          </a:xfrm>
          <a:prstGeom prst="rect">
            <a:avLst/>
          </a:prstGeom>
        </p:spPr>
      </p:pic>
      <p:pic>
        <p:nvPicPr>
          <p:cNvPr id="7" name="图片 6">
            <a:extLst>
              <a:ext uri="{FF2B5EF4-FFF2-40B4-BE49-F238E27FC236}">
                <a16:creationId xmlns:a16="http://schemas.microsoft.com/office/drawing/2014/main" id="{5377F807-F106-562D-4B9A-3357A62611F0}"/>
              </a:ext>
            </a:extLst>
          </p:cNvPr>
          <p:cNvPicPr>
            <a:picLocks noChangeAspect="1"/>
          </p:cNvPicPr>
          <p:nvPr/>
        </p:nvPicPr>
        <p:blipFill>
          <a:blip r:embed="rId4"/>
          <a:stretch>
            <a:fillRect/>
          </a:stretch>
        </p:blipFill>
        <p:spPr>
          <a:xfrm>
            <a:off x="4219524" y="5517130"/>
            <a:ext cx="3752952" cy="1068952"/>
          </a:xfrm>
          <a:prstGeom prst="rect">
            <a:avLst/>
          </a:prstGeom>
        </p:spPr>
      </p:pic>
    </p:spTree>
    <p:extLst>
      <p:ext uri="{BB962C8B-B14F-4D97-AF65-F5344CB8AC3E}">
        <p14:creationId xmlns:p14="http://schemas.microsoft.com/office/powerpoint/2010/main" val="13465004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1081C8D6-BF06-BCB6-6B60-DF551B3CF340}"/>
              </a:ext>
            </a:extLst>
          </p:cNvPr>
          <p:cNvSpPr txBox="1"/>
          <p:nvPr/>
        </p:nvSpPr>
        <p:spPr>
          <a:xfrm>
            <a:off x="350981" y="203200"/>
            <a:ext cx="10118385" cy="769441"/>
          </a:xfrm>
          <a:prstGeom prst="rect">
            <a:avLst/>
          </a:prstGeom>
          <a:noFill/>
        </p:spPr>
        <p:txBody>
          <a:bodyPr wrap="square" rtlCol="0">
            <a:spAutoFit/>
          </a:bodyPr>
          <a:lstStyle/>
          <a:p>
            <a:r>
              <a:rPr lang="en-US" altLang="zh-CN" sz="4400" dirty="0"/>
              <a:t>3.2 Fault Dynamics Discovery</a:t>
            </a:r>
            <a:endParaRPr lang="zh-CN" altLang="en-US" sz="4400" dirty="0"/>
          </a:p>
        </p:txBody>
      </p:sp>
      <p:sp>
        <p:nvSpPr>
          <p:cNvPr id="18" name="文本框 17">
            <a:extLst>
              <a:ext uri="{FF2B5EF4-FFF2-40B4-BE49-F238E27FC236}">
                <a16:creationId xmlns:a16="http://schemas.microsoft.com/office/drawing/2014/main" id="{A9096387-E5C9-080E-8216-68A82481810D}"/>
              </a:ext>
            </a:extLst>
          </p:cNvPr>
          <p:cNvSpPr txBox="1"/>
          <p:nvPr/>
        </p:nvSpPr>
        <p:spPr>
          <a:xfrm>
            <a:off x="436002" y="1414702"/>
            <a:ext cx="11009404" cy="4001095"/>
          </a:xfrm>
          <a:prstGeom prst="rect">
            <a:avLst/>
          </a:prstGeom>
          <a:noFill/>
        </p:spPr>
        <p:txBody>
          <a:bodyPr wrap="square" rtlCol="0">
            <a:spAutoFit/>
          </a:bodyPr>
          <a:lstStyle/>
          <a:p>
            <a:pPr marL="742950" lvl="1" indent="-285750">
              <a:spcAft>
                <a:spcPts val="400"/>
              </a:spcAft>
              <a:buFont typeface="Arial" panose="020B0604020202020204" pitchFamily="34" charset="0"/>
              <a:buChar char="•"/>
            </a:pPr>
            <a:r>
              <a:rPr lang="en-US" altLang="zh-CN" sz="2600" b="1" i="0" dirty="0">
                <a:solidFill>
                  <a:srgbClr val="000000"/>
                </a:solidFill>
                <a:effectLst/>
              </a:rPr>
              <a:t>Latent Vector Autoregressive Predictor: </a:t>
            </a:r>
            <a:r>
              <a:rPr lang="en-US" altLang="zh-CN" sz="2600" i="0" dirty="0">
                <a:solidFill>
                  <a:srgbClr val="000000"/>
                </a:solidFill>
                <a:effectLst/>
              </a:rPr>
              <a:t>forecasts the future value of a metric based on past values of all metrics in the latent space.</a:t>
            </a:r>
          </a:p>
          <a:p>
            <a:pPr marL="742950" lvl="1" indent="-285750">
              <a:spcAft>
                <a:spcPts val="400"/>
              </a:spcAft>
              <a:buFont typeface="Arial" panose="020B0604020202020204" pitchFamily="34" charset="0"/>
              <a:buChar char="•"/>
            </a:pPr>
            <a:r>
              <a:rPr lang="en-US" altLang="zh-CN" sz="2600" b="1" i="0" dirty="0">
                <a:solidFill>
                  <a:srgbClr val="000000"/>
                </a:solidFill>
                <a:effectLst/>
              </a:rPr>
              <a:t>The latent vector autoregressive predictor is integrated into the TCN autoencoder.</a:t>
            </a:r>
          </a:p>
          <a:p>
            <a:pPr marL="742950" lvl="1" indent="-285750">
              <a:spcAft>
                <a:spcPts val="400"/>
              </a:spcAft>
              <a:buFont typeface="Arial" panose="020B0604020202020204" pitchFamily="34" charset="0"/>
              <a:buChar char="•"/>
            </a:pPr>
            <a:endParaRPr lang="en-US" altLang="zh-CN" sz="2600" b="1" dirty="0">
              <a:solidFill>
                <a:srgbClr val="000000"/>
              </a:solidFill>
            </a:endParaRPr>
          </a:p>
          <a:p>
            <a:pPr marL="742950" lvl="1" indent="-285750">
              <a:spcAft>
                <a:spcPts val="400"/>
              </a:spcAft>
              <a:buFont typeface="Arial" panose="020B0604020202020204" pitchFamily="34" charset="0"/>
              <a:buChar char="•"/>
            </a:pPr>
            <a:endParaRPr lang="en-US" altLang="zh-CN" sz="2600" b="1" i="0" dirty="0">
              <a:solidFill>
                <a:srgbClr val="000000"/>
              </a:solidFill>
              <a:effectLst/>
            </a:endParaRPr>
          </a:p>
          <a:p>
            <a:pPr marL="742950" lvl="1" indent="-285750">
              <a:spcAft>
                <a:spcPts val="400"/>
              </a:spcAft>
              <a:buFont typeface="Arial" panose="020B0604020202020204" pitchFamily="34" charset="0"/>
              <a:buChar char="•"/>
            </a:pPr>
            <a:endParaRPr lang="en-US" altLang="zh-CN" sz="2600" b="1" dirty="0">
              <a:solidFill>
                <a:srgbClr val="000000"/>
              </a:solidFill>
            </a:endParaRPr>
          </a:p>
          <a:p>
            <a:pPr marL="742950" lvl="1" indent="-285750">
              <a:spcAft>
                <a:spcPts val="400"/>
              </a:spcAft>
              <a:buFont typeface="Arial" panose="020B0604020202020204" pitchFamily="34" charset="0"/>
              <a:buChar char="•"/>
            </a:pPr>
            <a:endParaRPr lang="en-US" altLang="zh-CN" sz="2600" b="1" i="0" dirty="0">
              <a:solidFill>
                <a:srgbClr val="000000"/>
              </a:solidFill>
              <a:effectLst/>
            </a:endParaRPr>
          </a:p>
          <a:p>
            <a:pPr marL="742950" lvl="1" indent="-285750">
              <a:spcAft>
                <a:spcPts val="400"/>
              </a:spcAft>
              <a:buFont typeface="Arial" panose="020B0604020202020204" pitchFamily="34" charset="0"/>
              <a:buChar char="•"/>
            </a:pPr>
            <a:r>
              <a:rPr lang="en-US" altLang="zh-CN" sz="2600" b="1" i="0" dirty="0">
                <a:solidFill>
                  <a:srgbClr val="000000"/>
                </a:solidFill>
                <a:effectLst/>
              </a:rPr>
              <a:t>The MSE loss </a:t>
            </a:r>
            <a:r>
              <a:rPr lang="en-US" altLang="zh-CN" sz="2600" b="1" i="0" dirty="0" err="1">
                <a:solidFill>
                  <a:srgbClr val="000000"/>
                </a:solidFill>
                <a:effectLst/>
              </a:rPr>
              <a:t>lpred</a:t>
            </a:r>
            <a:r>
              <a:rPr lang="en-US" altLang="zh-CN" sz="2600" b="1" i="0" dirty="0">
                <a:solidFill>
                  <a:srgbClr val="000000"/>
                </a:solidFill>
                <a:effectLst/>
              </a:rPr>
              <a:t> of the prediction is</a:t>
            </a:r>
            <a:r>
              <a:rPr lang="zh-CN" altLang="en-US" sz="2600" b="1" i="0" dirty="0">
                <a:solidFill>
                  <a:srgbClr val="000000"/>
                </a:solidFill>
                <a:effectLst/>
              </a:rPr>
              <a:t>：</a:t>
            </a:r>
            <a:endParaRPr lang="en-US" altLang="zh-CN" sz="2600" b="1" i="0" dirty="0">
              <a:solidFill>
                <a:srgbClr val="000000"/>
              </a:solidFill>
              <a:effectLst/>
            </a:endParaRPr>
          </a:p>
        </p:txBody>
      </p:sp>
      <p:pic>
        <p:nvPicPr>
          <p:cNvPr id="3" name="图片 2">
            <a:extLst>
              <a:ext uri="{FF2B5EF4-FFF2-40B4-BE49-F238E27FC236}">
                <a16:creationId xmlns:a16="http://schemas.microsoft.com/office/drawing/2014/main" id="{2F5EF6EB-65E8-0976-E5D1-5E6AA772E3A0}"/>
              </a:ext>
            </a:extLst>
          </p:cNvPr>
          <p:cNvPicPr>
            <a:picLocks noChangeAspect="1"/>
          </p:cNvPicPr>
          <p:nvPr/>
        </p:nvPicPr>
        <p:blipFill>
          <a:blip r:embed="rId3"/>
          <a:stretch>
            <a:fillRect/>
          </a:stretch>
        </p:blipFill>
        <p:spPr>
          <a:xfrm>
            <a:off x="7924136" y="3107473"/>
            <a:ext cx="3305636" cy="3172268"/>
          </a:xfrm>
          <a:prstGeom prst="rect">
            <a:avLst/>
          </a:prstGeom>
        </p:spPr>
      </p:pic>
      <p:pic>
        <p:nvPicPr>
          <p:cNvPr id="7" name="图片 6">
            <a:extLst>
              <a:ext uri="{FF2B5EF4-FFF2-40B4-BE49-F238E27FC236}">
                <a16:creationId xmlns:a16="http://schemas.microsoft.com/office/drawing/2014/main" id="{AF27811A-84C9-E13A-ED03-945649170676}"/>
              </a:ext>
            </a:extLst>
          </p:cNvPr>
          <p:cNvPicPr>
            <a:picLocks noChangeAspect="1"/>
          </p:cNvPicPr>
          <p:nvPr/>
        </p:nvPicPr>
        <p:blipFill>
          <a:blip r:embed="rId4"/>
          <a:stretch>
            <a:fillRect/>
          </a:stretch>
        </p:blipFill>
        <p:spPr>
          <a:xfrm>
            <a:off x="2869847" y="3252377"/>
            <a:ext cx="3800434" cy="1452765"/>
          </a:xfrm>
          <a:prstGeom prst="rect">
            <a:avLst/>
          </a:prstGeom>
        </p:spPr>
      </p:pic>
      <p:pic>
        <p:nvPicPr>
          <p:cNvPr id="9" name="图片 8">
            <a:extLst>
              <a:ext uri="{FF2B5EF4-FFF2-40B4-BE49-F238E27FC236}">
                <a16:creationId xmlns:a16="http://schemas.microsoft.com/office/drawing/2014/main" id="{AA4117F7-6EDF-58A9-3358-CC6710DF5504}"/>
              </a:ext>
            </a:extLst>
          </p:cNvPr>
          <p:cNvPicPr>
            <a:picLocks noChangeAspect="1"/>
          </p:cNvPicPr>
          <p:nvPr/>
        </p:nvPicPr>
        <p:blipFill>
          <a:blip r:embed="rId5"/>
          <a:stretch>
            <a:fillRect/>
          </a:stretch>
        </p:blipFill>
        <p:spPr>
          <a:xfrm>
            <a:off x="2951202" y="5464080"/>
            <a:ext cx="3637724" cy="1104101"/>
          </a:xfrm>
          <a:prstGeom prst="rect">
            <a:avLst/>
          </a:prstGeom>
        </p:spPr>
      </p:pic>
    </p:spTree>
    <p:extLst>
      <p:ext uri="{BB962C8B-B14F-4D97-AF65-F5344CB8AC3E}">
        <p14:creationId xmlns:p14="http://schemas.microsoft.com/office/powerpoint/2010/main" val="32314642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1081C8D6-BF06-BCB6-6B60-DF551B3CF340}"/>
              </a:ext>
            </a:extLst>
          </p:cNvPr>
          <p:cNvSpPr txBox="1"/>
          <p:nvPr/>
        </p:nvSpPr>
        <p:spPr>
          <a:xfrm>
            <a:off x="350981" y="203200"/>
            <a:ext cx="10118385" cy="769441"/>
          </a:xfrm>
          <a:prstGeom prst="rect">
            <a:avLst/>
          </a:prstGeom>
          <a:noFill/>
        </p:spPr>
        <p:txBody>
          <a:bodyPr wrap="square" rtlCol="0">
            <a:spAutoFit/>
          </a:bodyPr>
          <a:lstStyle/>
          <a:p>
            <a:r>
              <a:rPr lang="en-US" altLang="zh-CN" sz="4400" dirty="0"/>
              <a:t>3.2 Fault Dynamics Discovery</a:t>
            </a:r>
            <a:endParaRPr lang="zh-CN" altLang="en-US" sz="4400" dirty="0"/>
          </a:p>
        </p:txBody>
      </p:sp>
      <p:sp>
        <p:nvSpPr>
          <p:cNvPr id="18" name="文本框 17">
            <a:extLst>
              <a:ext uri="{FF2B5EF4-FFF2-40B4-BE49-F238E27FC236}">
                <a16:creationId xmlns:a16="http://schemas.microsoft.com/office/drawing/2014/main" id="{A9096387-E5C9-080E-8216-68A82481810D}"/>
              </a:ext>
            </a:extLst>
          </p:cNvPr>
          <p:cNvSpPr txBox="1"/>
          <p:nvPr/>
        </p:nvSpPr>
        <p:spPr>
          <a:xfrm>
            <a:off x="436002" y="1757602"/>
            <a:ext cx="11009404" cy="3693319"/>
          </a:xfrm>
          <a:prstGeom prst="rect">
            <a:avLst/>
          </a:prstGeom>
          <a:noFill/>
        </p:spPr>
        <p:txBody>
          <a:bodyPr wrap="square" rtlCol="0">
            <a:spAutoFit/>
          </a:bodyPr>
          <a:lstStyle/>
          <a:p>
            <a:pPr marL="742950" lvl="1" indent="-285750">
              <a:buFont typeface="Arial" panose="020B0604020202020204" pitchFamily="34" charset="0"/>
              <a:buChar char="•"/>
            </a:pPr>
            <a:r>
              <a:rPr lang="en-US" altLang="zh-CN" sz="2600" b="1" i="0" dirty="0">
                <a:solidFill>
                  <a:srgbClr val="000000"/>
                </a:solidFill>
                <a:effectLst/>
              </a:rPr>
              <a:t>Structured Sparsity Regularization: </a:t>
            </a:r>
            <a:r>
              <a:rPr lang="en-US" altLang="zh-CN" sz="2600" i="0" dirty="0">
                <a:solidFill>
                  <a:srgbClr val="000000"/>
                </a:solidFill>
                <a:effectLst/>
              </a:rPr>
              <a:t>we adopt spatial dropout for the TCN autoencoder g∗, f∗ and L1 regularization on learnable parameters of the latent predictor p and the output layer o.</a:t>
            </a:r>
          </a:p>
          <a:p>
            <a:pPr marL="742950" lvl="1" indent="-285750">
              <a:buFont typeface="Arial" panose="020B0604020202020204" pitchFamily="34" charset="0"/>
              <a:buChar char="•"/>
            </a:pPr>
            <a:endParaRPr lang="en-US" altLang="zh-CN" sz="2600" dirty="0">
              <a:solidFill>
                <a:srgbClr val="000000"/>
              </a:solidFill>
            </a:endParaRPr>
          </a:p>
          <a:p>
            <a:pPr marL="742950" lvl="1" indent="-285750">
              <a:buFont typeface="Arial" panose="020B0604020202020204" pitchFamily="34" charset="0"/>
              <a:buChar char="•"/>
            </a:pPr>
            <a:endParaRPr lang="en-US" altLang="zh-CN" sz="2600" i="0" dirty="0">
              <a:solidFill>
                <a:srgbClr val="000000"/>
              </a:solidFill>
              <a:effectLst/>
            </a:endParaRPr>
          </a:p>
          <a:p>
            <a:pPr marL="742950" lvl="1" indent="-285750">
              <a:buFont typeface="Arial" panose="020B0604020202020204" pitchFamily="34" charset="0"/>
              <a:buChar char="•"/>
            </a:pPr>
            <a:r>
              <a:rPr lang="en-US" altLang="zh-CN" sz="2600" b="1" i="0" dirty="0">
                <a:solidFill>
                  <a:srgbClr val="000000"/>
                </a:solidFill>
                <a:effectLst/>
              </a:rPr>
              <a:t>Dynamic Causality Extraction by Chronological Perturbation</a:t>
            </a:r>
            <a:r>
              <a:rPr lang="zh-CN" altLang="en-US" sz="2600" b="1" i="0" dirty="0">
                <a:solidFill>
                  <a:srgbClr val="000000"/>
                </a:solidFill>
                <a:effectLst/>
              </a:rPr>
              <a:t>：</a:t>
            </a:r>
            <a:r>
              <a:rPr lang="en-US" altLang="zh-CN" sz="2600" i="0" dirty="0">
                <a:solidFill>
                  <a:srgbClr val="000000"/>
                </a:solidFill>
                <a:effectLst/>
              </a:rPr>
              <a:t>The gain of prediction error at timestep t of metric </a:t>
            </a:r>
            <a:r>
              <a:rPr lang="en-US" altLang="zh-CN" sz="2600" i="0" dirty="0" err="1">
                <a:solidFill>
                  <a:srgbClr val="000000"/>
                </a:solidFill>
                <a:effectLst/>
              </a:rPr>
              <a:t>i</a:t>
            </a:r>
            <a:r>
              <a:rPr lang="en-US" altLang="zh-CN" sz="2600" i="0" dirty="0">
                <a:solidFill>
                  <a:srgbClr val="000000"/>
                </a:solidFill>
                <a:effectLst/>
              </a:rPr>
              <a:t> when metric j is perturbed can be interpreted as the strength of the causal effect from </a:t>
            </a:r>
            <a:r>
              <a:rPr lang="en-US" altLang="zh-CN" sz="2600" i="0" dirty="0" err="1">
                <a:solidFill>
                  <a:srgbClr val="000000"/>
                </a:solidFill>
                <a:effectLst/>
              </a:rPr>
              <a:t>i</a:t>
            </a:r>
            <a:r>
              <a:rPr lang="en-US" altLang="zh-CN" sz="2600" i="0" dirty="0">
                <a:solidFill>
                  <a:srgbClr val="000000"/>
                </a:solidFill>
                <a:effectLst/>
              </a:rPr>
              <a:t> to j at t.</a:t>
            </a:r>
          </a:p>
        </p:txBody>
      </p:sp>
    </p:spTree>
    <p:extLst>
      <p:ext uri="{BB962C8B-B14F-4D97-AF65-F5344CB8AC3E}">
        <p14:creationId xmlns:p14="http://schemas.microsoft.com/office/powerpoint/2010/main" val="40118477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1081C8D6-BF06-BCB6-6B60-DF551B3CF340}"/>
              </a:ext>
            </a:extLst>
          </p:cNvPr>
          <p:cNvSpPr txBox="1"/>
          <p:nvPr/>
        </p:nvSpPr>
        <p:spPr>
          <a:xfrm>
            <a:off x="350981" y="203200"/>
            <a:ext cx="10118385" cy="769441"/>
          </a:xfrm>
          <a:prstGeom prst="rect">
            <a:avLst/>
          </a:prstGeom>
          <a:noFill/>
        </p:spPr>
        <p:txBody>
          <a:bodyPr wrap="square" rtlCol="0">
            <a:spAutoFit/>
          </a:bodyPr>
          <a:lstStyle/>
          <a:p>
            <a:r>
              <a:rPr lang="en-US" altLang="zh-CN" sz="4400" dirty="0"/>
              <a:t>3.2 Fault Dynamics Discovery</a:t>
            </a:r>
            <a:endParaRPr lang="zh-CN" altLang="en-US" sz="4400" dirty="0"/>
          </a:p>
        </p:txBody>
      </p:sp>
      <p:sp>
        <p:nvSpPr>
          <p:cNvPr id="18" name="文本框 17">
            <a:extLst>
              <a:ext uri="{FF2B5EF4-FFF2-40B4-BE49-F238E27FC236}">
                <a16:creationId xmlns:a16="http://schemas.microsoft.com/office/drawing/2014/main" id="{A9096387-E5C9-080E-8216-68A82481810D}"/>
              </a:ext>
            </a:extLst>
          </p:cNvPr>
          <p:cNvSpPr txBox="1"/>
          <p:nvPr/>
        </p:nvSpPr>
        <p:spPr>
          <a:xfrm>
            <a:off x="259354" y="1238053"/>
            <a:ext cx="5330953" cy="4616648"/>
          </a:xfrm>
          <a:prstGeom prst="rect">
            <a:avLst/>
          </a:prstGeom>
          <a:noFill/>
        </p:spPr>
        <p:txBody>
          <a:bodyPr wrap="square" rtlCol="0">
            <a:spAutoFit/>
          </a:bodyPr>
          <a:lstStyle/>
          <a:p>
            <a:pPr marL="742950" lvl="1" indent="-285750">
              <a:buFont typeface="Arial" panose="020B0604020202020204" pitchFamily="34" charset="0"/>
              <a:buChar char="•"/>
            </a:pPr>
            <a:r>
              <a:rPr lang="en-US" altLang="zh-CN" sz="2600" b="1" i="0" dirty="0">
                <a:solidFill>
                  <a:srgbClr val="000000"/>
                </a:solidFill>
                <a:effectLst/>
              </a:rPr>
              <a:t>Fault Dynamics Discovery:</a:t>
            </a:r>
          </a:p>
          <a:p>
            <a:pPr marL="1200150" lvl="2" indent="-285750">
              <a:buFont typeface="Arial" panose="020B0604020202020204" pitchFamily="34" charset="0"/>
              <a:buChar char="•"/>
            </a:pPr>
            <a:r>
              <a:rPr lang="en-US" altLang="zh-CN" sz="2400" i="0" dirty="0">
                <a:solidFill>
                  <a:srgbClr val="000000"/>
                </a:solidFill>
                <a:effectLst/>
              </a:rPr>
              <a:t>We first train a dynamic causal discovery model. </a:t>
            </a:r>
          </a:p>
          <a:p>
            <a:pPr marL="1200150" lvl="2" indent="-285750">
              <a:buFont typeface="Arial" panose="020B0604020202020204" pitchFamily="34" charset="0"/>
              <a:buChar char="•"/>
            </a:pPr>
            <a:r>
              <a:rPr lang="en-US" altLang="zh-CN" sz="2400" i="0" dirty="0">
                <a:solidFill>
                  <a:srgbClr val="000000"/>
                </a:solidFill>
                <a:effectLst/>
              </a:rPr>
              <a:t>Next, we extract the dynamic causality graph with the trained model and input metrics. </a:t>
            </a:r>
          </a:p>
          <a:p>
            <a:pPr marL="1200150" lvl="2" indent="-285750">
              <a:buFont typeface="Arial" panose="020B0604020202020204" pitchFamily="34" charset="0"/>
              <a:buChar char="•"/>
            </a:pPr>
            <a:r>
              <a:rPr lang="en-US" altLang="zh-CN" sz="2400" i="0" dirty="0">
                <a:solidFill>
                  <a:srgbClr val="000000"/>
                </a:solidFill>
                <a:effectLst/>
              </a:rPr>
              <a:t>We repeat the extraction process for </a:t>
            </a:r>
            <a:r>
              <a:rPr lang="en-US" altLang="zh-CN" sz="2400" i="0" dirty="0" err="1">
                <a:solidFill>
                  <a:srgbClr val="000000"/>
                </a:solidFill>
                <a:effectLst/>
              </a:rPr>
              <a:t>npert</a:t>
            </a:r>
            <a:r>
              <a:rPr lang="en-US" altLang="zh-CN" sz="2400" i="0" dirty="0">
                <a:solidFill>
                  <a:srgbClr val="000000"/>
                </a:solidFill>
                <a:effectLst/>
              </a:rPr>
              <a:t> rounds in total and average the elements of fault dynamics D across all rounds</a:t>
            </a:r>
            <a:r>
              <a:rPr lang="en-US" altLang="zh-CN" sz="2600" i="0" dirty="0">
                <a:solidFill>
                  <a:srgbClr val="000000"/>
                </a:solidFill>
                <a:effectLst/>
              </a:rPr>
              <a:t>.</a:t>
            </a:r>
          </a:p>
        </p:txBody>
      </p:sp>
      <p:pic>
        <p:nvPicPr>
          <p:cNvPr id="3" name="图片 2">
            <a:extLst>
              <a:ext uri="{FF2B5EF4-FFF2-40B4-BE49-F238E27FC236}">
                <a16:creationId xmlns:a16="http://schemas.microsoft.com/office/drawing/2014/main" id="{3801DCBD-2331-BC4E-DB33-C46A0A83A691}"/>
              </a:ext>
            </a:extLst>
          </p:cNvPr>
          <p:cNvPicPr>
            <a:picLocks noChangeAspect="1"/>
          </p:cNvPicPr>
          <p:nvPr/>
        </p:nvPicPr>
        <p:blipFill>
          <a:blip r:embed="rId3"/>
          <a:stretch>
            <a:fillRect/>
          </a:stretch>
        </p:blipFill>
        <p:spPr>
          <a:xfrm>
            <a:off x="6096000" y="1276145"/>
            <a:ext cx="5668819" cy="5368263"/>
          </a:xfrm>
          <a:prstGeom prst="rect">
            <a:avLst/>
          </a:prstGeom>
        </p:spPr>
      </p:pic>
    </p:spTree>
    <p:extLst>
      <p:ext uri="{BB962C8B-B14F-4D97-AF65-F5344CB8AC3E}">
        <p14:creationId xmlns:p14="http://schemas.microsoft.com/office/powerpoint/2010/main" val="33603636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1081C8D6-BF06-BCB6-6B60-DF551B3CF340}"/>
              </a:ext>
            </a:extLst>
          </p:cNvPr>
          <p:cNvSpPr txBox="1"/>
          <p:nvPr/>
        </p:nvSpPr>
        <p:spPr>
          <a:xfrm>
            <a:off x="350981" y="203200"/>
            <a:ext cx="10118385" cy="769441"/>
          </a:xfrm>
          <a:prstGeom prst="rect">
            <a:avLst/>
          </a:prstGeom>
          <a:noFill/>
        </p:spPr>
        <p:txBody>
          <a:bodyPr wrap="square" rtlCol="0">
            <a:spAutoFit/>
          </a:bodyPr>
          <a:lstStyle/>
          <a:p>
            <a:r>
              <a:rPr lang="en-US" altLang="zh-CN" sz="4400" dirty="0"/>
              <a:t>3.3 Fault Dynamics Analysis</a:t>
            </a:r>
            <a:endParaRPr lang="zh-CN" altLang="en-US" sz="4400" dirty="0"/>
          </a:p>
        </p:txBody>
      </p:sp>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99899D24-6F78-2DC1-2D12-D64096A7EB8E}"/>
                  </a:ext>
                </a:extLst>
              </p:cNvPr>
              <p:cNvSpPr txBox="1"/>
              <p:nvPr/>
            </p:nvSpPr>
            <p:spPr>
              <a:xfrm>
                <a:off x="259354" y="1238053"/>
                <a:ext cx="10210012" cy="1771126"/>
              </a:xfrm>
              <a:prstGeom prst="rect">
                <a:avLst/>
              </a:prstGeom>
              <a:noFill/>
            </p:spPr>
            <p:txBody>
              <a:bodyPr wrap="square" rtlCol="0">
                <a:spAutoFit/>
              </a:bodyPr>
              <a:lstStyle/>
              <a:p>
                <a:pPr marL="742950" lvl="1" indent="-285750">
                  <a:spcAft>
                    <a:spcPts val="500"/>
                  </a:spcAft>
                  <a:buFont typeface="Arial" panose="020B0604020202020204" pitchFamily="34" charset="0"/>
                  <a:buChar char="•"/>
                </a:pPr>
                <a:r>
                  <a:rPr lang="en-US" altLang="zh-CN" sz="2600" b="1" i="0" dirty="0">
                    <a:solidFill>
                      <a:srgbClr val="000000"/>
                    </a:solidFill>
                    <a:effectLst/>
                  </a:rPr>
                  <a:t>Dynamic Influence Scores: we define two directions of metric influence: outward-propagated influence </a:t>
                </a:r>
                <a14:m>
                  <m:oMath xmlns:m="http://schemas.openxmlformats.org/officeDocument/2006/math">
                    <m:r>
                      <a:rPr lang="en-US" altLang="zh-CN" sz="2600" b="1" i="1" dirty="0" smtClean="0">
                        <a:solidFill>
                          <a:srgbClr val="000000"/>
                        </a:solidFill>
                        <a:effectLst/>
                        <a:latin typeface="Cambria Math" panose="02040503050406030204" pitchFamily="18" charset="0"/>
                      </a:rPr>
                      <m:t>𝑺</m:t>
                    </m:r>
                    <m:r>
                      <a:rPr lang="en-US" altLang="zh-CN" sz="2600" b="1" i="1" dirty="0" smtClean="0">
                        <a:solidFill>
                          <a:srgbClr val="000000"/>
                        </a:solidFill>
                        <a:effectLst/>
                        <a:latin typeface="Cambria Math" panose="02040503050406030204" pitchFamily="18" charset="0"/>
                      </a:rPr>
                      <m:t>∈</m:t>
                    </m:r>
                    <m:sSup>
                      <m:sSupPr>
                        <m:ctrlPr>
                          <a:rPr lang="en-US" altLang="zh-CN" sz="2600" b="1" i="1" dirty="0" smtClean="0">
                            <a:solidFill>
                              <a:srgbClr val="000000"/>
                            </a:solidFill>
                            <a:effectLst/>
                            <a:latin typeface="Cambria Math" panose="02040503050406030204" pitchFamily="18" charset="0"/>
                          </a:rPr>
                        </m:ctrlPr>
                      </m:sSupPr>
                      <m:e>
                        <m:r>
                          <a:rPr lang="en-US" altLang="zh-CN" sz="2600" b="1" i="1" dirty="0" smtClean="0">
                            <a:solidFill>
                              <a:srgbClr val="000000"/>
                            </a:solidFill>
                            <a:effectLst/>
                            <a:latin typeface="Cambria Math" panose="02040503050406030204" pitchFamily="18" charset="0"/>
                          </a:rPr>
                          <m:t>𝑹</m:t>
                        </m:r>
                      </m:e>
                      <m:sup>
                        <m:r>
                          <a:rPr lang="en-US" altLang="zh-CN" sz="2600" b="1" i="1" dirty="0" smtClean="0">
                            <a:solidFill>
                              <a:srgbClr val="000000"/>
                            </a:solidFill>
                            <a:effectLst/>
                            <a:latin typeface="Cambria Math" panose="02040503050406030204" pitchFamily="18" charset="0"/>
                          </a:rPr>
                          <m:t>𝑵</m:t>
                        </m:r>
                        <m:r>
                          <a:rPr lang="en-US" altLang="zh-CN" sz="2600" b="1" i="1" dirty="0" smtClean="0">
                            <a:solidFill>
                              <a:srgbClr val="000000"/>
                            </a:solidFill>
                            <a:effectLst/>
                            <a:latin typeface="Cambria Math" panose="02040503050406030204" pitchFamily="18" charset="0"/>
                            <a:ea typeface="Cambria Math" panose="02040503050406030204" pitchFamily="18" charset="0"/>
                          </a:rPr>
                          <m:t>×</m:t>
                        </m:r>
                        <m:r>
                          <a:rPr lang="en-US" altLang="zh-CN" sz="2600" b="1" i="1" dirty="0" smtClean="0">
                            <a:solidFill>
                              <a:srgbClr val="000000"/>
                            </a:solidFill>
                            <a:effectLst/>
                            <a:latin typeface="Cambria Math" panose="02040503050406030204" pitchFamily="18" charset="0"/>
                            <a:ea typeface="Cambria Math" panose="02040503050406030204" pitchFamily="18" charset="0"/>
                          </a:rPr>
                          <m:t>𝑻</m:t>
                        </m:r>
                      </m:sup>
                    </m:sSup>
                    <m:r>
                      <a:rPr lang="en-US" altLang="zh-CN" sz="2600" b="1" i="1" dirty="0" smtClean="0">
                        <a:solidFill>
                          <a:srgbClr val="000000"/>
                        </a:solidFill>
                        <a:effectLst/>
                        <a:latin typeface="Cambria Math" panose="02040503050406030204" pitchFamily="18" charset="0"/>
                      </a:rPr>
                      <m:t> </m:t>
                    </m:r>
                  </m:oMath>
                </a14:m>
                <a:r>
                  <a:rPr lang="en-US" altLang="zh-CN" sz="2600" b="1" i="0" dirty="0">
                    <a:solidFill>
                      <a:srgbClr val="000000"/>
                    </a:solidFill>
                    <a:effectLst/>
                  </a:rPr>
                  <a:t>and inward-received </a:t>
                </a:r>
                <a14:m>
                  <m:oMath xmlns:m="http://schemas.openxmlformats.org/officeDocument/2006/math">
                    <m:acc>
                      <m:accPr>
                        <m:chr m:val="̅"/>
                        <m:ctrlPr>
                          <a:rPr lang="en-US" altLang="zh-CN" sz="2600" b="1" i="1" dirty="0" smtClean="0">
                            <a:solidFill>
                              <a:srgbClr val="000000"/>
                            </a:solidFill>
                            <a:latin typeface="Cambria Math" panose="02040503050406030204" pitchFamily="18" charset="0"/>
                          </a:rPr>
                        </m:ctrlPr>
                      </m:accPr>
                      <m:e>
                        <m:r>
                          <a:rPr lang="en-US" altLang="zh-CN" sz="2600" b="1" i="1" dirty="0" smtClean="0">
                            <a:solidFill>
                              <a:srgbClr val="000000"/>
                            </a:solidFill>
                            <a:latin typeface="Cambria Math" panose="02040503050406030204" pitchFamily="18" charset="0"/>
                          </a:rPr>
                          <m:t>𝑺</m:t>
                        </m:r>
                      </m:e>
                    </m:acc>
                    <m:r>
                      <a:rPr lang="en-US" altLang="zh-CN" sz="2600" b="1" i="1" dirty="0">
                        <a:solidFill>
                          <a:srgbClr val="000000"/>
                        </a:solidFill>
                        <a:latin typeface="Cambria Math" panose="02040503050406030204" pitchFamily="18" charset="0"/>
                      </a:rPr>
                      <m:t>∈</m:t>
                    </m:r>
                    <m:sSup>
                      <m:sSupPr>
                        <m:ctrlPr>
                          <a:rPr lang="en-US" altLang="zh-CN" sz="2600" b="1" i="1" dirty="0">
                            <a:solidFill>
                              <a:srgbClr val="000000"/>
                            </a:solidFill>
                            <a:latin typeface="Cambria Math" panose="02040503050406030204" pitchFamily="18" charset="0"/>
                          </a:rPr>
                        </m:ctrlPr>
                      </m:sSupPr>
                      <m:e>
                        <m:r>
                          <a:rPr lang="en-US" altLang="zh-CN" sz="2600" b="1" i="1" dirty="0">
                            <a:solidFill>
                              <a:srgbClr val="000000"/>
                            </a:solidFill>
                            <a:latin typeface="Cambria Math" panose="02040503050406030204" pitchFamily="18" charset="0"/>
                          </a:rPr>
                          <m:t>𝑹</m:t>
                        </m:r>
                      </m:e>
                      <m:sup>
                        <m:r>
                          <a:rPr lang="en-US" altLang="zh-CN" sz="2600" b="1" i="1" dirty="0">
                            <a:solidFill>
                              <a:srgbClr val="000000"/>
                            </a:solidFill>
                            <a:latin typeface="Cambria Math" panose="02040503050406030204" pitchFamily="18" charset="0"/>
                          </a:rPr>
                          <m:t>𝑵</m:t>
                        </m:r>
                        <m:r>
                          <a:rPr lang="en-US" altLang="zh-CN" sz="2600" b="1" i="1" dirty="0">
                            <a:solidFill>
                              <a:srgbClr val="000000"/>
                            </a:solidFill>
                            <a:latin typeface="Cambria Math" panose="02040503050406030204" pitchFamily="18" charset="0"/>
                            <a:ea typeface="Cambria Math" panose="02040503050406030204" pitchFamily="18" charset="0"/>
                          </a:rPr>
                          <m:t>×</m:t>
                        </m:r>
                        <m:r>
                          <a:rPr lang="en-US" altLang="zh-CN" sz="2600" b="1" i="1" dirty="0">
                            <a:solidFill>
                              <a:srgbClr val="000000"/>
                            </a:solidFill>
                            <a:latin typeface="Cambria Math" panose="02040503050406030204" pitchFamily="18" charset="0"/>
                            <a:ea typeface="Cambria Math" panose="02040503050406030204" pitchFamily="18" charset="0"/>
                          </a:rPr>
                          <m:t>𝑻</m:t>
                        </m:r>
                      </m:sup>
                    </m:sSup>
                  </m:oMath>
                </a14:m>
                <a:r>
                  <a:rPr lang="en-US" altLang="zh-CN" sz="2600" b="1" i="0" dirty="0">
                    <a:solidFill>
                      <a:srgbClr val="000000"/>
                    </a:solidFill>
                    <a:effectLst/>
                  </a:rPr>
                  <a:t>.</a:t>
                </a:r>
              </a:p>
              <a:p>
                <a:pPr marL="742950" lvl="1" indent="-285750">
                  <a:spcAft>
                    <a:spcPts val="500"/>
                  </a:spcAft>
                  <a:buFont typeface="Arial" panose="020B0604020202020204" pitchFamily="34" charset="0"/>
                  <a:buChar char="•"/>
                </a:pPr>
                <a:r>
                  <a:rPr lang="en-US" altLang="zh-CN" sz="2600" b="1" i="0" dirty="0">
                    <a:solidFill>
                      <a:srgbClr val="000000"/>
                    </a:solidFill>
                    <a:effectLst/>
                  </a:rPr>
                  <a:t>Dynamic Metric Influence Scoring</a:t>
                </a:r>
                <a:r>
                  <a:rPr lang="zh-CN" altLang="en-US" sz="2600" b="1" i="0" dirty="0">
                    <a:solidFill>
                      <a:srgbClr val="000000"/>
                    </a:solidFill>
                    <a:effectLst/>
                  </a:rPr>
                  <a:t>：</a:t>
                </a:r>
                <a:endParaRPr lang="en-US" altLang="zh-CN" sz="2600" b="1" i="0" dirty="0">
                  <a:solidFill>
                    <a:srgbClr val="000000"/>
                  </a:solidFill>
                  <a:effectLst/>
                </a:endParaRPr>
              </a:p>
            </p:txBody>
          </p:sp>
        </mc:Choice>
        <mc:Fallback xmlns="">
          <p:sp>
            <p:nvSpPr>
              <p:cNvPr id="2" name="文本框 1">
                <a:extLst>
                  <a:ext uri="{FF2B5EF4-FFF2-40B4-BE49-F238E27FC236}">
                    <a16:creationId xmlns:a16="http://schemas.microsoft.com/office/drawing/2014/main" id="{99899D24-6F78-2DC1-2D12-D64096A7EB8E}"/>
                  </a:ext>
                </a:extLst>
              </p:cNvPr>
              <p:cNvSpPr txBox="1">
                <a:spLocks noRot="1" noChangeAspect="1" noMove="1" noResize="1" noEditPoints="1" noAdjustHandles="1" noChangeArrowheads="1" noChangeShapeType="1" noTextEdit="1"/>
              </p:cNvSpPr>
              <p:nvPr/>
            </p:nvSpPr>
            <p:spPr>
              <a:xfrm>
                <a:off x="259354" y="1238053"/>
                <a:ext cx="10210012" cy="1771126"/>
              </a:xfrm>
              <a:prstGeom prst="rect">
                <a:avLst/>
              </a:prstGeom>
              <a:blipFill>
                <a:blip r:embed="rId3"/>
                <a:stretch>
                  <a:fillRect t="-2749" r="-538" b="-7904"/>
                </a:stretch>
              </a:blipFill>
            </p:spPr>
            <p:txBody>
              <a:bodyPr/>
              <a:lstStyle/>
              <a:p>
                <a:r>
                  <a:rPr lang="zh-CN" altLang="en-US">
                    <a:noFill/>
                  </a:rPr>
                  <a:t> </a:t>
                </a:r>
              </a:p>
            </p:txBody>
          </p:sp>
        </mc:Fallback>
      </mc:AlternateContent>
      <p:pic>
        <p:nvPicPr>
          <p:cNvPr id="8" name="图片 7">
            <a:extLst>
              <a:ext uri="{FF2B5EF4-FFF2-40B4-BE49-F238E27FC236}">
                <a16:creationId xmlns:a16="http://schemas.microsoft.com/office/drawing/2014/main" id="{765F1FCF-9197-7869-399B-A3F55C2D7425}"/>
              </a:ext>
            </a:extLst>
          </p:cNvPr>
          <p:cNvPicPr>
            <a:picLocks noChangeAspect="1"/>
          </p:cNvPicPr>
          <p:nvPr/>
        </p:nvPicPr>
        <p:blipFill>
          <a:blip r:embed="rId4"/>
          <a:stretch>
            <a:fillRect/>
          </a:stretch>
        </p:blipFill>
        <p:spPr>
          <a:xfrm>
            <a:off x="3261917" y="5019596"/>
            <a:ext cx="5706271" cy="1162212"/>
          </a:xfrm>
          <a:prstGeom prst="rect">
            <a:avLst/>
          </a:prstGeom>
        </p:spPr>
      </p:pic>
      <p:pic>
        <p:nvPicPr>
          <p:cNvPr id="10" name="图片 9">
            <a:extLst>
              <a:ext uri="{FF2B5EF4-FFF2-40B4-BE49-F238E27FC236}">
                <a16:creationId xmlns:a16="http://schemas.microsoft.com/office/drawing/2014/main" id="{207148A9-95A9-9F79-C1A9-BD9E51727B15}"/>
              </a:ext>
            </a:extLst>
          </p:cNvPr>
          <p:cNvPicPr>
            <a:picLocks noChangeAspect="1"/>
          </p:cNvPicPr>
          <p:nvPr/>
        </p:nvPicPr>
        <p:blipFill>
          <a:blip r:embed="rId5"/>
          <a:stretch>
            <a:fillRect/>
          </a:stretch>
        </p:blipFill>
        <p:spPr>
          <a:xfrm>
            <a:off x="3342891" y="3529826"/>
            <a:ext cx="5506218" cy="1228896"/>
          </a:xfrm>
          <a:prstGeom prst="rect">
            <a:avLst/>
          </a:prstGeom>
        </p:spPr>
      </p:pic>
    </p:spTree>
    <p:extLst>
      <p:ext uri="{BB962C8B-B14F-4D97-AF65-F5344CB8AC3E}">
        <p14:creationId xmlns:p14="http://schemas.microsoft.com/office/powerpoint/2010/main" val="17941980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1081C8D6-BF06-BCB6-6B60-DF551B3CF340}"/>
              </a:ext>
            </a:extLst>
          </p:cNvPr>
          <p:cNvSpPr txBox="1"/>
          <p:nvPr/>
        </p:nvSpPr>
        <p:spPr>
          <a:xfrm>
            <a:off x="350981" y="203200"/>
            <a:ext cx="10118385" cy="769441"/>
          </a:xfrm>
          <a:prstGeom prst="rect">
            <a:avLst/>
          </a:prstGeom>
          <a:noFill/>
        </p:spPr>
        <p:txBody>
          <a:bodyPr wrap="square" rtlCol="0">
            <a:spAutoFit/>
          </a:bodyPr>
          <a:lstStyle/>
          <a:p>
            <a:r>
              <a:rPr lang="en-US" altLang="zh-CN" sz="4400" dirty="0"/>
              <a:t>3.3 Fault Dynamics Analysis</a:t>
            </a:r>
            <a:endParaRPr lang="zh-CN" altLang="en-US" sz="4400" dirty="0"/>
          </a:p>
        </p:txBody>
      </p:sp>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99899D24-6F78-2DC1-2D12-D64096A7EB8E}"/>
                  </a:ext>
                </a:extLst>
              </p:cNvPr>
              <p:cNvSpPr txBox="1"/>
              <p:nvPr/>
            </p:nvSpPr>
            <p:spPr>
              <a:xfrm>
                <a:off x="259354" y="1352354"/>
                <a:ext cx="10210012" cy="3194914"/>
              </a:xfrm>
              <a:prstGeom prst="rect">
                <a:avLst/>
              </a:prstGeom>
              <a:noFill/>
            </p:spPr>
            <p:txBody>
              <a:bodyPr wrap="square" rtlCol="0">
                <a:spAutoFit/>
              </a:bodyPr>
              <a:lstStyle/>
              <a:p>
                <a:pPr marL="742950" lvl="1" indent="-285750">
                  <a:spcAft>
                    <a:spcPts val="500"/>
                  </a:spcAft>
                  <a:buFont typeface="Arial" panose="020B0604020202020204" pitchFamily="34" charset="0"/>
                  <a:buChar char="•"/>
                </a:pPr>
                <a:r>
                  <a:rPr lang="en-US" altLang="zh-CN" sz="2600" b="1" dirty="0">
                    <a:solidFill>
                      <a:srgbClr val="000000"/>
                    </a:solidFill>
                  </a:rPr>
                  <a:t>We calculate the area under curves of outward and inward dynamic influence scores as accumulated outward influence scores </a:t>
                </a:r>
                <a14:m>
                  <m:oMath xmlns:m="http://schemas.openxmlformats.org/officeDocument/2006/math">
                    <m:sSup>
                      <m:sSupPr>
                        <m:ctrlPr>
                          <a:rPr lang="en-US" altLang="zh-CN" sz="2600" b="1" i="1" dirty="0" smtClean="0">
                            <a:solidFill>
                              <a:srgbClr val="000000"/>
                            </a:solidFill>
                            <a:latin typeface="Cambria Math" panose="02040503050406030204" pitchFamily="18" charset="0"/>
                          </a:rPr>
                        </m:ctrlPr>
                      </m:sSupPr>
                      <m:e>
                        <m:r>
                          <a:rPr lang="en-US" altLang="zh-CN" sz="2600" b="1" i="1" dirty="0" smtClean="0">
                            <a:solidFill>
                              <a:srgbClr val="000000"/>
                            </a:solidFill>
                            <a:latin typeface="Cambria Math" panose="02040503050406030204" pitchFamily="18" charset="0"/>
                          </a:rPr>
                          <m:t>𝑺</m:t>
                        </m:r>
                      </m:e>
                      <m:sup>
                        <m:r>
                          <a:rPr lang="en-US" altLang="zh-CN" sz="2600" b="1" dirty="0">
                            <a:solidFill>
                              <a:srgbClr val="000000"/>
                            </a:solidFill>
                            <a:latin typeface="Cambria Math" panose="02040503050406030204" pitchFamily="18" charset="0"/>
                          </a:rPr>
                          <m:t>𝚺</m:t>
                        </m:r>
                      </m:sup>
                    </m:sSup>
                    <m:r>
                      <a:rPr lang="en-US" altLang="zh-CN" sz="2600" b="1" i="1" dirty="0">
                        <a:solidFill>
                          <a:srgbClr val="000000"/>
                        </a:solidFill>
                        <a:latin typeface="Cambria Math" panose="02040503050406030204" pitchFamily="18" charset="0"/>
                      </a:rPr>
                      <m:t>∈</m:t>
                    </m:r>
                    <m:sSup>
                      <m:sSupPr>
                        <m:ctrlPr>
                          <a:rPr lang="en-US" altLang="zh-CN" sz="2600" b="1" i="1" dirty="0">
                            <a:solidFill>
                              <a:srgbClr val="000000"/>
                            </a:solidFill>
                            <a:latin typeface="Cambria Math" panose="02040503050406030204" pitchFamily="18" charset="0"/>
                          </a:rPr>
                        </m:ctrlPr>
                      </m:sSupPr>
                      <m:e>
                        <m:r>
                          <a:rPr lang="en-US" altLang="zh-CN" sz="2600" b="1" i="1" dirty="0">
                            <a:solidFill>
                              <a:srgbClr val="000000"/>
                            </a:solidFill>
                            <a:latin typeface="Cambria Math" panose="02040503050406030204" pitchFamily="18" charset="0"/>
                          </a:rPr>
                          <m:t>𝑹</m:t>
                        </m:r>
                      </m:e>
                      <m:sup>
                        <m:r>
                          <a:rPr lang="en-US" altLang="zh-CN" sz="2600" b="1" i="1" dirty="0">
                            <a:solidFill>
                              <a:srgbClr val="000000"/>
                            </a:solidFill>
                            <a:latin typeface="Cambria Math" panose="02040503050406030204" pitchFamily="18" charset="0"/>
                          </a:rPr>
                          <m:t>𝑵</m:t>
                        </m:r>
                      </m:sup>
                    </m:sSup>
                    <m:r>
                      <a:rPr lang="en-US" altLang="zh-CN" sz="2600" b="1" i="1" dirty="0">
                        <a:solidFill>
                          <a:srgbClr val="000000"/>
                        </a:solidFill>
                        <a:latin typeface="Cambria Math" panose="02040503050406030204" pitchFamily="18" charset="0"/>
                      </a:rPr>
                      <m:t>= </m:t>
                    </m:r>
                    <m:sSubSup>
                      <m:sSubSupPr>
                        <m:ctrlPr>
                          <a:rPr lang="en-US" altLang="zh-CN" sz="2600" b="1" i="1" dirty="0" smtClean="0">
                            <a:solidFill>
                              <a:srgbClr val="000000"/>
                            </a:solidFill>
                            <a:latin typeface="Cambria Math" panose="02040503050406030204" pitchFamily="18" charset="0"/>
                          </a:rPr>
                        </m:ctrlPr>
                      </m:sSubSupPr>
                      <m:e>
                        <m:r>
                          <a:rPr lang="en-US" altLang="zh-CN" sz="2600" b="1" dirty="0">
                            <a:solidFill>
                              <a:srgbClr val="000000"/>
                            </a:solidFill>
                            <a:latin typeface="Cambria Math" panose="02040503050406030204" pitchFamily="18" charset="0"/>
                          </a:rPr>
                          <m:t>𝚺</m:t>
                        </m:r>
                      </m:e>
                      <m:sub>
                        <m:r>
                          <a:rPr lang="en-US" altLang="zh-CN" sz="2600" b="1" i="1" dirty="0" smtClean="0">
                            <a:solidFill>
                              <a:srgbClr val="000000"/>
                            </a:solidFill>
                            <a:latin typeface="Cambria Math" panose="02040503050406030204" pitchFamily="18" charset="0"/>
                          </a:rPr>
                          <m:t>𝒕</m:t>
                        </m:r>
                        <m:r>
                          <a:rPr lang="en-US" altLang="zh-CN" sz="2600" b="1" i="1" dirty="0" smtClean="0">
                            <a:solidFill>
                              <a:srgbClr val="000000"/>
                            </a:solidFill>
                            <a:latin typeface="Cambria Math" panose="02040503050406030204" pitchFamily="18" charset="0"/>
                          </a:rPr>
                          <m:t>=</m:t>
                        </m:r>
                        <m:r>
                          <a:rPr lang="en-US" altLang="zh-CN" sz="2600" b="1" i="1" dirty="0" smtClean="0">
                            <a:solidFill>
                              <a:srgbClr val="000000"/>
                            </a:solidFill>
                            <a:latin typeface="Cambria Math" panose="02040503050406030204" pitchFamily="18" charset="0"/>
                          </a:rPr>
                          <m:t>𝟏</m:t>
                        </m:r>
                      </m:sub>
                      <m:sup>
                        <m:r>
                          <a:rPr lang="en-US" altLang="zh-CN" sz="2600" b="1" i="1" dirty="0" smtClean="0">
                            <a:solidFill>
                              <a:srgbClr val="000000"/>
                            </a:solidFill>
                            <a:latin typeface="Cambria Math" panose="02040503050406030204" pitchFamily="18" charset="0"/>
                          </a:rPr>
                          <m:t>𝑻</m:t>
                        </m:r>
                      </m:sup>
                    </m:sSubSup>
                    <m:r>
                      <a:rPr lang="en-US" altLang="zh-CN" sz="2600" b="1" i="1" dirty="0">
                        <a:solidFill>
                          <a:srgbClr val="000000"/>
                        </a:solidFill>
                        <a:latin typeface="Cambria Math" panose="02040503050406030204" pitchFamily="18" charset="0"/>
                      </a:rPr>
                      <m:t> </m:t>
                    </m:r>
                    <m:sSub>
                      <m:sSubPr>
                        <m:ctrlPr>
                          <a:rPr lang="en-US" altLang="zh-CN" sz="2600" b="1" i="1" dirty="0" smtClean="0">
                            <a:solidFill>
                              <a:srgbClr val="000000"/>
                            </a:solidFill>
                            <a:latin typeface="Cambria Math" panose="02040503050406030204" pitchFamily="18" charset="0"/>
                          </a:rPr>
                        </m:ctrlPr>
                      </m:sSubPr>
                      <m:e>
                        <m:r>
                          <a:rPr lang="en-US" altLang="zh-CN" sz="2600" b="1" i="1" dirty="0" smtClean="0">
                            <a:solidFill>
                              <a:srgbClr val="000000"/>
                            </a:solidFill>
                            <a:latin typeface="Cambria Math" panose="02040503050406030204" pitchFamily="18" charset="0"/>
                          </a:rPr>
                          <m:t>𝑺</m:t>
                        </m:r>
                      </m:e>
                      <m:sub>
                        <m:r>
                          <a:rPr lang="en-US" altLang="zh-CN" sz="2600" b="1" i="1" dirty="0" smtClean="0">
                            <a:solidFill>
                              <a:srgbClr val="000000"/>
                            </a:solidFill>
                            <a:latin typeface="Cambria Math" panose="02040503050406030204" pitchFamily="18" charset="0"/>
                          </a:rPr>
                          <m:t>𝒊</m:t>
                        </m:r>
                        <m:r>
                          <a:rPr lang="en-US" altLang="zh-CN" sz="2600" b="1" i="1" dirty="0" smtClean="0">
                            <a:solidFill>
                              <a:srgbClr val="000000"/>
                            </a:solidFill>
                            <a:latin typeface="Cambria Math" panose="02040503050406030204" pitchFamily="18" charset="0"/>
                          </a:rPr>
                          <m:t>,</m:t>
                        </m:r>
                        <m:r>
                          <a:rPr lang="en-US" altLang="zh-CN" sz="2600" b="1" i="1" dirty="0" smtClean="0">
                            <a:solidFill>
                              <a:srgbClr val="000000"/>
                            </a:solidFill>
                            <a:latin typeface="Cambria Math" panose="02040503050406030204" pitchFamily="18" charset="0"/>
                          </a:rPr>
                          <m:t>𝒕</m:t>
                        </m:r>
                      </m:sub>
                    </m:sSub>
                  </m:oMath>
                </a14:m>
                <a:r>
                  <a:rPr lang="en-US" altLang="zh-CN" sz="2600" b="1" dirty="0">
                    <a:solidFill>
                      <a:srgbClr val="000000"/>
                    </a:solidFill>
                  </a:rPr>
                  <a:t> and inward </a:t>
                </a:r>
                <a14:m>
                  <m:oMath xmlns:m="http://schemas.openxmlformats.org/officeDocument/2006/math">
                    <m:sSup>
                      <m:sSupPr>
                        <m:ctrlPr>
                          <a:rPr lang="en-US" altLang="zh-CN" sz="2600" b="1" i="1" dirty="0">
                            <a:solidFill>
                              <a:srgbClr val="000000"/>
                            </a:solidFill>
                            <a:latin typeface="Cambria Math" panose="02040503050406030204" pitchFamily="18" charset="0"/>
                          </a:rPr>
                        </m:ctrlPr>
                      </m:sSupPr>
                      <m:e>
                        <m:acc>
                          <m:accPr>
                            <m:chr m:val="̅"/>
                            <m:ctrlPr>
                              <a:rPr lang="en-US" altLang="zh-CN" sz="2600" b="1" i="1" dirty="0" smtClean="0">
                                <a:solidFill>
                                  <a:srgbClr val="000000"/>
                                </a:solidFill>
                                <a:latin typeface="Cambria Math" panose="02040503050406030204" pitchFamily="18" charset="0"/>
                              </a:rPr>
                            </m:ctrlPr>
                          </m:accPr>
                          <m:e>
                            <m:r>
                              <a:rPr lang="en-US" altLang="zh-CN" sz="2600" b="1" i="1" dirty="0" smtClean="0">
                                <a:solidFill>
                                  <a:srgbClr val="000000"/>
                                </a:solidFill>
                                <a:latin typeface="Cambria Math" panose="02040503050406030204" pitchFamily="18" charset="0"/>
                              </a:rPr>
                              <m:t>𝑺</m:t>
                            </m:r>
                          </m:e>
                        </m:acc>
                      </m:e>
                      <m:sup>
                        <m:r>
                          <a:rPr lang="en-US" altLang="zh-CN" sz="2600" b="1" dirty="0">
                            <a:solidFill>
                              <a:srgbClr val="000000"/>
                            </a:solidFill>
                            <a:latin typeface="Cambria Math" panose="02040503050406030204" pitchFamily="18" charset="0"/>
                          </a:rPr>
                          <m:t>𝚺</m:t>
                        </m:r>
                      </m:sup>
                    </m:sSup>
                  </m:oMath>
                </a14:m>
                <a:r>
                  <a:rPr lang="en-US" altLang="zh-CN" sz="2600" b="1" dirty="0">
                    <a:solidFill>
                      <a:srgbClr val="000000"/>
                    </a:solidFill>
                  </a:rPr>
                  <a:t> for each metric.</a:t>
                </a:r>
              </a:p>
              <a:p>
                <a:pPr marL="742950" lvl="1" indent="-285750">
                  <a:spcAft>
                    <a:spcPts val="500"/>
                  </a:spcAft>
                  <a:buFont typeface="Arial" panose="020B0604020202020204" pitchFamily="34" charset="0"/>
                  <a:buChar char="•"/>
                </a:pPr>
                <a:endParaRPr lang="en-US" altLang="zh-CN" sz="2600" b="1" dirty="0">
                  <a:solidFill>
                    <a:srgbClr val="000000"/>
                  </a:solidFill>
                </a:endParaRPr>
              </a:p>
              <a:p>
                <a:pPr marL="742950" lvl="1" indent="-285750">
                  <a:spcAft>
                    <a:spcPts val="500"/>
                  </a:spcAft>
                  <a:buFont typeface="Arial" panose="020B0604020202020204" pitchFamily="34" charset="0"/>
                  <a:buChar char="•"/>
                </a:pPr>
                <a:r>
                  <a:rPr lang="en-US" altLang="zh-CN" sz="2600" b="1" i="0" dirty="0">
                    <a:solidFill>
                      <a:srgbClr val="000000"/>
                    </a:solidFill>
                    <a:effectLst/>
                  </a:rPr>
                  <a:t>Peak Propagation Timestamp </a:t>
                </a:r>
              </a:p>
              <a:p>
                <a:pPr lvl="1">
                  <a:spcAft>
                    <a:spcPts val="500"/>
                  </a:spcAft>
                </a:pPr>
                <a:r>
                  <a:rPr lang="en-US" altLang="zh-CN" sz="2600" b="1" dirty="0">
                    <a:solidFill>
                      <a:srgbClr val="000000"/>
                    </a:solidFill>
                  </a:rPr>
                  <a:t>   </a:t>
                </a:r>
                <a:r>
                  <a:rPr lang="en-US" altLang="zh-CN" sz="2600" b="1" i="0" dirty="0">
                    <a:solidFill>
                      <a:srgbClr val="000000"/>
                    </a:solidFill>
                    <a:effectLst/>
                  </a:rPr>
                  <a:t>Identification</a:t>
                </a:r>
                <a:r>
                  <a:rPr lang="zh-CN" altLang="en-US" sz="2600" b="1" i="0" dirty="0">
                    <a:solidFill>
                      <a:srgbClr val="000000"/>
                    </a:solidFill>
                    <a:effectLst/>
                  </a:rPr>
                  <a:t>：</a:t>
                </a:r>
                <a:endParaRPr lang="en-US" altLang="zh-CN" sz="2600" b="1" i="0" dirty="0">
                  <a:solidFill>
                    <a:srgbClr val="000000"/>
                  </a:solidFill>
                  <a:effectLst/>
                </a:endParaRPr>
              </a:p>
              <a:p>
                <a:pPr lvl="1">
                  <a:spcAft>
                    <a:spcPts val="500"/>
                  </a:spcAft>
                </a:pPr>
                <a:endParaRPr lang="en-US" altLang="zh-CN" sz="2600" b="1" i="0" dirty="0">
                  <a:solidFill>
                    <a:srgbClr val="000000"/>
                  </a:solidFill>
                  <a:effectLst/>
                </a:endParaRPr>
              </a:p>
            </p:txBody>
          </p:sp>
        </mc:Choice>
        <mc:Fallback xmlns="">
          <p:sp>
            <p:nvSpPr>
              <p:cNvPr id="2" name="文本框 1">
                <a:extLst>
                  <a:ext uri="{FF2B5EF4-FFF2-40B4-BE49-F238E27FC236}">
                    <a16:creationId xmlns:a16="http://schemas.microsoft.com/office/drawing/2014/main" id="{99899D24-6F78-2DC1-2D12-D64096A7EB8E}"/>
                  </a:ext>
                </a:extLst>
              </p:cNvPr>
              <p:cNvSpPr txBox="1">
                <a:spLocks noRot="1" noChangeAspect="1" noMove="1" noResize="1" noEditPoints="1" noAdjustHandles="1" noChangeArrowheads="1" noChangeShapeType="1" noTextEdit="1"/>
              </p:cNvSpPr>
              <p:nvPr/>
            </p:nvSpPr>
            <p:spPr>
              <a:xfrm>
                <a:off x="259354" y="1352354"/>
                <a:ext cx="10210012" cy="3194914"/>
              </a:xfrm>
              <a:prstGeom prst="rect">
                <a:avLst/>
              </a:prstGeom>
              <a:blipFill>
                <a:blip r:embed="rId3"/>
                <a:stretch>
                  <a:fillRect t="-1527"/>
                </a:stretch>
              </a:blipFill>
            </p:spPr>
            <p:txBody>
              <a:bodyPr/>
              <a:lstStyle/>
              <a:p>
                <a:r>
                  <a:rPr lang="zh-CN" altLang="en-US">
                    <a:noFill/>
                  </a:rPr>
                  <a:t> </a:t>
                </a:r>
              </a:p>
            </p:txBody>
          </p:sp>
        </mc:Fallback>
      </mc:AlternateContent>
      <p:pic>
        <p:nvPicPr>
          <p:cNvPr id="5" name="图片 4">
            <a:extLst>
              <a:ext uri="{FF2B5EF4-FFF2-40B4-BE49-F238E27FC236}">
                <a16:creationId xmlns:a16="http://schemas.microsoft.com/office/drawing/2014/main" id="{11EE7E7D-3BB6-16DA-C59C-DDB7DCA44C83}"/>
              </a:ext>
            </a:extLst>
          </p:cNvPr>
          <p:cNvPicPr>
            <a:picLocks noChangeAspect="1"/>
          </p:cNvPicPr>
          <p:nvPr/>
        </p:nvPicPr>
        <p:blipFill>
          <a:blip r:embed="rId4"/>
          <a:stretch>
            <a:fillRect/>
          </a:stretch>
        </p:blipFill>
        <p:spPr>
          <a:xfrm>
            <a:off x="5511246" y="3226742"/>
            <a:ext cx="6125430" cy="2924583"/>
          </a:xfrm>
          <a:prstGeom prst="rect">
            <a:avLst/>
          </a:prstGeom>
        </p:spPr>
      </p:pic>
      <p:pic>
        <p:nvPicPr>
          <p:cNvPr id="7" name="图片 6">
            <a:extLst>
              <a:ext uri="{FF2B5EF4-FFF2-40B4-BE49-F238E27FC236}">
                <a16:creationId xmlns:a16="http://schemas.microsoft.com/office/drawing/2014/main" id="{AACBD93D-356B-79E7-650C-50E61F3AD0FD}"/>
              </a:ext>
            </a:extLst>
          </p:cNvPr>
          <p:cNvPicPr>
            <a:picLocks noChangeAspect="1"/>
          </p:cNvPicPr>
          <p:nvPr/>
        </p:nvPicPr>
        <p:blipFill>
          <a:blip r:embed="rId5"/>
          <a:stretch>
            <a:fillRect/>
          </a:stretch>
        </p:blipFill>
        <p:spPr>
          <a:xfrm>
            <a:off x="1606867" y="4143882"/>
            <a:ext cx="2556866" cy="557862"/>
          </a:xfrm>
          <a:prstGeom prst="rect">
            <a:avLst/>
          </a:prstGeom>
        </p:spPr>
      </p:pic>
      <p:pic>
        <p:nvPicPr>
          <p:cNvPr id="11" name="图片 10">
            <a:extLst>
              <a:ext uri="{FF2B5EF4-FFF2-40B4-BE49-F238E27FC236}">
                <a16:creationId xmlns:a16="http://schemas.microsoft.com/office/drawing/2014/main" id="{01F14FEB-07C3-C2CB-B0AF-986166FF6286}"/>
              </a:ext>
            </a:extLst>
          </p:cNvPr>
          <p:cNvPicPr>
            <a:picLocks noChangeAspect="1"/>
          </p:cNvPicPr>
          <p:nvPr/>
        </p:nvPicPr>
        <p:blipFill>
          <a:blip r:embed="rId6"/>
          <a:stretch>
            <a:fillRect/>
          </a:stretch>
        </p:blipFill>
        <p:spPr>
          <a:xfrm>
            <a:off x="1525512" y="5000762"/>
            <a:ext cx="2719576" cy="1092480"/>
          </a:xfrm>
          <a:prstGeom prst="rect">
            <a:avLst/>
          </a:prstGeom>
        </p:spPr>
      </p:pic>
    </p:spTree>
    <p:extLst>
      <p:ext uri="{BB962C8B-B14F-4D97-AF65-F5344CB8AC3E}">
        <p14:creationId xmlns:p14="http://schemas.microsoft.com/office/powerpoint/2010/main" val="15541565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1081C8D6-BF06-BCB6-6B60-DF551B3CF340}"/>
              </a:ext>
            </a:extLst>
          </p:cNvPr>
          <p:cNvSpPr txBox="1"/>
          <p:nvPr/>
        </p:nvSpPr>
        <p:spPr>
          <a:xfrm>
            <a:off x="350981" y="203200"/>
            <a:ext cx="10118385" cy="769441"/>
          </a:xfrm>
          <a:prstGeom prst="rect">
            <a:avLst/>
          </a:prstGeom>
          <a:noFill/>
        </p:spPr>
        <p:txBody>
          <a:bodyPr wrap="square" rtlCol="0">
            <a:spAutoFit/>
          </a:bodyPr>
          <a:lstStyle/>
          <a:p>
            <a:r>
              <a:rPr lang="en-US" altLang="zh-CN" sz="4400" dirty="0"/>
              <a:t>3.4 Fault Dynamics Interpretation</a:t>
            </a:r>
            <a:endParaRPr lang="zh-CN" altLang="en-US" sz="4400" dirty="0"/>
          </a:p>
        </p:txBody>
      </p:sp>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99899D24-6F78-2DC1-2D12-D64096A7EB8E}"/>
                  </a:ext>
                </a:extLst>
              </p:cNvPr>
              <p:cNvSpPr txBox="1"/>
              <p:nvPr/>
            </p:nvSpPr>
            <p:spPr>
              <a:xfrm>
                <a:off x="259354" y="1248444"/>
                <a:ext cx="5653074" cy="5893345"/>
              </a:xfrm>
              <a:prstGeom prst="rect">
                <a:avLst/>
              </a:prstGeom>
              <a:noFill/>
            </p:spPr>
            <p:txBody>
              <a:bodyPr wrap="square" rtlCol="0">
                <a:spAutoFit/>
              </a:bodyPr>
              <a:lstStyle/>
              <a:p>
                <a:pPr marL="742950" lvl="1" indent="-285750">
                  <a:spcAft>
                    <a:spcPts val="500"/>
                  </a:spcAft>
                  <a:buFont typeface="Arial" panose="020B0604020202020204" pitchFamily="34" charset="0"/>
                  <a:buChar char="•"/>
                </a:pPr>
                <a:r>
                  <a:rPr lang="en-US" altLang="zh-CN" sz="2600" b="1" dirty="0">
                    <a:solidFill>
                      <a:srgbClr val="000000"/>
                    </a:solidFill>
                  </a:rPr>
                  <a:t>3.4.1 Root Cause Metrics Identification</a:t>
                </a:r>
                <a:r>
                  <a:rPr lang="zh-CN" altLang="en-US" sz="2600" b="1" dirty="0">
                    <a:solidFill>
                      <a:srgbClr val="000000"/>
                    </a:solidFill>
                  </a:rPr>
                  <a:t>：</a:t>
                </a:r>
                <a:r>
                  <a:rPr lang="en-US" altLang="zh-CN" sz="2600" b="1" dirty="0">
                    <a:solidFill>
                      <a:srgbClr val="000000"/>
                    </a:solidFill>
                  </a:rPr>
                  <a:t> </a:t>
                </a:r>
                <a:r>
                  <a:rPr lang="en-US" altLang="zh-CN" sz="2600" dirty="0" err="1">
                    <a:solidFill>
                      <a:srgbClr val="000000"/>
                    </a:solidFill>
                  </a:rPr>
                  <a:t>FaultInsight</a:t>
                </a:r>
                <a:r>
                  <a:rPr lang="en-US" altLang="zh-CN" sz="2600" dirty="0">
                    <a:solidFill>
                      <a:srgbClr val="000000"/>
                    </a:solidFill>
                  </a:rPr>
                  <a:t> ranks potential root cause metrics based on accumulated outward influence scores </a:t>
                </a:r>
                <a14:m>
                  <m:oMath xmlns:m="http://schemas.openxmlformats.org/officeDocument/2006/math">
                    <m:sSup>
                      <m:sSupPr>
                        <m:ctrlPr>
                          <a:rPr lang="en-US" altLang="zh-CN" sz="2600" i="1" dirty="0" smtClean="0">
                            <a:solidFill>
                              <a:srgbClr val="000000"/>
                            </a:solidFill>
                            <a:latin typeface="Cambria Math" panose="02040503050406030204" pitchFamily="18" charset="0"/>
                          </a:rPr>
                        </m:ctrlPr>
                      </m:sSupPr>
                      <m:e>
                        <m:r>
                          <a:rPr lang="en-US" altLang="zh-CN" sz="2600" b="0" i="1" dirty="0" smtClean="0">
                            <a:solidFill>
                              <a:srgbClr val="000000"/>
                            </a:solidFill>
                            <a:latin typeface="Cambria Math" panose="02040503050406030204" pitchFamily="18" charset="0"/>
                          </a:rPr>
                          <m:t>𝑆</m:t>
                        </m:r>
                      </m:e>
                      <m:sup>
                        <m:r>
                          <m:rPr>
                            <m:sty m:val="p"/>
                          </m:rPr>
                          <a:rPr lang="en-US" altLang="zh-CN" sz="2600" b="0" i="1" dirty="0">
                            <a:solidFill>
                              <a:srgbClr val="000000"/>
                            </a:solidFill>
                            <a:latin typeface="Cambria Math" panose="02040503050406030204" pitchFamily="18" charset="0"/>
                          </a:rPr>
                          <m:t>Σ</m:t>
                        </m:r>
                      </m:sup>
                    </m:sSup>
                  </m:oMath>
                </a14:m>
                <a:r>
                  <a:rPr lang="en-US" altLang="zh-CN" sz="2600" b="1" dirty="0">
                    <a:solidFill>
                      <a:srgbClr val="000000"/>
                    </a:solidFill>
                  </a:rPr>
                  <a:t>.</a:t>
                </a:r>
              </a:p>
              <a:p>
                <a:pPr marL="742950" lvl="1" indent="-285750">
                  <a:spcAft>
                    <a:spcPts val="500"/>
                  </a:spcAft>
                  <a:buFont typeface="Arial" panose="020B0604020202020204" pitchFamily="34" charset="0"/>
                  <a:buChar char="•"/>
                </a:pPr>
                <a:endParaRPr lang="en-US" altLang="zh-CN" sz="2600" b="1" dirty="0">
                  <a:solidFill>
                    <a:srgbClr val="000000"/>
                  </a:solidFill>
                </a:endParaRPr>
              </a:p>
              <a:p>
                <a:pPr marL="742950" lvl="1" indent="-285750">
                  <a:spcAft>
                    <a:spcPts val="500"/>
                  </a:spcAft>
                  <a:buFont typeface="Arial" panose="020B0604020202020204" pitchFamily="34" charset="0"/>
                  <a:buChar char="•"/>
                </a:pPr>
                <a:r>
                  <a:rPr lang="en-US" altLang="zh-CN" sz="2600" b="1" i="0" dirty="0">
                    <a:solidFill>
                      <a:srgbClr val="000000"/>
                    </a:solidFill>
                    <a:effectLst/>
                  </a:rPr>
                  <a:t>3.4.2 Metric-level Overview Graph</a:t>
                </a:r>
                <a:r>
                  <a:rPr lang="zh-CN" altLang="en-US" sz="2600" b="1" i="0" dirty="0">
                    <a:solidFill>
                      <a:srgbClr val="000000"/>
                    </a:solidFill>
                    <a:effectLst/>
                  </a:rPr>
                  <a:t>：</a:t>
                </a:r>
                <a:r>
                  <a:rPr lang="en-US" altLang="zh-CN" sz="2600" i="0" dirty="0">
                    <a:solidFill>
                      <a:srgbClr val="000000"/>
                    </a:solidFill>
                    <a:effectLst/>
                  </a:rPr>
                  <a:t>The metric-level overview graph of </a:t>
                </a:r>
                <a:r>
                  <a:rPr lang="en-US" altLang="zh-CN" sz="2600" i="0" dirty="0" err="1">
                    <a:solidFill>
                      <a:srgbClr val="000000"/>
                    </a:solidFill>
                    <a:effectLst/>
                  </a:rPr>
                  <a:t>FaultInsight</a:t>
                </a:r>
                <a:r>
                  <a:rPr lang="en-US" altLang="zh-CN" sz="2600" i="0" dirty="0">
                    <a:solidFill>
                      <a:srgbClr val="000000"/>
                    </a:solidFill>
                    <a:effectLst/>
                  </a:rPr>
                  <a:t> outlines a host fault case in the aspect of inter-metric influence, packed with various diagnostic results.</a:t>
                </a:r>
              </a:p>
              <a:p>
                <a:pPr lvl="1">
                  <a:spcAft>
                    <a:spcPts val="500"/>
                  </a:spcAft>
                </a:pPr>
                <a:endParaRPr lang="en-US" altLang="zh-CN" sz="2600" b="1" i="0" dirty="0">
                  <a:solidFill>
                    <a:srgbClr val="000000"/>
                  </a:solidFill>
                  <a:effectLst/>
                </a:endParaRPr>
              </a:p>
            </p:txBody>
          </p:sp>
        </mc:Choice>
        <mc:Fallback xmlns="">
          <p:sp>
            <p:nvSpPr>
              <p:cNvPr id="2" name="文本框 1">
                <a:extLst>
                  <a:ext uri="{FF2B5EF4-FFF2-40B4-BE49-F238E27FC236}">
                    <a16:creationId xmlns:a16="http://schemas.microsoft.com/office/drawing/2014/main" id="{99899D24-6F78-2DC1-2D12-D64096A7EB8E}"/>
                  </a:ext>
                </a:extLst>
              </p:cNvPr>
              <p:cNvSpPr txBox="1">
                <a:spLocks noRot="1" noChangeAspect="1" noMove="1" noResize="1" noEditPoints="1" noAdjustHandles="1" noChangeArrowheads="1" noChangeShapeType="1" noTextEdit="1"/>
              </p:cNvSpPr>
              <p:nvPr/>
            </p:nvSpPr>
            <p:spPr>
              <a:xfrm>
                <a:off x="259354" y="1248444"/>
                <a:ext cx="5653074" cy="5893345"/>
              </a:xfrm>
              <a:prstGeom prst="rect">
                <a:avLst/>
              </a:prstGeom>
              <a:blipFill>
                <a:blip r:embed="rId3"/>
                <a:stretch>
                  <a:fillRect t="-827"/>
                </a:stretch>
              </a:blipFill>
            </p:spPr>
            <p:txBody>
              <a:bodyPr/>
              <a:lstStyle/>
              <a:p>
                <a:r>
                  <a:rPr lang="zh-CN" altLang="en-US">
                    <a:noFill/>
                  </a:rPr>
                  <a:t> </a:t>
                </a:r>
              </a:p>
            </p:txBody>
          </p:sp>
        </mc:Fallback>
      </mc:AlternateContent>
      <p:pic>
        <p:nvPicPr>
          <p:cNvPr id="6" name="图片 5">
            <a:extLst>
              <a:ext uri="{FF2B5EF4-FFF2-40B4-BE49-F238E27FC236}">
                <a16:creationId xmlns:a16="http://schemas.microsoft.com/office/drawing/2014/main" id="{1C016648-B3E9-9472-46AE-25571F6B295F}"/>
              </a:ext>
            </a:extLst>
          </p:cNvPr>
          <p:cNvPicPr>
            <a:picLocks noChangeAspect="1"/>
          </p:cNvPicPr>
          <p:nvPr/>
        </p:nvPicPr>
        <p:blipFill>
          <a:blip r:embed="rId4"/>
          <a:stretch>
            <a:fillRect/>
          </a:stretch>
        </p:blipFill>
        <p:spPr>
          <a:xfrm>
            <a:off x="6023730" y="1504177"/>
            <a:ext cx="5734850" cy="4867954"/>
          </a:xfrm>
          <a:prstGeom prst="rect">
            <a:avLst/>
          </a:prstGeom>
        </p:spPr>
      </p:pic>
    </p:spTree>
    <p:extLst>
      <p:ext uri="{BB962C8B-B14F-4D97-AF65-F5344CB8AC3E}">
        <p14:creationId xmlns:p14="http://schemas.microsoft.com/office/powerpoint/2010/main" val="11957661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1081C8D6-BF06-BCB6-6B60-DF551B3CF340}"/>
              </a:ext>
            </a:extLst>
          </p:cNvPr>
          <p:cNvSpPr txBox="1"/>
          <p:nvPr/>
        </p:nvSpPr>
        <p:spPr>
          <a:xfrm>
            <a:off x="350981" y="203200"/>
            <a:ext cx="10118385" cy="769441"/>
          </a:xfrm>
          <a:prstGeom prst="rect">
            <a:avLst/>
          </a:prstGeom>
          <a:noFill/>
        </p:spPr>
        <p:txBody>
          <a:bodyPr wrap="square" rtlCol="0">
            <a:spAutoFit/>
          </a:bodyPr>
          <a:lstStyle/>
          <a:p>
            <a:r>
              <a:rPr lang="en-US" altLang="zh-CN" sz="4400" dirty="0"/>
              <a:t>3.4 Fault Dynamics Interpretation</a:t>
            </a:r>
            <a:endParaRPr lang="zh-CN" altLang="en-US" sz="4400" dirty="0"/>
          </a:p>
        </p:txBody>
      </p:sp>
      <p:sp>
        <p:nvSpPr>
          <p:cNvPr id="2" name="文本框 1">
            <a:extLst>
              <a:ext uri="{FF2B5EF4-FFF2-40B4-BE49-F238E27FC236}">
                <a16:creationId xmlns:a16="http://schemas.microsoft.com/office/drawing/2014/main" id="{99899D24-6F78-2DC1-2D12-D64096A7EB8E}"/>
              </a:ext>
            </a:extLst>
          </p:cNvPr>
          <p:cNvSpPr txBox="1"/>
          <p:nvPr/>
        </p:nvSpPr>
        <p:spPr>
          <a:xfrm>
            <a:off x="259353" y="1248444"/>
            <a:ext cx="11347291" cy="1821011"/>
          </a:xfrm>
          <a:prstGeom prst="rect">
            <a:avLst/>
          </a:prstGeom>
          <a:noFill/>
        </p:spPr>
        <p:txBody>
          <a:bodyPr wrap="square" rtlCol="0">
            <a:spAutoFit/>
          </a:bodyPr>
          <a:lstStyle/>
          <a:p>
            <a:pPr marL="742950" lvl="1" indent="-285750">
              <a:spcAft>
                <a:spcPts val="500"/>
              </a:spcAft>
              <a:buFont typeface="Arial" panose="020B0604020202020204" pitchFamily="34" charset="0"/>
              <a:buChar char="•"/>
            </a:pPr>
            <a:r>
              <a:rPr lang="en-US" altLang="zh-CN" sz="2600" b="1" dirty="0">
                <a:solidFill>
                  <a:srgbClr val="000000"/>
                </a:solidFill>
              </a:rPr>
              <a:t>3.4.3 Component-level Flow Diagram. </a:t>
            </a:r>
            <a:r>
              <a:rPr lang="en-US" altLang="zh-CN" sz="2600" dirty="0" err="1">
                <a:solidFill>
                  <a:srgbClr val="000000"/>
                </a:solidFill>
              </a:rPr>
              <a:t>FaultInsight</a:t>
            </a:r>
            <a:r>
              <a:rPr lang="en-US" altLang="zh-CN" sz="2600" dirty="0">
                <a:solidFill>
                  <a:srgbClr val="000000"/>
                </a:solidFill>
              </a:rPr>
              <a:t> also provides a component-level flow diagram</a:t>
            </a:r>
            <a:r>
              <a:rPr lang="en-US" altLang="zh-CN" sz="2600" b="1" dirty="0">
                <a:solidFill>
                  <a:srgbClr val="000000"/>
                </a:solidFill>
              </a:rPr>
              <a:t>.</a:t>
            </a:r>
          </a:p>
          <a:p>
            <a:pPr marL="742950" lvl="1" indent="-285750">
              <a:spcAft>
                <a:spcPts val="500"/>
              </a:spcAft>
              <a:buFont typeface="Arial" panose="020B0604020202020204" pitchFamily="34" charset="0"/>
              <a:buChar char="•"/>
            </a:pPr>
            <a:endParaRPr lang="en-US" altLang="zh-CN" sz="2600" b="1" dirty="0">
              <a:solidFill>
                <a:srgbClr val="000000"/>
              </a:solidFill>
            </a:endParaRPr>
          </a:p>
          <a:p>
            <a:pPr lvl="1">
              <a:spcAft>
                <a:spcPts val="500"/>
              </a:spcAft>
            </a:pPr>
            <a:endParaRPr lang="en-US" altLang="zh-CN" sz="2600" b="1" i="0" dirty="0">
              <a:solidFill>
                <a:srgbClr val="000000"/>
              </a:solidFill>
              <a:effectLst/>
            </a:endParaRPr>
          </a:p>
        </p:txBody>
      </p:sp>
      <p:pic>
        <p:nvPicPr>
          <p:cNvPr id="8" name="图片 7">
            <a:extLst>
              <a:ext uri="{FF2B5EF4-FFF2-40B4-BE49-F238E27FC236}">
                <a16:creationId xmlns:a16="http://schemas.microsoft.com/office/drawing/2014/main" id="{8752E066-1D0A-E257-C068-0C5CAB6D17E7}"/>
              </a:ext>
            </a:extLst>
          </p:cNvPr>
          <p:cNvPicPr>
            <a:picLocks noChangeAspect="1"/>
          </p:cNvPicPr>
          <p:nvPr/>
        </p:nvPicPr>
        <p:blipFill>
          <a:blip r:embed="rId3"/>
          <a:stretch>
            <a:fillRect/>
          </a:stretch>
        </p:blipFill>
        <p:spPr>
          <a:xfrm>
            <a:off x="2142573" y="2442457"/>
            <a:ext cx="7906853" cy="3905795"/>
          </a:xfrm>
          <a:prstGeom prst="rect">
            <a:avLst/>
          </a:prstGeom>
        </p:spPr>
      </p:pic>
    </p:spTree>
    <p:extLst>
      <p:ext uri="{BB962C8B-B14F-4D97-AF65-F5344CB8AC3E}">
        <p14:creationId xmlns:p14="http://schemas.microsoft.com/office/powerpoint/2010/main" val="4540073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1081C8D6-BF06-BCB6-6B60-DF551B3CF340}"/>
              </a:ext>
            </a:extLst>
          </p:cNvPr>
          <p:cNvSpPr txBox="1"/>
          <p:nvPr/>
        </p:nvSpPr>
        <p:spPr>
          <a:xfrm>
            <a:off x="350981" y="203200"/>
            <a:ext cx="10118385" cy="769441"/>
          </a:xfrm>
          <a:prstGeom prst="rect">
            <a:avLst/>
          </a:prstGeom>
          <a:noFill/>
        </p:spPr>
        <p:txBody>
          <a:bodyPr wrap="square" rtlCol="0">
            <a:spAutoFit/>
          </a:bodyPr>
          <a:lstStyle/>
          <a:p>
            <a:r>
              <a:rPr lang="en-US" altLang="zh-CN" sz="4400" dirty="0"/>
              <a:t>3.4 Fault Dynamics Interpretation</a:t>
            </a:r>
            <a:endParaRPr lang="zh-CN" altLang="en-US" sz="4400" dirty="0"/>
          </a:p>
        </p:txBody>
      </p:sp>
      <p:sp>
        <p:nvSpPr>
          <p:cNvPr id="2" name="文本框 1">
            <a:extLst>
              <a:ext uri="{FF2B5EF4-FFF2-40B4-BE49-F238E27FC236}">
                <a16:creationId xmlns:a16="http://schemas.microsoft.com/office/drawing/2014/main" id="{99899D24-6F78-2DC1-2D12-D64096A7EB8E}"/>
              </a:ext>
            </a:extLst>
          </p:cNvPr>
          <p:cNvSpPr txBox="1"/>
          <p:nvPr/>
        </p:nvSpPr>
        <p:spPr>
          <a:xfrm>
            <a:off x="259353" y="1248444"/>
            <a:ext cx="11347291" cy="1356782"/>
          </a:xfrm>
          <a:prstGeom prst="rect">
            <a:avLst/>
          </a:prstGeom>
          <a:noFill/>
        </p:spPr>
        <p:txBody>
          <a:bodyPr wrap="square" rtlCol="0">
            <a:spAutoFit/>
          </a:bodyPr>
          <a:lstStyle/>
          <a:p>
            <a:pPr marL="742950" lvl="1" indent="-285750">
              <a:spcAft>
                <a:spcPts val="500"/>
              </a:spcAft>
              <a:buFont typeface="Arial" panose="020B0604020202020204" pitchFamily="34" charset="0"/>
              <a:buChar char="•"/>
            </a:pPr>
            <a:r>
              <a:rPr lang="en-US" altLang="zh-CN" sz="2600" b="1" dirty="0">
                <a:solidFill>
                  <a:srgbClr val="000000"/>
                </a:solidFill>
              </a:rPr>
              <a:t>3.4.4 Time-aligned Propagation Network. </a:t>
            </a:r>
            <a:r>
              <a:rPr lang="en-US" altLang="zh-CN" sz="2600" dirty="0">
                <a:solidFill>
                  <a:srgbClr val="000000"/>
                </a:solidFill>
              </a:rPr>
              <a:t>Mapping out impact paths is a highly intuitive approach to understanding fault propagation</a:t>
            </a:r>
            <a:r>
              <a:rPr lang="en-US" altLang="zh-CN" sz="2600" b="1" dirty="0">
                <a:solidFill>
                  <a:srgbClr val="000000"/>
                </a:solidFill>
              </a:rPr>
              <a:t>.</a:t>
            </a:r>
          </a:p>
          <a:p>
            <a:pPr lvl="1">
              <a:spcAft>
                <a:spcPts val="500"/>
              </a:spcAft>
            </a:pPr>
            <a:endParaRPr lang="en-US" altLang="zh-CN" sz="2600" b="1" i="0" dirty="0">
              <a:solidFill>
                <a:srgbClr val="000000"/>
              </a:solidFill>
              <a:effectLst/>
            </a:endParaRPr>
          </a:p>
        </p:txBody>
      </p:sp>
      <p:pic>
        <p:nvPicPr>
          <p:cNvPr id="5" name="图片 4">
            <a:extLst>
              <a:ext uri="{FF2B5EF4-FFF2-40B4-BE49-F238E27FC236}">
                <a16:creationId xmlns:a16="http://schemas.microsoft.com/office/drawing/2014/main" id="{DF6424E6-8F53-F56C-FD76-18EAEAF268A8}"/>
              </a:ext>
            </a:extLst>
          </p:cNvPr>
          <p:cNvPicPr>
            <a:picLocks noChangeAspect="1"/>
          </p:cNvPicPr>
          <p:nvPr/>
        </p:nvPicPr>
        <p:blipFill>
          <a:blip r:embed="rId3"/>
          <a:stretch>
            <a:fillRect/>
          </a:stretch>
        </p:blipFill>
        <p:spPr>
          <a:xfrm>
            <a:off x="1912887" y="2574961"/>
            <a:ext cx="8040222" cy="3620005"/>
          </a:xfrm>
          <a:prstGeom prst="rect">
            <a:avLst/>
          </a:prstGeom>
        </p:spPr>
      </p:pic>
    </p:spTree>
    <p:extLst>
      <p:ext uri="{BB962C8B-B14F-4D97-AF65-F5344CB8AC3E}">
        <p14:creationId xmlns:p14="http://schemas.microsoft.com/office/powerpoint/2010/main" val="12876326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58BD18B7-313B-44B4-52C2-1EDC40606637}"/>
              </a:ext>
            </a:extLst>
          </p:cNvPr>
          <p:cNvPicPr>
            <a:picLocks noChangeAspect="1"/>
          </p:cNvPicPr>
          <p:nvPr/>
        </p:nvPicPr>
        <p:blipFill>
          <a:blip r:embed="rId3"/>
          <a:stretch>
            <a:fillRect/>
          </a:stretch>
        </p:blipFill>
        <p:spPr>
          <a:xfrm>
            <a:off x="3399593" y="4428801"/>
            <a:ext cx="5725324" cy="2314898"/>
          </a:xfrm>
          <a:prstGeom prst="rect">
            <a:avLst/>
          </a:prstGeom>
        </p:spPr>
      </p:pic>
      <p:sp>
        <p:nvSpPr>
          <p:cNvPr id="4" name="文本框 3">
            <a:extLst>
              <a:ext uri="{FF2B5EF4-FFF2-40B4-BE49-F238E27FC236}">
                <a16:creationId xmlns:a16="http://schemas.microsoft.com/office/drawing/2014/main" id="{1081C8D6-BF06-BCB6-6B60-DF551B3CF340}"/>
              </a:ext>
            </a:extLst>
          </p:cNvPr>
          <p:cNvSpPr txBox="1"/>
          <p:nvPr/>
        </p:nvSpPr>
        <p:spPr>
          <a:xfrm>
            <a:off x="350981" y="203200"/>
            <a:ext cx="9748516" cy="769441"/>
          </a:xfrm>
          <a:prstGeom prst="rect">
            <a:avLst/>
          </a:prstGeom>
          <a:noFill/>
        </p:spPr>
        <p:txBody>
          <a:bodyPr wrap="square" rtlCol="0">
            <a:spAutoFit/>
          </a:bodyPr>
          <a:lstStyle/>
          <a:p>
            <a:r>
              <a:rPr lang="en-US" altLang="zh-CN" sz="4400" dirty="0"/>
              <a:t>4.1 Experiment Setup </a:t>
            </a:r>
            <a:endParaRPr lang="zh-CN" altLang="en-US" sz="4400" dirty="0"/>
          </a:p>
        </p:txBody>
      </p:sp>
      <p:sp>
        <p:nvSpPr>
          <p:cNvPr id="2" name="文本框 1">
            <a:extLst>
              <a:ext uri="{FF2B5EF4-FFF2-40B4-BE49-F238E27FC236}">
                <a16:creationId xmlns:a16="http://schemas.microsoft.com/office/drawing/2014/main" id="{6628A4E1-A347-B128-F18C-499A5DFE87B7}"/>
              </a:ext>
            </a:extLst>
          </p:cNvPr>
          <p:cNvSpPr txBox="1"/>
          <p:nvPr/>
        </p:nvSpPr>
        <p:spPr>
          <a:xfrm>
            <a:off x="0" y="1216260"/>
            <a:ext cx="11975708" cy="3693319"/>
          </a:xfrm>
          <a:prstGeom prst="rect">
            <a:avLst/>
          </a:prstGeom>
          <a:noFill/>
        </p:spPr>
        <p:txBody>
          <a:bodyPr wrap="square" rtlCol="0">
            <a:spAutoFit/>
          </a:bodyPr>
          <a:lstStyle/>
          <a:p>
            <a:pPr marL="742950" lvl="1" indent="-285750">
              <a:buFont typeface="Arial" panose="020B0604020202020204" pitchFamily="34" charset="0"/>
              <a:buChar char="•"/>
            </a:pPr>
            <a:r>
              <a:rPr lang="en-US" altLang="zh-CN" sz="2800" b="1" dirty="0">
                <a:solidFill>
                  <a:srgbClr val="000000"/>
                </a:solidFill>
              </a:rPr>
              <a:t>Datasets </a:t>
            </a:r>
            <a:r>
              <a:rPr lang="en-US" altLang="zh-CN" sz="2800" dirty="0">
                <a:solidFill>
                  <a:srgbClr val="000000"/>
                </a:solidFill>
              </a:rPr>
              <a:t>: The evaluated dataset contains dozens of real incidents that occurred in our company’s production environment. </a:t>
            </a:r>
          </a:p>
          <a:p>
            <a:pPr marL="742950" lvl="1" indent="-285750">
              <a:buFont typeface="Arial" panose="020B0604020202020204" pitchFamily="34" charset="0"/>
              <a:buChar char="•"/>
            </a:pPr>
            <a:r>
              <a:rPr lang="en-US" altLang="zh-CN" sz="2800" b="1" dirty="0">
                <a:solidFill>
                  <a:srgbClr val="000000"/>
                </a:solidFill>
              </a:rPr>
              <a:t>Baselines: </a:t>
            </a:r>
            <a:r>
              <a:rPr lang="el-GR" altLang="zh-CN" sz="2800" dirty="0">
                <a:solidFill>
                  <a:srgbClr val="000000"/>
                </a:solidFill>
              </a:rPr>
              <a:t>ε-</a:t>
            </a:r>
            <a:r>
              <a:rPr lang="en-US" altLang="zh-CN" sz="2800" dirty="0">
                <a:solidFill>
                  <a:srgbClr val="000000"/>
                </a:solidFill>
              </a:rPr>
              <a:t>diagnosis</a:t>
            </a:r>
            <a:r>
              <a:rPr lang="zh-CN" altLang="en-US" sz="2800" dirty="0">
                <a:solidFill>
                  <a:srgbClr val="000000"/>
                </a:solidFill>
              </a:rPr>
              <a:t>、</a:t>
            </a:r>
            <a:r>
              <a:rPr lang="en-US" altLang="zh-CN" sz="2800" dirty="0" err="1">
                <a:solidFill>
                  <a:srgbClr val="000000"/>
                </a:solidFill>
              </a:rPr>
              <a:t>DyCause</a:t>
            </a:r>
            <a:r>
              <a:rPr lang="zh-CN" altLang="en-US" sz="2800" dirty="0">
                <a:solidFill>
                  <a:srgbClr val="000000"/>
                </a:solidFill>
              </a:rPr>
              <a:t>、</a:t>
            </a:r>
            <a:r>
              <a:rPr lang="en-US" altLang="zh-CN" sz="2800" dirty="0" err="1">
                <a:solidFill>
                  <a:srgbClr val="000000"/>
                </a:solidFill>
              </a:rPr>
              <a:t>CloudRanger</a:t>
            </a:r>
            <a:r>
              <a:rPr lang="zh-CN" altLang="en-US" sz="2800" dirty="0">
                <a:solidFill>
                  <a:srgbClr val="000000"/>
                </a:solidFill>
              </a:rPr>
              <a:t>、</a:t>
            </a:r>
            <a:r>
              <a:rPr lang="en-US" altLang="zh-CN" sz="2800" dirty="0">
                <a:solidFill>
                  <a:srgbClr val="000000"/>
                </a:solidFill>
              </a:rPr>
              <a:t>RCD</a:t>
            </a:r>
            <a:r>
              <a:rPr lang="zh-CN" altLang="en-US" sz="2800" dirty="0">
                <a:solidFill>
                  <a:srgbClr val="000000"/>
                </a:solidFill>
              </a:rPr>
              <a:t>、</a:t>
            </a:r>
            <a:r>
              <a:rPr lang="en-US" altLang="zh-CN" sz="2800" dirty="0">
                <a:solidFill>
                  <a:srgbClr val="000000"/>
                </a:solidFill>
              </a:rPr>
              <a:t>CIRCA</a:t>
            </a:r>
            <a:r>
              <a:rPr lang="zh-CN" altLang="en-US" sz="2800" dirty="0">
                <a:solidFill>
                  <a:srgbClr val="000000"/>
                </a:solidFill>
              </a:rPr>
              <a:t>、</a:t>
            </a:r>
            <a:r>
              <a:rPr lang="en-US" altLang="zh-CN" sz="2800" dirty="0">
                <a:solidFill>
                  <a:srgbClr val="000000"/>
                </a:solidFill>
              </a:rPr>
              <a:t>Granger causality test</a:t>
            </a:r>
            <a:r>
              <a:rPr lang="zh-CN" altLang="en-US" sz="2800" dirty="0">
                <a:solidFill>
                  <a:srgbClr val="000000"/>
                </a:solidFill>
              </a:rPr>
              <a:t>、</a:t>
            </a:r>
            <a:r>
              <a:rPr lang="en-US" altLang="zh-CN" sz="2800" dirty="0">
                <a:solidFill>
                  <a:srgbClr val="000000"/>
                </a:solidFill>
              </a:rPr>
              <a:t>PCMCI </a:t>
            </a:r>
            <a:r>
              <a:rPr lang="zh-CN" altLang="en-US" sz="2800" dirty="0">
                <a:solidFill>
                  <a:srgbClr val="000000"/>
                </a:solidFill>
              </a:rPr>
              <a:t>、</a:t>
            </a:r>
            <a:r>
              <a:rPr lang="en-US" altLang="zh-CN" sz="2800" dirty="0" err="1">
                <a:solidFill>
                  <a:srgbClr val="000000"/>
                </a:solidFill>
              </a:rPr>
              <a:t>cMLP</a:t>
            </a:r>
            <a:r>
              <a:rPr lang="zh-CN" altLang="en-US" sz="2800" dirty="0">
                <a:solidFill>
                  <a:srgbClr val="000000"/>
                </a:solidFill>
              </a:rPr>
              <a:t>、</a:t>
            </a:r>
            <a:r>
              <a:rPr lang="en-US" altLang="zh-CN" sz="2800" dirty="0">
                <a:solidFill>
                  <a:srgbClr val="000000"/>
                </a:solidFill>
              </a:rPr>
              <a:t>TCDF.</a:t>
            </a:r>
          </a:p>
          <a:p>
            <a:pPr marL="742950" lvl="1" indent="-285750">
              <a:spcBef>
                <a:spcPts val="400"/>
              </a:spcBef>
              <a:buFont typeface="Arial" panose="020B0604020202020204" pitchFamily="34" charset="0"/>
              <a:buChar char="•"/>
            </a:pPr>
            <a:r>
              <a:rPr lang="en-US" altLang="zh-CN" sz="2800" b="1" dirty="0"/>
              <a:t>Evaluation Metrics: </a:t>
            </a:r>
            <a:r>
              <a:rPr lang="en-US" altLang="zh-CN" sz="2800" dirty="0"/>
              <a:t> </a:t>
            </a:r>
          </a:p>
          <a:p>
            <a:pPr marL="1200150" lvl="2" indent="-285750">
              <a:spcBef>
                <a:spcPts val="400"/>
              </a:spcBef>
              <a:buFont typeface="Arial" panose="020B0604020202020204" pitchFamily="34" charset="0"/>
              <a:buChar char="•"/>
            </a:pPr>
            <a:r>
              <a:rPr lang="en-US" altLang="zh-CN" sz="2800" dirty="0"/>
              <a:t>Causal Discovery: </a:t>
            </a:r>
            <a:r>
              <a:rPr lang="en-US" altLang="zh-CN" sz="2800" dirty="0" err="1"/>
              <a:t>PR@k</a:t>
            </a:r>
            <a:r>
              <a:rPr lang="en-US" altLang="zh-CN" sz="2800" dirty="0"/>
              <a:t>% </a:t>
            </a:r>
            <a:r>
              <a:rPr lang="en-US" altLang="zh-CN" sz="2600" dirty="0"/>
              <a:t>.</a:t>
            </a:r>
          </a:p>
          <a:p>
            <a:pPr marL="1200150" lvl="2" indent="-285750">
              <a:spcBef>
                <a:spcPts val="400"/>
              </a:spcBef>
              <a:buFont typeface="Arial" panose="020B0604020202020204" pitchFamily="34" charset="0"/>
              <a:buChar char="•"/>
            </a:pPr>
            <a:r>
              <a:rPr lang="en-US" altLang="zh-CN" sz="2800" dirty="0"/>
              <a:t>Root Cause Analysis: </a:t>
            </a:r>
            <a:r>
              <a:rPr lang="en-US" altLang="zh-CN" sz="2800" dirty="0" err="1"/>
              <a:t>RankScore</a:t>
            </a:r>
            <a:r>
              <a:rPr lang="en-US" altLang="zh-CN" sz="2800" dirty="0"/>
              <a:t>.</a:t>
            </a:r>
            <a:endParaRPr lang="en-US" altLang="zh-CN" sz="2800" dirty="0">
              <a:solidFill>
                <a:srgbClr val="000000"/>
              </a:solidFill>
            </a:endParaRPr>
          </a:p>
          <a:p>
            <a:pPr marL="742950" lvl="1" indent="-285750">
              <a:buFont typeface="Arial" panose="020B0604020202020204" pitchFamily="34" charset="0"/>
              <a:buChar char="•"/>
            </a:pPr>
            <a:endParaRPr lang="en-US" altLang="zh-CN" sz="2800" dirty="0">
              <a:solidFill>
                <a:srgbClr val="000000"/>
              </a:solidFill>
            </a:endParaRPr>
          </a:p>
        </p:txBody>
      </p:sp>
    </p:spTree>
    <p:extLst>
      <p:ext uri="{BB962C8B-B14F-4D97-AF65-F5344CB8AC3E}">
        <p14:creationId xmlns:p14="http://schemas.microsoft.com/office/powerpoint/2010/main" val="3505259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1081C8D6-BF06-BCB6-6B60-DF551B3CF340}"/>
              </a:ext>
            </a:extLst>
          </p:cNvPr>
          <p:cNvSpPr txBox="1"/>
          <p:nvPr/>
        </p:nvSpPr>
        <p:spPr>
          <a:xfrm>
            <a:off x="350981" y="203200"/>
            <a:ext cx="9748516" cy="769441"/>
          </a:xfrm>
          <a:prstGeom prst="rect">
            <a:avLst/>
          </a:prstGeom>
          <a:noFill/>
        </p:spPr>
        <p:txBody>
          <a:bodyPr wrap="square" rtlCol="0">
            <a:spAutoFit/>
          </a:bodyPr>
          <a:lstStyle/>
          <a:p>
            <a:r>
              <a:rPr lang="en-US" altLang="zh-CN" sz="4400" dirty="0"/>
              <a:t>4.2 Diagnostic Accuracy</a:t>
            </a:r>
            <a:endParaRPr lang="zh-CN" altLang="en-US" sz="4400" dirty="0"/>
          </a:p>
        </p:txBody>
      </p:sp>
      <p:sp>
        <p:nvSpPr>
          <p:cNvPr id="9" name="文本框 8">
            <a:extLst>
              <a:ext uri="{FF2B5EF4-FFF2-40B4-BE49-F238E27FC236}">
                <a16:creationId xmlns:a16="http://schemas.microsoft.com/office/drawing/2014/main" id="{F4472CD0-6917-2738-4BD0-64F3A3500A7F}"/>
              </a:ext>
            </a:extLst>
          </p:cNvPr>
          <p:cNvSpPr txBox="1"/>
          <p:nvPr/>
        </p:nvSpPr>
        <p:spPr>
          <a:xfrm>
            <a:off x="1" y="1412752"/>
            <a:ext cx="11554690" cy="954107"/>
          </a:xfrm>
          <a:prstGeom prst="rect">
            <a:avLst/>
          </a:prstGeom>
          <a:noFill/>
        </p:spPr>
        <p:txBody>
          <a:bodyPr wrap="square" rtlCol="0">
            <a:spAutoFit/>
          </a:bodyPr>
          <a:lstStyle/>
          <a:p>
            <a:pPr marL="742950" lvl="1" indent="-285750">
              <a:buFont typeface="Arial" panose="020B0604020202020204" pitchFamily="34" charset="0"/>
              <a:buChar char="•"/>
            </a:pPr>
            <a:r>
              <a:rPr lang="en-US" altLang="zh-CN" sz="2800" dirty="0">
                <a:solidFill>
                  <a:srgbClr val="000000"/>
                </a:solidFill>
              </a:rPr>
              <a:t>We run root cause identification on each case of our dataset with </a:t>
            </a:r>
            <a:r>
              <a:rPr lang="en-US" altLang="zh-CN" sz="2800" dirty="0" err="1">
                <a:solidFill>
                  <a:srgbClr val="000000"/>
                </a:solidFill>
              </a:rPr>
              <a:t>FaultInsight</a:t>
            </a:r>
            <a:r>
              <a:rPr lang="en-US" altLang="zh-CN" sz="2800" dirty="0">
                <a:solidFill>
                  <a:srgbClr val="000000"/>
                </a:solidFill>
              </a:rPr>
              <a:t> and baselines.</a:t>
            </a:r>
          </a:p>
        </p:txBody>
      </p:sp>
      <p:pic>
        <p:nvPicPr>
          <p:cNvPr id="5" name="图片 4">
            <a:extLst>
              <a:ext uri="{FF2B5EF4-FFF2-40B4-BE49-F238E27FC236}">
                <a16:creationId xmlns:a16="http://schemas.microsoft.com/office/drawing/2014/main" id="{D3752110-CDB7-761A-97AC-DF42119847B4}"/>
              </a:ext>
            </a:extLst>
          </p:cNvPr>
          <p:cNvPicPr>
            <a:picLocks noChangeAspect="1"/>
          </p:cNvPicPr>
          <p:nvPr/>
        </p:nvPicPr>
        <p:blipFill>
          <a:blip r:embed="rId3"/>
          <a:stretch>
            <a:fillRect/>
          </a:stretch>
        </p:blipFill>
        <p:spPr>
          <a:xfrm>
            <a:off x="155865" y="3093470"/>
            <a:ext cx="11897591" cy="2648522"/>
          </a:xfrm>
          <a:prstGeom prst="rect">
            <a:avLst/>
          </a:prstGeom>
        </p:spPr>
      </p:pic>
    </p:spTree>
    <p:extLst>
      <p:ext uri="{BB962C8B-B14F-4D97-AF65-F5344CB8AC3E}">
        <p14:creationId xmlns:p14="http://schemas.microsoft.com/office/powerpoint/2010/main" val="23019707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052821-4E11-9A6F-F71A-B5B0712E4314}"/>
            </a:ext>
          </a:extLst>
        </p:cNvPr>
        <p:cNvGrpSpPr/>
        <p:nvPr/>
      </p:nvGrpSpPr>
      <p:grpSpPr>
        <a:xfrm>
          <a:off x="0" y="0"/>
          <a:ext cx="0" cy="0"/>
          <a:chOff x="0" y="0"/>
          <a:chExt cx="0" cy="0"/>
        </a:xfrm>
      </p:grpSpPr>
      <p:pic>
        <p:nvPicPr>
          <p:cNvPr id="11" name="图片 10">
            <a:extLst>
              <a:ext uri="{FF2B5EF4-FFF2-40B4-BE49-F238E27FC236}">
                <a16:creationId xmlns:a16="http://schemas.microsoft.com/office/drawing/2014/main" id="{3E56D7A6-5704-0D47-92BF-F813A76100E6}"/>
              </a:ext>
            </a:extLst>
          </p:cNvPr>
          <p:cNvPicPr>
            <a:picLocks noChangeAspect="1"/>
          </p:cNvPicPr>
          <p:nvPr/>
        </p:nvPicPr>
        <p:blipFill>
          <a:blip r:embed="rId3"/>
          <a:stretch>
            <a:fillRect/>
          </a:stretch>
        </p:blipFill>
        <p:spPr>
          <a:xfrm>
            <a:off x="2469084" y="4457770"/>
            <a:ext cx="7253831" cy="2400230"/>
          </a:xfrm>
          <a:prstGeom prst="rect">
            <a:avLst/>
          </a:prstGeom>
        </p:spPr>
      </p:pic>
      <p:pic>
        <p:nvPicPr>
          <p:cNvPr id="6" name="图片 5">
            <a:extLst>
              <a:ext uri="{FF2B5EF4-FFF2-40B4-BE49-F238E27FC236}">
                <a16:creationId xmlns:a16="http://schemas.microsoft.com/office/drawing/2014/main" id="{365FADA4-11D3-FEBB-5A4A-55F1FF87A919}"/>
              </a:ext>
            </a:extLst>
          </p:cNvPr>
          <p:cNvPicPr>
            <a:picLocks noChangeAspect="1"/>
          </p:cNvPicPr>
          <p:nvPr/>
        </p:nvPicPr>
        <p:blipFill>
          <a:blip r:embed="rId4"/>
          <a:stretch>
            <a:fillRect/>
          </a:stretch>
        </p:blipFill>
        <p:spPr>
          <a:xfrm>
            <a:off x="3438154" y="1537830"/>
            <a:ext cx="5315692" cy="2553056"/>
          </a:xfrm>
          <a:prstGeom prst="rect">
            <a:avLst/>
          </a:prstGeom>
        </p:spPr>
      </p:pic>
      <p:sp>
        <p:nvSpPr>
          <p:cNvPr id="4" name="文本框 3">
            <a:extLst>
              <a:ext uri="{FF2B5EF4-FFF2-40B4-BE49-F238E27FC236}">
                <a16:creationId xmlns:a16="http://schemas.microsoft.com/office/drawing/2014/main" id="{32235C99-BB69-07A6-E3F7-5FC2DE7BA806}"/>
              </a:ext>
            </a:extLst>
          </p:cNvPr>
          <p:cNvSpPr txBox="1"/>
          <p:nvPr/>
        </p:nvSpPr>
        <p:spPr>
          <a:xfrm>
            <a:off x="350981" y="203200"/>
            <a:ext cx="9748516" cy="769441"/>
          </a:xfrm>
          <a:prstGeom prst="rect">
            <a:avLst/>
          </a:prstGeom>
          <a:noFill/>
        </p:spPr>
        <p:txBody>
          <a:bodyPr wrap="square" rtlCol="0">
            <a:spAutoFit/>
          </a:bodyPr>
          <a:lstStyle/>
          <a:p>
            <a:r>
              <a:rPr lang="en-US" altLang="zh-CN" sz="4400" dirty="0"/>
              <a:t>4.3 Efficiency Analysis</a:t>
            </a:r>
            <a:endParaRPr lang="zh-CN" altLang="en-US" sz="4400" dirty="0"/>
          </a:p>
        </p:txBody>
      </p:sp>
      <p:sp>
        <p:nvSpPr>
          <p:cNvPr id="9" name="文本框 8">
            <a:extLst>
              <a:ext uri="{FF2B5EF4-FFF2-40B4-BE49-F238E27FC236}">
                <a16:creationId xmlns:a16="http://schemas.microsoft.com/office/drawing/2014/main" id="{96641E3D-7360-D3D1-1C76-EA88BE7C156B}"/>
              </a:ext>
            </a:extLst>
          </p:cNvPr>
          <p:cNvSpPr txBox="1"/>
          <p:nvPr/>
        </p:nvSpPr>
        <p:spPr>
          <a:xfrm>
            <a:off x="0" y="1070792"/>
            <a:ext cx="9185564" cy="523220"/>
          </a:xfrm>
          <a:prstGeom prst="rect">
            <a:avLst/>
          </a:prstGeom>
          <a:noFill/>
        </p:spPr>
        <p:txBody>
          <a:bodyPr wrap="square" rtlCol="0">
            <a:spAutoFit/>
          </a:bodyPr>
          <a:lstStyle/>
          <a:p>
            <a:pPr marL="742950" lvl="1" indent="-285750">
              <a:buFont typeface="Arial" panose="020B0604020202020204" pitchFamily="34" charset="0"/>
              <a:buChar char="•"/>
            </a:pPr>
            <a:r>
              <a:rPr lang="en-US" altLang="zh-CN" sz="2800" dirty="0">
                <a:solidFill>
                  <a:srgbClr val="000000"/>
                </a:solidFill>
              </a:rPr>
              <a:t>Comparison of the distributions of time costs. </a:t>
            </a:r>
          </a:p>
        </p:txBody>
      </p:sp>
      <p:sp>
        <p:nvSpPr>
          <p:cNvPr id="5" name="文本框 4">
            <a:extLst>
              <a:ext uri="{FF2B5EF4-FFF2-40B4-BE49-F238E27FC236}">
                <a16:creationId xmlns:a16="http://schemas.microsoft.com/office/drawing/2014/main" id="{B187712E-E25A-4225-5FBB-2803CF7A02B9}"/>
              </a:ext>
            </a:extLst>
          </p:cNvPr>
          <p:cNvSpPr txBox="1"/>
          <p:nvPr/>
        </p:nvSpPr>
        <p:spPr>
          <a:xfrm>
            <a:off x="3315" y="4043642"/>
            <a:ext cx="7872994" cy="523220"/>
          </a:xfrm>
          <a:prstGeom prst="rect">
            <a:avLst/>
          </a:prstGeom>
          <a:noFill/>
        </p:spPr>
        <p:txBody>
          <a:bodyPr wrap="square" rtlCol="0">
            <a:spAutoFit/>
          </a:bodyPr>
          <a:lstStyle/>
          <a:p>
            <a:pPr marL="742950" lvl="1" indent="-285750">
              <a:buFont typeface="Arial" panose="020B0604020202020204" pitchFamily="34" charset="0"/>
              <a:buChar char="•"/>
            </a:pPr>
            <a:r>
              <a:rPr lang="en-US" altLang="zh-CN" sz="2800" dirty="0"/>
              <a:t>Scalability on large scale datasets.</a:t>
            </a:r>
            <a:endParaRPr lang="en-US" altLang="zh-CN" sz="2800" dirty="0">
              <a:solidFill>
                <a:srgbClr val="000000"/>
              </a:solidFill>
            </a:endParaRPr>
          </a:p>
        </p:txBody>
      </p:sp>
    </p:spTree>
    <p:extLst>
      <p:ext uri="{BB962C8B-B14F-4D97-AF65-F5344CB8AC3E}">
        <p14:creationId xmlns:p14="http://schemas.microsoft.com/office/powerpoint/2010/main" val="13649725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1081C8D6-BF06-BCB6-6B60-DF551B3CF340}"/>
              </a:ext>
            </a:extLst>
          </p:cNvPr>
          <p:cNvSpPr txBox="1"/>
          <p:nvPr/>
        </p:nvSpPr>
        <p:spPr>
          <a:xfrm>
            <a:off x="350981" y="203200"/>
            <a:ext cx="9748516" cy="769441"/>
          </a:xfrm>
          <a:prstGeom prst="rect">
            <a:avLst/>
          </a:prstGeom>
          <a:noFill/>
        </p:spPr>
        <p:txBody>
          <a:bodyPr wrap="square" rtlCol="0">
            <a:spAutoFit/>
          </a:bodyPr>
          <a:lstStyle/>
          <a:p>
            <a:r>
              <a:rPr lang="en-US" altLang="zh-CN" sz="4400" dirty="0"/>
              <a:t>4.4 Sensitivity Analysis</a:t>
            </a:r>
            <a:endParaRPr lang="zh-CN" altLang="en-US" sz="4400" dirty="0"/>
          </a:p>
        </p:txBody>
      </p:sp>
      <p:sp>
        <p:nvSpPr>
          <p:cNvPr id="9" name="文本框 8">
            <a:extLst>
              <a:ext uri="{FF2B5EF4-FFF2-40B4-BE49-F238E27FC236}">
                <a16:creationId xmlns:a16="http://schemas.microsoft.com/office/drawing/2014/main" id="{F4472CD0-6917-2738-4BD0-64F3A3500A7F}"/>
              </a:ext>
            </a:extLst>
          </p:cNvPr>
          <p:cNvSpPr txBox="1"/>
          <p:nvPr/>
        </p:nvSpPr>
        <p:spPr>
          <a:xfrm>
            <a:off x="0" y="1432658"/>
            <a:ext cx="11311847" cy="523220"/>
          </a:xfrm>
          <a:prstGeom prst="rect">
            <a:avLst/>
          </a:prstGeom>
          <a:noFill/>
        </p:spPr>
        <p:txBody>
          <a:bodyPr wrap="square" rtlCol="0">
            <a:spAutoFit/>
          </a:bodyPr>
          <a:lstStyle/>
          <a:p>
            <a:pPr marL="742950" lvl="1" indent="-285750" algn="just">
              <a:buFont typeface="Arial" panose="020B0604020202020204" pitchFamily="34" charset="0"/>
              <a:buChar char="•"/>
            </a:pPr>
            <a:r>
              <a:rPr lang="en-US" altLang="zh-CN" sz="2800" dirty="0"/>
              <a:t>Figure analyzes the sensitivity on α and β. </a:t>
            </a:r>
            <a:endParaRPr lang="en-US" altLang="zh-CN" sz="2800" dirty="0">
              <a:solidFill>
                <a:srgbClr val="000000"/>
              </a:solidFill>
            </a:endParaRPr>
          </a:p>
        </p:txBody>
      </p:sp>
      <p:pic>
        <p:nvPicPr>
          <p:cNvPr id="5" name="图片 4">
            <a:extLst>
              <a:ext uri="{FF2B5EF4-FFF2-40B4-BE49-F238E27FC236}">
                <a16:creationId xmlns:a16="http://schemas.microsoft.com/office/drawing/2014/main" id="{854E1099-D7DD-8C87-E9ED-6B73C36FA307}"/>
              </a:ext>
            </a:extLst>
          </p:cNvPr>
          <p:cNvPicPr>
            <a:picLocks noChangeAspect="1"/>
          </p:cNvPicPr>
          <p:nvPr/>
        </p:nvPicPr>
        <p:blipFill>
          <a:blip r:embed="rId3"/>
          <a:stretch>
            <a:fillRect/>
          </a:stretch>
        </p:blipFill>
        <p:spPr>
          <a:xfrm>
            <a:off x="1771046" y="2490116"/>
            <a:ext cx="8649907" cy="3353268"/>
          </a:xfrm>
          <a:prstGeom prst="rect">
            <a:avLst/>
          </a:prstGeom>
        </p:spPr>
      </p:pic>
    </p:spTree>
    <p:extLst>
      <p:ext uri="{BB962C8B-B14F-4D97-AF65-F5344CB8AC3E}">
        <p14:creationId xmlns:p14="http://schemas.microsoft.com/office/powerpoint/2010/main" val="4674248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1081C8D6-BF06-BCB6-6B60-DF551B3CF340}"/>
              </a:ext>
            </a:extLst>
          </p:cNvPr>
          <p:cNvSpPr txBox="1"/>
          <p:nvPr/>
        </p:nvSpPr>
        <p:spPr>
          <a:xfrm>
            <a:off x="350981" y="203200"/>
            <a:ext cx="9748516" cy="769441"/>
          </a:xfrm>
          <a:prstGeom prst="rect">
            <a:avLst/>
          </a:prstGeom>
          <a:noFill/>
        </p:spPr>
        <p:txBody>
          <a:bodyPr wrap="square" rtlCol="0">
            <a:spAutoFit/>
          </a:bodyPr>
          <a:lstStyle/>
          <a:p>
            <a:r>
              <a:rPr lang="en-US" altLang="zh-CN" sz="4400" dirty="0"/>
              <a:t>4.5 Ablation Study</a:t>
            </a:r>
            <a:endParaRPr lang="zh-CN" altLang="en-US" sz="4400" dirty="0"/>
          </a:p>
        </p:txBody>
      </p:sp>
      <p:sp>
        <p:nvSpPr>
          <p:cNvPr id="9" name="文本框 8">
            <a:extLst>
              <a:ext uri="{FF2B5EF4-FFF2-40B4-BE49-F238E27FC236}">
                <a16:creationId xmlns:a16="http://schemas.microsoft.com/office/drawing/2014/main" id="{F4472CD0-6917-2738-4BD0-64F3A3500A7F}"/>
              </a:ext>
            </a:extLst>
          </p:cNvPr>
          <p:cNvSpPr txBox="1"/>
          <p:nvPr/>
        </p:nvSpPr>
        <p:spPr>
          <a:xfrm>
            <a:off x="0" y="1432658"/>
            <a:ext cx="11311847" cy="954107"/>
          </a:xfrm>
          <a:prstGeom prst="rect">
            <a:avLst/>
          </a:prstGeom>
          <a:noFill/>
        </p:spPr>
        <p:txBody>
          <a:bodyPr wrap="square" rtlCol="0">
            <a:spAutoFit/>
          </a:bodyPr>
          <a:lstStyle/>
          <a:p>
            <a:pPr marL="742950" lvl="1" indent="-285750" algn="just">
              <a:buFont typeface="Arial" panose="020B0604020202020204" pitchFamily="34" charset="0"/>
              <a:buChar char="•"/>
            </a:pPr>
            <a:r>
              <a:rPr lang="en-US" altLang="zh-CN" sz="2800" dirty="0"/>
              <a:t>We compare </a:t>
            </a:r>
            <a:r>
              <a:rPr lang="en-US" altLang="zh-CN" sz="2800" dirty="0" err="1"/>
              <a:t>FaultInsight</a:t>
            </a:r>
            <a:r>
              <a:rPr lang="en-US" altLang="zh-CN" sz="2800" dirty="0"/>
              <a:t> with two variants: no reconstruction and no regularization.</a:t>
            </a:r>
            <a:endParaRPr lang="en-US" altLang="zh-CN" sz="2800" dirty="0">
              <a:solidFill>
                <a:srgbClr val="000000"/>
              </a:solidFill>
            </a:endParaRPr>
          </a:p>
        </p:txBody>
      </p:sp>
      <p:pic>
        <p:nvPicPr>
          <p:cNvPr id="3" name="图片 2">
            <a:extLst>
              <a:ext uri="{FF2B5EF4-FFF2-40B4-BE49-F238E27FC236}">
                <a16:creationId xmlns:a16="http://schemas.microsoft.com/office/drawing/2014/main" id="{1DBF2108-63D8-03FF-0A9C-8E9223C6AB58}"/>
              </a:ext>
            </a:extLst>
          </p:cNvPr>
          <p:cNvPicPr>
            <a:picLocks noChangeAspect="1"/>
          </p:cNvPicPr>
          <p:nvPr/>
        </p:nvPicPr>
        <p:blipFill>
          <a:blip r:embed="rId3"/>
          <a:stretch>
            <a:fillRect/>
          </a:stretch>
        </p:blipFill>
        <p:spPr>
          <a:xfrm>
            <a:off x="1338857" y="2840812"/>
            <a:ext cx="9514286" cy="3171429"/>
          </a:xfrm>
          <a:prstGeom prst="rect">
            <a:avLst/>
          </a:prstGeom>
        </p:spPr>
      </p:pic>
    </p:spTree>
    <p:extLst>
      <p:ext uri="{BB962C8B-B14F-4D97-AF65-F5344CB8AC3E}">
        <p14:creationId xmlns:p14="http://schemas.microsoft.com/office/powerpoint/2010/main" val="420943288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1081C8D6-BF06-BCB6-6B60-DF551B3CF340}"/>
              </a:ext>
            </a:extLst>
          </p:cNvPr>
          <p:cNvSpPr txBox="1"/>
          <p:nvPr/>
        </p:nvSpPr>
        <p:spPr>
          <a:xfrm>
            <a:off x="350981" y="203200"/>
            <a:ext cx="9748516" cy="769441"/>
          </a:xfrm>
          <a:prstGeom prst="rect">
            <a:avLst/>
          </a:prstGeom>
          <a:noFill/>
        </p:spPr>
        <p:txBody>
          <a:bodyPr wrap="square" rtlCol="0">
            <a:spAutoFit/>
          </a:bodyPr>
          <a:lstStyle/>
          <a:p>
            <a:r>
              <a:rPr lang="en-US" altLang="zh-CN" sz="4400" dirty="0"/>
              <a:t>5. Conclusion </a:t>
            </a:r>
            <a:endParaRPr lang="zh-CN" altLang="en-US" sz="4400" dirty="0"/>
          </a:p>
        </p:txBody>
      </p:sp>
      <p:sp>
        <p:nvSpPr>
          <p:cNvPr id="3" name="内容占位符 6">
            <a:extLst>
              <a:ext uri="{FF2B5EF4-FFF2-40B4-BE49-F238E27FC236}">
                <a16:creationId xmlns:a16="http://schemas.microsoft.com/office/drawing/2014/main" id="{630B4939-53A9-0F0D-94AC-321E78DE633A}"/>
              </a:ext>
            </a:extLst>
          </p:cNvPr>
          <p:cNvSpPr>
            <a:spLocks noGrp="1"/>
          </p:cNvSpPr>
          <p:nvPr/>
        </p:nvSpPr>
        <p:spPr>
          <a:xfrm>
            <a:off x="838200" y="1188917"/>
            <a:ext cx="11059274" cy="546588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spcBef>
                <a:spcPts val="600"/>
              </a:spcBef>
            </a:pPr>
            <a:r>
              <a:rPr lang="en-US" altLang="zh-CN" sz="2600" dirty="0"/>
              <a:t>This paper presents </a:t>
            </a:r>
            <a:r>
              <a:rPr lang="en-US" altLang="zh-CN" sz="2600" dirty="0" err="1"/>
              <a:t>FaultInsight</a:t>
            </a:r>
            <a:r>
              <a:rPr lang="en-US" altLang="zh-CN" sz="2600" dirty="0"/>
              <a:t>, a highly interpretable deep causal diagnostic framework specifically for addressing host level faults in hyperscale data centers.</a:t>
            </a:r>
          </a:p>
          <a:p>
            <a:pPr lvl="1">
              <a:lnSpc>
                <a:spcPct val="120000"/>
              </a:lnSpc>
              <a:spcBef>
                <a:spcPts val="600"/>
              </a:spcBef>
            </a:pPr>
            <a:r>
              <a:rPr lang="en-US" altLang="zh-CN" dirty="0"/>
              <a:t>We propose a dynamic causal discovery method that captures the underlying fault dynamics using heterogeneous host metrics from distinct system components, analyze the anomalous influence within the captured fault dynamics.</a:t>
            </a:r>
          </a:p>
          <a:p>
            <a:pPr lvl="1">
              <a:lnSpc>
                <a:spcPct val="120000"/>
              </a:lnSpc>
              <a:spcBef>
                <a:spcPts val="600"/>
              </a:spcBef>
            </a:pPr>
            <a:r>
              <a:rPr lang="en-US" altLang="zh-CN" dirty="0"/>
              <a:t>Throughout this paper, we illustrate the concept of dynamic metric influence and three proposed insights using a real-world running case.</a:t>
            </a:r>
          </a:p>
          <a:p>
            <a:pPr lvl="1">
              <a:lnSpc>
                <a:spcPct val="120000"/>
              </a:lnSpc>
              <a:spcBef>
                <a:spcPts val="600"/>
              </a:spcBef>
            </a:pPr>
            <a:r>
              <a:rPr lang="en-US" altLang="zh-CN" dirty="0"/>
              <a:t>The evaluation demonstrates the accuracy, computational efficiency, and effectiveness of </a:t>
            </a:r>
            <a:r>
              <a:rPr lang="en-US" altLang="zh-CN" dirty="0" err="1"/>
              <a:t>FaultInsight</a:t>
            </a:r>
            <a:r>
              <a:rPr lang="en-US" altLang="zh-CN" dirty="0"/>
              <a:t>.</a:t>
            </a:r>
          </a:p>
        </p:txBody>
      </p:sp>
    </p:spTree>
    <p:extLst>
      <p:ext uri="{BB962C8B-B14F-4D97-AF65-F5344CB8AC3E}">
        <p14:creationId xmlns:p14="http://schemas.microsoft.com/office/powerpoint/2010/main" val="2785504821"/>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26036</TotalTime>
  <Words>2905</Words>
  <Application>Microsoft Office PowerPoint</Application>
  <PresentationFormat>宽屏</PresentationFormat>
  <Paragraphs>139</Paragraphs>
  <Slides>20</Slides>
  <Notes>20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20</vt:i4>
      </vt:variant>
    </vt:vector>
  </HeadingPairs>
  <TitlesOfParts>
    <vt:vector size="28" baseType="lpstr">
      <vt:lpstr>Inter</vt:lpstr>
      <vt:lpstr>ui-sans-serif</vt:lpstr>
      <vt:lpstr>等线</vt:lpstr>
      <vt:lpstr>等线 Light</vt:lpstr>
      <vt:lpstr>Arial</vt:lpstr>
      <vt:lpstr>Cambria Math</vt:lpstr>
      <vt:lpstr>Montserrat</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tingfeng</dc:creator>
  <cp:lastModifiedBy>tingfeng</cp:lastModifiedBy>
  <cp:revision>384</cp:revision>
  <dcterms:created xsi:type="dcterms:W3CDTF">2025-11-24T07:21:15Z</dcterms:created>
  <dcterms:modified xsi:type="dcterms:W3CDTF">2026-06-15T01:26:54Z</dcterms:modified>
</cp:coreProperties>
</file>