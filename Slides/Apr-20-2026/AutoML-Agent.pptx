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30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37CA1-BFC7-45E4-8EB1-78A5FA2DFCF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DE7EB-9A19-46AE-B247-3F5D661F6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94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DE7EB-9A19-46AE-B247-3F5D661F6D5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365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869CE-D8CB-4E59-A1D5-D5BBD6D7AD1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ADE76-9244-9ADE-C3BD-1BF39EB97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54C09B-A1DD-F919-75C9-61E2D137C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7F74FF-4002-627A-FB60-B9173590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2E1A-01C5-4056-B2FC-ECB63E18676D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DBD57-2F98-C214-5CED-19CA9930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D40DC-5C73-B343-9723-44F02583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83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EF92B-D128-3358-A33D-355FB1EC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828E3-D5D9-4BCC-C138-156896C7F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E50F1-E971-BBBF-A7BA-72F9B1E8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11A6-C28C-405B-A90D-A52B6AB996A1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E7A5F7-8CB2-A2F9-AFE1-C4446414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D302F-4E94-297E-DF27-AA0A7E7A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20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74CDB-4F94-3EED-4ADA-2A1A22B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BE9FEA-7A75-D9F3-D869-DFA0BA543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3A8F5-5EAA-7134-D208-30FC7BD0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24763-F106-4172-8CE6-CEDC07DB0052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64108-4E8E-44BE-2CC0-F625F0065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D8BD1-034A-5D7F-6918-A65BC559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39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5325F-7E39-3E67-1173-663EC382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0A9DE6-1674-11DA-FE43-5AEFF39ED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23B00-0B45-BEDF-2848-0FECDBBAC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AFE27-5680-6F7E-E186-E9192D99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C6CBF-B58A-435C-951F-5C18D50C16FF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BE36B7-62FA-E506-D765-D4649EFA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A2C11F-D1D2-EC38-7D21-3EA77C34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57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4810A-71A4-842E-0FAC-95028E33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8BFAEF-8E6B-2C29-453A-D9825A316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EBE7A8-C8D2-D50F-962A-ACAD12CD7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50B24E-94BC-9337-C517-1C66521AC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C342A5-743E-DE49-3CBC-8BC45DF71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BBCCB-BF9C-0138-DD59-99376DE0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495C-5816-461A-A749-4509D6627A9A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915B7D-8686-F0B8-8988-B211CD3D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9632B-C8FF-3F4B-5660-6CB7DDEF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03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D6151-33C0-71CD-5D06-2C775E72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A05F4D-272C-C846-C28B-8CE23A09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C3CA-1128-4B3B-89A1-48BD7E60E988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00F4B7-5E53-C578-9A07-12EBF0EE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495776-4ECC-0260-9106-8F2469F6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38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AA5BD0-B016-551A-8729-C8D80E8D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EAF-06FA-404B-83FD-10AA6C27026D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EFB46A-C56A-C9C4-2662-A8FAC3349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AC954-ADEC-D3BD-4179-58B3149E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98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347A3-0517-BB50-B264-7582D4C9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7B39A-CE53-FBCF-A618-AB562614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2AD83B-E6A9-7DF8-B60E-37CCDE648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FD9C76-AE1A-0072-E659-7D074657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3F9C-5D50-4018-B9C3-50612A121D58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815D0-F7CB-D854-EA3B-E4F02039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34B28E-D217-3CB0-5F1F-DA39B14D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41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4EFA2-B205-C3C8-AD87-68878D2E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069A01-262E-06B5-992A-51C342664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955D78-4143-449D-8DEF-7101904F6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AD351F-A3F3-3D37-E3FF-DB042242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BC34-A29E-4E8B-B525-20FF081869B7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088CA9-57D1-AAC5-8323-1494FB9D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755A2C-5D81-E8E5-74A3-252BA907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74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0834D-1DB5-1BFE-D905-55E57C06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6A6023-CBCE-5098-3353-336960378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143E33-3EC8-A3FD-D02E-2A48D58B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585D3-4C75-413E-ADC4-8D2487997A09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FE08B-7C6B-6047-6EED-C61041A0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F3638-9266-FE26-1D05-160B9553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0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CFE83E-C936-1AD2-CD8E-A5E3C5C84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6D22C6-57D3-7C42-7444-C650540E2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301CD-4CB7-6955-D98C-3F77985B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6BC1-3FBC-4582-8D9C-614BA1E65E23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BDB0B-9E3F-4B42-7D6B-3659B940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63928-C89B-5714-39E6-BA42FEC7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3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8E7BB9-E65E-AD7E-AF80-B2D63D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3C1227-8194-C126-CFFC-8D404C209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DF529-FDEB-99E1-CC1D-6C4C6917E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0D48E-B083-4333-B07B-6BABA134A992}" type="datetime1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80CED-612A-CC23-34C8-9F79E3B5A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565D82-B2EA-2650-1918-C21F095BA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6937B-69C6-4FF9-81C7-7CE240332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2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A4943-9220-D41A-133D-CF8E5198E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b="1" dirty="0" err="1"/>
              <a:t>AutoML</a:t>
            </a:r>
            <a:r>
              <a:rPr lang="en-US" altLang="zh-CN" sz="4400" b="1" dirty="0"/>
              <a:t>-Agent: A Multi-Agent LLM Framework for Full-Pipeline </a:t>
            </a:r>
            <a:r>
              <a:rPr lang="en-US" altLang="zh-CN" sz="4400" b="1" dirty="0" err="1"/>
              <a:t>AutoML</a:t>
            </a:r>
            <a:endParaRPr lang="zh-CN" altLang="en-US" sz="4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7D5110-8724-6731-AF52-A54FCAA8D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Patara </a:t>
            </a:r>
            <a:r>
              <a:rPr lang="en-US" altLang="zh-CN" dirty="0" err="1"/>
              <a:t>Trirat</a:t>
            </a:r>
            <a:r>
              <a:rPr lang="en-US" altLang="zh-CN" dirty="0"/>
              <a:t>,  </a:t>
            </a:r>
            <a:r>
              <a:rPr lang="en-US" altLang="zh-CN" dirty="0" err="1"/>
              <a:t>Wonyong</a:t>
            </a:r>
            <a:r>
              <a:rPr lang="en-US" altLang="zh-CN" dirty="0"/>
              <a:t> Jeong,  Sung Ju Hwang</a:t>
            </a:r>
          </a:p>
          <a:p>
            <a:r>
              <a:rPr lang="en-US" altLang="zh-CN" dirty="0"/>
              <a:t>ICML 2025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DB5183-DABE-7B88-C2B7-85152B79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10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65A8B-FE05-0EA0-80CF-90739D24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Background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21CDB-657B-A676-C605-AF1DDF740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Automated machine learning (</a:t>
            </a:r>
            <a:r>
              <a:rPr lang="en-US" altLang="zh-CN" dirty="0" err="1"/>
              <a:t>AutoML</a:t>
            </a:r>
            <a:r>
              <a:rPr lang="en-US" altLang="zh-CN" dirty="0"/>
              <a:t>) has significantly reduced the need for technical expertise and human labors in developing effective data-driven solutions by automating each process in the AI development pipeline, such as feature engineering, model selection, and hyperparameter optimization (HPO).</a:t>
            </a:r>
          </a:p>
          <a:p>
            <a:r>
              <a:rPr lang="en-US" altLang="zh-CN" dirty="0"/>
              <a:t>For an </a:t>
            </a:r>
            <a:r>
              <a:rPr lang="en-US" altLang="zh-CN" dirty="0" err="1"/>
              <a:t>AutoML</a:t>
            </a:r>
            <a:r>
              <a:rPr lang="en-US" altLang="zh-CN" dirty="0"/>
              <a:t> framework to be truly practical, it should perform end-to-end </a:t>
            </a:r>
            <a:r>
              <a:rPr lang="en-US" altLang="zh-CN" dirty="0" err="1"/>
              <a:t>AutoML</a:t>
            </a:r>
            <a:r>
              <a:rPr lang="en-US" altLang="zh-CN" dirty="0"/>
              <a:t>, considering both the </a:t>
            </a:r>
            <a:r>
              <a:rPr lang="en-US" altLang="zh-CN" b="1" dirty="0"/>
              <a:t>data aspects </a:t>
            </a:r>
            <a:r>
              <a:rPr lang="en-US" altLang="zh-CN" dirty="0"/>
              <a:t>(retrieval, preprocessing, and feature engineering) and </a:t>
            </a:r>
            <a:r>
              <a:rPr lang="en-US" altLang="zh-CN" b="1" dirty="0"/>
              <a:t>model aspects</a:t>
            </a:r>
            <a:r>
              <a:rPr lang="en-US" altLang="zh-CN" dirty="0"/>
              <a:t> (selection, HPO, and deployment).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C1DA7E-5C2C-7B4A-3B24-5A30F973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8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AA178-4274-1C39-7704-5B0F1CC5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Challenges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9BF6C-7010-3C99-73E4-A471363F6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High Complexity of Planning Tasks: the planning of the entire </a:t>
            </a:r>
            <a:r>
              <a:rPr lang="en-US" altLang="zh-CN" dirty="0" err="1"/>
              <a:t>AutoML</a:t>
            </a:r>
            <a:r>
              <a:rPr lang="en-US" altLang="zh-CN" dirty="0"/>
              <a:t> pipeline introduces extra complexities compared to task- or problem-specific planning, primarily due to the inter-dependencies among the steps in the pipeline. </a:t>
            </a:r>
          </a:p>
          <a:p>
            <a:r>
              <a:rPr lang="en-US" altLang="zh-CN" dirty="0"/>
              <a:t>Challenges in Accurate Implementations: using LLMs to autonomously generate complete ML pipelines may lead to hallucination issues, including code incompletion, incorrect or missing dependencies, and potential undiscovered bugs.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05E0D0-B0B5-4E94-AA7B-EB14E512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0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5CB3A-A864-95C5-BF75-2E0C5D3D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Contributions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CC6B1-EB56-9E4D-5B0D-0E8ABCFD6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To resolve this issue, we leverage the power of LLMs, which can understand tasks expressed in natural language and generate plans and code to solve them. 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233504-7BAE-B3E5-F72B-BE47BBC9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38" y="2659631"/>
            <a:ext cx="5047034" cy="36522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90B795-B784-CEE9-E9A6-14B29DB70CF0}"/>
              </a:ext>
            </a:extLst>
          </p:cNvPr>
          <p:cNvSpPr txBox="1"/>
          <p:nvPr/>
        </p:nvSpPr>
        <p:spPr>
          <a:xfrm>
            <a:off x="6463282" y="3593050"/>
            <a:ext cx="5199528" cy="101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This approach reduces the barrier to entry, enabling users to build data-driven solutions through conversational interactions.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138891-8ADB-8F33-4243-F4EC2F3D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2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65B71-1F3C-74B3-4523-B36D0747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Related work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EAF76A0-026E-20A6-3B28-EE3A3BCFA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6199"/>
            <a:ext cx="10515600" cy="369019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4EE769-0DD2-3757-2D46-D33E5BF0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45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E45D6-95AE-C1A8-A2BC-87EA5CE9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93F4B-04B3-490B-DED2-396DBF3F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To ensure the efficient and accurate automation of the entire ML pipeline, we introduce a multi-agent framework in which specialized LLM agents handle distinct tasks.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47F067-0492-21D3-3816-5BD7F72A0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83" y="2562915"/>
            <a:ext cx="8449433" cy="385824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276D5-D7E1-2995-92A3-62384748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70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DCD81-2A19-892A-521A-8D6A6D84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Initialization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2258CA-553D-9083-7ACF-20B5DAFBF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The Agent Manager first checks the user instruction: if valid, it forwards it to the Prompt Agent, and otherwise, it asks the user for clarification.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A2E41F-F4D2-2B4F-16F4-12A9C61C1FEE}"/>
              </a:ext>
            </a:extLst>
          </p:cNvPr>
          <p:cNvSpPr txBox="1"/>
          <p:nvPr/>
        </p:nvSpPr>
        <p:spPr>
          <a:xfrm>
            <a:off x="730623" y="4619091"/>
            <a:ext cx="4648200" cy="1362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The Prompt Agent parses the instruction into structured JSON, which the Agent Manager uses to retrieve relevant knowledge and generate global plans.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363680-1AD2-ABEC-0FF5-6FD87F8D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9" y="2841964"/>
            <a:ext cx="7363853" cy="15146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5AC4B58-511B-9997-5CC3-3DBE888D1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47" y="4291896"/>
            <a:ext cx="6163535" cy="175284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7FA3D0-64DD-AE9C-158A-5CF66BCF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7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19B91-ACEC-7849-ADEE-E10AC0B3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Planning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4667C8-3BD2-11D2-64A3-615E0FA2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We present a retrieval-augmented planning strategy that generates multiple plans to solutions by accessing external knowledge sources.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Each global plan is then decomposed into smaller sub-tasks (e.g., data loading, model search, HPO) and assigned to the Data and Model Agents, which simulate execution through prompting.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C74557-7763-BD8E-E61B-76A616AAAFA5}"/>
              </a:ext>
            </a:extLst>
          </p:cNvPr>
          <p:cNvPicPr>
            <a:picLocks/>
          </p:cNvPicPr>
          <p:nvPr/>
        </p:nvPicPr>
        <p:blipFill>
          <a:blip r:embed="rId2"/>
          <a:srcRect t="2372" r="311"/>
          <a:stretch>
            <a:fillRect/>
          </a:stretch>
        </p:blipFill>
        <p:spPr>
          <a:xfrm>
            <a:off x="1752511" y="2698376"/>
            <a:ext cx="8686978" cy="191731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EF142B-73FB-30DB-6029-08F2A01D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4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E63D-1ED3-05F1-A883-9BEB99F8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Execution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7B5A9-FCCB-4D8C-6220-5900C2C0C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Data Agent performs dataset retrieval, preprocessing, and analysis Model Agent searches for suitable models, performs HPO, model profiling and ranking.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The best plan selected by the Agent Manager during the simulation is then executed by the Operation Agent, which writes the actual code and performs runtime debugging.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E20431-3C8D-C4CF-0BBE-2B4678E6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32" y="2710313"/>
            <a:ext cx="8802735" cy="231301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DEB944-C564-4E10-A919-6C129F49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69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62D0D-D87D-7892-B8C3-B38A9177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Multi-Stage Verification for Reliable Code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55D29-B93F-08E7-CBEF-87CB40F3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To ensure the reliability of generated code, we also incorporate a multi-stage verification process.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This process includes intermediate checks and validations, guiding agents to adhere to user requirements.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05E683-8709-B026-6F31-6735723E7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302" y="2533940"/>
            <a:ext cx="4943395" cy="270162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FDDAA0-EF91-4EAB-A886-F2E4D2BB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61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8E020-4203-A840-DAD0-1C4A7DA4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Results on Diverse Tasks and Settings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C84B4-4E0F-E2D7-31E0-DD5033AF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Evaluations on seven downstream tasks using fourteen datasets demonstrate that </a:t>
            </a:r>
            <a:r>
              <a:rPr lang="en-US" altLang="zh-CN" sz="2000" dirty="0" err="1"/>
              <a:t>AutoML</a:t>
            </a:r>
            <a:r>
              <a:rPr lang="en-US" altLang="zh-CN" sz="2000" dirty="0"/>
              <a:t>-Agent successfully writes executable code and produces models that outperform human-built ones.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79B44C-D722-F294-7F24-E599F750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253" y="2490533"/>
            <a:ext cx="6351494" cy="355606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81D56-EE66-FC97-14D3-71552165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97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5F243-31C5-A233-BE94-67520D91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Effectiveness and Efficiency of </a:t>
            </a:r>
            <a:r>
              <a:rPr lang="en-US" altLang="zh-CN" sz="4000" b="1" dirty="0" err="1"/>
              <a:t>AutoML</a:t>
            </a:r>
            <a:r>
              <a:rPr lang="en-US" altLang="zh-CN" sz="4000" b="1" dirty="0"/>
              <a:t>-Agent</a:t>
            </a:r>
            <a:endParaRPr lang="zh-CN" altLang="en-US" sz="40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24A3E-7214-75C1-F85C-09A45E935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The ablation study (left) shows that the plan decomposition and verification stages are indeed effective, surpassing the performance of naïve retrieval-based planning RAP.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Compared to training-based methods like SELA (right), our framework is 8× faster while achieving similar or better results, with reduced computational resources and time.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61F428-A36B-8EFD-4789-3201E09B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21" y="2821387"/>
            <a:ext cx="5563355" cy="21548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FEABE4-41AB-8AD6-80C5-1E2E2E2A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797" y="2820787"/>
            <a:ext cx="3187684" cy="215542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312CBE-BF9A-55CB-6030-F466C0FC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0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80A5C-3FE4-22AA-7FC8-264FD4AF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Limitations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2A0FEF-21F8-8DE8-07F2-62F86B343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While training-free, </a:t>
            </a:r>
            <a:r>
              <a:rPr lang="en-US" altLang="zh-CN" dirty="0" err="1"/>
              <a:t>AutoML</a:t>
            </a:r>
            <a:r>
              <a:rPr lang="en-US" altLang="zh-CN" dirty="0"/>
              <a:t>-Agent could incur non-trivial time and inference cost for planning, multi-agent coordination, iterative plan refinement, and multi-step verification.</a:t>
            </a:r>
          </a:p>
          <a:p>
            <a:r>
              <a:rPr lang="en-US" altLang="zh-CN" dirty="0"/>
              <a:t>LLMs can hallucinate or generate incomplete / incorrect code, which may incur a large number of the revise and retry steps.</a:t>
            </a:r>
          </a:p>
          <a:p>
            <a:r>
              <a:rPr lang="en-US" altLang="zh-CN" dirty="0"/>
              <a:t>Although we evaluate </a:t>
            </a:r>
            <a:r>
              <a:rPr lang="en-US" altLang="zh-CN" dirty="0" err="1"/>
              <a:t>AutoML</a:t>
            </a:r>
            <a:r>
              <a:rPr lang="en-US" altLang="zh-CN" dirty="0"/>
              <a:t>-Agent across multiple machine learning tasks, specialized tasks (e.g., reinforcement learning and recommendation systems) may require further modifications to the framework.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C307D-4201-386D-1330-22CE65F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937B-69C6-4FF9-81C7-7CE24033241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36625" cy="59370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/>
              <a:t>Thank you for listening!</a:t>
            </a:r>
            <a:endParaRPr lang="zh-CN" altLang="en-US" sz="54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C3D6496-A717-3DF7-B644-46AB8E03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2B5D2-56F3-4C20-8139-1E113692A74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648</Words>
  <Application>Microsoft Office PowerPoint</Application>
  <PresentationFormat>宽屏</PresentationFormat>
  <Paragraphs>82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AutoML-Agent: A Multi-Agent LLM Framework for Full-Pipeline AutoML</vt:lpstr>
      <vt:lpstr>Background</vt:lpstr>
      <vt:lpstr>Challenges</vt:lpstr>
      <vt:lpstr>Contributions</vt:lpstr>
      <vt:lpstr>Related work</vt:lpstr>
      <vt:lpstr>Overview</vt:lpstr>
      <vt:lpstr>Initialization</vt:lpstr>
      <vt:lpstr>Planning</vt:lpstr>
      <vt:lpstr>Execution</vt:lpstr>
      <vt:lpstr>Multi-Stage Verification for Reliable Code</vt:lpstr>
      <vt:lpstr>Results on Diverse Tasks and Settings</vt:lpstr>
      <vt:lpstr>Effectiveness and Efficiency of AutoML-Agent</vt:lpstr>
      <vt:lpstr>Limitations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凯文 王</dc:creator>
  <cp:lastModifiedBy>凯文 王</cp:lastModifiedBy>
  <cp:revision>2</cp:revision>
  <dcterms:created xsi:type="dcterms:W3CDTF">2026-04-16T01:55:15Z</dcterms:created>
  <dcterms:modified xsi:type="dcterms:W3CDTF">2026-04-19T11:45:31Z</dcterms:modified>
</cp:coreProperties>
</file>