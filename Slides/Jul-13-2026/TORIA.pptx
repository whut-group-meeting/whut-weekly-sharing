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317" r:id="rId2"/>
    <p:sldId id="261" r:id="rId3"/>
    <p:sldId id="333" r:id="rId4"/>
    <p:sldId id="335" r:id="rId5"/>
    <p:sldId id="350" r:id="rId6"/>
    <p:sldId id="381" r:id="rId7"/>
    <p:sldId id="349" r:id="rId8"/>
    <p:sldId id="365" r:id="rId9"/>
    <p:sldId id="378" r:id="rId10"/>
    <p:sldId id="382" r:id="rId11"/>
    <p:sldId id="366" r:id="rId12"/>
    <p:sldId id="367" r:id="rId13"/>
    <p:sldId id="383" r:id="rId14"/>
    <p:sldId id="368" r:id="rId15"/>
    <p:sldId id="336" r:id="rId16"/>
    <p:sldId id="384" r:id="rId17"/>
    <p:sldId id="328" r:id="rId18"/>
    <p:sldId id="375" r:id="rId19"/>
    <p:sldId id="385" r:id="rId20"/>
    <p:sldId id="376" r:id="rId21"/>
    <p:sldId id="389" r:id="rId22"/>
    <p:sldId id="390" r:id="rId23"/>
    <p:sldId id="377" r:id="rId24"/>
    <p:sldId id="386" r:id="rId25"/>
    <p:sldId id="387" r:id="rId26"/>
    <p:sldId id="388" r:id="rId27"/>
    <p:sldId id="391" r:id="rId28"/>
    <p:sldId id="392" r:id="rId29"/>
    <p:sldId id="316"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sh pencil" initials="r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8" autoAdjust="0"/>
    <p:restoredTop sz="88876" autoAdjust="0"/>
  </p:normalViewPr>
  <p:slideViewPr>
    <p:cSldViewPr snapToGrid="0">
      <p:cViewPr varScale="1">
        <p:scale>
          <a:sx n="147" d="100"/>
          <a:sy n="147" d="100"/>
        </p:scale>
        <p:origin x="72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D1BDD-2F86-4A15-997E-3530A21F45DD}" type="datetimeFigureOut">
              <a:rPr lang="zh-CN" altLang="en-US" smtClean="0"/>
              <a:t>2026/7/13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1106B-E74A-40D0-89DA-4B97D19F20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indent="0" eaLnBrk="1" hangingPunct="1">
              <a:spcBef>
                <a:spcPct val="0"/>
              </a:spcBef>
              <a:buNone/>
            </a:pP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F562-6857-2A8B-0A44-0C4273EB2AE3}"/>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1B4C6B9-3FF1-5938-9A86-3ECE1A37A2A7}"/>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8B066607-A01C-9A2A-563C-64BB5419BB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8E0FED5A-8423-0E73-4E13-D0D02AAAB3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76559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BCCD-80DC-F7E9-2C81-08E615CEBF18}"/>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DFEFFAD3-ECE1-375B-DDDB-148CCB40BFE6}"/>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84FC0CD2-BC85-5BA2-0D5D-1240E26934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DBF74F27-17C4-AE52-2BD9-40ADEF2612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758253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AA8FA-601A-200D-896B-C28D7D2E7552}"/>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60C4696-45F7-6DC8-C2AF-004318BFE0A9}"/>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39788F78-8A21-CE92-2D4A-E3274A3264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187C36FA-6951-E1CF-6F01-E79162362C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05644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F8967-5B01-9EC3-8DE8-EAD9FFA37650}"/>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B377ECA0-9D68-C339-FACA-23CA8E4D4038}"/>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B2D3A5FE-66E1-F079-A38C-608355FB64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79FC691C-95EC-25B0-30C0-4A2269A4C9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49707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178AB-F88F-7A13-DBE2-FEE69F3B2546}"/>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333981CE-154C-EB88-EC54-1B67B0313EF1}"/>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763C3A5D-7E49-6C91-D0F2-1893BFB1CF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2D3283A2-F8D3-BD7B-7718-34FC834743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21279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DD7-E189-BF8A-8DBF-F1DBA6654F37}"/>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6A94FC4-4F5D-F2B6-23B5-34B7F4281942}"/>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1B8191F2-7775-AB70-73B4-195D859AE0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5507E3BF-5EBE-A53C-E558-9F20FA2D1A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547821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BA66-A318-DBCA-733D-46557D4F19A4}"/>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CECD1B8-EA59-1440-13CB-197FEFBE548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F2E06100-F9AD-565E-EFA3-AA247DBE62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B5D52984-4BC5-6279-C12C-5A4F694A3F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14742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53178-EFE7-89A4-3266-07F5AA1A3838}"/>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ACB082A-F19A-C477-729E-04E2C6DF2E85}"/>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9A507270-3DA0-7E63-877E-13E3CD67DD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E617DEEC-B6C1-E128-E987-6857EA1E6D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201868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5FE5-961A-84BD-1BCE-06BFF72BD9E1}"/>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DA920B3F-3736-44A3-1295-4D15FCD8B47C}"/>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5CFC10D7-441B-7DA7-84BA-4A26751248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36E005A0-86EB-0727-2A8B-BEF8F57DAC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91578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6E9A-05EA-0C25-F476-74E8D8B29086}"/>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A788BB3-4E53-29CD-F246-EB3581030EB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47CACF6C-A32A-769E-A77E-45ACDAA52B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AEAE22AE-A64C-378F-4202-8544883E69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86140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A272-C6F1-ABA2-1DF4-C930BBEE8BDE}"/>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BA5CBD2D-5903-039F-ABC5-B1269DFA914C}"/>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6AF3B78C-73DA-8C85-746B-31B2D8D2EE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D4DB065D-3A03-79D4-F616-158B76A686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82521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09DD4-B033-14E0-B1B5-206AE0FE3DD2}"/>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ECC13E8E-A0CE-91A1-F44D-CE01B6C2470F}"/>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F435DAA-EE96-F88D-566E-80575EF7F4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55FD99A1-1836-750B-F97B-D326FDD8B0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58783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8648-656C-26F6-F6FA-CDECBFE8FBED}"/>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BD2DC330-98E7-0876-4F6D-72911D31FCED}"/>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4940A5B5-87AD-7CBF-EED7-FE9F97162C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94A903CD-8526-3C84-32F2-DEF086F9DB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1441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7E130-CBEB-2880-BC44-E700222BD9A0}"/>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C1CB27AA-4FFA-8B9D-BB68-CEB94813CD1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C0048BB-EC5B-8B72-1436-59FE5BA512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276FB30B-2D6F-551F-86FA-1BDE2BBFBD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90425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0AF9-EC2C-4943-AA1A-58D18F1E4F97}"/>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E72A396E-7B61-A2FC-0193-CAC591E89AA5}"/>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D2BA85B-D5A5-245B-D6D2-4C61F4FF13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6DE6A06A-293A-395A-848B-18853E14BA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905918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5DE73-AF84-0C57-4F45-EACC14B860C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ECF1C61B-5143-8A51-3AF7-2D51EA32F97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70430B92-0C54-3B3F-D752-A2A5870E0A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94E99D35-EF86-6D29-2227-7F675245E6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204581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50C78-1DA5-F853-EAFA-19EF8977DE04}"/>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5C1A51E6-8924-76D2-BFA7-C9CC5F1FDAB4}"/>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C0130803-532A-D471-1CDF-094D5E8B38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BAF4A95A-7A14-0635-FACE-C60276FB6B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64118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F8297-D7DE-600F-95DC-0CD3C05A762C}"/>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D18329F-0D0E-D976-6F0A-86CE47579F1A}"/>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C3E45A7-D62F-178F-A450-6F6F8DA6A0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5549774E-AB8C-FDCD-3D02-817319A9BE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66661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4D685-CF5B-B7CE-3C09-0FB18942B1AA}"/>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923FF5D0-681F-C5D2-C4FE-AC132247BBB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0FF85086-CF01-9E21-BD07-20A55ACC7C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9CFD5BCF-9982-3622-5F5A-BF7A858A98E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67258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CAED-FCCF-C091-58A1-176A76B4C02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B9F2E9B5-8E57-68C7-580C-F237487F7E8D}"/>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57F4C88E-7B80-6EBA-EF89-564FA062A5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71C180DA-6E66-CAA2-607E-20B36FCF6A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80639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9FDD-66A4-98AC-60FC-3CE825612901}"/>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791EEB56-7028-3A81-102C-897A0B1BD863}"/>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9C0CD15C-2EC7-E652-CFB7-0AEE447B98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3469D063-5985-1212-BCB4-F61EEA0ED2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590764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B0BAB-CB82-583D-101A-12F175491BFD}"/>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30EDBACA-0A91-475C-5E11-9769EDEC4E24}"/>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C071B8D0-C1E8-ABBE-0B69-E3E79DBAE3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D63981B4-A27C-8631-F388-CB0953E75D8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81685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29</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pic>
        <p:nvPicPr>
          <p:cNvPr id="4"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Placeholder 2"/>
          <p:cNvSpPr>
            <a:spLocks noGrp="1"/>
          </p:cNvSpPr>
          <p:nvPr>
            <p:ph type="subTitle" idx="1"/>
          </p:nvPr>
        </p:nvSpPr>
        <p:spPr>
          <a:xfrm>
            <a:off x="3452812" y="2878932"/>
            <a:ext cx="2947988" cy="273844"/>
          </a:xfrm>
          <a:prstGeom prst="rect">
            <a:avLst/>
          </a:prstGeom>
          <a:noFill/>
          <a:ln w="9525">
            <a:noFill/>
            <a:miter/>
          </a:ln>
        </p:spPr>
        <p:txBody>
          <a:bodyPr anchor="t"/>
          <a:lstStyle>
            <a:lvl1pPr marL="64135" lvl="0" indent="-64135" algn="ctr">
              <a:buNone/>
              <a:defRPr sz="1350" kern="1200">
                <a:solidFill>
                  <a:srgbClr val="6C6F72"/>
                </a:solidFill>
              </a:defRPr>
            </a:lvl1pPr>
            <a:lvl2pPr marL="0" lvl="1" indent="0" algn="ctr">
              <a:buNone/>
              <a:defRPr sz="1350" kern="1200">
                <a:solidFill>
                  <a:srgbClr val="6C6F72"/>
                </a:solidFill>
              </a:defRPr>
            </a:lvl2pPr>
            <a:lvl3pPr marL="685800" lvl="2" indent="-685800" algn="ctr">
              <a:buNone/>
              <a:defRPr sz="1350" kern="1200">
                <a:solidFill>
                  <a:srgbClr val="6C6F72"/>
                </a:solidFill>
              </a:defRPr>
            </a:lvl3pPr>
            <a:lvl4pPr marL="1028700" lvl="3" indent="-1028700" algn="ctr">
              <a:buNone/>
              <a:defRPr sz="1350" kern="1200">
                <a:solidFill>
                  <a:srgbClr val="6C6F72"/>
                </a:solidFill>
              </a:defRPr>
            </a:lvl4pPr>
            <a:lvl5pPr marL="1371600" lvl="4" indent="-1371600" algn="ctr">
              <a:buNone/>
              <a:defRPr sz="1350" kern="1200">
                <a:solidFill>
                  <a:srgbClr val="6C6F72"/>
                </a:solidFill>
              </a:defRPr>
            </a:lvl5pPr>
          </a:lstStyle>
          <a:p>
            <a:pPr lvl="0"/>
            <a:r>
              <a:rPr lang="zh-CN" altLang="en-US" dirty="0"/>
              <a:t>单击此处编辑母版副标题样式</a:t>
            </a:r>
          </a:p>
        </p:txBody>
      </p:sp>
      <p:sp>
        <p:nvSpPr>
          <p:cNvPr id="11273" name="Title Placeholder 1"/>
          <p:cNvSpPr>
            <a:spLocks noGrp="1"/>
          </p:cNvSpPr>
          <p:nvPr>
            <p:ph type="ctrTitle"/>
          </p:nvPr>
        </p:nvSpPr>
        <p:spPr>
          <a:xfrm>
            <a:off x="3440907" y="1431132"/>
            <a:ext cx="2961085" cy="1373981"/>
          </a:xfrm>
          <a:prstGeom prst="rect">
            <a:avLst/>
          </a:prstGeom>
          <a:noFill/>
          <a:ln w="9525">
            <a:noFill/>
            <a:miter/>
          </a:ln>
        </p:spPr>
        <p:txBody>
          <a:bodyPr anchor="b"/>
          <a:lstStyle>
            <a:lvl1pPr lvl="0" algn="ctr">
              <a:lnSpc>
                <a:spcPct val="110000"/>
              </a:lnSpc>
              <a:defRPr sz="2700" kern="1200"/>
            </a:lvl1pPr>
          </a:lstStyle>
          <a:p>
            <a:pPr lvl="0"/>
            <a:r>
              <a:rPr lang="zh-CN" altLang="en-US" dirty="0"/>
              <a:t>单击此处编辑母版标题样式</a:t>
            </a:r>
          </a:p>
        </p:txBody>
      </p:sp>
      <p:sp>
        <p:nvSpPr>
          <p:cNvPr id="5" name="Date Placeholder 3"/>
          <p:cNvSpPr>
            <a:spLocks noGrp="1"/>
          </p:cNvSpPr>
          <p:nvPr>
            <p:ph type="dt" sz="half" idx="10"/>
          </p:nvPr>
        </p:nvSpPr>
        <p:spPr>
          <a:xfrm>
            <a:off x="457200" y="4683919"/>
            <a:ext cx="2133600" cy="357188"/>
          </a:xfrm>
        </p:spPr>
        <p:txBody>
          <a:bodyPr rtlCol="0"/>
          <a:lstStyle>
            <a:lvl1pPr algn="l" fontAlgn="auto">
              <a:spcBef>
                <a:spcPts val="0"/>
              </a:spcBef>
              <a:spcAft>
                <a:spcPts val="0"/>
              </a:spcAft>
              <a:defRPr sz="900">
                <a:solidFill>
                  <a:schemeClr val="bg1">
                    <a:lumMod val="65000"/>
                  </a:schemeClr>
                </a:solidFill>
                <a:latin typeface="+mn-lt"/>
                <a:ea typeface="+mn-ea"/>
              </a:defRPr>
            </a:lvl1pPr>
          </a:lstStyle>
          <a:p>
            <a:pPr>
              <a:defRPr/>
            </a:pPr>
            <a:fld id="{3635A771-F006-476C-801A-C0C821B8BC29}" type="datetimeFigureOut">
              <a:rPr lang="zh-CN" altLang="en-US"/>
              <a:t>2026/7/13</a:t>
            </a:fld>
            <a:endParaRPr lang="zh-CN" altLang="en-US"/>
          </a:p>
        </p:txBody>
      </p:sp>
      <p:sp>
        <p:nvSpPr>
          <p:cNvPr id="6" name="Footer Placeholder 4"/>
          <p:cNvSpPr>
            <a:spLocks noGrp="1"/>
          </p:cNvSpPr>
          <p:nvPr>
            <p:ph type="ftr" sz="quarter" idx="11"/>
          </p:nvPr>
        </p:nvSpPr>
        <p:spPr>
          <a:xfrm>
            <a:off x="3124200" y="4683919"/>
            <a:ext cx="2895600" cy="357188"/>
          </a:xfrm>
        </p:spPr>
        <p:txBody>
          <a:bodyPr/>
          <a:lstStyle>
            <a:lvl1pPr algn="l">
              <a:defRPr sz="1350">
                <a:solidFill>
                  <a:schemeClr val="tx1"/>
                </a:solidFill>
              </a:defRPr>
            </a:lvl1pPr>
          </a:lstStyle>
          <a:p>
            <a:pPr>
              <a:defRPr/>
            </a:pPr>
            <a:endParaRPr lang="zh-CN" altLang="en-US"/>
          </a:p>
        </p:txBody>
      </p:sp>
      <p:sp>
        <p:nvSpPr>
          <p:cNvPr id="7" name="Slide Number Placeholder 5"/>
          <p:cNvSpPr>
            <a:spLocks noGrp="1"/>
          </p:cNvSpPr>
          <p:nvPr>
            <p:ph type="sldNum" sz="quarter" idx="12"/>
          </p:nvPr>
        </p:nvSpPr>
        <p:spPr>
          <a:xfrm>
            <a:off x="6553200" y="4683919"/>
            <a:ext cx="2133600" cy="357188"/>
          </a:xfrm>
        </p:spPr>
        <p:txBody>
          <a:bodyPr/>
          <a:lstStyle>
            <a:lvl1pPr>
              <a:defRPr/>
            </a:lvl1pPr>
          </a:lstStyle>
          <a:p>
            <a:pPr>
              <a:defRPr/>
            </a:pPr>
            <a:fld id="{F7EAFFE3-5D96-4A57-AFB6-87EC306C7F51}" type="slidenum">
              <a:rPr lang="zh-CN" altLang="en-US"/>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523876" y="981076"/>
            <a:ext cx="8061722" cy="3650456"/>
          </a:xfrm>
          <a:prstGeom prst="rect">
            <a:avLst/>
          </a:prstGeom>
        </p:spPr>
        <p:txBody>
          <a:bodyPr/>
          <a:lstStyle/>
          <a:p>
            <a:pPr lvl="0"/>
            <a:r>
              <a:rPr lang="zh-CN" altLang="en-US"/>
              <a:t>单击此处编辑母版文本样式</a:t>
            </a:r>
          </a:p>
          <a:p>
            <a:pPr lvl="1"/>
            <a:r>
              <a:rPr lang="zh-CN" altLang="en-US"/>
              <a:t>第二级</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BB0F55AF-7C8C-434F-9EEF-80DA5D25AB8D}" type="datetimeFigureOut">
              <a:rPr lang="zh-CN" altLang="en-US"/>
              <a:t>2026/7/13</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3A84667-012C-4ACA-9A7F-F89290D317DF}" type="slidenum">
              <a:rPr lang="zh-CN" altLang="en-US"/>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a:prstGeom prst="rect">
            <a:avLst/>
          </a:prstGeom>
        </p:spPr>
        <p:txBody>
          <a:bodyPr anchor="b"/>
          <a:lstStyle>
            <a:lvl1pPr>
              <a:defRPr sz="4500">
                <a:solidFill>
                  <a:schemeClr val="bg1">
                    <a:lumMod val="50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a:prstGeom prst="rect">
            <a:avLst/>
          </a:prstGeom>
        </p:spPr>
        <p:txBody>
          <a:bodyPr/>
          <a:lstStyle>
            <a:lvl1pPr marL="0" indent="0">
              <a:buNone/>
              <a:defRPr sz="18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E95C96BA-32C1-4655-9C97-C23405013FD0}" type="datetimeFigureOut">
              <a:rPr lang="zh-CN" altLang="en-US"/>
              <a:t>2026/7/13</a:t>
            </a:fld>
            <a:endParaRPr lang="zh-CN" altLang="en-US"/>
          </a:p>
        </p:txBody>
      </p:sp>
      <p:sp>
        <p:nvSpPr>
          <p:cNvPr id="5" name="页脚占位符 4"/>
          <p:cNvSpPr>
            <a:spLocks noGrp="1"/>
          </p:cNvSpPr>
          <p:nvPr>
            <p:ph type="ftr" sz="quarter" idx="11"/>
          </p:nvPr>
        </p:nvSpPr>
        <p:spPr/>
        <p:txBody>
          <a:bodyPr/>
          <a:lstStyle>
            <a:lvl1pPr>
              <a:defRPr>
                <a:solidFill>
                  <a:srgbClr val="919293"/>
                </a:solidFill>
                <a:latin typeface="Calibri" panose="020F0502020204030204" pitchFamily="34"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898989"/>
                </a:solidFill>
              </a:defRPr>
            </a:lvl1pPr>
          </a:lstStyle>
          <a:p>
            <a:pPr>
              <a:defRPr/>
            </a:pPr>
            <a:fld id="{5636C0A8-69B2-4071-870C-FCD8DDD95144}" type="slidenum">
              <a:rPr lang="zh-CN" altLang="en-US"/>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3A40236-AF37-4727-9512-DA66FB42B0DE}" type="datetimeFigureOut">
              <a:rPr lang="zh-CN" altLang="en-US"/>
              <a:t>2026/7/13</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B79110E9-3CBC-4FF8-AEB5-E87072A4E625}" type="slidenum">
              <a:rPr lang="zh-CN" altLang="en-US"/>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2" y="1878806"/>
            <a:ext cx="3887391"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8B68149F-0C9C-491B-8EAE-33DEE6AEAEC4}" type="datetimeFigureOut">
              <a:rPr lang="zh-CN" altLang="en-US"/>
              <a:t>2026/7/13</a:t>
            </a:fld>
            <a:endParaRPr lang="zh-CN" altLang="en-US"/>
          </a:p>
        </p:txBody>
      </p:sp>
      <p:sp>
        <p:nvSpPr>
          <p:cNvPr id="8" name="页脚占位符 7"/>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01CD988-AABA-4271-BA70-01B6F9A87373}" type="slidenum">
              <a:rPr lang="zh-CN" altLang="en-US"/>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75E18762-3EDF-4983-98E8-301F9D5D9E69}" type="datetimeFigureOut">
              <a:rPr lang="zh-CN" altLang="en-US"/>
              <a:t>2026/7/13</a:t>
            </a:fld>
            <a:endParaRPr lang="zh-CN" altLang="en-US"/>
          </a:p>
        </p:txBody>
      </p:sp>
      <p:sp>
        <p:nvSpPr>
          <p:cNvPr id="4" name="页脚占位符 3"/>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B34624B3-7BC5-45F9-833A-20BAD35DEC91}" type="slidenum">
              <a:rPr lang="zh-CN" altLang="en-US"/>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2A31A2A3-44CF-4E76-A66E-423BD30FDCE3}" type="datetimeFigureOut">
              <a:rPr lang="zh-CN" altLang="en-US"/>
              <a:t>2026/7/13</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495FBAC3-CA8D-4FBA-AF42-538D64ADB8A2}" type="slidenum">
              <a:rPr lang="zh-CN" altLang="en-US"/>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a:prstGeom prst="rect">
            <a:avLst/>
          </a:prstGeo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C8A9873-664C-4AEF-AE6F-EDD2894100DF}" type="datetimeFigureOut">
              <a:rPr lang="zh-CN" altLang="en-US"/>
              <a:t>2026/7/13</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7D5D5C9C-7908-44C0-BFF0-3D9BEF03216D}" type="slidenum">
              <a:rPr lang="zh-CN" altLang="en-US"/>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23876" y="981076"/>
            <a:ext cx="8061722" cy="365045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AC57DBCE-8C4D-485F-8120-71058D8DF911}" type="datetimeFigureOut">
              <a:rPr lang="zh-CN" altLang="en-US"/>
              <a:t>2026/7/13</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DB91BBE-B70E-4969-8233-69CEDE8997F8}" type="slidenum">
              <a:rPr lang="zh-CN" altLang="en-US"/>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36FF6F94-A737-4432-A9DC-130A95CCF9BC}" type="datetimeFigureOut">
              <a:rPr lang="zh-CN" altLang="en-US"/>
              <a:t>2026/7/13</a:t>
            </a:fld>
            <a:endParaRPr lang="zh-CN" altLang="en-US"/>
          </a:p>
        </p:txBody>
      </p:sp>
      <p:sp>
        <p:nvSpPr>
          <p:cNvPr id="3" name="页脚占位符 2"/>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7FBB6A8E-2C65-4CA5-8B62-FDC3161C7866}" type="slidenum">
              <a:rPr lang="zh-CN" altLang="en-US"/>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8"/>
          <p:cNvGrpSpPr/>
          <p:nvPr/>
        </p:nvGrpSpPr>
        <p:grpSpPr bwMode="auto">
          <a:xfrm>
            <a:off x="0" y="0"/>
            <a:ext cx="9144000" cy="5143500"/>
            <a:chOff x="0" y="1"/>
            <a:chExt cx="12192000" cy="6857999"/>
          </a:xfrm>
        </p:grpSpPr>
        <p:pic>
          <p:nvPicPr>
            <p:cNvPr id="1030" name="图片 6"/>
            <p:cNvPicPr>
              <a:picLocks noChangeAspect="1"/>
            </p:cNvPicPr>
            <p:nvPr userDrawn="1"/>
          </p:nvPicPr>
          <p:blipFill>
            <a:blip r:embed="rId13">
              <a:extLst>
                <a:ext uri="{28A0092B-C50C-407E-A947-70E740481C1C}">
                  <a14:useLocalDpi xmlns:a14="http://schemas.microsoft.com/office/drawing/2010/main" val="0"/>
                </a:ext>
              </a:extLst>
            </a:blip>
            <a:srcRect t="6718" b="67133"/>
            <a:stretch>
              <a:fillRect/>
            </a:stretch>
          </p:blipFill>
          <p:spPr bwMode="auto">
            <a:xfrm>
              <a:off x="3048" y="1"/>
              <a:ext cx="1218895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828801"/>
              <a:ext cx="12192000" cy="5029199"/>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eaLnBrk="1" fontAlgn="auto" hangingPunct="1">
                <a:spcBef>
                  <a:spcPts val="0"/>
                </a:spcBef>
                <a:spcAft>
                  <a:spcPts val="0"/>
                </a:spcAft>
                <a:defRPr/>
              </a:pPr>
              <a:endParaRPr lang="zh-CN" altLang="en-US" sz="1800"/>
            </a:p>
          </p:txBody>
        </p:sp>
      </p:grpSp>
      <p:sp>
        <p:nvSpPr>
          <p:cNvPr id="4" name="Date Placeholder 3"/>
          <p:cNvSpPr>
            <a:spLocks noGrp="1"/>
          </p:cNvSpPr>
          <p:nvPr>
            <p:ph type="dt" sz="half" idx="2"/>
          </p:nvPr>
        </p:nvSpPr>
        <p:spPr>
          <a:xfrm>
            <a:off x="628650" y="4767263"/>
            <a:ext cx="2057400" cy="273844"/>
          </a:xfrm>
          <a:prstGeom prst="rect">
            <a:avLst/>
          </a:prstGeom>
        </p:spPr>
        <p:txBody>
          <a:bodyPr vert="horz" wrap="square" lIns="91440" tIns="45720" rIns="91440" bIns="45720" numCol="1" anchor="ctr" anchorCtr="0" compatLnSpc="1"/>
          <a:lstStyle>
            <a:lvl1pPr eaLnBrk="1" hangingPunct="1">
              <a:defRPr sz="900">
                <a:solidFill>
                  <a:srgbClr val="A6A6A6"/>
                </a:solidFill>
                <a:ea typeface="幼圆" panose="02010509060101010101" pitchFamily="49" charset="-122"/>
              </a:defRPr>
            </a:lvl1pPr>
          </a:lstStyle>
          <a:p>
            <a:pPr>
              <a:defRPr/>
            </a:pPr>
            <a:r>
              <a:rPr lang="en-US" altLang="zh-CN"/>
              <a:t>2022/8/29</a:t>
            </a:r>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373A3B"/>
                </a:solidFill>
                <a:latin typeface="+mn-lt"/>
                <a:ea typeface="+mn-ea"/>
              </a:defRPr>
            </a:lvl1pPr>
          </a:lstStyle>
          <a:p>
            <a:pPr>
              <a:defRPr/>
            </a:pPr>
            <a:endParaRPr lang="en-US" altLang="zh-C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wrap="square" lIns="91440" tIns="45720" rIns="91440" bIns="45720" numCol="1" anchor="ctr" anchorCtr="0" compatLnSpc="1"/>
          <a:lstStyle>
            <a:lvl1pPr algn="r" eaLnBrk="1" hangingPunct="1">
              <a:defRPr sz="900">
                <a:solidFill>
                  <a:srgbClr val="A6A6A6"/>
                </a:solidFill>
                <a:ea typeface="幼圆" panose="02010509060101010101" pitchFamily="49" charset="-122"/>
              </a:defRPr>
            </a:lvl1pPr>
          </a:lstStyle>
          <a:p>
            <a:pPr>
              <a:defRPr/>
            </a:pPr>
            <a:r>
              <a:rPr lang="en-US" altLang="zh-CN"/>
              <a: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4530" rtl="0" eaLnBrk="0" fontAlgn="base" hangingPunct="0">
        <a:lnSpc>
          <a:spcPct val="90000"/>
        </a:lnSpc>
        <a:spcBef>
          <a:spcPct val="0"/>
        </a:spcBef>
        <a:spcAft>
          <a:spcPct val="0"/>
        </a:spcAft>
        <a:defRPr sz="2100" kern="1200">
          <a:solidFill>
            <a:schemeClr val="accent1"/>
          </a:solidFill>
          <a:latin typeface="+mj-lt"/>
          <a:ea typeface="+mj-ea"/>
          <a:cs typeface="+mj-cs"/>
        </a:defRPr>
      </a:lvl1pPr>
      <a:lvl2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2pPr>
      <a:lvl3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3pPr>
      <a:lvl4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4pPr>
      <a:lvl5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5pPr>
      <a:lvl6pPr marL="3429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6pPr>
      <a:lvl7pPr marL="6858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7pPr>
      <a:lvl8pPr marL="10287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8pPr>
      <a:lvl9pPr marL="13716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9pPr>
    </p:titleStyle>
    <p:bodyStyle>
      <a:lvl1pPr marL="321310" indent="-257175" algn="l" defTabSz="684530" rtl="0" eaLnBrk="0" fontAlgn="base" hangingPunct="0">
        <a:lnSpc>
          <a:spcPct val="90000"/>
        </a:lnSpc>
        <a:spcBef>
          <a:spcPts val="1350"/>
        </a:spcBef>
        <a:spcAft>
          <a:spcPct val="0"/>
        </a:spcAft>
        <a:buClr>
          <a:srgbClr val="A95E40"/>
        </a:buClr>
        <a:buSzPct val="75000"/>
        <a:buFont typeface="Arial" panose="020B0604020202020204" pitchFamily="34" charset="0"/>
        <a:buChar char="•"/>
        <a:defRPr sz="1800" kern="1200">
          <a:solidFill>
            <a:srgbClr val="A95E40"/>
          </a:solidFill>
          <a:latin typeface="+mn-lt"/>
          <a:ea typeface="+mn-ea"/>
          <a:cs typeface="+mn-cs"/>
        </a:defRPr>
      </a:lvl1pPr>
      <a:lvl2pPr marL="266700" indent="-266700" algn="l" defTabSz="684530" rtl="0" eaLnBrk="0" fontAlgn="base" hangingPunct="0">
        <a:lnSpc>
          <a:spcPct val="130000"/>
        </a:lnSpc>
        <a:spcBef>
          <a:spcPts val="375"/>
        </a:spcBef>
        <a:spcAft>
          <a:spcPct val="0"/>
        </a:spcAft>
        <a:buFont typeface="Calibri" panose="020F0502020204030204" pitchFamily="34" charset="0"/>
        <a:buChar char=" "/>
        <a:defRPr kern="1200">
          <a:solidFill>
            <a:srgbClr val="7F7F7F"/>
          </a:solidFill>
          <a:latin typeface="+mn-lt"/>
          <a:ea typeface="+mn-ea"/>
          <a:cs typeface="+mn-cs"/>
        </a:defRPr>
      </a:lvl2pPr>
      <a:lvl3pPr marL="857250" indent="-171450" algn="l" defTabSz="684530" rtl="0" eaLnBrk="0" fontAlgn="base" hangingPunct="0">
        <a:lnSpc>
          <a:spcPct val="90000"/>
        </a:lnSpc>
        <a:spcBef>
          <a:spcPts val="375"/>
        </a:spcBef>
        <a:spcAft>
          <a:spcPct val="0"/>
        </a:spcAft>
        <a:buFont typeface="Arial" panose="020B0604020202020204" pitchFamily="34" charset="0"/>
        <a:buChar char="•"/>
        <a:defRPr sz="1500" kern="1200">
          <a:solidFill>
            <a:srgbClr val="7F7F7F"/>
          </a:solidFill>
          <a:latin typeface="+mn-lt"/>
          <a:ea typeface="+mn-ea"/>
          <a:cs typeface="+mn-cs"/>
        </a:defRPr>
      </a:lvl3pPr>
      <a:lvl4pPr marL="12001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4pPr>
      <a:lvl5pPr marL="15430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ideo" Target="NULL" TargetMode="Externa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4937314" y="278512"/>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510890" y="415254"/>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789370" y="62599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468152" y="34024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grpSp>
        <p:nvGrpSpPr>
          <p:cNvPr id="55" name="组合 54"/>
          <p:cNvGrpSpPr/>
          <p:nvPr/>
        </p:nvGrpSpPr>
        <p:grpSpPr>
          <a:xfrm>
            <a:off x="3329517" y="3787579"/>
            <a:ext cx="1990725" cy="328613"/>
            <a:chOff x="3576638" y="3250844"/>
            <a:chExt cx="1990725" cy="328613"/>
          </a:xfrm>
        </p:grpSpPr>
        <p:grpSp>
          <p:nvGrpSpPr>
            <p:cNvPr id="6" name="组合 85"/>
            <p:cNvGrpSpPr/>
            <p:nvPr/>
          </p:nvGrpSpPr>
          <p:grpSpPr bwMode="auto">
            <a:xfrm>
              <a:off x="4685110" y="3250844"/>
              <a:ext cx="327422" cy="328613"/>
              <a:chOff x="5477628" y="816362"/>
              <a:chExt cx="1120629" cy="1120629"/>
            </a:xfrm>
          </p:grpSpPr>
          <p:sp>
            <p:nvSpPr>
              <p:cNvPr id="87" name="椭圆 86"/>
              <p:cNvSpPr/>
              <p:nvPr/>
            </p:nvSpPr>
            <p:spPr>
              <a:xfrm>
                <a:off x="5477628" y="816362"/>
                <a:ext cx="1120629" cy="1120629"/>
              </a:xfrm>
              <a:prstGeom prst="ellipse">
                <a:avLst/>
              </a:prstGeom>
              <a:pattFill prst="wdUpDiag">
                <a:fgClr>
                  <a:srgbClr val="FACA5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9" name="椭圆 88"/>
              <p:cNvSpPr/>
              <p:nvPr/>
            </p:nvSpPr>
            <p:spPr>
              <a:xfrm>
                <a:off x="5563202" y="897567"/>
                <a:ext cx="949481" cy="954160"/>
              </a:xfrm>
              <a:prstGeom prst="ellipse">
                <a:avLst/>
              </a:prstGeom>
              <a:solidFill>
                <a:srgbClr val="FACA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7" name="组合 94"/>
              <p:cNvGrpSpPr>
                <a:grpSpLocks noChangeAspect="1"/>
              </p:cNvGrpSpPr>
              <p:nvPr/>
            </p:nvGrpSpPr>
            <p:grpSpPr>
              <a:xfrm>
                <a:off x="5768479" y="1056071"/>
                <a:ext cx="566457" cy="566457"/>
                <a:chOff x="6267960" y="2101505"/>
                <a:chExt cx="731377" cy="731377"/>
              </a:xfrm>
              <a:solidFill>
                <a:schemeClr val="bg1"/>
              </a:solidFill>
            </p:grpSpPr>
            <p:sp>
              <p:nvSpPr>
                <p:cNvPr id="97" name="Freeform 578"/>
                <p:cNvSpPr/>
                <p:nvPr/>
              </p:nvSpPr>
              <p:spPr bwMode="auto">
                <a:xfrm>
                  <a:off x="6859409" y="2488832"/>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0" name="Freeform 579"/>
                <p:cNvSpPr/>
                <p:nvPr/>
              </p:nvSpPr>
              <p:spPr bwMode="auto">
                <a:xfrm>
                  <a:off x="6637976" y="2101505"/>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1" name="Freeform 580"/>
                <p:cNvSpPr/>
                <p:nvPr/>
              </p:nvSpPr>
              <p:spPr bwMode="auto">
                <a:xfrm>
                  <a:off x="6267960" y="2144060"/>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8" name="组合 101"/>
            <p:cNvGrpSpPr/>
            <p:nvPr/>
          </p:nvGrpSpPr>
          <p:grpSpPr bwMode="auto">
            <a:xfrm>
              <a:off x="5239941" y="3250844"/>
              <a:ext cx="327422" cy="328613"/>
              <a:chOff x="5477628" y="2367482"/>
              <a:chExt cx="1120629" cy="1120629"/>
            </a:xfrm>
          </p:grpSpPr>
          <p:sp>
            <p:nvSpPr>
              <p:cNvPr id="114" name="椭圆 113"/>
              <p:cNvSpPr/>
              <p:nvPr/>
            </p:nvSpPr>
            <p:spPr>
              <a:xfrm>
                <a:off x="5477628" y="2367482"/>
                <a:ext cx="1120629" cy="1120629"/>
              </a:xfrm>
              <a:prstGeom prst="ellipse">
                <a:avLst/>
              </a:prstGeom>
              <a:pattFill prst="wdUpDiag">
                <a:fgClr>
                  <a:srgbClr val="FD6D5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6" name="椭圆 115"/>
              <p:cNvSpPr/>
              <p:nvPr/>
            </p:nvSpPr>
            <p:spPr>
              <a:xfrm>
                <a:off x="5563202" y="2456808"/>
                <a:ext cx="949481" cy="954160"/>
              </a:xfrm>
              <a:prstGeom prst="ellipse">
                <a:avLst/>
              </a:prstGeom>
              <a:solidFill>
                <a:srgbClr val="FD6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1" name="组合 117"/>
              <p:cNvGrpSpPr>
                <a:grpSpLocks noChangeAspect="1"/>
              </p:cNvGrpSpPr>
              <p:nvPr/>
            </p:nvGrpSpPr>
            <p:grpSpPr>
              <a:xfrm>
                <a:off x="5795817" y="2669148"/>
                <a:ext cx="556960" cy="512269"/>
                <a:chOff x="8374817" y="3976831"/>
                <a:chExt cx="719115" cy="661413"/>
              </a:xfrm>
              <a:solidFill>
                <a:schemeClr val="bg1"/>
              </a:solidFill>
            </p:grpSpPr>
            <p:sp>
              <p:nvSpPr>
                <p:cNvPr id="119"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0"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3"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4"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0" name="Rectangle 48"/>
                <p:cNvSpPr>
                  <a:spLocks noChangeArrowheads="1"/>
                </p:cNvSpPr>
                <p:nvPr/>
              </p:nvSpPr>
              <p:spPr bwMode="auto">
                <a:xfrm>
                  <a:off x="8459928" y="4504808"/>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1" name="Rectangle 49"/>
                <p:cNvSpPr>
                  <a:spLocks noChangeArrowheads="1"/>
                </p:cNvSpPr>
                <p:nvPr/>
              </p:nvSpPr>
              <p:spPr bwMode="auto">
                <a:xfrm>
                  <a:off x="8459928" y="4428352"/>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2" name="Rectangle 50"/>
                <p:cNvSpPr>
                  <a:spLocks noChangeArrowheads="1"/>
                </p:cNvSpPr>
                <p:nvPr/>
              </p:nvSpPr>
              <p:spPr bwMode="auto">
                <a:xfrm>
                  <a:off x="8459928" y="4354782"/>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3" name="Rectangle 51"/>
                <p:cNvSpPr>
                  <a:spLocks noChangeArrowheads="1"/>
                </p:cNvSpPr>
                <p:nvPr/>
              </p:nvSpPr>
              <p:spPr bwMode="auto">
                <a:xfrm>
                  <a:off x="8459928" y="4278326"/>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4" name="Rectangle 52"/>
                <p:cNvSpPr>
                  <a:spLocks noChangeArrowheads="1"/>
                </p:cNvSpPr>
                <p:nvPr/>
              </p:nvSpPr>
              <p:spPr bwMode="auto">
                <a:xfrm>
                  <a:off x="8459928" y="4201870"/>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5" name="Rectangle 53"/>
                <p:cNvSpPr>
                  <a:spLocks noChangeArrowheads="1"/>
                </p:cNvSpPr>
                <p:nvPr/>
              </p:nvSpPr>
              <p:spPr bwMode="auto">
                <a:xfrm>
                  <a:off x="8459928" y="4124694"/>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14" name="组合 135"/>
            <p:cNvGrpSpPr/>
            <p:nvPr/>
          </p:nvGrpSpPr>
          <p:grpSpPr bwMode="auto">
            <a:xfrm>
              <a:off x="3576638" y="3250844"/>
              <a:ext cx="327422" cy="328613"/>
              <a:chOff x="5477628" y="2052505"/>
              <a:chExt cx="1120629" cy="1120629"/>
            </a:xfrm>
          </p:grpSpPr>
          <p:sp>
            <p:nvSpPr>
              <p:cNvPr id="137" name="椭圆 136"/>
              <p:cNvSpPr/>
              <p:nvPr/>
            </p:nvSpPr>
            <p:spPr>
              <a:xfrm>
                <a:off x="5477628" y="2052505"/>
                <a:ext cx="1120629" cy="1120629"/>
              </a:xfrm>
              <a:prstGeom prst="ellipse">
                <a:avLst/>
              </a:prstGeom>
              <a:pattFill prst="wdUpDiag">
                <a:fgClr>
                  <a:srgbClr val="6080A6"/>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41" name="组合 137"/>
              <p:cNvGrpSpPr/>
              <p:nvPr/>
            </p:nvGrpSpPr>
            <p:grpSpPr bwMode="auto">
              <a:xfrm>
                <a:off x="5561692" y="2136569"/>
                <a:ext cx="952500" cy="952500"/>
                <a:chOff x="5561693" y="2132697"/>
                <a:chExt cx="952500" cy="952500"/>
              </a:xfrm>
            </p:grpSpPr>
            <p:sp>
              <p:nvSpPr>
                <p:cNvPr id="139" name="椭圆 138"/>
                <p:cNvSpPr/>
                <p:nvPr/>
              </p:nvSpPr>
              <p:spPr>
                <a:xfrm>
                  <a:off x="5563205" y="2133899"/>
                  <a:ext cx="949476" cy="950098"/>
                </a:xfrm>
                <a:prstGeom prst="ellipse">
                  <a:avLst/>
                </a:prstGeom>
                <a:solidFill>
                  <a:srgbClr val="6080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9" name="组合 139"/>
                <p:cNvGrpSpPr>
                  <a:grpSpLocks noChangeAspect="1"/>
                </p:cNvGrpSpPr>
                <p:nvPr/>
              </p:nvGrpSpPr>
              <p:grpSpPr>
                <a:xfrm>
                  <a:off x="5786662" y="2400413"/>
                  <a:ext cx="502563" cy="417068"/>
                  <a:chOff x="9404083" y="1238855"/>
                  <a:chExt cx="801342" cy="665020"/>
                </a:xfrm>
                <a:solidFill>
                  <a:schemeClr val="bg1"/>
                </a:solidFill>
              </p:grpSpPr>
              <p:sp>
                <p:nvSpPr>
                  <p:cNvPr id="141" name="Freeform 583"/>
                  <p:cNvSpPr/>
                  <p:nvPr/>
                </p:nvSpPr>
                <p:spPr bwMode="auto">
                  <a:xfrm>
                    <a:off x="9404083" y="1238855"/>
                    <a:ext cx="801342" cy="308708"/>
                  </a:xfrm>
                  <a:custGeom>
                    <a:avLst/>
                    <a:gdLst>
                      <a:gd name="T0" fmla="*/ 924 w 1111"/>
                      <a:gd name="T1" fmla="*/ 0 h 428"/>
                      <a:gd name="T2" fmla="*/ 958 w 1111"/>
                      <a:gd name="T3" fmla="*/ 55 h 428"/>
                      <a:gd name="T4" fmla="*/ 542 w 1111"/>
                      <a:gd name="T5" fmla="*/ 281 h 428"/>
                      <a:gd name="T6" fmla="*/ 0 w 1111"/>
                      <a:gd name="T7" fmla="*/ 355 h 428"/>
                      <a:gd name="T8" fmla="*/ 3 w 1111"/>
                      <a:gd name="T9" fmla="*/ 428 h 428"/>
                      <a:gd name="T10" fmla="*/ 570 w 1111"/>
                      <a:gd name="T11" fmla="*/ 355 h 428"/>
                      <a:gd name="T12" fmla="*/ 986 w 1111"/>
                      <a:gd name="T13" fmla="*/ 121 h 428"/>
                      <a:gd name="T14" fmla="*/ 1021 w 1111"/>
                      <a:gd name="T15" fmla="*/ 184 h 428"/>
                      <a:gd name="T16" fmla="*/ 1111 w 1111"/>
                      <a:gd name="T17" fmla="*/ 0 h 428"/>
                      <a:gd name="T18" fmla="*/ 924 w 1111"/>
                      <a:gd name="T19"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1" h="428">
                        <a:moveTo>
                          <a:pt x="924" y="0"/>
                        </a:moveTo>
                        <a:lnTo>
                          <a:pt x="958" y="55"/>
                        </a:lnTo>
                        <a:lnTo>
                          <a:pt x="542" y="281"/>
                        </a:lnTo>
                        <a:lnTo>
                          <a:pt x="0" y="355"/>
                        </a:lnTo>
                        <a:lnTo>
                          <a:pt x="3" y="428"/>
                        </a:lnTo>
                        <a:lnTo>
                          <a:pt x="570" y="355"/>
                        </a:lnTo>
                        <a:lnTo>
                          <a:pt x="986" y="121"/>
                        </a:lnTo>
                        <a:lnTo>
                          <a:pt x="1021" y="184"/>
                        </a:lnTo>
                        <a:lnTo>
                          <a:pt x="1111" y="0"/>
                        </a:lnTo>
                        <a:lnTo>
                          <a:pt x="924" y="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2" name="Freeform 584"/>
                  <p:cNvSpPr/>
                  <p:nvPr/>
                </p:nvSpPr>
                <p:spPr bwMode="auto">
                  <a:xfrm>
                    <a:off x="9915470" y="1392487"/>
                    <a:ext cx="208450" cy="511387"/>
                  </a:xfrm>
                  <a:custGeom>
                    <a:avLst/>
                    <a:gdLst>
                      <a:gd name="T0" fmla="*/ 0 w 289"/>
                      <a:gd name="T1" fmla="*/ 709 h 709"/>
                      <a:gd name="T2" fmla="*/ 289 w 289"/>
                      <a:gd name="T3" fmla="*/ 709 h 709"/>
                      <a:gd name="T4" fmla="*/ 289 w 289"/>
                      <a:gd name="T5" fmla="*/ 0 h 709"/>
                      <a:gd name="T6" fmla="*/ 0 w 289"/>
                      <a:gd name="T7" fmla="*/ 161 h 709"/>
                      <a:gd name="T8" fmla="*/ 0 w 289"/>
                      <a:gd name="T9" fmla="*/ 709 h 709"/>
                    </a:gdLst>
                    <a:ahLst/>
                    <a:cxnLst>
                      <a:cxn ang="0">
                        <a:pos x="T0" y="T1"/>
                      </a:cxn>
                      <a:cxn ang="0">
                        <a:pos x="T2" y="T3"/>
                      </a:cxn>
                      <a:cxn ang="0">
                        <a:pos x="T4" y="T5"/>
                      </a:cxn>
                      <a:cxn ang="0">
                        <a:pos x="T6" y="T7"/>
                      </a:cxn>
                      <a:cxn ang="0">
                        <a:pos x="T8" y="T9"/>
                      </a:cxn>
                    </a:cxnLst>
                    <a:rect l="0" t="0" r="r" b="b"/>
                    <a:pathLst>
                      <a:path w="289" h="709">
                        <a:moveTo>
                          <a:pt x="0" y="709"/>
                        </a:moveTo>
                        <a:lnTo>
                          <a:pt x="289" y="709"/>
                        </a:lnTo>
                        <a:lnTo>
                          <a:pt x="289" y="0"/>
                        </a:lnTo>
                        <a:lnTo>
                          <a:pt x="0" y="161"/>
                        </a:lnTo>
                        <a:lnTo>
                          <a:pt x="0" y="709"/>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3" name="Freeform 585"/>
                  <p:cNvSpPr/>
                  <p:nvPr/>
                </p:nvSpPr>
                <p:spPr bwMode="auto">
                  <a:xfrm>
                    <a:off x="9663743" y="1528809"/>
                    <a:ext cx="180320" cy="375065"/>
                  </a:xfrm>
                  <a:custGeom>
                    <a:avLst/>
                    <a:gdLst>
                      <a:gd name="T0" fmla="*/ 0 w 250"/>
                      <a:gd name="T1" fmla="*/ 520 h 520"/>
                      <a:gd name="T2" fmla="*/ 250 w 250"/>
                      <a:gd name="T3" fmla="*/ 520 h 520"/>
                      <a:gd name="T4" fmla="*/ 250 w 250"/>
                      <a:gd name="T5" fmla="*/ 0 h 520"/>
                      <a:gd name="T6" fmla="*/ 0 w 250"/>
                      <a:gd name="T7" fmla="*/ 42 h 520"/>
                      <a:gd name="T8" fmla="*/ 0 w 250"/>
                      <a:gd name="T9" fmla="*/ 520 h 520"/>
                    </a:gdLst>
                    <a:ahLst/>
                    <a:cxnLst>
                      <a:cxn ang="0">
                        <a:pos x="T0" y="T1"/>
                      </a:cxn>
                      <a:cxn ang="0">
                        <a:pos x="T2" y="T3"/>
                      </a:cxn>
                      <a:cxn ang="0">
                        <a:pos x="T4" y="T5"/>
                      </a:cxn>
                      <a:cxn ang="0">
                        <a:pos x="T6" y="T7"/>
                      </a:cxn>
                      <a:cxn ang="0">
                        <a:pos x="T8" y="T9"/>
                      </a:cxn>
                    </a:cxnLst>
                    <a:rect l="0" t="0" r="r" b="b"/>
                    <a:pathLst>
                      <a:path w="250" h="520">
                        <a:moveTo>
                          <a:pt x="0" y="520"/>
                        </a:moveTo>
                        <a:lnTo>
                          <a:pt x="250" y="520"/>
                        </a:lnTo>
                        <a:lnTo>
                          <a:pt x="250" y="0"/>
                        </a:lnTo>
                        <a:lnTo>
                          <a:pt x="0" y="42"/>
                        </a:lnTo>
                        <a:lnTo>
                          <a:pt x="0" y="52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4" name="Freeform 586"/>
                  <p:cNvSpPr/>
                  <p:nvPr/>
                </p:nvSpPr>
                <p:spPr bwMode="auto">
                  <a:xfrm>
                    <a:off x="9404083" y="1569922"/>
                    <a:ext cx="189697" cy="333953"/>
                  </a:xfrm>
                  <a:custGeom>
                    <a:avLst/>
                    <a:gdLst>
                      <a:gd name="T0" fmla="*/ 0 w 263"/>
                      <a:gd name="T1" fmla="*/ 463 h 463"/>
                      <a:gd name="T2" fmla="*/ 263 w 263"/>
                      <a:gd name="T3" fmla="*/ 463 h 463"/>
                      <a:gd name="T4" fmla="*/ 263 w 263"/>
                      <a:gd name="T5" fmla="*/ 0 h 463"/>
                      <a:gd name="T6" fmla="*/ 0 w 263"/>
                      <a:gd name="T7" fmla="*/ 30 h 463"/>
                      <a:gd name="T8" fmla="*/ 0 w 263"/>
                      <a:gd name="T9" fmla="*/ 463 h 463"/>
                    </a:gdLst>
                    <a:ahLst/>
                    <a:cxnLst>
                      <a:cxn ang="0">
                        <a:pos x="T0" y="T1"/>
                      </a:cxn>
                      <a:cxn ang="0">
                        <a:pos x="T2" y="T3"/>
                      </a:cxn>
                      <a:cxn ang="0">
                        <a:pos x="T4" y="T5"/>
                      </a:cxn>
                      <a:cxn ang="0">
                        <a:pos x="T6" y="T7"/>
                      </a:cxn>
                      <a:cxn ang="0">
                        <a:pos x="T8" y="T9"/>
                      </a:cxn>
                    </a:cxnLst>
                    <a:rect l="0" t="0" r="r" b="b"/>
                    <a:pathLst>
                      <a:path w="263" h="463">
                        <a:moveTo>
                          <a:pt x="0" y="463"/>
                        </a:moveTo>
                        <a:lnTo>
                          <a:pt x="263" y="463"/>
                        </a:lnTo>
                        <a:lnTo>
                          <a:pt x="263" y="0"/>
                        </a:lnTo>
                        <a:lnTo>
                          <a:pt x="0" y="30"/>
                        </a:lnTo>
                        <a:lnTo>
                          <a:pt x="0" y="463"/>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nvGrpSpPr>
            <p:cNvPr id="22" name="组合 145"/>
            <p:cNvGrpSpPr/>
            <p:nvPr/>
          </p:nvGrpSpPr>
          <p:grpSpPr bwMode="auto">
            <a:xfrm>
              <a:off x="4131469" y="3250844"/>
              <a:ext cx="327422" cy="328613"/>
              <a:chOff x="5477628" y="3606228"/>
              <a:chExt cx="1120629" cy="1120629"/>
            </a:xfrm>
          </p:grpSpPr>
          <p:sp>
            <p:nvSpPr>
              <p:cNvPr id="147" name="椭圆 146"/>
              <p:cNvSpPr/>
              <p:nvPr/>
            </p:nvSpPr>
            <p:spPr>
              <a:xfrm>
                <a:off x="5477628" y="3606228"/>
                <a:ext cx="1120629" cy="1120629"/>
              </a:xfrm>
              <a:prstGeom prst="ellipse">
                <a:avLst/>
              </a:prstGeom>
              <a:pattFill prst="wdUpDiag">
                <a:fgClr>
                  <a:srgbClr val="66BFB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37" name="组合 147"/>
              <p:cNvGrpSpPr/>
              <p:nvPr/>
            </p:nvGrpSpPr>
            <p:grpSpPr bwMode="auto">
              <a:xfrm>
                <a:off x="5561692" y="3690292"/>
                <a:ext cx="952500" cy="952500"/>
                <a:chOff x="5561693" y="3690293"/>
                <a:chExt cx="952500" cy="952500"/>
              </a:xfrm>
            </p:grpSpPr>
            <p:sp>
              <p:nvSpPr>
                <p:cNvPr id="149" name="椭圆 148"/>
                <p:cNvSpPr/>
                <p:nvPr/>
              </p:nvSpPr>
              <p:spPr>
                <a:xfrm>
                  <a:off x="5563205" y="3691495"/>
                  <a:ext cx="949476" cy="950098"/>
                </a:xfrm>
                <a:prstGeom prst="ellips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5" name="组合 149"/>
                <p:cNvGrpSpPr>
                  <a:grpSpLocks noChangeAspect="1"/>
                </p:cNvGrpSpPr>
                <p:nvPr/>
              </p:nvGrpSpPr>
              <p:grpSpPr>
                <a:xfrm>
                  <a:off x="5786679" y="3839402"/>
                  <a:ext cx="502529" cy="654282"/>
                  <a:chOff x="3196030" y="1160235"/>
                  <a:chExt cx="582794" cy="758785"/>
                </a:xfrm>
                <a:solidFill>
                  <a:schemeClr val="bg1"/>
                </a:solidFill>
              </p:grpSpPr>
              <p:sp>
                <p:nvSpPr>
                  <p:cNvPr id="151" name="Freeform 634"/>
                  <p:cNvSpPr>
                    <a:spLocks noEditPoints="1"/>
                  </p:cNvSpPr>
                  <p:nvPr/>
                </p:nvSpPr>
                <p:spPr bwMode="auto">
                  <a:xfrm>
                    <a:off x="3243635" y="1160235"/>
                    <a:ext cx="535189" cy="533747"/>
                  </a:xfrm>
                  <a:custGeom>
                    <a:avLst/>
                    <a:gdLst>
                      <a:gd name="T0" fmla="*/ 225 w 314"/>
                      <a:gd name="T1" fmla="*/ 39 h 313"/>
                      <a:gd name="T2" fmla="*/ 34 w 314"/>
                      <a:gd name="T3" fmla="*/ 89 h 313"/>
                      <a:gd name="T4" fmla="*/ 62 w 314"/>
                      <a:gd name="T5" fmla="*/ 264 h 313"/>
                      <a:gd name="T6" fmla="*/ 84 w 314"/>
                      <a:gd name="T7" fmla="*/ 280 h 313"/>
                      <a:gd name="T8" fmla="*/ 110 w 314"/>
                      <a:gd name="T9" fmla="*/ 292 h 313"/>
                      <a:gd name="T10" fmla="*/ 275 w 314"/>
                      <a:gd name="T11" fmla="*/ 230 h 313"/>
                      <a:gd name="T12" fmla="*/ 225 w 314"/>
                      <a:gd name="T13" fmla="*/ 39 h 313"/>
                      <a:gd name="T14" fmla="*/ 229 w 314"/>
                      <a:gd name="T15" fmla="*/ 203 h 313"/>
                      <a:gd name="T16" fmla="*/ 111 w 314"/>
                      <a:gd name="T17" fmla="*/ 234 h 313"/>
                      <a:gd name="T18" fmla="*/ 79 w 314"/>
                      <a:gd name="T19" fmla="*/ 116 h 313"/>
                      <a:gd name="T20" fmla="*/ 198 w 314"/>
                      <a:gd name="T21" fmla="*/ 84 h 313"/>
                      <a:gd name="T22" fmla="*/ 229 w 314"/>
                      <a:gd name="T23" fmla="*/ 20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4" h="313">
                        <a:moveTo>
                          <a:pt x="225" y="39"/>
                        </a:moveTo>
                        <a:cubicBezTo>
                          <a:pt x="158" y="0"/>
                          <a:pt x="72" y="23"/>
                          <a:pt x="34" y="89"/>
                        </a:cubicBezTo>
                        <a:cubicBezTo>
                          <a:pt x="0" y="148"/>
                          <a:pt x="13" y="221"/>
                          <a:pt x="62" y="264"/>
                        </a:cubicBezTo>
                        <a:cubicBezTo>
                          <a:pt x="69" y="270"/>
                          <a:pt x="76" y="275"/>
                          <a:pt x="84" y="280"/>
                        </a:cubicBezTo>
                        <a:cubicBezTo>
                          <a:pt x="92" y="285"/>
                          <a:pt x="101" y="289"/>
                          <a:pt x="110" y="292"/>
                        </a:cubicBezTo>
                        <a:cubicBezTo>
                          <a:pt x="171" y="313"/>
                          <a:pt x="241" y="288"/>
                          <a:pt x="275" y="230"/>
                        </a:cubicBezTo>
                        <a:cubicBezTo>
                          <a:pt x="314" y="163"/>
                          <a:pt x="291" y="77"/>
                          <a:pt x="225" y="39"/>
                        </a:cubicBezTo>
                        <a:close/>
                        <a:moveTo>
                          <a:pt x="229" y="203"/>
                        </a:moveTo>
                        <a:cubicBezTo>
                          <a:pt x="205" y="244"/>
                          <a:pt x="152" y="259"/>
                          <a:pt x="111" y="234"/>
                        </a:cubicBezTo>
                        <a:cubicBezTo>
                          <a:pt x="69" y="210"/>
                          <a:pt x="55" y="157"/>
                          <a:pt x="79" y="116"/>
                        </a:cubicBezTo>
                        <a:cubicBezTo>
                          <a:pt x="103" y="74"/>
                          <a:pt x="157" y="60"/>
                          <a:pt x="198" y="84"/>
                        </a:cubicBezTo>
                        <a:cubicBezTo>
                          <a:pt x="239" y="108"/>
                          <a:pt x="254" y="162"/>
                          <a:pt x="229" y="203"/>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2" name="Oval 635"/>
                  <p:cNvSpPr>
                    <a:spLocks noChangeArrowheads="1"/>
                  </p:cNvSpPr>
                  <p:nvPr/>
                </p:nvSpPr>
                <p:spPr bwMode="auto">
                  <a:xfrm>
                    <a:off x="3465068" y="1327572"/>
                    <a:ext cx="85111" cy="87275"/>
                  </a:xfrm>
                  <a:prstGeom prst="ellipse">
                    <a:avLst/>
                  </a:pr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5" name="Freeform 636"/>
                  <p:cNvSpPr/>
                  <p:nvPr/>
                </p:nvSpPr>
                <p:spPr bwMode="auto">
                  <a:xfrm>
                    <a:off x="3507623" y="1422781"/>
                    <a:ext cx="92324" cy="98816"/>
                  </a:xfrm>
                  <a:custGeom>
                    <a:avLst/>
                    <a:gdLst>
                      <a:gd name="T0" fmla="*/ 13 w 54"/>
                      <a:gd name="T1" fmla="*/ 0 h 58"/>
                      <a:gd name="T2" fmla="*/ 0 w 54"/>
                      <a:gd name="T3" fmla="*/ 11 h 58"/>
                      <a:gd name="T4" fmla="*/ 13 w 54"/>
                      <a:gd name="T5" fmla="*/ 40 h 58"/>
                      <a:gd name="T6" fmla="*/ 0 w 54"/>
                      <a:gd name="T7" fmla="*/ 58 h 58"/>
                      <a:gd name="T8" fmla="*/ 4 w 54"/>
                      <a:gd name="T9" fmla="*/ 58 h 58"/>
                      <a:gd name="T10" fmla="*/ 44 w 54"/>
                      <a:gd name="T11" fmla="*/ 16 h 58"/>
                      <a:gd name="T12" fmla="*/ 13 w 54"/>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13" y="0"/>
                        </a:moveTo>
                        <a:cubicBezTo>
                          <a:pt x="0" y="11"/>
                          <a:pt x="0" y="11"/>
                          <a:pt x="0" y="11"/>
                        </a:cubicBezTo>
                        <a:cubicBezTo>
                          <a:pt x="13" y="40"/>
                          <a:pt x="13" y="40"/>
                          <a:pt x="13" y="40"/>
                        </a:cubicBezTo>
                        <a:cubicBezTo>
                          <a:pt x="0" y="58"/>
                          <a:pt x="0" y="58"/>
                          <a:pt x="0" y="58"/>
                        </a:cubicBezTo>
                        <a:cubicBezTo>
                          <a:pt x="4" y="58"/>
                          <a:pt x="4" y="58"/>
                          <a:pt x="4" y="58"/>
                        </a:cubicBezTo>
                        <a:cubicBezTo>
                          <a:pt x="54" y="58"/>
                          <a:pt x="44" y="29"/>
                          <a:pt x="44" y="16"/>
                        </a:cubicBezTo>
                        <a:cubicBezTo>
                          <a:pt x="44" y="6"/>
                          <a:pt x="24" y="2"/>
                          <a:pt x="13"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9" name="Freeform 637"/>
                  <p:cNvSpPr/>
                  <p:nvPr/>
                </p:nvSpPr>
                <p:spPr bwMode="auto">
                  <a:xfrm>
                    <a:off x="3416021" y="1422781"/>
                    <a:ext cx="91603" cy="98816"/>
                  </a:xfrm>
                  <a:custGeom>
                    <a:avLst/>
                    <a:gdLst>
                      <a:gd name="T0" fmla="*/ 54 w 54"/>
                      <a:gd name="T1" fmla="*/ 11 h 58"/>
                      <a:gd name="T2" fmla="*/ 41 w 54"/>
                      <a:gd name="T3" fmla="*/ 0 h 58"/>
                      <a:gd name="T4" fmla="*/ 11 w 54"/>
                      <a:gd name="T5" fmla="*/ 16 h 58"/>
                      <a:gd name="T6" fmla="*/ 50 w 54"/>
                      <a:gd name="T7" fmla="*/ 58 h 58"/>
                      <a:gd name="T8" fmla="*/ 54 w 54"/>
                      <a:gd name="T9" fmla="*/ 58 h 58"/>
                      <a:gd name="T10" fmla="*/ 41 w 54"/>
                      <a:gd name="T11" fmla="*/ 40 h 58"/>
                      <a:gd name="T12" fmla="*/ 54 w 54"/>
                      <a:gd name="T13" fmla="*/ 11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54" y="11"/>
                        </a:moveTo>
                        <a:cubicBezTo>
                          <a:pt x="41" y="0"/>
                          <a:pt x="41" y="0"/>
                          <a:pt x="41" y="0"/>
                        </a:cubicBezTo>
                        <a:cubicBezTo>
                          <a:pt x="30" y="2"/>
                          <a:pt x="11" y="6"/>
                          <a:pt x="11" y="16"/>
                        </a:cubicBezTo>
                        <a:cubicBezTo>
                          <a:pt x="11" y="29"/>
                          <a:pt x="0" y="58"/>
                          <a:pt x="50" y="58"/>
                        </a:cubicBezTo>
                        <a:cubicBezTo>
                          <a:pt x="54" y="58"/>
                          <a:pt x="54" y="58"/>
                          <a:pt x="54" y="58"/>
                        </a:cubicBezTo>
                        <a:cubicBezTo>
                          <a:pt x="41" y="40"/>
                          <a:pt x="41" y="40"/>
                          <a:pt x="41" y="40"/>
                        </a:cubicBezTo>
                        <a:lnTo>
                          <a:pt x="54" y="11"/>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60" name="Freeform 638"/>
                  <p:cNvSpPr/>
                  <p:nvPr/>
                </p:nvSpPr>
                <p:spPr bwMode="auto">
                  <a:xfrm>
                    <a:off x="3196030" y="1626181"/>
                    <a:ext cx="225039" cy="292839"/>
                  </a:xfrm>
                  <a:custGeom>
                    <a:avLst/>
                    <a:gdLst>
                      <a:gd name="T0" fmla="*/ 85 w 132"/>
                      <a:gd name="T1" fmla="*/ 0 h 172"/>
                      <a:gd name="T2" fmla="*/ 12 w 132"/>
                      <a:gd name="T3" fmla="*/ 125 h 172"/>
                      <a:gd name="T4" fmla="*/ 25 w 132"/>
                      <a:gd name="T5" fmla="*/ 158 h 172"/>
                      <a:gd name="T6" fmla="*/ 58 w 132"/>
                      <a:gd name="T7" fmla="*/ 156 h 172"/>
                      <a:gd name="T8" fmla="*/ 132 w 132"/>
                      <a:gd name="T9" fmla="*/ 28 h 172"/>
                      <a:gd name="T10" fmla="*/ 105 w 132"/>
                      <a:gd name="T11" fmla="*/ 19 h 172"/>
                      <a:gd name="T12" fmla="*/ 85 w 132"/>
                      <a:gd name="T13" fmla="*/ 0 h 172"/>
                    </a:gdLst>
                    <a:ahLst/>
                    <a:cxnLst>
                      <a:cxn ang="0">
                        <a:pos x="T0" y="T1"/>
                      </a:cxn>
                      <a:cxn ang="0">
                        <a:pos x="T2" y="T3"/>
                      </a:cxn>
                      <a:cxn ang="0">
                        <a:pos x="T4" y="T5"/>
                      </a:cxn>
                      <a:cxn ang="0">
                        <a:pos x="T6" y="T7"/>
                      </a:cxn>
                      <a:cxn ang="0">
                        <a:pos x="T8" y="T9"/>
                      </a:cxn>
                      <a:cxn ang="0">
                        <a:pos x="T10" y="T11"/>
                      </a:cxn>
                      <a:cxn ang="0">
                        <a:pos x="T12" y="T13"/>
                      </a:cxn>
                    </a:cxnLst>
                    <a:rect l="0" t="0" r="r" b="b"/>
                    <a:pathLst>
                      <a:path w="132" h="172">
                        <a:moveTo>
                          <a:pt x="85" y="0"/>
                        </a:moveTo>
                        <a:cubicBezTo>
                          <a:pt x="12" y="125"/>
                          <a:pt x="12" y="125"/>
                          <a:pt x="12" y="125"/>
                        </a:cubicBezTo>
                        <a:cubicBezTo>
                          <a:pt x="12" y="125"/>
                          <a:pt x="0" y="144"/>
                          <a:pt x="25" y="158"/>
                        </a:cubicBezTo>
                        <a:cubicBezTo>
                          <a:pt x="49" y="172"/>
                          <a:pt x="58" y="156"/>
                          <a:pt x="58" y="156"/>
                        </a:cubicBezTo>
                        <a:cubicBezTo>
                          <a:pt x="132" y="28"/>
                          <a:pt x="132" y="28"/>
                          <a:pt x="132" y="28"/>
                        </a:cubicBezTo>
                        <a:cubicBezTo>
                          <a:pt x="132" y="28"/>
                          <a:pt x="119" y="27"/>
                          <a:pt x="105" y="19"/>
                        </a:cubicBezTo>
                        <a:cubicBezTo>
                          <a:pt x="92" y="11"/>
                          <a:pt x="85" y="0"/>
                          <a:pt x="85"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0" name="标题 1"/>
          <p:cNvSpPr txBox="1"/>
          <p:nvPr/>
        </p:nvSpPr>
        <p:spPr>
          <a:xfrm>
            <a:off x="576118" y="1007132"/>
            <a:ext cx="7835358" cy="1321094"/>
          </a:xfrm>
          <a:prstGeom prst="rect">
            <a:avLst/>
          </a:prstGeom>
          <a:noFill/>
          <a:ln>
            <a:noFill/>
          </a:ln>
          <a:effectLst/>
        </p:spPr>
        <p:txBody>
          <a:bodyPr vert="horz" wrap="square" lIns="0" tIns="0" rIns="0" bIns="0" rtlCol="0" anchor="ctr"/>
          <a:lstStyle/>
          <a:p>
            <a:pPr>
              <a:lnSpc>
                <a:spcPct val="130000"/>
              </a:lnSpc>
            </a:pPr>
            <a:r>
              <a:rPr kumimoji="1" lang="en-US" altLang="zh-CN" sz="2400" b="1" dirty="0">
                <a:ln w="12700">
                  <a:noFill/>
                </a:ln>
                <a:solidFill>
                  <a:srgbClr val="002060"/>
                </a:solidFill>
                <a:latin typeface="仿宋" panose="02010609060101010101" charset="-122"/>
                <a:ea typeface="仿宋" panose="02010609060101010101" charset="-122"/>
                <a:cs typeface="OPPOSans H" panose="00020600040101010101" charset="-122"/>
              </a:rPr>
              <a:t>TORAI: Multi-source Root Cause Analysis for Blind Spots in Microservice Service Call Graph</a:t>
            </a:r>
          </a:p>
        </p:txBody>
      </p:sp>
      <p:sp>
        <p:nvSpPr>
          <p:cNvPr id="51" name="标题 1"/>
          <p:cNvSpPr txBox="1"/>
          <p:nvPr/>
        </p:nvSpPr>
        <p:spPr>
          <a:xfrm>
            <a:off x="590934" y="2628455"/>
            <a:ext cx="5292000" cy="36000"/>
          </a:xfrm>
          <a:prstGeom prst="rect">
            <a:avLst/>
          </a:prstGeom>
          <a:gradFill>
            <a:gsLst>
              <a:gs pos="0">
                <a:schemeClr val="accent1">
                  <a:lumMod val="60000"/>
                  <a:lumOff val="40000"/>
                </a:schemeClr>
              </a:gs>
              <a:gs pos="100000">
                <a:schemeClr val="accent2">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3" name="文本框 52"/>
          <p:cNvSpPr txBox="1"/>
          <p:nvPr/>
        </p:nvSpPr>
        <p:spPr>
          <a:xfrm>
            <a:off x="539348" y="2759373"/>
            <a:ext cx="6745181" cy="338554"/>
          </a:xfrm>
          <a:prstGeom prst="rect">
            <a:avLst/>
          </a:prstGeom>
          <a:noFill/>
        </p:spPr>
        <p:txBody>
          <a:bodyPr wrap="square" rtlCol="0">
            <a:spAutoFit/>
          </a:bodyPr>
          <a:lstStyle/>
          <a:p>
            <a:r>
              <a:rPr lang="en-US" altLang="zh-CN" sz="1600"/>
              <a:t>LUAN PHAM, HUONG HA, XIUZHEN ZHANG, HONGYU ZHANG</a:t>
            </a:r>
            <a:endParaRPr lang="en-US" altLang="zh-CN" sz="1600" baseline="30000" dirty="0"/>
          </a:p>
        </p:txBody>
      </p:sp>
      <p:sp>
        <p:nvSpPr>
          <p:cNvPr id="5" name="标题 1">
            <a:extLst>
              <a:ext uri="{FF2B5EF4-FFF2-40B4-BE49-F238E27FC236}">
                <a16:creationId xmlns:a16="http://schemas.microsoft.com/office/drawing/2014/main" id="{65931182-11CA-9F3E-E0DD-2E9E6EADBE14}"/>
              </a:ext>
            </a:extLst>
          </p:cNvPr>
          <p:cNvSpPr txBox="1"/>
          <p:nvPr/>
        </p:nvSpPr>
        <p:spPr>
          <a:xfrm>
            <a:off x="3860402" y="4064670"/>
            <a:ext cx="1852252" cy="422958"/>
          </a:xfrm>
          <a:prstGeom prst="rect">
            <a:avLst/>
          </a:prstGeom>
          <a:noFill/>
          <a:ln>
            <a:noFill/>
          </a:ln>
          <a:effectLst/>
        </p:spPr>
        <p:txBody>
          <a:bodyPr vert="horz" wrap="square" lIns="0" tIns="0" rIns="0" bIns="0" rtlCol="0" anchor="ctr"/>
          <a:lstStyle/>
          <a:p>
            <a:pPr>
              <a:lnSpc>
                <a:spcPct val="130000"/>
              </a:lnSpc>
            </a:pPr>
            <a:r>
              <a:rPr kumimoji="1" lang="en-US" altLang="zh-CN" sz="2000" b="1">
                <a:ln w="12700">
                  <a:noFill/>
                </a:ln>
                <a:solidFill>
                  <a:srgbClr val="002060"/>
                </a:solidFill>
                <a:latin typeface="仿宋" panose="02010609060101010101" charset="-122"/>
                <a:ea typeface="仿宋" panose="02010609060101010101" charset="-122"/>
                <a:cs typeface="OPPOSans H" panose="00020600040101010101" charset="-122"/>
              </a:rPr>
              <a:t>FSE 2026</a:t>
            </a:r>
            <a:endParaRPr kumimoji="1" lang="en-US" altLang="zh-CN" sz="2000" b="1" dirty="0">
              <a:ln w="12700">
                <a:noFill/>
              </a:ln>
              <a:solidFill>
                <a:srgbClr val="002060"/>
              </a:solidFill>
              <a:latin typeface="仿宋" panose="02010609060101010101" charset="-122"/>
              <a:ea typeface="仿宋" panose="02010609060101010101" charset="-122"/>
              <a:cs typeface="OPPOSans H" panose="00020600040101010101"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Introduction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813585" y="710492"/>
            <a:ext cx="6997560" cy="429413"/>
          </a:xfrm>
          <a:prstGeom prst="rect">
            <a:avLst/>
          </a:prstGeom>
          <a:noFill/>
        </p:spPr>
        <p:txBody>
          <a:bodyPr wrap="square">
            <a:spAutoFit/>
          </a:bodyPr>
          <a:lstStyle/>
          <a:p>
            <a:pPr>
              <a:lnSpc>
                <a:spcPct val="120000"/>
              </a:lnSpc>
            </a:pPr>
            <a:r>
              <a:rPr lang="en-US" altLang="zh-CN" sz="2000" b="1">
                <a:latin typeface="Times New Roman" panose="02020603050405020304" pitchFamily="18" charset="0"/>
                <a:cs typeface="Times New Roman" panose="02020603050405020304" pitchFamily="18" charset="0"/>
              </a:rPr>
              <a:t>Key limitations of  existing multi-source RCA methods</a:t>
            </a:r>
            <a:endParaRPr lang="zh-CN" altLang="en-US" sz="2000" b="1"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087ABA66-33D5-44AE-AE19-1BD4E93C238D}"/>
              </a:ext>
            </a:extLst>
          </p:cNvPr>
          <p:cNvSpPr txBox="1"/>
          <p:nvPr/>
        </p:nvSpPr>
        <p:spPr>
          <a:xfrm>
            <a:off x="791766" y="1101839"/>
            <a:ext cx="7019379" cy="1543884"/>
          </a:xfrm>
          <a:prstGeom prst="rect">
            <a:avLst/>
          </a:prstGeom>
          <a:noFill/>
        </p:spPr>
        <p:txBody>
          <a:bodyPr wrap="square">
            <a:spAutoFit/>
          </a:bodyPr>
          <a:lstStyle/>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approaches that assume the system has full trace coverage, allowing them to construct a full service call graph from traces.</a:t>
            </a:r>
          </a:p>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supervised approaches requiring a large volume of labeled data.</a:t>
            </a:r>
          </a:p>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intrusive approaches requiring heavy instrumentation of the microservices’ source code.</a:t>
            </a:r>
            <a:endParaRPr lang="zh-CN" altLang="en-US" sz="1600"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B91A40DC-803C-845E-D6D2-4AE61F5C77C2}"/>
              </a:ext>
            </a:extLst>
          </p:cNvPr>
          <p:cNvPicPr>
            <a:picLocks noChangeAspect="1"/>
          </p:cNvPicPr>
          <p:nvPr/>
        </p:nvPicPr>
        <p:blipFill>
          <a:blip r:embed="rId3"/>
          <a:stretch>
            <a:fillRect/>
          </a:stretch>
        </p:blipFill>
        <p:spPr>
          <a:xfrm>
            <a:off x="2573007" y="2625165"/>
            <a:ext cx="3478716" cy="251833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Framework</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p:cNvSpPr txBox="1"/>
          <p:nvPr/>
        </p:nvSpPr>
        <p:spPr>
          <a:xfrm>
            <a:off x="921586" y="749582"/>
            <a:ext cx="7450205" cy="1660839"/>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TORAI employs </a:t>
            </a:r>
            <a:r>
              <a:rPr lang="en-US" altLang="zh-CN" sz="1600" b="1">
                <a:latin typeface="Times New Roman" panose="02020603050405020304" pitchFamily="18" charset="0"/>
                <a:cs typeface="Times New Roman" panose="02020603050405020304" pitchFamily="18" charset="0"/>
              </a:rPr>
              <a:t>unsupervised</a:t>
            </a:r>
            <a:r>
              <a:rPr lang="en-US" altLang="zh-CN" sz="1600">
                <a:latin typeface="Times New Roman" panose="02020603050405020304" pitchFamily="18" charset="0"/>
                <a:cs typeface="Times New Roman" panose="02020603050405020304" pitchFamily="18" charset="0"/>
              </a:rPr>
              <a:t> techniques intuitively. </a:t>
            </a:r>
          </a:p>
          <a:p>
            <a:pPr>
              <a:lnSpc>
                <a:spcPct val="130000"/>
              </a:lnSpc>
            </a:pPr>
            <a:r>
              <a:rPr lang="en-US" altLang="zh-CN" sz="1600">
                <a:latin typeface="Times New Roman" panose="02020603050405020304" pitchFamily="18" charset="0"/>
                <a:cs typeface="Times New Roman" panose="02020603050405020304" pitchFamily="18" charset="0"/>
              </a:rPr>
              <a:t>First, it measures the </a:t>
            </a:r>
            <a:r>
              <a:rPr lang="en-US" altLang="zh-CN" sz="1600" b="1">
                <a:latin typeface="Times New Roman" panose="02020603050405020304" pitchFamily="18" charset="0"/>
                <a:cs typeface="Times New Roman" panose="02020603050405020304" pitchFamily="18" charset="0"/>
              </a:rPr>
              <a:t>anomaly severity</a:t>
            </a:r>
            <a:r>
              <a:rPr lang="en-US" altLang="zh-CN" sz="1600">
                <a:latin typeface="Times New Roman" panose="02020603050405020304" pitchFamily="18" charset="0"/>
                <a:cs typeface="Times New Roman" panose="02020603050405020304" pitchFamily="18" charset="0"/>
              </a:rPr>
              <a:t> from multi-source telemetry data. </a:t>
            </a:r>
          </a:p>
          <a:p>
            <a:pPr>
              <a:lnSpc>
                <a:spcPct val="130000"/>
              </a:lnSpc>
            </a:pPr>
            <a:r>
              <a:rPr lang="en-US" altLang="zh-CN" sz="1600">
                <a:latin typeface="Times New Roman" panose="02020603050405020304" pitchFamily="18" charset="0"/>
                <a:cs typeface="Times New Roman" panose="02020603050405020304" pitchFamily="18" charset="0"/>
              </a:rPr>
              <a:t>Second, it </a:t>
            </a:r>
            <a:r>
              <a:rPr lang="en-US" altLang="zh-CN" sz="1600" b="1">
                <a:latin typeface="Times New Roman" panose="02020603050405020304" pitchFamily="18" charset="0"/>
                <a:cs typeface="Times New Roman" panose="02020603050405020304" pitchFamily="18" charset="0"/>
              </a:rPr>
              <a:t>clusters</a:t>
            </a:r>
            <a:r>
              <a:rPr lang="en-US" altLang="zh-CN" sz="1600">
                <a:latin typeface="Times New Roman" panose="02020603050405020304" pitchFamily="18" charset="0"/>
                <a:cs typeface="Times New Roman" panose="02020603050405020304" pitchFamily="18" charset="0"/>
              </a:rPr>
              <a:t> services with similar severity symptoms. </a:t>
            </a:r>
          </a:p>
          <a:p>
            <a:pPr>
              <a:lnSpc>
                <a:spcPct val="130000"/>
              </a:lnSpc>
            </a:pPr>
            <a:r>
              <a:rPr lang="en-US" altLang="zh-CN" sz="1600">
                <a:latin typeface="Times New Roman" panose="02020603050405020304" pitchFamily="18" charset="0"/>
                <a:cs typeface="Times New Roman" panose="02020603050405020304" pitchFamily="18" charset="0"/>
              </a:rPr>
              <a:t>Next, it applies </a:t>
            </a:r>
            <a:r>
              <a:rPr lang="en-US" altLang="zh-CN" sz="1600" b="1">
                <a:latin typeface="Times New Roman" panose="02020603050405020304" pitchFamily="18" charset="0"/>
                <a:cs typeface="Times New Roman" panose="02020603050405020304" pitchFamily="18" charset="0"/>
              </a:rPr>
              <a:t>causal analysis </a:t>
            </a:r>
            <a:r>
              <a:rPr lang="en-US" altLang="zh-CN" sz="1600">
                <a:latin typeface="Times New Roman" panose="02020603050405020304" pitchFamily="18" charset="0"/>
                <a:cs typeface="Times New Roman" panose="02020603050405020304" pitchFamily="18" charset="0"/>
              </a:rPr>
              <a:t>to identify coarse-grained root causes.</a:t>
            </a:r>
          </a:p>
          <a:p>
            <a:pPr>
              <a:lnSpc>
                <a:spcPct val="130000"/>
              </a:lnSpc>
            </a:pPr>
            <a:r>
              <a:rPr lang="en-US" altLang="zh-CN" sz="1600">
                <a:latin typeface="Times New Roman" panose="02020603050405020304" pitchFamily="18" charset="0"/>
                <a:cs typeface="Times New Roman" panose="02020603050405020304" pitchFamily="18" charset="0"/>
              </a:rPr>
              <a:t>Finally, it uses </a:t>
            </a:r>
            <a:r>
              <a:rPr lang="en-US" altLang="zh-CN" sz="1600" b="1">
                <a:latin typeface="Times New Roman" panose="02020603050405020304" pitchFamily="18" charset="0"/>
                <a:cs typeface="Times New Roman" panose="02020603050405020304" pitchFamily="18" charset="0"/>
              </a:rPr>
              <a:t>hypothesis testing </a:t>
            </a:r>
            <a:r>
              <a:rPr lang="en-US" altLang="zh-CN" sz="1600">
                <a:latin typeface="Times New Roman" panose="02020603050405020304" pitchFamily="18" charset="0"/>
                <a:cs typeface="Times New Roman" panose="02020603050405020304" pitchFamily="18" charset="0"/>
              </a:rPr>
              <a:t>to derive fine-grained root causes indicators.</a:t>
            </a:r>
            <a:endParaRPr lang="en-US" altLang="zh-CN"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D5197614-335A-115C-0EB4-07725D078C7A}"/>
              </a:ext>
            </a:extLst>
          </p:cNvPr>
          <p:cNvSpPr txBox="1"/>
          <p:nvPr/>
        </p:nvSpPr>
        <p:spPr>
          <a:xfrm>
            <a:off x="921586" y="2733080"/>
            <a:ext cx="7069002" cy="2301015"/>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TORAI offers several </a:t>
            </a:r>
            <a:r>
              <a:rPr lang="en-US" altLang="zh-CN" sz="1600" b="1">
                <a:latin typeface="Times New Roman" panose="02020603050405020304" pitchFamily="18" charset="0"/>
                <a:cs typeface="Times New Roman" panose="02020603050405020304" pitchFamily="18" charset="0"/>
              </a:rPr>
              <a:t>advantages</a:t>
            </a:r>
            <a:r>
              <a:rPr lang="en-US" altLang="zh-CN" sz="1600">
                <a:latin typeface="Times New Roman" panose="02020603050405020304" pitchFamily="18" charset="0"/>
                <a:cs typeface="Times New Roman" panose="02020603050405020304" pitchFamily="18" charset="0"/>
              </a:rPr>
              <a:t> over existing multi-source RCA methods. </a:t>
            </a:r>
          </a:p>
          <a:p>
            <a:pPr>
              <a:lnSpc>
                <a:spcPct val="130000"/>
              </a:lnSpc>
            </a:pPr>
            <a:r>
              <a:rPr lang="en-US" altLang="zh-CN" sz="1600">
                <a:latin typeface="Times New Roman" panose="02020603050405020304" pitchFamily="18" charset="0"/>
                <a:cs typeface="Times New Roman" panose="02020603050405020304" pitchFamily="18" charset="0"/>
              </a:rPr>
              <a:t>First, it does not rely on the service call graph. </a:t>
            </a:r>
          </a:p>
          <a:p>
            <a:pPr>
              <a:lnSpc>
                <a:spcPct val="130000"/>
              </a:lnSpc>
            </a:pPr>
            <a:r>
              <a:rPr lang="en-US" altLang="zh-CN" sz="1600">
                <a:latin typeface="Times New Roman" panose="02020603050405020304" pitchFamily="18" charset="0"/>
                <a:cs typeface="Times New Roman" panose="02020603050405020304" pitchFamily="18" charset="0"/>
              </a:rPr>
              <a:t>Second, it uses </a:t>
            </a:r>
            <a:r>
              <a:rPr lang="en-US" altLang="zh-CN" sz="1600" b="1">
                <a:latin typeface="Times New Roman" panose="02020603050405020304" pitchFamily="18" charset="0"/>
                <a:cs typeface="Times New Roman" panose="02020603050405020304" pitchFamily="18" charset="0"/>
              </a:rPr>
              <a:t>unsupervised</a:t>
            </a:r>
            <a:r>
              <a:rPr lang="en-US" altLang="zh-CN" sz="1600">
                <a:latin typeface="Times New Roman" panose="02020603050405020304" pitchFamily="18" charset="0"/>
                <a:cs typeface="Times New Roman" panose="02020603050405020304" pitchFamily="18" charset="0"/>
              </a:rPr>
              <a:t> techniques such as clustering, and causal analysis, removing the need for labeled data and enabling direct application to microservice systems without requiring training. </a:t>
            </a:r>
          </a:p>
          <a:p>
            <a:pPr>
              <a:lnSpc>
                <a:spcPct val="130000"/>
              </a:lnSpc>
            </a:pPr>
            <a:r>
              <a:rPr lang="en-US" altLang="zh-CN" sz="1600">
                <a:latin typeface="Times New Roman" panose="02020603050405020304" pitchFamily="18" charset="0"/>
                <a:cs typeface="Times New Roman" panose="02020603050405020304" pitchFamily="18" charset="0"/>
              </a:rPr>
              <a:t>Third, it effectively leverages  multi-source telemetry data, allowing for the root cause diagnosis in services not present in the call graph.</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Contributions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91766" y="957092"/>
            <a:ext cx="7115579" cy="3581365"/>
          </a:xfrm>
          <a:prstGeom prst="rect">
            <a:avLst/>
          </a:prstGeom>
          <a:noFill/>
        </p:spPr>
        <p:txBody>
          <a:bodyPr wrap="square">
            <a:spAutoFit/>
          </a:bodyPr>
          <a:lstStyle/>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We identify three key limitations of existing multi-source RCA methods, including the assumption of full trace coverage, the reliance on labeled data, and the requirement for intrusive instrumentation.  </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We introduce TORAI, a novel RCA method that addresses the mentioned limitations effectively.  TORAI pinpoints fine-grained root causes by diagnosing available multi-source telemetry without  requiring a constructed call graph or labeled data.</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We conduct extensive experiments to evaluate TORAI and the experimental results demonstrate that TORAI outperforms existing methods in both effectiveness and efficiency. Additionally, we evaluate TORAI with real-world failures and the results confirm its potential.</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3B7D-8E28-5000-A1ED-F0A6F8E616DE}"/>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D8A6CC2B-A23A-F382-3070-224ADF5CBFD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1FD7D774-56E2-396E-EA31-B9E3DAF7307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C024354-1E3D-A09A-B0F6-EE32A0C2B3D8}"/>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D251A4B-33FC-2884-B67E-3E3C7F88154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390DFA6-D56C-68B8-4877-03230EE16282}"/>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Problem Formulation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6365B65E-4827-0E59-E341-2E672A43B32E}"/>
                  </a:ext>
                </a:extLst>
              </p:cNvPr>
              <p:cNvSpPr txBox="1"/>
              <p:nvPr/>
            </p:nvSpPr>
            <p:spPr>
              <a:xfrm>
                <a:off x="813584" y="841251"/>
                <a:ext cx="7115579" cy="397353"/>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Consider a microservice system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𝒮</m:t>
                    </m:r>
                  </m:oMath>
                </a14:m>
                <a:r>
                  <a:rPr lang="en-US" altLang="zh-CN" sz="1600" dirty="0">
                    <a:latin typeface="Times New Roman" panose="02020603050405020304" pitchFamily="18" charset="0"/>
                    <a:cs typeface="Times New Roman" panose="02020603050405020304" pitchFamily="18" charset="0"/>
                  </a:rPr>
                  <a:t> comprising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𝒩</m:t>
                    </m:r>
                  </m:oMath>
                </a14:m>
                <a:r>
                  <a:rPr lang="en-US" altLang="zh-CN" sz="1600" dirty="0">
                    <a:latin typeface="Times New Roman" panose="02020603050405020304" pitchFamily="18" charset="0"/>
                    <a:cs typeface="Times New Roman" panose="02020603050405020304" pitchFamily="18" charset="0"/>
                  </a:rPr>
                  <a:t> services </a:t>
                </a:r>
                <a14:m>
                  <m:oMath xmlns:m="http://schemas.openxmlformats.org/officeDocument/2006/math">
                    <m:r>
                      <m:rPr>
                        <m:lit/>
                      </m:rPr>
                      <a:rPr lang="en-US" altLang="zh-CN" sz="1600" b="0" i="1" smtClean="0">
                        <a:latin typeface="Cambria Math" panose="02040503050406030204" pitchFamily="18" charset="0"/>
                        <a:cs typeface="Times New Roman" panose="02020603050405020304" pitchFamily="18" charset="0"/>
                      </a:rPr>
                      <m:t>{</m:t>
                    </m:r>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b="0" i="1" smtClean="0">
                            <a:latin typeface="Cambria Math" panose="02040503050406030204" pitchFamily="18" charset="0"/>
                            <a:cs typeface="Times New Roman" panose="02020603050405020304" pitchFamily="18" charset="0"/>
                          </a:rPr>
                          <m:t>𝑠</m:t>
                        </m:r>
                      </m:e>
                      <m:sup>
                        <m:r>
                          <a:rPr lang="en-US" altLang="zh-CN" sz="1600" b="0" i="1" smtClean="0">
                            <a:latin typeface="Cambria Math" panose="02040503050406030204" pitchFamily="18" charset="0"/>
                            <a:cs typeface="Times New Roman" panose="02020603050405020304" pitchFamily="18" charset="0"/>
                          </a:rPr>
                          <m:t>𝑖</m:t>
                        </m:r>
                      </m:sup>
                    </m:sSup>
                    <m:sSubSup>
                      <m:sSubSupPr>
                        <m:ctrlPr>
                          <a:rPr lang="en-US" altLang="zh-CN" sz="1600" b="0" i="1" smtClean="0">
                            <a:latin typeface="Cambria Math" panose="02040503050406030204" pitchFamily="18" charset="0"/>
                            <a:cs typeface="Times New Roman" panose="02020603050405020304" pitchFamily="18" charset="0"/>
                          </a:rPr>
                        </m:ctrlPr>
                      </m:sSubSupPr>
                      <m:e>
                        <m:r>
                          <m:rPr>
                            <m:lit/>
                          </m:rPr>
                          <a:rPr lang="en-US" altLang="zh-CN" sz="1600" b="0" i="1" smtClean="0">
                            <a:latin typeface="Cambria Math" panose="02040503050406030204" pitchFamily="18" charset="0"/>
                            <a:cs typeface="Times New Roman" panose="02020603050405020304" pitchFamily="18" charset="0"/>
                          </a:rPr>
                          <m:t>}</m:t>
                        </m:r>
                      </m:e>
                      <m:sub>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=1</m:t>
                        </m:r>
                      </m:sub>
                      <m:sup>
                        <m:r>
                          <a:rPr lang="en-US" altLang="zh-CN" sz="1600" b="0" i="1" smtClean="0">
                            <a:latin typeface="Cambria Math" panose="02040503050406030204" pitchFamily="18" charset="0"/>
                            <a:cs typeface="Times New Roman" panose="02020603050405020304" pitchFamily="18" charset="0"/>
                          </a:rPr>
                          <m:t>𝑁</m:t>
                        </m:r>
                      </m:sup>
                    </m:sSubSup>
                  </m:oMath>
                </a14:m>
                <a:r>
                  <a:rPr lang="en-US" altLang="zh-CN" sz="1600" b="0" dirty="0">
                    <a:latin typeface="Times New Roman" panose="02020603050405020304" pitchFamily="18" charset="0"/>
                    <a:cs typeface="Times New Roman" panose="02020603050405020304" pitchFamily="18" charset="0"/>
                  </a:rPr>
                  <a:t>.</a:t>
                </a:r>
              </a:p>
            </p:txBody>
          </p:sp>
        </mc:Choice>
        <mc:Fallback>
          <p:sp>
            <p:nvSpPr>
              <p:cNvPr id="3" name="文本框 2">
                <a:extLst>
                  <a:ext uri="{FF2B5EF4-FFF2-40B4-BE49-F238E27FC236}">
                    <a16:creationId xmlns:a16="http://schemas.microsoft.com/office/drawing/2014/main" id="{6365B65E-4827-0E59-E341-2E672A43B32E}"/>
                  </a:ext>
                </a:extLst>
              </p:cNvPr>
              <p:cNvSpPr txBox="1">
                <a:spLocks noRot="1" noChangeAspect="1" noMove="1" noResize="1" noEditPoints="1" noAdjustHandles="1" noChangeArrowheads="1" noChangeShapeType="1" noTextEdit="1"/>
              </p:cNvSpPr>
              <p:nvPr/>
            </p:nvSpPr>
            <p:spPr>
              <a:xfrm>
                <a:off x="813584" y="841251"/>
                <a:ext cx="7115579" cy="397353"/>
              </a:xfrm>
              <a:prstGeom prst="rect">
                <a:avLst/>
              </a:prstGeom>
              <a:blipFill>
                <a:blip r:embed="rId3"/>
                <a:stretch>
                  <a:fillRect l="-428" b="-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B6F3319-7828-7310-979F-ECEE4F195C3E}"/>
                  </a:ext>
                </a:extLst>
              </p:cNvPr>
              <p:cNvSpPr txBox="1"/>
              <p:nvPr/>
            </p:nvSpPr>
            <p:spPr>
              <a:xfrm>
                <a:off x="813583" y="2578887"/>
                <a:ext cx="7115579" cy="380489"/>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Given the anomaly detection time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acc>
                          <m:accPr>
                            <m:chr m:val="̂"/>
                            <m:ctrlPr>
                              <a:rPr lang="en-US" altLang="zh-CN" sz="1600" b="0" i="1" smtClean="0">
                                <a:latin typeface="Cambria Math" panose="02040503050406030204" pitchFamily="18" charset="0"/>
                                <a:cs typeface="Times New Roman" panose="02020603050405020304" pitchFamily="18" charset="0"/>
                              </a:rPr>
                            </m:ctrlPr>
                          </m:accPr>
                          <m:e>
                            <m:r>
                              <a:rPr lang="en-US" altLang="zh-CN" sz="1600" b="0" i="1" smtClean="0">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b="0" i="1" smtClean="0">
                        <a:latin typeface="Cambria Math" panose="02040503050406030204" pitchFamily="18" charset="0"/>
                        <a:cs typeface="Times New Roman" panose="02020603050405020304" pitchFamily="18" charset="0"/>
                      </a:rPr>
                      <m:t>, </m:t>
                    </m:r>
                  </m:oMath>
                </a14:m>
                <a:endParaRPr lang="en-US" altLang="zh-CN" sz="1600" b="0"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BB6F3319-7828-7310-979F-ECEE4F195C3E}"/>
                  </a:ext>
                </a:extLst>
              </p:cNvPr>
              <p:cNvSpPr txBox="1">
                <a:spLocks noRot="1" noChangeAspect="1" noMove="1" noResize="1" noEditPoints="1" noAdjustHandles="1" noChangeArrowheads="1" noChangeShapeType="1" noTextEdit="1"/>
              </p:cNvSpPr>
              <p:nvPr/>
            </p:nvSpPr>
            <p:spPr>
              <a:xfrm>
                <a:off x="813583" y="2578887"/>
                <a:ext cx="7115579" cy="380489"/>
              </a:xfrm>
              <a:prstGeom prst="rect">
                <a:avLst/>
              </a:prstGeom>
              <a:blipFill>
                <a:blip r:embed="rId4"/>
                <a:stretch>
                  <a:fillRect l="-428" b="-209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7911CA2-7D30-F34D-79DE-A0812EB5BB6F}"/>
                  </a:ext>
                </a:extLst>
              </p:cNvPr>
              <p:cNvSpPr txBox="1"/>
              <p:nvPr/>
            </p:nvSpPr>
            <p:spPr>
              <a:xfrm>
                <a:off x="813583" y="1186020"/>
                <a:ext cx="7551748" cy="864147"/>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At each time step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𝑡</m:t>
                    </m:r>
                  </m:oMath>
                </a14:m>
                <a:r>
                  <a:rPr lang="en-US" altLang="zh-CN" sz="1600">
                    <a:latin typeface="Times New Roman" panose="02020603050405020304" pitchFamily="18" charset="0"/>
                    <a:cs typeface="Times New Roman" panose="02020603050405020304" pitchFamily="18" charset="0"/>
                  </a:rPr>
                  <a:t>, we obtain multi-source telemetry data </a:t>
                </a: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𝒟</m:t>
                        </m:r>
                      </m:e>
                      <m:sub>
                        <m:r>
                          <a:rPr lang="en-US" altLang="zh-CN" sz="1600" i="1" smtClean="0">
                            <a:latin typeface="Cambria Math" panose="02040503050406030204" pitchFamily="18" charset="0"/>
                            <a:cs typeface="Times New Roman" panose="02020603050405020304" pitchFamily="18" charset="0"/>
                          </a:rPr>
                          <m:t>𝓉</m:t>
                        </m:r>
                      </m:sub>
                      <m:sup>
                        <m:r>
                          <a:rPr lang="en-US" altLang="zh-CN" sz="1600" i="1" smtClean="0">
                            <a:latin typeface="Cambria Math" panose="02040503050406030204" pitchFamily="18" charset="0"/>
                            <a:cs typeface="Times New Roman" panose="02020603050405020304" pitchFamily="18" charset="0"/>
                          </a:rPr>
                          <m:t>𝒾</m:t>
                        </m:r>
                      </m:sup>
                    </m:sSubSup>
                    <m:r>
                      <a:rPr lang="en-US" altLang="zh-CN" sz="1600" i="1" smtClean="0">
                        <a:latin typeface="Cambria Math" panose="02040503050406030204" pitchFamily="18" charset="0"/>
                        <a:cs typeface="Times New Roman" panose="02020603050405020304" pitchFamily="18" charset="0"/>
                      </a:rPr>
                      <m:t>=</m:t>
                    </m:r>
                    <m:d>
                      <m:dPr>
                        <m:begChr m:val="{"/>
                        <m:endChr m:val="}"/>
                        <m:ctrlPr>
                          <a:rPr lang="en-US" altLang="zh-CN" sz="1600" i="1" smtClean="0">
                            <a:latin typeface="Cambria Math" panose="02040503050406030204" pitchFamily="18" charset="0"/>
                            <a:cs typeface="Times New Roman" panose="02020603050405020304" pitchFamily="18" charset="0"/>
                          </a:rPr>
                        </m:ctrlPr>
                      </m:dPr>
                      <m:e>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ℳ</m:t>
                            </m:r>
                          </m:e>
                          <m:sub>
                            <m:r>
                              <a:rPr lang="en-US" altLang="zh-CN" sz="1600" i="1">
                                <a:latin typeface="Cambria Math" panose="02040503050406030204" pitchFamily="18" charset="0"/>
                                <a:cs typeface="Times New Roman" panose="02020603050405020304" pitchFamily="18" charset="0"/>
                              </a:rPr>
                              <m:t>𝓉</m:t>
                            </m:r>
                          </m:sub>
                          <m:sup>
                            <m:d>
                              <m:dPr>
                                <m:ctrlPr>
                                  <a:rPr lang="en-US" altLang="zh-CN" sz="1600" i="1">
                                    <a:latin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cs typeface="Times New Roman" panose="02020603050405020304" pitchFamily="18" charset="0"/>
                                  </a:rPr>
                                  <m:t>𝒾</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𝓂</m:t>
                                </m:r>
                              </m:e>
                            </m:d>
                          </m:sup>
                        </m:sSubSup>
                        <m:r>
                          <a:rPr lang="en-US" altLang="zh-CN" sz="1600" i="1">
                            <a:latin typeface="Cambria Math" panose="02040503050406030204" pitchFamily="18" charset="0"/>
                            <a:cs typeface="Times New Roman" panose="02020603050405020304" pitchFamily="18" charset="0"/>
                          </a:rPr>
                          <m:t>,</m:t>
                        </m:r>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ℒ</m:t>
                            </m:r>
                          </m:e>
                          <m:sub>
                            <m:r>
                              <a:rPr lang="en-US" altLang="zh-CN" sz="1600" i="1">
                                <a:latin typeface="Cambria Math" panose="02040503050406030204" pitchFamily="18" charset="0"/>
                                <a:cs typeface="Times New Roman" panose="02020603050405020304" pitchFamily="18" charset="0"/>
                              </a:rPr>
                              <m:t>𝓉</m:t>
                            </m:r>
                          </m:sub>
                          <m:sup>
                            <m:d>
                              <m:dPr>
                                <m:ctrlPr>
                                  <a:rPr lang="en-US" altLang="zh-CN" sz="1600" i="1">
                                    <a:latin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cs typeface="Times New Roman" panose="02020603050405020304" pitchFamily="18" charset="0"/>
                                  </a:rPr>
                                  <m:t>𝒾</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𝓁</m:t>
                                </m:r>
                              </m:e>
                            </m:d>
                          </m:sup>
                        </m:sSubSup>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𝒯</m:t>
                        </m:r>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𝒞</m:t>
                            </m:r>
                          </m:e>
                          <m:sub>
                            <m:r>
                              <a:rPr lang="en-US" altLang="zh-CN" sz="1600" i="1">
                                <a:latin typeface="Cambria Math" panose="02040503050406030204" pitchFamily="18" charset="0"/>
                                <a:cs typeface="Times New Roman" panose="02020603050405020304" pitchFamily="18" charset="0"/>
                              </a:rPr>
                              <m:t>𝓉</m:t>
                            </m:r>
                          </m:sub>
                          <m:sup>
                            <m:d>
                              <m:dPr>
                                <m:ctrlPr>
                                  <a:rPr lang="en-US" altLang="zh-CN" sz="1600" i="1">
                                    <a:latin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cs typeface="Times New Roman" panose="02020603050405020304" pitchFamily="18" charset="0"/>
                                  </a:rPr>
                                  <m:t>𝒾</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𝓈</m:t>
                                </m:r>
                              </m:e>
                            </m:d>
                          </m:sup>
                        </m:sSubSup>
                      </m:e>
                    </m:d>
                  </m:oMath>
                </a14:m>
                <a:endParaRPr lang="en-US" altLang="zh-CN" sz="1600">
                  <a:latin typeface="Times New Roman" panose="02020603050405020304" pitchFamily="18" charset="0"/>
                  <a:cs typeface="Times New Roman" panose="02020603050405020304" pitchFamily="18" charset="0"/>
                </a:endParaRPr>
              </a:p>
              <a:p>
                <a:pPr>
                  <a:lnSpc>
                    <a:spcPct val="130000"/>
                  </a:lnSpc>
                </a:pPr>
                <a:r>
                  <a:rPr lang="en-US" altLang="zh-CN" sz="1600">
                    <a:latin typeface="Times New Roman" panose="02020603050405020304" pitchFamily="18" charset="0"/>
                    <a:cs typeface="Times New Roman" panose="02020603050405020304" pitchFamily="18" charset="0"/>
                  </a:rPr>
                  <a:t>for each service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𝑠</m:t>
                        </m:r>
                      </m:e>
                      <m:sup>
                        <m:r>
                          <a:rPr lang="en-US" altLang="zh-CN" sz="1600" i="1" smtClean="0">
                            <a:latin typeface="Cambria Math" panose="02040503050406030204" pitchFamily="18" charset="0"/>
                            <a:cs typeface="Times New Roman" panose="02020603050405020304" pitchFamily="18" charset="0"/>
                          </a:rPr>
                          <m:t>𝑖</m:t>
                        </m:r>
                      </m:sup>
                    </m:sSup>
                  </m:oMath>
                </a14:m>
                <a:r>
                  <a:rPr lang="en-US" altLang="zh-CN" sz="1600" dirty="0">
                    <a:latin typeface="Times New Roman" panose="02020603050405020304" pitchFamily="18" charset="0"/>
                    <a:cs typeface="Times New Roman" panose="02020603050405020304" pitchFamily="18" charset="0"/>
                  </a:rPr>
                  <a:t>. </a:t>
                </a:r>
                <a:endParaRPr lang="en-US" altLang="zh-CN" sz="160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B7911CA2-7D30-F34D-79DE-A0812EB5BB6F}"/>
                  </a:ext>
                </a:extLst>
              </p:cNvPr>
              <p:cNvSpPr txBox="1">
                <a:spLocks noRot="1" noChangeAspect="1" noMove="1" noResize="1" noEditPoints="1" noAdjustHandles="1" noChangeArrowheads="1" noChangeShapeType="1" noTextEdit="1"/>
              </p:cNvSpPr>
              <p:nvPr/>
            </p:nvSpPr>
            <p:spPr>
              <a:xfrm>
                <a:off x="813583" y="1186020"/>
                <a:ext cx="7551748" cy="864147"/>
              </a:xfrm>
              <a:prstGeom prst="rect">
                <a:avLst/>
              </a:prstGeom>
              <a:blipFill>
                <a:blip r:embed="rId5"/>
                <a:stretch>
                  <a:fillRect l="-404" b="-92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7DDF15B-7A87-9FB5-9836-6CF41DC780EA}"/>
                  </a:ext>
                </a:extLst>
              </p:cNvPr>
              <p:cNvSpPr txBox="1"/>
              <p:nvPr/>
            </p:nvSpPr>
            <p:spPr>
              <a:xfrm>
                <a:off x="813583" y="2925035"/>
                <a:ext cx="6787753" cy="776238"/>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𝒟</m:t>
                        </m:r>
                      </m:e>
                      <m:sub>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𝑡</m:t>
                            </m:r>
                          </m:e>
                          <m:sub>
                            <m:r>
                              <a:rPr lang="en-US" altLang="zh-CN" sz="1600" b="0" i="1" smtClean="0">
                                <a:latin typeface="Cambria Math" panose="02040503050406030204" pitchFamily="18" charset="0"/>
                                <a:cs typeface="Times New Roman" panose="02020603050405020304" pitchFamily="18" charset="0"/>
                              </a:rPr>
                              <m:t>0</m:t>
                            </m:r>
                          </m:sub>
                        </m:sSub>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𝓉</m:t>
                        </m:r>
                        <m:r>
                          <a:rPr lang="en-US" altLang="zh-CN" sz="1600" i="1">
                            <a:latin typeface="Cambria Math" panose="02040503050406030204" pitchFamily="18" charset="0"/>
                            <a:cs typeface="Times New Roman" panose="02020603050405020304" pitchFamily="18" charset="0"/>
                          </a:rPr>
                          <m:t>&lt;</m:t>
                        </m:r>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sub>
                    </m:sSub>
                  </m:oMath>
                </a14:m>
                <a:r>
                  <a:rPr lang="en-US" altLang="zh-CN" sz="1600">
                    <a:latin typeface="Times New Roman" panose="02020603050405020304" pitchFamily="18" charset="0"/>
                    <a:cs typeface="Times New Roman" panose="02020603050405020304" pitchFamily="18" charset="0"/>
                  </a:rPr>
                  <a:t> as the multi-source telemetry data collected  during normal periods and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𝒟</m:t>
                        </m:r>
                      </m:e>
                      <m:sub>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𝓉</m:t>
                        </m:r>
                        <m:r>
                          <a:rPr lang="en-US" altLang="zh-CN" sz="1600" i="1" smtClean="0">
                            <a:latin typeface="Cambria Math" panose="02040503050406030204" pitchFamily="18" charset="0"/>
                            <a:cs typeface="Times New Roman" panose="02020603050405020304" pitchFamily="18" charset="0"/>
                          </a:rPr>
                          <m:t>&lt;</m:t>
                        </m:r>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smtClean="0">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𝒯</m:t>
                        </m:r>
                      </m:sub>
                    </m:sSub>
                    <m:r>
                      <a:rPr lang="en-US" altLang="zh-CN" sz="1600" i="1" smtClean="0">
                        <a:latin typeface="Cambria Math" panose="02040503050406030204" pitchFamily="18" charset="0"/>
                        <a:cs typeface="Times New Roman" panose="02020603050405020304" pitchFamily="18" charset="0"/>
                      </a:rPr>
                      <m:t> </m:t>
                    </m:r>
                  </m:oMath>
                </a14:m>
                <a:r>
                  <a:rPr lang="en-US" altLang="zh-CN" sz="1600">
                    <a:latin typeface="Times New Roman" panose="02020603050405020304" pitchFamily="18" charset="0"/>
                    <a:cs typeface="Times New Roman" panose="02020603050405020304" pitchFamily="18" charset="0"/>
                  </a:rPr>
                  <a:t>as the data collected during the failure occurrence period,</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47DDF15B-7A87-9FB5-9836-6CF41DC780EA}"/>
                  </a:ext>
                </a:extLst>
              </p:cNvPr>
              <p:cNvSpPr txBox="1">
                <a:spLocks noRot="1" noChangeAspect="1" noMove="1" noResize="1" noEditPoints="1" noAdjustHandles="1" noChangeArrowheads="1" noChangeShapeType="1" noTextEdit="1"/>
              </p:cNvSpPr>
              <p:nvPr/>
            </p:nvSpPr>
            <p:spPr>
              <a:xfrm>
                <a:off x="813583" y="2925035"/>
                <a:ext cx="6787753" cy="776238"/>
              </a:xfrm>
              <a:prstGeom prst="rect">
                <a:avLst/>
              </a:prstGeom>
              <a:blipFill>
                <a:blip r:embed="rId6"/>
                <a:stretch>
                  <a:fillRect l="-449" b="-6299"/>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44F738B4-FA1D-BC07-7B65-5BF1B21F2775}"/>
              </a:ext>
            </a:extLst>
          </p:cNvPr>
          <p:cNvSpPr txBox="1"/>
          <p:nvPr/>
        </p:nvSpPr>
        <p:spPr>
          <a:xfrm>
            <a:off x="813583" y="4105001"/>
            <a:ext cx="7115579" cy="700576"/>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The expected RCA output is a ranked list of root cause services and their corresponding root cause indicators.</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195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F86D-0E57-0A14-9FF3-5BDF6872BF33}"/>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44430BC5-DFDA-BD5B-2726-A0830D3887E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E73337B7-FF03-15F5-9EAB-7DF0E1884E5A}"/>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054ADD70-12A4-550B-C823-EBEED3D999D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A529511-84A3-ECB6-10D1-AF46A0367335}"/>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5175377C-3F23-BDB5-179B-9D384F457FC6}"/>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Related Work</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8D54805D-C657-7879-B819-114E81A44BDF}"/>
              </a:ext>
            </a:extLst>
          </p:cNvPr>
          <p:cNvSpPr txBox="1"/>
          <p:nvPr/>
        </p:nvSpPr>
        <p:spPr>
          <a:xfrm>
            <a:off x="813584" y="891273"/>
            <a:ext cx="6951671" cy="923330"/>
          </a:xfrm>
          <a:prstGeom prst="rect">
            <a:avLst/>
          </a:prstGeom>
          <a:noFill/>
        </p:spPr>
        <p:txBody>
          <a:bodyPr wrap="square">
            <a:spAutoFit/>
          </a:bodyPr>
          <a:lstStyle/>
          <a:p>
            <a:r>
              <a:rPr lang="zh-CN" altLang="en-US" i="1" dirty="0">
                <a:latin typeface="Times New Roman" panose="02020603050405020304" pitchFamily="18" charset="0"/>
                <a:cs typeface="Times New Roman" panose="02020603050405020304" pitchFamily="18" charset="0"/>
              </a:rPr>
              <a:t>The Blind Spots of Existing Multi-Source RCA.</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 the presence of blind spots, existing multi-source RCA methods may not perform RCA effectively. </a:t>
            </a:r>
            <a:endParaRPr lang="zh-CN" altLang="en-US"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97E3ADEA-FD57-0558-B0CF-78910F08A121}"/>
              </a:ext>
            </a:extLst>
          </p:cNvPr>
          <p:cNvSpPr txBox="1"/>
          <p:nvPr/>
        </p:nvSpPr>
        <p:spPr>
          <a:xfrm>
            <a:off x="813584" y="2072372"/>
            <a:ext cx="7094547" cy="1200329"/>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Supervised RCA Approaches In A Dynamic World. </a:t>
            </a:r>
            <a:r>
              <a:rPr lang="en-US" altLang="zh-CN" dirty="0">
                <a:latin typeface="Times New Roman" panose="02020603050405020304" pitchFamily="18" charset="0"/>
                <a:cs typeface="Times New Roman" panose="02020603050405020304" pitchFamily="18" charset="0"/>
              </a:rPr>
              <a:t>First</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Microservice  systems are highly dynamic. Second, new faults are introduced over time. Third, microservice systems are typically large in </a:t>
            </a:r>
            <a:r>
              <a:rPr lang="en-US" altLang="zh-CN" dirty="0" err="1">
                <a:latin typeface="Times New Roman" panose="02020603050405020304" pitchFamily="18" charset="0"/>
                <a:cs typeface="Times New Roman" panose="02020603050405020304" pitchFamily="18" charset="0"/>
              </a:rPr>
              <a:t>scalemaking</a:t>
            </a:r>
            <a:r>
              <a:rPr lang="en-US" altLang="zh-CN" dirty="0">
                <a:latin typeface="Times New Roman" panose="02020603050405020304" pitchFamily="18" charset="0"/>
                <a:cs typeface="Times New Roman" panose="02020603050405020304" pitchFamily="18" charset="0"/>
              </a:rPr>
              <a:t> it costly and impractical to manually label data to cover all services and fault types.</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03D72503-C3C1-5B5B-D155-11BBE5A4220F}"/>
              </a:ext>
            </a:extLst>
          </p:cNvPr>
          <p:cNvSpPr txBox="1"/>
          <p:nvPr/>
        </p:nvSpPr>
        <p:spPr>
          <a:xfrm>
            <a:off x="813584" y="3580477"/>
            <a:ext cx="7094547" cy="1200329"/>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Tight Integration between Multi-source Data. </a:t>
            </a:r>
            <a:r>
              <a:rPr lang="en-US" altLang="zh-CN" dirty="0">
                <a:latin typeface="Times New Roman" panose="02020603050405020304" pitchFamily="18" charset="0"/>
                <a:cs typeface="Times New Roman" panose="02020603050405020304" pitchFamily="18" charset="0"/>
              </a:rPr>
              <a:t>Many methods struggle in the presence of blind spots, as many metrics and logs may not correspond to any location on the graph, leading to the failure to use these valuable data for failure diagnosis.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06859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62C3-FAC9-F039-44C5-79144F1635DA}"/>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C7BEFCBD-CB75-66FC-23B0-C402EFDBF43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26DFD99D-531D-EBCE-DF5B-3E8D9A0270E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295FDD7B-3463-9F57-AFCD-192DE75DFCC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1A380457-B549-98B7-87EC-1C5585093CDA}"/>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2541425-D707-2395-4B5B-BF92B3BF6205}"/>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Overview</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26A06655-63A7-DCC8-C927-B96997418DD2}"/>
              </a:ext>
            </a:extLst>
          </p:cNvPr>
          <p:cNvPicPr>
            <a:picLocks noChangeAspect="1"/>
          </p:cNvPicPr>
          <p:nvPr/>
        </p:nvPicPr>
        <p:blipFill>
          <a:blip r:embed="rId3"/>
          <a:stretch>
            <a:fillRect/>
          </a:stretch>
        </p:blipFill>
        <p:spPr>
          <a:xfrm>
            <a:off x="357188" y="1078699"/>
            <a:ext cx="7916841" cy="3871920"/>
          </a:xfrm>
          <a:prstGeom prst="rect">
            <a:avLst/>
          </a:prstGeom>
        </p:spPr>
      </p:pic>
    </p:spTree>
    <p:extLst>
      <p:ext uri="{BB962C8B-B14F-4D97-AF65-F5344CB8AC3E}">
        <p14:creationId xmlns:p14="http://schemas.microsoft.com/office/powerpoint/2010/main" val="1420006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45007-2BA8-86EC-9E2D-262E716B7951}"/>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AD08B195-AF5D-7F22-973E-3AF1345DB856}"/>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AF86CC28-7B14-129A-8C74-F838DD697396}"/>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DB70F829-18A8-F755-3E98-CA6976ED2C1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8E1B75BB-FD26-ABA6-1F0E-1CE191FB2A7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7882A375-7580-96EB-E3D8-7AF383235FC7}"/>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Transform Multi-source Telemetry Data</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CC99112F-A964-C55E-6766-7DE6479EFC08}"/>
              </a:ext>
            </a:extLst>
          </p:cNvPr>
          <p:cNvSpPr txBox="1"/>
          <p:nvPr/>
        </p:nvSpPr>
        <p:spPr>
          <a:xfrm>
            <a:off x="813585" y="934649"/>
            <a:ext cx="6477001" cy="700576"/>
          </a:xfrm>
          <a:prstGeom prst="rect">
            <a:avLst/>
          </a:prstGeom>
          <a:noFill/>
        </p:spPr>
        <p:txBody>
          <a:bodyPr wrap="square">
            <a:spAutoFit/>
          </a:bodyPr>
          <a:lstStyle/>
          <a:p>
            <a:pPr>
              <a:lnSpc>
                <a:spcPct val="130000"/>
              </a:lnSpc>
            </a:pPr>
            <a:r>
              <a:rPr lang="en-US" altLang="zh-CN" sz="1600" i="1" dirty="0">
                <a:latin typeface="Times New Roman" panose="02020603050405020304" pitchFamily="18" charset="0"/>
                <a:cs typeface="Times New Roman" panose="02020603050405020304" pitchFamily="18" charset="0"/>
              </a:rPr>
              <a:t>Metrics</a:t>
            </a:r>
            <a:r>
              <a:rPr lang="en-US" altLang="zh-CN" sz="1600" dirty="0">
                <a:latin typeface="Times New Roman" panose="02020603050405020304" pitchFamily="18" charset="0"/>
                <a:cs typeface="Times New Roman" panose="02020603050405020304" pitchFamily="18" charset="0"/>
              </a:rPr>
              <a:t>. TORAI collects four metrics types: Traffic, Saturation, Latency, and Errors during both normal and abnormal periods. </a:t>
            </a:r>
          </a:p>
        </p:txBody>
      </p:sp>
      <p:sp>
        <p:nvSpPr>
          <p:cNvPr id="4" name="文本框 3">
            <a:extLst>
              <a:ext uri="{FF2B5EF4-FFF2-40B4-BE49-F238E27FC236}">
                <a16:creationId xmlns:a16="http://schemas.microsoft.com/office/drawing/2014/main" id="{9F889F94-5E64-055D-C445-803E24D8273E}"/>
              </a:ext>
            </a:extLst>
          </p:cNvPr>
          <p:cNvSpPr txBox="1"/>
          <p:nvPr/>
        </p:nvSpPr>
        <p:spPr>
          <a:xfrm>
            <a:off x="813585" y="2071694"/>
            <a:ext cx="6477001" cy="700576"/>
          </a:xfrm>
          <a:prstGeom prst="rect">
            <a:avLst/>
          </a:prstGeom>
          <a:noFill/>
        </p:spPr>
        <p:txBody>
          <a:bodyPr wrap="square">
            <a:spAutoFit/>
          </a:bodyPr>
          <a:lstStyle/>
          <a:p>
            <a:pPr>
              <a:lnSpc>
                <a:spcPct val="130000"/>
              </a:lnSpc>
            </a:pPr>
            <a:r>
              <a:rPr lang="en-US" altLang="zh-CN" sz="1600" i="1">
                <a:latin typeface="Times New Roman" panose="02020603050405020304" pitchFamily="18" charset="0"/>
                <a:cs typeface="Times New Roman" panose="02020603050405020304" pitchFamily="18" charset="0"/>
              </a:rPr>
              <a:t>Logs. </a:t>
            </a:r>
            <a:r>
              <a:rPr lang="en-US" altLang="zh-CN" sz="1600">
                <a:latin typeface="Times New Roman" panose="02020603050405020304" pitchFamily="18" charset="0"/>
                <a:cs typeface="Times New Roman" panose="02020603050405020304" pitchFamily="18" charset="0"/>
              </a:rPr>
              <a:t>TORAI parses logs into log templates using Drain. TORAI bins the occurrence of log  templates based on their timestamps to obtain time series.</a:t>
            </a:r>
            <a:endParaRPr lang="en-US" altLang="zh-CN" sz="16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F2B5FBAD-5442-B3E7-25F5-A5DFE258A820}"/>
              </a:ext>
            </a:extLst>
          </p:cNvPr>
          <p:cNvSpPr txBox="1"/>
          <p:nvPr/>
        </p:nvSpPr>
        <p:spPr>
          <a:xfrm>
            <a:off x="813585" y="3208740"/>
            <a:ext cx="6537334" cy="1340752"/>
          </a:xfrm>
          <a:prstGeom prst="rect">
            <a:avLst/>
          </a:prstGeom>
          <a:noFill/>
        </p:spPr>
        <p:txBody>
          <a:bodyPr wrap="square">
            <a:spAutoFit/>
          </a:bodyPr>
          <a:lstStyle/>
          <a:p>
            <a:pPr>
              <a:lnSpc>
                <a:spcPct val="130000"/>
              </a:lnSpc>
            </a:pPr>
            <a:r>
              <a:rPr lang="en-US" altLang="zh-CN" sz="1600" i="1">
                <a:latin typeface="Times New Roman" panose="02020603050405020304" pitchFamily="18" charset="0"/>
                <a:cs typeface="Times New Roman" panose="02020603050405020304" pitchFamily="18" charset="0"/>
              </a:rPr>
              <a:t>Traces. </a:t>
            </a:r>
            <a:r>
              <a:rPr lang="en-US" altLang="zh-CN" sz="1600">
                <a:latin typeface="Times New Roman" panose="02020603050405020304" pitchFamily="18" charset="0"/>
                <a:cs typeface="Times New Roman" panose="02020603050405020304" pitchFamily="18" charset="0"/>
              </a:rPr>
              <a:t>We extract available information from traces, but do not construct the call graph. TORAI transforms </a:t>
            </a:r>
            <a:r>
              <a:rPr lang="en-US" altLang="zh-CN" sz="1600" b="1">
                <a:latin typeface="Times New Roman" panose="02020603050405020304" pitchFamily="18" charset="0"/>
                <a:cs typeface="Times New Roman" panose="02020603050405020304" pitchFamily="18" charset="0"/>
              </a:rPr>
              <a:t>latency</a:t>
            </a:r>
            <a:r>
              <a:rPr lang="en-US" altLang="zh-CN" sz="1600">
                <a:latin typeface="Times New Roman" panose="02020603050405020304" pitchFamily="18" charset="0"/>
                <a:cs typeface="Times New Roman" panose="02020603050405020304" pitchFamily="18" charset="0"/>
              </a:rPr>
              <a:t> and </a:t>
            </a:r>
            <a:r>
              <a:rPr lang="en-US" altLang="zh-CN" sz="1600" b="1">
                <a:latin typeface="Times New Roman" panose="02020603050405020304" pitchFamily="18" charset="0"/>
                <a:cs typeface="Times New Roman" panose="02020603050405020304" pitchFamily="18" charset="0"/>
              </a:rPr>
              <a:t>status code</a:t>
            </a:r>
            <a:r>
              <a:rPr lang="en-US" altLang="zh-CN" sz="1600">
                <a:latin typeface="Times New Roman" panose="02020603050405020304" pitchFamily="18" charset="0"/>
                <a:cs typeface="Times New Roman" panose="02020603050405020304" pitchFamily="18" charset="0"/>
              </a:rPr>
              <a:t> in traces into time series. Each time series presents the frequency of latency and status code for each trace operation.</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59816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B7D5-92DA-4143-CE02-A1F5F7993B8B}"/>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9683FCEE-BF28-8958-32DF-52E39EB46EC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AE7A0ECA-C315-7102-5E2B-1A1C5057D726}"/>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49E068C-6A1B-AE57-55CC-D2450577F379}"/>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1FAE0EAA-439D-7EF6-F56A-FE25194B382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C82D40AC-E024-ED83-D7BF-6E34445B6A3A}"/>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SeverityScorer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48281023-8E89-651A-2C6A-4D7611051DF4}"/>
              </a:ext>
            </a:extLst>
          </p:cNvPr>
          <p:cNvSpPr txBox="1"/>
          <p:nvPr/>
        </p:nvSpPr>
        <p:spPr>
          <a:xfrm>
            <a:off x="813584" y="774024"/>
            <a:ext cx="6837373" cy="1340752"/>
          </a:xfrm>
          <a:prstGeom prst="rect">
            <a:avLst/>
          </a:prstGeom>
          <a:noFill/>
        </p:spPr>
        <p:txBody>
          <a:bodyPr wrap="square">
            <a:spAutoFit/>
          </a:bodyPr>
          <a:lstStyle/>
          <a:p>
            <a:pPr>
              <a:lnSpc>
                <a:spcPct val="130000"/>
              </a:lnSpc>
            </a:pPr>
            <a:r>
              <a:rPr lang="en-US" altLang="zh-CN" sz="1600" i="1">
                <a:latin typeface="Times New Roman" panose="02020603050405020304" pitchFamily="18" charset="0"/>
                <a:cs typeface="Times New Roman" panose="02020603050405020304" pitchFamily="18" charset="0"/>
              </a:rPr>
              <a:t>SeverityScorer</a:t>
            </a:r>
            <a:r>
              <a:rPr lang="en-US" altLang="zh-CN" sz="1600">
                <a:latin typeface="Times New Roman" panose="02020603050405020304" pitchFamily="18" charset="0"/>
                <a:cs typeface="Times New Roman" panose="02020603050405020304" pitchFamily="18" charset="0"/>
              </a:rPr>
              <a:t> measures anomaly severity scores for each time series and generates a severity vector for each service. These severity vectors effectively assist </a:t>
            </a:r>
            <a:r>
              <a:rPr lang="en-US" altLang="zh-CN" sz="1600" i="1">
                <a:latin typeface="Times New Roman" panose="02020603050405020304" pitchFamily="18" charset="0"/>
                <a:cs typeface="Times New Roman" panose="02020603050405020304" pitchFamily="18" charset="0"/>
              </a:rPr>
              <a:t>SymptomCluster</a:t>
            </a:r>
            <a:r>
              <a:rPr lang="en-US" altLang="zh-CN" sz="1600">
                <a:latin typeface="Times New Roman" panose="02020603050405020304" pitchFamily="18" charset="0"/>
                <a:cs typeface="Times New Roman" panose="02020603050405020304" pitchFamily="18" charset="0"/>
              </a:rPr>
              <a:t> in grouping services based on their severity symptoms. This also reduces overhead for </a:t>
            </a:r>
            <a:r>
              <a:rPr lang="en-US" altLang="zh-CN" sz="1600" i="1">
                <a:latin typeface="Times New Roman" panose="02020603050405020304" pitchFamily="18" charset="0"/>
                <a:cs typeface="Times New Roman" panose="02020603050405020304" pitchFamily="18" charset="0"/>
              </a:rPr>
              <a:t>CausalRanker.</a:t>
            </a:r>
            <a:endParaRPr lang="en-US" altLang="zh-CN" sz="1600"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0200B76-4FF7-6627-0AAB-C30361DBDD36}"/>
                  </a:ext>
                </a:extLst>
              </p:cNvPr>
              <p:cNvSpPr txBox="1"/>
              <p:nvPr/>
            </p:nvSpPr>
            <p:spPr>
              <a:xfrm>
                <a:off x="813584" y="2244322"/>
                <a:ext cx="6837373" cy="738087"/>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For each time series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𝑥</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oMath>
                </a14:m>
                <a:r>
                  <a:rPr lang="en-US" altLang="zh-CN" sz="1600" dirty="0">
                    <a:latin typeface="Times New Roman" panose="02020603050405020304" pitchFamily="18" charset="0"/>
                    <a:cs typeface="Times New Roman" panose="02020603050405020304" pitchFamily="18" charset="0"/>
                  </a:rPr>
                  <a:t>, </a:t>
                </a:r>
                <a:r>
                  <a:rPr lang="en-US" altLang="zh-CN" sz="1600" i="1" dirty="0" err="1">
                    <a:latin typeface="Times New Roman" panose="02020603050405020304" pitchFamily="18" charset="0"/>
                    <a:cs typeface="Times New Roman" panose="02020603050405020304" pitchFamily="18" charset="0"/>
                  </a:rPr>
                  <a:t>SeverityScorer</a:t>
                </a:r>
                <a:r>
                  <a:rPr lang="en-US" altLang="zh-CN" sz="1600" dirty="0">
                    <a:latin typeface="Times New Roman" panose="02020603050405020304" pitchFamily="18" charset="0"/>
                    <a:cs typeface="Times New Roman" panose="02020603050405020304" pitchFamily="18" charset="0"/>
                  </a:rPr>
                  <a:t> learns the mean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𝜇</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oMath>
                </a14:m>
                <a:r>
                  <a:rPr lang="en-US" altLang="zh-CN" sz="1600" dirty="0">
                    <a:latin typeface="Times New Roman" panose="02020603050405020304" pitchFamily="18" charset="0"/>
                    <a:cs typeface="Times New Roman" panose="02020603050405020304" pitchFamily="18" charset="0"/>
                  </a:rPr>
                  <a:t> and standard  deviation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b="0" i="1" smtClean="0">
                            <a:latin typeface="Cambria Math" panose="02040503050406030204" pitchFamily="18" charset="0"/>
                            <a:cs typeface="Times New Roman" panose="02020603050405020304" pitchFamily="18" charset="0"/>
                          </a:rPr>
                          <m:t>𝜎</m:t>
                        </m:r>
                      </m:e>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oMath>
                </a14:m>
                <a:r>
                  <a:rPr lang="en-US" altLang="zh-CN" sz="1600" dirty="0">
                    <a:latin typeface="Times New Roman" panose="02020603050405020304" pitchFamily="18" charset="0"/>
                    <a:cs typeface="Times New Roman" panose="02020603050405020304" pitchFamily="18" charset="0"/>
                  </a:rPr>
                  <a:t> during the normal period.</a:t>
                </a:r>
              </a:p>
            </p:txBody>
          </p:sp>
        </mc:Choice>
        <mc:Fallback xmlns="">
          <p:sp>
            <p:nvSpPr>
              <p:cNvPr id="4" name="文本框 3">
                <a:extLst>
                  <a:ext uri="{FF2B5EF4-FFF2-40B4-BE49-F238E27FC236}">
                    <a16:creationId xmlns:a16="http://schemas.microsoft.com/office/drawing/2014/main" id="{50200B76-4FF7-6627-0AAB-C30361DBDD36}"/>
                  </a:ext>
                </a:extLst>
              </p:cNvPr>
              <p:cNvSpPr txBox="1">
                <a:spLocks noRot="1" noChangeAspect="1" noMove="1" noResize="1" noEditPoints="1" noAdjustHandles="1" noChangeArrowheads="1" noChangeShapeType="1" noTextEdit="1"/>
              </p:cNvSpPr>
              <p:nvPr/>
            </p:nvSpPr>
            <p:spPr>
              <a:xfrm>
                <a:off x="813584" y="2244322"/>
                <a:ext cx="6837373" cy="738087"/>
              </a:xfrm>
              <a:prstGeom prst="rect">
                <a:avLst/>
              </a:prstGeom>
              <a:blipFill>
                <a:blip r:embed="rId3"/>
                <a:stretch>
                  <a:fillRect l="-446" b="-99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79076ED-B506-A447-21D4-21FB1A251385}"/>
                  </a:ext>
                </a:extLst>
              </p:cNvPr>
              <p:cNvSpPr txBox="1"/>
              <p:nvPr/>
            </p:nvSpPr>
            <p:spPr>
              <a:xfrm>
                <a:off x="813584" y="3165485"/>
                <a:ext cx="6837373" cy="942181"/>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During the abnormal period, for each data point  </a:t>
                </a:r>
                <a14:m>
                  <m:oMath xmlns:m="http://schemas.openxmlformats.org/officeDocument/2006/math">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𝑥</m:t>
                        </m:r>
                      </m:e>
                      <m:sub>
                        <m:r>
                          <a:rPr lang="en-US" altLang="zh-CN" sz="1600" b="0" i="1" smtClean="0">
                            <a:latin typeface="Cambria Math" panose="02040503050406030204" pitchFamily="18" charset="0"/>
                            <a:cs typeface="Times New Roman" panose="02020603050405020304" pitchFamily="18" charset="0"/>
                          </a:rPr>
                          <m:t>𝑡</m:t>
                        </m:r>
                      </m:sub>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𝑗</m:t>
                            </m:r>
                          </m:e>
                        </m:d>
                      </m:sup>
                    </m:sSubSup>
                  </m:oMath>
                </a14:m>
                <a:r>
                  <a:rPr lang="en-US" altLang="zh-CN" sz="1600">
                    <a:latin typeface="Times New Roman" panose="02020603050405020304" pitchFamily="18" charset="0"/>
                    <a:cs typeface="Times New Roman" panose="02020603050405020304" pitchFamily="18" charset="0"/>
                  </a:rPr>
                  <a:t> of the time series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b="0" i="1" smtClean="0">
                            <a:latin typeface="Cambria Math" panose="02040503050406030204" pitchFamily="18" charset="0"/>
                            <a:cs typeface="Times New Roman" panose="02020603050405020304" pitchFamily="18" charset="0"/>
                          </a:rPr>
                          <m:t>𝑥</m:t>
                        </m:r>
                      </m:e>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cs typeface="Times New Roman" panose="02020603050405020304" pitchFamily="18" charset="0"/>
                              </a:rPr>
                              <m:t>𝑗</m:t>
                            </m:r>
                          </m:e>
                        </m:d>
                      </m:sup>
                    </m:sSup>
                  </m:oMath>
                </a14:m>
                <a:r>
                  <a:rPr lang="en-US" altLang="zh-CN" sz="1600">
                    <a:latin typeface="Times New Roman" panose="02020603050405020304" pitchFamily="18" charset="0"/>
                    <a:cs typeface="Times New Roman" panose="02020603050405020304" pitchFamily="18" charset="0"/>
                  </a:rPr>
                  <a:t>, deviation is denoted as </a:t>
                </a:r>
                <a14:m>
                  <m:oMath xmlns:m="http://schemas.openxmlformats.org/officeDocument/2006/math">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𝑎</m:t>
                        </m:r>
                      </m:e>
                      <m:sub>
                        <m:r>
                          <a:rPr lang="en-US" altLang="zh-CN" sz="1600" b="0" i="1" smtClean="0">
                            <a:latin typeface="Cambria Math" panose="02040503050406030204" pitchFamily="18" charset="0"/>
                            <a:cs typeface="Times New Roman" panose="02020603050405020304" pitchFamily="18" charset="0"/>
                          </a:rPr>
                          <m:t>𝑡</m:t>
                        </m:r>
                      </m:sub>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𝑗</m:t>
                            </m:r>
                          </m:e>
                        </m:d>
                      </m:sup>
                    </m:sSubSup>
                  </m:oMath>
                </a14:m>
                <a:r>
                  <a:rPr lang="en-US" altLang="zh-CN" sz="1600">
                    <a:latin typeface="Times New Roman" panose="02020603050405020304" pitchFamily="18" charset="0"/>
                    <a:cs typeface="Times New Roman" panose="02020603050405020304" pitchFamily="18" charset="0"/>
                  </a:rPr>
                  <a:t> and is computed as </a:t>
                </a: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𝑎</m:t>
                        </m:r>
                      </m:e>
                      <m:sub>
                        <m:r>
                          <a:rPr lang="en-US" altLang="zh-CN" sz="1600" i="1" smtClean="0">
                            <a:latin typeface="Cambria Math" panose="02040503050406030204" pitchFamily="18" charset="0"/>
                            <a:cs typeface="Times New Roman" panose="02020603050405020304" pitchFamily="18" charset="0"/>
                          </a:rPr>
                          <m:t>𝑡</m:t>
                        </m:r>
                      </m:sub>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bSup>
                    <m:r>
                      <a:rPr lang="en-US" altLang="zh-CN" sz="1600" i="1" smtClean="0">
                        <a:latin typeface="Cambria Math" panose="02040503050406030204" pitchFamily="18" charset="0"/>
                        <a:cs typeface="Times New Roman" panose="02020603050405020304" pitchFamily="18" charset="0"/>
                      </a:rPr>
                      <m:t>=</m:t>
                    </m:r>
                    <m:d>
                      <m:dPr>
                        <m:begChr m:val="|"/>
                        <m:endChr m:val="|"/>
                        <m:ctrlPr>
                          <a:rPr lang="en-US" altLang="zh-CN" sz="1600" i="1" smtClean="0">
                            <a:latin typeface="Cambria Math" panose="02040503050406030204" pitchFamily="18" charset="0"/>
                            <a:cs typeface="Times New Roman" panose="02020603050405020304" pitchFamily="18" charset="0"/>
                          </a:rPr>
                        </m:ctrlPr>
                      </m:dPr>
                      <m:e>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𝑥</m:t>
                            </m:r>
                          </m:e>
                          <m:sub>
                            <m:r>
                              <a:rPr lang="en-US" altLang="zh-CN" sz="1600" i="1" smtClean="0">
                                <a:latin typeface="Cambria Math" panose="02040503050406030204" pitchFamily="18" charset="0"/>
                                <a:cs typeface="Times New Roman" panose="02020603050405020304" pitchFamily="18" charset="0"/>
                              </a:rPr>
                              <m:t>𝑡</m:t>
                            </m:r>
                          </m:sub>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bSup>
                        <m:r>
                          <a:rPr lang="en-US" altLang="zh-CN" sz="1600" i="1" smtClean="0">
                            <a:latin typeface="Cambria Math" panose="02040503050406030204" pitchFamily="18" charset="0"/>
                            <a:cs typeface="Times New Roman" panose="02020603050405020304" pitchFamily="18" charset="0"/>
                          </a:rPr>
                          <m:t>−</m:t>
                        </m:r>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𝜇</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e>
                    </m:d>
                    <m:r>
                      <m:rPr>
                        <m:lit/>
                      </m:rPr>
                      <a:rPr lang="en-US" altLang="zh-CN" sz="1600" i="1" smtClean="0">
                        <a:latin typeface="Cambria Math" panose="02040503050406030204" pitchFamily="18" charset="0"/>
                        <a:cs typeface="Times New Roman" panose="02020603050405020304" pitchFamily="18" charset="0"/>
                      </a:rPr>
                      <m:t>/</m:t>
                    </m:r>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𝜎</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oMath>
                </a14:m>
                <a:r>
                  <a:rPr lang="en-US" altLang="zh-CN" sz="1600">
                    <a:latin typeface="Times New Roman" panose="02020603050405020304" pitchFamily="18" charset="0"/>
                    <a:cs typeface="Times New Roman" panose="02020603050405020304" pitchFamily="18" charset="0"/>
                  </a:rPr>
                  <a:t>.</a:t>
                </a:r>
              </a:p>
            </p:txBody>
          </p:sp>
        </mc:Choice>
        <mc:Fallback xmlns="">
          <p:sp>
            <p:nvSpPr>
              <p:cNvPr id="6" name="文本框 5">
                <a:extLst>
                  <a:ext uri="{FF2B5EF4-FFF2-40B4-BE49-F238E27FC236}">
                    <a16:creationId xmlns:a16="http://schemas.microsoft.com/office/drawing/2014/main" id="{979076ED-B506-A447-21D4-21FB1A251385}"/>
                  </a:ext>
                </a:extLst>
              </p:cNvPr>
              <p:cNvSpPr txBox="1">
                <a:spLocks noRot="1" noChangeAspect="1" noMove="1" noResize="1" noEditPoints="1" noAdjustHandles="1" noChangeArrowheads="1" noChangeShapeType="1" noTextEdit="1"/>
              </p:cNvSpPr>
              <p:nvPr/>
            </p:nvSpPr>
            <p:spPr>
              <a:xfrm>
                <a:off x="813584" y="3165485"/>
                <a:ext cx="6837373" cy="942181"/>
              </a:xfrm>
              <a:prstGeom prst="rect">
                <a:avLst/>
              </a:prstGeom>
              <a:blipFill>
                <a:blip r:embed="rId4"/>
                <a:stretch>
                  <a:fillRect l="-446" b="-6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F93F9773-77F4-7147-9D0E-2AF8E19F0CBB}"/>
                  </a:ext>
                </a:extLst>
              </p:cNvPr>
              <p:cNvSpPr txBox="1"/>
              <p:nvPr/>
            </p:nvSpPr>
            <p:spPr>
              <a:xfrm>
                <a:off x="813584" y="4159663"/>
                <a:ext cx="7219533" cy="1201804"/>
              </a:xfrm>
              <a:prstGeom prst="rect">
                <a:avLst/>
              </a:prstGeom>
              <a:noFill/>
            </p:spPr>
            <p:txBody>
              <a:bodyPr wrap="square">
                <a:spAutoFit/>
              </a:bodyPr>
              <a:lstStyle/>
              <a:p>
                <a:pPr>
                  <a:lnSpc>
                    <a:spcPct val="130000"/>
                  </a:lnSpc>
                </a:pPr>
                <a:r>
                  <a:rPr lang="en-US" altLang="zh-CN" sz="1600" i="1" dirty="0" err="1">
                    <a:latin typeface="Times New Roman" panose="02020603050405020304" pitchFamily="18" charset="0"/>
                    <a:cs typeface="Times New Roman" panose="02020603050405020304" pitchFamily="18" charset="0"/>
                  </a:rPr>
                  <a:t>SeverityScorer</a:t>
                </a:r>
                <a:r>
                  <a:rPr lang="en-US" altLang="zh-CN" sz="1600" dirty="0">
                    <a:latin typeface="Times New Roman" panose="02020603050405020304" pitchFamily="18" charset="0"/>
                    <a:cs typeface="Times New Roman" panose="02020603050405020304" pitchFamily="18" charset="0"/>
                  </a:rPr>
                  <a:t> then aggregates </a:t>
                </a:r>
                <a14:m>
                  <m:oMath xmlns:m="http://schemas.openxmlformats.org/officeDocument/2006/math">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𝑎</m:t>
                        </m:r>
                      </m:e>
                      <m:sub>
                        <m:r>
                          <a:rPr lang="en-US" altLang="zh-CN" sz="1600" b="0" i="1" smtClean="0">
                            <a:latin typeface="Cambria Math" panose="02040503050406030204" pitchFamily="18" charset="0"/>
                            <a:cs typeface="Times New Roman" panose="02020603050405020304" pitchFamily="18" charset="0"/>
                          </a:rPr>
                          <m:t>𝑡</m:t>
                        </m:r>
                      </m:sub>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𝑗</m:t>
                            </m:r>
                          </m:e>
                        </m:d>
                      </m:sup>
                    </m:sSubSup>
                  </m:oMath>
                </a14:m>
                <a:r>
                  <a:rPr lang="en-US" altLang="zh-CN" sz="1600" dirty="0">
                    <a:latin typeface="Times New Roman" panose="02020603050405020304" pitchFamily="18" charset="0"/>
                    <a:cs typeface="Times New Roman" panose="02020603050405020304" pitchFamily="18" charset="0"/>
                  </a:rPr>
                  <a:t> for all the available data during the abnormal period, yielding the anomaly severity score </a:t>
                </a:r>
                <a14:m>
                  <m:oMath xmlns:m="http://schemas.openxmlformats.org/officeDocument/2006/math">
                    <m:sSup>
                      <m:sSupPr>
                        <m:ctrlPr>
                          <a:rPr lang="en-US" altLang="zh-CN" sz="1600" i="1" dirty="0" smtClean="0">
                            <a:latin typeface="Cambria Math" panose="02040503050406030204" pitchFamily="18" charset="0"/>
                            <a:cs typeface="Times New Roman" panose="02020603050405020304" pitchFamily="18" charset="0"/>
                          </a:rPr>
                        </m:ctrlPr>
                      </m:sSupPr>
                      <m:e>
                        <m:r>
                          <a:rPr lang="en-US" altLang="zh-CN" sz="1600" i="1" dirty="0" smtClean="0">
                            <a:latin typeface="Cambria Math" panose="02040503050406030204" pitchFamily="18" charset="0"/>
                            <a:cs typeface="Times New Roman" panose="02020603050405020304" pitchFamily="18" charset="0"/>
                          </a:rPr>
                          <m:t>𝜌</m:t>
                        </m:r>
                      </m:e>
                      <m:sup>
                        <m:d>
                          <m:dPr>
                            <m:ctrlPr>
                              <a:rPr lang="en-US" altLang="zh-CN" sz="1600" i="1" dirty="0" smtClean="0">
                                <a:latin typeface="Cambria Math" panose="02040503050406030204" pitchFamily="18" charset="0"/>
                                <a:cs typeface="Times New Roman" panose="02020603050405020304" pitchFamily="18" charset="0"/>
                              </a:rPr>
                            </m:ctrlPr>
                          </m:dPr>
                          <m:e>
                            <m:r>
                              <a:rPr lang="en-US" altLang="zh-CN" sz="1600" i="1" dirty="0" err="1">
                                <a:latin typeface="Cambria Math" panose="02040503050406030204" pitchFamily="18" charset="0"/>
                                <a:cs typeface="Times New Roman" panose="02020603050405020304" pitchFamily="18" charset="0"/>
                              </a:rPr>
                              <m:t>𝑖</m:t>
                            </m:r>
                            <m:r>
                              <a:rPr lang="en-US" altLang="zh-CN" sz="1600" i="1" dirty="0">
                                <a:latin typeface="Cambria Math" panose="02040503050406030204" pitchFamily="18" charset="0"/>
                                <a:cs typeface="Times New Roman" panose="02020603050405020304" pitchFamily="18" charset="0"/>
                              </a:rPr>
                              <m:t>,</m:t>
                            </m:r>
                            <m:r>
                              <a:rPr lang="en-US" altLang="zh-CN" sz="1600" i="1" dirty="0">
                                <a:latin typeface="Cambria Math" panose="02040503050406030204" pitchFamily="18" charset="0"/>
                                <a:cs typeface="Times New Roman" panose="02020603050405020304" pitchFamily="18" charset="0"/>
                              </a:rPr>
                              <m:t>𝑗</m:t>
                            </m:r>
                          </m:e>
                        </m:d>
                      </m:sup>
                    </m:sSup>
                    <m:r>
                      <a:rPr lang="en-US" altLang="zh-CN" sz="1600" i="1" dirty="0">
                        <a:latin typeface="Cambria Math" panose="02040503050406030204" pitchFamily="18" charset="0"/>
                        <a:cs typeface="Times New Roman" panose="02020603050405020304" pitchFamily="18" charset="0"/>
                      </a:rPr>
                      <m:t>=</m:t>
                    </m:r>
                    <m:func>
                      <m:funcPr>
                        <m:ctrlPr>
                          <a:rPr lang="en-US" altLang="zh-CN" sz="1600" i="1" dirty="0">
                            <a:latin typeface="Cambria Math" panose="02040503050406030204" pitchFamily="18" charset="0"/>
                            <a:cs typeface="Times New Roman" panose="02020603050405020304" pitchFamily="18" charset="0"/>
                          </a:rPr>
                        </m:ctrlPr>
                      </m:funcPr>
                      <m:fName>
                        <m:limLow>
                          <m:limLowPr>
                            <m:ctrlPr>
                              <a:rPr lang="en-US" altLang="zh-CN" sz="1600" i="1" dirty="0">
                                <a:latin typeface="Cambria Math" panose="02040503050406030204" pitchFamily="18" charset="0"/>
                                <a:cs typeface="Times New Roman" panose="02020603050405020304" pitchFamily="18" charset="0"/>
                              </a:rPr>
                            </m:ctrlPr>
                          </m:limLowPr>
                          <m:e>
                            <m:r>
                              <m:rPr>
                                <m:sty m:val="p"/>
                              </m:rPr>
                              <a:rPr lang="en-US" altLang="zh-CN" sz="1600" i="0" dirty="0">
                                <a:latin typeface="Cambria Math" panose="02040503050406030204" pitchFamily="18" charset="0"/>
                                <a:cs typeface="Times New Roman" panose="02020603050405020304" pitchFamily="18" charset="0"/>
                              </a:rPr>
                              <m:t>max</m:t>
                            </m:r>
                          </m:e>
                          <m:lim>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dirty="0">
                                <a:latin typeface="Cambria Math" panose="02040503050406030204" pitchFamily="18" charset="0"/>
                                <a:cs typeface="Times New Roman" panose="02020603050405020304" pitchFamily="18" charset="0"/>
                              </a:rPr>
                              <m:t>≤</m:t>
                            </m:r>
                            <m:r>
                              <a:rPr lang="en-US" altLang="zh-CN" sz="1600" i="1" dirty="0">
                                <a:latin typeface="Cambria Math" panose="02040503050406030204" pitchFamily="18" charset="0"/>
                                <a:cs typeface="Times New Roman" panose="02020603050405020304" pitchFamily="18" charset="0"/>
                              </a:rPr>
                              <m:t>𝑡</m:t>
                            </m:r>
                            <m:r>
                              <a:rPr lang="en-US" altLang="zh-CN" sz="1600" i="1" dirty="0">
                                <a:latin typeface="Cambria Math" panose="02040503050406030204" pitchFamily="18" charset="0"/>
                                <a:cs typeface="Times New Roman" panose="02020603050405020304" pitchFamily="18" charset="0"/>
                              </a:rPr>
                              <m:t>&lt;</m:t>
                            </m:r>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dirty="0">
                                <a:latin typeface="Cambria Math" panose="02040503050406030204" pitchFamily="18" charset="0"/>
                                <a:cs typeface="Times New Roman" panose="02020603050405020304" pitchFamily="18" charset="0"/>
                              </a:rPr>
                              <m:t>+</m:t>
                            </m:r>
                            <m:r>
                              <a:rPr lang="en-US" altLang="zh-CN" sz="1600" i="1" dirty="0">
                                <a:latin typeface="Cambria Math" panose="02040503050406030204" pitchFamily="18" charset="0"/>
                                <a:cs typeface="Times New Roman" panose="02020603050405020304" pitchFamily="18" charset="0"/>
                              </a:rPr>
                              <m:t>𝑇</m:t>
                            </m:r>
                          </m:lim>
                        </m:limLow>
                      </m:fName>
                      <m:e>
                        <m:sSubSup>
                          <m:sSubSupPr>
                            <m:ctrlPr>
                              <a:rPr lang="en-US" altLang="zh-CN" sz="1600" i="1" dirty="0">
                                <a:latin typeface="Cambria Math" panose="02040503050406030204" pitchFamily="18" charset="0"/>
                                <a:cs typeface="Times New Roman" panose="02020603050405020304" pitchFamily="18" charset="0"/>
                              </a:rPr>
                            </m:ctrlPr>
                          </m:sSubSupPr>
                          <m:e>
                            <m:r>
                              <a:rPr lang="en-US" altLang="zh-CN" sz="1600" i="1" dirty="0">
                                <a:latin typeface="Cambria Math" panose="02040503050406030204" pitchFamily="18" charset="0"/>
                                <a:cs typeface="Times New Roman" panose="02020603050405020304" pitchFamily="18" charset="0"/>
                              </a:rPr>
                              <m:t>𝑎</m:t>
                            </m:r>
                          </m:e>
                          <m:sub>
                            <m:r>
                              <a:rPr lang="en-US" altLang="zh-CN" sz="1600" i="1" dirty="0">
                                <a:latin typeface="Cambria Math" panose="02040503050406030204" pitchFamily="18" charset="0"/>
                                <a:cs typeface="Times New Roman" panose="02020603050405020304" pitchFamily="18" charset="0"/>
                              </a:rPr>
                              <m:t>𝑡</m:t>
                            </m:r>
                          </m:sub>
                          <m:sup>
                            <m:d>
                              <m:dPr>
                                <m:ctrlPr>
                                  <a:rPr lang="en-US" altLang="zh-CN" sz="1600" i="1" dirty="0">
                                    <a:latin typeface="Cambria Math" panose="02040503050406030204" pitchFamily="18" charset="0"/>
                                    <a:cs typeface="Times New Roman" panose="02020603050405020304" pitchFamily="18" charset="0"/>
                                  </a:rPr>
                                </m:ctrlPr>
                              </m:dPr>
                              <m:e>
                                <m:r>
                                  <a:rPr lang="en-US" altLang="zh-CN" sz="1600" i="1" dirty="0" err="1">
                                    <a:latin typeface="Cambria Math" panose="02040503050406030204" pitchFamily="18" charset="0"/>
                                    <a:cs typeface="Times New Roman" panose="02020603050405020304" pitchFamily="18" charset="0"/>
                                  </a:rPr>
                                  <m:t>𝑖</m:t>
                                </m:r>
                                <m:r>
                                  <a:rPr lang="en-US" altLang="zh-CN" sz="1600" i="1" dirty="0">
                                    <a:latin typeface="Cambria Math" panose="02040503050406030204" pitchFamily="18" charset="0"/>
                                    <a:cs typeface="Times New Roman" panose="02020603050405020304" pitchFamily="18" charset="0"/>
                                  </a:rPr>
                                  <m:t>,</m:t>
                                </m:r>
                                <m:r>
                                  <a:rPr lang="en-US" altLang="zh-CN" sz="1600" i="1" dirty="0">
                                    <a:latin typeface="Cambria Math" panose="02040503050406030204" pitchFamily="18" charset="0"/>
                                    <a:cs typeface="Times New Roman" panose="02020603050405020304" pitchFamily="18" charset="0"/>
                                  </a:rPr>
                                  <m:t>𝑗</m:t>
                                </m:r>
                              </m:e>
                            </m:d>
                          </m:sup>
                        </m:sSubSup>
                      </m:e>
                    </m:func>
                  </m:oMath>
                </a14:m>
                <a:endParaRPr lang="en-US" altLang="zh-CN" sz="1600" dirty="0">
                  <a:latin typeface="Times New Roman" panose="02020603050405020304" pitchFamily="18" charset="0"/>
                  <a:cs typeface="Times New Roman" panose="02020603050405020304" pitchFamily="18" charset="0"/>
                </a:endParaRPr>
              </a:p>
              <a:p>
                <a:pPr>
                  <a:lnSpc>
                    <a:spcPct val="130000"/>
                  </a:lnSpc>
                </a:pPr>
                <a:r>
                  <a:rPr lang="en-US" altLang="zh-CN" sz="1600" dirty="0">
                    <a:latin typeface="Times New Roman" panose="02020603050405020304" pitchFamily="18" charset="0"/>
                    <a:cs typeface="Times New Roman" panose="02020603050405020304" pitchFamily="18" charset="0"/>
                  </a:rPr>
                  <a:t> .</a:t>
                </a:r>
              </a:p>
            </p:txBody>
          </p:sp>
        </mc:Choice>
        <mc:Fallback>
          <p:sp>
            <p:nvSpPr>
              <p:cNvPr id="8" name="文本框 7">
                <a:extLst>
                  <a:ext uri="{FF2B5EF4-FFF2-40B4-BE49-F238E27FC236}">
                    <a16:creationId xmlns:a16="http://schemas.microsoft.com/office/drawing/2014/main" id="{F93F9773-77F4-7147-9D0E-2AF8E19F0CBB}"/>
                  </a:ext>
                </a:extLst>
              </p:cNvPr>
              <p:cNvSpPr txBox="1">
                <a:spLocks noRot="1" noChangeAspect="1" noMove="1" noResize="1" noEditPoints="1" noAdjustHandles="1" noChangeArrowheads="1" noChangeShapeType="1" noTextEdit="1"/>
              </p:cNvSpPr>
              <p:nvPr/>
            </p:nvSpPr>
            <p:spPr>
              <a:xfrm>
                <a:off x="813584" y="4159663"/>
                <a:ext cx="7219533" cy="1201804"/>
              </a:xfrm>
              <a:prstGeom prst="rect">
                <a:avLst/>
              </a:prstGeom>
              <a:blipFill>
                <a:blip r:embed="rId5"/>
                <a:stretch>
                  <a:fillRect l="-422" b="-50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392638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39EE3-B475-BC78-DE2B-19C410A2FABE}"/>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D2AC7D76-EEA9-BB4F-9184-6B1BEC8847C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11AEC9EB-1FB5-8B85-6A96-C871E31BAD5B}"/>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6B28CE63-432C-6D51-02AD-92945656814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759E2764-0927-415E-DF31-68DCC60EC2E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B0CF040F-C531-E381-3F48-05A68DC9733D}"/>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SeverityScorer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D807E09-F353-9931-343A-1A2DCE151F59}"/>
                  </a:ext>
                </a:extLst>
              </p:cNvPr>
              <p:cNvSpPr txBox="1"/>
              <p:nvPr/>
            </p:nvSpPr>
            <p:spPr>
              <a:xfrm>
                <a:off x="813584" y="749582"/>
                <a:ext cx="6837373" cy="1414170"/>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Using the anomaly severity scores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b="0" i="1" smtClean="0">
                            <a:latin typeface="Cambria Math" panose="02040503050406030204" pitchFamily="18" charset="0"/>
                            <a:cs typeface="Times New Roman" panose="02020603050405020304" pitchFamily="18" charset="0"/>
                          </a:rPr>
                          <m:t>𝜌</m:t>
                        </m:r>
                      </m:e>
                      <m:sup>
                        <m:d>
                          <m:dPr>
                            <m:ctrlPr>
                              <a:rPr lang="en-US" altLang="zh-CN" sz="1600" b="0" i="1" smtClean="0">
                                <a:latin typeface="Cambria Math" panose="02040503050406030204" pitchFamily="18" charset="0"/>
                                <a:cs typeface="Times New Roman" panose="02020603050405020304" pitchFamily="18" charset="0"/>
                              </a:rPr>
                            </m:ctrlPr>
                          </m:dPr>
                          <m:e>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𝑗</m:t>
                            </m:r>
                          </m:e>
                        </m:d>
                      </m:sup>
                    </m:sSup>
                  </m:oMath>
                </a14:m>
                <a:r>
                  <a:rPr lang="en-US" altLang="zh-CN" sz="1600">
                    <a:latin typeface="Times New Roman" panose="02020603050405020304" pitchFamily="18" charset="0"/>
                    <a:cs typeface="Times New Roman" panose="02020603050405020304" pitchFamily="18" charset="0"/>
                  </a:rPr>
                  <a:t> across all time series and data sources, SeverityScorer assigns each service </a:t>
                </a:r>
                <a14:m>
                  <m:oMath xmlns:m="http://schemas.openxmlformats.org/officeDocument/2006/math">
                    <m:sSup>
                      <m:sSupPr>
                        <m:ctrlPr>
                          <a:rPr lang="en-US" altLang="zh-CN" sz="1600" b="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𝑠</m:t>
                        </m:r>
                      </m:e>
                      <m:sup>
                        <m:r>
                          <a:rPr lang="en-US" altLang="zh-CN" sz="1600" i="1" smtClean="0">
                            <a:latin typeface="Cambria Math" panose="02040503050406030204" pitchFamily="18" charset="0"/>
                            <a:cs typeface="Times New Roman" panose="02020603050405020304" pitchFamily="18" charset="0"/>
                          </a:rPr>
                          <m:t>𝑖</m:t>
                        </m:r>
                      </m:sup>
                    </m:sSup>
                  </m:oMath>
                </a14:m>
                <a:r>
                  <a:rPr lang="en-US" altLang="zh-CN" sz="1600">
                    <a:latin typeface="Times New Roman" panose="02020603050405020304" pitchFamily="18" charset="0"/>
                    <a:cs typeface="Times New Roman" panose="02020603050405020304" pitchFamily="18" charset="0"/>
                  </a:rPr>
                  <a:t> a severity vector </a:t>
                </a:r>
                <a14:m>
                  <m:oMath xmlns:m="http://schemas.openxmlformats.org/officeDocument/2006/math">
                    <m:d>
                      <m:dPr>
                        <m:begChr m:val="["/>
                        <m:endChr m:val="]"/>
                        <m:ctrlPr>
                          <a:rPr lang="en-US" altLang="zh-CN" sz="1600" b="0" i="1" smtClean="0">
                            <a:latin typeface="Cambria Math" panose="02040503050406030204" pitchFamily="18" charset="0"/>
                            <a:cs typeface="Times New Roman" panose="02020603050405020304" pitchFamily="18" charset="0"/>
                          </a:rPr>
                        </m:ctrlPr>
                      </m:dPr>
                      <m:e>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𝑚</m:t>
                            </m:r>
                          </m:sub>
                          <m:sup>
                            <m:r>
                              <a:rPr lang="en-US" altLang="zh-CN" sz="1600" b="0" i="1" smtClean="0">
                                <a:latin typeface="Cambria Math" panose="02040503050406030204" pitchFamily="18" charset="0"/>
                                <a:cs typeface="Times New Roman" panose="02020603050405020304" pitchFamily="18" charset="0"/>
                              </a:rPr>
                              <m:t>𝑖</m:t>
                            </m:r>
                          </m:sup>
                        </m:sSubSup>
                        <m:r>
                          <a:rPr lang="en-US" altLang="zh-CN" sz="1600" b="0" i="1" smtClean="0">
                            <a:latin typeface="Cambria Math" panose="02040503050406030204" pitchFamily="18" charset="0"/>
                            <a:cs typeface="Times New Roman" panose="02020603050405020304" pitchFamily="18" charset="0"/>
                          </a:rPr>
                          <m:t>, </m:t>
                        </m:r>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𝑙</m:t>
                            </m:r>
                          </m:sub>
                          <m:sup>
                            <m:r>
                              <a:rPr lang="en-US" altLang="zh-CN" sz="1600" b="0" i="1" smtClean="0">
                                <a:latin typeface="Cambria Math" panose="02040503050406030204" pitchFamily="18" charset="0"/>
                                <a:cs typeface="Times New Roman" panose="02020603050405020304" pitchFamily="18" charset="0"/>
                              </a:rPr>
                              <m:t>𝑖</m:t>
                            </m:r>
                          </m:sup>
                        </m:sSubSup>
                        <m:r>
                          <a:rPr lang="en-US" altLang="zh-CN" sz="1600" b="0" i="1" smtClean="0">
                            <a:latin typeface="Cambria Math" panose="02040503050406030204" pitchFamily="18" charset="0"/>
                            <a:cs typeface="Times New Roman" panose="02020603050405020304" pitchFamily="18" charset="0"/>
                          </a:rPr>
                          <m:t>, </m:t>
                        </m:r>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𝑡𝑐</m:t>
                            </m:r>
                          </m:sub>
                          <m:sup>
                            <m:r>
                              <a:rPr lang="en-US" altLang="zh-CN" sz="1600" b="0" i="1" smtClean="0">
                                <a:latin typeface="Cambria Math" panose="02040503050406030204" pitchFamily="18" charset="0"/>
                                <a:cs typeface="Times New Roman" panose="02020603050405020304" pitchFamily="18" charset="0"/>
                              </a:rPr>
                              <m:t>𝑖</m:t>
                            </m:r>
                          </m:sup>
                        </m:sSubSup>
                      </m:e>
                    </m:d>
                  </m:oMath>
                </a14:m>
                <a:r>
                  <a:rPr lang="en-US" altLang="zh-CN" sz="1600">
                    <a:latin typeface="Times New Roman" panose="02020603050405020304" pitchFamily="18" charset="0"/>
                    <a:cs typeface="Times New Roman" panose="02020603050405020304" pitchFamily="18" charset="0"/>
                  </a:rPr>
                  <a:t>, which represents the severity status of each service as observed through its multi-source telemetry data.</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AD807E09-F353-9931-343A-1A2DCE151F59}"/>
                  </a:ext>
                </a:extLst>
              </p:cNvPr>
              <p:cNvSpPr txBox="1">
                <a:spLocks noRot="1" noChangeAspect="1" noMove="1" noResize="1" noEditPoints="1" noAdjustHandles="1" noChangeArrowheads="1" noChangeShapeType="1" noTextEdit="1"/>
              </p:cNvSpPr>
              <p:nvPr/>
            </p:nvSpPr>
            <p:spPr>
              <a:xfrm>
                <a:off x="813584" y="749582"/>
                <a:ext cx="6837373" cy="1414170"/>
              </a:xfrm>
              <a:prstGeom prst="rect">
                <a:avLst/>
              </a:prstGeom>
              <a:blipFill>
                <a:blip r:embed="rId3"/>
                <a:stretch>
                  <a:fillRect l="-446" r="-891" b="-43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52129D9-F2BC-F140-D67E-E7B052C04462}"/>
                  </a:ext>
                </a:extLst>
              </p:cNvPr>
              <p:cNvSpPr txBox="1"/>
              <p:nvPr/>
            </p:nvSpPr>
            <p:spPr>
              <a:xfrm>
                <a:off x="813584" y="2300287"/>
                <a:ext cx="6837373" cy="1247393"/>
              </a:xfrm>
              <a:prstGeom prst="rect">
                <a:avLst/>
              </a:prstGeom>
              <a:noFill/>
            </p:spPr>
            <p:txBody>
              <a:bodyPr wrap="square">
                <a:spAutoFit/>
              </a:bodyPr>
              <a:lstStyle/>
              <a:p>
                <a:pPr>
                  <a:lnSpc>
                    <a:spcPct val="130000"/>
                  </a:lnSpc>
                </a:pPr>
                <a:r>
                  <a:rPr lang="en-US" altLang="zh-CN" sz="1600" dirty="0">
                    <a:latin typeface="Times New Roman" panose="02020603050405020304" pitchFamily="18" charset="0"/>
                    <a:cs typeface="Times New Roman" panose="02020603050405020304" pitchFamily="18" charset="0"/>
                  </a:rPr>
                  <a:t>Specifically,</a:t>
                </a:r>
                <a:r>
                  <a:rPr lang="en-US" altLang="zh-CN" sz="1600" i="1"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𝜌</m:t>
                        </m:r>
                      </m:e>
                      <m:sub>
                        <m:r>
                          <a:rPr lang="en-US" altLang="zh-CN" sz="1600" i="1">
                            <a:latin typeface="Cambria Math" panose="02040503050406030204" pitchFamily="18" charset="0"/>
                            <a:cs typeface="Times New Roman" panose="02020603050405020304" pitchFamily="18" charset="0"/>
                          </a:rPr>
                          <m:t>𝑚</m:t>
                        </m:r>
                      </m:sub>
                      <m:sup>
                        <m:r>
                          <a:rPr lang="en-US" altLang="zh-CN" sz="1600" i="1">
                            <a:latin typeface="Cambria Math" panose="02040503050406030204" pitchFamily="18" charset="0"/>
                            <a:cs typeface="Times New Roman" panose="02020603050405020304" pitchFamily="18" charset="0"/>
                          </a:rPr>
                          <m:t>𝑖</m:t>
                        </m:r>
                      </m:sup>
                    </m:sSubSup>
                    <m:r>
                      <a:rPr lang="en-US" altLang="zh-CN" sz="1600" b="0" i="1" smtClean="0">
                        <a:latin typeface="Cambria Math" panose="02040503050406030204" pitchFamily="18" charset="0"/>
                        <a:cs typeface="Times New Roman" panose="02020603050405020304" pitchFamily="18" charset="0"/>
                      </a:rPr>
                      <m:t> </m:t>
                    </m:r>
                  </m:oMath>
                </a14:m>
                <a:r>
                  <a:rPr lang="en-US" altLang="zh-CN" sz="1600" dirty="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US" altLang="zh-CN" sz="1600" i="1">
                            <a:latin typeface="Cambria Math" panose="02040503050406030204" pitchFamily="18" charset="0"/>
                            <a:cs typeface="Times New Roman" panose="02020603050405020304" pitchFamily="18" charset="0"/>
                          </a:rPr>
                        </m:ctrlPr>
                      </m:sSubSupPr>
                      <m:e>
                        <m:r>
                          <a:rPr lang="en-US" altLang="zh-CN" sz="1600" i="1">
                            <a:latin typeface="Cambria Math" panose="02040503050406030204" pitchFamily="18" charset="0"/>
                            <a:cs typeface="Times New Roman" panose="02020603050405020304" pitchFamily="18" charset="0"/>
                          </a:rPr>
                          <m:t>𝜌</m:t>
                        </m:r>
                      </m:e>
                      <m:sub>
                        <m:r>
                          <a:rPr lang="en-US" altLang="zh-CN" sz="1600" i="1">
                            <a:latin typeface="Cambria Math" panose="02040503050406030204" pitchFamily="18" charset="0"/>
                            <a:cs typeface="Times New Roman" panose="02020603050405020304" pitchFamily="18" charset="0"/>
                          </a:rPr>
                          <m:t>𝑡𝑐</m:t>
                        </m:r>
                      </m:sub>
                      <m:sup>
                        <m:r>
                          <a:rPr lang="en-US" altLang="zh-CN" sz="1600" i="1">
                            <a:latin typeface="Cambria Math" panose="02040503050406030204" pitchFamily="18" charset="0"/>
                            <a:cs typeface="Times New Roman" panose="02020603050405020304" pitchFamily="18" charset="0"/>
                          </a:rPr>
                          <m:t>𝑖</m:t>
                        </m:r>
                      </m:sup>
                    </m:sSubSup>
                  </m:oMath>
                </a14:m>
                <a:r>
                  <a:rPr lang="en-US" altLang="zh-CN" sz="1600" dirty="0">
                    <a:latin typeface="Times New Roman" panose="02020603050405020304" pitchFamily="18" charset="0"/>
                    <a:cs typeface="Times New Roman" panose="02020603050405020304" pitchFamily="18" charset="0"/>
                  </a:rPr>
                  <a:t> are obtained by integrating the severity scores of the time series derived from metrics and traces associated with service </a:t>
                </a:r>
                <a14:m>
                  <m:oMath xmlns:m="http://schemas.openxmlformats.org/officeDocument/2006/math">
                    <m:sSup>
                      <m:sSupPr>
                        <m:ctrlPr>
                          <a:rPr lang="en-US" altLang="zh-CN" sz="1600" b="0" i="1" dirty="0" smtClean="0">
                            <a:latin typeface="Cambria Math" panose="02040503050406030204" pitchFamily="18" charset="0"/>
                            <a:cs typeface="Times New Roman" panose="02020603050405020304" pitchFamily="18" charset="0"/>
                          </a:rPr>
                        </m:ctrlPr>
                      </m:sSupPr>
                      <m:e>
                        <m:r>
                          <a:rPr lang="en-US" altLang="zh-CN" sz="1600" i="1" dirty="0" smtClean="0">
                            <a:latin typeface="Cambria Math" panose="02040503050406030204" pitchFamily="18" charset="0"/>
                            <a:cs typeface="Times New Roman" panose="02020603050405020304" pitchFamily="18" charset="0"/>
                          </a:rPr>
                          <m:t>𝑠</m:t>
                        </m:r>
                      </m:e>
                      <m:sup>
                        <m:r>
                          <a:rPr lang="en-US" altLang="zh-CN" sz="1600" i="1" dirty="0" smtClean="0">
                            <a:latin typeface="Cambria Math" panose="02040503050406030204" pitchFamily="18" charset="0"/>
                            <a:cs typeface="Times New Roman" panose="02020603050405020304" pitchFamily="18" charset="0"/>
                          </a:rPr>
                          <m:t>𝑖</m:t>
                        </m:r>
                      </m:sup>
                    </m:sSup>
                  </m:oMath>
                </a14:m>
                <a:r>
                  <a:rPr lang="en-US" altLang="zh-CN" sz="1600" dirty="0">
                    <a:latin typeface="Times New Roman" panose="02020603050405020304" pitchFamily="18" charset="0"/>
                    <a:cs typeface="Times New Roman" panose="02020603050405020304" pitchFamily="18" charset="0"/>
                  </a:rPr>
                  <a:t>, i.e.,</a:t>
                </a:r>
              </a:p>
              <a:p>
                <a:pPr>
                  <a:lnSpc>
                    <a:spcPct val="130000"/>
                  </a:lnSpc>
                </a:pP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𝑚</m:t>
                        </m:r>
                      </m:sub>
                      <m:sup>
                        <m:r>
                          <a:rPr lang="en-US" altLang="zh-CN" sz="1600" i="1" smtClean="0">
                            <a:latin typeface="Cambria Math" panose="02040503050406030204" pitchFamily="18" charset="0"/>
                            <a:cs typeface="Times New Roman" panose="02020603050405020304" pitchFamily="18" charset="0"/>
                          </a:rPr>
                          <m:t>𝑖</m:t>
                        </m:r>
                      </m:sup>
                    </m:sSubSup>
                    <m:r>
                      <a:rPr lang="en-US" altLang="zh-CN" sz="1600" i="1" smtClean="0">
                        <a:latin typeface="Cambria Math" panose="02040503050406030204" pitchFamily="18" charset="0"/>
                        <a:cs typeface="Times New Roman" panose="02020603050405020304" pitchFamily="18" charset="0"/>
                      </a:rPr>
                      <m:t>=</m:t>
                    </m:r>
                    <m:nary>
                      <m:naryPr>
                        <m:chr m:val="∑"/>
                        <m:supHide m:val="on"/>
                        <m:ctrlPr>
                          <a:rPr lang="en-US" altLang="zh-CN" sz="1600" i="1" smtClean="0">
                            <a:latin typeface="Cambria Math" panose="02040503050406030204" pitchFamily="18" charset="0"/>
                            <a:cs typeface="Times New Roman" panose="02020603050405020304" pitchFamily="18" charset="0"/>
                          </a:rPr>
                        </m:ctrlPr>
                      </m:naryPr>
                      <m:sub>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𝑥</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r>
                          <a:rPr lang="en-US" altLang="zh-CN" sz="1600" i="1" smtClean="0">
                            <a:latin typeface="Cambria Math" panose="02040503050406030204" pitchFamily="18" charset="0"/>
                            <a:cs typeface="Times New Roman" panose="02020603050405020304" pitchFamily="18" charset="0"/>
                          </a:rPr>
                          <m:t>∈</m:t>
                        </m:r>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𝒳</m:t>
                            </m:r>
                          </m:e>
                          <m:sub>
                            <m:r>
                              <a:rPr lang="en-US" altLang="zh-CN" sz="1600" i="1" smtClean="0">
                                <a:latin typeface="Cambria Math" panose="02040503050406030204" pitchFamily="18" charset="0"/>
                                <a:cs typeface="Times New Roman" panose="02020603050405020304" pitchFamily="18" charset="0"/>
                              </a:rPr>
                              <m:t>ℳ</m:t>
                            </m:r>
                          </m:sub>
                          <m:sup>
                            <m:r>
                              <a:rPr lang="en-US" altLang="zh-CN" sz="1600" i="1" smtClean="0">
                                <a:latin typeface="Cambria Math" panose="02040503050406030204" pitchFamily="18" charset="0"/>
                                <a:cs typeface="Times New Roman" panose="02020603050405020304" pitchFamily="18" charset="0"/>
                              </a:rPr>
                              <m:t>𝒾</m:t>
                            </m:r>
                          </m:sup>
                        </m:sSubSup>
                      </m:sub>
                      <m:sup/>
                      <m:e>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𝑚</m:t>
                            </m:r>
                          </m:sub>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bSup>
                      </m:e>
                    </m:nary>
                  </m:oMath>
                </a14:m>
                <a:r>
                  <a:rPr lang="en-US" altLang="zh-CN" sz="1600" dirty="0">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𝑡𝑐</m:t>
                        </m:r>
                      </m:sub>
                      <m:sup>
                        <m:r>
                          <a:rPr lang="en-US" altLang="zh-CN" sz="1600" i="1" smtClean="0">
                            <a:latin typeface="Cambria Math" panose="02040503050406030204" pitchFamily="18" charset="0"/>
                            <a:cs typeface="Times New Roman" panose="02020603050405020304" pitchFamily="18" charset="0"/>
                          </a:rPr>
                          <m:t>𝑖</m:t>
                        </m:r>
                      </m:sup>
                    </m:sSubSup>
                    <m:r>
                      <a:rPr lang="en-US" altLang="zh-CN" sz="1600" i="1" smtClean="0">
                        <a:latin typeface="Cambria Math" panose="02040503050406030204" pitchFamily="18" charset="0"/>
                        <a:cs typeface="Times New Roman" panose="02020603050405020304" pitchFamily="18" charset="0"/>
                      </a:rPr>
                      <m:t>=</m:t>
                    </m:r>
                    <m:nary>
                      <m:naryPr>
                        <m:chr m:val="∑"/>
                        <m:supHide m:val="on"/>
                        <m:ctrlPr>
                          <a:rPr lang="en-US" altLang="zh-CN" sz="1600" i="1" smtClean="0">
                            <a:latin typeface="Cambria Math" panose="02040503050406030204" pitchFamily="18" charset="0"/>
                            <a:cs typeface="Times New Roman" panose="02020603050405020304" pitchFamily="18" charset="0"/>
                          </a:rPr>
                        </m:ctrlPr>
                      </m:naryPr>
                      <m:sub>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𝑥</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r>
                          <a:rPr lang="en-US" altLang="zh-CN" sz="1600" i="1" smtClean="0">
                            <a:latin typeface="Cambria Math" panose="02040503050406030204" pitchFamily="18" charset="0"/>
                            <a:cs typeface="Times New Roman" panose="02020603050405020304" pitchFamily="18" charset="0"/>
                          </a:rPr>
                          <m:t>∈</m:t>
                        </m:r>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𝒳</m:t>
                            </m:r>
                          </m:e>
                          <m:sub>
                            <m:r>
                              <a:rPr lang="en-US" altLang="zh-CN" sz="1600" i="1" smtClean="0">
                                <a:latin typeface="Cambria Math" panose="02040503050406030204" pitchFamily="18" charset="0"/>
                                <a:cs typeface="Times New Roman" panose="02020603050405020304" pitchFamily="18" charset="0"/>
                              </a:rPr>
                              <m:t>𝒯𝒞</m:t>
                            </m:r>
                          </m:sub>
                          <m:sup>
                            <m:r>
                              <a:rPr lang="en-US" altLang="zh-CN" sz="1600" i="1" smtClean="0">
                                <a:latin typeface="Cambria Math" panose="02040503050406030204" pitchFamily="18" charset="0"/>
                                <a:cs typeface="Times New Roman" panose="02020603050405020304" pitchFamily="18" charset="0"/>
                              </a:rPr>
                              <m:t>𝒾</m:t>
                            </m:r>
                          </m:sup>
                        </m:sSubSup>
                      </m:sub>
                      <m:sup/>
                      <m:e>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𝑡𝑐</m:t>
                            </m:r>
                          </m:sub>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bSup>
                      </m:e>
                    </m:nary>
                    <m:r>
                      <a:rPr lang="en-US" altLang="zh-CN" sz="1600" b="0" i="0" smtClean="0">
                        <a:latin typeface="Cambria Math" panose="02040503050406030204" pitchFamily="18" charset="0"/>
                        <a:cs typeface="Times New Roman" panose="02020603050405020304" pitchFamily="18" charset="0"/>
                      </a:rPr>
                      <m:t>.</m:t>
                    </m:r>
                  </m:oMath>
                </a14:m>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C52129D9-F2BC-F140-D67E-E7B052C04462}"/>
                  </a:ext>
                </a:extLst>
              </p:cNvPr>
              <p:cNvSpPr txBox="1">
                <a:spLocks noRot="1" noChangeAspect="1" noMove="1" noResize="1" noEditPoints="1" noAdjustHandles="1" noChangeArrowheads="1" noChangeShapeType="1" noTextEdit="1"/>
              </p:cNvSpPr>
              <p:nvPr/>
            </p:nvSpPr>
            <p:spPr>
              <a:xfrm>
                <a:off x="813584" y="2300287"/>
                <a:ext cx="6837373" cy="1247393"/>
              </a:xfrm>
              <a:prstGeom prst="rect">
                <a:avLst/>
              </a:prstGeom>
              <a:blipFill>
                <a:blip r:embed="rId4"/>
                <a:stretch>
                  <a:fillRect l="-446" b="-395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8B72EFC-0F7B-4B7F-C491-9686323AA946}"/>
                  </a:ext>
                </a:extLst>
              </p:cNvPr>
              <p:cNvSpPr txBox="1"/>
              <p:nvPr/>
            </p:nvSpPr>
            <p:spPr>
              <a:xfrm>
                <a:off x="813583" y="3796414"/>
                <a:ext cx="6837373" cy="1195007"/>
              </a:xfrm>
              <a:prstGeom prst="rect">
                <a:avLst/>
              </a:prstGeom>
              <a:noFill/>
            </p:spPr>
            <p:txBody>
              <a:bodyPr wrap="square">
                <a:spAutoFit/>
              </a:bodyPr>
              <a:lstStyle/>
              <a:p>
                <a:pPr>
                  <a:lnSpc>
                    <a:spcPct val="130000"/>
                  </a:lnSpc>
                </a:pPr>
                <a:r>
                  <a:rPr lang="en-US" altLang="zh-CN" sz="1600">
                    <a:latin typeface="Times New Roman" panose="02020603050405020304" pitchFamily="18" charset="0"/>
                    <a:cs typeface="Times New Roman" panose="02020603050405020304" pitchFamily="18" charset="0"/>
                  </a:rPr>
                  <a:t>For logs, </a:t>
                </a:r>
                <a14:m>
                  <m:oMath xmlns:m="http://schemas.openxmlformats.org/officeDocument/2006/math">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𝑙</m:t>
                        </m:r>
                      </m:sub>
                      <m:sup>
                        <m:r>
                          <a:rPr lang="en-US" altLang="zh-CN" sz="1600" b="0" i="1" smtClean="0">
                            <a:latin typeface="Cambria Math" panose="02040503050406030204" pitchFamily="18" charset="0"/>
                            <a:cs typeface="Times New Roman" panose="02020603050405020304" pitchFamily="18" charset="0"/>
                          </a:rPr>
                          <m:t>𝑖</m:t>
                        </m:r>
                      </m:sup>
                    </m:sSubSup>
                  </m:oMath>
                </a14:m>
                <a:r>
                  <a:rPr lang="en-US" altLang="zh-CN" sz="1600">
                    <a:latin typeface="Times New Roman" panose="02020603050405020304" pitchFamily="18" charset="0"/>
                    <a:cs typeface="Times New Roman" panose="02020603050405020304" pitchFamily="18" charset="0"/>
                  </a:rPr>
                  <a:t> is determined as the score of the  most anomalous log templates for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𝑠</m:t>
                        </m:r>
                      </m:e>
                      <m:sub>
                        <m:r>
                          <a:rPr lang="en-US" altLang="zh-CN" sz="1600" b="0" i="1" smtClean="0">
                            <a:latin typeface="Cambria Math" panose="02040503050406030204" pitchFamily="18" charset="0"/>
                            <a:cs typeface="Times New Roman" panose="02020603050405020304" pitchFamily="18" charset="0"/>
                          </a:rPr>
                          <m:t>𝑖</m:t>
                        </m:r>
                      </m:sub>
                    </m:sSub>
                  </m:oMath>
                </a14:m>
                <a:r>
                  <a:rPr lang="en-US" altLang="zh-CN" sz="1600">
                    <a:latin typeface="Times New Roman" panose="02020603050405020304" pitchFamily="18" charset="0"/>
                    <a:cs typeface="Times New Roman" panose="02020603050405020304" pitchFamily="18" charset="0"/>
                  </a:rPr>
                  <a:t>, i.e., </a:t>
                </a:r>
                <a14:m>
                  <m:oMath xmlns:m="http://schemas.openxmlformats.org/officeDocument/2006/math">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𝑙</m:t>
                        </m:r>
                      </m:sub>
                      <m:sup>
                        <m:r>
                          <a:rPr lang="en-US" altLang="zh-CN" sz="1600" i="1" smtClean="0">
                            <a:latin typeface="Cambria Math" panose="02040503050406030204" pitchFamily="18" charset="0"/>
                            <a:cs typeface="Times New Roman" panose="02020603050405020304" pitchFamily="18" charset="0"/>
                          </a:rPr>
                          <m:t>𝑖</m:t>
                        </m:r>
                      </m:sup>
                    </m:sSubSup>
                    <m:r>
                      <a:rPr lang="en-US" altLang="zh-CN" sz="1600" i="1" smtClean="0">
                        <a:latin typeface="Cambria Math" panose="02040503050406030204" pitchFamily="18" charset="0"/>
                        <a:cs typeface="Times New Roman" panose="02020603050405020304" pitchFamily="18" charset="0"/>
                      </a:rPr>
                      <m:t>=</m:t>
                    </m:r>
                    <m:func>
                      <m:funcPr>
                        <m:ctrlPr>
                          <a:rPr lang="en-US" altLang="zh-CN" sz="1600" i="1" smtClean="0">
                            <a:latin typeface="Cambria Math" panose="02040503050406030204" pitchFamily="18" charset="0"/>
                            <a:cs typeface="Times New Roman" panose="02020603050405020304" pitchFamily="18" charset="0"/>
                          </a:rPr>
                        </m:ctrlPr>
                      </m:funcPr>
                      <m:fName>
                        <m:limLow>
                          <m:limLowPr>
                            <m:ctrlPr>
                              <a:rPr lang="en-US" altLang="zh-CN" sz="1600" i="1" smtClean="0">
                                <a:latin typeface="Cambria Math" panose="02040503050406030204" pitchFamily="18" charset="0"/>
                                <a:cs typeface="Times New Roman" panose="02020603050405020304" pitchFamily="18" charset="0"/>
                              </a:rPr>
                            </m:ctrlPr>
                          </m:limLowPr>
                          <m:e>
                            <m:r>
                              <m:rPr>
                                <m:sty m:val="p"/>
                              </m:rPr>
                              <a:rPr lang="en-US" altLang="zh-CN" sz="1600" i="0" smtClean="0">
                                <a:latin typeface="Cambria Math" panose="02040503050406030204" pitchFamily="18" charset="0"/>
                                <a:cs typeface="Times New Roman" panose="02020603050405020304" pitchFamily="18" charset="0"/>
                              </a:rPr>
                              <m:t>max</m:t>
                            </m:r>
                          </m:e>
                          <m:lim>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i="1" smtClean="0">
                                    <a:latin typeface="Cambria Math" panose="02040503050406030204" pitchFamily="18" charset="0"/>
                                    <a:cs typeface="Times New Roman" panose="02020603050405020304" pitchFamily="18" charset="0"/>
                                  </a:rPr>
                                  <m:t>𝑥</m:t>
                                </m:r>
                              </m:e>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p>
                            <m:r>
                              <a:rPr lang="en-US" altLang="zh-CN" sz="1600" i="1" smtClean="0">
                                <a:latin typeface="Cambria Math" panose="02040503050406030204" pitchFamily="18" charset="0"/>
                                <a:cs typeface="Times New Roman" panose="02020603050405020304" pitchFamily="18" charset="0"/>
                              </a:rPr>
                              <m:t>∈</m:t>
                            </m:r>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𝒳</m:t>
                                </m:r>
                              </m:e>
                              <m:sub>
                                <m:r>
                                  <a:rPr lang="en-US" altLang="zh-CN" sz="1600" i="1" smtClean="0">
                                    <a:latin typeface="Cambria Math" panose="02040503050406030204" pitchFamily="18" charset="0"/>
                                    <a:cs typeface="Times New Roman" panose="02020603050405020304" pitchFamily="18" charset="0"/>
                                  </a:rPr>
                                  <m:t>ℒ</m:t>
                                </m:r>
                              </m:sub>
                              <m:sup>
                                <m:r>
                                  <a:rPr lang="en-US" altLang="zh-CN" sz="1600" i="1" smtClean="0">
                                    <a:latin typeface="Cambria Math" panose="02040503050406030204" pitchFamily="18" charset="0"/>
                                    <a:cs typeface="Times New Roman" panose="02020603050405020304" pitchFamily="18" charset="0"/>
                                  </a:rPr>
                                  <m:t>𝒾</m:t>
                                </m:r>
                              </m:sup>
                            </m:sSubSup>
                          </m:lim>
                        </m:limLow>
                      </m:fName>
                      <m:e>
                        <m:sSubSup>
                          <m:sSubSupPr>
                            <m:ctrlPr>
                              <a:rPr lang="en-US" altLang="zh-CN" sz="1600" i="1" smtClean="0">
                                <a:latin typeface="Cambria Math" panose="02040503050406030204" pitchFamily="18" charset="0"/>
                                <a:cs typeface="Times New Roman" panose="02020603050405020304" pitchFamily="18" charset="0"/>
                              </a:rPr>
                            </m:ctrlPr>
                          </m:sSubSupPr>
                          <m:e>
                            <m:r>
                              <a:rPr lang="en-US" altLang="zh-CN" sz="1600" i="1" smtClean="0">
                                <a:latin typeface="Cambria Math" panose="02040503050406030204" pitchFamily="18" charset="0"/>
                                <a:cs typeface="Times New Roman" panose="02020603050405020304" pitchFamily="18" charset="0"/>
                              </a:rPr>
                              <m:t>𝜌</m:t>
                            </m:r>
                          </m:e>
                          <m:sub>
                            <m:r>
                              <a:rPr lang="en-US" altLang="zh-CN" sz="1600" i="1" smtClean="0">
                                <a:latin typeface="Cambria Math" panose="02040503050406030204" pitchFamily="18" charset="0"/>
                                <a:cs typeface="Times New Roman" panose="02020603050405020304" pitchFamily="18" charset="0"/>
                              </a:rPr>
                              <m:t>𝑙</m:t>
                            </m:r>
                          </m:sub>
                          <m:sup>
                            <m:d>
                              <m:dPr>
                                <m:ctrlPr>
                                  <a:rPr lang="en-US" altLang="zh-CN" sz="1600" i="1" smtClean="0">
                                    <a:latin typeface="Cambria Math" panose="02040503050406030204" pitchFamily="18" charset="0"/>
                                    <a:cs typeface="Times New Roman" panose="02020603050405020304" pitchFamily="18" charset="0"/>
                                  </a:rPr>
                                </m:ctrlPr>
                              </m:dPr>
                              <m:e>
                                <m:r>
                                  <a:rPr lang="en-US" altLang="zh-CN" sz="1600" i="1" smtClean="0">
                                    <a:latin typeface="Cambria Math" panose="02040503050406030204" pitchFamily="18" charset="0"/>
                                    <a:cs typeface="Times New Roman" panose="02020603050405020304" pitchFamily="18" charset="0"/>
                                  </a:rPr>
                                  <m:t>𝑖</m:t>
                                </m:r>
                                <m:r>
                                  <a:rPr lang="en-US" altLang="zh-CN" sz="1600" i="1" smtClean="0">
                                    <a:latin typeface="Cambria Math" panose="02040503050406030204" pitchFamily="18" charset="0"/>
                                    <a:cs typeface="Times New Roman" panose="02020603050405020304" pitchFamily="18" charset="0"/>
                                  </a:rPr>
                                  <m:t>,</m:t>
                                </m:r>
                                <m:r>
                                  <a:rPr lang="en-US" altLang="zh-CN" sz="1600" i="1" smtClean="0">
                                    <a:latin typeface="Cambria Math" panose="02040503050406030204" pitchFamily="18" charset="0"/>
                                    <a:cs typeface="Times New Roman" panose="02020603050405020304" pitchFamily="18" charset="0"/>
                                  </a:rPr>
                                  <m:t>𝑗</m:t>
                                </m:r>
                              </m:e>
                            </m:d>
                          </m:sup>
                        </m:sSubSup>
                      </m:e>
                    </m:func>
                  </m:oMath>
                </a14:m>
                <a:r>
                  <a:rPr lang="en-US" altLang="zh-CN" sz="1600">
                    <a:latin typeface="Times New Roman" panose="02020603050405020304" pitchFamily="18" charset="0"/>
                    <a:cs typeface="Times New Roman" panose="02020603050405020304" pitchFamily="18" charset="0"/>
                  </a:rPr>
                  <a:t>, since the number of log templates  between services varies significantly.</a:t>
                </a:r>
              </a:p>
            </p:txBody>
          </p:sp>
        </mc:Choice>
        <mc:Fallback xmlns="">
          <p:sp>
            <p:nvSpPr>
              <p:cNvPr id="5" name="文本框 4">
                <a:extLst>
                  <a:ext uri="{FF2B5EF4-FFF2-40B4-BE49-F238E27FC236}">
                    <a16:creationId xmlns:a16="http://schemas.microsoft.com/office/drawing/2014/main" id="{F8B72EFC-0F7B-4B7F-C491-9686323AA946}"/>
                  </a:ext>
                </a:extLst>
              </p:cNvPr>
              <p:cNvSpPr txBox="1">
                <a:spLocks noRot="1" noChangeAspect="1" noMove="1" noResize="1" noEditPoints="1" noAdjustHandles="1" noChangeArrowheads="1" noChangeShapeType="1" noTextEdit="1"/>
              </p:cNvSpPr>
              <p:nvPr/>
            </p:nvSpPr>
            <p:spPr>
              <a:xfrm>
                <a:off x="813583" y="3796414"/>
                <a:ext cx="6837373" cy="1195007"/>
              </a:xfrm>
              <a:prstGeom prst="rect">
                <a:avLst/>
              </a:prstGeom>
              <a:blipFill>
                <a:blip r:embed="rId5"/>
                <a:stretch>
                  <a:fillRect l="-446" b="-56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578498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122E7-80C7-7527-F6BC-54AD7DFB1059}"/>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BF169622-8687-DE1C-9F1A-C17719ACB80F}"/>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A4AAB642-F4F2-8637-DEC1-C82AACA7159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4D00DF0-B3CC-A9D9-5F75-D59FA45DB6A3}"/>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BE67C73-3796-07AE-FE63-4911B88ED85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2F89E443-ED36-694F-CB85-EAD3EFAA1F0C}"/>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SymptomCluster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293BE1A5-38A7-3689-9E76-4CC70297D292}"/>
              </a:ext>
            </a:extLst>
          </p:cNvPr>
          <p:cNvSpPr txBox="1"/>
          <p:nvPr/>
        </p:nvSpPr>
        <p:spPr>
          <a:xfrm>
            <a:off x="813585" y="828163"/>
            <a:ext cx="7427521" cy="952953"/>
          </a:xfrm>
          <a:prstGeom prst="rect">
            <a:avLst/>
          </a:prstGeom>
          <a:noFill/>
        </p:spPr>
        <p:txBody>
          <a:bodyPr wrap="square">
            <a:spAutoFit/>
          </a:bodyPr>
          <a:lstStyle/>
          <a:p>
            <a:pPr>
              <a:lnSpc>
                <a:spcPct val="120000"/>
              </a:lnSpc>
            </a:pPr>
            <a:r>
              <a:rPr lang="en-US" altLang="zh-CN" sz="1600" i="1">
                <a:latin typeface="Times New Roman" panose="02020603050405020304" pitchFamily="18" charset="0"/>
                <a:cs typeface="Times New Roman" panose="02020603050405020304" pitchFamily="18" charset="0"/>
              </a:rPr>
              <a:t>SymptomCluster</a:t>
            </a:r>
            <a:r>
              <a:rPr lang="en-US" altLang="zh-CN" sz="1600">
                <a:latin typeface="Times New Roman" panose="02020603050405020304" pitchFamily="18" charset="0"/>
                <a:cs typeface="Times New Roman" panose="02020603050405020304" pitchFamily="18" charset="0"/>
              </a:rPr>
              <a:t> performs clustering to group services with similar severity symptoms. The goal is to effectively separate </a:t>
            </a:r>
            <a:r>
              <a:rPr lang="en-US" altLang="zh-CN" sz="1600" b="1">
                <a:latin typeface="Times New Roman" panose="02020603050405020304" pitchFamily="18" charset="0"/>
                <a:cs typeface="Times New Roman" panose="02020603050405020304" pitchFamily="18" charset="0"/>
              </a:rPr>
              <a:t>abnormal</a:t>
            </a:r>
            <a:r>
              <a:rPr lang="en-US" altLang="zh-CN" sz="1600">
                <a:latin typeface="Times New Roman" panose="02020603050405020304" pitchFamily="18" charset="0"/>
                <a:cs typeface="Times New Roman" panose="02020603050405020304" pitchFamily="18" charset="0"/>
              </a:rPr>
              <a:t> services from </a:t>
            </a:r>
            <a:r>
              <a:rPr lang="en-US" altLang="zh-CN" sz="1600" b="1">
                <a:latin typeface="Times New Roman" panose="02020603050405020304" pitchFamily="18" charset="0"/>
                <a:cs typeface="Times New Roman" panose="02020603050405020304" pitchFamily="18" charset="0"/>
              </a:rPr>
              <a:t>normal</a:t>
            </a:r>
            <a:r>
              <a:rPr lang="en-US" altLang="zh-CN" sz="1600">
                <a:latin typeface="Times New Roman" panose="02020603050405020304" pitchFamily="18" charset="0"/>
                <a:cs typeface="Times New Roman" panose="02020603050405020304" pitchFamily="18" charset="0"/>
              </a:rPr>
              <a:t> ones, reducing the overhead for </a:t>
            </a:r>
            <a:r>
              <a:rPr lang="en-US" altLang="zh-CN" sz="1600" i="1">
                <a:latin typeface="Times New Roman" panose="02020603050405020304" pitchFamily="18" charset="0"/>
                <a:cs typeface="Times New Roman" panose="02020603050405020304" pitchFamily="18" charset="0"/>
              </a:rPr>
              <a:t>CausalRanker</a:t>
            </a:r>
            <a:r>
              <a:rPr lang="en-US" altLang="zh-CN" sz="1600">
                <a:latin typeface="Times New Roman" panose="02020603050405020304" pitchFamily="18" charset="0"/>
                <a:cs typeface="Times New Roman" panose="02020603050405020304" pitchFamily="18" charset="0"/>
              </a:rPr>
              <a:t> when conducting causal analysis.</a:t>
            </a:r>
            <a:endParaRPr lang="en-US" altLang="zh-CN"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B43988D-CEA8-8D8C-7DE1-1987EFD6DF96}"/>
                  </a:ext>
                </a:extLst>
              </p:cNvPr>
              <p:cNvSpPr txBox="1"/>
              <p:nvPr/>
            </p:nvSpPr>
            <p:spPr>
              <a:xfrm>
                <a:off x="813585" y="2013635"/>
                <a:ext cx="7427521" cy="1290225"/>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Use the Bayesian Information Criterion (BIC) to identify the optimal number of clusters. </a:t>
                </a:r>
              </a:p>
              <a:p>
                <a:pPr>
                  <a:lnSpc>
                    <a:spcPct val="120000"/>
                  </a:lnSpc>
                </a:pPr>
                <a:r>
                  <a:rPr lang="en-US" altLang="zh-CN" sz="1600">
                    <a:latin typeface="Times New Roman" panose="02020603050405020304" pitchFamily="18" charset="0"/>
                    <a:cs typeface="Times New Roman" panose="02020603050405020304" pitchFamily="18" charset="0"/>
                  </a:rPr>
                  <a:t>For each iteration,  </a:t>
                </a:r>
                <a:r>
                  <a:rPr lang="en-US" altLang="zh-CN" sz="1600" i="1">
                    <a:latin typeface="Times New Roman" panose="02020603050405020304" pitchFamily="18" charset="0"/>
                    <a:cs typeface="Times New Roman" panose="02020603050405020304" pitchFamily="18" charset="0"/>
                  </a:rPr>
                  <a:t>SymptomCluster</a:t>
                </a:r>
                <a:r>
                  <a:rPr lang="en-US" altLang="zh-CN" sz="1600">
                    <a:latin typeface="Times New Roman" panose="02020603050405020304" pitchFamily="18" charset="0"/>
                    <a:cs typeface="Times New Roman" panose="02020603050405020304" pitchFamily="18" charset="0"/>
                  </a:rPr>
                  <a:t> runs GMM on the set of severity vectors </a:t>
                </a:r>
                <a14:m>
                  <m:oMath xmlns:m="http://schemas.openxmlformats.org/officeDocument/2006/math">
                    <m:r>
                      <m:rPr>
                        <m:lit/>
                      </m:rPr>
                      <a:rPr lang="en-US" altLang="zh-CN" sz="1600" b="0" i="1" smtClean="0">
                        <a:latin typeface="Cambria Math" panose="02040503050406030204" pitchFamily="18" charset="0"/>
                        <a:cs typeface="Times New Roman" panose="02020603050405020304" pitchFamily="18" charset="0"/>
                      </a:rPr>
                      <m:t>{</m:t>
                    </m:r>
                    <m:d>
                      <m:dPr>
                        <m:begChr m:val="["/>
                        <m:endChr m:val="]"/>
                        <m:ctrlPr>
                          <a:rPr lang="en-US" altLang="zh-CN" sz="1600" b="0" i="1" smtClean="0">
                            <a:latin typeface="Cambria Math" panose="02040503050406030204" pitchFamily="18" charset="0"/>
                            <a:cs typeface="Times New Roman" panose="02020603050405020304" pitchFamily="18" charset="0"/>
                          </a:rPr>
                        </m:ctrlPr>
                      </m:dPr>
                      <m:e>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𝑚</m:t>
                            </m:r>
                          </m:sub>
                          <m:sup>
                            <m:r>
                              <a:rPr lang="en-US" altLang="zh-CN" sz="1600" b="0" i="1" smtClean="0">
                                <a:latin typeface="Cambria Math" panose="02040503050406030204" pitchFamily="18" charset="0"/>
                                <a:cs typeface="Times New Roman" panose="02020603050405020304" pitchFamily="18" charset="0"/>
                              </a:rPr>
                              <m:t>𝑖</m:t>
                            </m:r>
                          </m:sup>
                        </m:sSubSup>
                        <m:r>
                          <a:rPr lang="en-US" altLang="zh-CN" sz="1600" b="0" i="1" smtClean="0">
                            <a:latin typeface="Cambria Math" panose="02040503050406030204" pitchFamily="18" charset="0"/>
                            <a:cs typeface="Times New Roman" panose="02020603050405020304" pitchFamily="18" charset="0"/>
                          </a:rPr>
                          <m:t>,</m:t>
                        </m:r>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𝑙</m:t>
                            </m:r>
                          </m:sub>
                          <m:sup>
                            <m:r>
                              <a:rPr lang="en-US" altLang="zh-CN" sz="1600" b="0" i="1" smtClean="0">
                                <a:latin typeface="Cambria Math" panose="02040503050406030204" pitchFamily="18" charset="0"/>
                                <a:cs typeface="Times New Roman" panose="02020603050405020304" pitchFamily="18" charset="0"/>
                              </a:rPr>
                              <m:t>𝑖</m:t>
                            </m:r>
                          </m:sup>
                        </m:sSubSup>
                        <m:r>
                          <a:rPr lang="en-US" altLang="zh-CN" sz="1600" b="0" i="1" smtClean="0">
                            <a:latin typeface="Cambria Math" panose="02040503050406030204" pitchFamily="18" charset="0"/>
                            <a:cs typeface="Times New Roman" panose="02020603050405020304" pitchFamily="18" charset="0"/>
                          </a:rPr>
                          <m:t>,</m:t>
                        </m:r>
                        <m:sSubSup>
                          <m:sSubSupPr>
                            <m:ctrlPr>
                              <a:rPr lang="en-US" altLang="zh-CN" sz="1600" b="0" i="1" smtClean="0">
                                <a:latin typeface="Cambria Math" panose="02040503050406030204" pitchFamily="18" charset="0"/>
                                <a:cs typeface="Times New Roman" panose="02020603050405020304" pitchFamily="18" charset="0"/>
                              </a:rPr>
                            </m:ctrlPr>
                          </m:sSubSupPr>
                          <m:e>
                            <m:r>
                              <a:rPr lang="en-US" altLang="zh-CN" sz="1600" b="0" i="1" smtClean="0">
                                <a:latin typeface="Cambria Math" panose="02040503050406030204" pitchFamily="18" charset="0"/>
                                <a:cs typeface="Times New Roman" panose="02020603050405020304" pitchFamily="18" charset="0"/>
                              </a:rPr>
                              <m:t>𝜌</m:t>
                            </m:r>
                          </m:e>
                          <m:sub>
                            <m:r>
                              <a:rPr lang="en-US" altLang="zh-CN" sz="1600" b="0" i="1" smtClean="0">
                                <a:latin typeface="Cambria Math" panose="02040503050406030204" pitchFamily="18" charset="0"/>
                                <a:cs typeface="Times New Roman" panose="02020603050405020304" pitchFamily="18" charset="0"/>
                              </a:rPr>
                              <m:t>𝑡𝑐</m:t>
                            </m:r>
                          </m:sub>
                          <m:sup>
                            <m:r>
                              <a:rPr lang="en-US" altLang="zh-CN" sz="1600" b="0" i="1" smtClean="0">
                                <a:latin typeface="Cambria Math" panose="02040503050406030204" pitchFamily="18" charset="0"/>
                                <a:cs typeface="Times New Roman" panose="02020603050405020304" pitchFamily="18" charset="0"/>
                              </a:rPr>
                              <m:t>𝑖</m:t>
                            </m:r>
                          </m:sup>
                        </m:sSubSup>
                      </m:e>
                    </m:d>
                    <m:sSubSup>
                      <m:sSubSupPr>
                        <m:ctrlPr>
                          <a:rPr lang="en-US" altLang="zh-CN" sz="1600" b="0" i="1" smtClean="0">
                            <a:latin typeface="Cambria Math" panose="02040503050406030204" pitchFamily="18" charset="0"/>
                            <a:cs typeface="Times New Roman" panose="02020603050405020304" pitchFamily="18" charset="0"/>
                          </a:rPr>
                        </m:ctrlPr>
                      </m:sSubSupPr>
                      <m:e>
                        <m:r>
                          <m:rPr>
                            <m:lit/>
                          </m:rPr>
                          <a:rPr lang="en-US" altLang="zh-CN" sz="1600" b="0" i="1" smtClean="0">
                            <a:latin typeface="Cambria Math" panose="02040503050406030204" pitchFamily="18" charset="0"/>
                            <a:cs typeface="Times New Roman" panose="02020603050405020304" pitchFamily="18" charset="0"/>
                          </a:rPr>
                          <m:t>}</m:t>
                        </m:r>
                      </m:e>
                      <m:sub>
                        <m:r>
                          <a:rPr lang="en-US" altLang="zh-CN" sz="1600" b="0" i="1" smtClean="0">
                            <a:latin typeface="Cambria Math" panose="02040503050406030204" pitchFamily="18" charset="0"/>
                            <a:cs typeface="Times New Roman" panose="02020603050405020304" pitchFamily="18" charset="0"/>
                          </a:rPr>
                          <m:t>𝑖</m:t>
                        </m:r>
                        <m:r>
                          <a:rPr lang="en-US" altLang="zh-CN" sz="1600" b="0" i="1" smtClean="0">
                            <a:latin typeface="Cambria Math" panose="02040503050406030204" pitchFamily="18" charset="0"/>
                            <a:cs typeface="Times New Roman" panose="02020603050405020304" pitchFamily="18" charset="0"/>
                          </a:rPr>
                          <m:t>=1</m:t>
                        </m:r>
                      </m:sub>
                      <m:sup>
                        <m:r>
                          <a:rPr lang="en-US" altLang="zh-CN" sz="1600" b="0" i="1" smtClean="0">
                            <a:latin typeface="Cambria Math" panose="02040503050406030204" pitchFamily="18" charset="0"/>
                            <a:cs typeface="Times New Roman" panose="02020603050405020304" pitchFamily="18" charset="0"/>
                          </a:rPr>
                          <m:t>𝑁</m:t>
                        </m:r>
                      </m:sup>
                    </m:sSubSup>
                  </m:oMath>
                </a14:m>
                <a:r>
                  <a:rPr lang="en-US" altLang="zh-CN" sz="1600">
                    <a:latin typeface="Times New Roman" panose="02020603050405020304" pitchFamily="18" charset="0"/>
                    <a:cs typeface="Times New Roman" panose="02020603050405020304" pitchFamily="18" charset="0"/>
                  </a:rPr>
                  <a:t> and calculates the corresponding BIC score. The optimal number of clusters is chosen as  the number that yields the lowest BIC score.</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FB43988D-CEA8-8D8C-7DE1-1987EFD6DF96}"/>
                  </a:ext>
                </a:extLst>
              </p:cNvPr>
              <p:cNvSpPr txBox="1">
                <a:spLocks noRot="1" noChangeAspect="1" noMove="1" noResize="1" noEditPoints="1" noAdjustHandles="1" noChangeArrowheads="1" noChangeShapeType="1" noTextEdit="1"/>
              </p:cNvSpPr>
              <p:nvPr/>
            </p:nvSpPr>
            <p:spPr>
              <a:xfrm>
                <a:off x="813585" y="2013635"/>
                <a:ext cx="7427521" cy="1290225"/>
              </a:xfrm>
              <a:prstGeom prst="rect">
                <a:avLst/>
              </a:prstGeom>
              <a:blipFill>
                <a:blip r:embed="rId3"/>
                <a:stretch>
                  <a:fillRect l="-410" r="-1066" b="-5189"/>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5A629614-5B8F-7DEB-D1DC-04672D3B4676}"/>
              </a:ext>
            </a:extLst>
          </p:cNvPr>
          <p:cNvSpPr txBox="1"/>
          <p:nvPr/>
        </p:nvSpPr>
        <p:spPr>
          <a:xfrm>
            <a:off x="813585" y="3536379"/>
            <a:ext cx="7427521" cy="1248419"/>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For each cluster, </a:t>
            </a:r>
            <a:r>
              <a:rPr lang="en-US" altLang="zh-CN" sz="1600" i="1" dirty="0" err="1">
                <a:latin typeface="Times New Roman" panose="02020603050405020304" pitchFamily="18" charset="0"/>
                <a:cs typeface="Times New Roman" panose="02020603050405020304" pitchFamily="18" charset="0"/>
              </a:rPr>
              <a:t>SymptomCluster</a:t>
            </a:r>
            <a:r>
              <a:rPr lang="en-US" altLang="zh-CN" sz="1600" dirty="0">
                <a:latin typeface="Times New Roman" panose="02020603050405020304" pitchFamily="18" charset="0"/>
                <a:cs typeface="Times New Roman" panose="02020603050405020304" pitchFamily="18" charset="0"/>
              </a:rPr>
              <a:t> measures the cluster severity score as the mean severity score of all services within that cluster. Finally, </a:t>
            </a:r>
            <a:r>
              <a:rPr lang="en-US" altLang="zh-CN" sz="1600" i="1" dirty="0" err="1">
                <a:latin typeface="Times New Roman" panose="02020603050405020304" pitchFamily="18" charset="0"/>
                <a:cs typeface="Times New Roman" panose="02020603050405020304" pitchFamily="18" charset="0"/>
              </a:rPr>
              <a:t>SymptomCluster</a:t>
            </a:r>
            <a:r>
              <a:rPr lang="en-US" altLang="zh-CN" sz="1600" dirty="0">
                <a:latin typeface="Times New Roman" panose="02020603050405020304" pitchFamily="18" charset="0"/>
                <a:cs typeface="Times New Roman" panose="02020603050405020304" pitchFamily="18" charset="0"/>
              </a:rPr>
              <a:t> generates a ranked list of clusters, where the highest-ranked clusters are the most likely to contain the root cause.</a:t>
            </a:r>
          </a:p>
        </p:txBody>
      </p:sp>
    </p:spTree>
    <p:extLst>
      <p:ext uri="{BB962C8B-B14F-4D97-AF65-F5344CB8AC3E}">
        <p14:creationId xmlns:p14="http://schemas.microsoft.com/office/powerpoint/2010/main" val="423231966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0C25-B35F-24BC-B23B-6F6B93F88FE8}"/>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5CE0143C-6609-332F-663A-381A4B39EB1C}"/>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E5995FEC-16CB-7B4A-0307-29015640A0BB}"/>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6668E51C-006F-99D5-8F96-04B8C4A0EB5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9AB2168-CF79-AD3D-C840-4D74AAB00797}"/>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54509AED-0766-8626-4E34-59F68446DA1A}"/>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latin typeface="Times New Roman" panose="02020603050405020304" pitchFamily="18" charset="0"/>
                <a:cs typeface="Times New Roman" panose="02020603050405020304" pitchFamily="18" charset="0"/>
              </a:rPr>
              <a:t>CausalRanker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C18466ED-6E07-E8CE-7BE1-9B812BD88225}"/>
              </a:ext>
            </a:extLst>
          </p:cNvPr>
          <p:cNvSpPr txBox="1"/>
          <p:nvPr/>
        </p:nvSpPr>
        <p:spPr>
          <a:xfrm>
            <a:off x="813585" y="799929"/>
            <a:ext cx="7013971" cy="657488"/>
          </a:xfrm>
          <a:prstGeom prst="rect">
            <a:avLst/>
          </a:prstGeom>
          <a:noFill/>
        </p:spPr>
        <p:txBody>
          <a:bodyPr wrap="square">
            <a:spAutoFit/>
          </a:bodyPr>
          <a:lstStyle/>
          <a:p>
            <a:pPr>
              <a:lnSpc>
                <a:spcPct val="120000"/>
              </a:lnSpc>
              <a:spcBef>
                <a:spcPts val="500"/>
              </a:spcBef>
            </a:pPr>
            <a:r>
              <a:rPr lang="en-US" altLang="zh-CN" sz="1600" i="1">
                <a:latin typeface="Times New Roman" panose="02020603050405020304" pitchFamily="18" charset="0"/>
                <a:cs typeface="Times New Roman" panose="02020603050405020304" pitchFamily="18" charset="0"/>
              </a:rPr>
              <a:t>CausalRanker</a:t>
            </a:r>
            <a:r>
              <a:rPr lang="en-US" altLang="zh-CN" sz="1600">
                <a:latin typeface="Times New Roman" panose="02020603050405020304" pitchFamily="18" charset="0"/>
                <a:cs typeface="Times New Roman" panose="02020603050405020304" pitchFamily="18" charset="0"/>
              </a:rPr>
              <a:t> is designed to identify the root causes within each severity group obtained from the previous step. </a:t>
            </a:r>
            <a:endParaRPr lang="en-US" altLang="zh-CN" sz="16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E4E27127-FCA5-EADD-A66C-E5396B6F2BEC}"/>
              </a:ext>
            </a:extLst>
          </p:cNvPr>
          <p:cNvSpPr txBox="1"/>
          <p:nvPr/>
        </p:nvSpPr>
        <p:spPr>
          <a:xfrm>
            <a:off x="813585" y="1729220"/>
            <a:ext cx="7013971" cy="1312539"/>
          </a:xfrm>
          <a:prstGeom prst="rect">
            <a:avLst/>
          </a:prstGeom>
          <a:noFill/>
        </p:spPr>
        <p:txBody>
          <a:bodyPr wrap="square">
            <a:spAutoFit/>
          </a:bodyPr>
          <a:lstStyle/>
          <a:p>
            <a:pPr>
              <a:lnSpc>
                <a:spcPct val="120000"/>
              </a:lnSpc>
              <a:spcBef>
                <a:spcPts val="500"/>
              </a:spcBef>
            </a:pPr>
            <a:r>
              <a:rPr lang="en-US" altLang="zh-CN" sz="1600">
                <a:latin typeface="Times New Roman" panose="02020603050405020304" pitchFamily="18" charset="0"/>
                <a:cs typeface="Times New Roman" panose="02020603050405020304" pitchFamily="18" charset="0"/>
              </a:rPr>
              <a:t>Our </a:t>
            </a:r>
            <a:r>
              <a:rPr lang="en-US" altLang="zh-CN" sz="1600" i="1">
                <a:latin typeface="Times New Roman" panose="02020603050405020304" pitchFamily="18" charset="0"/>
                <a:cs typeface="Times New Roman" panose="02020603050405020304" pitchFamily="18" charset="0"/>
              </a:rPr>
              <a:t>CausalRanker</a:t>
            </a:r>
            <a:r>
              <a:rPr lang="en-US" altLang="zh-CN" sz="1600">
                <a:latin typeface="Times New Roman" panose="02020603050405020304" pitchFamily="18" charset="0"/>
                <a:cs typeface="Times New Roman" panose="02020603050405020304" pitchFamily="18" charset="0"/>
              </a:rPr>
              <a:t> ranks services within each cluster via divide-and-conquer causal inference using multi-source time series data.</a:t>
            </a:r>
          </a:p>
          <a:p>
            <a:pPr>
              <a:lnSpc>
                <a:spcPct val="120000"/>
              </a:lnSpc>
              <a:spcBef>
                <a:spcPts val="500"/>
              </a:spcBef>
            </a:pPr>
            <a:r>
              <a:rPr lang="en-US" altLang="zh-CN" sz="1600">
                <a:latin typeface="Times New Roman" panose="02020603050405020304" pitchFamily="18" charset="0"/>
                <a:cs typeface="Times New Roman" panose="02020603050405020304" pitchFamily="18" charset="0"/>
              </a:rPr>
              <a:t>A causal graph is a directed acyclic graph(DAG) where nodes represent time series and directed edges represent causal relationships.</a:t>
            </a:r>
            <a:endParaRPr lang="en-US" altLang="zh-CN" sz="16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706C88A1-5A8C-6148-5A84-82F976B5583C}"/>
              </a:ext>
            </a:extLst>
          </p:cNvPr>
          <p:cNvSpPr txBox="1"/>
          <p:nvPr/>
        </p:nvSpPr>
        <p:spPr>
          <a:xfrm>
            <a:off x="813585" y="3537900"/>
            <a:ext cx="7013971" cy="1248419"/>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sz="1600">
                <a:latin typeface="Times New Roman" panose="02020603050405020304" pitchFamily="18" charset="0"/>
                <a:cs typeface="Times New Roman" panose="02020603050405020304" pitchFamily="18" charset="0"/>
              </a:rPr>
              <a:t>CausalRanker randomly divides the time series into smaller blocks. </a:t>
            </a:r>
          </a:p>
          <a:p>
            <a:pPr marL="285750" indent="-285750">
              <a:lnSpc>
                <a:spcPct val="120000"/>
              </a:lnSpc>
              <a:buFont typeface="Arial" panose="020B0604020202020204" pitchFamily="34" charset="0"/>
              <a:buChar char="•"/>
            </a:pPr>
            <a:r>
              <a:rPr lang="en-US" altLang="zh-CN" sz="1600">
                <a:latin typeface="Times New Roman" panose="02020603050405020304" pitchFamily="18" charset="0"/>
                <a:cs typeface="Times New Roman" panose="02020603050405020304" pitchFamily="18" charset="0"/>
              </a:rPr>
              <a:t>It applies the Ψ-PC to construct causal graphs and identify root causes within each chunk. </a:t>
            </a:r>
          </a:p>
          <a:p>
            <a:pPr marL="285750" indent="-285750">
              <a:lnSpc>
                <a:spcPct val="120000"/>
              </a:lnSpc>
              <a:buFont typeface="Arial" panose="020B0604020202020204" pitchFamily="34" charset="0"/>
              <a:buChar char="•"/>
            </a:pPr>
            <a:r>
              <a:rPr lang="en-US" altLang="zh-CN" sz="1600">
                <a:latin typeface="Times New Roman" panose="02020603050405020304" pitchFamily="18" charset="0"/>
                <a:cs typeface="Times New Roman" panose="02020603050405020304" pitchFamily="18" charset="0"/>
              </a:rPr>
              <a:t>The root causes are ranked based on their independence test scores. </a:t>
            </a:r>
          </a:p>
        </p:txBody>
      </p:sp>
    </p:spTree>
    <p:extLst>
      <p:ext uri="{BB962C8B-B14F-4D97-AF65-F5344CB8AC3E}">
        <p14:creationId xmlns:p14="http://schemas.microsoft.com/office/powerpoint/2010/main" val="35457306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78D27-A8E8-5811-0F3B-A629DE4475DD}"/>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2EB94CD5-1AA3-0DE2-0EE1-781E67593361}"/>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B19DC61F-88AD-B63E-6F6C-2078732EFCC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292A1358-D766-B537-4FAA-3F0208C32EC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499871C8-8C1C-89FC-BB8F-A4456B00D0C6}"/>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C7B45584-14A2-B214-1F65-96F055318C82}"/>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latin typeface="Times New Roman" panose="02020603050405020304" pitchFamily="18" charset="0"/>
                <a:cs typeface="Times New Roman" panose="02020603050405020304" pitchFamily="18" charset="0"/>
              </a:rPr>
              <a:t>CausalRanker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文本框 8">
            <a:extLst>
              <a:ext uri="{FF2B5EF4-FFF2-40B4-BE49-F238E27FC236}">
                <a16:creationId xmlns:a16="http://schemas.microsoft.com/office/drawing/2014/main" id="{851F9710-2EA6-8484-84BA-E28400AAC52C}"/>
              </a:ext>
            </a:extLst>
          </p:cNvPr>
          <p:cNvSpPr txBox="1"/>
          <p:nvPr/>
        </p:nvSpPr>
        <p:spPr>
          <a:xfrm>
            <a:off x="813585" y="878444"/>
            <a:ext cx="7013971" cy="657488"/>
          </a:xfrm>
          <a:prstGeom prst="rect">
            <a:avLst/>
          </a:prstGeom>
          <a:noFill/>
        </p:spPr>
        <p:txBody>
          <a:bodyPr wrap="square">
            <a:spAutoFit/>
          </a:bodyPr>
          <a:lstStyle/>
          <a:p>
            <a:pPr>
              <a:lnSpc>
                <a:spcPct val="120000"/>
              </a:lnSpc>
              <a:spcBef>
                <a:spcPts val="500"/>
              </a:spcBef>
            </a:pPr>
            <a:r>
              <a:rPr lang="en-US" altLang="zh-CN" sz="1600">
                <a:latin typeface="Times New Roman" panose="02020603050405020304" pitchFamily="18" charset="0"/>
                <a:cs typeface="Times New Roman" panose="02020603050405020304" pitchFamily="18" charset="0"/>
              </a:rPr>
              <a:t>Lower independence test scores indicate stronger causal influence, suggesting higher likelihood of being the root cause.</a:t>
            </a:r>
            <a:endParaRPr lang="en-US" altLang="zh-CN" sz="16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A0033AA6-DB39-6412-B625-913676357AA3}"/>
              </a:ext>
            </a:extLst>
          </p:cNvPr>
          <p:cNvPicPr>
            <a:picLocks noChangeAspect="1"/>
          </p:cNvPicPr>
          <p:nvPr/>
        </p:nvPicPr>
        <p:blipFill>
          <a:blip r:embed="rId3"/>
          <a:stretch>
            <a:fillRect/>
          </a:stretch>
        </p:blipFill>
        <p:spPr>
          <a:xfrm>
            <a:off x="5002079" y="2308811"/>
            <a:ext cx="2661170" cy="2484739"/>
          </a:xfrm>
          <a:prstGeom prst="rect">
            <a:avLst/>
          </a:prstGeom>
        </p:spPr>
      </p:pic>
      <p:pic>
        <p:nvPicPr>
          <p:cNvPr id="7" name="图片 6">
            <a:extLst>
              <a:ext uri="{FF2B5EF4-FFF2-40B4-BE49-F238E27FC236}">
                <a16:creationId xmlns:a16="http://schemas.microsoft.com/office/drawing/2014/main" id="{F3CFC334-E40B-80AD-C52D-C6148A7DF8DD}"/>
              </a:ext>
            </a:extLst>
          </p:cNvPr>
          <p:cNvPicPr>
            <a:picLocks noChangeAspect="1"/>
          </p:cNvPicPr>
          <p:nvPr/>
        </p:nvPicPr>
        <p:blipFill>
          <a:blip r:embed="rId4"/>
          <a:stretch>
            <a:fillRect/>
          </a:stretch>
        </p:blipFill>
        <p:spPr>
          <a:xfrm>
            <a:off x="813585" y="2485961"/>
            <a:ext cx="2860880" cy="2314090"/>
          </a:xfrm>
          <a:prstGeom prst="rect">
            <a:avLst/>
          </a:prstGeom>
        </p:spPr>
      </p:pic>
    </p:spTree>
    <p:extLst>
      <p:ext uri="{BB962C8B-B14F-4D97-AF65-F5344CB8AC3E}">
        <p14:creationId xmlns:p14="http://schemas.microsoft.com/office/powerpoint/2010/main" val="348996786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F4E44-0777-5B26-F7E8-696CEAEB3AB5}"/>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9948FF0E-2A35-C5F1-93EF-33062E3A522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DA607823-DEE6-70C4-AE61-2B8396209B9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844A2909-0E10-94ED-3877-322EF7A351B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9384E6AC-D4A9-0849-111F-43F34B8048A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C422B888-8E5E-955E-617D-ABFAF2FD0812}"/>
              </a:ext>
            </a:extLst>
          </p:cNvPr>
          <p:cNvSpPr txBox="1"/>
          <p:nvPr/>
        </p:nvSpPr>
        <p:spPr bwMode="auto">
          <a:xfrm>
            <a:off x="813585" y="287917"/>
            <a:ext cx="5037145"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latin typeface="Times New Roman" panose="02020603050405020304" pitchFamily="18" charset="0"/>
                <a:cs typeface="Times New Roman" panose="02020603050405020304" pitchFamily="18" charset="0"/>
              </a:rPr>
              <a:t>RankAggregation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A0029C98-9E06-D738-0429-0BA9501DB6DF}"/>
              </a:ext>
            </a:extLst>
          </p:cNvPr>
          <p:cNvSpPr txBox="1"/>
          <p:nvPr/>
        </p:nvSpPr>
        <p:spPr>
          <a:xfrm>
            <a:off x="752475" y="759551"/>
            <a:ext cx="7427521" cy="1248419"/>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First prioritize the </a:t>
            </a:r>
            <a:r>
              <a:rPr lang="en-US" altLang="zh-CN" sz="1600" dirty="0" err="1">
                <a:latin typeface="Times New Roman" panose="02020603050405020304" pitchFamily="18" charset="0"/>
                <a:cs typeface="Times New Roman" panose="02020603050405020304" pitchFamily="18" charset="0"/>
              </a:rPr>
              <a:t>clusterlevel</a:t>
            </a:r>
            <a:r>
              <a:rPr lang="en-US" altLang="zh-CN" sz="1600" dirty="0">
                <a:latin typeface="Times New Roman" panose="02020603050405020304" pitchFamily="18" charset="0"/>
                <a:cs typeface="Times New Roman" panose="02020603050405020304" pitchFamily="18" charset="0"/>
              </a:rPr>
              <a:t> ranking provided by </a:t>
            </a:r>
            <a:r>
              <a:rPr lang="en-US" altLang="zh-CN" sz="1600" i="1" dirty="0" err="1">
                <a:latin typeface="Times New Roman" panose="02020603050405020304" pitchFamily="18" charset="0"/>
                <a:cs typeface="Times New Roman" panose="02020603050405020304" pitchFamily="18" charset="0"/>
              </a:rPr>
              <a:t>SymptomCluster</a:t>
            </a:r>
            <a:r>
              <a:rPr lang="en-US" altLang="zh-CN" sz="1600" dirty="0">
                <a:latin typeface="Times New Roman" panose="02020603050405020304" pitchFamily="18" charset="0"/>
                <a:cs typeface="Times New Roman" panose="02020603050405020304" pitchFamily="18" charset="0"/>
              </a:rPr>
              <a:t>. Second, within each cluster, we follow the ranking provided by </a:t>
            </a:r>
            <a:r>
              <a:rPr lang="en-US" altLang="zh-CN" sz="1600" i="1" dirty="0" err="1">
                <a:latin typeface="Times New Roman" panose="02020603050405020304" pitchFamily="18" charset="0"/>
                <a:cs typeface="Times New Roman" panose="02020603050405020304" pitchFamily="18" charset="0"/>
              </a:rPr>
              <a:t>CausalRanker</a:t>
            </a:r>
            <a:r>
              <a:rPr lang="en-US" altLang="zh-CN" sz="1600" dirty="0">
                <a:latin typeface="Times New Roman" panose="02020603050405020304" pitchFamily="18" charset="0"/>
                <a:cs typeface="Times New Roman" panose="02020603050405020304" pitchFamily="18" charset="0"/>
              </a:rPr>
              <a:t>, meaning that if Service A is ranked higher than Service B within a cluster,  then Service A will also be ranked higher than Service B in the final aggregated list.</a:t>
            </a:r>
          </a:p>
        </p:txBody>
      </p:sp>
      <p:pic>
        <p:nvPicPr>
          <p:cNvPr id="6" name="图片 5">
            <a:extLst>
              <a:ext uri="{FF2B5EF4-FFF2-40B4-BE49-F238E27FC236}">
                <a16:creationId xmlns:a16="http://schemas.microsoft.com/office/drawing/2014/main" id="{B67DB037-36F1-AC01-340C-625A0861355A}"/>
              </a:ext>
            </a:extLst>
          </p:cNvPr>
          <p:cNvPicPr>
            <a:picLocks noChangeAspect="1"/>
          </p:cNvPicPr>
          <p:nvPr/>
        </p:nvPicPr>
        <p:blipFill>
          <a:blip r:embed="rId3"/>
          <a:stretch>
            <a:fillRect/>
          </a:stretch>
        </p:blipFill>
        <p:spPr>
          <a:xfrm>
            <a:off x="1232497" y="2736867"/>
            <a:ext cx="6467475" cy="2387398"/>
          </a:xfrm>
          <a:prstGeom prst="rect">
            <a:avLst/>
          </a:prstGeom>
        </p:spPr>
      </p:pic>
      <p:sp>
        <p:nvSpPr>
          <p:cNvPr id="9" name="文本框 8">
            <a:extLst>
              <a:ext uri="{FF2B5EF4-FFF2-40B4-BE49-F238E27FC236}">
                <a16:creationId xmlns:a16="http://schemas.microsoft.com/office/drawing/2014/main" id="{694793DD-11B6-B5A3-C4F4-B5B1C6EE3D1F}"/>
              </a:ext>
            </a:extLst>
          </p:cNvPr>
          <p:cNvSpPr txBox="1"/>
          <p:nvPr/>
        </p:nvSpPr>
        <p:spPr>
          <a:xfrm>
            <a:off x="752473" y="2072235"/>
            <a:ext cx="7191377"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We apply </a:t>
            </a:r>
            <a:r>
              <a:rPr lang="en-US" altLang="zh-CN" sz="1600" dirty="0" err="1">
                <a:latin typeface="Times New Roman" panose="02020603050405020304" pitchFamily="18" charset="0"/>
                <a:cs typeface="Times New Roman" panose="02020603050405020304" pitchFamily="18" charset="0"/>
              </a:rPr>
              <a:t>CausalRanker</a:t>
            </a:r>
            <a:r>
              <a:rPr lang="en-US" altLang="zh-CN" sz="1600" dirty="0">
                <a:latin typeface="Times New Roman" panose="02020603050405020304" pitchFamily="18" charset="0"/>
                <a:cs typeface="Times New Roman" panose="02020603050405020304" pitchFamily="18" charset="0"/>
              </a:rPr>
              <a:t> to all clusters, not just the top severity cluster, and aggregate the results through this Rank Aggregation step.</a:t>
            </a:r>
          </a:p>
        </p:txBody>
      </p:sp>
    </p:spTree>
    <p:extLst>
      <p:ext uri="{BB962C8B-B14F-4D97-AF65-F5344CB8AC3E}">
        <p14:creationId xmlns:p14="http://schemas.microsoft.com/office/powerpoint/2010/main" val="341003120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404416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FineGrainer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68ECD622-FB9B-F557-A9E7-C76B3C31FF55}"/>
              </a:ext>
            </a:extLst>
          </p:cNvPr>
          <p:cNvSpPr txBox="1"/>
          <p:nvPr/>
        </p:nvSpPr>
        <p:spPr>
          <a:xfrm>
            <a:off x="813586" y="802778"/>
            <a:ext cx="6914902" cy="654988"/>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After identifying the coarse-grained root cause services, we propose </a:t>
            </a:r>
            <a:r>
              <a:rPr lang="en-US" altLang="zh-CN" sz="1600" i="1">
                <a:latin typeface="Times New Roman" panose="02020603050405020304" pitchFamily="18" charset="0"/>
                <a:cs typeface="Times New Roman" panose="02020603050405020304" pitchFamily="18" charset="0"/>
              </a:rPr>
              <a:t>FineGrainer</a:t>
            </a:r>
            <a:r>
              <a:rPr lang="en-US" altLang="zh-CN" sz="1600">
                <a:latin typeface="Times New Roman" panose="02020603050405020304" pitchFamily="18" charset="0"/>
                <a:cs typeface="Times New Roman" panose="02020603050405020304" pitchFamily="18" charset="0"/>
              </a:rPr>
              <a:t> to determine fine-grained root cause indicators.</a:t>
            </a:r>
            <a:endParaRPr lang="en-US" altLang="zh-CN"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30B2AF69-D736-489E-4053-EE82B1B84704}"/>
              </a:ext>
            </a:extLst>
          </p:cNvPr>
          <p:cNvSpPr txBox="1"/>
          <p:nvPr/>
        </p:nvSpPr>
        <p:spPr>
          <a:xfrm>
            <a:off x="813586" y="1569232"/>
            <a:ext cx="6914902" cy="952953"/>
          </a:xfrm>
          <a:prstGeom prst="rect">
            <a:avLst/>
          </a:prstGeom>
          <a:noFill/>
        </p:spPr>
        <p:txBody>
          <a:bodyPr wrap="square">
            <a:spAutoFit/>
          </a:bodyPr>
          <a:lstStyle/>
          <a:p>
            <a:pPr>
              <a:lnSpc>
                <a:spcPct val="120000"/>
              </a:lnSpc>
            </a:pPr>
            <a:r>
              <a:rPr lang="en-US" altLang="zh-CN" sz="1600" i="1" dirty="0" err="1">
                <a:latin typeface="Times New Roman" panose="02020603050405020304" pitchFamily="18" charset="0"/>
                <a:cs typeface="Times New Roman" panose="02020603050405020304" pitchFamily="18" charset="0"/>
              </a:rPr>
              <a:t>FineGrainer</a:t>
            </a:r>
            <a:r>
              <a:rPr lang="en-US" altLang="zh-CN" sz="1600" dirty="0">
                <a:latin typeface="Times New Roman" panose="02020603050405020304" pitchFamily="18" charset="0"/>
                <a:cs typeface="Times New Roman" panose="02020603050405020304" pitchFamily="18" charset="0"/>
              </a:rPr>
              <a:t> performs hypothesis testing on time series indicators to detect significant distribution  changes after the anomaly detection time. Root cause indicators exhibit significant distributional changes after a failure occurs.</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3F31374-C984-C4BB-416E-66FD1445B02D}"/>
                  </a:ext>
                </a:extLst>
              </p:cNvPr>
              <p:cNvSpPr txBox="1"/>
              <p:nvPr/>
            </p:nvSpPr>
            <p:spPr>
              <a:xfrm>
                <a:off x="813586" y="4327113"/>
                <a:ext cx="6580195" cy="657488"/>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Higher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𝛾</m:t>
                    </m:r>
                  </m:oMath>
                </a14:m>
                <a:r>
                  <a:rPr lang="en-US" altLang="zh-CN" sz="1600">
                    <a:latin typeface="Times New Roman" panose="02020603050405020304" pitchFamily="18" charset="0"/>
                    <a:cs typeface="Times New Roman" panose="02020603050405020304" pitchFamily="18" charset="0"/>
                  </a:rPr>
                  <a:t> values provide stronger evidence against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i="1" smtClean="0">
                            <a:latin typeface="Cambria Math" panose="02040503050406030204" pitchFamily="18" charset="0"/>
                            <a:cs typeface="Times New Roman" panose="02020603050405020304" pitchFamily="18" charset="0"/>
                          </a:rPr>
                          <m:t>𝐻</m:t>
                        </m:r>
                      </m:e>
                      <m:sub>
                        <m:r>
                          <a:rPr lang="en-US" altLang="zh-CN" sz="1600" i="1" smtClean="0">
                            <a:latin typeface="Cambria Math" panose="02040503050406030204" pitchFamily="18" charset="0"/>
                            <a:cs typeface="Times New Roman" panose="02020603050405020304" pitchFamily="18" charset="0"/>
                          </a:rPr>
                          <m:t>0</m:t>
                        </m:r>
                      </m:sub>
                    </m:sSub>
                  </m:oMath>
                </a14:m>
                <a:r>
                  <a:rPr lang="en-US" altLang="zh-CN" sz="1600">
                    <a:latin typeface="Times New Roman" panose="02020603050405020304" pitchFamily="18" charset="0"/>
                    <a:cs typeface="Times New Roman" panose="02020603050405020304" pitchFamily="18" charset="0"/>
                  </a:rPr>
                  <a:t>, indicating greater likelihood that the indicator is the root cause.</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E3F31374-C984-C4BB-416E-66FD1445B02D}"/>
                  </a:ext>
                </a:extLst>
              </p:cNvPr>
              <p:cNvSpPr txBox="1">
                <a:spLocks noRot="1" noChangeAspect="1" noMove="1" noResize="1" noEditPoints="1" noAdjustHandles="1" noChangeArrowheads="1" noChangeShapeType="1" noTextEdit="1"/>
              </p:cNvSpPr>
              <p:nvPr/>
            </p:nvSpPr>
            <p:spPr>
              <a:xfrm>
                <a:off x="813586" y="4327113"/>
                <a:ext cx="6580195" cy="657488"/>
              </a:xfrm>
              <a:prstGeom prst="rect">
                <a:avLst/>
              </a:prstGeom>
              <a:blipFill>
                <a:blip r:embed="rId3"/>
                <a:stretch>
                  <a:fillRect l="-463"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1EADDF3-C0B4-3838-B1A9-2DF977EA3D75}"/>
                  </a:ext>
                </a:extLst>
              </p:cNvPr>
              <p:cNvSpPr txBox="1"/>
              <p:nvPr/>
            </p:nvSpPr>
            <p:spPr>
              <a:xfrm>
                <a:off x="813586" y="2652707"/>
                <a:ext cx="6730214" cy="1585690"/>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For the time series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𝑥</m:t>
                    </m:r>
                  </m:oMath>
                </a14:m>
                <a:r>
                  <a:rPr lang="en-US" altLang="zh-CN" sz="1600">
                    <a:latin typeface="Times New Roman" panose="02020603050405020304" pitchFamily="18" charset="0"/>
                    <a:cs typeface="Times New Roman" panose="02020603050405020304" pitchFamily="18" charset="0"/>
                  </a:rPr>
                  <a:t> of each indicator, </a:t>
                </a:r>
                <a:r>
                  <a:rPr lang="en-US" altLang="zh-CN" sz="1600" i="1">
                    <a:latin typeface="Times New Roman" panose="02020603050405020304" pitchFamily="18" charset="0"/>
                    <a:cs typeface="Times New Roman" panose="02020603050405020304" pitchFamily="18" charset="0"/>
                  </a:rPr>
                  <a:t>FineGrainer</a:t>
                </a:r>
                <a:r>
                  <a:rPr lang="en-US" altLang="zh-CN" sz="1600">
                    <a:latin typeface="Times New Roman" panose="02020603050405020304" pitchFamily="18" charset="0"/>
                    <a:cs typeface="Times New Roman" panose="02020603050405020304" pitchFamily="18" charset="0"/>
                  </a:rPr>
                  <a:t> learns the </a:t>
                </a:r>
                <a:r>
                  <a:rPr lang="en-US" altLang="zh-CN" sz="1600" b="1">
                    <a:latin typeface="Times New Roman" panose="02020603050405020304" pitchFamily="18" charset="0"/>
                    <a:cs typeface="Times New Roman" panose="02020603050405020304" pitchFamily="18" charset="0"/>
                  </a:rPr>
                  <a:t>median</a:t>
                </a:r>
                <a:r>
                  <a:rPr lang="en-US" altLang="zh-CN" sz="1600">
                    <a:latin typeface="Times New Roman" panose="02020603050405020304" pitchFamily="18" charset="0"/>
                    <a:cs typeface="Times New Roman" panose="02020603050405020304" pitchFamily="18" charset="0"/>
                  </a:rPr>
                  <a:t> and </a:t>
                </a:r>
                <a:r>
                  <a:rPr lang="en-US" altLang="zh-CN" sz="1600" b="1">
                    <a:latin typeface="Times New Roman" panose="02020603050405020304" pitchFamily="18" charset="0"/>
                    <a:cs typeface="Times New Roman" panose="02020603050405020304" pitchFamily="18" charset="0"/>
                  </a:rPr>
                  <a:t>interquartile range</a:t>
                </a:r>
                <a:r>
                  <a:rPr lang="en-US" altLang="zh-CN" sz="1600">
                    <a:latin typeface="Times New Roman" panose="02020603050405020304" pitchFamily="18" charset="0"/>
                    <a:cs typeface="Times New Roman" panose="02020603050405020304" pitchFamily="18" charset="0"/>
                  </a:rPr>
                  <a:t> of the time series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𝑥</m:t>
                    </m:r>
                  </m:oMath>
                </a14:m>
                <a:r>
                  <a:rPr lang="en-US" altLang="zh-CN" sz="1600">
                    <a:latin typeface="Times New Roman" panose="02020603050405020304" pitchFamily="18" charset="0"/>
                    <a:cs typeface="Times New Roman" panose="02020603050405020304" pitchFamily="18" charset="0"/>
                  </a:rPr>
                  <a:t> prior to the anomaly. </a:t>
                </a:r>
              </a:p>
              <a:p>
                <a:pPr>
                  <a:lnSpc>
                    <a:spcPct val="120000"/>
                  </a:lnSpc>
                </a:pPr>
                <a:r>
                  <a:rPr lang="en-US" altLang="zh-CN" sz="1600">
                    <a:latin typeface="Times New Roman" panose="02020603050405020304" pitchFamily="18" charset="0"/>
                    <a:cs typeface="Times New Roman" panose="02020603050405020304" pitchFamily="18" charset="0"/>
                  </a:rPr>
                  <a:t>It measures how significantly each time series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𝑥</m:t>
                    </m:r>
                  </m:oMath>
                </a14:m>
                <a:r>
                  <a:rPr lang="en-US" altLang="zh-CN" sz="1600">
                    <a:latin typeface="Times New Roman" panose="02020603050405020304" pitchFamily="18" charset="0"/>
                    <a:cs typeface="Times New Roman" panose="02020603050405020304" pitchFamily="18" charset="0"/>
                  </a:rPr>
                  <a:t> deviates from its expected central tendency during the failure period.</a:t>
                </a:r>
              </a:p>
              <a:p>
                <a:pPr>
                  <a:lnSpc>
                    <a:spcPct val="120000"/>
                  </a:lnSpc>
                </a:pP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b="0" i="0" smtClean="0">
                            <a:latin typeface="Cambria Math" panose="02040503050406030204" pitchFamily="18" charset="0"/>
                            <a:cs typeface="Times New Roman" panose="02020603050405020304" pitchFamily="18" charset="0"/>
                          </a:rPr>
                          <m:t>𝑎</m:t>
                        </m:r>
                      </m:e>
                      <m:sub>
                        <m:r>
                          <a:rPr lang="en-US" altLang="zh-CN" sz="1600" b="0" i="0" smtClean="0">
                            <a:latin typeface="Cambria Math" panose="02040503050406030204" pitchFamily="18" charset="0"/>
                            <a:cs typeface="Times New Roman" panose="02020603050405020304" pitchFamily="18" charset="0"/>
                          </a:rPr>
                          <m:t>𝑡</m:t>
                        </m:r>
                      </m:sub>
                    </m:sSub>
                    <m:r>
                      <a:rPr lang="en-US" altLang="zh-CN" sz="1600" i="1">
                        <a:latin typeface="Cambria Math" panose="02040503050406030204" pitchFamily="18" charset="0"/>
                        <a:cs typeface="Times New Roman" panose="02020603050405020304" pitchFamily="18" charset="0"/>
                      </a:rPr>
                      <m:t>=</m:t>
                    </m:r>
                    <m:d>
                      <m:dPr>
                        <m:begChr m:val="|"/>
                        <m:endChr m:val="|"/>
                        <m:ctrlPr>
                          <a:rPr lang="en-US" altLang="zh-CN" sz="1600" i="1">
                            <a:latin typeface="Cambria Math" panose="02040503050406030204" pitchFamily="18" charset="0"/>
                            <a:cs typeface="Times New Roman" panose="02020603050405020304" pitchFamily="18" charset="0"/>
                          </a:rPr>
                        </m:ctrlPr>
                      </m:dPr>
                      <m:e>
                        <m:sSub>
                          <m:sSubPr>
                            <m:ctrlPr>
                              <a:rPr lang="en-US" altLang="zh-CN" sz="1600" b="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𝑥</m:t>
                            </m:r>
                          </m:e>
                          <m:sub>
                            <m:r>
                              <a:rPr lang="en-US" altLang="zh-CN" sz="1600" b="0" i="1" smtClean="0">
                                <a:latin typeface="Cambria Math" panose="02040503050406030204" pitchFamily="18" charset="0"/>
                                <a:cs typeface="Times New Roman" panose="02020603050405020304" pitchFamily="18" charset="0"/>
                              </a:rPr>
                              <m:t>𝑡</m:t>
                            </m:r>
                          </m:sub>
                        </m:sSub>
                        <m:r>
                          <a:rPr lang="en-US" altLang="zh-CN" sz="1600" i="1">
                            <a:latin typeface="Cambria Math" panose="02040503050406030204" pitchFamily="18" charset="0"/>
                            <a:cs typeface="Times New Roman" panose="02020603050405020304" pitchFamily="18" charset="0"/>
                          </a:rPr>
                          <m:t>−</m:t>
                        </m:r>
                        <m:r>
                          <a:rPr lang="en-US" altLang="zh-CN" sz="1600" b="0" i="1" smtClean="0">
                            <a:latin typeface="Cambria Math" panose="02040503050406030204" pitchFamily="18" charset="0"/>
                            <a:cs typeface="Times New Roman" panose="02020603050405020304" pitchFamily="18" charset="0"/>
                          </a:rPr>
                          <m:t>𝑚𝑒𝑑</m:t>
                        </m:r>
                      </m:e>
                    </m:d>
                    <m:r>
                      <m:rPr>
                        <m:lit/>
                      </m:rPr>
                      <a:rPr lang="en-US" altLang="zh-CN" sz="1600" i="1">
                        <a:latin typeface="Cambria Math" panose="02040503050406030204" pitchFamily="18" charset="0"/>
                        <a:cs typeface="Times New Roman" panose="02020603050405020304" pitchFamily="18" charset="0"/>
                      </a:rPr>
                      <m:t>/</m:t>
                    </m:r>
                    <m:r>
                      <m:rPr>
                        <m:lit/>
                      </m:rPr>
                      <a:rPr lang="en-US" altLang="zh-CN" sz="1600" i="1" smtClean="0">
                        <a:latin typeface="Cambria Math" panose="02040503050406030204" pitchFamily="18" charset="0"/>
                        <a:cs typeface="Times New Roman" panose="02020603050405020304" pitchFamily="18" charset="0"/>
                      </a:rPr>
                      <m:t>𝐼𝑄</m:t>
                    </m:r>
                    <m:r>
                      <m:rPr>
                        <m:lit/>
                      </m:rPr>
                      <a:rPr lang="en-US" altLang="zh-CN" sz="1600" b="0" i="1" smtClean="0">
                        <a:latin typeface="Cambria Math" panose="02040503050406030204" pitchFamily="18" charset="0"/>
                        <a:cs typeface="Times New Roman" panose="02020603050405020304" pitchFamily="18" charset="0"/>
                      </a:rPr>
                      <m:t>𝑅</m:t>
                    </m:r>
                  </m:oMath>
                </a14:m>
                <a:r>
                  <a:rPr lang="zh-CN" altLang="en-US" sz="160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𝛾</m:t>
                    </m:r>
                    <m:r>
                      <a:rPr lang="en-US" altLang="zh-CN" sz="1600" i="1" smtClean="0">
                        <a:latin typeface="Cambria Math" panose="02040503050406030204" pitchFamily="18" charset="0"/>
                        <a:cs typeface="Times New Roman" panose="02020603050405020304" pitchFamily="18" charset="0"/>
                      </a:rPr>
                      <m:t>=</m:t>
                    </m:r>
                    <m:func>
                      <m:funcPr>
                        <m:ctrlPr>
                          <a:rPr lang="en-US" altLang="zh-CN" sz="1600" i="1">
                            <a:latin typeface="Cambria Math" panose="02040503050406030204" pitchFamily="18" charset="0"/>
                            <a:cs typeface="Times New Roman" panose="02020603050405020304" pitchFamily="18" charset="0"/>
                          </a:rPr>
                        </m:ctrlPr>
                      </m:funcPr>
                      <m:fName>
                        <m:limLow>
                          <m:limLowPr>
                            <m:ctrlPr>
                              <a:rPr lang="en-US" altLang="zh-CN" sz="1600" i="1">
                                <a:latin typeface="Cambria Math" panose="02040503050406030204" pitchFamily="18" charset="0"/>
                                <a:cs typeface="Times New Roman" panose="02020603050405020304" pitchFamily="18" charset="0"/>
                              </a:rPr>
                            </m:ctrlPr>
                          </m:limLowPr>
                          <m:e>
                            <m:r>
                              <m:rPr>
                                <m:sty m:val="p"/>
                              </m:rPr>
                              <a:rPr lang="en-US" altLang="zh-CN" sz="1600" i="0">
                                <a:latin typeface="Cambria Math" panose="02040503050406030204" pitchFamily="18" charset="0"/>
                                <a:cs typeface="Times New Roman" panose="02020603050405020304" pitchFamily="18" charset="0"/>
                              </a:rPr>
                              <m:t>max</m:t>
                            </m:r>
                          </m:e>
                          <m:lim>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𝑡</m:t>
                            </m:r>
                            <m:r>
                              <a:rPr lang="en-US" altLang="zh-CN" sz="1600" i="1">
                                <a:latin typeface="Cambria Math" panose="02040503050406030204" pitchFamily="18" charset="0"/>
                                <a:cs typeface="Times New Roman" panose="02020603050405020304" pitchFamily="18" charset="0"/>
                              </a:rPr>
                              <m:t>&lt;</m:t>
                            </m:r>
                            <m:sSub>
                              <m:sSubPr>
                                <m:ctrlPr>
                                  <a:rPr lang="en-US" altLang="zh-CN" sz="1600" i="1">
                                    <a:latin typeface="Cambria Math" panose="02040503050406030204" pitchFamily="18" charset="0"/>
                                    <a:cs typeface="Times New Roman" panose="02020603050405020304" pitchFamily="18" charset="0"/>
                                  </a:rPr>
                                </m:ctrlPr>
                              </m:sSubPr>
                              <m:e>
                                <m:acc>
                                  <m:accPr>
                                    <m:chr m:val="̂"/>
                                    <m:ctrlPr>
                                      <a:rPr lang="en-US" altLang="zh-CN" sz="1600" i="1">
                                        <a:latin typeface="Cambria Math" panose="02040503050406030204" pitchFamily="18" charset="0"/>
                                        <a:cs typeface="Times New Roman" panose="02020603050405020304" pitchFamily="18" charset="0"/>
                                      </a:rPr>
                                    </m:ctrlPr>
                                  </m:accPr>
                                  <m:e>
                                    <m:r>
                                      <a:rPr lang="en-US" altLang="zh-CN" sz="1600" i="1">
                                        <a:latin typeface="Cambria Math" panose="02040503050406030204" pitchFamily="18" charset="0"/>
                                        <a:cs typeface="Times New Roman" panose="02020603050405020304" pitchFamily="18" charset="0"/>
                                      </a:rPr>
                                      <m:t>𝑡</m:t>
                                    </m:r>
                                  </m:e>
                                </m:acc>
                              </m:e>
                              <m:sub>
                                <m:r>
                                  <a:rPr lang="en-US" altLang="zh-CN" sz="1600" i="1">
                                    <a:latin typeface="Cambria Math" panose="02040503050406030204" pitchFamily="18" charset="0"/>
                                    <a:cs typeface="Times New Roman" panose="02020603050405020304" pitchFamily="18" charset="0"/>
                                  </a:rPr>
                                  <m:t>𝐴</m:t>
                                </m:r>
                              </m:sub>
                            </m:sSub>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𝑇</m:t>
                            </m:r>
                          </m:lim>
                        </m:limLow>
                      </m:fName>
                      <m:e>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𝑎</m:t>
                            </m:r>
                          </m:e>
                          <m:sub>
                            <m:r>
                              <a:rPr lang="en-US" altLang="zh-CN" sz="1600" i="1">
                                <a:latin typeface="Cambria Math" panose="02040503050406030204" pitchFamily="18" charset="0"/>
                                <a:cs typeface="Times New Roman" panose="02020603050405020304" pitchFamily="18" charset="0"/>
                              </a:rPr>
                              <m:t>𝑡</m:t>
                            </m:r>
                          </m:sub>
                        </m:sSub>
                      </m:e>
                    </m:func>
                  </m:oMath>
                </a14:m>
                <a:r>
                  <a:rPr lang="en-US" altLang="zh-CN" sz="1600">
                    <a:latin typeface="Times New Roman" panose="02020603050405020304" pitchFamily="18" charset="0"/>
                    <a:cs typeface="Times New Roman" panose="02020603050405020304" pitchFamily="18" charset="0"/>
                  </a:rPr>
                  <a:t>.</a:t>
                </a:r>
              </a:p>
            </p:txBody>
          </p:sp>
        </mc:Choice>
        <mc:Fallback xmlns="">
          <p:sp>
            <p:nvSpPr>
              <p:cNvPr id="9" name="文本框 8">
                <a:extLst>
                  <a:ext uri="{FF2B5EF4-FFF2-40B4-BE49-F238E27FC236}">
                    <a16:creationId xmlns:a16="http://schemas.microsoft.com/office/drawing/2014/main" id="{31EADDF3-C0B4-3838-B1A9-2DF977EA3D75}"/>
                  </a:ext>
                </a:extLst>
              </p:cNvPr>
              <p:cNvSpPr txBox="1">
                <a:spLocks noRot="1" noChangeAspect="1" noMove="1" noResize="1" noEditPoints="1" noAdjustHandles="1" noChangeArrowheads="1" noChangeShapeType="1" noTextEdit="1"/>
              </p:cNvSpPr>
              <p:nvPr/>
            </p:nvSpPr>
            <p:spPr>
              <a:xfrm>
                <a:off x="813586" y="2652707"/>
                <a:ext cx="6730214" cy="1585690"/>
              </a:xfrm>
              <a:prstGeom prst="rect">
                <a:avLst/>
              </a:prstGeom>
              <a:blipFill>
                <a:blip r:embed="rId4"/>
                <a:stretch>
                  <a:fillRect l="-452" b="-2692"/>
                </a:stretch>
              </a:blipFill>
            </p:spPr>
            <p:txBody>
              <a:bodyPr/>
              <a:lstStyle/>
              <a:p>
                <a:r>
                  <a:rPr lang="zh-CN" altLang="en-US">
                    <a:noFill/>
                  </a:rPr>
                  <a:t> </a:t>
                </a:r>
              </a:p>
            </p:txBody>
          </p:sp>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1717-8364-21F7-E1CD-8840048B56B9}"/>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CEA69466-7254-834A-CB7E-A731BB11050E}"/>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5110F030-49D7-F887-A963-995093929BA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BA5BBE4E-E469-78BB-9A3A-0A1876A4091A}"/>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1203B4DE-59C6-BFE1-95E1-C8665DF8FEAB}"/>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30BBC305-E5C3-1E11-1228-D4B257C0BB80}"/>
              </a:ext>
            </a:extLst>
          </p:cNvPr>
          <p:cNvSpPr txBox="1"/>
          <p:nvPr/>
        </p:nvSpPr>
        <p:spPr bwMode="auto">
          <a:xfrm>
            <a:off x="813586" y="287917"/>
            <a:ext cx="404416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FineGrainer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10DF99F-B2B1-9DE9-3DA6-738D828553E0}"/>
                  </a:ext>
                </a:extLst>
              </p:cNvPr>
              <p:cNvSpPr txBox="1"/>
              <p:nvPr/>
            </p:nvSpPr>
            <p:spPr>
              <a:xfrm>
                <a:off x="813586" y="885313"/>
                <a:ext cx="6914902" cy="952953"/>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Prior work using mean and standard deviation can degrade when anomaly  detection times </a:t>
                </a:r>
                <a14:m>
                  <m:oMath xmlns:m="http://schemas.openxmlformats.org/officeDocument/2006/math">
                    <m:sSub>
                      <m:sSubPr>
                        <m:ctrlPr>
                          <a:rPr lang="en-US" altLang="zh-CN" sz="1600" b="0" i="1" smtClean="0">
                            <a:latin typeface="Cambria Math" panose="02040503050406030204" pitchFamily="18" charset="0"/>
                            <a:cs typeface="Times New Roman" panose="02020603050405020304" pitchFamily="18" charset="0"/>
                          </a:rPr>
                        </m:ctrlPr>
                      </m:sSubPr>
                      <m:e>
                        <m:acc>
                          <m:accPr>
                            <m:chr m:val="̂"/>
                            <m:ctrlPr>
                              <a:rPr lang="en-US" altLang="zh-CN" sz="1600" b="0" i="1" smtClean="0">
                                <a:latin typeface="Cambria Math" panose="02040503050406030204" pitchFamily="18" charset="0"/>
                                <a:cs typeface="Times New Roman" panose="02020603050405020304" pitchFamily="18" charset="0"/>
                              </a:rPr>
                            </m:ctrlPr>
                          </m:accPr>
                          <m:e>
                            <m:r>
                              <a:rPr lang="en-US" altLang="zh-CN" sz="1600" b="0" i="1" smtClean="0">
                                <a:latin typeface="Cambria Math" panose="02040503050406030204" pitchFamily="18" charset="0"/>
                                <a:cs typeface="Times New Roman" panose="02020603050405020304" pitchFamily="18" charset="0"/>
                              </a:rPr>
                              <m:t>𝑡</m:t>
                            </m:r>
                          </m:e>
                        </m:acc>
                      </m:e>
                      <m:sub>
                        <m:r>
                          <a:rPr lang="en-US" altLang="zh-CN" sz="1600" b="0" i="1" smtClean="0">
                            <a:latin typeface="Cambria Math" panose="02040503050406030204" pitchFamily="18" charset="0"/>
                            <a:cs typeface="Times New Roman" panose="02020603050405020304" pitchFamily="18" charset="0"/>
                          </a:rPr>
                          <m:t>𝐴</m:t>
                        </m:r>
                      </m:sub>
                    </m:sSub>
                  </m:oMath>
                </a14:m>
                <a:r>
                  <a:rPr lang="en-US" altLang="zh-CN" sz="1600">
                    <a:latin typeface="Times New Roman" panose="02020603050405020304" pitchFamily="18" charset="0"/>
                    <a:cs typeface="Times New Roman" panose="02020603050405020304" pitchFamily="18" charset="0"/>
                  </a:rPr>
                  <a:t> are imprecise, as outliers from the actual failure period contaminate the normal  period statistics.</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D10DF99F-B2B1-9DE9-3DA6-738D828553E0}"/>
                  </a:ext>
                </a:extLst>
              </p:cNvPr>
              <p:cNvSpPr txBox="1">
                <a:spLocks noRot="1" noChangeAspect="1" noMove="1" noResize="1" noEditPoints="1" noAdjustHandles="1" noChangeArrowheads="1" noChangeShapeType="1" noTextEdit="1"/>
              </p:cNvSpPr>
              <p:nvPr/>
            </p:nvSpPr>
            <p:spPr>
              <a:xfrm>
                <a:off x="813586" y="885313"/>
                <a:ext cx="6914902" cy="952953"/>
              </a:xfrm>
              <a:prstGeom prst="rect">
                <a:avLst/>
              </a:prstGeom>
              <a:blipFill>
                <a:blip r:embed="rId3"/>
                <a:stretch>
                  <a:fillRect l="-441" b="-700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76F91255-74D5-D810-6E10-878F55F86D0B}"/>
              </a:ext>
            </a:extLst>
          </p:cNvPr>
          <p:cNvPicPr>
            <a:picLocks noChangeAspect="1"/>
          </p:cNvPicPr>
          <p:nvPr/>
        </p:nvPicPr>
        <p:blipFill>
          <a:blip r:embed="rId4"/>
          <a:stretch>
            <a:fillRect/>
          </a:stretch>
        </p:blipFill>
        <p:spPr>
          <a:xfrm>
            <a:off x="2012156" y="2257425"/>
            <a:ext cx="4962525" cy="2886075"/>
          </a:xfrm>
          <a:prstGeom prst="rect">
            <a:avLst/>
          </a:prstGeom>
        </p:spPr>
      </p:pic>
    </p:spTree>
    <p:extLst>
      <p:ext uri="{BB962C8B-B14F-4D97-AF65-F5344CB8AC3E}">
        <p14:creationId xmlns:p14="http://schemas.microsoft.com/office/powerpoint/2010/main" val="6429977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Datasets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813585" y="865127"/>
            <a:ext cx="7130513" cy="952953"/>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We inject six common faults: CPU hog (CPU), memory leak (MEM), disk IO stress (DISK),  socket stress (SOCKET), network delay (DELAY), and packet loss (LOSS) into key services of each  benchmark system.</a:t>
            </a:r>
          </a:p>
        </p:txBody>
      </p:sp>
      <p:pic>
        <p:nvPicPr>
          <p:cNvPr id="5" name="图片 4">
            <a:extLst>
              <a:ext uri="{FF2B5EF4-FFF2-40B4-BE49-F238E27FC236}">
                <a16:creationId xmlns:a16="http://schemas.microsoft.com/office/drawing/2014/main" id="{F0BC8D07-AE48-CEE6-4BAF-E293400884A5}"/>
              </a:ext>
            </a:extLst>
          </p:cNvPr>
          <p:cNvPicPr>
            <a:picLocks noChangeAspect="1"/>
          </p:cNvPicPr>
          <p:nvPr/>
        </p:nvPicPr>
        <p:blipFill>
          <a:blip r:embed="rId3"/>
          <a:stretch>
            <a:fillRect/>
          </a:stretch>
        </p:blipFill>
        <p:spPr>
          <a:xfrm>
            <a:off x="880553" y="3266224"/>
            <a:ext cx="7268589" cy="1638529"/>
          </a:xfrm>
          <a:prstGeom prst="rect">
            <a:avLst/>
          </a:prstGeom>
        </p:spPr>
      </p:pic>
      <p:sp>
        <p:nvSpPr>
          <p:cNvPr id="7" name="文本框 6">
            <a:extLst>
              <a:ext uri="{FF2B5EF4-FFF2-40B4-BE49-F238E27FC236}">
                <a16:creationId xmlns:a16="http://schemas.microsoft.com/office/drawing/2014/main" id="{3868271C-1E34-9262-873F-F5F731DB998F}"/>
              </a:ext>
            </a:extLst>
          </p:cNvPr>
          <p:cNvSpPr txBox="1"/>
          <p:nvPr/>
        </p:nvSpPr>
        <p:spPr>
          <a:xfrm>
            <a:off x="813584" y="1981106"/>
            <a:ext cx="7130513" cy="657488"/>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For CPU, MEM, DISK, and SOCKET, we use stress-ng to stress the container resource. For DELAY and LOSS, we use tc to manipulate the container traffic.</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A9855-94B1-BCCE-EE49-9CBB54E8657B}"/>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4B4C86FB-8D11-2AFF-1DEB-5231526296F4}"/>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82FFF298-3942-E49E-2A10-8CCFDC46B13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BBF0F462-7CE2-1024-2A26-53DE189F438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7528A6E6-7FB9-5D6D-47FD-9702E889CD6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C2DBD3E4-D32D-31E1-0B97-793E2D46AC28}"/>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Evaluation Metrics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06925C2-7339-90B8-1F5E-BDB6F23A5006}"/>
                  </a:ext>
                </a:extLst>
              </p:cNvPr>
              <p:cNvSpPr txBox="1"/>
              <p:nvPr/>
            </p:nvSpPr>
            <p:spPr>
              <a:xfrm>
                <a:off x="1005475" y="911622"/>
                <a:ext cx="6623769" cy="395749"/>
              </a:xfrm>
              <a:prstGeom prst="rect">
                <a:avLst/>
              </a:prstGeom>
              <a:noFill/>
            </p:spPr>
            <p:txBody>
              <a:bodyPr wrap="square">
                <a:spAutoFit/>
              </a:bodyPr>
              <a:lstStyle/>
              <a:p>
                <a:pPr>
                  <a:lnSpc>
                    <a:spcPct val="120000"/>
                  </a:lnSpc>
                </a:pPr>
                <a:r>
                  <a:rPr lang="en-US" altLang="zh-CN">
                    <a:latin typeface="Times New Roman" panose="02020603050405020304" pitchFamily="18" charset="0"/>
                    <a:cs typeface="Times New Roman" panose="02020603050405020304" pitchFamily="18" charset="0"/>
                  </a:rPr>
                  <a:t>Given a set of failure cases </a:t>
                </a: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m:t>
                    </m:r>
                  </m:oMath>
                </a14:m>
                <a:r>
                  <a:rPr lang="en-US" altLang="zh-CN">
                    <a:latin typeface="Times New Roman" panose="02020603050405020304" pitchFamily="18" charset="0"/>
                    <a:cs typeface="Times New Roman" panose="02020603050405020304" pitchFamily="18" charset="0"/>
                  </a:rPr>
                  <a:t>, </a:t>
                </a: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𝐴𝐶</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𝑘</m:t>
                    </m:r>
                  </m:oMath>
                </a14:m>
                <a:r>
                  <a:rPr lang="en-US" altLang="zh-CN">
                    <a:latin typeface="Times New Roman" panose="02020603050405020304" pitchFamily="18" charset="0"/>
                    <a:cs typeface="Times New Roman" panose="02020603050405020304" pitchFamily="18" charset="0"/>
                  </a:rPr>
                  <a:t> is calculated as follows,</a:t>
                </a:r>
                <a:endParaRPr lang="en-US" altLang="zh-CN"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006925C2-7339-90B8-1F5E-BDB6F23A5006}"/>
                  </a:ext>
                </a:extLst>
              </p:cNvPr>
              <p:cNvSpPr txBox="1">
                <a:spLocks noRot="1" noChangeAspect="1" noMove="1" noResize="1" noEditPoints="1" noAdjustHandles="1" noChangeArrowheads="1" noChangeShapeType="1" noTextEdit="1"/>
              </p:cNvSpPr>
              <p:nvPr/>
            </p:nvSpPr>
            <p:spPr>
              <a:xfrm>
                <a:off x="1005475" y="911622"/>
                <a:ext cx="6623769" cy="395749"/>
              </a:xfrm>
              <a:prstGeom prst="rect">
                <a:avLst/>
              </a:prstGeom>
              <a:blipFill>
                <a:blip r:embed="rId3"/>
                <a:stretch>
                  <a:fillRect l="-828" t="-1563" b="-265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63ACC70-AC26-D454-854C-D62F56C45C6B}"/>
                  </a:ext>
                </a:extLst>
              </p:cNvPr>
              <p:cNvSpPr txBox="1"/>
              <p:nvPr/>
            </p:nvSpPr>
            <p:spPr>
              <a:xfrm>
                <a:off x="2195958" y="1412261"/>
                <a:ext cx="4242801" cy="905504"/>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cs typeface="Times New Roman" panose="02020603050405020304" pitchFamily="18" charset="0"/>
                        </a:rPr>
                        <m:t>𝐴𝐶</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𝑘</m:t>
                      </m:r>
                      <m:r>
                        <a:rPr lang="en-US" altLang="zh-CN" i="1" smtClean="0">
                          <a:latin typeface="Cambria Math" panose="02040503050406030204" pitchFamily="18" charset="0"/>
                          <a:cs typeface="Times New Roman" panose="02020603050405020304" pitchFamily="18" charset="0"/>
                        </a:rPr>
                        <m:t>=</m:t>
                      </m:r>
                      <m:f>
                        <m:fPr>
                          <m:ctrlPr>
                            <a:rPr lang="en-US" altLang="zh-CN" i="1" smtClean="0">
                              <a:latin typeface="Cambria Math" panose="02040503050406030204" pitchFamily="18" charset="0"/>
                              <a:cs typeface="Times New Roman" panose="02020603050405020304" pitchFamily="18" charset="0"/>
                            </a:rPr>
                          </m:ctrlPr>
                        </m:fPr>
                        <m:num>
                          <m:r>
                            <a:rPr lang="en-US" altLang="zh-CN" i="1" smtClean="0">
                              <a:latin typeface="Cambria Math" panose="02040503050406030204" pitchFamily="18" charset="0"/>
                              <a:cs typeface="Times New Roman" panose="02020603050405020304" pitchFamily="18" charset="0"/>
                            </a:rPr>
                            <m:t>1</m:t>
                          </m:r>
                        </m:num>
                        <m:den>
                          <m:d>
                            <m:dPr>
                              <m:begChr m:val="|"/>
                              <m:endChr m:val="|"/>
                              <m:ctrlPr>
                                <a:rPr lang="en-US" altLang="zh-CN" i="1" smtClean="0">
                                  <a:latin typeface="Cambria Math" panose="02040503050406030204" pitchFamily="18" charset="0"/>
                                  <a:cs typeface="Times New Roman" panose="02020603050405020304" pitchFamily="18" charset="0"/>
                                </a:rPr>
                              </m:ctrlPr>
                            </m:dPr>
                            <m:e>
                              <m:r>
                                <a:rPr lang="en-US" altLang="zh-CN" i="1" smtClean="0">
                                  <a:latin typeface="Cambria Math" panose="02040503050406030204" pitchFamily="18" charset="0"/>
                                  <a:cs typeface="Times New Roman" panose="02020603050405020304" pitchFamily="18" charset="0"/>
                                </a:rPr>
                                <m:t>𝐴</m:t>
                              </m:r>
                            </m:e>
                          </m:d>
                        </m:den>
                      </m:f>
                      <m:nary>
                        <m:naryPr>
                          <m:chr m:val="∑"/>
                          <m:supHide m:val="on"/>
                          <m:ctrlPr>
                            <a:rPr lang="en-US" altLang="zh-CN" i="1" smtClean="0">
                              <a:latin typeface="Cambria Math" panose="02040503050406030204" pitchFamily="18" charset="0"/>
                              <a:cs typeface="Times New Roman" panose="02020603050405020304" pitchFamily="18" charset="0"/>
                            </a:rPr>
                          </m:ctrlPr>
                        </m:naryPr>
                        <m:sub>
                          <m:r>
                            <a:rPr lang="en-US" altLang="zh-CN" i="1" smtClean="0">
                              <a:latin typeface="Cambria Math" panose="02040503050406030204" pitchFamily="18" charset="0"/>
                              <a:cs typeface="Times New Roman" panose="02020603050405020304" pitchFamily="18" charset="0"/>
                            </a:rPr>
                            <m:t>𝑎</m:t>
                          </m:r>
                          <m: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𝐴</m:t>
                          </m:r>
                        </m:sub>
                        <m:sup/>
                        <m:e>
                          <m:f>
                            <m:fPr>
                              <m:ctrlPr>
                                <a:rPr lang="en-US" altLang="zh-CN" i="1" smtClean="0">
                                  <a:latin typeface="Cambria Math" panose="02040503050406030204" pitchFamily="18" charset="0"/>
                                  <a:cs typeface="Times New Roman" panose="02020603050405020304" pitchFamily="18" charset="0"/>
                                </a:rPr>
                              </m:ctrlPr>
                            </m:fPr>
                            <m:num>
                              <m:nary>
                                <m:naryPr>
                                  <m:chr m:val="∑"/>
                                  <m:supHide m:val="on"/>
                                  <m:ctrlPr>
                                    <a:rPr lang="en-US" altLang="zh-CN" i="1" smtClean="0">
                                      <a:latin typeface="Cambria Math" panose="02040503050406030204" pitchFamily="18" charset="0"/>
                                      <a:cs typeface="Times New Roman" panose="02020603050405020304" pitchFamily="18" charset="0"/>
                                    </a:rPr>
                                  </m:ctrlPr>
                                </m:naryPr>
                                <m:sub>
                                  <m:r>
                                    <a:rPr lang="en-US" altLang="zh-CN" i="1" smtClean="0">
                                      <a:latin typeface="Cambria Math" panose="02040503050406030204" pitchFamily="18" charset="0"/>
                                      <a:cs typeface="Times New Roman" panose="02020603050405020304" pitchFamily="18" charset="0"/>
                                    </a:rPr>
                                    <m:t>𝑖</m:t>
                                  </m:r>
                                  <m:r>
                                    <a:rPr lang="en-US" altLang="zh-CN" i="1" smtClean="0">
                                      <a:latin typeface="Cambria Math" panose="02040503050406030204" pitchFamily="18" charset="0"/>
                                      <a:cs typeface="Times New Roman" panose="02020603050405020304" pitchFamily="18" charset="0"/>
                                    </a:rPr>
                                    <m:t>&lt;</m:t>
                                  </m:r>
                                  <m:r>
                                    <a:rPr lang="en-US" altLang="zh-CN" i="1" smtClean="0">
                                      <a:latin typeface="Cambria Math" panose="02040503050406030204" pitchFamily="18" charset="0"/>
                                      <a:cs typeface="Times New Roman" panose="02020603050405020304" pitchFamily="18" charset="0"/>
                                    </a:rPr>
                                    <m:t>𝑘</m:t>
                                  </m:r>
                                </m:sub>
                                <m:sup/>
                                <m:e>
                                  <m:sSup>
                                    <m:sSupPr>
                                      <m:ctrlPr>
                                        <a:rPr lang="en-US" altLang="zh-CN" i="1" smtClean="0">
                                          <a:latin typeface="Cambria Math" panose="02040503050406030204" pitchFamily="18" charset="0"/>
                                          <a:cs typeface="Times New Roman" panose="02020603050405020304" pitchFamily="18" charset="0"/>
                                        </a:rPr>
                                      </m:ctrlPr>
                                    </m:sSupPr>
                                    <m:e>
                                      <m:r>
                                        <a:rPr lang="en-US" altLang="zh-CN" i="1" smtClean="0">
                                          <a:latin typeface="Cambria Math" panose="02040503050406030204" pitchFamily="18" charset="0"/>
                                          <a:cs typeface="Times New Roman" panose="02020603050405020304" pitchFamily="18" charset="0"/>
                                        </a:rPr>
                                        <m:t>𝑅</m:t>
                                      </m:r>
                                    </m:e>
                                    <m:sup>
                                      <m:r>
                                        <a:rPr lang="en-US" altLang="zh-CN" i="1" smtClean="0">
                                          <a:latin typeface="Cambria Math" panose="02040503050406030204" pitchFamily="18" charset="0"/>
                                          <a:cs typeface="Times New Roman" panose="02020603050405020304" pitchFamily="18" charset="0"/>
                                        </a:rPr>
                                        <m:t>𝑎</m:t>
                                      </m:r>
                                    </m:sup>
                                  </m:sSup>
                                  <m:d>
                                    <m:dPr>
                                      <m:begChr m:val="["/>
                                      <m:endChr m:val="]"/>
                                      <m:ctrlPr>
                                        <a:rPr lang="en-US" altLang="zh-CN" i="1" smtClean="0">
                                          <a:latin typeface="Cambria Math" panose="02040503050406030204" pitchFamily="18" charset="0"/>
                                          <a:cs typeface="Times New Roman" panose="02020603050405020304" pitchFamily="18" charset="0"/>
                                        </a:rPr>
                                      </m:ctrlPr>
                                    </m:dPr>
                                    <m:e>
                                      <m:r>
                                        <a:rPr lang="en-US" altLang="zh-CN" i="1" smtClean="0">
                                          <a:latin typeface="Cambria Math" panose="02040503050406030204" pitchFamily="18" charset="0"/>
                                          <a:cs typeface="Times New Roman" panose="02020603050405020304" pitchFamily="18" charset="0"/>
                                        </a:rPr>
                                        <m:t>𝑖</m:t>
                                      </m:r>
                                    </m:e>
                                  </m:d>
                                </m:e>
                              </m:nary>
                              <m:r>
                                <a:rPr lang="en-US" altLang="zh-CN" i="1" smtClean="0">
                                  <a:latin typeface="Cambria Math" panose="02040503050406030204" pitchFamily="18" charset="0"/>
                                  <a:cs typeface="Times New Roman" panose="02020603050405020304" pitchFamily="18" charset="0"/>
                                </a:rPr>
                                <m:t>∈</m:t>
                              </m:r>
                              <m:sSubSup>
                                <m:sSubSupPr>
                                  <m:ctrlPr>
                                    <a:rPr lang="en-US" altLang="zh-CN" i="1" smtClean="0">
                                      <a:latin typeface="Cambria Math" panose="02040503050406030204" pitchFamily="18" charset="0"/>
                                      <a:cs typeface="Times New Roman" panose="02020603050405020304" pitchFamily="18" charset="0"/>
                                    </a:rPr>
                                  </m:ctrlPr>
                                </m:sSubSupPr>
                                <m:e>
                                  <m:r>
                                    <a:rPr lang="en-US" altLang="zh-CN" i="1" smtClean="0">
                                      <a:latin typeface="Cambria Math" panose="02040503050406030204" pitchFamily="18" charset="0"/>
                                      <a:cs typeface="Times New Roman" panose="02020603050405020304" pitchFamily="18" charset="0"/>
                                    </a:rPr>
                                    <m:t>𝑉</m:t>
                                  </m:r>
                                </m:e>
                                <m:sub>
                                  <m:r>
                                    <a:rPr lang="en-US" altLang="zh-CN" i="1" smtClean="0">
                                      <a:latin typeface="Cambria Math" panose="02040503050406030204" pitchFamily="18" charset="0"/>
                                      <a:cs typeface="Times New Roman" panose="02020603050405020304" pitchFamily="18" charset="0"/>
                                    </a:rPr>
                                    <m:t>𝑟𝑐</m:t>
                                  </m:r>
                                </m:sub>
                                <m:sup>
                                  <m:r>
                                    <a:rPr lang="en-US" altLang="zh-CN" i="1" smtClean="0">
                                      <a:latin typeface="Cambria Math" panose="02040503050406030204" pitchFamily="18" charset="0"/>
                                      <a:cs typeface="Times New Roman" panose="02020603050405020304" pitchFamily="18" charset="0"/>
                                    </a:rPr>
                                    <m:t>𝑎</m:t>
                                  </m:r>
                                </m:sup>
                              </m:sSubSup>
                            </m:num>
                            <m:den>
                              <m:func>
                                <m:funcPr>
                                  <m:ctrlPr>
                                    <a:rPr lang="en-US" altLang="zh-CN" i="1" smtClean="0">
                                      <a:latin typeface="Cambria Math" panose="02040503050406030204" pitchFamily="18" charset="0"/>
                                      <a:cs typeface="Times New Roman" panose="02020603050405020304" pitchFamily="18" charset="0"/>
                                    </a:rPr>
                                  </m:ctrlPr>
                                </m:funcPr>
                                <m:fName>
                                  <m:r>
                                    <m:rPr>
                                      <m:sty m:val="p"/>
                                    </m:rPr>
                                    <a:rPr lang="en-US" altLang="zh-CN" i="0" smtClean="0">
                                      <a:latin typeface="Cambria Math" panose="02040503050406030204" pitchFamily="18" charset="0"/>
                                      <a:cs typeface="Times New Roman" panose="02020603050405020304" pitchFamily="18" charset="0"/>
                                    </a:rPr>
                                    <m:t>min</m:t>
                                  </m:r>
                                </m:fName>
                                <m:e>
                                  <m:d>
                                    <m:dPr>
                                      <m:ctrlPr>
                                        <a:rPr lang="en-US" altLang="zh-CN" i="1" smtClean="0">
                                          <a:latin typeface="Cambria Math" panose="02040503050406030204" pitchFamily="18" charset="0"/>
                                          <a:cs typeface="Times New Roman" panose="02020603050405020304" pitchFamily="18" charset="0"/>
                                        </a:rPr>
                                      </m:ctrlPr>
                                    </m:dPr>
                                    <m:e>
                                      <m:r>
                                        <a:rPr lang="en-US" altLang="zh-CN" i="1" smtClean="0">
                                          <a:latin typeface="Cambria Math" panose="02040503050406030204" pitchFamily="18" charset="0"/>
                                          <a:cs typeface="Times New Roman" panose="02020603050405020304" pitchFamily="18" charset="0"/>
                                        </a:rPr>
                                        <m:t>𝑘</m:t>
                                      </m:r>
                                      <m:r>
                                        <a:rPr lang="en-US" altLang="zh-CN" i="1" smtClean="0">
                                          <a:latin typeface="Cambria Math" panose="02040503050406030204" pitchFamily="18" charset="0"/>
                                          <a:cs typeface="Times New Roman" panose="02020603050405020304" pitchFamily="18" charset="0"/>
                                        </a:rPr>
                                        <m:t>,</m:t>
                                      </m:r>
                                      <m:d>
                                        <m:dPr>
                                          <m:begChr m:val="|"/>
                                          <m:endChr m:val="|"/>
                                          <m:ctrlPr>
                                            <a:rPr lang="en-US" altLang="zh-CN" i="1" smtClean="0">
                                              <a:latin typeface="Cambria Math" panose="02040503050406030204" pitchFamily="18" charset="0"/>
                                              <a:cs typeface="Times New Roman" panose="02020603050405020304" pitchFamily="18" charset="0"/>
                                            </a:rPr>
                                          </m:ctrlPr>
                                        </m:dPr>
                                        <m:e>
                                          <m:sSubSup>
                                            <m:sSubSupPr>
                                              <m:ctrlPr>
                                                <a:rPr lang="en-US" altLang="zh-CN" i="1" smtClean="0">
                                                  <a:latin typeface="Cambria Math" panose="02040503050406030204" pitchFamily="18" charset="0"/>
                                                  <a:cs typeface="Times New Roman" panose="02020603050405020304" pitchFamily="18" charset="0"/>
                                                </a:rPr>
                                              </m:ctrlPr>
                                            </m:sSubSupPr>
                                            <m:e>
                                              <m:r>
                                                <a:rPr lang="en-US" altLang="zh-CN" i="1" smtClean="0">
                                                  <a:latin typeface="Cambria Math" panose="02040503050406030204" pitchFamily="18" charset="0"/>
                                                  <a:cs typeface="Times New Roman" panose="02020603050405020304" pitchFamily="18" charset="0"/>
                                                </a:rPr>
                                                <m:t>𝑉</m:t>
                                              </m:r>
                                            </m:e>
                                            <m:sub>
                                              <m:r>
                                                <a:rPr lang="en-US" altLang="zh-CN" i="1" smtClean="0">
                                                  <a:latin typeface="Cambria Math" panose="02040503050406030204" pitchFamily="18" charset="0"/>
                                                  <a:cs typeface="Times New Roman" panose="02020603050405020304" pitchFamily="18" charset="0"/>
                                                </a:rPr>
                                                <m:t>𝑟𝑐</m:t>
                                              </m:r>
                                            </m:sub>
                                            <m:sup>
                                              <m:r>
                                                <a:rPr lang="en-US" altLang="zh-CN" i="1" smtClean="0">
                                                  <a:latin typeface="Cambria Math" panose="02040503050406030204" pitchFamily="18" charset="0"/>
                                                  <a:cs typeface="Times New Roman" panose="02020603050405020304" pitchFamily="18" charset="0"/>
                                                </a:rPr>
                                                <m:t>𝑎</m:t>
                                              </m:r>
                                            </m:sup>
                                          </m:sSubSup>
                                        </m:e>
                                      </m:d>
                                    </m:e>
                                  </m:d>
                                </m:e>
                              </m:func>
                            </m:den>
                          </m:f>
                        </m:e>
                      </m:nary>
                    </m:oMath>
                  </m:oMathPara>
                </a14:m>
                <a:endParaRPr lang="en-US" altLang="zh-CN">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063ACC70-AC26-D454-854C-D62F56C45C6B}"/>
                  </a:ext>
                </a:extLst>
              </p:cNvPr>
              <p:cNvSpPr txBox="1">
                <a:spLocks noRot="1" noChangeAspect="1" noMove="1" noResize="1" noEditPoints="1" noAdjustHandles="1" noChangeArrowheads="1" noChangeShapeType="1" noTextEdit="1"/>
              </p:cNvSpPr>
              <p:nvPr/>
            </p:nvSpPr>
            <p:spPr>
              <a:xfrm>
                <a:off x="2195958" y="1412261"/>
                <a:ext cx="4242801" cy="90550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3B07279-6462-8C49-DEB8-DB972339D5A2}"/>
                  </a:ext>
                </a:extLst>
              </p:cNvPr>
              <p:cNvSpPr txBox="1"/>
              <p:nvPr/>
            </p:nvSpPr>
            <p:spPr>
              <a:xfrm>
                <a:off x="1005473" y="2465820"/>
                <a:ext cx="6623769" cy="395749"/>
              </a:xfrm>
              <a:prstGeom prst="rect">
                <a:avLst/>
              </a:prstGeom>
              <a:noFill/>
            </p:spPr>
            <p:txBody>
              <a:bodyPr wrap="square">
                <a:spAutoFit/>
              </a:bodyPr>
              <a:lstStyle/>
              <a:p>
                <a:pPr>
                  <a:lnSpc>
                    <a:spcPct val="120000"/>
                  </a:lnSpc>
                </a:pP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𝐴𝑣𝑔</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𝑘</m:t>
                    </m:r>
                  </m:oMath>
                </a14:m>
                <a:r>
                  <a:rPr lang="en-US" altLang="zh-CN">
                    <a:latin typeface="Times New Roman" panose="02020603050405020304" pitchFamily="18" charset="0"/>
                    <a:cs typeface="Times New Roman" panose="02020603050405020304" pitchFamily="18" charset="0"/>
                  </a:rPr>
                  <a:t>, which shows the overall RCA performance, is measured as</a:t>
                </a:r>
                <a:endParaRPr lang="en-US" altLang="zh-CN"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03B07279-6462-8C49-DEB8-DB972339D5A2}"/>
                  </a:ext>
                </a:extLst>
              </p:cNvPr>
              <p:cNvSpPr txBox="1">
                <a:spLocks noRot="1" noChangeAspect="1" noMove="1" noResize="1" noEditPoints="1" noAdjustHandles="1" noChangeArrowheads="1" noChangeShapeType="1" noTextEdit="1"/>
              </p:cNvSpPr>
              <p:nvPr/>
            </p:nvSpPr>
            <p:spPr>
              <a:xfrm>
                <a:off x="1005473" y="2465820"/>
                <a:ext cx="6623769" cy="395749"/>
              </a:xfrm>
              <a:prstGeom prst="rect">
                <a:avLst/>
              </a:prstGeom>
              <a:blipFill>
                <a:blip r:embed="rId5"/>
                <a:stretch>
                  <a:fillRect l="-276"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A3578B2-C055-CFC8-CE2E-5F33C1C0EC3C}"/>
                  </a:ext>
                </a:extLst>
              </p:cNvPr>
              <p:cNvSpPr txBox="1"/>
              <p:nvPr/>
            </p:nvSpPr>
            <p:spPr>
              <a:xfrm>
                <a:off x="1005473" y="4034003"/>
                <a:ext cx="6623769" cy="727828"/>
              </a:xfrm>
              <a:prstGeom prst="rect">
                <a:avLst/>
              </a:prstGeom>
              <a:noFill/>
            </p:spPr>
            <p:txBody>
              <a:bodyPr wrap="square">
                <a:spAutoFit/>
              </a:bodyPr>
              <a:lstStyle/>
              <a:p>
                <a:pPr>
                  <a:lnSpc>
                    <a:spcPct val="120000"/>
                  </a:lnSpc>
                </a:pPr>
                <a:r>
                  <a:rPr lang="en-US" altLang="zh-CN" i="0">
                    <a:latin typeface="Times New Roman" panose="02020603050405020304" pitchFamily="18" charset="0"/>
                    <a:cs typeface="Times New Roman" panose="02020603050405020304" pitchFamily="18" charset="0"/>
                  </a:rPr>
                  <a:t>Due to space constraints, we also refer to </a:t>
                </a: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𝐴𝐶</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1</m:t>
                    </m:r>
                  </m:oMath>
                </a14:m>
                <a:r>
                  <a:rPr lang="en-US" altLang="zh-CN" i="0">
                    <a:latin typeface="Times New Roman" panose="02020603050405020304" pitchFamily="18" charset="0"/>
                    <a:cs typeface="Times New Roman" panose="02020603050405020304" pitchFamily="18" charset="0"/>
                  </a:rPr>
                  <a:t>, </a:t>
                </a: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𝐴𝐶</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3</m:t>
                    </m:r>
                  </m:oMath>
                </a14:m>
                <a:r>
                  <a:rPr lang="en-US" altLang="zh-CN" i="0">
                    <a:latin typeface="Times New Roman" panose="02020603050405020304" pitchFamily="18" charset="0"/>
                    <a:cs typeface="Times New Roman" panose="02020603050405020304" pitchFamily="18" charset="0"/>
                  </a:rPr>
                  <a:t>, and </a:t>
                </a:r>
                <a14:m>
                  <m:oMath xmlns:m="http://schemas.openxmlformats.org/officeDocument/2006/math">
                    <m:r>
                      <a:rPr lang="en-US" altLang="zh-CN" i="1" smtClean="0">
                        <a:latin typeface="Cambria Math" panose="02040503050406030204" pitchFamily="18" charset="0"/>
                        <a:cs typeface="Times New Roman" panose="02020603050405020304" pitchFamily="18" charset="0"/>
                      </a:rPr>
                      <m:t>𝐴𝑣𝑔</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5</m:t>
                    </m:r>
                  </m:oMath>
                </a14:m>
                <a:r>
                  <a:rPr lang="en-US" altLang="zh-CN" i="0">
                    <a:latin typeface="Times New Roman" panose="02020603050405020304" pitchFamily="18" charset="0"/>
                    <a:cs typeface="Times New Roman" panose="02020603050405020304" pitchFamily="18" charset="0"/>
                  </a:rPr>
                  <a:t> as T1, T3, and A5, respectively.</a:t>
                </a:r>
                <a:endParaRPr lang="en-US" altLang="zh-CN" dirty="0">
                  <a:latin typeface="Times New Roman" panose="02020603050405020304" pitchFamily="18"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2A3578B2-C055-CFC8-CE2E-5F33C1C0EC3C}"/>
                  </a:ext>
                </a:extLst>
              </p:cNvPr>
              <p:cNvSpPr txBox="1">
                <a:spLocks noRot="1" noChangeAspect="1" noMove="1" noResize="1" noEditPoints="1" noAdjustHandles="1" noChangeArrowheads="1" noChangeShapeType="1" noTextEdit="1"/>
              </p:cNvSpPr>
              <p:nvPr/>
            </p:nvSpPr>
            <p:spPr>
              <a:xfrm>
                <a:off x="1005473" y="4034003"/>
                <a:ext cx="6623769" cy="727828"/>
              </a:xfrm>
              <a:prstGeom prst="rect">
                <a:avLst/>
              </a:prstGeom>
              <a:blipFill>
                <a:blip r:embed="rId6"/>
                <a:stretch>
                  <a:fillRect l="-828" t="-840" b="-134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15319B1-A6E9-B63F-E72A-D2E19BB3A681}"/>
                  </a:ext>
                </a:extLst>
              </p:cNvPr>
              <p:cNvSpPr txBox="1"/>
              <p:nvPr/>
            </p:nvSpPr>
            <p:spPr>
              <a:xfrm>
                <a:off x="2195956" y="2861569"/>
                <a:ext cx="4242801" cy="1071384"/>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cs typeface="Times New Roman" panose="02020603050405020304" pitchFamily="18" charset="0"/>
                        </a:rPr>
                        <m:t>𝐴𝑣𝑔</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𝑘</m:t>
                      </m:r>
                      <m:r>
                        <a:rPr lang="en-US" altLang="zh-CN" i="1" smtClean="0">
                          <a:latin typeface="Cambria Math" panose="02040503050406030204" pitchFamily="18" charset="0"/>
                          <a:cs typeface="Times New Roman" panose="02020603050405020304" pitchFamily="18" charset="0"/>
                        </a:rPr>
                        <m:t>=</m:t>
                      </m:r>
                      <m:f>
                        <m:fPr>
                          <m:ctrlPr>
                            <a:rPr lang="en-US" altLang="zh-CN" i="1" smtClean="0">
                              <a:latin typeface="Cambria Math" panose="02040503050406030204" pitchFamily="18" charset="0"/>
                              <a:cs typeface="Times New Roman" panose="02020603050405020304" pitchFamily="18" charset="0"/>
                            </a:rPr>
                          </m:ctrlPr>
                        </m:fPr>
                        <m:num>
                          <m:r>
                            <a:rPr lang="en-US" altLang="zh-CN" i="1" smtClean="0">
                              <a:latin typeface="Cambria Math" panose="02040503050406030204" pitchFamily="18" charset="0"/>
                              <a:cs typeface="Times New Roman" panose="02020603050405020304" pitchFamily="18" charset="0"/>
                            </a:rPr>
                            <m:t>1</m:t>
                          </m:r>
                        </m:num>
                        <m:den>
                          <m:r>
                            <a:rPr lang="en-US" altLang="zh-CN" i="1" smtClean="0">
                              <a:latin typeface="Cambria Math" panose="02040503050406030204" pitchFamily="18" charset="0"/>
                              <a:cs typeface="Times New Roman" panose="02020603050405020304" pitchFamily="18" charset="0"/>
                            </a:rPr>
                            <m:t>𝑘</m:t>
                          </m:r>
                        </m:den>
                      </m:f>
                      <m:nary>
                        <m:naryPr>
                          <m:chr m:val="∑"/>
                          <m:ctrlPr>
                            <a:rPr lang="en-US" altLang="zh-CN" i="1" smtClean="0">
                              <a:latin typeface="Cambria Math" panose="02040503050406030204" pitchFamily="18" charset="0"/>
                              <a:cs typeface="Times New Roman" panose="02020603050405020304" pitchFamily="18" charset="0"/>
                            </a:rPr>
                          </m:ctrlPr>
                        </m:naryPr>
                        <m:sub>
                          <m:r>
                            <a:rPr lang="en-US" altLang="zh-CN" i="1" smtClean="0">
                              <a:latin typeface="Cambria Math" panose="02040503050406030204" pitchFamily="18" charset="0"/>
                              <a:cs typeface="Times New Roman" panose="02020603050405020304" pitchFamily="18" charset="0"/>
                            </a:rPr>
                            <m:t>𝑗</m:t>
                          </m:r>
                          <m:r>
                            <a:rPr lang="en-US" altLang="zh-CN" i="1" smtClean="0">
                              <a:latin typeface="Cambria Math" panose="02040503050406030204" pitchFamily="18" charset="0"/>
                              <a:cs typeface="Times New Roman" panose="02020603050405020304" pitchFamily="18" charset="0"/>
                            </a:rPr>
                            <m:t>=1</m:t>
                          </m:r>
                        </m:sub>
                        <m:sup>
                          <m:r>
                            <a:rPr lang="en-US" altLang="zh-CN" i="1" smtClean="0">
                              <a:latin typeface="Cambria Math" panose="02040503050406030204" pitchFamily="18" charset="0"/>
                              <a:cs typeface="Times New Roman" panose="02020603050405020304" pitchFamily="18" charset="0"/>
                            </a:rPr>
                            <m:t>𝑘</m:t>
                          </m:r>
                        </m:sup>
                        <m:e>
                          <m:r>
                            <a:rPr lang="en-US" altLang="zh-CN" i="1" smtClean="0">
                              <a:latin typeface="Cambria Math" panose="02040503050406030204" pitchFamily="18" charset="0"/>
                              <a:cs typeface="Times New Roman" panose="02020603050405020304" pitchFamily="18" charset="0"/>
                            </a:rPr>
                            <m:t>𝐴</m:t>
                          </m:r>
                        </m:e>
                      </m:nary>
                      <m:r>
                        <a:rPr lang="en-US" altLang="zh-CN" i="1" smtClean="0">
                          <a:latin typeface="Cambria Math" panose="02040503050406030204" pitchFamily="18" charset="0"/>
                          <a:cs typeface="Times New Roman" panose="02020603050405020304" pitchFamily="18" charset="0"/>
                        </a:rPr>
                        <m:t>𝐶</m:t>
                      </m:r>
                      <m:r>
                        <m:rPr>
                          <m:lit/>
                        </m:rPr>
                        <a:rPr lang="en-US" altLang="zh-CN" i="1" smtClean="0">
                          <a:latin typeface="Cambria Math" panose="02040503050406030204" pitchFamily="18" charset="0"/>
                          <a:cs typeface="Times New Roman" panose="02020603050405020304" pitchFamily="18" charset="0"/>
                        </a:rPr>
                        <m:t>@</m:t>
                      </m:r>
                      <m:r>
                        <a:rPr lang="en-US" altLang="zh-CN" i="1" smtClean="0">
                          <a:latin typeface="Cambria Math" panose="02040503050406030204" pitchFamily="18" charset="0"/>
                          <a:cs typeface="Times New Roman" panose="02020603050405020304" pitchFamily="18" charset="0"/>
                        </a:rPr>
                        <m:t>𝑗</m:t>
                      </m:r>
                    </m:oMath>
                  </m:oMathPara>
                </a14:m>
                <a:endParaRPr lang="en-US" altLang="zh-CN">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15319B1-A6E9-B63F-E72A-D2E19BB3A681}"/>
                  </a:ext>
                </a:extLst>
              </p:cNvPr>
              <p:cNvSpPr txBox="1">
                <a:spLocks noRot="1" noChangeAspect="1" noMove="1" noResize="1" noEditPoints="1" noAdjustHandles="1" noChangeArrowheads="1" noChangeShapeType="1" noTextEdit="1"/>
              </p:cNvSpPr>
              <p:nvPr/>
            </p:nvSpPr>
            <p:spPr>
              <a:xfrm>
                <a:off x="2195956" y="2861569"/>
                <a:ext cx="4242801" cy="1071384"/>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490568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2709-1298-DE7C-C848-499846D667F5}"/>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806A7465-5A7A-4E7B-2BD3-BF0480C7F8F4}"/>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3A49F4C9-9602-BE1E-ADF8-B06DA1B03BAC}"/>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EFF5FF22-2924-82D6-5F03-7001DD5A713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33B59DD4-BD3D-A0F1-86C9-7C272913B8D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1020D28B-C17E-9A38-254B-4F75D17827C4}"/>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Baselines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F699D4A7-359F-5484-B65A-8AB3C544EDAB}"/>
              </a:ext>
            </a:extLst>
          </p:cNvPr>
          <p:cNvSpPr txBox="1"/>
          <p:nvPr/>
        </p:nvSpPr>
        <p:spPr>
          <a:xfrm>
            <a:off x="813585" y="935149"/>
            <a:ext cx="7102681" cy="1543884"/>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For the baselines </a:t>
            </a:r>
            <a:r>
              <a:rPr lang="en-US" altLang="zh-CN" sz="1600" b="1">
                <a:latin typeface="Times New Roman" panose="02020603050405020304" pitchFamily="18" charset="0"/>
                <a:cs typeface="Times New Roman" panose="02020603050405020304" pitchFamily="18" charset="0"/>
              </a:rPr>
              <a:t>HeMiRCA, CausalRCA, MicroCause, RCD, CIRCA, BARO, MicroRank, </a:t>
            </a:r>
            <a:r>
              <a:rPr lang="en-US" altLang="zh-CN" sz="1600">
                <a:latin typeface="Times New Roman" panose="02020603050405020304" pitchFamily="18" charset="0"/>
                <a:cs typeface="Times New Roman" panose="02020603050405020304" pitchFamily="18" charset="0"/>
              </a:rPr>
              <a:t>and</a:t>
            </a:r>
            <a:r>
              <a:rPr lang="en-US" altLang="zh-CN" sz="1600" b="1">
                <a:latin typeface="Times New Roman" panose="02020603050405020304" pitchFamily="18" charset="0"/>
                <a:cs typeface="Times New Roman" panose="02020603050405020304" pitchFamily="18" charset="0"/>
              </a:rPr>
              <a:t> TraceRCA</a:t>
            </a:r>
            <a:r>
              <a:rPr lang="en-US" altLang="zh-CN" sz="1600">
                <a:latin typeface="Times New Roman" panose="02020603050405020304" pitchFamily="18" charset="0"/>
                <a:cs typeface="Times New Roman" panose="02020603050405020304" pitchFamily="18" charset="0"/>
              </a:rPr>
              <a:t>, we use their publicly available implementation and default hyperparameter settings suggested in their respective papers. </a:t>
            </a:r>
          </a:p>
          <a:p>
            <a:pPr>
              <a:lnSpc>
                <a:spcPct val="120000"/>
              </a:lnSpc>
            </a:pPr>
            <a:r>
              <a:rPr lang="en-US" altLang="zh-CN" sz="1600">
                <a:latin typeface="Times New Roman" panose="02020603050405020304" pitchFamily="18" charset="0"/>
                <a:cs typeface="Times New Roman" panose="02020603050405020304" pitchFamily="18" charset="0"/>
              </a:rPr>
              <a:t>For </a:t>
            </a:r>
            <a:r>
              <a:rPr lang="en-US" altLang="zh-CN" sz="1600" b="1">
                <a:latin typeface="Times New Roman" panose="02020603050405020304" pitchFamily="18" charset="0"/>
                <a:cs typeface="Times New Roman" panose="02020603050405020304" pitchFamily="18" charset="0"/>
              </a:rPr>
              <a:t>PDiagnose</a:t>
            </a:r>
            <a:r>
              <a:rPr lang="en-US" altLang="zh-CN" sz="1600">
                <a:latin typeface="Times New Roman" panose="02020603050405020304" pitchFamily="18" charset="0"/>
                <a:cs typeface="Times New Roman" panose="02020603050405020304" pitchFamily="18" charset="0"/>
              </a:rPr>
              <a:t>, we follow previous works to implement it since its source code is unavailable.</a:t>
            </a:r>
            <a:endParaRPr lang="en-US" altLang="zh-CN" sz="16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F25B44E0-8842-C726-A126-BB6AAE94C8D9}"/>
              </a:ext>
            </a:extLst>
          </p:cNvPr>
          <p:cNvSpPr txBox="1"/>
          <p:nvPr/>
        </p:nvSpPr>
        <p:spPr>
          <a:xfrm>
            <a:off x="813585" y="2959932"/>
            <a:ext cx="7102681" cy="1248419"/>
          </a:xfrm>
          <a:prstGeom prst="rect">
            <a:avLst/>
          </a:prstGeom>
          <a:noFill/>
        </p:spPr>
        <p:txBody>
          <a:bodyPr wrap="square">
            <a:spAutoFit/>
          </a:bodyPr>
          <a:lstStyle/>
          <a:p>
            <a:pPr>
              <a:lnSpc>
                <a:spcPct val="120000"/>
              </a:lnSpc>
            </a:pPr>
            <a:r>
              <a:rPr lang="en-US" altLang="zh-CN" sz="1600">
                <a:latin typeface="Times New Roman" panose="02020603050405020304" pitchFamily="18" charset="0"/>
                <a:cs typeface="Times New Roman" panose="02020603050405020304" pitchFamily="18" charset="0"/>
              </a:rPr>
              <a:t>It is important to note that four of our selected baselines (CausalRCA, MicroCause, RCD, BARO) are metric-based methods that do not require call graphs or trace data. They take time series as input and perform RCA using causal discovery or statistical analysis.</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9701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F9FB-83B5-75A6-AFAB-061BB158449D}"/>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8048573-FFC7-DF04-4B02-4B7558B25286}"/>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DD790CE7-399F-5D0E-E6CF-63F86898EB75}"/>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B5A38968-8F58-8E59-107C-B47D368AF674}"/>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834196A3-4B2D-9617-E1EF-1C4DCA7559C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44B0E768-EBA5-833E-2E23-D6A3ED96A0C7}"/>
              </a:ext>
            </a:extLst>
          </p:cNvPr>
          <p:cNvSpPr txBox="1"/>
          <p:nvPr/>
        </p:nvSpPr>
        <p:spPr bwMode="auto">
          <a:xfrm>
            <a:off x="813583" y="286935"/>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RQ1: How effective is TORAI in coarse-grained RCA?</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910771B6-9F34-E07E-BE1D-16FD24F63DE6}"/>
              </a:ext>
            </a:extLst>
          </p:cNvPr>
          <p:cNvPicPr>
            <a:picLocks noChangeAspect="1"/>
          </p:cNvPicPr>
          <p:nvPr/>
        </p:nvPicPr>
        <p:blipFill>
          <a:blip r:embed="rId3"/>
          <a:stretch>
            <a:fillRect/>
          </a:stretch>
        </p:blipFill>
        <p:spPr>
          <a:xfrm>
            <a:off x="1541486" y="790761"/>
            <a:ext cx="5438435" cy="4352739"/>
          </a:xfrm>
          <a:prstGeom prst="rect">
            <a:avLst/>
          </a:prstGeom>
        </p:spPr>
      </p:pic>
    </p:spTree>
    <p:extLst>
      <p:ext uri="{BB962C8B-B14F-4D97-AF65-F5344CB8AC3E}">
        <p14:creationId xmlns:p14="http://schemas.microsoft.com/office/powerpoint/2010/main" val="12458405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1274-9920-7B7B-7B0E-313D3787052C}"/>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3D44DEAE-598C-560B-33B6-4674F54A560F}"/>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19BB83F6-C9CF-1CC8-2C9B-C46486098A2F}"/>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D71C0EA3-28E4-F693-0BFB-FEB45F8463B3}"/>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99574433-DBBA-EA22-ED78-4C338B43EC8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ADE8496D-E036-855C-3420-B2FD7681A402}"/>
              </a:ext>
            </a:extLst>
          </p:cNvPr>
          <p:cNvSpPr txBox="1"/>
          <p:nvPr/>
        </p:nvSpPr>
        <p:spPr bwMode="auto">
          <a:xfrm>
            <a:off x="813585" y="287917"/>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RQ1</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1AD69E6B-B29E-F107-7697-DED849BEA144}"/>
              </a:ext>
            </a:extLst>
          </p:cNvPr>
          <p:cNvPicPr>
            <a:picLocks noChangeAspect="1"/>
          </p:cNvPicPr>
          <p:nvPr/>
        </p:nvPicPr>
        <p:blipFill>
          <a:blip r:embed="rId3"/>
          <a:stretch>
            <a:fillRect/>
          </a:stretch>
        </p:blipFill>
        <p:spPr>
          <a:xfrm>
            <a:off x="772121" y="1196289"/>
            <a:ext cx="7237421" cy="3659294"/>
          </a:xfrm>
          <a:prstGeom prst="rect">
            <a:avLst/>
          </a:prstGeom>
        </p:spPr>
      </p:pic>
    </p:spTree>
    <p:extLst>
      <p:ext uri="{BB962C8B-B14F-4D97-AF65-F5344CB8AC3E}">
        <p14:creationId xmlns:p14="http://schemas.microsoft.com/office/powerpoint/2010/main" val="318726391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03F9-EF89-0854-3EE2-18626E3EDBBA}"/>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7292B0BA-1F6C-EAD4-069D-3A3D7DA5D79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344D15EF-3123-2DA3-6BE8-EBADA068666B}"/>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8324C976-47EA-4D9A-CB45-178A82BA5F4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908EBEE0-47EB-D04E-B9DD-D1FDF7489BA5}"/>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EBDCD562-9459-28EB-9B6E-56FDC2E8EDE7}"/>
              </a:ext>
            </a:extLst>
          </p:cNvPr>
          <p:cNvSpPr txBox="1"/>
          <p:nvPr/>
        </p:nvSpPr>
        <p:spPr bwMode="auto">
          <a:xfrm>
            <a:off x="813585" y="287917"/>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RQ1</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039D113E-94C7-15C5-D561-998B0E702080}"/>
              </a:ext>
            </a:extLst>
          </p:cNvPr>
          <p:cNvPicPr>
            <a:picLocks noChangeAspect="1"/>
          </p:cNvPicPr>
          <p:nvPr/>
        </p:nvPicPr>
        <p:blipFill>
          <a:blip r:embed="rId3"/>
          <a:stretch>
            <a:fillRect/>
          </a:stretch>
        </p:blipFill>
        <p:spPr>
          <a:xfrm>
            <a:off x="1730178" y="720533"/>
            <a:ext cx="5683644" cy="4422967"/>
          </a:xfrm>
          <a:prstGeom prst="rect">
            <a:avLst/>
          </a:prstGeom>
        </p:spPr>
      </p:pic>
    </p:spTree>
    <p:extLst>
      <p:ext uri="{BB962C8B-B14F-4D97-AF65-F5344CB8AC3E}">
        <p14:creationId xmlns:p14="http://schemas.microsoft.com/office/powerpoint/2010/main" val="323338801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E22F-B88C-759D-FE87-5FFFBFB105B5}"/>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DA132E5-E3CF-97E9-9788-B549006C235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4FCECBB7-037E-34B9-AF7B-83A15056A1F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920D5362-C7EE-EC01-2B1B-3998AFE33009}"/>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0741166A-A693-730E-A4BF-B01D9052ABE8}"/>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1E29546F-70F7-F0D1-530A-27263C515913}"/>
              </a:ext>
            </a:extLst>
          </p:cNvPr>
          <p:cNvSpPr txBox="1"/>
          <p:nvPr/>
        </p:nvSpPr>
        <p:spPr bwMode="auto">
          <a:xfrm>
            <a:off x="813585" y="287917"/>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RQ2: How effective is TORAI in fine-grained RCA</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08091A33-FA84-D09D-3F66-DCB67F44E0EC}"/>
              </a:ext>
            </a:extLst>
          </p:cNvPr>
          <p:cNvPicPr>
            <a:picLocks noChangeAspect="1"/>
          </p:cNvPicPr>
          <p:nvPr/>
        </p:nvPicPr>
        <p:blipFill>
          <a:blip r:embed="rId3"/>
          <a:stretch>
            <a:fillRect/>
          </a:stretch>
        </p:blipFill>
        <p:spPr>
          <a:xfrm>
            <a:off x="1559420" y="749582"/>
            <a:ext cx="5596028" cy="4393918"/>
          </a:xfrm>
          <a:prstGeom prst="rect">
            <a:avLst/>
          </a:prstGeom>
        </p:spPr>
      </p:pic>
    </p:spTree>
    <p:extLst>
      <p:ext uri="{BB962C8B-B14F-4D97-AF65-F5344CB8AC3E}">
        <p14:creationId xmlns:p14="http://schemas.microsoft.com/office/powerpoint/2010/main" val="354097266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F95E-5E84-1A45-BD1F-C4A6D093D9E1}"/>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2A041F0F-713F-A1A2-4D60-70A34B75917C}"/>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9F9E99C0-32C9-685A-FF50-EEEB327E5EC4}"/>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913C61AE-CDE4-5E90-B5CC-2A84F41B78F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D2570BBC-AEBF-BDAA-6A7B-D94AD762C5C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7B161C39-81D9-FE93-6F08-189940BF626C}"/>
              </a:ext>
            </a:extLst>
          </p:cNvPr>
          <p:cNvSpPr txBox="1"/>
          <p:nvPr/>
        </p:nvSpPr>
        <p:spPr bwMode="auto">
          <a:xfrm>
            <a:off x="813585" y="287917"/>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RQ3: How efficient is TORAI in performing RCA? </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CF44F639-C478-0C88-49B5-9B7246D1CEEE}"/>
              </a:ext>
            </a:extLst>
          </p:cNvPr>
          <p:cNvPicPr>
            <a:picLocks noChangeAspect="1"/>
          </p:cNvPicPr>
          <p:nvPr/>
        </p:nvPicPr>
        <p:blipFill>
          <a:blip r:embed="rId3"/>
          <a:stretch>
            <a:fillRect/>
          </a:stretch>
        </p:blipFill>
        <p:spPr>
          <a:xfrm>
            <a:off x="2458260" y="739466"/>
            <a:ext cx="4227479" cy="4389746"/>
          </a:xfrm>
          <a:prstGeom prst="rect">
            <a:avLst/>
          </a:prstGeom>
        </p:spPr>
      </p:pic>
    </p:spTree>
    <p:extLst>
      <p:ext uri="{BB962C8B-B14F-4D97-AF65-F5344CB8AC3E}">
        <p14:creationId xmlns:p14="http://schemas.microsoft.com/office/powerpoint/2010/main" val="288349433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56FFA-A4AD-2B6A-3ACB-128868414154}"/>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821FCCD0-0E4E-5AD8-9B02-1E00ADDCE50E}"/>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C1FE67D0-33EC-7FA6-D4D0-355070E9A97C}"/>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6F9C8961-9310-7C19-8984-E51EE467457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C43CFA0D-AEFC-A036-4674-E77531A5C05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23E0E8CA-0089-65A5-C5CA-89B29DEE07FA}"/>
              </a:ext>
            </a:extLst>
          </p:cNvPr>
          <p:cNvSpPr txBox="1"/>
          <p:nvPr/>
        </p:nvSpPr>
        <p:spPr bwMode="auto">
          <a:xfrm>
            <a:off x="813585" y="287917"/>
            <a:ext cx="6894239" cy="707886"/>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RQ4: How do TORAI’s core components contribute to its overall performance?</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47E8DE92-BC5E-AAD0-1760-EE3395729106}"/>
              </a:ext>
            </a:extLst>
          </p:cNvPr>
          <p:cNvPicPr>
            <a:picLocks noChangeAspect="1"/>
          </p:cNvPicPr>
          <p:nvPr/>
        </p:nvPicPr>
        <p:blipFill>
          <a:blip r:embed="rId3"/>
          <a:stretch>
            <a:fillRect/>
          </a:stretch>
        </p:blipFill>
        <p:spPr>
          <a:xfrm>
            <a:off x="651915" y="1046736"/>
            <a:ext cx="7840169" cy="4039164"/>
          </a:xfrm>
          <a:prstGeom prst="rect">
            <a:avLst/>
          </a:prstGeom>
        </p:spPr>
      </p:pic>
    </p:spTree>
    <p:extLst>
      <p:ext uri="{BB962C8B-B14F-4D97-AF65-F5344CB8AC3E}">
        <p14:creationId xmlns:p14="http://schemas.microsoft.com/office/powerpoint/2010/main" val="418880713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1BE12-BCAF-7519-5772-69666E73B1C5}"/>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11E18065-17FE-BBB3-5924-DC40F4429EA2}"/>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ED5E0D8F-098E-AC3F-AE1A-6BBAAD65E87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3F012695-DD5E-CAB2-DC41-27D15741D085}"/>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B92B567D-CB22-141A-7FA4-F8BBB7F49E8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3F588CE4-F838-8578-5207-9C348F5BA786}"/>
              </a:ext>
            </a:extLst>
          </p:cNvPr>
          <p:cNvSpPr txBox="1"/>
          <p:nvPr/>
        </p:nvSpPr>
        <p:spPr bwMode="auto">
          <a:xfrm>
            <a:off x="813585" y="287917"/>
            <a:ext cx="689423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a:solidFill>
                  <a:srgbClr val="E5DEDB">
                    <a:lumMod val="10000"/>
                    <a:alpha val="85000"/>
                  </a:srgbClr>
                </a:solidFill>
                <a:latin typeface="Times New Roman" panose="02020603050405020304" pitchFamily="18" charset="0"/>
                <a:cs typeface="Times New Roman" panose="02020603050405020304" pitchFamily="18" charset="0"/>
              </a:rPr>
              <a:t>RQ5: How does TORAI perform in real-world scenarios?</a:t>
            </a:r>
            <a:endParaRPr lang="zh-CN" altLang="en-US" sz="2000"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D4DF1531-06FB-D3E2-6B74-8DC1DAC5DDB1}"/>
              </a:ext>
            </a:extLst>
          </p:cNvPr>
          <p:cNvPicPr>
            <a:picLocks noChangeAspect="1"/>
          </p:cNvPicPr>
          <p:nvPr/>
        </p:nvPicPr>
        <p:blipFill>
          <a:blip r:embed="rId3"/>
          <a:stretch>
            <a:fillRect/>
          </a:stretch>
        </p:blipFill>
        <p:spPr>
          <a:xfrm>
            <a:off x="788198" y="1596846"/>
            <a:ext cx="7567603" cy="3187256"/>
          </a:xfrm>
          <a:prstGeom prst="rect">
            <a:avLst/>
          </a:prstGeom>
        </p:spPr>
      </p:pic>
    </p:spTree>
    <p:extLst>
      <p:ext uri="{BB962C8B-B14F-4D97-AF65-F5344CB8AC3E}">
        <p14:creationId xmlns:p14="http://schemas.microsoft.com/office/powerpoint/2010/main" val="11977657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1B4B-2488-D4DF-C132-3AF18F1F311C}"/>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ADD7F8E0-9832-85BA-70F9-ADEB1850AF83}"/>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BABB2B5F-12F3-457F-575F-5B86F9403D6A}"/>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E5CAF800-6431-444D-6A3A-1F89DC7301B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50D05D64-7435-2B0A-AE9B-36BA06E1E442}"/>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BA0879CC-98DC-67F9-4714-970B4018934C}"/>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a:solidFill>
                  <a:srgbClr val="E5DEDB">
                    <a:lumMod val="10000"/>
                    <a:alpha val="85000"/>
                  </a:srgbClr>
                </a:solidFill>
                <a:latin typeface="Times New Roman" panose="02020603050405020304" pitchFamily="18" charset="0"/>
                <a:cs typeface="Times New Roman" panose="02020603050405020304" pitchFamily="18" charset="0"/>
              </a:rPr>
              <a:t>Robust</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F83ADF76-A942-3A2B-A282-D76AF0F9CE2B}"/>
              </a:ext>
            </a:extLst>
          </p:cNvPr>
          <p:cNvPicPr>
            <a:picLocks noChangeAspect="1"/>
          </p:cNvPicPr>
          <p:nvPr/>
        </p:nvPicPr>
        <p:blipFill>
          <a:blip r:embed="rId3"/>
          <a:stretch>
            <a:fillRect/>
          </a:stretch>
        </p:blipFill>
        <p:spPr>
          <a:xfrm>
            <a:off x="1203427" y="2278768"/>
            <a:ext cx="6737145" cy="2649183"/>
          </a:xfrm>
          <a:prstGeom prst="rect">
            <a:avLst/>
          </a:prstGeom>
        </p:spPr>
      </p:pic>
      <p:sp>
        <p:nvSpPr>
          <p:cNvPr id="6" name="文本框 5">
            <a:extLst>
              <a:ext uri="{FF2B5EF4-FFF2-40B4-BE49-F238E27FC236}">
                <a16:creationId xmlns:a16="http://schemas.microsoft.com/office/drawing/2014/main" id="{518423B9-BF58-5C21-0B53-1D536347B7B6}"/>
              </a:ext>
            </a:extLst>
          </p:cNvPr>
          <p:cNvSpPr txBox="1"/>
          <p:nvPr/>
        </p:nvSpPr>
        <p:spPr>
          <a:xfrm>
            <a:off x="897732" y="906744"/>
            <a:ext cx="7102681" cy="952953"/>
          </a:xfrm>
          <a:prstGeom prst="rect">
            <a:avLst/>
          </a:prstGeom>
          <a:noFill/>
        </p:spPr>
        <p:txBody>
          <a:bodyPr wrap="square">
            <a:spAutoFit/>
          </a:bodyPr>
          <a:lstStyle/>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TORAI remains robust on the Online Boutique system.</a:t>
            </a:r>
          </a:p>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TORAI shows graceful degradation on the larger Train Ticket system.</a:t>
            </a:r>
          </a:p>
          <a:p>
            <a:pPr marL="342900" indent="-342900">
              <a:lnSpc>
                <a:spcPct val="120000"/>
              </a:lnSpc>
              <a:buAutoNum type="arabicParenBoth"/>
            </a:pPr>
            <a:r>
              <a:rPr lang="en-US" altLang="zh-CN" sz="1600" dirty="0">
                <a:latin typeface="Times New Roman" panose="02020603050405020304" pitchFamily="18" charset="0"/>
                <a:cs typeface="Times New Roman" panose="02020603050405020304" pitchFamily="18" charset="0"/>
              </a:rPr>
              <a:t>AC@3 is more stable than AC@1 across both systems.</a:t>
            </a:r>
          </a:p>
        </p:txBody>
      </p:sp>
    </p:spTree>
    <p:extLst>
      <p:ext uri="{BB962C8B-B14F-4D97-AF65-F5344CB8AC3E}">
        <p14:creationId xmlns:p14="http://schemas.microsoft.com/office/powerpoint/2010/main" val="324130070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A1FF-A133-BD26-2CA8-8816385C8940}"/>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5D29F13F-AD3F-A26D-EE81-3CCEFC5693F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911FCCF6-5B4D-188F-57B1-D344FA0D54C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E561B773-4FCD-D006-B52F-C18EB0738735}"/>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33DF023A-D76D-D314-BDF4-B2899892E6C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67832D04-50CD-3022-453C-68813E899730}"/>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Diagnosing code-level faults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E1D74C1E-8365-B82C-D2D7-049DF1F54B44}"/>
              </a:ext>
            </a:extLst>
          </p:cNvPr>
          <p:cNvPicPr>
            <a:picLocks noChangeAspect="1"/>
          </p:cNvPicPr>
          <p:nvPr/>
        </p:nvPicPr>
        <p:blipFill>
          <a:blip r:embed="rId3"/>
          <a:stretch>
            <a:fillRect/>
          </a:stretch>
        </p:blipFill>
        <p:spPr>
          <a:xfrm>
            <a:off x="125611" y="3056016"/>
            <a:ext cx="4649107" cy="1631862"/>
          </a:xfrm>
          <a:prstGeom prst="rect">
            <a:avLst/>
          </a:prstGeom>
        </p:spPr>
      </p:pic>
      <p:pic>
        <p:nvPicPr>
          <p:cNvPr id="11" name="图片 10">
            <a:extLst>
              <a:ext uri="{FF2B5EF4-FFF2-40B4-BE49-F238E27FC236}">
                <a16:creationId xmlns:a16="http://schemas.microsoft.com/office/drawing/2014/main" id="{9AF74E09-1026-C65A-37D0-3C0D64116039}"/>
              </a:ext>
            </a:extLst>
          </p:cNvPr>
          <p:cNvPicPr>
            <a:picLocks noChangeAspect="1"/>
          </p:cNvPicPr>
          <p:nvPr/>
        </p:nvPicPr>
        <p:blipFill>
          <a:blip r:embed="rId4"/>
          <a:stretch>
            <a:fillRect/>
          </a:stretch>
        </p:blipFill>
        <p:spPr>
          <a:xfrm>
            <a:off x="5125953" y="3056016"/>
            <a:ext cx="3175647" cy="1621848"/>
          </a:xfrm>
          <a:prstGeom prst="rect">
            <a:avLst/>
          </a:prstGeom>
        </p:spPr>
      </p:pic>
      <p:sp>
        <p:nvSpPr>
          <p:cNvPr id="2" name="文本框 1">
            <a:extLst>
              <a:ext uri="{FF2B5EF4-FFF2-40B4-BE49-F238E27FC236}">
                <a16:creationId xmlns:a16="http://schemas.microsoft.com/office/drawing/2014/main" id="{4DCBE9E3-99FC-EB63-46F2-ED42ABDFFEFA}"/>
              </a:ext>
            </a:extLst>
          </p:cNvPr>
          <p:cNvSpPr txBox="1"/>
          <p:nvPr/>
        </p:nvSpPr>
        <p:spPr>
          <a:xfrm>
            <a:off x="813585" y="901548"/>
            <a:ext cx="7102681"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If a code-level fault produces observable symptoms, such as exception logs or erroneous traces, our method can detect the root cause services with these indicators to assist engineers in diagnosing the actual fault more efficiently. </a:t>
            </a:r>
          </a:p>
        </p:txBody>
      </p:sp>
    </p:spTree>
    <p:extLst>
      <p:ext uri="{BB962C8B-B14F-4D97-AF65-F5344CB8AC3E}">
        <p14:creationId xmlns:p14="http://schemas.microsoft.com/office/powerpoint/2010/main" val="76978657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5106647" y="570490"/>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680223" y="7072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958703" y="91797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637485" y="63222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pic>
        <p:nvPicPr>
          <p:cNvPr id="6" name="Mika - Relax(Take It Easy)">
            <a:hlinkClick r:id="" action="ppaction://media"/>
          </p:cNvPr>
          <p:cNvPicPr>
            <a:picLocks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239250" y="4885135"/>
            <a:ext cx="305991" cy="3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a:spLocks noChangeArrowheads="1"/>
          </p:cNvSpPr>
          <p:nvPr/>
        </p:nvSpPr>
        <p:spPr bwMode="auto">
          <a:xfrm>
            <a:off x="1929121" y="1961099"/>
            <a:ext cx="547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defTabSz="685800" fontAlgn="base">
              <a:spcBef>
                <a:spcPct val="0"/>
              </a:spcBef>
              <a:spcAft>
                <a:spcPct val="0"/>
              </a:spcAft>
            </a:pPr>
            <a:r>
              <a:rPr lang="en-US" altLang="zh-CN"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rPr>
              <a:t>THANK YOU FOR LISTENING</a:t>
            </a:r>
            <a:endParaRPr lang="zh-CN" altLang="en-US"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Tree>
  </p:cSld>
  <p:clrMapOvr>
    <a:masterClrMapping/>
  </p:clrMapOvr>
  <p:transition/>
  <p:timing>
    <p:tnLst>
      <p:par>
        <p:cTn id="1" dur="indefinite" restart="never" nodeType="tmRoot">
          <p:childTnLst>
            <p:video>
              <p:cMediaNode vol="80000" numSld="999" showWhenStopped="0">
                <p:cTn id="2" repeatCount="indefinite" fill="remove" display="0">
                  <p:stCondLst>
                    <p:cond delay="indefinite"/>
                  </p:stCondLst>
                  <p:endCondLst>
                    <p:cond evt="onStopAudio" delay="0">
                      <p:tgtEl>
                        <p:sldTgt/>
                      </p:tgtEl>
                    </p:cond>
                  </p:endCondLst>
                </p:cTn>
                <p:tgtEl>
                  <p:spTgt spid="6"/>
                </p:tgtEl>
              </p:cMediaNode>
            </p:video>
          </p:childTnLst>
        </p:cTn>
      </p:par>
    </p:tnLst>
  </p:timing>
</p:sld>
</file>

<file path=ppt/theme/theme1.xml><?xml version="1.0" encoding="utf-8"?>
<a:theme xmlns:a="http://schemas.openxmlformats.org/drawingml/2006/main" name="PPTe吧 | PPT爱好者之家">
  <a:themeElements>
    <a:clrScheme name="自定义 66">
      <a:dk1>
        <a:sysClr val="windowText" lastClr="000000"/>
      </a:dk1>
      <a:lt1>
        <a:sysClr val="window" lastClr="FFFFFF"/>
      </a:lt1>
      <a:dk2>
        <a:srgbClr val="39302A"/>
      </a:dk2>
      <a:lt2>
        <a:srgbClr val="E5DEDB"/>
      </a:lt2>
      <a:accent1>
        <a:srgbClr val="C8886E"/>
      </a:accent1>
      <a:accent2>
        <a:srgbClr val="A59183"/>
      </a:accent2>
      <a:accent3>
        <a:srgbClr val="AC8282"/>
      </a:accent3>
      <a:accent4>
        <a:srgbClr val="E79747"/>
      </a:accent4>
      <a:accent5>
        <a:srgbClr val="7F723D"/>
      </a:accent5>
      <a:accent6>
        <a:srgbClr val="CA4A62"/>
      </a:accent6>
      <a:hlink>
        <a:srgbClr val="868B57"/>
      </a:hlink>
      <a:folHlink>
        <a:srgbClr val="657A56"/>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7125</TotalTime>
  <Words>1765</Words>
  <Application>Microsoft Office PowerPoint</Application>
  <PresentationFormat>全屏显示(16:9)</PresentationFormat>
  <Paragraphs>131</Paragraphs>
  <Slides>29</Slides>
  <Notes>29</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等线</vt:lpstr>
      <vt:lpstr>仿宋</vt:lpstr>
      <vt:lpstr>Arial</vt:lpstr>
      <vt:lpstr>Calibri</vt:lpstr>
      <vt:lpstr>Cambria Math</vt:lpstr>
      <vt:lpstr>Times New Roman</vt:lpstr>
      <vt:lpstr>Wingdings</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 pencil</dc:creator>
  <cp:lastModifiedBy>pencil</cp:lastModifiedBy>
  <cp:revision>870</cp:revision>
  <dcterms:created xsi:type="dcterms:W3CDTF">2017-09-03T13:26:00Z</dcterms:created>
  <dcterms:modified xsi:type="dcterms:W3CDTF">2026-07-13T06:40:00Z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A5BB37F60EFF4CA69CDCEF250FD7AFED_12</vt:lpwstr>
  </property>
  <property fmtid="{D5CDD505-2E9C-101B-9397-08002B2CF9AE}" pid="3" name="KSOProductBuildVer">
    <vt:lpwstr>2052-12.1.0.25225</vt:lpwstr>
  </property>
</Properties>
</file>