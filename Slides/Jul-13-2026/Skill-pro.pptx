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9" r:id="rId6"/>
    <p:sldId id="260" r:id="rId7"/>
    <p:sldId id="262" r:id="rId8"/>
    <p:sldId id="270" r:id="rId9"/>
    <p:sldId id="263" r:id="rId10"/>
    <p:sldId id="261" r:id="rId11"/>
    <p:sldId id="264" r:id="rId12"/>
    <p:sldId id="265" r:id="rId13"/>
    <p:sldId id="266" r:id="rId14"/>
    <p:sldId id="267" r:id="rId15"/>
    <p:sldId id="271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8" autoAdjust="0"/>
    <p:restoredTop sz="76213" autoAdjust="0"/>
  </p:normalViewPr>
  <p:slideViewPr>
    <p:cSldViewPr snapToGrid="0">
      <p:cViewPr varScale="1">
        <p:scale>
          <a:sx n="86" d="100"/>
          <a:sy n="86" d="100"/>
        </p:scale>
        <p:origin x="15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F0932-4B5A-454E-893C-1BB0215B3EE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984059-601C-417B-AEFC-DB6B9245BD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11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6213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090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3069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882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057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4945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245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597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630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387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初始化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：给智能体一个初始技能池（可以是人工编写的通用种子技能）。</a:t>
                </a:r>
              </a:p>
              <a:p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经验采集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：智能体在环境中执行任务，根据当前状态激活最匹配的技能，并生成原始动作。</a:t>
                </a:r>
              </a:p>
              <a:p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技能进化（核心循环）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</a:t>
                </a:r>
              </a:p>
              <a:p>
                <a:pPr lvl="1"/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对执行过的每个技能，分析其收集到的轨迹批次。</a:t>
                </a:r>
              </a:p>
              <a:p>
                <a:pPr lvl="1"/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生成候选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：利用“语义梯度”为旧技能生成 </a:t>
                </a:r>
                <a:r>
                  <a:rPr lang="zh-CN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𝑁_𝑐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个改进候选。</a:t>
                </a:r>
              </a:p>
              <a:p>
                <a:pPr lvl="1"/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验证候选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：用“PPO Gate”计算每个候选的分数，只选择分数 &gt; 0 且最高的那个候选加入池中。</a:t>
                </a:r>
              </a:p>
              <a:p>
                <a:r>
                  <a:rPr lang="zh-CN" altLang="zh-CN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池维护</a:t>
                </a:r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：更新所有技能的在线分数，如果容量超限，则淘汰分数最低或冗余的技能。</a:t>
                </a:r>
              </a:p>
              <a:p>
                <a:r>
                  <a:rPr lang="zh-CN" altLang="zh-CN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重复步骤2-4，技能池会不断自我演化。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003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6333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83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984059-601C-417B-AEFC-DB6B9245BDC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406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E1912-1AB2-CA71-F7FB-B2E7EA96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12CA35-9CAC-807E-9010-7A7D31E8E0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2B7D92-3A9E-ED3A-5B49-4FE6E8D0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67FEC-E628-46F5-B081-F0EE43738BB5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288F21-5BCF-2C53-B641-BA6D01153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8D0CFC-5EC0-542D-E018-A813BE51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37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4CB84-7FFD-767F-EFB3-5E28F9929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00EF4B-E3FE-BDF5-8920-6C0A89455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A0EC4-B03B-3632-823B-45A85443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D956-CEBA-471F-9DA5-C1AE027B0D50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E6DF8A-0F84-239C-265E-287882446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D67E60-D4BF-8603-DE94-F13F88684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90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7FDF8-9257-DBD1-39BA-40382C44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CC1076-BCDF-0CA4-A9E8-0AAD4EE8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C8A6-764C-89BD-71CC-692B0F8BD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1ACFE-52F2-4492-8B45-5879024C349E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7344C6-CDFF-C40A-0F8E-3C5AEF984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50DEDA-D040-0264-2FD1-06BDD37C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037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CD4E50-33FF-D7D4-2D66-DCE35ADD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3F9842-97B9-45EC-F87C-4C0C138B0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1F70A2-9EB5-4675-7D69-014979CBD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A6BA6C-586B-ACEA-4904-02330D476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523FB-E4B1-43CC-9B44-0629D0A78F26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8EFB81-4D52-3216-6580-F063AB85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811A45-A35C-16E7-F28A-CC31642B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803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6336CC-D18E-D640-122C-06E0BF2A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20A4C2-AC84-B07C-14D1-BE01D2AD2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E6C3B1-95A1-BAC6-065F-9C5F0E3D41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0C43C8C-1F3E-60E7-1E78-1BA931603C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7F7048-D644-B921-B3ED-81EF0F36D2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357902-C996-99CA-CA81-0048059A6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FBE71-64AB-4589-9C4E-2E82F79D44F7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0DC6EEC-388C-5BAF-6924-E1B87DC0D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F71B2A5-1717-0492-BCFF-3374AB4D9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498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9EFDC8-A32F-39B1-6514-FD03EFF49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7630BC-E918-9C39-8F5F-3F75E3FD9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775F9-C8B2-44D4-B9C4-19056BC51976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ED8B98-5CAC-F6A4-B1B8-EF744A89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48270B-57DF-5233-30AE-DB8FE078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75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8C14DC-B2C6-AA12-0B7D-827AD10C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18E87-5699-474F-9B46-72200925C8D8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057CCC-88F5-90D9-4B72-265C89C12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43E156-6EFC-E8FA-E88F-90E31BBD9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3259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0C23C-8479-9AA7-0841-ADCF347F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9E2D09-861E-EEE4-9787-2BC5FF813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626E4F4-8EDE-052E-8D34-07881ADEA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B2BA06-CC7E-F011-83A2-74113AF23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CE649-3FD9-42E8-B87D-D69CDAC60152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41115D-30E4-9E92-BA93-3F39F5443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355425-D368-B6E4-6AE1-6DA17150E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404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E9DF0-6FB6-B491-9E19-313B97BEB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574050E-6F54-B59D-D495-4352D51EF4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751169-E064-73F8-5F53-C568823E7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160BF0-9F32-3BFF-F3CC-3530AA04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FCB7F-8596-4461-A2A3-CF575F01FD8A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FAF3BD-F363-046B-40D7-808751AA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187502-ED57-D5DE-4EA1-8D102D7E1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004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4C362-B2FF-4504-009D-71B2E33EB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67066F-82DB-2EBD-9D9F-FBDA47ED2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43AF3-3D57-4D66-3948-C1F048BD1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FCBE3-92EB-4758-AFBE-9D2A9FC44D57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5BDE7-5A3D-01B6-7972-1C89CF1B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EB603D-2D8C-A9E3-554B-F2B73CA66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10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84ED9F-02FA-73DC-4282-E2F10CD6E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170905-6AC7-529E-9484-98E9CC4A9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BBF90D-4BE6-B112-DB37-0B6C0BE5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CF425-41AB-4B77-A3CF-593116B1611E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D48C44-AA9B-1CB2-8AFF-62336162F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140DDD-61B5-C183-3122-F3DD12D09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91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C55EEA9-982B-258A-99D0-46EFF8CAF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E13E569-A023-D556-0C46-ECC228CB3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823DFD-9E75-700C-A51B-BFDB54A431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F3DC1-962D-42BF-BB35-6D49DCF2BEBE}" type="datetime1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CF6B94-FB7E-8416-81B2-915B16D9D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08295F-ABBF-4A24-742C-176B049F66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21C55C-BAFF-429B-8B56-F8D2BDDA59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3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5CFA16-E60E-B1E3-CD63-369193DDA0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zh-CN" sz="4400" b="1" dirty="0"/>
              <a:t>Skill-Pro: Learning Reusable Skills from Experience via Non-Parametric PPO</a:t>
            </a:r>
            <a:r>
              <a:rPr lang="en-US" altLang="zh-CN" sz="4400" b="1" dirty="0"/>
              <a:t> </a:t>
            </a:r>
            <a:r>
              <a:rPr lang="zh-CN" altLang="zh-CN" sz="4400" b="1" dirty="0"/>
              <a:t>for LLM Agents</a:t>
            </a:r>
            <a:r>
              <a:rPr lang="zh-CN" altLang="zh-CN" sz="4400" dirty="0"/>
              <a:t> </a:t>
            </a:r>
            <a:endParaRPr lang="zh-CN" altLang="en-US" sz="44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2B8106-1C28-E01B-1F11-1E862B2316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err="1"/>
              <a:t>Qirui</a:t>
            </a:r>
            <a:r>
              <a:rPr lang="en-US" altLang="zh-CN" dirty="0"/>
              <a:t> Mi, Zhijian Ma, </a:t>
            </a:r>
            <a:r>
              <a:rPr lang="en-US" altLang="zh-CN" dirty="0" err="1"/>
              <a:t>Mengyue</a:t>
            </a:r>
            <a:r>
              <a:rPr lang="en-US" altLang="zh-CN" dirty="0"/>
              <a:t> Yang, Haoxuan Li, </a:t>
            </a:r>
            <a:r>
              <a:rPr lang="en-US" altLang="zh-CN" dirty="0" err="1"/>
              <a:t>Yisen</a:t>
            </a:r>
            <a:r>
              <a:rPr lang="en-US" altLang="zh-CN" dirty="0"/>
              <a:t> Wang, Haifeng Zhang, Jun Wang</a:t>
            </a:r>
          </a:p>
          <a:p>
            <a:r>
              <a:rPr lang="en-US" altLang="zh-CN" dirty="0"/>
              <a:t>ICML 2026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F92D0A-6C12-B4CE-27B1-73E85F15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374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16669-1065-F84E-080A-43FBED75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Challenges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C07330-D555-1337-706A-B4B6FA968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O</a:t>
            </a:r>
            <a:r>
              <a:rPr lang="zh-CN" altLang="zh-CN" b="1" dirty="0"/>
              <a:t>n-the-fly reasoning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Even when facing repeated scenarios, the agent will re-derive the plan, leading to redundant calculations.</a:t>
            </a:r>
          </a:p>
          <a:p>
            <a:r>
              <a:rPr lang="en-US" altLang="zh-CN" b="1" dirty="0"/>
              <a:t>Episodic memory </a:t>
            </a:r>
            <a:r>
              <a:rPr lang="en-US" altLang="zh-CN" dirty="0"/>
              <a:t>: Mainstream external memory methods (like RAG) store episodic memory. This leads to: The context window being heavily used. The agent still needing to spend effort 'understanding' the retrieved cases and re-deriving solutions.</a:t>
            </a:r>
          </a:p>
          <a:p>
            <a:r>
              <a:rPr lang="en-US" altLang="zh-CN" b="1" dirty="0"/>
              <a:t>Updating the parameters is costly</a:t>
            </a:r>
            <a:r>
              <a:rPr lang="en-US" altLang="zh-CN" dirty="0"/>
              <a:t>: Fine-tuning LLMs with reinforcement learning works, but it's expensive, prone to catastrophic forgetting, and can hurt the model's general abilities.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3797CC-DA37-CA74-CC54-6A3743B7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6042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A3D9A9-158D-75AA-82C3-BF91EF45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Objective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0FBA86-78D2-8916-4406-A20864A09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The goal of Skill-Pro is to let LLM agents can autonomously learn reusable procedural Skills from interaction experience for future decision-making.</a:t>
            </a:r>
            <a:r>
              <a:rPr lang="zh-CN" altLang="en-US" dirty="0"/>
              <a:t>（</a:t>
            </a:r>
            <a:r>
              <a:rPr lang="en-US" altLang="zh-CN" dirty="0"/>
              <a:t>Procedural memory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11E03F1-FB08-4CAC-5CEB-7D4853FB5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364" y="3139579"/>
            <a:ext cx="5887272" cy="355332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85C41B-9AA8-4850-9172-96AEA2D0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729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6DE3D9-E2F2-7314-B2C5-24CD3A512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Contributions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53EA48-08A4-8CFF-B4D5-11F284C99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Skill-Pro is a framework that can learn reusable programmatic skills on its own without needing to update model parameters.</a:t>
            </a:r>
          </a:p>
          <a:p>
            <a:r>
              <a:rPr lang="en-US" altLang="zh-CN" b="1" dirty="0"/>
              <a:t>Procedural Skill Formalization</a:t>
            </a:r>
            <a:r>
              <a:rPr lang="en-US" altLang="zh-CN" dirty="0"/>
              <a:t>: We introduce the Skill-MDP, transitioning LLM agents from episodic narratives to reusable procedural Skills.</a:t>
            </a:r>
          </a:p>
          <a:p>
            <a:r>
              <a:rPr lang="en-US" altLang="zh-CN" b="1" dirty="0"/>
              <a:t>Non-Parametric PPO</a:t>
            </a:r>
            <a:r>
              <a:rPr lang="en-US" altLang="zh-CN" dirty="0"/>
              <a:t>: Uses semantic gradients to generate candidate skills and validates them through a PPO Gate. </a:t>
            </a:r>
          </a:p>
          <a:p>
            <a:r>
              <a:rPr lang="en-US" altLang="zh-CN" b="1" dirty="0"/>
              <a:t>Superior reuse rates and performance gain </a:t>
            </a:r>
            <a:r>
              <a:rPr lang="en-US" altLang="zh-CN" dirty="0"/>
              <a:t>across diverse scenarios with extreme memory compression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AB4657-3F12-A2D4-7E0C-D05FE910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895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CE77D7-3377-621A-F5A5-E93CAF3A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Skill Structure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F67E0E-6F68-46B8-3EFA-15F6D1B02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 define a Skill ω ∈ Ω as a reusable, natural-language procedural unit that specifies when to activate, how to act while active, and when to return control.</a:t>
            </a:r>
          </a:p>
          <a:p>
            <a:r>
              <a:rPr lang="en-US" altLang="zh-CN" dirty="0"/>
              <a:t>(1) Activation Condition I</a:t>
            </a:r>
            <a:r>
              <a:rPr lang="el-GR" altLang="zh-CN" dirty="0"/>
              <a:t>ω</a:t>
            </a:r>
            <a:endParaRPr lang="en-US" altLang="zh-CN" dirty="0"/>
          </a:p>
          <a:p>
            <a:r>
              <a:rPr lang="en-US" altLang="zh-CN" dirty="0"/>
              <a:t>(2) Execution Procedure </a:t>
            </a:r>
            <a:r>
              <a:rPr lang="el-GR" altLang="zh-CN" dirty="0"/>
              <a:t>πω</a:t>
            </a:r>
            <a:endParaRPr lang="en-US" altLang="zh-CN" dirty="0"/>
          </a:p>
          <a:p>
            <a:r>
              <a:rPr lang="en-US" altLang="zh-CN" dirty="0"/>
              <a:t>(3) Termination Condition </a:t>
            </a:r>
            <a:r>
              <a:rPr lang="el-GR" altLang="zh-CN" dirty="0"/>
              <a:t>βω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0F41B5-5FB4-CF1A-7479-72CD21EBF8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160" y="5026751"/>
            <a:ext cx="2257740" cy="4858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669B402-30DE-1D79-05F1-6FB406C1A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6872" y="3147130"/>
            <a:ext cx="4438928" cy="289521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BAE176-8119-4BA4-F33F-A95EA6078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876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DFDA28-9C7F-9115-5ACA-0488D8503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Skill-MDP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F69FD-B6EC-3429-D1F8-A9BB5AE13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300"/>
            <a:ext cx="10604500" cy="46656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We formulate the LLM agent’s decision-making process as a Skill-augmented Markov Decision Process (</a:t>
            </a:r>
            <a:r>
              <a:rPr lang="en-US" altLang="zh-CN" b="1" dirty="0"/>
              <a:t>Skill-MDP</a:t>
            </a:r>
            <a:r>
              <a:rPr lang="en-US" altLang="zh-CN" dirty="0"/>
              <a:t>).</a:t>
            </a:r>
          </a:p>
          <a:p>
            <a:r>
              <a:rPr lang="en-US" altLang="zh-CN" dirty="0"/>
              <a:t>Traditional MDP: environment-&gt;state-&gt;action-&gt;environment……</a:t>
            </a:r>
          </a:p>
          <a:p>
            <a:r>
              <a:rPr lang="en-US" altLang="zh-CN" dirty="0"/>
              <a:t>Skill MDP: environment-&gt;state-&gt;skill-&gt;action-&gt;environment……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27227D-2C34-3E0D-DD9F-045D38550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924" y="3429000"/>
            <a:ext cx="3680151" cy="319196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5F99BD-ABCE-C41D-EA43-42000D6E4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59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1C954-F4C3-ABAF-17F4-42B241A96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Non-Parametric PPO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22428D-535F-36D2-5948-0555F6AE9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324600" cy="4672012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1. Semantic Gradients</a:t>
            </a:r>
          </a:p>
          <a:p>
            <a:pPr marL="0" indent="0">
              <a:buNone/>
            </a:pPr>
            <a:r>
              <a:rPr lang="en-US" altLang="zh-CN" b="1" dirty="0"/>
              <a:t>Per-trajectory semantic gradients</a:t>
            </a:r>
            <a:r>
              <a:rPr lang="en-US" altLang="zh-CN" dirty="0"/>
              <a:t>: For each trajectory </a:t>
            </a:r>
            <a:r>
              <a:rPr lang="en-US" altLang="zh-CN" dirty="0" err="1"/>
              <a:t>τi</a:t>
            </a:r>
            <a:r>
              <a:rPr lang="en-US" altLang="zh-CN" dirty="0"/>
              <a:t>, we attribute the outcome to its activation condition, execution procedure, or termination condition. </a:t>
            </a:r>
          </a:p>
          <a:p>
            <a:pPr marL="0" indent="0">
              <a:buNone/>
            </a:pPr>
            <a:r>
              <a:rPr lang="en-US" altLang="zh-CN" b="1" dirty="0"/>
              <a:t>Batch-level aggregation</a:t>
            </a:r>
            <a:r>
              <a:rPr lang="en-US" altLang="zh-CN" dirty="0"/>
              <a:t>: To obtain a stable learning signal, we aggregate semantic gradients across the batch.</a:t>
            </a:r>
          </a:p>
          <a:p>
            <a:pPr marL="0" indent="0">
              <a:buNone/>
            </a:pPr>
            <a:r>
              <a:rPr lang="en-US" altLang="zh-CN" b="1" dirty="0"/>
              <a:t>Semantic Skill Update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We update Skill ω using the batch-averaged semantic gradient to obtain a candidate Skill ω′</a:t>
            </a: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6F751DC-4DDA-8A87-E87A-4D21E4A96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1690689"/>
            <a:ext cx="4470400" cy="467201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413C5A-DBA2-28FF-3005-8B64ADCE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83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B83641-44D5-1E53-A3CB-5BF15C1F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Non-Parametric PPO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D5F757-5416-9E39-7EE9-29DAB681F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1900" cy="466725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2. PPO-Style Trust-Region Verification</a:t>
            </a:r>
          </a:p>
          <a:p>
            <a:r>
              <a:rPr lang="en-US" altLang="zh-CN" dirty="0"/>
              <a:t>Problem: Semantic-gradient updates may extrapolate beyond the observed interaction data and introduce hallucinated or behaviorally unstable Skills.</a:t>
            </a:r>
          </a:p>
          <a:p>
            <a:r>
              <a:rPr lang="en-US" altLang="zh-CN" dirty="0"/>
              <a:t>Solution: Like PPO, a candidate skill is only allowed into the skill pool if it can significantly increase the probability of high-reward actions without deviating too much from the old skill behaviors.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C25A25-6B7A-F7EB-92C2-3AAE33146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795" y="2661943"/>
            <a:ext cx="4386705" cy="279905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E5123E-D492-C072-890D-A60B72C0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81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7A606-A83E-F353-1567-046FFC6A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Score-Based Skill Pool Maintenance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9196C3-B26C-EA12-0135-77BEFB242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035800" cy="4422775"/>
          </a:xfrm>
        </p:spPr>
        <p:txBody>
          <a:bodyPr/>
          <a:lstStyle/>
          <a:p>
            <a:r>
              <a:rPr lang="en-US" altLang="zh-CN" b="1" dirty="0"/>
              <a:t>Online score update</a:t>
            </a:r>
            <a:r>
              <a:rPr lang="en-US" altLang="zh-CN" dirty="0"/>
              <a:t>: For each Skill ω, we maintain a cumulative gain Gb(ω) and an invocation count Nb(ω). After processing a batch T (b), we update the online score:</a:t>
            </a:r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b="1" dirty="0"/>
              <a:t>Online Score-Based Pruning</a:t>
            </a:r>
            <a:r>
              <a:rPr lang="en-US" altLang="zh-CN" dirty="0"/>
              <a:t>: we remove (i) Skills with non-positive online score, i.e., Score(ω) ≤ 0. (ii) duplicate or semantically redundant Skills.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CB73CA-17A3-B1B8-1D1D-272FC71FE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8545" y="3646431"/>
            <a:ext cx="3115110" cy="7811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518FA45-46EC-489A-796C-145B2EA71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4448" y="1510605"/>
            <a:ext cx="2819794" cy="498227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D504FD-96E0-10B2-F8F0-F33FAB45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989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39AA49-7037-B9A8-C9CD-449E5FF1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Overview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077033-3DAF-8A67-06E6-5720D7F03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Overview of the Skill-Pro framework:</a:t>
            </a:r>
            <a:r>
              <a:rPr lang="zh-CN" altLang="en-US" dirty="0"/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3D18D99-0836-4B3A-ED21-C4EAED05B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64" y="2293538"/>
            <a:ext cx="11564471" cy="419933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7C0AF8-056A-B26B-B7B7-E7B0D629A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982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0B10B1-80EB-F2B6-704E-04AA2EE39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C9D744-7AE0-2A42-867B-7EF573DD3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algorithm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85C83F-0B02-F0AF-E1BC-550352AE3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7733" y="1380331"/>
            <a:ext cx="7546067" cy="524192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B240DB-5484-4011-62BD-0EF98300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282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413590-9DBA-E314-B65E-58E2E79D0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Question 1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D82FC1-5C97-3939-F2E4-15F956F99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 altLang="zh-CN" dirty="0"/>
              <a:t>Is the learned procedural memory efficiently reusable?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FDEDDB1-D88E-3FA2-BABB-E5671DCB7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686" y="2294135"/>
            <a:ext cx="7374628" cy="20873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B57A925-5732-9182-7BA8-3D371891A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8686" y="4505326"/>
            <a:ext cx="7358675" cy="198754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BF63E0-001B-351B-3B91-42ACC4B9A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507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3AD6B-51E4-7BBF-9B03-5602B2665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Question 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81BE4A-7B1E-E093-5FA1-6631306D3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do different components contribute to learning reusable skills?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B88C21-E45B-8B66-648D-B527E9E3A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59097"/>
            <a:ext cx="5565924" cy="32178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CD80D10-9279-74C7-E93C-ED1553CFA7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583" y="2959097"/>
            <a:ext cx="4948217" cy="321786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76398B-CAB8-4FF0-3242-85BD91BDB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602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AF764E-0CE6-326F-A11B-30D74186D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Question 3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F61289-2AB5-441E-7C1E-C40C7795B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How does procedural memory evolve and get reused in practice?</a:t>
            </a: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14C9C2-40B5-31D2-F941-2123ACD1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59023"/>
            <a:ext cx="5753664" cy="37953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54A11A7-112E-7618-88FB-1C3D88F3D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900" y="2559023"/>
            <a:ext cx="4643900" cy="3795302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3D18A9-B0AB-C17C-4598-F2312591C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957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A7559-8C49-22F1-3DFA-AD46CAC97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algn="ctr"/>
            <a:r>
              <a:rPr lang="en-US" altLang="zh-CN" b="1" dirty="0"/>
              <a:t>Thank you for listening!</a:t>
            </a:r>
            <a:endParaRPr lang="zh-CN" altLang="en-US" b="1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8EF7376-47E1-00AA-C6B4-10B4C6B0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1C55C-BAFF-429B-8B56-F8D2BDDA59F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3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619</Words>
  <Application>Microsoft Office PowerPoint</Application>
  <PresentationFormat>宽屏</PresentationFormat>
  <Paragraphs>77</Paragraphs>
  <Slides>15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等线 Light</vt:lpstr>
      <vt:lpstr>Arial</vt:lpstr>
      <vt:lpstr>Office 主题​​</vt:lpstr>
      <vt:lpstr>Skill-Pro: Learning Reusable Skills from Experience via Non-Parametric PPO for LLM Agents </vt:lpstr>
      <vt:lpstr>Challenges</vt:lpstr>
      <vt:lpstr>Objective</vt:lpstr>
      <vt:lpstr>Contributions</vt:lpstr>
      <vt:lpstr>Skill Structure</vt:lpstr>
      <vt:lpstr>Skill-MDP</vt:lpstr>
      <vt:lpstr>Non-Parametric PPO</vt:lpstr>
      <vt:lpstr>Non-Parametric PPO</vt:lpstr>
      <vt:lpstr>Score-Based Skill Pool Maintenance</vt:lpstr>
      <vt:lpstr>Overview</vt:lpstr>
      <vt:lpstr>Pipeline</vt:lpstr>
      <vt:lpstr>Question 1</vt:lpstr>
      <vt:lpstr>Question 2</vt:lpstr>
      <vt:lpstr>Question 3</vt:lpstr>
      <vt:lpstr>Thank you for listening!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凯文 王</dc:creator>
  <cp:lastModifiedBy>凯文 王</cp:lastModifiedBy>
  <cp:revision>11</cp:revision>
  <dcterms:created xsi:type="dcterms:W3CDTF">2026-07-07T03:17:05Z</dcterms:created>
  <dcterms:modified xsi:type="dcterms:W3CDTF">2026-07-13T03:23:58Z</dcterms:modified>
</cp:coreProperties>
</file>