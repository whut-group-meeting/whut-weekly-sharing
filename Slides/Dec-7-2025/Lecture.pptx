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30" r:id="rId50"/>
    <p:sldId id="307" r:id="rId51"/>
    <p:sldId id="305" r:id="rId52"/>
    <p:sldId id="308" r:id="rId53"/>
    <p:sldId id="309" r:id="rId54"/>
    <p:sldId id="332" r:id="rId55"/>
    <p:sldId id="333" r:id="rId56"/>
    <p:sldId id="334" r:id="rId57"/>
    <p:sldId id="335" r:id="rId58"/>
    <p:sldId id="336" r:id="rId59"/>
    <p:sldId id="337"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5" r:id="rId74"/>
    <p:sldId id="326" r:id="rId75"/>
    <p:sldId id="327" r:id="rId76"/>
    <p:sldId id="328" r:id="rId77"/>
    <p:sldId id="329" r:id="rId78"/>
    <p:sldId id="339" r:id="rId7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4816" autoAdjust="0"/>
  </p:normalViewPr>
  <p:slideViewPr>
    <p:cSldViewPr snapToGrid="0">
      <p:cViewPr varScale="1">
        <p:scale>
          <a:sx n="96" d="100"/>
          <a:sy n="96" d="100"/>
        </p:scale>
        <p:origin x="894" y="8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9CECDF-7B8A-4DF0-9A74-0F8C1B5D5FDD}" type="datetimeFigureOut">
              <a:rPr lang="zh-CN" altLang="en-US" smtClean="0"/>
              <a:t>2025/12/7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B26CF1-BF27-4431-B71B-3569105507B5}" type="slidenum">
              <a:rPr lang="zh-CN" altLang="en-US" smtClean="0"/>
              <a:t>‹#›</a:t>
            </a:fld>
            <a:endParaRPr lang="zh-CN" altLang="en-US"/>
          </a:p>
        </p:txBody>
      </p:sp>
    </p:spTree>
    <p:extLst>
      <p:ext uri="{BB962C8B-B14F-4D97-AF65-F5344CB8AC3E}">
        <p14:creationId xmlns:p14="http://schemas.microsoft.com/office/powerpoint/2010/main" val="2329537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大家好，今天我要讲的是从零开始构建语言模型的第</a:t>
            </a:r>
            <a:r>
              <a:rPr lang="en-US" altLang="zh-CN" dirty="0"/>
              <a:t>15</a:t>
            </a:r>
            <a:r>
              <a:rPr lang="zh-CN" altLang="en-US" dirty="0"/>
              <a:t>讲和第</a:t>
            </a:r>
            <a:r>
              <a:rPr lang="en-US" altLang="zh-CN" dirty="0"/>
              <a:t>16</a:t>
            </a:r>
            <a:r>
              <a:rPr lang="zh-CN" altLang="en-US" dirty="0"/>
              <a:t>讲，关于模型对齐的知识</a:t>
            </a:r>
          </a:p>
        </p:txBody>
      </p:sp>
      <p:sp>
        <p:nvSpPr>
          <p:cNvPr id="4" name="灯片编号占位符 3"/>
          <p:cNvSpPr>
            <a:spLocks noGrp="1"/>
          </p:cNvSpPr>
          <p:nvPr>
            <p:ph type="sldNum" sz="quarter" idx="5"/>
          </p:nvPr>
        </p:nvSpPr>
        <p:spPr/>
        <p:txBody>
          <a:bodyPr/>
          <a:lstStyle/>
          <a:p>
            <a:fld id="{36B26CF1-BF27-4431-B71B-3569105507B5}" type="slidenum">
              <a:rPr lang="zh-CN" altLang="en-US" smtClean="0"/>
              <a:t>1</a:t>
            </a:fld>
            <a:endParaRPr lang="zh-CN" altLang="en-US"/>
          </a:p>
        </p:txBody>
      </p:sp>
    </p:spTree>
    <p:extLst>
      <p:ext uri="{BB962C8B-B14F-4D97-AF65-F5344CB8AC3E}">
        <p14:creationId xmlns:p14="http://schemas.microsoft.com/office/powerpoint/2010/main" val="1465368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首先是第</a:t>
            </a:r>
            <a:r>
              <a:rPr lang="en-US" altLang="zh-CN" dirty="0"/>
              <a:t>15</a:t>
            </a:r>
            <a:r>
              <a:rPr lang="zh-CN" altLang="en-US" dirty="0"/>
              <a:t>讲 监督微调和基于人类反馈的强化学习</a:t>
            </a:r>
          </a:p>
        </p:txBody>
      </p:sp>
      <p:sp>
        <p:nvSpPr>
          <p:cNvPr id="4" name="灯片编号占位符 3"/>
          <p:cNvSpPr>
            <a:spLocks noGrp="1"/>
          </p:cNvSpPr>
          <p:nvPr>
            <p:ph type="sldNum" sz="quarter" idx="5"/>
          </p:nvPr>
        </p:nvSpPr>
        <p:spPr/>
        <p:txBody>
          <a:bodyPr/>
          <a:lstStyle/>
          <a:p>
            <a:fld id="{36B26CF1-BF27-4431-B71B-3569105507B5}" type="slidenum">
              <a:rPr lang="zh-CN" altLang="en-US" smtClean="0"/>
              <a:t>2</a:t>
            </a:fld>
            <a:endParaRPr lang="zh-CN" altLang="en-US"/>
          </a:p>
        </p:txBody>
      </p:sp>
    </p:spTree>
    <p:extLst>
      <p:ext uri="{BB962C8B-B14F-4D97-AF65-F5344CB8AC3E}">
        <p14:creationId xmlns:p14="http://schemas.microsoft.com/office/powerpoint/2010/main" val="1688161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我们先来回顾一下前面的内容，我们在前面的课程中讲述的是经过预训练系统得到的模型，如</a:t>
            </a:r>
            <a:r>
              <a:rPr lang="en-US" altLang="zh-CN" dirty="0"/>
              <a:t>GPT</a:t>
            </a:r>
            <a:r>
              <a:rPr lang="zh-CN" altLang="en-US" dirty="0"/>
              <a:t>。今天我们要讲的则是如何让这个模型变得安全且有用的后训练部分，让他成为</a:t>
            </a:r>
            <a:r>
              <a:rPr lang="en-US" altLang="zh-CN" dirty="0"/>
              <a:t>instruct GPT</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3</a:t>
            </a:fld>
            <a:endParaRPr lang="zh-CN" altLang="en-US"/>
          </a:p>
        </p:txBody>
      </p:sp>
    </p:spTree>
    <p:extLst>
      <p:ext uri="{BB962C8B-B14F-4D97-AF65-F5344CB8AC3E}">
        <p14:creationId xmlns:p14="http://schemas.microsoft.com/office/powerpoint/2010/main" val="8014011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这节课的目标是更好地去控制语言模型的输出。预训练数据不全是我们想要的</a:t>
            </a:r>
            <a:r>
              <a:rPr lang="en-US" altLang="zh-CN" dirty="0"/>
              <a:t>(</a:t>
            </a:r>
            <a:r>
              <a:rPr lang="zh-CN" altLang="en-US" dirty="0"/>
              <a:t>虽然它可以扩展</a:t>
            </a:r>
            <a:r>
              <a:rPr lang="en-US" altLang="zh-CN" dirty="0"/>
              <a:t>)</a:t>
            </a:r>
            <a:r>
              <a:rPr lang="zh-CN" altLang="en-US" dirty="0"/>
              <a:t>，我们的一个想法是能不能只收集我们想要的数据来训练模型？要实现这个目标就要回答下面的这三个问题：这些数据长什么样子？我们该怎么利用好这些数据？我们需要去扩展这些数据吗？</a:t>
            </a:r>
          </a:p>
        </p:txBody>
      </p:sp>
      <p:sp>
        <p:nvSpPr>
          <p:cNvPr id="4" name="灯片编号占位符 3"/>
          <p:cNvSpPr>
            <a:spLocks noGrp="1"/>
          </p:cNvSpPr>
          <p:nvPr>
            <p:ph type="sldNum" sz="quarter" idx="5"/>
          </p:nvPr>
        </p:nvSpPr>
        <p:spPr/>
        <p:txBody>
          <a:bodyPr/>
          <a:lstStyle/>
          <a:p>
            <a:fld id="{36B26CF1-BF27-4431-B71B-3569105507B5}" type="slidenum">
              <a:rPr lang="zh-CN" altLang="en-US" smtClean="0"/>
              <a:t>4</a:t>
            </a:fld>
            <a:endParaRPr lang="zh-CN" altLang="en-US"/>
          </a:p>
        </p:txBody>
      </p:sp>
    </p:spTree>
    <p:extLst>
      <p:ext uri="{BB962C8B-B14F-4D97-AF65-F5344CB8AC3E}">
        <p14:creationId xmlns:p14="http://schemas.microsoft.com/office/powerpoint/2010/main" val="10843448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我们来看一下这节课的总览：一个标准的方法是在监督微调后面加上基于人类反馈的强化学习。这个过程分为图示的三个阶段：第一阶段是</a:t>
            </a:r>
            <a:r>
              <a:rPr lang="en-US" altLang="zh-CN" dirty="0"/>
              <a:t>SFT</a:t>
            </a:r>
            <a:r>
              <a:rPr lang="zh-CN" altLang="en-US" dirty="0"/>
              <a:t>微调模型阶段，第二阶段是使用成对数据训练出一个奖励模型，第三阶段是用强化学习去优化这个奖励模型。后面</a:t>
            </a:r>
            <a:r>
              <a:rPr lang="zh-CN" altLang="en-US"/>
              <a:t>我们会介绍</a:t>
            </a:r>
            <a:r>
              <a:rPr lang="zh-CN" altLang="en-US" dirty="0"/>
              <a:t>这三个阶段。</a:t>
            </a:r>
          </a:p>
        </p:txBody>
      </p:sp>
      <p:sp>
        <p:nvSpPr>
          <p:cNvPr id="4" name="灯片编号占位符 3"/>
          <p:cNvSpPr>
            <a:spLocks noGrp="1"/>
          </p:cNvSpPr>
          <p:nvPr>
            <p:ph type="sldNum" sz="quarter" idx="5"/>
          </p:nvPr>
        </p:nvSpPr>
        <p:spPr/>
        <p:txBody>
          <a:bodyPr/>
          <a:lstStyle/>
          <a:p>
            <a:fld id="{36B26CF1-BF27-4431-B71B-3569105507B5}" type="slidenum">
              <a:rPr lang="zh-CN" altLang="en-US" smtClean="0"/>
              <a:t>5</a:t>
            </a:fld>
            <a:endParaRPr lang="zh-CN" altLang="en-US"/>
          </a:p>
        </p:txBody>
      </p:sp>
    </p:spTree>
    <p:extLst>
      <p:ext uri="{BB962C8B-B14F-4D97-AF65-F5344CB8AC3E}">
        <p14:creationId xmlns:p14="http://schemas.microsoft.com/office/powerpoint/2010/main" val="2718338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首先是监督微调阶段，在这个阶段，我会介绍训练数据和微调方法，我们会讲解这些训练数据集是什么，并且分析在构建高质量指令微调数据时什么部分在起作用。</a:t>
            </a:r>
          </a:p>
        </p:txBody>
      </p:sp>
      <p:sp>
        <p:nvSpPr>
          <p:cNvPr id="4" name="灯片编号占位符 3"/>
          <p:cNvSpPr>
            <a:spLocks noGrp="1"/>
          </p:cNvSpPr>
          <p:nvPr>
            <p:ph type="sldNum" sz="quarter" idx="5"/>
          </p:nvPr>
        </p:nvSpPr>
        <p:spPr/>
        <p:txBody>
          <a:bodyPr/>
          <a:lstStyle/>
          <a:p>
            <a:fld id="{36B26CF1-BF27-4431-B71B-3569105507B5}" type="slidenum">
              <a:rPr lang="zh-CN" altLang="en-US" smtClean="0"/>
              <a:t>6</a:t>
            </a:fld>
            <a:endParaRPr lang="zh-CN" altLang="en-US"/>
          </a:p>
        </p:txBody>
      </p:sp>
    </p:spTree>
    <p:extLst>
      <p:ext uri="{BB962C8B-B14F-4D97-AF65-F5344CB8AC3E}">
        <p14:creationId xmlns:p14="http://schemas.microsoft.com/office/powerpoint/2010/main" val="3420500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这里有一些著名的指令微调的数据，比如说</a:t>
            </a:r>
            <a:r>
              <a:rPr lang="en-US" altLang="zh-CN" dirty="0"/>
              <a:t>FLAN</a:t>
            </a:r>
            <a:r>
              <a:rPr lang="zh-CN" altLang="en-US" dirty="0"/>
              <a:t>，</a:t>
            </a:r>
            <a:r>
              <a:rPr lang="en-US" altLang="zh-CN" dirty="0" err="1"/>
              <a:t>Oasst</a:t>
            </a:r>
            <a:r>
              <a:rPr lang="en-US" altLang="zh-CN" dirty="0"/>
              <a:t>,  Alpaca</a:t>
            </a:r>
            <a:r>
              <a:rPr lang="zh-CN" altLang="en-US" dirty="0"/>
              <a:t>。后面我们将深入这些数据集中看几个例子并分析他们的结构。</a:t>
            </a:r>
          </a:p>
          <a:p>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7</a:t>
            </a:fld>
            <a:endParaRPr lang="zh-CN" altLang="en-US"/>
          </a:p>
        </p:txBody>
      </p:sp>
    </p:spTree>
    <p:extLst>
      <p:ext uri="{BB962C8B-B14F-4D97-AF65-F5344CB8AC3E}">
        <p14:creationId xmlns:p14="http://schemas.microsoft.com/office/powerpoint/2010/main" val="22033876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第一个数据集，他的特点是输入通常很长，有的回答很短，甚至只有一个单词，退化成单项选择题。</a:t>
            </a:r>
          </a:p>
        </p:txBody>
      </p:sp>
      <p:sp>
        <p:nvSpPr>
          <p:cNvPr id="4" name="灯片编号占位符 3"/>
          <p:cNvSpPr>
            <a:spLocks noGrp="1"/>
          </p:cNvSpPr>
          <p:nvPr>
            <p:ph type="sldNum" sz="quarter" idx="5"/>
          </p:nvPr>
        </p:nvSpPr>
        <p:spPr/>
        <p:txBody>
          <a:bodyPr/>
          <a:lstStyle/>
          <a:p>
            <a:fld id="{36B26CF1-BF27-4431-B71B-3569105507B5}" type="slidenum">
              <a:rPr lang="zh-CN" altLang="en-US" smtClean="0"/>
              <a:t>8</a:t>
            </a:fld>
            <a:endParaRPr lang="zh-CN" altLang="en-US"/>
          </a:p>
        </p:txBody>
      </p:sp>
    </p:spTree>
    <p:extLst>
      <p:ext uri="{BB962C8B-B14F-4D97-AF65-F5344CB8AC3E}">
        <p14:creationId xmlns:p14="http://schemas.microsoft.com/office/powerpoint/2010/main" val="42767301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第二个数据集，他的输入就很像我们日常生活中会输入给</a:t>
            </a:r>
            <a:r>
              <a:rPr lang="en-US" altLang="zh-CN" dirty="0"/>
              <a:t>AI</a:t>
            </a:r>
            <a:r>
              <a:rPr lang="zh-CN" altLang="en-US" dirty="0"/>
              <a:t>的问题，然后我们看到它的回答有的用到了分点作答</a:t>
            </a:r>
          </a:p>
        </p:txBody>
      </p:sp>
      <p:sp>
        <p:nvSpPr>
          <p:cNvPr id="4" name="灯片编号占位符 3"/>
          <p:cNvSpPr>
            <a:spLocks noGrp="1"/>
          </p:cNvSpPr>
          <p:nvPr>
            <p:ph type="sldNum" sz="quarter" idx="5"/>
          </p:nvPr>
        </p:nvSpPr>
        <p:spPr/>
        <p:txBody>
          <a:bodyPr/>
          <a:lstStyle/>
          <a:p>
            <a:fld id="{36B26CF1-BF27-4431-B71B-3569105507B5}" type="slidenum">
              <a:rPr lang="zh-CN" altLang="en-US" smtClean="0"/>
              <a:t>9</a:t>
            </a:fld>
            <a:endParaRPr lang="zh-CN" altLang="en-US"/>
          </a:p>
        </p:txBody>
      </p:sp>
    </p:spTree>
    <p:extLst>
      <p:ext uri="{BB962C8B-B14F-4D97-AF65-F5344CB8AC3E}">
        <p14:creationId xmlns:p14="http://schemas.microsoft.com/office/powerpoint/2010/main" val="1751665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第三个数据集，它的回答通常很长很长，并且在回答结束还会给出一篇参考文献。</a:t>
            </a:r>
          </a:p>
        </p:txBody>
      </p:sp>
      <p:sp>
        <p:nvSpPr>
          <p:cNvPr id="4" name="灯片编号占位符 3"/>
          <p:cNvSpPr>
            <a:spLocks noGrp="1"/>
          </p:cNvSpPr>
          <p:nvPr>
            <p:ph type="sldNum" sz="quarter" idx="5"/>
          </p:nvPr>
        </p:nvSpPr>
        <p:spPr/>
        <p:txBody>
          <a:bodyPr/>
          <a:lstStyle/>
          <a:p>
            <a:fld id="{36B26CF1-BF27-4431-B71B-3569105507B5}" type="slidenum">
              <a:rPr lang="zh-CN" altLang="en-US" smtClean="0"/>
              <a:t>10</a:t>
            </a:fld>
            <a:endParaRPr lang="zh-CN" altLang="en-US"/>
          </a:p>
        </p:txBody>
      </p:sp>
    </p:spTree>
    <p:extLst>
      <p:ext uri="{BB962C8B-B14F-4D97-AF65-F5344CB8AC3E}">
        <p14:creationId xmlns:p14="http://schemas.microsoft.com/office/powerpoint/2010/main" val="22788800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总结一下我们前面看到的数据集，我们发现他们在很多方面存在差异：如风格，长度和分点；参考文献和其他复杂的知识；规模化方面；安全方面。这些方面的不同会怎么样影响模型？我们接下来一一介绍</a:t>
            </a:r>
          </a:p>
        </p:txBody>
      </p:sp>
      <p:sp>
        <p:nvSpPr>
          <p:cNvPr id="4" name="灯片编号占位符 3"/>
          <p:cNvSpPr>
            <a:spLocks noGrp="1"/>
          </p:cNvSpPr>
          <p:nvPr>
            <p:ph type="sldNum" sz="quarter" idx="5"/>
          </p:nvPr>
        </p:nvSpPr>
        <p:spPr/>
        <p:txBody>
          <a:bodyPr/>
          <a:lstStyle/>
          <a:p>
            <a:fld id="{36B26CF1-BF27-4431-B71B-3569105507B5}" type="slidenum">
              <a:rPr lang="zh-CN" altLang="en-US" smtClean="0"/>
              <a:t>11</a:t>
            </a:fld>
            <a:endParaRPr lang="zh-CN" altLang="en-US"/>
          </a:p>
        </p:txBody>
      </p:sp>
    </p:spTree>
    <p:extLst>
      <p:ext uri="{BB962C8B-B14F-4D97-AF65-F5344CB8AC3E}">
        <p14:creationId xmlns:p14="http://schemas.microsoft.com/office/powerpoint/2010/main" val="6984875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首先是风格的变体，通过表格我们可以看到不同模型回答的长度有的短，有的长</a:t>
            </a:r>
          </a:p>
        </p:txBody>
      </p:sp>
      <p:sp>
        <p:nvSpPr>
          <p:cNvPr id="4" name="灯片编号占位符 3"/>
          <p:cNvSpPr>
            <a:spLocks noGrp="1"/>
          </p:cNvSpPr>
          <p:nvPr>
            <p:ph type="sldNum" sz="quarter" idx="5"/>
          </p:nvPr>
        </p:nvSpPr>
        <p:spPr/>
        <p:txBody>
          <a:bodyPr/>
          <a:lstStyle/>
          <a:p>
            <a:fld id="{36B26CF1-BF27-4431-B71B-3569105507B5}" type="slidenum">
              <a:rPr lang="zh-CN" altLang="en-US" smtClean="0"/>
              <a:t>12</a:t>
            </a:fld>
            <a:endParaRPr lang="zh-CN" altLang="en-US"/>
          </a:p>
        </p:txBody>
      </p:sp>
    </p:spTree>
    <p:extLst>
      <p:ext uri="{BB962C8B-B14F-4D97-AF65-F5344CB8AC3E}">
        <p14:creationId xmlns:p14="http://schemas.microsoft.com/office/powerpoint/2010/main" val="26302528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我们可以看到很强烈的长度影响，不论是模型还是人类都喜欢更长的输出和以列表的形式展示</a:t>
            </a:r>
          </a:p>
        </p:txBody>
      </p:sp>
      <p:sp>
        <p:nvSpPr>
          <p:cNvPr id="4" name="灯片编号占位符 3"/>
          <p:cNvSpPr>
            <a:spLocks noGrp="1"/>
          </p:cNvSpPr>
          <p:nvPr>
            <p:ph type="sldNum" sz="quarter" idx="5"/>
          </p:nvPr>
        </p:nvSpPr>
        <p:spPr/>
        <p:txBody>
          <a:bodyPr/>
          <a:lstStyle/>
          <a:p>
            <a:fld id="{36B26CF1-BF27-4431-B71B-3569105507B5}" type="slidenum">
              <a:rPr lang="zh-CN" altLang="en-US" smtClean="0"/>
              <a:t>13</a:t>
            </a:fld>
            <a:endParaRPr lang="zh-CN" altLang="en-US"/>
          </a:p>
        </p:txBody>
      </p:sp>
    </p:spTree>
    <p:extLst>
      <p:ext uri="{BB962C8B-B14F-4D97-AF65-F5344CB8AC3E}">
        <p14:creationId xmlns:p14="http://schemas.microsoft.com/office/powerpoint/2010/main" val="25154122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回到之前的一个例子，回答输出了一个参考文献。这个例子教会了模型什么？它教会模型认识了这个论文的作者，还教会模型输出引用。但是这样做即有可能让模型产生幻觉，后面模型遇到类似问题的时候，可能会在输出后面编造一个不存在的参考文献。</a:t>
            </a:r>
          </a:p>
        </p:txBody>
      </p:sp>
      <p:sp>
        <p:nvSpPr>
          <p:cNvPr id="4" name="灯片编号占位符 3"/>
          <p:cNvSpPr>
            <a:spLocks noGrp="1"/>
          </p:cNvSpPr>
          <p:nvPr>
            <p:ph type="sldNum" sz="quarter" idx="5"/>
          </p:nvPr>
        </p:nvSpPr>
        <p:spPr/>
        <p:txBody>
          <a:bodyPr/>
          <a:lstStyle/>
          <a:p>
            <a:fld id="{36B26CF1-BF27-4431-B71B-3569105507B5}" type="slidenum">
              <a:rPr lang="zh-CN" altLang="en-US" smtClean="0"/>
              <a:t>14</a:t>
            </a:fld>
            <a:endParaRPr lang="zh-CN" altLang="en-US"/>
          </a:p>
        </p:txBody>
      </p:sp>
    </p:spTree>
    <p:extLst>
      <p:ext uri="{BB962C8B-B14F-4D97-AF65-F5344CB8AC3E}">
        <p14:creationId xmlns:p14="http://schemas.microsoft.com/office/powerpoint/2010/main" val="23273670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一个理论认为：在模型不知道的知识上微调会导致幻觉。前面所说的参考文献的例子就是这个原因。从图中我们可以看出当我们用越来越多模型未知的知识进行训练，测试准确率反而会下降。</a:t>
            </a:r>
          </a:p>
        </p:txBody>
      </p:sp>
      <p:sp>
        <p:nvSpPr>
          <p:cNvPr id="4" name="灯片编号占位符 3"/>
          <p:cNvSpPr>
            <a:spLocks noGrp="1"/>
          </p:cNvSpPr>
          <p:nvPr>
            <p:ph type="sldNum" sz="quarter" idx="5"/>
          </p:nvPr>
        </p:nvSpPr>
        <p:spPr/>
        <p:txBody>
          <a:bodyPr/>
          <a:lstStyle/>
          <a:p>
            <a:fld id="{36B26CF1-BF27-4431-B71B-3569105507B5}" type="slidenum">
              <a:rPr lang="zh-CN" altLang="en-US" smtClean="0"/>
              <a:t>15</a:t>
            </a:fld>
            <a:endParaRPr lang="zh-CN" altLang="en-US"/>
          </a:p>
        </p:txBody>
      </p:sp>
    </p:spTree>
    <p:extLst>
      <p:ext uri="{BB962C8B-B14F-4D97-AF65-F5344CB8AC3E}">
        <p14:creationId xmlns:p14="http://schemas.microsoft.com/office/powerpoint/2010/main" val="2856716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1. </a:t>
            </a:r>
            <a:r>
              <a:rPr lang="zh-CN" altLang="en-US" sz="1200" b="0" i="0" kern="1200" dirty="0">
                <a:solidFill>
                  <a:schemeClr val="tx1"/>
                </a:solidFill>
                <a:effectLst/>
                <a:latin typeface="+mn-lt"/>
                <a:ea typeface="+mn-ea"/>
                <a:cs typeface="+mn-cs"/>
              </a:rPr>
              <a:t>即使这是语言模型的使用场景，你可能也不想对边缘知识进行微调</a:t>
            </a:r>
            <a:br>
              <a:rPr lang="zh-CN" altLang="en-US" dirty="0"/>
            </a:br>
            <a:r>
              <a:rPr lang="en-US" altLang="zh-CN" sz="1200" b="0" i="0" kern="1200" dirty="0">
                <a:solidFill>
                  <a:schemeClr val="tx1"/>
                </a:solidFill>
                <a:effectLst/>
                <a:latin typeface="+mn-lt"/>
                <a:ea typeface="+mn-ea"/>
                <a:cs typeface="+mn-cs"/>
              </a:rPr>
              <a:t>2. </a:t>
            </a:r>
            <a:r>
              <a:rPr lang="zh-CN" altLang="en-US" sz="1200" b="0" i="0" kern="1200" dirty="0">
                <a:solidFill>
                  <a:schemeClr val="tx1"/>
                </a:solidFill>
                <a:effectLst/>
                <a:latin typeface="+mn-lt"/>
                <a:ea typeface="+mn-ea"/>
                <a:cs typeface="+mn-cs"/>
              </a:rPr>
              <a:t>原则上，‘强化学习’风格的正确性反馈可能会有所帮助</a:t>
            </a:r>
            <a:br>
              <a:rPr lang="zh-CN" altLang="en-US" dirty="0"/>
            </a:br>
            <a:r>
              <a:rPr lang="en-US" altLang="zh-CN" sz="1200" b="0" i="0" kern="1200" dirty="0">
                <a:solidFill>
                  <a:schemeClr val="tx1"/>
                </a:solidFill>
                <a:effectLst/>
                <a:latin typeface="+mn-lt"/>
                <a:ea typeface="+mn-ea"/>
                <a:cs typeface="+mn-cs"/>
              </a:rPr>
              <a:t>3. </a:t>
            </a:r>
            <a:r>
              <a:rPr lang="zh-CN" altLang="en-US" sz="1200" b="0" i="0" kern="1200" dirty="0">
                <a:solidFill>
                  <a:schemeClr val="tx1"/>
                </a:solidFill>
                <a:effectLst/>
                <a:latin typeface="+mn-lt"/>
                <a:ea typeface="+mn-ea"/>
                <a:cs typeface="+mn-cs"/>
              </a:rPr>
              <a:t>语言模型中的知识存储和提取很混乱，而且很微妙</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16</a:t>
            </a:fld>
            <a:endParaRPr lang="zh-CN" altLang="en-US"/>
          </a:p>
        </p:txBody>
      </p:sp>
    </p:spTree>
    <p:extLst>
      <p:ext uri="{BB962C8B-B14F-4D97-AF65-F5344CB8AC3E}">
        <p14:creationId xmlns:p14="http://schemas.microsoft.com/office/powerpoint/2010/main" val="2541531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还有一个点就是安全性的问题，语言模型是要广泛应用于终端用户的，所以需要一些安全控制</a:t>
            </a:r>
          </a:p>
        </p:txBody>
      </p:sp>
      <p:sp>
        <p:nvSpPr>
          <p:cNvPr id="4" name="灯片编号占位符 3"/>
          <p:cNvSpPr>
            <a:spLocks noGrp="1"/>
          </p:cNvSpPr>
          <p:nvPr>
            <p:ph type="sldNum" sz="quarter" idx="5"/>
          </p:nvPr>
        </p:nvSpPr>
        <p:spPr/>
        <p:txBody>
          <a:bodyPr/>
          <a:lstStyle/>
          <a:p>
            <a:fld id="{36B26CF1-BF27-4431-B71B-3569105507B5}" type="slidenum">
              <a:rPr lang="zh-CN" altLang="en-US" smtClean="0"/>
              <a:t>17</a:t>
            </a:fld>
            <a:endParaRPr lang="zh-CN" altLang="en-US"/>
          </a:p>
        </p:txBody>
      </p:sp>
    </p:spTree>
    <p:extLst>
      <p:ext uri="{BB962C8B-B14F-4D97-AF65-F5344CB8AC3E}">
        <p14:creationId xmlns:p14="http://schemas.microsoft.com/office/powerpoint/2010/main" val="31263740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mn-lt"/>
                <a:ea typeface="+mn-ea"/>
                <a:cs typeface="+mn-cs"/>
              </a:rPr>
              <a:t>只需要一点指令调整就能显著改变安全性表现。</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18</a:t>
            </a:fld>
            <a:endParaRPr lang="zh-CN" altLang="en-US"/>
          </a:p>
        </p:txBody>
      </p:sp>
    </p:spTree>
    <p:extLst>
      <p:ext uri="{BB962C8B-B14F-4D97-AF65-F5344CB8AC3E}">
        <p14:creationId xmlns:p14="http://schemas.microsoft.com/office/powerpoint/2010/main" val="36254755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但是挑战在于平衡安全性和过度拒接。因为随着太多的安全数据，模型可能会夸大安全。比如我如何杀死一个</a:t>
            </a:r>
            <a:r>
              <a:rPr lang="en-US" altLang="zh-CN" dirty="0"/>
              <a:t>python</a:t>
            </a:r>
            <a:r>
              <a:rPr lang="zh-CN" altLang="en-US" dirty="0"/>
              <a:t>进程也会被模型判定为不安全的指令。所以我们要找到安全性向过度安全的转变点。</a:t>
            </a:r>
          </a:p>
        </p:txBody>
      </p:sp>
      <p:sp>
        <p:nvSpPr>
          <p:cNvPr id="4" name="灯片编号占位符 3"/>
          <p:cNvSpPr>
            <a:spLocks noGrp="1"/>
          </p:cNvSpPr>
          <p:nvPr>
            <p:ph type="sldNum" sz="quarter" idx="5"/>
          </p:nvPr>
        </p:nvSpPr>
        <p:spPr/>
        <p:txBody>
          <a:bodyPr/>
          <a:lstStyle/>
          <a:p>
            <a:fld id="{36B26CF1-BF27-4431-B71B-3569105507B5}" type="slidenum">
              <a:rPr lang="zh-CN" altLang="en-US" smtClean="0"/>
              <a:t>19</a:t>
            </a:fld>
            <a:endParaRPr lang="zh-CN" altLang="en-US"/>
          </a:p>
        </p:txBody>
      </p:sp>
    </p:spTree>
    <p:extLst>
      <p:ext uri="{BB962C8B-B14F-4D97-AF65-F5344CB8AC3E}">
        <p14:creationId xmlns:p14="http://schemas.microsoft.com/office/powerpoint/2010/main" val="25069829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经验来看，</a:t>
            </a:r>
            <a:r>
              <a:rPr lang="en-US" altLang="zh-CN" dirty="0"/>
              <a:t>500</a:t>
            </a:r>
            <a:r>
              <a:rPr lang="zh-CN" altLang="en-US" dirty="0"/>
              <a:t>条样本可以显著改善模型的安全。通过图可以看到</a:t>
            </a:r>
            <a:r>
              <a:rPr lang="en-US" altLang="zh-CN" dirty="0"/>
              <a:t>500</a:t>
            </a:r>
            <a:r>
              <a:rPr lang="zh-CN" altLang="en-US" dirty="0"/>
              <a:t>条数据可以比更多的数据达到更好的效果</a:t>
            </a:r>
          </a:p>
        </p:txBody>
      </p:sp>
      <p:sp>
        <p:nvSpPr>
          <p:cNvPr id="4" name="灯片编号占位符 3"/>
          <p:cNvSpPr>
            <a:spLocks noGrp="1"/>
          </p:cNvSpPr>
          <p:nvPr>
            <p:ph type="sldNum" sz="quarter" idx="5"/>
          </p:nvPr>
        </p:nvSpPr>
        <p:spPr/>
        <p:txBody>
          <a:bodyPr/>
          <a:lstStyle/>
          <a:p>
            <a:fld id="{36B26CF1-BF27-4431-B71B-3569105507B5}" type="slidenum">
              <a:rPr lang="zh-CN" altLang="en-US" smtClean="0"/>
              <a:t>20</a:t>
            </a:fld>
            <a:endParaRPr lang="zh-CN" altLang="en-US"/>
          </a:p>
        </p:txBody>
      </p:sp>
    </p:spTree>
    <p:extLst>
      <p:ext uri="{BB962C8B-B14F-4D97-AF65-F5344CB8AC3E}">
        <p14:creationId xmlns:p14="http://schemas.microsoft.com/office/powerpoint/2010/main" val="6239728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把前面介绍的内容放在一起就得到了</a:t>
            </a:r>
            <a:r>
              <a:rPr lang="en-US" altLang="zh-CN" dirty="0"/>
              <a:t>SFT</a:t>
            </a:r>
            <a:r>
              <a:rPr lang="zh-CN" altLang="en-US" dirty="0"/>
              <a:t>数据</a:t>
            </a:r>
            <a:endParaRPr lang="en-US" altLang="zh-CN" dirty="0"/>
          </a:p>
          <a:p>
            <a:r>
              <a:rPr lang="en-US" altLang="zh-CN" sz="1200" b="0" i="0" kern="1200" dirty="0">
                <a:solidFill>
                  <a:schemeClr val="tx1"/>
                </a:solidFill>
                <a:effectLst/>
                <a:latin typeface="+mn-lt"/>
                <a:ea typeface="+mn-ea"/>
                <a:cs typeface="+mn-cs"/>
              </a:rPr>
              <a:t>1. </a:t>
            </a:r>
            <a:r>
              <a:rPr lang="zh-CN" altLang="en-US" sz="1200" b="0" i="0" kern="1200" dirty="0">
                <a:solidFill>
                  <a:schemeClr val="tx1"/>
                </a:solidFill>
                <a:effectLst/>
                <a:latin typeface="+mn-lt"/>
                <a:ea typeface="+mn-ea"/>
                <a:cs typeface="+mn-cs"/>
              </a:rPr>
              <a:t>指令微调（</a:t>
            </a:r>
            <a:r>
              <a:rPr lang="en-US" altLang="zh-CN" sz="1200" b="0" i="0" kern="1200" dirty="0">
                <a:solidFill>
                  <a:schemeClr val="tx1"/>
                </a:solidFill>
                <a:effectLst/>
                <a:latin typeface="+mn-lt"/>
                <a:ea typeface="+mn-ea"/>
                <a:cs typeface="+mn-cs"/>
              </a:rPr>
              <a:t>SFT</a:t>
            </a:r>
            <a:r>
              <a:rPr lang="zh-CN" altLang="en-US" sz="1200" b="0" i="0" kern="1200" dirty="0">
                <a:solidFill>
                  <a:schemeClr val="tx1"/>
                </a:solidFill>
                <a:effectLst/>
                <a:latin typeface="+mn-lt"/>
                <a:ea typeface="+mn-ea"/>
                <a:cs typeface="+mn-cs"/>
              </a:rPr>
              <a:t>）在仅提取预训练行为而不是添加新行为时效果最好。</a:t>
            </a:r>
            <a:br>
              <a:rPr lang="zh-CN" altLang="en-US" dirty="0"/>
            </a:br>
            <a:r>
              <a:rPr lang="en-US" altLang="zh-CN" dirty="0"/>
              <a:t>2. </a:t>
            </a:r>
            <a:r>
              <a:rPr lang="zh-CN" altLang="en-US" sz="1200" b="0" i="0" kern="1200" dirty="0">
                <a:solidFill>
                  <a:schemeClr val="tx1"/>
                </a:solidFill>
                <a:effectLst/>
                <a:latin typeface="+mn-lt"/>
                <a:ea typeface="+mn-ea"/>
                <a:cs typeface="+mn-cs"/>
              </a:rPr>
              <a:t>添加（事实正确的）数据有时可能会适得其反。</a:t>
            </a:r>
            <a:br>
              <a:rPr lang="zh-CN" altLang="en-US" dirty="0"/>
            </a:br>
            <a:r>
              <a:rPr lang="en-US" altLang="zh-CN" dirty="0"/>
              <a:t>3. </a:t>
            </a:r>
            <a:r>
              <a:rPr lang="zh-CN" altLang="en-US" sz="1200" b="0" i="0" kern="1200" dirty="0">
                <a:solidFill>
                  <a:schemeClr val="tx1"/>
                </a:solidFill>
                <a:effectLst/>
                <a:latin typeface="+mn-lt"/>
                <a:ea typeface="+mn-ea"/>
                <a:cs typeface="+mn-cs"/>
              </a:rPr>
              <a:t>少量正确类型的行为（安全性、遵循指令、风格）会带来很大差异，但长尾部分的数据更多仍然有益。</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21</a:t>
            </a:fld>
            <a:endParaRPr lang="zh-CN" altLang="en-US"/>
          </a:p>
        </p:txBody>
      </p:sp>
    </p:spTree>
    <p:extLst>
      <p:ext uri="{BB962C8B-B14F-4D97-AF65-F5344CB8AC3E}">
        <p14:creationId xmlns:p14="http://schemas.microsoft.com/office/powerpoint/2010/main" val="27276643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得到了监督微调数据后，我们如何去微调？只要做梯度下降就行。但是你当你有很多计算和数据时，你会想要扩展指令微调</a:t>
            </a:r>
          </a:p>
        </p:txBody>
      </p:sp>
      <p:sp>
        <p:nvSpPr>
          <p:cNvPr id="4" name="灯片编号占位符 3"/>
          <p:cNvSpPr>
            <a:spLocks noGrp="1"/>
          </p:cNvSpPr>
          <p:nvPr>
            <p:ph type="sldNum" sz="quarter" idx="5"/>
          </p:nvPr>
        </p:nvSpPr>
        <p:spPr/>
        <p:txBody>
          <a:bodyPr/>
          <a:lstStyle/>
          <a:p>
            <a:fld id="{36B26CF1-BF27-4431-B71B-3569105507B5}" type="slidenum">
              <a:rPr lang="zh-CN" altLang="en-US" smtClean="0"/>
              <a:t>22</a:t>
            </a:fld>
            <a:endParaRPr lang="zh-CN" altLang="en-US"/>
          </a:p>
        </p:txBody>
      </p:sp>
    </p:spTree>
    <p:extLst>
      <p:ext uri="{BB962C8B-B14F-4D97-AF65-F5344CB8AC3E}">
        <p14:creationId xmlns:p14="http://schemas.microsoft.com/office/powerpoint/2010/main" val="19985275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一种做法是将指令微调变成预训练部分。</a:t>
            </a:r>
            <a:endParaRPr lang="en-US" altLang="zh-CN" dirty="0"/>
          </a:p>
          <a:p>
            <a:r>
              <a:rPr lang="en-US" altLang="zh-CN" sz="1200" b="0" i="0" kern="1200" dirty="0">
                <a:solidFill>
                  <a:schemeClr val="tx1"/>
                </a:solidFill>
                <a:effectLst/>
                <a:latin typeface="+mn-lt"/>
                <a:ea typeface="+mn-ea"/>
                <a:cs typeface="+mn-cs"/>
              </a:rPr>
              <a:t>1. </a:t>
            </a:r>
            <a:r>
              <a:rPr lang="zh-CN" altLang="en-US" sz="1200" b="0" i="0" kern="1200" dirty="0">
                <a:solidFill>
                  <a:schemeClr val="tx1"/>
                </a:solidFill>
                <a:effectLst/>
                <a:latin typeface="+mn-lt"/>
                <a:ea typeface="+mn-ea"/>
                <a:cs typeface="+mn-cs"/>
              </a:rPr>
              <a:t>在网络</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预训练数据上进行预训练</a:t>
            </a:r>
            <a:br>
              <a:rPr lang="zh-CN" altLang="en-US" b="0" dirty="0"/>
            </a:br>
            <a:r>
              <a:rPr lang="en-US" altLang="zh-CN" sz="1200" b="0" i="0" kern="1200" dirty="0">
                <a:solidFill>
                  <a:schemeClr val="tx1"/>
                </a:solidFill>
                <a:effectLst/>
                <a:latin typeface="+mn-lt"/>
                <a:ea typeface="+mn-ea"/>
                <a:cs typeface="+mn-cs"/>
              </a:rPr>
              <a:t>2. </a:t>
            </a:r>
            <a:r>
              <a:rPr lang="zh-CN" altLang="en-US" sz="1200" b="0" i="0" kern="1200" dirty="0">
                <a:solidFill>
                  <a:schemeClr val="tx1"/>
                </a:solidFill>
                <a:effectLst/>
                <a:latin typeface="+mn-lt"/>
                <a:ea typeface="+mn-ea"/>
                <a:cs typeface="+mn-cs"/>
              </a:rPr>
              <a:t>将指令调优数据混入预训练中</a:t>
            </a:r>
            <a:br>
              <a:rPr lang="zh-CN" altLang="en-US" b="0" dirty="0"/>
            </a:br>
            <a:r>
              <a:rPr lang="en-US" altLang="zh-CN" sz="1200" b="0" i="0" kern="1200" dirty="0">
                <a:solidFill>
                  <a:schemeClr val="tx1"/>
                </a:solidFill>
                <a:effectLst/>
                <a:latin typeface="+mn-lt"/>
                <a:ea typeface="+mn-ea"/>
                <a:cs typeface="+mn-cs"/>
              </a:rPr>
              <a:t>3. </a:t>
            </a:r>
            <a:r>
              <a:rPr lang="zh-CN" altLang="en-US" sz="1200" b="0" i="0" kern="1200" dirty="0">
                <a:solidFill>
                  <a:schemeClr val="tx1"/>
                </a:solidFill>
                <a:effectLst/>
                <a:latin typeface="+mn-lt"/>
                <a:ea typeface="+mn-ea"/>
                <a:cs typeface="+mn-cs"/>
              </a:rPr>
              <a:t>进行一次实际的（但短暂的）指令调优轮次</a:t>
            </a:r>
            <a:endParaRPr lang="zh-CN" altLang="en-US" b="0"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23</a:t>
            </a:fld>
            <a:endParaRPr lang="zh-CN" altLang="en-US"/>
          </a:p>
        </p:txBody>
      </p:sp>
    </p:spTree>
    <p:extLst>
      <p:ext uri="{BB962C8B-B14F-4D97-AF65-F5344CB8AC3E}">
        <p14:creationId xmlns:p14="http://schemas.microsoft.com/office/powerpoint/2010/main" val="40122186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中期训练，也叫做两阶段训练。是</a:t>
            </a:r>
            <a:r>
              <a:rPr lang="zh-CN" altLang="en-US" sz="1200" b="0" i="0" kern="1200" dirty="0">
                <a:solidFill>
                  <a:schemeClr val="tx1"/>
                </a:solidFill>
                <a:effectLst/>
                <a:latin typeface="+mn-lt"/>
                <a:ea typeface="+mn-ea"/>
                <a:cs typeface="+mn-cs"/>
              </a:rPr>
              <a:t>介于预训练和后训练之间的一种新兴训练策略。</a:t>
            </a:r>
            <a:endParaRPr lang="zh-CN" altLang="en-US" b="0"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24</a:t>
            </a:fld>
            <a:endParaRPr lang="zh-CN" altLang="en-US"/>
          </a:p>
        </p:txBody>
      </p:sp>
    </p:spTree>
    <p:extLst>
      <p:ext uri="{BB962C8B-B14F-4D97-AF65-F5344CB8AC3E}">
        <p14:creationId xmlns:p14="http://schemas.microsoft.com/office/powerpoint/2010/main" val="19490404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接下来是基于人类反馈的强化学习阶段。</a:t>
            </a:r>
          </a:p>
        </p:txBody>
      </p:sp>
      <p:sp>
        <p:nvSpPr>
          <p:cNvPr id="4" name="灯片编号占位符 3"/>
          <p:cNvSpPr>
            <a:spLocks noGrp="1"/>
          </p:cNvSpPr>
          <p:nvPr>
            <p:ph type="sldNum" sz="quarter" idx="5"/>
          </p:nvPr>
        </p:nvSpPr>
        <p:spPr/>
        <p:txBody>
          <a:bodyPr/>
          <a:lstStyle/>
          <a:p>
            <a:fld id="{36B26CF1-BF27-4431-B71B-3569105507B5}" type="slidenum">
              <a:rPr lang="zh-CN" altLang="en-US" smtClean="0"/>
              <a:t>25</a:t>
            </a:fld>
            <a:endParaRPr lang="zh-CN" altLang="en-US"/>
          </a:p>
        </p:txBody>
      </p:sp>
    </p:spTree>
    <p:extLst>
      <p:ext uri="{BB962C8B-B14F-4D97-AF65-F5344CB8AC3E}">
        <p14:creationId xmlns:p14="http://schemas.microsoft.com/office/powerpoint/2010/main" val="24350816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从监督微调到基于人类反馈的强化学习从模仿到优化过程。</a:t>
            </a:r>
            <a:endParaRPr lang="en-US" altLang="zh-CN" dirty="0"/>
          </a:p>
          <a:p>
            <a:r>
              <a:rPr lang="zh-CN" altLang="en-US" dirty="0"/>
              <a:t>可以说监督微调是一种模仿行为，它通过拟合参考分布来构建模型。</a:t>
            </a:r>
            <a:endParaRPr lang="en-US" altLang="zh-CN" dirty="0"/>
          </a:p>
          <a:p>
            <a:r>
              <a:rPr lang="zh-CN" altLang="en-US" dirty="0"/>
              <a:t>而基于人类反馈的强化学习是一种优化行为，通过最大化奖励来构建模型。</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26</a:t>
            </a:fld>
            <a:endParaRPr lang="zh-CN" altLang="en-US"/>
          </a:p>
        </p:txBody>
      </p:sp>
    </p:spTree>
    <p:extLst>
      <p:ext uri="{BB962C8B-B14F-4D97-AF65-F5344CB8AC3E}">
        <p14:creationId xmlns:p14="http://schemas.microsoft.com/office/powerpoint/2010/main" val="25522807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为什么不模仿 而去优化呢？</a:t>
            </a:r>
            <a:endParaRPr lang="en-US" altLang="zh-CN" dirty="0"/>
          </a:p>
          <a:p>
            <a:r>
              <a:rPr lang="zh-CN" altLang="en-US" dirty="0"/>
              <a:t>第一个原因可能是开销。</a:t>
            </a:r>
            <a:endParaRPr lang="en-US" altLang="zh-CN" dirty="0"/>
          </a:p>
          <a:p>
            <a:r>
              <a:rPr lang="zh-CN" altLang="en-US" dirty="0"/>
              <a:t>即使对于一个小模型来说，获取反馈比获取最优策略更容易。</a:t>
            </a:r>
            <a:endParaRPr lang="en-US" altLang="zh-CN" dirty="0"/>
          </a:p>
          <a:p>
            <a:r>
              <a:rPr lang="zh-CN" altLang="en-US" dirty="0"/>
              <a:t>并且监督微调数据可能非常昂贵。</a:t>
            </a:r>
            <a:endParaRPr lang="en-US" altLang="zh-CN" dirty="0"/>
          </a:p>
          <a:p>
            <a:r>
              <a:rPr lang="zh-CN" altLang="en-US" dirty="0"/>
              <a:t>专家验证任务远比解决问题容易很多。</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27</a:t>
            </a:fld>
            <a:endParaRPr lang="zh-CN" altLang="en-US"/>
          </a:p>
        </p:txBody>
      </p:sp>
    </p:spTree>
    <p:extLst>
      <p:ext uri="{BB962C8B-B14F-4D97-AF65-F5344CB8AC3E}">
        <p14:creationId xmlns:p14="http://schemas.microsoft.com/office/powerpoint/2010/main" val="25739728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另一个原因则可能是</a:t>
            </a:r>
            <a:r>
              <a:rPr lang="en-US" altLang="zh-CN" dirty="0"/>
              <a:t>G-V gap.</a:t>
            </a:r>
          </a:p>
          <a:p>
            <a:r>
              <a:rPr lang="zh-CN" altLang="en-US" sz="1200" b="0" i="0" kern="1200" dirty="0">
                <a:solidFill>
                  <a:schemeClr val="tx1"/>
                </a:solidFill>
                <a:effectLst/>
                <a:latin typeface="+mn-lt"/>
                <a:ea typeface="+mn-ea"/>
                <a:cs typeface="+mn-cs"/>
              </a:rPr>
              <a:t>人们并不总是在语言模型输出中写下他们更喜欢的内容。</a:t>
            </a:r>
            <a:endParaRPr lang="zh-CN" altLang="en-US" b="0"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28</a:t>
            </a:fld>
            <a:endParaRPr lang="zh-CN" altLang="en-US"/>
          </a:p>
        </p:txBody>
      </p:sp>
    </p:spTree>
    <p:extLst>
      <p:ext uri="{BB962C8B-B14F-4D97-AF65-F5344CB8AC3E}">
        <p14:creationId xmlns:p14="http://schemas.microsoft.com/office/powerpoint/2010/main" val="21317595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基于人类反馈的强化学习的主要内容如下：</a:t>
            </a:r>
            <a:endParaRPr lang="en-US" altLang="zh-CN" dirty="0"/>
          </a:p>
          <a:p>
            <a:r>
              <a:rPr lang="zh-CN" altLang="en-US" dirty="0"/>
              <a:t>首先是数据：人们怎样收集</a:t>
            </a:r>
            <a:r>
              <a:rPr lang="en-US" altLang="zh-CN" dirty="0"/>
              <a:t>RLHF</a:t>
            </a:r>
            <a:r>
              <a:rPr lang="zh-CN" altLang="en-US" dirty="0"/>
              <a:t>的数据，有什么需要担忧的点。</a:t>
            </a:r>
            <a:endParaRPr lang="en-US" altLang="zh-CN" dirty="0"/>
          </a:p>
          <a:p>
            <a:r>
              <a:rPr lang="zh-CN" altLang="en-US" dirty="0"/>
              <a:t>然后是我们怎么去进行强化学习，有两种方法：</a:t>
            </a:r>
            <a:r>
              <a:rPr lang="en-US" altLang="zh-CN" dirty="0"/>
              <a:t>PPO</a:t>
            </a:r>
            <a:r>
              <a:rPr lang="zh-CN" altLang="en-US" dirty="0"/>
              <a:t>和</a:t>
            </a:r>
            <a:r>
              <a:rPr lang="en-US" altLang="zh-CN" dirty="0"/>
              <a:t>DPO</a:t>
            </a:r>
          </a:p>
          <a:p>
            <a:r>
              <a:rPr lang="zh-CN" altLang="en-US" dirty="0"/>
              <a:t>最后介绍一下它的副作用。</a:t>
            </a:r>
            <a:endParaRPr lang="en-US" altLang="zh-CN"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29</a:t>
            </a:fld>
            <a:endParaRPr lang="zh-CN" altLang="en-US"/>
          </a:p>
        </p:txBody>
      </p:sp>
    </p:spTree>
    <p:extLst>
      <p:ext uri="{BB962C8B-B14F-4D97-AF65-F5344CB8AC3E}">
        <p14:creationId xmlns:p14="http://schemas.microsoft.com/office/powerpoint/2010/main" val="10475155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我们看到这个</a:t>
            </a:r>
            <a:r>
              <a:rPr lang="en-US" altLang="zh-CN" dirty="0"/>
              <a:t>RLHF</a:t>
            </a:r>
            <a:r>
              <a:rPr lang="zh-CN" altLang="en-US" dirty="0"/>
              <a:t>部分，它首先是通过一个成对反馈数据训练出一个奖励模型。我们会好奇这个成对反馈数据是如何获取的。</a:t>
            </a:r>
          </a:p>
        </p:txBody>
      </p:sp>
      <p:sp>
        <p:nvSpPr>
          <p:cNvPr id="4" name="灯片编号占位符 3"/>
          <p:cNvSpPr>
            <a:spLocks noGrp="1"/>
          </p:cNvSpPr>
          <p:nvPr>
            <p:ph type="sldNum" sz="quarter" idx="5"/>
          </p:nvPr>
        </p:nvSpPr>
        <p:spPr/>
        <p:txBody>
          <a:bodyPr/>
          <a:lstStyle/>
          <a:p>
            <a:fld id="{36B26CF1-BF27-4431-B71B-3569105507B5}" type="slidenum">
              <a:rPr lang="zh-CN" altLang="en-US" smtClean="0"/>
              <a:t>30</a:t>
            </a:fld>
            <a:endParaRPr lang="zh-CN" altLang="en-US"/>
          </a:p>
        </p:txBody>
      </p:sp>
    </p:spTree>
    <p:extLst>
      <p:ext uri="{BB962C8B-B14F-4D97-AF65-F5344CB8AC3E}">
        <p14:creationId xmlns:p14="http://schemas.microsoft.com/office/powerpoint/2010/main" val="27089121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它获取的方式有很多，比如说标准的设置是：在网页中给出两个</a:t>
            </a:r>
            <a:r>
              <a:rPr lang="en-US" altLang="zh-CN" dirty="0"/>
              <a:t>AI</a:t>
            </a:r>
            <a:r>
              <a:rPr lang="zh-CN" altLang="en-US" dirty="0"/>
              <a:t>模型关于问题的回答，由人们选择哪个答案更好。还有的是</a:t>
            </a:r>
            <a:r>
              <a:rPr lang="en-US" altLang="zh-CN" dirty="0"/>
              <a:t>GPT</a:t>
            </a:r>
            <a:r>
              <a:rPr lang="zh-CN" altLang="en-US" dirty="0"/>
              <a:t>的指南说明中得到。还有的是众包得到的。</a:t>
            </a:r>
          </a:p>
        </p:txBody>
      </p:sp>
      <p:sp>
        <p:nvSpPr>
          <p:cNvPr id="4" name="灯片编号占位符 3"/>
          <p:cNvSpPr>
            <a:spLocks noGrp="1"/>
          </p:cNvSpPr>
          <p:nvPr>
            <p:ph type="sldNum" sz="quarter" idx="5"/>
          </p:nvPr>
        </p:nvSpPr>
        <p:spPr/>
        <p:txBody>
          <a:bodyPr/>
          <a:lstStyle/>
          <a:p>
            <a:fld id="{36B26CF1-BF27-4431-B71B-3569105507B5}" type="slidenum">
              <a:rPr lang="zh-CN" altLang="en-US" smtClean="0"/>
              <a:t>31</a:t>
            </a:fld>
            <a:endParaRPr lang="zh-CN" altLang="en-US"/>
          </a:p>
        </p:txBody>
      </p:sp>
    </p:spTree>
    <p:extLst>
      <p:ext uri="{BB962C8B-B14F-4D97-AF65-F5344CB8AC3E}">
        <p14:creationId xmlns:p14="http://schemas.microsoft.com/office/powerpoint/2010/main" val="30530612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众包工作的复杂性有：</a:t>
            </a:r>
            <a:endParaRPr lang="en-US" altLang="zh-CN" dirty="0"/>
          </a:p>
          <a:p>
            <a:r>
              <a:rPr lang="zh-CN" altLang="en-US" dirty="0"/>
              <a:t>很难找到真正高质量，可验证的标注员</a:t>
            </a:r>
            <a:endParaRPr lang="en-US" altLang="zh-CN" dirty="0"/>
          </a:p>
          <a:p>
            <a:r>
              <a:rPr lang="zh-CN" altLang="en-US" sz="1200" b="0" i="0" kern="1200" dirty="0">
                <a:solidFill>
                  <a:schemeClr val="tx1"/>
                </a:solidFill>
                <a:effectLst/>
                <a:latin typeface="+mn-lt"/>
                <a:ea typeface="+mn-ea"/>
                <a:cs typeface="+mn-cs"/>
              </a:rPr>
              <a:t>很难让他们真正检查准确性</a:t>
            </a:r>
            <a:br>
              <a:rPr lang="zh-CN" altLang="en-US" dirty="0"/>
            </a:br>
            <a:r>
              <a:rPr lang="zh-CN" altLang="en-US" sz="1200" b="0" i="0" kern="1200" dirty="0">
                <a:solidFill>
                  <a:schemeClr val="tx1"/>
                </a:solidFill>
                <a:effectLst/>
                <a:latin typeface="+mn-lt"/>
                <a:ea typeface="+mn-ea"/>
                <a:cs typeface="+mn-cs"/>
              </a:rPr>
              <a:t>使用 </a:t>
            </a:r>
            <a:r>
              <a:rPr lang="en-US" altLang="zh-CN" sz="1200" b="0" i="0" kern="1200" dirty="0">
                <a:solidFill>
                  <a:schemeClr val="tx1"/>
                </a:solidFill>
                <a:effectLst/>
                <a:latin typeface="+mn-lt"/>
                <a:ea typeface="+mn-ea"/>
                <a:cs typeface="+mn-cs"/>
              </a:rPr>
              <a:t>GPT-4 </a:t>
            </a:r>
            <a:r>
              <a:rPr lang="zh-CN" altLang="en-US" sz="1200" b="0" i="0" kern="1200" dirty="0">
                <a:solidFill>
                  <a:schemeClr val="tx1"/>
                </a:solidFill>
                <a:effectLst/>
                <a:latin typeface="+mn-lt"/>
                <a:ea typeface="+mn-ea"/>
                <a:cs typeface="+mn-cs"/>
              </a:rPr>
              <a:t>时必须小心</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32</a:t>
            </a:fld>
            <a:endParaRPr lang="zh-CN" altLang="en-US"/>
          </a:p>
        </p:txBody>
      </p:sp>
    </p:spTree>
    <p:extLst>
      <p:ext uri="{BB962C8B-B14F-4D97-AF65-F5344CB8AC3E}">
        <p14:creationId xmlns:p14="http://schemas.microsoft.com/office/powerpoint/2010/main" val="9321411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所以这衍生出一些问题：</a:t>
            </a:r>
            <a:endParaRPr lang="en-US" altLang="zh-CN" dirty="0"/>
          </a:p>
          <a:p>
            <a:r>
              <a:rPr lang="zh-CN" altLang="en-US" sz="1200" b="0" i="0" kern="1200" dirty="0">
                <a:solidFill>
                  <a:schemeClr val="tx1"/>
                </a:solidFill>
                <a:effectLst/>
                <a:latin typeface="+mn-lt"/>
                <a:ea typeface="+mn-ea"/>
                <a:cs typeface="+mn-cs"/>
              </a:rPr>
              <a:t>众包伦理</a:t>
            </a:r>
            <a:br>
              <a:rPr lang="zh-CN" altLang="en-US" dirty="0"/>
            </a:br>
            <a:r>
              <a:rPr lang="zh-CN" altLang="en-US" sz="1200" b="0" i="0" kern="1200" dirty="0">
                <a:solidFill>
                  <a:schemeClr val="tx1"/>
                </a:solidFill>
                <a:effectLst/>
                <a:latin typeface="+mn-lt"/>
                <a:ea typeface="+mn-ea"/>
                <a:cs typeface="+mn-cs"/>
              </a:rPr>
              <a:t>用于 </a:t>
            </a:r>
            <a:r>
              <a:rPr lang="en-US" altLang="zh-CN" sz="1200" b="0" i="0" kern="1200" dirty="0">
                <a:solidFill>
                  <a:schemeClr val="tx1"/>
                </a:solidFill>
                <a:effectLst/>
                <a:latin typeface="+mn-lt"/>
                <a:ea typeface="+mn-ea"/>
                <a:cs typeface="+mn-cs"/>
              </a:rPr>
              <a:t>RLHF </a:t>
            </a:r>
            <a:r>
              <a:rPr lang="zh-CN" altLang="en-US" sz="1200" b="0" i="0" kern="1200" dirty="0">
                <a:solidFill>
                  <a:schemeClr val="tx1"/>
                </a:solidFill>
                <a:effectLst/>
                <a:latin typeface="+mn-lt"/>
                <a:ea typeface="+mn-ea"/>
                <a:cs typeface="+mn-cs"/>
              </a:rPr>
              <a:t>的标注者分布可能会显著影响其行为</a:t>
            </a:r>
            <a:br>
              <a:rPr lang="zh-CN" altLang="en-US" dirty="0"/>
            </a:br>
            <a:r>
              <a:rPr lang="zh-CN" altLang="en-US" sz="1200" b="0" i="0" kern="1200" dirty="0">
                <a:solidFill>
                  <a:schemeClr val="tx1"/>
                </a:solidFill>
                <a:effectLst/>
                <a:latin typeface="+mn-lt"/>
                <a:ea typeface="+mn-ea"/>
                <a:cs typeface="+mn-cs"/>
              </a:rPr>
              <a:t>标注者很重要（非常重要）：即使有许多标注者，这也是正确的</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但并非所有标注者</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33</a:t>
            </a:fld>
            <a:endParaRPr lang="zh-CN" altLang="en-US"/>
          </a:p>
        </p:txBody>
      </p:sp>
    </p:spTree>
    <p:extLst>
      <p:ext uri="{BB962C8B-B14F-4D97-AF65-F5344CB8AC3E}">
        <p14:creationId xmlns:p14="http://schemas.microsoft.com/office/powerpoint/2010/main" val="26472666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另一种数据来源是语言模型生成</a:t>
            </a:r>
            <a:endParaRPr lang="en-US" altLang="zh-CN" dirty="0"/>
          </a:p>
          <a:p>
            <a:r>
              <a:rPr lang="en-US" altLang="zh-CN" sz="1200" b="1" i="0" kern="1200" dirty="0">
                <a:solidFill>
                  <a:schemeClr val="tx1"/>
                </a:solidFill>
                <a:effectLst/>
                <a:latin typeface="+mn-lt"/>
                <a:ea typeface="+mn-ea"/>
                <a:cs typeface="+mn-cs"/>
              </a:rPr>
              <a:t>GPT4 </a:t>
            </a:r>
            <a:r>
              <a:rPr lang="zh-CN" altLang="en-US" sz="1200" b="1" i="0" kern="1200" dirty="0">
                <a:solidFill>
                  <a:schemeClr val="tx1"/>
                </a:solidFill>
                <a:effectLst/>
                <a:latin typeface="+mn-lt"/>
                <a:ea typeface="+mn-ea"/>
                <a:cs typeface="+mn-cs"/>
              </a:rPr>
              <a:t>是一个出乎意料的优秀成对反馈系统</a:t>
            </a:r>
            <a:br>
              <a:rPr lang="zh-CN" altLang="en-US" dirty="0"/>
            </a:br>
            <a:r>
              <a:rPr lang="zh-CN" altLang="en-US" sz="1200" b="1" i="0" kern="1200" dirty="0">
                <a:solidFill>
                  <a:schemeClr val="tx1"/>
                </a:solidFill>
                <a:effectLst/>
                <a:latin typeface="+mn-lt"/>
                <a:ea typeface="+mn-ea"/>
                <a:cs typeface="+mn-cs"/>
              </a:rPr>
              <a:t>在成本</a:t>
            </a:r>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质量光谱的低端</a:t>
            </a:r>
            <a:r>
              <a:rPr lang="en-US" altLang="zh-CN" sz="1200" b="1" i="0" kern="1200" dirty="0">
                <a:solidFill>
                  <a:schemeClr val="tx1"/>
                </a:solidFill>
                <a:effectLst/>
                <a:latin typeface="+mn-lt"/>
                <a:ea typeface="+mn-ea"/>
                <a:cs typeface="+mn-cs"/>
              </a:rPr>
              <a:t>——AI</a:t>
            </a:r>
            <a:r>
              <a:rPr lang="zh-CN" altLang="en-US" sz="1200" b="1" i="0" kern="1200" dirty="0">
                <a:solidFill>
                  <a:schemeClr val="tx1"/>
                </a:solidFill>
                <a:effectLst/>
                <a:latin typeface="+mn-lt"/>
                <a:ea typeface="+mn-ea"/>
                <a:cs typeface="+mn-cs"/>
              </a:rPr>
              <a:t>反馈经常用于 </a:t>
            </a:r>
            <a:r>
              <a:rPr lang="en-US" altLang="zh-CN" sz="1200" b="1" i="0" kern="1200" dirty="0">
                <a:solidFill>
                  <a:schemeClr val="tx1"/>
                </a:solidFill>
                <a:effectLst/>
                <a:latin typeface="+mn-lt"/>
                <a:ea typeface="+mn-ea"/>
                <a:cs typeface="+mn-cs"/>
              </a:rPr>
              <a:t>RLHF</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34</a:t>
            </a:fld>
            <a:endParaRPr lang="zh-CN" altLang="en-US"/>
          </a:p>
        </p:txBody>
      </p:sp>
    </p:spTree>
    <p:extLst>
      <p:ext uri="{BB962C8B-B14F-4D97-AF65-F5344CB8AC3E}">
        <p14:creationId xmlns:p14="http://schemas.microsoft.com/office/powerpoint/2010/main" val="13807978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长度效应：</a:t>
            </a:r>
            <a:endParaRPr lang="en-US" altLang="zh-CN" dirty="0"/>
          </a:p>
          <a:p>
            <a:r>
              <a:rPr lang="zh-CN" altLang="en-US" sz="1200" b="1" i="0" kern="1200" dirty="0">
                <a:solidFill>
                  <a:schemeClr val="tx1"/>
                </a:solidFill>
                <a:effectLst/>
                <a:latin typeface="+mn-lt"/>
                <a:ea typeface="+mn-ea"/>
                <a:cs typeface="+mn-cs"/>
              </a:rPr>
              <a:t>长度效应是强化学习与人类反馈（</a:t>
            </a:r>
            <a:r>
              <a:rPr lang="en-US" altLang="zh-CN" sz="1200" b="1" i="0" kern="1200" dirty="0">
                <a:solidFill>
                  <a:schemeClr val="tx1"/>
                </a:solidFill>
                <a:effectLst/>
                <a:latin typeface="+mn-lt"/>
                <a:ea typeface="+mn-ea"/>
                <a:cs typeface="+mn-cs"/>
              </a:rPr>
              <a:t>RLHF</a:t>
            </a:r>
            <a:r>
              <a:rPr lang="zh-CN" altLang="en-US" sz="1200" b="1" i="0" kern="1200" dirty="0">
                <a:solidFill>
                  <a:schemeClr val="tx1"/>
                </a:solidFill>
                <a:effectLst/>
                <a:latin typeface="+mn-lt"/>
                <a:ea typeface="+mn-ea"/>
                <a:cs typeface="+mn-cs"/>
              </a:rPr>
              <a:t>）一个非常显著的结果。从</a:t>
            </a:r>
            <a:r>
              <a:rPr lang="en-US" altLang="zh-CN" sz="1200" b="1" i="0" kern="1200" dirty="0">
                <a:solidFill>
                  <a:schemeClr val="tx1"/>
                </a:solidFill>
                <a:effectLst/>
                <a:latin typeface="+mn-lt"/>
                <a:ea typeface="+mn-ea"/>
                <a:cs typeface="+mn-cs"/>
              </a:rPr>
              <a:t>59</a:t>
            </a:r>
            <a:r>
              <a:rPr lang="zh-CN" altLang="en-US" sz="1200" b="1" i="0" kern="1200" dirty="0">
                <a:solidFill>
                  <a:schemeClr val="tx1"/>
                </a:solidFill>
                <a:effectLst/>
                <a:latin typeface="+mn-lt"/>
                <a:ea typeface="+mn-ea"/>
                <a:cs typeface="+mn-cs"/>
              </a:rPr>
              <a:t>个</a:t>
            </a:r>
            <a:r>
              <a:rPr lang="en-US" altLang="zh-CN" sz="1200" b="1" i="0" kern="1200" dirty="0">
                <a:solidFill>
                  <a:schemeClr val="tx1"/>
                </a:solidFill>
                <a:effectLst/>
                <a:latin typeface="+mn-lt"/>
                <a:ea typeface="+mn-ea"/>
                <a:cs typeface="+mn-cs"/>
              </a:rPr>
              <a:t>token</a:t>
            </a:r>
            <a:r>
              <a:rPr lang="zh-CN" altLang="en-US" sz="1200" b="1" i="0" kern="1200" dirty="0">
                <a:solidFill>
                  <a:schemeClr val="tx1"/>
                </a:solidFill>
                <a:effectLst/>
                <a:latin typeface="+mn-lt"/>
                <a:ea typeface="+mn-ea"/>
                <a:cs typeface="+mn-cs"/>
              </a:rPr>
              <a:t>变为</a:t>
            </a:r>
            <a:r>
              <a:rPr lang="en-US" altLang="zh-CN" sz="1200" b="1" i="0" kern="1200" dirty="0">
                <a:solidFill>
                  <a:schemeClr val="tx1"/>
                </a:solidFill>
                <a:effectLst/>
                <a:latin typeface="+mn-lt"/>
                <a:ea typeface="+mn-ea"/>
                <a:cs typeface="+mn-cs"/>
              </a:rPr>
              <a:t>243</a:t>
            </a:r>
            <a:r>
              <a:rPr lang="zh-CN" altLang="en-US" sz="1200" b="1" i="0" kern="1200" dirty="0">
                <a:solidFill>
                  <a:schemeClr val="tx1"/>
                </a:solidFill>
                <a:effectLst/>
                <a:latin typeface="+mn-lt"/>
                <a:ea typeface="+mn-ea"/>
                <a:cs typeface="+mn-cs"/>
              </a:rPr>
              <a:t>个</a:t>
            </a:r>
            <a:r>
              <a:rPr lang="en-US" altLang="zh-CN" sz="1200" b="1" i="0" kern="1200" dirty="0">
                <a:solidFill>
                  <a:schemeClr val="tx1"/>
                </a:solidFill>
                <a:effectLst/>
                <a:latin typeface="+mn-lt"/>
                <a:ea typeface="+mn-ea"/>
                <a:cs typeface="+mn-cs"/>
              </a:rPr>
              <a:t>token</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35</a:t>
            </a:fld>
            <a:endParaRPr lang="zh-CN" altLang="en-US"/>
          </a:p>
        </p:txBody>
      </p:sp>
    </p:spTree>
    <p:extLst>
      <p:ext uri="{BB962C8B-B14F-4D97-AF65-F5344CB8AC3E}">
        <p14:creationId xmlns:p14="http://schemas.microsoft.com/office/powerpoint/2010/main" val="32838846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现在我们有了高质量的成对反馈数据收集管道了，我们如何让模型去利用这些成对反馈数据呢？</a:t>
            </a:r>
            <a:endParaRPr lang="en-US" altLang="zh-CN" dirty="0"/>
          </a:p>
          <a:p>
            <a:r>
              <a:rPr lang="zh-CN" altLang="en-US" dirty="0"/>
              <a:t>有两种方法，一种是</a:t>
            </a:r>
            <a:r>
              <a:rPr lang="en-US" altLang="zh-CN" dirty="0"/>
              <a:t>PPO</a:t>
            </a:r>
            <a:r>
              <a:rPr lang="zh-CN" altLang="en-US" dirty="0"/>
              <a:t>，原始但复杂的做法。</a:t>
            </a:r>
            <a:r>
              <a:rPr lang="en-US" altLang="zh-CN" dirty="0"/>
              <a:t>”</a:t>
            </a:r>
            <a:r>
              <a:rPr lang="en-US" altLang="zh-CN" sz="1200" b="1" i="0" kern="1200" dirty="0">
                <a:solidFill>
                  <a:schemeClr val="tx1"/>
                </a:solidFill>
                <a:effectLst/>
                <a:latin typeface="+mn-lt"/>
                <a:ea typeface="+mn-ea"/>
                <a:cs typeface="+mn-cs"/>
              </a:rPr>
              <a:t>Proximal Policy Optimization”</a:t>
            </a:r>
            <a:r>
              <a:rPr lang="zh-CN" altLang="en-US" sz="1200" b="1" i="0" kern="1200" dirty="0">
                <a:solidFill>
                  <a:schemeClr val="tx1"/>
                </a:solidFill>
                <a:effectLst/>
                <a:latin typeface="+mn-lt"/>
                <a:ea typeface="+mn-ea"/>
                <a:cs typeface="+mn-cs"/>
              </a:rPr>
              <a:t>（近端策略优化）</a:t>
            </a:r>
            <a:endParaRPr lang="en-US" altLang="zh-CN" dirty="0"/>
          </a:p>
          <a:p>
            <a:r>
              <a:rPr lang="zh-CN" altLang="en-US" dirty="0"/>
              <a:t>另一种是</a:t>
            </a:r>
            <a:r>
              <a:rPr lang="en-US" altLang="zh-CN" dirty="0"/>
              <a:t>DPO</a:t>
            </a:r>
            <a:r>
              <a:rPr lang="zh-CN" altLang="en-US" dirty="0"/>
              <a:t>，一种新的，可实现的方法。</a:t>
            </a:r>
            <a:r>
              <a:rPr lang="en-US" altLang="zh-CN" dirty="0"/>
              <a:t> </a:t>
            </a:r>
            <a:r>
              <a:rPr lang="zh-CN" altLang="en-US" b="1" dirty="0"/>
              <a:t>“</a:t>
            </a:r>
            <a:r>
              <a:rPr lang="en-US" altLang="zh-CN" b="1" dirty="0"/>
              <a:t>Direct Preference Optimization</a:t>
            </a:r>
            <a:r>
              <a:rPr lang="zh-CN" altLang="en-US" b="1" dirty="0"/>
              <a:t>”（直接偏好优化）</a:t>
            </a:r>
          </a:p>
        </p:txBody>
      </p:sp>
      <p:sp>
        <p:nvSpPr>
          <p:cNvPr id="4" name="灯片编号占位符 3"/>
          <p:cNvSpPr>
            <a:spLocks noGrp="1"/>
          </p:cNvSpPr>
          <p:nvPr>
            <p:ph type="sldNum" sz="quarter" idx="5"/>
          </p:nvPr>
        </p:nvSpPr>
        <p:spPr/>
        <p:txBody>
          <a:bodyPr/>
          <a:lstStyle/>
          <a:p>
            <a:fld id="{36B26CF1-BF27-4431-B71B-3569105507B5}" type="slidenum">
              <a:rPr lang="zh-CN" altLang="en-US" smtClean="0"/>
              <a:t>36</a:t>
            </a:fld>
            <a:endParaRPr lang="zh-CN" altLang="en-US"/>
          </a:p>
        </p:txBody>
      </p:sp>
    </p:spTree>
    <p:extLst>
      <p:ext uri="{BB962C8B-B14F-4D97-AF65-F5344CB8AC3E}">
        <p14:creationId xmlns:p14="http://schemas.microsoft.com/office/powerpoint/2010/main" val="32614260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在概念层面上，</a:t>
            </a:r>
            <a:r>
              <a:rPr lang="en-US" altLang="zh-CN" dirty="0"/>
              <a:t>PPO</a:t>
            </a:r>
            <a:r>
              <a:rPr lang="zh-CN" altLang="en-US" dirty="0"/>
              <a:t>各种想法的简要介绍：</a:t>
            </a:r>
            <a:endParaRPr lang="en-US" altLang="zh-CN" dirty="0"/>
          </a:p>
          <a:p>
            <a:r>
              <a:rPr lang="zh-CN" altLang="en-US" dirty="0"/>
              <a:t>第一种是策略梯度，但是这样方差太高</a:t>
            </a:r>
            <a:endParaRPr lang="en-US" altLang="zh-CN" dirty="0"/>
          </a:p>
          <a:p>
            <a:r>
              <a:rPr lang="zh-CN" altLang="en-US" dirty="0"/>
              <a:t>第二种是叫做</a:t>
            </a:r>
            <a:r>
              <a:rPr lang="en-US" altLang="zh-CN" dirty="0"/>
              <a:t>TRPO</a:t>
            </a:r>
            <a:r>
              <a:rPr lang="zh-CN" altLang="en-US" dirty="0"/>
              <a:t>。</a:t>
            </a:r>
            <a:endParaRPr lang="en-US" altLang="zh-CN" dirty="0"/>
          </a:p>
          <a:p>
            <a:r>
              <a:rPr lang="zh-CN" altLang="en-US" dirty="0"/>
              <a:t>第三种是</a:t>
            </a:r>
            <a:r>
              <a:rPr lang="en-US" altLang="zh-CN" dirty="0"/>
              <a:t>PPO</a:t>
            </a:r>
            <a:r>
              <a:rPr lang="zh-CN" altLang="en-US" dirty="0"/>
              <a:t>。</a:t>
            </a:r>
            <a:r>
              <a:rPr lang="zh-CN" altLang="en-US" sz="1200" b="0" i="0" kern="1200" dirty="0">
                <a:solidFill>
                  <a:schemeClr val="tx1"/>
                </a:solidFill>
                <a:effectLst/>
                <a:latin typeface="+mn-lt"/>
                <a:ea typeface="+mn-ea"/>
                <a:cs typeface="+mn-cs"/>
              </a:rPr>
              <a:t>模型（</a:t>
            </a:r>
            <a:r>
              <a:rPr lang="en-US" altLang="zh-CN" sz="1200" b="0" i="0" kern="1200" dirty="0">
                <a:solidFill>
                  <a:schemeClr val="tx1"/>
                </a:solidFill>
                <a:effectLst/>
                <a:latin typeface="+mn-lt"/>
                <a:ea typeface="+mn-ea"/>
                <a:cs typeface="+mn-cs"/>
              </a:rPr>
              <a:t>AI</a:t>
            </a:r>
            <a:r>
              <a:rPr lang="zh-CN" altLang="en-US" sz="1200" b="0" i="0" kern="1200" dirty="0">
                <a:solidFill>
                  <a:schemeClr val="tx1"/>
                </a:solidFill>
                <a:effectLst/>
                <a:latin typeface="+mn-lt"/>
                <a:ea typeface="+mn-ea"/>
                <a:cs typeface="+mn-cs"/>
              </a:rPr>
              <a:t>）通过试错和与裁判（奖励模型）的互动来学习。它生成多个回答，裁判给每个回答打分（奖励），模型的目标是调整自己，使自己更可能生成高分的回答，同时避免与之前的自己差别太大（“近端”的含义）。</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37</a:t>
            </a:fld>
            <a:endParaRPr lang="zh-CN" altLang="en-US"/>
          </a:p>
        </p:txBody>
      </p:sp>
    </p:spTree>
    <p:extLst>
      <p:ext uri="{BB962C8B-B14F-4D97-AF65-F5344CB8AC3E}">
        <p14:creationId xmlns:p14="http://schemas.microsoft.com/office/powerpoint/2010/main" val="12166812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我们可不可以不做任何的强化学习？</a:t>
            </a:r>
            <a:endParaRPr lang="en-US" altLang="zh-CN" dirty="0"/>
          </a:p>
          <a:p>
            <a:r>
              <a:rPr lang="zh-CN" altLang="en-US" sz="1200" b="0" i="0" kern="1200" dirty="0">
                <a:solidFill>
                  <a:schemeClr val="tx1"/>
                </a:solidFill>
                <a:effectLst/>
                <a:latin typeface="+mn-lt"/>
                <a:ea typeface="+mn-ea"/>
                <a:cs typeface="+mn-cs"/>
              </a:rPr>
              <a:t>人们想到的一些合理做法：</a:t>
            </a:r>
            <a:br>
              <a:rPr lang="zh-CN" altLang="en-US" dirty="0"/>
            </a:b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用控制标记训练模型</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（在成对数据上进行</a:t>
            </a:r>
            <a:r>
              <a:rPr lang="en-US" altLang="zh-CN" sz="1200" b="0" i="0" kern="1200" dirty="0">
                <a:solidFill>
                  <a:schemeClr val="tx1"/>
                </a:solidFill>
                <a:effectLst/>
                <a:latin typeface="+mn-lt"/>
                <a:ea typeface="+mn-ea"/>
                <a:cs typeface="+mn-cs"/>
              </a:rPr>
              <a:t>SFT</a:t>
            </a:r>
            <a:r>
              <a:rPr lang="zh-CN" altLang="en-US" sz="1200" b="0" i="0" kern="1200" dirty="0">
                <a:solidFill>
                  <a:schemeClr val="tx1"/>
                </a:solidFill>
                <a:effectLst/>
                <a:latin typeface="+mn-lt"/>
                <a:ea typeface="+mn-ea"/>
                <a:cs typeface="+mn-cs"/>
              </a:rPr>
              <a:t>训练，对选中的加前缀</a:t>
            </a:r>
            <a:r>
              <a:rPr lang="en-US" altLang="zh-CN" sz="1200" b="0" i="0" kern="1200" dirty="0">
                <a:solidFill>
                  <a:schemeClr val="tx1"/>
                </a:solidFill>
                <a:effectLst/>
                <a:latin typeface="+mn-lt"/>
                <a:ea typeface="+mn-ea"/>
                <a:cs typeface="+mn-cs"/>
              </a:rPr>
              <a:t>[GOOD]</a:t>
            </a:r>
            <a:r>
              <a:rPr lang="zh-CN" altLang="en-US" sz="1200" b="0" i="0" kern="1200" dirty="0">
                <a:solidFill>
                  <a:schemeClr val="tx1"/>
                </a:solidFill>
                <a:effectLst/>
                <a:latin typeface="+mn-lt"/>
                <a:ea typeface="+mn-ea"/>
                <a:cs typeface="+mn-cs"/>
              </a:rPr>
              <a:t>，对未选中的加前缀</a:t>
            </a:r>
            <a:r>
              <a:rPr lang="en-US" altLang="zh-CN" sz="1200" b="0" i="0" kern="1200" dirty="0">
                <a:solidFill>
                  <a:schemeClr val="tx1"/>
                </a:solidFill>
                <a:effectLst/>
                <a:latin typeface="+mn-lt"/>
                <a:ea typeface="+mn-ea"/>
                <a:cs typeface="+mn-cs"/>
              </a:rPr>
              <a:t>[BAD]</a:t>
            </a:r>
            <a:r>
              <a:rPr lang="zh-CN" altLang="en-US" sz="1200" b="0" i="0" kern="1200" dirty="0">
                <a:solidFill>
                  <a:schemeClr val="tx1"/>
                </a:solidFill>
                <a:effectLst/>
                <a:latin typeface="+mn-lt"/>
                <a:ea typeface="+mn-ea"/>
                <a:cs typeface="+mn-cs"/>
              </a:rPr>
              <a:t>）</a:t>
            </a:r>
            <a:br>
              <a:rPr lang="zh-CN" altLang="en-US" dirty="0"/>
            </a:b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仅对首选输出训练模型</a:t>
            </a:r>
            <a:br>
              <a:rPr lang="zh-CN" altLang="en-US" dirty="0"/>
            </a:b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训练奖励模型，获取语言模型输出，再在首选输出上训练</a:t>
            </a:r>
            <a:br>
              <a:rPr lang="zh-CN" altLang="en-US" dirty="0"/>
            </a:b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训练奖励模型，获取</a:t>
            </a:r>
            <a:r>
              <a:rPr lang="en-US" altLang="zh-CN" sz="1200" b="0" i="0" kern="1200" dirty="0">
                <a:solidFill>
                  <a:schemeClr val="tx1"/>
                </a:solidFill>
                <a:effectLst/>
                <a:latin typeface="+mn-lt"/>
                <a:ea typeface="+mn-ea"/>
                <a:cs typeface="+mn-cs"/>
              </a:rPr>
              <a:t>1024</a:t>
            </a:r>
            <a:r>
              <a:rPr lang="zh-CN" altLang="en-US" sz="1200" b="0" i="0" kern="1200" dirty="0">
                <a:solidFill>
                  <a:schemeClr val="tx1"/>
                </a:solidFill>
                <a:effectLst/>
                <a:latin typeface="+mn-lt"/>
                <a:ea typeface="+mn-ea"/>
                <a:cs typeface="+mn-cs"/>
              </a:rPr>
              <a:t>个语言模型输出，选出最佳的一个。</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38</a:t>
            </a:fld>
            <a:endParaRPr lang="zh-CN" altLang="en-US"/>
          </a:p>
        </p:txBody>
      </p:sp>
    </p:spTree>
    <p:extLst>
      <p:ext uri="{BB962C8B-B14F-4D97-AF65-F5344CB8AC3E}">
        <p14:creationId xmlns:p14="http://schemas.microsoft.com/office/powerpoint/2010/main" val="13558950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尝试通过以下方式简化 </a:t>
            </a:r>
            <a:r>
              <a:rPr lang="en-US" altLang="zh-CN" sz="1200" b="0" i="0" kern="1200" dirty="0">
                <a:solidFill>
                  <a:schemeClr val="tx1"/>
                </a:solidFill>
                <a:effectLst/>
                <a:latin typeface="+mn-lt"/>
                <a:ea typeface="+mn-ea"/>
                <a:cs typeface="+mn-cs"/>
              </a:rPr>
              <a:t>PPO</a:t>
            </a:r>
            <a:r>
              <a:rPr lang="zh-CN" altLang="en-US" sz="1200" b="0" i="0" kern="1200" dirty="0">
                <a:solidFill>
                  <a:schemeClr val="tx1"/>
                </a:solidFill>
                <a:effectLst/>
                <a:latin typeface="+mn-lt"/>
                <a:ea typeface="+mn-ea"/>
                <a:cs typeface="+mn-cs"/>
              </a:rPr>
              <a:t>：</a:t>
            </a:r>
            <a:br>
              <a:rPr lang="zh-CN" altLang="en-US" dirty="0"/>
            </a:b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删除奖励模型</a:t>
            </a:r>
            <a:br>
              <a:rPr lang="zh-CN" altLang="en-US" dirty="0"/>
            </a:b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删除任何基于策略的内容（采样、外层循环等）</a:t>
            </a:r>
            <a:br>
              <a:rPr lang="zh-CN" altLang="en-US" dirty="0"/>
            </a:br>
            <a:r>
              <a:rPr lang="zh-CN" altLang="en-US" sz="1200" b="0" i="0" kern="1200" dirty="0">
                <a:solidFill>
                  <a:schemeClr val="tx1"/>
                </a:solidFill>
                <a:effectLst/>
                <a:latin typeface="+mn-lt"/>
                <a:ea typeface="+mn-ea"/>
                <a:cs typeface="+mn-cs"/>
              </a:rPr>
              <a:t>取而代之的是：</a:t>
            </a:r>
            <a:br>
              <a:rPr lang="zh-CN" altLang="en-US" dirty="0"/>
            </a:b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对好的内容在对数损失上进行梯度步长更新</a:t>
            </a:r>
            <a:br>
              <a:rPr lang="zh-CN" altLang="en-US" dirty="0"/>
            </a:b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对坏的内容进行负梯度步长更新（适当加权）。</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39</a:t>
            </a:fld>
            <a:endParaRPr lang="zh-CN" altLang="en-US"/>
          </a:p>
        </p:txBody>
      </p:sp>
    </p:spTree>
    <p:extLst>
      <p:ext uri="{BB962C8B-B14F-4D97-AF65-F5344CB8AC3E}">
        <p14:creationId xmlns:p14="http://schemas.microsoft.com/office/powerpoint/2010/main" val="6715256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直接给模型看人类标注的“好答案”和“坏答案”的成对样本（</a:t>
            </a:r>
            <a:r>
              <a:rPr lang="en-US" altLang="zh-CN" sz="1200" b="0" i="0" kern="1200" dirty="0">
                <a:solidFill>
                  <a:schemeClr val="tx1"/>
                </a:solidFill>
                <a:effectLst/>
                <a:latin typeface="+mn-lt"/>
                <a:ea typeface="+mn-ea"/>
                <a:cs typeface="+mn-cs"/>
              </a:rPr>
              <a:t>(winner, loser)</a:t>
            </a:r>
            <a:r>
              <a:rPr lang="zh-CN" altLang="en-US" sz="1200" b="0" i="0" kern="1200" dirty="0">
                <a:solidFill>
                  <a:schemeClr val="tx1"/>
                </a:solidFill>
                <a:effectLst/>
                <a:latin typeface="+mn-lt"/>
                <a:ea typeface="+mn-ea"/>
                <a:cs typeface="+mn-cs"/>
              </a:rPr>
              <a:t>）。模型不需要通过裁判打分，而是直接学习模仿“好答案”的风格和模式，并远离“坏答案”。</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40</a:t>
            </a:fld>
            <a:endParaRPr lang="zh-CN" altLang="en-US"/>
          </a:p>
        </p:txBody>
      </p:sp>
    </p:spTree>
    <p:extLst>
      <p:ext uri="{BB962C8B-B14F-4D97-AF65-F5344CB8AC3E}">
        <p14:creationId xmlns:p14="http://schemas.microsoft.com/office/powerpoint/2010/main" val="5496728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关键步骤？</a:t>
            </a:r>
            <a:br>
              <a:rPr lang="zh-CN" altLang="en-US" dirty="0"/>
            </a:br>
            <a:r>
              <a:rPr lang="zh-CN" altLang="en-US" sz="1200" b="0" i="0" kern="1200" dirty="0">
                <a:solidFill>
                  <a:schemeClr val="tx1"/>
                </a:solidFill>
                <a:effectLst/>
                <a:latin typeface="+mn-lt"/>
                <a:ea typeface="+mn-ea"/>
                <a:cs typeface="+mn-cs"/>
              </a:rPr>
              <a:t>做一个非参数假设（以闭式形式连接 𝜋𝜃 和 </a:t>
            </a:r>
            <a:r>
              <a:rPr lang="en-US" altLang="zh-CN" sz="1200" b="0" i="0" kern="1200" dirty="0">
                <a:solidFill>
                  <a:schemeClr val="tx1"/>
                </a:solidFill>
                <a:effectLst/>
                <a:latin typeface="+mn-lt"/>
                <a:ea typeface="+mn-ea"/>
                <a:cs typeface="+mn-cs"/>
              </a:rPr>
              <a:t>r</a:t>
            </a:r>
            <a:r>
              <a:rPr lang="zh-CN" altLang="en-US" sz="1200" b="0" i="0" kern="1200" dirty="0">
                <a:solidFill>
                  <a:schemeClr val="tx1"/>
                </a:solidFill>
                <a:effectLst/>
                <a:latin typeface="+mn-lt"/>
                <a:ea typeface="+mn-ea"/>
                <a:cs typeface="+mn-cs"/>
              </a:rPr>
              <a:t>）</a:t>
            </a:r>
            <a:br>
              <a:rPr lang="zh-CN" altLang="en-US" dirty="0"/>
            </a:br>
            <a:r>
              <a:rPr lang="zh-CN" altLang="en-US" sz="1200" b="0" i="0" kern="1200" dirty="0">
                <a:solidFill>
                  <a:schemeClr val="tx1"/>
                </a:solidFill>
                <a:effectLst/>
                <a:latin typeface="+mn-lt"/>
                <a:ea typeface="+mn-ea"/>
                <a:cs typeface="+mn-cs"/>
              </a:rPr>
              <a:t>通过策略对奖励 </a:t>
            </a:r>
            <a:r>
              <a:rPr lang="en-US" altLang="zh-CN" sz="1200" b="0" i="0" kern="1200" dirty="0">
                <a:solidFill>
                  <a:schemeClr val="tx1"/>
                </a:solidFill>
                <a:effectLst/>
                <a:latin typeface="+mn-lt"/>
                <a:ea typeface="+mn-ea"/>
                <a:cs typeface="+mn-cs"/>
              </a:rPr>
              <a:t>r </a:t>
            </a:r>
            <a:r>
              <a:rPr lang="zh-CN" altLang="en-US" sz="1200" b="0" i="0" kern="1200" dirty="0">
                <a:solidFill>
                  <a:schemeClr val="tx1"/>
                </a:solidFill>
                <a:effectLst/>
                <a:latin typeface="+mn-lt"/>
                <a:ea typeface="+mn-ea"/>
                <a:cs typeface="+mn-cs"/>
              </a:rPr>
              <a:t>进行参数化</a:t>
            </a:r>
            <a:br>
              <a:rPr lang="zh-CN" altLang="en-US" dirty="0"/>
            </a:br>
            <a:r>
              <a:rPr lang="zh-CN" altLang="en-US" sz="1200" b="0" i="0" kern="1200" dirty="0">
                <a:solidFill>
                  <a:schemeClr val="tx1"/>
                </a:solidFill>
                <a:effectLst/>
                <a:latin typeface="+mn-lt"/>
                <a:ea typeface="+mn-ea"/>
                <a:cs typeface="+mn-cs"/>
              </a:rPr>
              <a:t>使用监督损失优化奖励（这反过来会优化策略）</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41</a:t>
            </a:fld>
            <a:endParaRPr lang="zh-CN" altLang="en-US"/>
          </a:p>
        </p:txBody>
      </p:sp>
    </p:spTree>
    <p:extLst>
      <p:ext uri="{BB962C8B-B14F-4D97-AF65-F5344CB8AC3E}">
        <p14:creationId xmlns:p14="http://schemas.microsoft.com/office/powerpoint/2010/main" val="4896911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mn-lt"/>
                <a:ea typeface="+mn-ea"/>
                <a:cs typeface="+mn-cs"/>
              </a:rPr>
              <a:t>在某种意义上，可以简化为“好的正梯度，坏的负梯度”</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42</a:t>
            </a:fld>
            <a:endParaRPr lang="zh-CN" altLang="en-US"/>
          </a:p>
        </p:txBody>
      </p:sp>
    </p:spTree>
    <p:extLst>
      <p:ext uri="{BB962C8B-B14F-4D97-AF65-F5344CB8AC3E}">
        <p14:creationId xmlns:p14="http://schemas.microsoft.com/office/powerpoint/2010/main" val="5687953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mn-lt"/>
                <a:ea typeface="+mn-ea"/>
                <a:cs typeface="+mn-cs"/>
              </a:rPr>
              <a:t>与我们之前的 </a:t>
            </a:r>
            <a:r>
              <a:rPr lang="en-US" altLang="zh-CN" sz="1200" b="1" i="0" kern="1200" dirty="0">
                <a:solidFill>
                  <a:schemeClr val="tx1"/>
                </a:solidFill>
                <a:effectLst/>
                <a:latin typeface="+mn-lt"/>
                <a:ea typeface="+mn-ea"/>
                <a:cs typeface="+mn-cs"/>
              </a:rPr>
              <a:t>PPO </a:t>
            </a:r>
            <a:r>
              <a:rPr lang="zh-CN" altLang="en-US" sz="1200" b="1" i="0" kern="1200" dirty="0">
                <a:solidFill>
                  <a:schemeClr val="tx1"/>
                </a:solidFill>
                <a:effectLst/>
                <a:latin typeface="+mn-lt"/>
                <a:ea typeface="+mn-ea"/>
                <a:cs typeface="+mn-cs"/>
              </a:rPr>
              <a:t>实现相比？在仿真中性能相同，并且没有损失！</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43</a:t>
            </a:fld>
            <a:endParaRPr lang="zh-CN" altLang="en-US"/>
          </a:p>
        </p:txBody>
      </p:sp>
    </p:spTree>
    <p:extLst>
      <p:ext uri="{BB962C8B-B14F-4D97-AF65-F5344CB8AC3E}">
        <p14:creationId xmlns:p14="http://schemas.microsoft.com/office/powerpoint/2010/main" val="4761063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mn-lt"/>
                <a:ea typeface="+mn-ea"/>
                <a:cs typeface="+mn-cs"/>
              </a:rPr>
              <a:t>大多数“顶级开源”</a:t>
            </a:r>
            <a:r>
              <a:rPr lang="en-US" altLang="zh-CN" sz="1200" b="1" i="0" kern="1200" dirty="0">
                <a:solidFill>
                  <a:schemeClr val="tx1"/>
                </a:solidFill>
                <a:effectLst/>
                <a:latin typeface="+mn-lt"/>
                <a:ea typeface="+mn-ea"/>
                <a:cs typeface="+mn-cs"/>
              </a:rPr>
              <a:t>RLHF </a:t>
            </a:r>
            <a:r>
              <a:rPr lang="zh-CN" altLang="en-US" sz="1200" b="1" i="0" kern="1200" dirty="0">
                <a:solidFill>
                  <a:schemeClr val="tx1"/>
                </a:solidFill>
                <a:effectLst/>
                <a:latin typeface="+mn-lt"/>
                <a:ea typeface="+mn-ea"/>
                <a:cs typeface="+mn-cs"/>
              </a:rPr>
              <a:t>模型都使用</a:t>
            </a:r>
            <a:r>
              <a:rPr lang="en-US" altLang="zh-CN" sz="1200" b="1" i="0" kern="1200" dirty="0">
                <a:solidFill>
                  <a:schemeClr val="tx1"/>
                </a:solidFill>
                <a:effectLst/>
                <a:latin typeface="+mn-lt"/>
                <a:ea typeface="+mn-ea"/>
                <a:cs typeface="+mn-cs"/>
              </a:rPr>
              <a:t>DPO</a:t>
            </a:r>
            <a:r>
              <a:rPr lang="zh-CN" altLang="en-US" sz="1200" b="1" i="0" kern="1200" dirty="0">
                <a:solidFill>
                  <a:schemeClr val="tx1"/>
                </a:solidFill>
                <a:effectLst/>
                <a:latin typeface="+mn-lt"/>
                <a:ea typeface="+mn-ea"/>
                <a:cs typeface="+mn-cs"/>
              </a:rPr>
              <a:t>方法</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44</a:t>
            </a:fld>
            <a:endParaRPr lang="zh-CN" altLang="en-US"/>
          </a:p>
        </p:txBody>
      </p:sp>
    </p:spTree>
    <p:extLst>
      <p:ext uri="{BB962C8B-B14F-4D97-AF65-F5344CB8AC3E}">
        <p14:creationId xmlns:p14="http://schemas.microsoft.com/office/powerpoint/2010/main" val="40276409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DPO</a:t>
            </a:r>
            <a:r>
              <a:rPr lang="zh-CN" altLang="en-US" dirty="0"/>
              <a:t>有许多变体</a:t>
            </a:r>
            <a:endParaRPr lang="en-US" altLang="zh-CN" dirty="0"/>
          </a:p>
          <a:p>
            <a:r>
              <a:rPr lang="zh-CN" altLang="en-US" dirty="0"/>
              <a:t>长度归一化</a:t>
            </a:r>
            <a:r>
              <a:rPr lang="en-US" altLang="zh-CN" dirty="0"/>
              <a:t>DPO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err="1"/>
              <a:t>SimPO</a:t>
            </a:r>
            <a:r>
              <a:rPr lang="zh-CN" altLang="en-US" dirty="0"/>
              <a:t>：它直接去掉了参考模型，并且使用了长度归一化。</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45</a:t>
            </a:fld>
            <a:endParaRPr lang="zh-CN" altLang="en-US"/>
          </a:p>
        </p:txBody>
      </p:sp>
    </p:spTree>
    <p:extLst>
      <p:ext uri="{BB962C8B-B14F-4D97-AF65-F5344CB8AC3E}">
        <p14:creationId xmlns:p14="http://schemas.microsoft.com/office/powerpoint/2010/main" val="387809320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a:t>
            </a:r>
            <a:r>
              <a:rPr lang="en-US" altLang="zh-CN" dirty="0"/>
              <a:t>RLHF</a:t>
            </a:r>
            <a:r>
              <a:rPr lang="zh-CN" altLang="en-US" dirty="0"/>
              <a:t>中需要注意的点是：</a:t>
            </a:r>
            <a:endParaRPr lang="en-US" altLang="zh-CN" dirty="0"/>
          </a:p>
          <a:p>
            <a:r>
              <a:rPr lang="zh-CN" altLang="en-US" sz="1200" b="1" i="0" kern="1200" dirty="0">
                <a:solidFill>
                  <a:schemeClr val="tx1"/>
                </a:solidFill>
                <a:effectLst/>
                <a:latin typeface="+mn-lt"/>
                <a:ea typeface="+mn-ea"/>
                <a:cs typeface="+mn-cs"/>
              </a:rPr>
              <a:t>在奖励上过度优化</a:t>
            </a:r>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过度拟合；</a:t>
            </a:r>
            <a:endParaRPr lang="en-US" altLang="zh-CN" sz="1200" b="1"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模式崩溃 </a:t>
            </a:r>
            <a:r>
              <a:rPr lang="en-US" altLang="zh-CN" sz="1200" b="1" i="0" kern="1200" dirty="0">
                <a:solidFill>
                  <a:schemeClr val="tx1"/>
                </a:solidFill>
                <a:effectLst/>
                <a:latin typeface="+mn-lt"/>
                <a:ea typeface="+mn-ea"/>
                <a:cs typeface="+mn-cs"/>
              </a:rPr>
              <a:t>/ </a:t>
            </a:r>
            <a:r>
              <a:rPr lang="zh-CN" altLang="en-US" sz="1200" b="1" i="0" kern="1200" dirty="0">
                <a:solidFill>
                  <a:schemeClr val="tx1"/>
                </a:solidFill>
                <a:effectLst/>
                <a:latin typeface="+mn-lt"/>
                <a:ea typeface="+mn-ea"/>
                <a:cs typeface="+mn-cs"/>
              </a:rPr>
              <a:t>熵</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46</a:t>
            </a:fld>
            <a:endParaRPr lang="zh-CN" altLang="en-US"/>
          </a:p>
        </p:txBody>
      </p:sp>
    </p:spTree>
    <p:extLst>
      <p:ext uri="{BB962C8B-B14F-4D97-AF65-F5344CB8AC3E}">
        <p14:creationId xmlns:p14="http://schemas.microsoft.com/office/powerpoint/2010/main" val="24271687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在许多不同的</a:t>
            </a:r>
            <a:r>
              <a:rPr lang="en-US" altLang="zh-CN" sz="1200" b="0" i="0" kern="1200" dirty="0">
                <a:solidFill>
                  <a:schemeClr val="tx1"/>
                </a:solidFill>
                <a:effectLst/>
                <a:latin typeface="+mn-lt"/>
                <a:ea typeface="+mn-ea"/>
                <a:cs typeface="+mn-cs"/>
              </a:rPr>
              <a:t>RLHF</a:t>
            </a:r>
            <a:r>
              <a:rPr lang="zh-CN" altLang="en-US" sz="1200" b="0" i="0" kern="1200" dirty="0">
                <a:solidFill>
                  <a:schemeClr val="tx1"/>
                </a:solidFill>
                <a:effectLst/>
                <a:latin typeface="+mn-lt"/>
                <a:ea typeface="+mn-ea"/>
                <a:cs typeface="+mn-cs"/>
              </a:rPr>
              <a:t>风格优化器中。优化奖励会在某一点之后过拟合</a:t>
            </a:r>
            <a:br>
              <a:rPr lang="zh-CN" altLang="en-US" dirty="0"/>
            </a:br>
            <a:br>
              <a:rPr lang="zh-CN" altLang="en-US" dirty="0"/>
            </a:br>
            <a:r>
              <a:rPr lang="zh-CN" altLang="en-US" sz="1200" b="0" i="0" kern="1200" dirty="0">
                <a:solidFill>
                  <a:schemeClr val="tx1"/>
                </a:solidFill>
                <a:effectLst/>
                <a:latin typeface="+mn-lt"/>
                <a:ea typeface="+mn-ea"/>
                <a:cs typeface="+mn-cs"/>
              </a:rPr>
              <a:t>对于人类偏好（左）、有噪声的语言模型偏好（中）成立，但对于无噪声的语言模型偏好（右）则不成立</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47</a:t>
            </a:fld>
            <a:endParaRPr lang="zh-CN" altLang="en-US"/>
          </a:p>
        </p:txBody>
      </p:sp>
    </p:spTree>
    <p:extLst>
      <p:ext uri="{BB962C8B-B14F-4D97-AF65-F5344CB8AC3E}">
        <p14:creationId xmlns:p14="http://schemas.microsoft.com/office/powerpoint/2010/main" val="9502728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a:solidFill>
                  <a:schemeClr val="tx1"/>
                </a:solidFill>
                <a:effectLst/>
                <a:latin typeface="+mn-lt"/>
                <a:ea typeface="+mn-ea"/>
                <a:cs typeface="+mn-cs"/>
              </a:rPr>
              <a:t>RLHF </a:t>
            </a:r>
            <a:r>
              <a:rPr lang="zh-CN" altLang="en-US" sz="1200" b="1" i="0" kern="1200" dirty="0">
                <a:solidFill>
                  <a:schemeClr val="tx1"/>
                </a:solidFill>
                <a:effectLst/>
                <a:latin typeface="+mn-lt"/>
                <a:ea typeface="+mn-ea"/>
                <a:cs typeface="+mn-cs"/>
              </a:rPr>
              <a:t>使模型不再是‘概率模型’。</a:t>
            </a:r>
            <a:r>
              <a:rPr lang="zh-CN" altLang="en-US" sz="1200" b="0" i="0" kern="1200" dirty="0">
                <a:solidFill>
                  <a:schemeClr val="tx1"/>
                </a:solidFill>
                <a:effectLst/>
                <a:latin typeface="+mn-lt"/>
                <a:ea typeface="+mn-ea"/>
                <a:cs typeface="+mn-cs"/>
              </a:rPr>
              <a:t>模型坍塌是指生成模型由于过度使用低质量数据或对类似模型的输出进行重复微调而导致性能下降的现象。</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48</a:t>
            </a:fld>
            <a:endParaRPr lang="zh-CN" altLang="en-US"/>
          </a:p>
        </p:txBody>
      </p:sp>
    </p:spTree>
    <p:extLst>
      <p:ext uri="{BB962C8B-B14F-4D97-AF65-F5344CB8AC3E}">
        <p14:creationId xmlns:p14="http://schemas.microsoft.com/office/powerpoint/2010/main" val="13662524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我们来回顾一下基于人类反馈的强化学习阶段：</a:t>
            </a:r>
            <a:endParaRPr lang="en-US" altLang="zh-CN" dirty="0"/>
          </a:p>
          <a:p>
            <a:r>
              <a:rPr lang="en-US" altLang="zh-CN" sz="1200" b="0" i="0" kern="1200" dirty="0">
                <a:solidFill>
                  <a:schemeClr val="tx1"/>
                </a:solidFill>
                <a:effectLst/>
                <a:latin typeface="+mn-lt"/>
                <a:ea typeface="+mn-ea"/>
                <a:cs typeface="+mn-cs"/>
              </a:rPr>
              <a:t>RLHF </a:t>
            </a:r>
            <a:r>
              <a:rPr lang="zh-CN" altLang="en-US" sz="1200" b="0" i="0" kern="1200" dirty="0">
                <a:solidFill>
                  <a:schemeClr val="tx1"/>
                </a:solidFill>
                <a:effectLst/>
                <a:latin typeface="+mn-lt"/>
                <a:ea typeface="+mn-ea"/>
                <a:cs typeface="+mn-cs"/>
              </a:rPr>
              <a:t>数据收集（也）很困难！有许多混杂因素</a:t>
            </a:r>
            <a:br>
              <a:rPr lang="zh-CN" altLang="en-US" dirty="0"/>
            </a:br>
            <a:r>
              <a:rPr lang="en-US" altLang="zh-CN" sz="1200" b="0" i="0" kern="1200" dirty="0">
                <a:solidFill>
                  <a:schemeClr val="tx1"/>
                </a:solidFill>
                <a:effectLst/>
                <a:latin typeface="+mn-lt"/>
                <a:ea typeface="+mn-ea"/>
                <a:cs typeface="+mn-cs"/>
              </a:rPr>
              <a:t>RLHF </a:t>
            </a:r>
            <a:r>
              <a:rPr lang="zh-CN" altLang="en-US" sz="1200" b="0" i="0" kern="1200" dirty="0">
                <a:solidFill>
                  <a:schemeClr val="tx1"/>
                </a:solidFill>
                <a:effectLst/>
                <a:latin typeface="+mn-lt"/>
                <a:ea typeface="+mn-ea"/>
                <a:cs typeface="+mn-cs"/>
              </a:rPr>
              <a:t>算法比 </a:t>
            </a:r>
            <a:r>
              <a:rPr lang="en-US" altLang="zh-CN" sz="1200" b="0" i="0" kern="1200" dirty="0">
                <a:solidFill>
                  <a:schemeClr val="tx1"/>
                </a:solidFill>
                <a:effectLst/>
                <a:latin typeface="+mn-lt"/>
                <a:ea typeface="+mn-ea"/>
                <a:cs typeface="+mn-cs"/>
              </a:rPr>
              <a:t>SFT </a:t>
            </a:r>
            <a:r>
              <a:rPr lang="zh-CN" altLang="en-US" sz="1200" b="0" i="0" kern="1200" dirty="0">
                <a:solidFill>
                  <a:schemeClr val="tx1"/>
                </a:solidFill>
                <a:effectLst/>
                <a:latin typeface="+mn-lt"/>
                <a:ea typeface="+mn-ea"/>
                <a:cs typeface="+mn-cs"/>
              </a:rPr>
              <a:t>略复杂</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尤其是 </a:t>
            </a:r>
            <a:r>
              <a:rPr lang="en-US" altLang="zh-CN" sz="1200" b="0" i="0" kern="1200" dirty="0">
                <a:solidFill>
                  <a:schemeClr val="tx1"/>
                </a:solidFill>
                <a:effectLst/>
                <a:latin typeface="+mn-lt"/>
                <a:ea typeface="+mn-ea"/>
                <a:cs typeface="+mn-cs"/>
              </a:rPr>
              <a:t>PPO</a:t>
            </a:r>
            <a:br>
              <a:rPr lang="zh-CN" altLang="en-US" dirty="0"/>
            </a:br>
            <a:r>
              <a:rPr lang="zh-CN" altLang="en-US" sz="1200" b="0" i="0" kern="1200" dirty="0">
                <a:solidFill>
                  <a:schemeClr val="tx1"/>
                </a:solidFill>
                <a:effectLst/>
                <a:latin typeface="+mn-lt"/>
                <a:ea typeface="+mn-ea"/>
                <a:cs typeface="+mn-cs"/>
              </a:rPr>
              <a:t>注意（过度）优化奖励的影响</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49</a:t>
            </a:fld>
            <a:endParaRPr lang="zh-CN" altLang="en-US"/>
          </a:p>
        </p:txBody>
      </p:sp>
    </p:spTree>
    <p:extLst>
      <p:ext uri="{BB962C8B-B14F-4D97-AF65-F5344CB8AC3E}">
        <p14:creationId xmlns:p14="http://schemas.microsoft.com/office/powerpoint/2010/main" val="411034047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3186C-2954-577C-2635-D547357AD41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AD6355B-F703-C93A-D801-1C19DFF422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1F26801-362C-80C5-90EC-0EFF498CEBC3}"/>
              </a:ext>
            </a:extLst>
          </p:cNvPr>
          <p:cNvSpPr>
            <a:spLocks noGrp="1"/>
          </p:cNvSpPr>
          <p:nvPr>
            <p:ph type="body" idx="1"/>
          </p:nvPr>
        </p:nvSpPr>
        <p:spPr/>
        <p:txBody>
          <a:bodyPr/>
          <a:lstStyle/>
          <a:p>
            <a:r>
              <a:rPr lang="zh-CN" altLang="en-US" dirty="0"/>
              <a:t>然后是第</a:t>
            </a:r>
            <a:r>
              <a:rPr lang="en-US" altLang="zh-CN" dirty="0"/>
              <a:t>16</a:t>
            </a:r>
            <a:r>
              <a:rPr lang="zh-CN" altLang="en-US" dirty="0"/>
              <a:t>讲，讲一些核心算法和案例研究</a:t>
            </a:r>
          </a:p>
        </p:txBody>
      </p:sp>
      <p:sp>
        <p:nvSpPr>
          <p:cNvPr id="4" name="灯片编号占位符 3">
            <a:extLst>
              <a:ext uri="{FF2B5EF4-FFF2-40B4-BE49-F238E27FC236}">
                <a16:creationId xmlns:a16="http://schemas.microsoft.com/office/drawing/2014/main" id="{17701446-90DA-38C4-2298-3D93C15B90F9}"/>
              </a:ext>
            </a:extLst>
          </p:cNvPr>
          <p:cNvSpPr>
            <a:spLocks noGrp="1"/>
          </p:cNvSpPr>
          <p:nvPr>
            <p:ph type="sldNum" sz="quarter" idx="5"/>
          </p:nvPr>
        </p:nvSpPr>
        <p:spPr/>
        <p:txBody>
          <a:bodyPr/>
          <a:lstStyle/>
          <a:p>
            <a:fld id="{36B26CF1-BF27-4431-B71B-3569105507B5}" type="slidenum">
              <a:rPr lang="zh-CN" altLang="en-US" smtClean="0"/>
              <a:t>50</a:t>
            </a:fld>
            <a:endParaRPr lang="zh-CN" altLang="en-US"/>
          </a:p>
        </p:txBody>
      </p:sp>
    </p:spTree>
    <p:extLst>
      <p:ext uri="{BB962C8B-B14F-4D97-AF65-F5344CB8AC3E}">
        <p14:creationId xmlns:p14="http://schemas.microsoft.com/office/powerpoint/2010/main" val="27420980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我们回顾一下</a:t>
            </a:r>
            <a:r>
              <a:rPr lang="en-US" altLang="zh-CN" dirty="0"/>
              <a:t>15</a:t>
            </a:r>
            <a:r>
              <a:rPr lang="zh-CN" altLang="en-US" dirty="0"/>
              <a:t>讲，通过预训练和后训练我们得到了</a:t>
            </a:r>
            <a:r>
              <a:rPr lang="en-US" altLang="zh-CN" dirty="0"/>
              <a:t>GPT-3.5</a:t>
            </a:r>
            <a:r>
              <a:rPr lang="zh-CN" altLang="en-US" dirty="0"/>
              <a:t>。</a:t>
            </a:r>
            <a:endParaRPr lang="en-US" altLang="zh-CN" dirty="0"/>
          </a:p>
          <a:p>
            <a:r>
              <a:rPr lang="zh-CN" altLang="en-US" dirty="0"/>
              <a:t>这节课将会带我们实现</a:t>
            </a:r>
            <a:r>
              <a:rPr lang="en-US" altLang="zh-CN" dirty="0"/>
              <a:t>o1</a:t>
            </a:r>
            <a:r>
              <a:rPr lang="zh-CN" altLang="en-US" dirty="0"/>
              <a:t>和</a:t>
            </a:r>
            <a:r>
              <a:rPr lang="en-US" altLang="zh-CN" dirty="0"/>
              <a:t>r1</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51</a:t>
            </a:fld>
            <a:endParaRPr lang="zh-CN" altLang="en-US"/>
          </a:p>
        </p:txBody>
      </p:sp>
    </p:spTree>
    <p:extLst>
      <p:ext uri="{BB962C8B-B14F-4D97-AF65-F5344CB8AC3E}">
        <p14:creationId xmlns:p14="http://schemas.microsoft.com/office/powerpoint/2010/main" val="186349215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mn-lt"/>
                <a:ea typeface="+mn-ea"/>
                <a:cs typeface="+mn-cs"/>
              </a:rPr>
              <a:t>使用 </a:t>
            </a:r>
            <a:r>
              <a:rPr lang="en-US" altLang="zh-CN" sz="1200" b="1" i="0" kern="1200" dirty="0">
                <a:solidFill>
                  <a:schemeClr val="tx1"/>
                </a:solidFill>
                <a:effectLst/>
                <a:latin typeface="+mn-lt"/>
                <a:ea typeface="+mn-ea"/>
                <a:cs typeface="+mn-cs"/>
              </a:rPr>
              <a:t>RLHF</a:t>
            </a:r>
            <a:r>
              <a:rPr lang="zh-CN" altLang="en-US" sz="1200" b="1" i="0" kern="1200" dirty="0">
                <a:solidFill>
                  <a:schemeClr val="tx1"/>
                </a:solidFill>
                <a:effectLst/>
                <a:latin typeface="+mn-lt"/>
                <a:ea typeface="+mn-ea"/>
                <a:cs typeface="+mn-cs"/>
              </a:rPr>
              <a:t>：由于过度拟合，我们无法清晰地扩展。 我们能否在 </a:t>
            </a:r>
            <a:r>
              <a:rPr lang="en-US" altLang="zh-CN" sz="1200" b="1" i="0" kern="1200" dirty="0">
                <a:solidFill>
                  <a:schemeClr val="tx1"/>
                </a:solidFill>
                <a:effectLst/>
                <a:latin typeface="+mn-lt"/>
                <a:ea typeface="+mn-ea"/>
                <a:cs typeface="+mn-cs"/>
              </a:rPr>
              <a:t>RL </a:t>
            </a:r>
            <a:r>
              <a:rPr lang="zh-CN" altLang="en-US" sz="1200" b="1" i="0" kern="1200" dirty="0">
                <a:solidFill>
                  <a:schemeClr val="tx1"/>
                </a:solidFill>
                <a:effectLst/>
                <a:latin typeface="+mn-lt"/>
                <a:ea typeface="+mn-ea"/>
                <a:cs typeface="+mn-cs"/>
              </a:rPr>
              <a:t>擅长的领域工作？在那里我们可以精确地优化我们想要的东西</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52</a:t>
            </a:fld>
            <a:endParaRPr lang="zh-CN" altLang="en-US"/>
          </a:p>
        </p:txBody>
      </p:sp>
    </p:spTree>
    <p:extLst>
      <p:ext uri="{BB962C8B-B14F-4D97-AF65-F5344CB8AC3E}">
        <p14:creationId xmlns:p14="http://schemas.microsoft.com/office/powerpoint/2010/main" val="13774035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我们来看一下这节课的总览：首先是一些核心的算法：</a:t>
            </a:r>
            <a:r>
              <a:rPr lang="en-US" altLang="zh-CN" dirty="0"/>
              <a:t>PPO</a:t>
            </a:r>
            <a:r>
              <a:rPr lang="zh-CN" altLang="en-US" dirty="0"/>
              <a:t>和</a:t>
            </a:r>
            <a:r>
              <a:rPr lang="en-US" altLang="zh-CN" dirty="0"/>
              <a:t>GRPO</a:t>
            </a:r>
            <a:r>
              <a:rPr lang="zh-CN" altLang="en-US" dirty="0"/>
              <a:t>以及</a:t>
            </a:r>
            <a:r>
              <a:rPr lang="en-US" altLang="zh-CN" dirty="0"/>
              <a:t>GRPO</a:t>
            </a:r>
            <a:r>
              <a:rPr lang="zh-CN" altLang="en-US" dirty="0"/>
              <a:t>的变体</a:t>
            </a:r>
            <a:endParaRPr lang="en-US" altLang="zh-CN" dirty="0"/>
          </a:p>
          <a:p>
            <a:r>
              <a:rPr lang="zh-CN" altLang="en-US" dirty="0"/>
              <a:t>然后是案例研究，我们会介绍三个模型：</a:t>
            </a:r>
            <a:r>
              <a:rPr lang="en-US" altLang="zh-CN" dirty="0" err="1"/>
              <a:t>Deepseek</a:t>
            </a:r>
            <a:r>
              <a:rPr lang="en-US" altLang="zh-CN" dirty="0"/>
              <a:t>, Kimi </a:t>
            </a:r>
            <a:r>
              <a:rPr lang="zh-CN" altLang="en-US" dirty="0"/>
              <a:t>和</a:t>
            </a:r>
            <a:r>
              <a:rPr lang="en-US" altLang="zh-CN" dirty="0"/>
              <a:t>Qwen</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53</a:t>
            </a:fld>
            <a:endParaRPr lang="zh-CN" altLang="en-US"/>
          </a:p>
        </p:txBody>
      </p:sp>
    </p:spTree>
    <p:extLst>
      <p:ext uri="{BB962C8B-B14F-4D97-AF65-F5344CB8AC3E}">
        <p14:creationId xmlns:p14="http://schemas.microsoft.com/office/powerpoint/2010/main" val="347186951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模型（</a:t>
            </a:r>
            <a:r>
              <a:rPr lang="en-US" altLang="zh-CN" sz="1200" b="0" i="0" kern="1200" dirty="0">
                <a:solidFill>
                  <a:schemeClr val="tx1"/>
                </a:solidFill>
                <a:effectLst/>
                <a:latin typeface="+mn-lt"/>
                <a:ea typeface="+mn-ea"/>
                <a:cs typeface="+mn-cs"/>
              </a:rPr>
              <a:t>AI</a:t>
            </a:r>
            <a:r>
              <a:rPr lang="zh-CN" altLang="en-US" sz="1200" b="0" i="0" kern="1200" dirty="0">
                <a:solidFill>
                  <a:schemeClr val="tx1"/>
                </a:solidFill>
                <a:effectLst/>
                <a:latin typeface="+mn-lt"/>
                <a:ea typeface="+mn-ea"/>
                <a:cs typeface="+mn-cs"/>
              </a:rPr>
              <a:t>）通过试错和与裁判（奖励模型）的互动来学习。它生成多个回答，裁判给每个回答打分（奖励），模型的目标是调整自己，使自己更可能生成高分的回答，同时避免与之前的自己差别太大（“近端”的含义）。</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54</a:t>
            </a:fld>
            <a:endParaRPr lang="zh-CN" altLang="en-US"/>
          </a:p>
        </p:txBody>
      </p:sp>
    </p:spTree>
    <p:extLst>
      <p:ext uri="{BB962C8B-B14F-4D97-AF65-F5344CB8AC3E}">
        <p14:creationId xmlns:p14="http://schemas.microsoft.com/office/powerpoint/2010/main" val="17971330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mn-lt"/>
                <a:ea typeface="+mn-ea"/>
                <a:cs typeface="+mn-cs"/>
              </a:rPr>
              <a:t>你期待在</a:t>
            </a:r>
            <a:r>
              <a:rPr lang="en-US" altLang="zh-CN" sz="1200" b="1" i="0" kern="1200" dirty="0">
                <a:solidFill>
                  <a:schemeClr val="tx1"/>
                </a:solidFill>
                <a:effectLst/>
                <a:latin typeface="+mn-lt"/>
                <a:ea typeface="+mn-ea"/>
                <a:cs typeface="+mn-cs"/>
              </a:rPr>
              <a:t>PPO</a:t>
            </a:r>
            <a:r>
              <a:rPr lang="zh-CN" altLang="en-US" sz="1200" b="1" i="0" kern="1200" dirty="0">
                <a:solidFill>
                  <a:schemeClr val="tx1"/>
                </a:solidFill>
                <a:effectLst/>
                <a:latin typeface="+mn-lt"/>
                <a:ea typeface="+mn-ea"/>
                <a:cs typeface="+mn-cs"/>
              </a:rPr>
              <a:t>看到什么？</a:t>
            </a:r>
            <a:endParaRPr lang="en-US" altLang="zh-CN" sz="1200" b="1"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这是一个强盗设置，你可以期待合理的训练曲线。</a:t>
            </a:r>
            <a:endParaRPr lang="en-US" altLang="zh-CN" sz="1200" b="1"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总体奖励上升</a:t>
            </a:r>
            <a:endParaRPr lang="en-US" altLang="zh-CN" sz="1200" b="1"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包含奖励模型</a:t>
            </a:r>
            <a:endParaRPr lang="en-US" altLang="zh-CN" sz="1200" b="1"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负的</a:t>
            </a:r>
            <a:r>
              <a:rPr lang="en-US" altLang="zh-CN" sz="1200" b="1" i="0" kern="1200" dirty="0">
                <a:solidFill>
                  <a:schemeClr val="tx1"/>
                </a:solidFill>
                <a:effectLst/>
                <a:latin typeface="+mn-lt"/>
                <a:ea typeface="+mn-ea"/>
                <a:cs typeface="+mn-cs"/>
              </a:rPr>
              <a:t>KL</a:t>
            </a:r>
            <a:r>
              <a:rPr lang="zh-CN" altLang="en-US" sz="1200" b="1" i="0" kern="1200" dirty="0">
                <a:solidFill>
                  <a:schemeClr val="tx1"/>
                </a:solidFill>
                <a:effectLst/>
                <a:latin typeface="+mn-lt"/>
                <a:ea typeface="+mn-ea"/>
                <a:cs typeface="+mn-cs"/>
              </a:rPr>
              <a:t>散度奖励</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55</a:t>
            </a:fld>
            <a:endParaRPr lang="zh-CN" altLang="en-US"/>
          </a:p>
        </p:txBody>
      </p:sp>
    </p:spTree>
    <p:extLst>
      <p:ext uri="{BB962C8B-B14F-4D97-AF65-F5344CB8AC3E}">
        <p14:creationId xmlns:p14="http://schemas.microsoft.com/office/powerpoint/2010/main" val="222265926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我们为什么需要别的强化学习算法？</a:t>
            </a:r>
            <a:endParaRPr lang="en-US" altLang="zh-CN" dirty="0"/>
          </a:p>
          <a:p>
            <a:r>
              <a:rPr lang="zh-CN" altLang="en-US" sz="1200" b="0" i="0" kern="1200" dirty="0">
                <a:solidFill>
                  <a:schemeClr val="tx1"/>
                </a:solidFill>
                <a:effectLst/>
                <a:latin typeface="+mn-lt"/>
                <a:ea typeface="+mn-ea"/>
                <a:cs typeface="+mn-cs"/>
              </a:rPr>
              <a:t>为什么不用 </a:t>
            </a:r>
            <a:r>
              <a:rPr lang="en-US" altLang="zh-CN" sz="1200" b="0" i="0" kern="1200" dirty="0">
                <a:solidFill>
                  <a:schemeClr val="tx1"/>
                </a:solidFill>
                <a:effectLst/>
                <a:latin typeface="+mn-lt"/>
                <a:ea typeface="+mn-ea"/>
                <a:cs typeface="+mn-cs"/>
              </a:rPr>
              <a:t>PPO</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在实际操作中，实现复杂</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价值模型（占用大量内存，训练时需要额外的调参）</a:t>
            </a:r>
            <a:br>
              <a:rPr lang="zh-CN" altLang="en-US" dirty="0"/>
            </a:br>
            <a:r>
              <a:rPr lang="zh-CN" altLang="en-US" sz="1200" b="0" i="0" kern="1200" dirty="0">
                <a:solidFill>
                  <a:schemeClr val="tx1"/>
                </a:solidFill>
                <a:effectLst/>
                <a:latin typeface="+mn-lt"/>
                <a:ea typeface="+mn-ea"/>
                <a:cs typeface="+mn-cs"/>
              </a:rPr>
              <a:t>为什么不用 </a:t>
            </a:r>
            <a:r>
              <a:rPr lang="en-US" altLang="zh-CN" sz="1200" b="0" i="0" kern="1200" dirty="0">
                <a:solidFill>
                  <a:schemeClr val="tx1"/>
                </a:solidFill>
                <a:effectLst/>
                <a:latin typeface="+mn-lt"/>
                <a:ea typeface="+mn-ea"/>
                <a:cs typeface="+mn-cs"/>
              </a:rPr>
              <a:t>DPO</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数据本身不是成对的（或不是 </a:t>
            </a:r>
            <a:r>
              <a:rPr lang="en-US" altLang="zh-CN" sz="1200" b="0" i="0" kern="1200" dirty="0">
                <a:solidFill>
                  <a:schemeClr val="tx1"/>
                </a:solidFill>
                <a:effectLst/>
                <a:latin typeface="+mn-lt"/>
                <a:ea typeface="+mn-ea"/>
                <a:cs typeface="+mn-cs"/>
              </a:rPr>
              <a:t>Bradley-Terry </a:t>
            </a:r>
            <a:r>
              <a:rPr lang="zh-CN" altLang="en-US" sz="1200" b="0" i="0" kern="1200" dirty="0">
                <a:solidFill>
                  <a:schemeClr val="tx1"/>
                </a:solidFill>
                <a:effectLst/>
                <a:latin typeface="+mn-lt"/>
                <a:ea typeface="+mn-ea"/>
                <a:cs typeface="+mn-cs"/>
              </a:rPr>
              <a:t>比较形式）</a:t>
            </a:r>
            <a:r>
              <a:rPr lang="en-US" altLang="zh-CN" sz="1200" b="0" i="0" kern="1200" dirty="0">
                <a:solidFill>
                  <a:schemeClr val="tx1"/>
                </a:solidFill>
                <a:effectLst/>
                <a:latin typeface="+mn-lt"/>
                <a:ea typeface="+mn-ea"/>
                <a:cs typeface="+mn-cs"/>
              </a:rPr>
              <a:t>	• </a:t>
            </a:r>
            <a:r>
              <a:rPr lang="zh-CN" altLang="en-US" sz="1200" b="0" i="0" kern="1200" dirty="0">
                <a:solidFill>
                  <a:schemeClr val="tx1"/>
                </a:solidFill>
                <a:effectLst/>
                <a:latin typeface="+mn-lt"/>
                <a:ea typeface="+mn-ea"/>
                <a:cs typeface="+mn-cs"/>
              </a:rPr>
              <a:t>离线（虽然可以通过迭代改成在线）</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56</a:t>
            </a:fld>
            <a:endParaRPr lang="zh-CN" altLang="en-US"/>
          </a:p>
        </p:txBody>
      </p:sp>
    </p:spTree>
    <p:extLst>
      <p:ext uri="{BB962C8B-B14F-4D97-AF65-F5344CB8AC3E}">
        <p14:creationId xmlns:p14="http://schemas.microsoft.com/office/powerpoint/2010/main" val="86265096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什么是 </a:t>
            </a:r>
            <a:r>
              <a:rPr lang="en-US" altLang="zh-CN" sz="1200" b="0" i="0" kern="1200" dirty="0">
                <a:solidFill>
                  <a:schemeClr val="tx1"/>
                </a:solidFill>
                <a:effectLst/>
                <a:latin typeface="+mn-lt"/>
                <a:ea typeface="+mn-ea"/>
                <a:cs typeface="+mn-cs"/>
              </a:rPr>
              <a:t>GRPO</a:t>
            </a:r>
            <a:r>
              <a:rPr lang="zh-CN" altLang="en-US" sz="1200" b="0" i="0" kern="1200" dirty="0">
                <a:solidFill>
                  <a:schemeClr val="tx1"/>
                </a:solidFill>
                <a:effectLst/>
                <a:latin typeface="+mn-lt"/>
                <a:ea typeface="+mn-ea"/>
                <a:cs typeface="+mn-cs"/>
              </a:rPr>
              <a:t>？</a:t>
            </a:r>
            <a:br>
              <a:rPr lang="zh-CN" altLang="en-US" dirty="0"/>
            </a:br>
            <a:r>
              <a:rPr lang="zh-CN" altLang="en-US" sz="1200" b="0" i="0" kern="1200" dirty="0">
                <a:solidFill>
                  <a:schemeClr val="tx1"/>
                </a:solidFill>
                <a:effectLst/>
                <a:latin typeface="+mn-lt"/>
                <a:ea typeface="+mn-ea"/>
                <a:cs typeface="+mn-cs"/>
              </a:rPr>
              <a:t>从 </a:t>
            </a:r>
            <a:r>
              <a:rPr lang="en-US" altLang="zh-CN" sz="1200" b="0" i="0" kern="1200" dirty="0">
                <a:solidFill>
                  <a:schemeClr val="tx1"/>
                </a:solidFill>
                <a:effectLst/>
                <a:latin typeface="+mn-lt"/>
                <a:ea typeface="+mn-ea"/>
                <a:cs typeface="+mn-cs"/>
              </a:rPr>
              <a:t>PPO </a:t>
            </a:r>
            <a:r>
              <a:rPr lang="zh-CN" altLang="en-US" sz="1200" b="0" i="0" kern="1200" dirty="0">
                <a:solidFill>
                  <a:schemeClr val="tx1"/>
                </a:solidFill>
                <a:effectLst/>
                <a:latin typeface="+mn-lt"/>
                <a:ea typeface="+mn-ea"/>
                <a:cs typeface="+mn-cs"/>
              </a:rPr>
              <a:t>开始（很多部分相似）</a:t>
            </a:r>
            <a:br>
              <a:rPr lang="zh-CN" altLang="en-US" dirty="0"/>
            </a:br>
            <a:r>
              <a:rPr lang="zh-CN" altLang="en-US" sz="1200" b="0" i="0" kern="1200" dirty="0">
                <a:solidFill>
                  <a:schemeClr val="tx1"/>
                </a:solidFill>
                <a:effectLst/>
                <a:latin typeface="+mn-lt"/>
                <a:ea typeface="+mn-ea"/>
                <a:cs typeface="+mn-cs"/>
              </a:rPr>
              <a:t>去掉价值函数 </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优势计算</a:t>
            </a:r>
            <a:br>
              <a:rPr lang="zh-CN" altLang="en-US" dirty="0"/>
            </a:br>
            <a:r>
              <a:rPr lang="zh-CN" altLang="en-US" sz="1200" b="0" i="0" kern="1200" dirty="0">
                <a:solidFill>
                  <a:schemeClr val="tx1"/>
                </a:solidFill>
                <a:effectLst/>
                <a:latin typeface="+mn-lt"/>
                <a:ea typeface="+mn-ea"/>
                <a:cs typeface="+mn-cs"/>
              </a:rPr>
              <a:t>将优势计算为“组内 </a:t>
            </a:r>
            <a:r>
              <a:rPr lang="en-US" altLang="zh-CN" sz="1200" b="0" i="0" kern="1200" dirty="0">
                <a:solidFill>
                  <a:schemeClr val="tx1"/>
                </a:solidFill>
                <a:effectLst/>
                <a:latin typeface="+mn-lt"/>
                <a:ea typeface="+mn-ea"/>
                <a:cs typeface="+mn-cs"/>
              </a:rPr>
              <a:t>z </a:t>
            </a:r>
            <a:r>
              <a:rPr lang="zh-CN" altLang="en-US" sz="1200" b="0" i="0" kern="1200" dirty="0">
                <a:solidFill>
                  <a:schemeClr val="tx1"/>
                </a:solidFill>
                <a:effectLst/>
                <a:latin typeface="+mn-lt"/>
                <a:ea typeface="+mn-ea"/>
                <a:cs typeface="+mn-cs"/>
              </a:rPr>
              <a:t>分数”</a:t>
            </a:r>
            <a:endParaRPr lang="en-US" altLang="zh-CN" sz="1200" b="0" i="0" kern="1200" dirty="0">
              <a:solidFill>
                <a:schemeClr val="tx1"/>
              </a:solidFill>
              <a:effectLst/>
              <a:latin typeface="+mn-lt"/>
              <a:ea typeface="+mn-ea"/>
              <a:cs typeface="+mn-cs"/>
            </a:endParaRPr>
          </a:p>
          <a:p>
            <a:r>
              <a:rPr lang="zh-CN" altLang="en-US" b="1" dirty="0"/>
              <a:t>“</a:t>
            </a:r>
            <a:r>
              <a:rPr lang="en-US" altLang="zh-CN" b="1" dirty="0"/>
              <a:t>Group Relative Policy Optimization”</a:t>
            </a:r>
            <a:r>
              <a:rPr lang="zh-CN" altLang="en-US" b="1" dirty="0"/>
              <a:t>（群组相对策略优化）</a:t>
            </a:r>
            <a:br>
              <a:rPr lang="zh-CN" altLang="en-US" dirty="0"/>
            </a:br>
            <a:r>
              <a:rPr lang="zh-CN" altLang="en-US" sz="1200" b="0" i="0" kern="1200" dirty="0">
                <a:solidFill>
                  <a:schemeClr val="tx1"/>
                </a:solidFill>
                <a:effectLst/>
                <a:latin typeface="+mn-lt"/>
                <a:ea typeface="+mn-ea"/>
                <a:cs typeface="+mn-cs"/>
              </a:rPr>
              <a:t>模型生成的多个回答相互竞争，基于一个全局的、稀疏的奖励（比如只有一个回答被选中）来更新策略</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57</a:t>
            </a:fld>
            <a:endParaRPr lang="zh-CN" altLang="en-US"/>
          </a:p>
        </p:txBody>
      </p:sp>
    </p:spTree>
    <p:extLst>
      <p:ext uri="{BB962C8B-B14F-4D97-AF65-F5344CB8AC3E}">
        <p14:creationId xmlns:p14="http://schemas.microsoft.com/office/powerpoint/2010/main" val="354114726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GRPO </a:t>
            </a:r>
            <a:r>
              <a:rPr lang="zh-CN" altLang="en-US" sz="1200" b="0" i="0" kern="1200" dirty="0">
                <a:solidFill>
                  <a:schemeClr val="tx1"/>
                </a:solidFill>
                <a:effectLst/>
                <a:latin typeface="+mn-lt"/>
                <a:ea typeface="+mn-ea"/>
                <a:cs typeface="+mn-cs"/>
              </a:rPr>
              <a:t>非常简单（多亏了没有价值函数</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）你可以（而且确实有人这样做）编写小型的 </a:t>
            </a:r>
            <a:r>
              <a:rPr lang="en-US" altLang="zh-CN" sz="1200" b="0" i="0" kern="1200" dirty="0">
                <a:solidFill>
                  <a:schemeClr val="tx1"/>
                </a:solidFill>
                <a:effectLst/>
                <a:latin typeface="+mn-lt"/>
                <a:ea typeface="+mn-ea"/>
                <a:cs typeface="+mn-cs"/>
              </a:rPr>
              <a:t>GRPO </a:t>
            </a:r>
            <a:r>
              <a:rPr lang="zh-CN" altLang="en-US" sz="1200" b="0" i="0" kern="1200" dirty="0">
                <a:solidFill>
                  <a:schemeClr val="tx1"/>
                </a:solidFill>
                <a:effectLst/>
                <a:latin typeface="+mn-lt"/>
                <a:ea typeface="+mn-ea"/>
                <a:cs typeface="+mn-cs"/>
              </a:rPr>
              <a:t>实现</a:t>
            </a:r>
            <a:br>
              <a:rPr lang="zh-CN" altLang="en-US" dirty="0"/>
            </a:b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计算每次 </a:t>
            </a:r>
            <a:r>
              <a:rPr lang="en-US" altLang="zh-CN" sz="1200" b="0" i="0" kern="1200" dirty="0">
                <a:solidFill>
                  <a:schemeClr val="tx1"/>
                </a:solidFill>
                <a:effectLst/>
                <a:latin typeface="+mn-lt"/>
                <a:ea typeface="+mn-ea"/>
                <a:cs typeface="+mn-cs"/>
              </a:rPr>
              <a:t>rollout </a:t>
            </a:r>
            <a:r>
              <a:rPr lang="zh-CN" altLang="en-US" sz="1200" b="0" i="0" kern="1200" dirty="0">
                <a:solidFill>
                  <a:schemeClr val="tx1"/>
                </a:solidFill>
                <a:effectLst/>
                <a:latin typeface="+mn-lt"/>
                <a:ea typeface="+mn-ea"/>
                <a:cs typeface="+mn-cs"/>
              </a:rPr>
              <a:t>的奖励</a:t>
            </a:r>
            <a:br>
              <a:rPr lang="zh-CN" altLang="en-US" dirty="0"/>
            </a:b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每组进行均值</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方差归一化</a:t>
            </a:r>
            <a:br>
              <a:rPr lang="zh-CN" altLang="en-US" dirty="0"/>
            </a:b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计算 </a:t>
            </a:r>
            <a:r>
              <a:rPr lang="en-US" altLang="zh-CN" sz="1200" b="0" i="0" kern="1200" dirty="0">
                <a:solidFill>
                  <a:schemeClr val="tx1"/>
                </a:solidFill>
                <a:effectLst/>
                <a:latin typeface="+mn-lt"/>
                <a:ea typeface="+mn-ea"/>
                <a:cs typeface="+mn-cs"/>
              </a:rPr>
              <a:t>KL </a:t>
            </a:r>
            <a:r>
              <a:rPr lang="zh-CN" altLang="en-US" sz="1200" b="0" i="0" kern="1200" dirty="0">
                <a:solidFill>
                  <a:schemeClr val="tx1"/>
                </a:solidFill>
                <a:effectLst/>
                <a:latin typeface="+mn-lt"/>
                <a:ea typeface="+mn-ea"/>
                <a:cs typeface="+mn-cs"/>
              </a:rPr>
              <a:t>项</a:t>
            </a:r>
            <a:br>
              <a:rPr lang="zh-CN" altLang="en-US" dirty="0"/>
            </a:b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对损失进行梯度更新</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58</a:t>
            </a:fld>
            <a:endParaRPr lang="zh-CN" altLang="en-US"/>
          </a:p>
        </p:txBody>
      </p:sp>
    </p:spTree>
    <p:extLst>
      <p:ext uri="{BB962C8B-B14F-4D97-AF65-F5344CB8AC3E}">
        <p14:creationId xmlns:p14="http://schemas.microsoft.com/office/powerpoint/2010/main" val="231886402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mn-lt"/>
                <a:ea typeface="+mn-ea"/>
                <a:cs typeface="+mn-cs"/>
              </a:rPr>
              <a:t>它效果怎么样？表现优于 </a:t>
            </a:r>
            <a:r>
              <a:rPr lang="en-US" altLang="zh-CN" sz="1200" b="1" i="0" kern="1200" dirty="0">
                <a:solidFill>
                  <a:schemeClr val="tx1"/>
                </a:solidFill>
                <a:effectLst/>
                <a:latin typeface="+mn-lt"/>
                <a:ea typeface="+mn-ea"/>
                <a:cs typeface="+mn-cs"/>
              </a:rPr>
              <a:t>RFT</a:t>
            </a:r>
            <a:r>
              <a:rPr lang="zh-CN" altLang="en-US" sz="1200" b="1" i="0" kern="1200" dirty="0">
                <a:solidFill>
                  <a:schemeClr val="tx1"/>
                </a:solidFill>
                <a:effectLst/>
                <a:latin typeface="+mn-lt"/>
                <a:ea typeface="+mn-ea"/>
                <a:cs typeface="+mn-cs"/>
              </a:rPr>
              <a:t>（强化正确答案），在过程监督下也有一些提升</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59</a:t>
            </a:fld>
            <a:endParaRPr lang="zh-CN" altLang="en-US"/>
          </a:p>
        </p:txBody>
      </p:sp>
    </p:spTree>
    <p:extLst>
      <p:ext uri="{BB962C8B-B14F-4D97-AF65-F5344CB8AC3E}">
        <p14:creationId xmlns:p14="http://schemas.microsoft.com/office/powerpoint/2010/main" val="25142646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接下来是案例研究</a:t>
            </a:r>
            <a:endParaRPr lang="en-US" altLang="zh-CN" dirty="0"/>
          </a:p>
          <a:p>
            <a:r>
              <a:rPr lang="zh-CN" altLang="en-US" sz="1200" b="0" i="0" kern="1200" dirty="0">
                <a:solidFill>
                  <a:schemeClr val="tx1"/>
                </a:solidFill>
                <a:effectLst/>
                <a:latin typeface="+mn-lt"/>
                <a:ea typeface="+mn-ea"/>
                <a:cs typeface="+mn-cs"/>
              </a:rPr>
              <a:t>让我们来看几个具有 </a:t>
            </a:r>
            <a:r>
              <a:rPr lang="en-US" altLang="zh-CN" sz="1200" b="0" i="0" kern="1200" dirty="0">
                <a:solidFill>
                  <a:schemeClr val="tx1"/>
                </a:solidFill>
                <a:effectLst/>
                <a:latin typeface="+mn-lt"/>
                <a:ea typeface="+mn-ea"/>
                <a:cs typeface="+mn-cs"/>
              </a:rPr>
              <a:t>RLVR </a:t>
            </a:r>
            <a:r>
              <a:rPr lang="zh-CN" altLang="en-US" sz="1200" b="0" i="0" kern="1200" dirty="0">
                <a:solidFill>
                  <a:schemeClr val="tx1"/>
                </a:solidFill>
                <a:effectLst/>
                <a:latin typeface="+mn-lt"/>
                <a:ea typeface="+mn-ea"/>
                <a:cs typeface="+mn-cs"/>
              </a:rPr>
              <a:t>的代表性开源模型</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0" kern="1200" dirty="0">
                <a:solidFill>
                  <a:schemeClr val="tx1"/>
                </a:solidFill>
                <a:effectLst/>
                <a:latin typeface="+mn-lt"/>
                <a:ea typeface="+mn-ea"/>
                <a:cs typeface="+mn-cs"/>
              </a:rPr>
              <a:t>RLVR</a:t>
            </a:r>
            <a:r>
              <a:rPr lang="zh-CN" altLang="en-US" sz="1200" b="1" i="0" kern="1200" dirty="0">
                <a:solidFill>
                  <a:schemeClr val="tx1"/>
                </a:solidFill>
                <a:effectLst/>
                <a:latin typeface="+mn-lt"/>
                <a:ea typeface="+mn-ea"/>
                <a:cs typeface="+mn-cs"/>
              </a:rPr>
              <a:t>（</a:t>
            </a:r>
            <a:r>
              <a:rPr lang="en-US" altLang="zh-CN" sz="1200" b="1" i="0" kern="1200" dirty="0">
                <a:solidFill>
                  <a:schemeClr val="tx1"/>
                </a:solidFill>
                <a:effectLst/>
                <a:latin typeface="+mn-lt"/>
                <a:ea typeface="+mn-ea"/>
                <a:cs typeface="+mn-cs"/>
              </a:rPr>
              <a:t>Verifiable Rule Feedback</a:t>
            </a:r>
            <a:r>
              <a:rPr lang="zh-CN" altLang="en-US" sz="1200" b="1" i="0" kern="1200" dirty="0">
                <a:solidFill>
                  <a:schemeClr val="tx1"/>
                </a:solidFill>
                <a:effectLst/>
                <a:latin typeface="+mn-lt"/>
                <a:ea typeface="+mn-ea"/>
                <a:cs typeface="+mn-cs"/>
              </a:rPr>
              <a:t>）强化学习与可验证奖励</a:t>
            </a:r>
            <a:endParaRPr lang="en-US" altLang="zh-CN"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Deepseek-R1</a:t>
            </a:r>
            <a:r>
              <a:rPr lang="zh-CN" altLang="en-US" sz="1200" b="0" i="0" kern="1200" dirty="0">
                <a:solidFill>
                  <a:schemeClr val="tx1"/>
                </a:solidFill>
                <a:effectLst/>
                <a:latin typeface="+mn-lt"/>
                <a:ea typeface="+mn-ea"/>
                <a:cs typeface="+mn-cs"/>
              </a:rPr>
              <a:t>：许多近期 </a:t>
            </a:r>
            <a:r>
              <a:rPr lang="en-US" altLang="zh-CN" sz="1200" b="0" i="0" kern="1200" dirty="0">
                <a:solidFill>
                  <a:schemeClr val="tx1"/>
                </a:solidFill>
                <a:effectLst/>
                <a:latin typeface="+mn-lt"/>
                <a:ea typeface="+mn-ea"/>
                <a:cs typeface="+mn-cs"/>
              </a:rPr>
              <a:t>RLVR </a:t>
            </a:r>
            <a:r>
              <a:rPr lang="zh-CN" altLang="en-US" sz="1200" b="0" i="0" kern="1200" dirty="0">
                <a:solidFill>
                  <a:schemeClr val="tx1"/>
                </a:solidFill>
                <a:effectLst/>
                <a:latin typeface="+mn-lt"/>
                <a:ea typeface="+mn-ea"/>
                <a:cs typeface="+mn-cs"/>
              </a:rPr>
              <a:t>研究的核心；有很多有趣的细节</a:t>
            </a:r>
            <a:br>
              <a:rPr lang="zh-CN" altLang="en-US" dirty="0"/>
            </a:br>
            <a:r>
              <a:rPr lang="en-US" altLang="zh-CN" sz="1200" b="0" i="0" kern="1200" dirty="0">
                <a:solidFill>
                  <a:schemeClr val="tx1"/>
                </a:solidFill>
                <a:effectLst/>
                <a:latin typeface="+mn-lt"/>
                <a:ea typeface="+mn-ea"/>
                <a:cs typeface="+mn-cs"/>
              </a:rPr>
              <a:t>Kimi K1.5</a:t>
            </a:r>
            <a:r>
              <a:rPr lang="zh-CN" altLang="en-US" sz="1200" b="0" i="0" kern="1200" dirty="0">
                <a:solidFill>
                  <a:schemeClr val="tx1"/>
                </a:solidFill>
                <a:effectLst/>
                <a:latin typeface="+mn-lt"/>
                <a:ea typeface="+mn-ea"/>
                <a:cs typeface="+mn-cs"/>
              </a:rPr>
              <a:t>：与 </a:t>
            </a:r>
            <a:r>
              <a:rPr lang="en-US" altLang="zh-CN" sz="1200" b="0" i="0" kern="1200" dirty="0">
                <a:solidFill>
                  <a:schemeClr val="tx1"/>
                </a:solidFill>
                <a:effectLst/>
                <a:latin typeface="+mn-lt"/>
                <a:ea typeface="+mn-ea"/>
                <a:cs typeface="+mn-cs"/>
              </a:rPr>
              <a:t>R1 </a:t>
            </a:r>
            <a:r>
              <a:rPr lang="zh-CN" altLang="en-US" sz="1200" b="0" i="0" kern="1200" dirty="0">
                <a:solidFill>
                  <a:schemeClr val="tx1"/>
                </a:solidFill>
                <a:effectLst/>
                <a:latin typeface="+mn-lt"/>
                <a:ea typeface="+mn-ea"/>
                <a:cs typeface="+mn-cs"/>
              </a:rPr>
              <a:t>同期；对 </a:t>
            </a:r>
            <a:r>
              <a:rPr lang="en-US" altLang="zh-CN" sz="1200" b="0" i="0" kern="1200" dirty="0">
                <a:solidFill>
                  <a:schemeClr val="tx1"/>
                </a:solidFill>
                <a:effectLst/>
                <a:latin typeface="+mn-lt"/>
                <a:ea typeface="+mn-ea"/>
                <a:cs typeface="+mn-cs"/>
              </a:rPr>
              <a:t>R1 </a:t>
            </a:r>
            <a:r>
              <a:rPr lang="zh-CN" altLang="en-US" sz="1200" b="0" i="0" kern="1200" dirty="0">
                <a:solidFill>
                  <a:schemeClr val="tx1"/>
                </a:solidFill>
                <a:effectLst/>
                <a:latin typeface="+mn-lt"/>
                <a:ea typeface="+mn-ea"/>
                <a:cs typeface="+mn-cs"/>
              </a:rPr>
              <a:t>的 </a:t>
            </a:r>
            <a:r>
              <a:rPr lang="en-US" altLang="zh-CN" sz="1200" b="0" i="0" kern="1200" dirty="0">
                <a:solidFill>
                  <a:schemeClr val="tx1"/>
                </a:solidFill>
                <a:effectLst/>
                <a:latin typeface="+mn-lt"/>
                <a:ea typeface="+mn-ea"/>
                <a:cs typeface="+mn-cs"/>
              </a:rPr>
              <a:t>RLVR </a:t>
            </a:r>
            <a:r>
              <a:rPr lang="zh-CN" altLang="en-US" sz="1200" b="0" i="0" kern="1200" dirty="0">
                <a:solidFill>
                  <a:schemeClr val="tx1"/>
                </a:solidFill>
                <a:effectLst/>
                <a:latin typeface="+mn-lt"/>
                <a:ea typeface="+mn-ea"/>
                <a:cs typeface="+mn-cs"/>
              </a:rPr>
              <a:t>互补细节</a:t>
            </a:r>
            <a:br>
              <a:rPr lang="zh-CN" altLang="en-US" dirty="0"/>
            </a:br>
            <a:r>
              <a:rPr lang="en-US" altLang="zh-CN" sz="1200" b="0" i="0" kern="1200" dirty="0">
                <a:solidFill>
                  <a:schemeClr val="tx1"/>
                </a:solidFill>
                <a:effectLst/>
                <a:latin typeface="+mn-lt"/>
                <a:ea typeface="+mn-ea"/>
                <a:cs typeface="+mn-cs"/>
              </a:rPr>
              <a:t>Qwen </a:t>
            </a:r>
            <a:r>
              <a:rPr lang="en-US" altLang="zh-CN" sz="1200" b="0" i="0" kern="1200">
                <a:solidFill>
                  <a:schemeClr val="tx1"/>
                </a:solidFill>
                <a:effectLst/>
                <a:latin typeface="+mn-lt"/>
                <a:ea typeface="+mn-ea"/>
                <a:cs typeface="+mn-cs"/>
              </a:rPr>
              <a:t>3</a:t>
            </a:r>
            <a:r>
              <a:rPr lang="zh-CN" altLang="en-US" sz="1200" b="0" i="0" kern="1200">
                <a:solidFill>
                  <a:schemeClr val="tx1"/>
                </a:solidFill>
                <a:effectLst/>
                <a:latin typeface="+mn-lt"/>
                <a:ea typeface="+mn-ea"/>
                <a:cs typeface="+mn-cs"/>
              </a:rPr>
              <a:t>：</a:t>
            </a:r>
            <a:br>
              <a:rPr lang="en-US" altLang="zh-CN"/>
            </a:br>
            <a:r>
              <a:rPr lang="zh-CN" altLang="en-US" sz="1200" b="0" i="0" kern="1200">
                <a:solidFill>
                  <a:schemeClr val="tx1"/>
                </a:solidFill>
                <a:effectLst/>
                <a:latin typeface="+mn-lt"/>
                <a:ea typeface="+mn-ea"/>
                <a:cs typeface="+mn-cs"/>
              </a:rPr>
              <a:t>最近</a:t>
            </a:r>
            <a:r>
              <a:rPr lang="zh-CN" altLang="en-US" sz="1200" b="0" i="0" kern="1200" dirty="0">
                <a:solidFill>
                  <a:schemeClr val="tx1"/>
                </a:solidFill>
                <a:effectLst/>
                <a:latin typeface="+mn-lt"/>
                <a:ea typeface="+mn-ea"/>
                <a:cs typeface="+mn-cs"/>
              </a:rPr>
              <a:t>的开源推理模型尝试；低数据 </a:t>
            </a:r>
            <a:r>
              <a:rPr lang="en-US" altLang="zh-CN" sz="1200" b="0" i="0" kern="1200" dirty="0">
                <a:solidFill>
                  <a:schemeClr val="tx1"/>
                </a:solidFill>
                <a:effectLst/>
                <a:latin typeface="+mn-lt"/>
                <a:ea typeface="+mn-ea"/>
                <a:cs typeface="+mn-cs"/>
              </a:rPr>
              <a:t>RLVR</a:t>
            </a:r>
            <a:endParaRPr lang="en-US" altLang="zh-CN"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1"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60</a:t>
            </a:fld>
            <a:endParaRPr lang="zh-CN" altLang="en-US"/>
          </a:p>
        </p:txBody>
      </p:sp>
    </p:spTree>
    <p:extLst>
      <p:ext uri="{BB962C8B-B14F-4D97-AF65-F5344CB8AC3E}">
        <p14:creationId xmlns:p14="http://schemas.microsoft.com/office/powerpoint/2010/main" val="61025705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a:t>
            </a:r>
            <a:r>
              <a:rPr lang="en-US" altLang="zh-CN" dirty="0" err="1"/>
              <a:t>Deepseek</a:t>
            </a:r>
            <a:r>
              <a:rPr lang="zh-CN" altLang="en-US" dirty="0"/>
              <a:t> </a:t>
            </a:r>
            <a:r>
              <a:rPr lang="en-US" altLang="zh-CN" dirty="0"/>
              <a:t>R1,</a:t>
            </a:r>
            <a:r>
              <a:rPr lang="zh-CN" altLang="en-US" sz="1200" b="0" i="0" kern="1200" dirty="0">
                <a:solidFill>
                  <a:schemeClr val="tx1"/>
                </a:solidFill>
                <a:effectLst/>
                <a:latin typeface="+mn-lt"/>
                <a:ea typeface="+mn-ea"/>
                <a:cs typeface="+mn-cs"/>
              </a:rPr>
              <a:t>引发了一点社会现象的论文</a:t>
            </a:r>
            <a:br>
              <a:rPr lang="zh-CN" altLang="en-US" dirty="0"/>
            </a:br>
            <a:r>
              <a:rPr lang="en-US" altLang="zh-CN" sz="1200" b="0" i="0" kern="1200" dirty="0">
                <a:solidFill>
                  <a:schemeClr val="tx1"/>
                </a:solidFill>
                <a:effectLst/>
                <a:latin typeface="+mn-lt"/>
                <a:ea typeface="+mn-ea"/>
                <a:cs typeface="+mn-cs"/>
              </a:rPr>
              <a:t>R1 </a:t>
            </a:r>
            <a:r>
              <a:rPr lang="zh-CN" altLang="en-US" sz="1200" b="0" i="0" kern="1200" dirty="0">
                <a:solidFill>
                  <a:schemeClr val="tx1"/>
                </a:solidFill>
                <a:effectLst/>
                <a:latin typeface="+mn-lt"/>
                <a:ea typeface="+mn-ea"/>
                <a:cs typeface="+mn-cs"/>
              </a:rPr>
              <a:t>有哪些值得注意的地方？</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性能超过 </a:t>
            </a:r>
            <a:r>
              <a:rPr lang="en-US" altLang="zh-CN" sz="1200" b="0" i="0" kern="1200" dirty="0">
                <a:solidFill>
                  <a:schemeClr val="tx1"/>
                </a:solidFill>
                <a:effectLst/>
                <a:latin typeface="+mn-lt"/>
                <a:ea typeface="+mn-ea"/>
                <a:cs typeface="+mn-cs"/>
              </a:rPr>
              <a:t>OpenAI </a:t>
            </a:r>
            <a:r>
              <a:rPr lang="zh-CN" altLang="en-US" sz="1200" b="0" i="0" kern="1200" dirty="0">
                <a:solidFill>
                  <a:schemeClr val="tx1"/>
                </a:solidFill>
                <a:effectLst/>
                <a:latin typeface="+mn-lt"/>
                <a:ea typeface="+mn-ea"/>
                <a:cs typeface="+mn-cs"/>
              </a:rPr>
              <a:t>的 </a:t>
            </a:r>
            <a:r>
              <a:rPr lang="en-US" altLang="zh-CN" sz="1200" b="0" i="0" kern="1200" dirty="0">
                <a:solidFill>
                  <a:schemeClr val="tx1"/>
                </a:solidFill>
                <a:effectLst/>
                <a:latin typeface="+mn-lt"/>
                <a:ea typeface="+mn-ea"/>
                <a:cs typeface="+mn-cs"/>
              </a:rPr>
              <a:t>O1• </a:t>
            </a:r>
            <a:r>
              <a:rPr lang="zh-CN" altLang="en-US" sz="1200" b="0" i="0" kern="1200" dirty="0">
                <a:solidFill>
                  <a:schemeClr val="tx1"/>
                </a:solidFill>
                <a:effectLst/>
                <a:latin typeface="+mn-lt"/>
                <a:ea typeface="+mn-ea"/>
                <a:cs typeface="+mn-cs"/>
              </a:rPr>
              <a:t>开放的 </a:t>
            </a:r>
            <a:r>
              <a:rPr lang="en-US" altLang="zh-CN" sz="1200" b="0" i="0" kern="1200" dirty="0">
                <a:solidFill>
                  <a:schemeClr val="tx1"/>
                </a:solidFill>
                <a:effectLst/>
                <a:latin typeface="+mn-lt"/>
                <a:ea typeface="+mn-ea"/>
                <a:cs typeface="+mn-cs"/>
              </a:rPr>
              <a:t>RL </a:t>
            </a:r>
            <a:r>
              <a:rPr lang="zh-CN" altLang="en-US" sz="1200" b="0" i="0" kern="1200" dirty="0">
                <a:solidFill>
                  <a:schemeClr val="tx1"/>
                </a:solidFill>
                <a:effectLst/>
                <a:latin typeface="+mn-lt"/>
                <a:ea typeface="+mn-ea"/>
                <a:cs typeface="+mn-cs"/>
              </a:rPr>
              <a:t>方法（而且相当简单）</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结束了关于 </a:t>
            </a:r>
            <a:r>
              <a:rPr lang="en-US" altLang="zh-CN" sz="1200" b="0" i="0" kern="1200" dirty="0">
                <a:solidFill>
                  <a:schemeClr val="tx1"/>
                </a:solidFill>
                <a:effectLst/>
                <a:latin typeface="+mn-lt"/>
                <a:ea typeface="+mn-ea"/>
                <a:cs typeface="+mn-cs"/>
              </a:rPr>
              <a:t>MCTS/PRMs </a:t>
            </a:r>
            <a:r>
              <a:rPr lang="zh-CN" altLang="en-US" sz="1200" b="0" i="0" kern="1200" dirty="0">
                <a:solidFill>
                  <a:schemeClr val="tx1"/>
                </a:solidFill>
                <a:effectLst/>
                <a:latin typeface="+mn-lt"/>
                <a:ea typeface="+mn-ea"/>
                <a:cs typeface="+mn-cs"/>
              </a:rPr>
              <a:t>是否必要的猜测</a:t>
            </a:r>
            <a:r>
              <a:rPr lang="en-US" altLang="zh-CN" sz="1200" b="0" i="0" kern="1200" dirty="0">
                <a:solidFill>
                  <a:schemeClr val="tx1"/>
                </a:solidFill>
                <a:effectLst/>
                <a:latin typeface="+mn-lt"/>
                <a:ea typeface="+mn-ea"/>
                <a:cs typeface="+mn-cs"/>
              </a:rPr>
              <a:t>• SFT </a:t>
            </a:r>
            <a:r>
              <a:rPr lang="zh-CN" altLang="en-US" sz="1200" b="0" i="0" kern="1200" dirty="0">
                <a:solidFill>
                  <a:schemeClr val="tx1"/>
                </a:solidFill>
                <a:effectLst/>
                <a:latin typeface="+mn-lt"/>
                <a:ea typeface="+mn-ea"/>
                <a:cs typeface="+mn-cs"/>
              </a:rPr>
              <a:t>见解（包括 </a:t>
            </a:r>
            <a:r>
              <a:rPr lang="en-US" altLang="zh-CN" sz="1200" b="0" i="0" kern="1200" dirty="0">
                <a:solidFill>
                  <a:schemeClr val="tx1"/>
                </a:solidFill>
                <a:effectLst/>
                <a:latin typeface="+mn-lt"/>
                <a:ea typeface="+mn-ea"/>
                <a:cs typeface="+mn-cs"/>
              </a:rPr>
              <a:t>R1-zero </a:t>
            </a:r>
            <a:r>
              <a:rPr lang="zh-CN" altLang="en-US" sz="1200" b="0" i="0" kern="1200" dirty="0">
                <a:solidFill>
                  <a:schemeClr val="tx1"/>
                </a:solidFill>
                <a:effectLst/>
                <a:latin typeface="+mn-lt"/>
                <a:ea typeface="+mn-ea"/>
                <a:cs typeface="+mn-cs"/>
              </a:rPr>
              <a:t>和 </a:t>
            </a:r>
            <a:r>
              <a:rPr lang="en-US" altLang="zh-CN" sz="1200" b="0" i="0" kern="1200" dirty="0">
                <a:solidFill>
                  <a:schemeClr val="tx1"/>
                </a:solidFill>
                <a:effectLst/>
                <a:latin typeface="+mn-lt"/>
                <a:ea typeface="+mn-ea"/>
                <a:cs typeface="+mn-cs"/>
              </a:rPr>
              <a:t>distil-r1</a:t>
            </a:r>
            <a:r>
              <a:rPr lang="zh-CN" altLang="en-US" sz="1200" b="0" i="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61</a:t>
            </a:fld>
            <a:endParaRPr lang="zh-CN" altLang="en-US"/>
          </a:p>
        </p:txBody>
      </p:sp>
    </p:spTree>
    <p:extLst>
      <p:ext uri="{BB962C8B-B14F-4D97-AF65-F5344CB8AC3E}">
        <p14:creationId xmlns:p14="http://schemas.microsoft.com/office/powerpoint/2010/main" val="15749770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他的算法是之前提到的</a:t>
            </a:r>
            <a:r>
              <a:rPr lang="en-US" altLang="zh-CN" dirty="0"/>
              <a:t>GRPO</a:t>
            </a:r>
            <a:r>
              <a:rPr lang="zh-CN" altLang="en-US" dirty="0"/>
              <a:t>。</a:t>
            </a:r>
            <a:r>
              <a:rPr lang="zh-CN" altLang="en-US" sz="1200" b="0" i="0" kern="1200" dirty="0">
                <a:solidFill>
                  <a:schemeClr val="tx1"/>
                </a:solidFill>
                <a:effectLst/>
                <a:latin typeface="+mn-lt"/>
                <a:ea typeface="+mn-ea"/>
                <a:cs typeface="+mn-cs"/>
              </a:rPr>
              <a:t>他们在 </a:t>
            </a:r>
            <a:r>
              <a:rPr lang="en-US" altLang="zh-CN" sz="1200" b="0" i="0" kern="1200" dirty="0" err="1">
                <a:solidFill>
                  <a:schemeClr val="tx1"/>
                </a:solidFill>
                <a:effectLst/>
                <a:latin typeface="+mn-lt"/>
                <a:ea typeface="+mn-ea"/>
                <a:cs typeface="+mn-cs"/>
              </a:rPr>
              <a:t>DeepSeekMath</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的 </a:t>
            </a:r>
            <a:r>
              <a:rPr lang="en-US" altLang="zh-CN" sz="1200" b="0" i="0" kern="1200" dirty="0">
                <a:solidFill>
                  <a:schemeClr val="tx1"/>
                </a:solidFill>
                <a:effectLst/>
                <a:latin typeface="+mn-lt"/>
                <a:ea typeface="+mn-ea"/>
                <a:cs typeface="+mn-cs"/>
              </a:rPr>
              <a:t>GRPO </a:t>
            </a:r>
            <a:r>
              <a:rPr lang="zh-CN" altLang="en-US" sz="1200" b="0" i="0" kern="1200" dirty="0">
                <a:solidFill>
                  <a:schemeClr val="tx1"/>
                </a:solidFill>
                <a:effectLst/>
                <a:latin typeface="+mn-lt"/>
                <a:ea typeface="+mn-ea"/>
                <a:cs typeface="+mn-cs"/>
              </a:rPr>
              <a:t>结果基础上进行构建</a:t>
            </a:r>
            <a:br>
              <a:rPr lang="zh-CN" altLang="en-US" dirty="0"/>
            </a:br>
            <a:r>
              <a:rPr lang="zh-CN" altLang="en-US" sz="1200" b="0" i="0" kern="1200" dirty="0">
                <a:solidFill>
                  <a:schemeClr val="tx1"/>
                </a:solidFill>
                <a:effectLst/>
                <a:latin typeface="+mn-lt"/>
                <a:ea typeface="+mn-ea"/>
                <a:cs typeface="+mn-cs"/>
              </a:rPr>
              <a:t>但他们在 </a:t>
            </a:r>
            <a:r>
              <a:rPr lang="en-US" altLang="zh-CN" sz="1200" b="0" i="0" kern="1200" dirty="0">
                <a:solidFill>
                  <a:schemeClr val="tx1"/>
                </a:solidFill>
                <a:effectLst/>
                <a:latin typeface="+mn-lt"/>
                <a:ea typeface="+mn-ea"/>
                <a:cs typeface="+mn-cs"/>
              </a:rPr>
              <a:t>R1 </a:t>
            </a:r>
            <a:r>
              <a:rPr lang="zh-CN" altLang="en-US" sz="1200" b="0" i="0" kern="1200" dirty="0">
                <a:solidFill>
                  <a:schemeClr val="tx1"/>
                </a:solidFill>
                <a:effectLst/>
                <a:latin typeface="+mn-lt"/>
                <a:ea typeface="+mn-ea"/>
                <a:cs typeface="+mn-cs"/>
              </a:rPr>
              <a:t>中没有使用过程监督。</a:t>
            </a:r>
            <a:endParaRPr lang="en-US" altLang="zh-CN"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62</a:t>
            </a:fld>
            <a:endParaRPr lang="zh-CN" altLang="en-US"/>
          </a:p>
        </p:txBody>
      </p:sp>
    </p:spTree>
    <p:extLst>
      <p:ext uri="{BB962C8B-B14F-4D97-AF65-F5344CB8AC3E}">
        <p14:creationId xmlns:p14="http://schemas.microsoft.com/office/powerpoint/2010/main" val="90189355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设置：</a:t>
            </a:r>
            <a:br>
              <a:rPr lang="zh-CN" altLang="en-US" dirty="0"/>
            </a:br>
            <a:r>
              <a:rPr lang="zh-CN" altLang="en-US" sz="1200" b="0" i="0" kern="1200" dirty="0">
                <a:solidFill>
                  <a:schemeClr val="tx1"/>
                </a:solidFill>
                <a:effectLst/>
                <a:latin typeface="+mn-lt"/>
                <a:ea typeface="+mn-ea"/>
                <a:cs typeface="+mn-cs"/>
              </a:rPr>
              <a:t>奖励：准确性奖励（是否正确？）；格式奖励（使用思考标签）</a:t>
            </a:r>
            <a:br>
              <a:rPr lang="zh-CN" altLang="en-US" dirty="0"/>
            </a:br>
            <a:r>
              <a:rPr lang="zh-CN" altLang="en-US" sz="1200" b="0" i="0" kern="1200" dirty="0">
                <a:solidFill>
                  <a:schemeClr val="tx1"/>
                </a:solidFill>
                <a:effectLst/>
                <a:latin typeface="+mn-lt"/>
                <a:ea typeface="+mn-ea"/>
                <a:cs typeface="+mn-cs"/>
              </a:rPr>
              <a:t>数据：（非公开）</a:t>
            </a:r>
            <a:br>
              <a:rPr lang="zh-CN" altLang="en-US" dirty="0"/>
            </a:br>
            <a:r>
              <a:rPr lang="zh-CN" altLang="en-US" sz="1200" b="0" i="0" kern="1200" dirty="0">
                <a:solidFill>
                  <a:schemeClr val="tx1"/>
                </a:solidFill>
                <a:effectLst/>
                <a:latin typeface="+mn-lt"/>
                <a:ea typeface="+mn-ea"/>
                <a:cs typeface="+mn-cs"/>
              </a:rPr>
              <a:t>基础模型：</a:t>
            </a:r>
            <a:r>
              <a:rPr lang="en-US" altLang="zh-CN" sz="1200" b="0" i="0" kern="1200" dirty="0">
                <a:solidFill>
                  <a:schemeClr val="tx1"/>
                </a:solidFill>
                <a:effectLst/>
                <a:latin typeface="+mn-lt"/>
                <a:ea typeface="+mn-ea"/>
                <a:cs typeface="+mn-cs"/>
              </a:rPr>
              <a:t>Deepseek-V3</a:t>
            </a:r>
            <a:br>
              <a:rPr lang="zh-CN" altLang="en-US" dirty="0"/>
            </a:br>
            <a:r>
              <a:rPr lang="zh-CN" altLang="en-US" sz="1200" b="0" i="0" kern="1200" dirty="0">
                <a:solidFill>
                  <a:schemeClr val="tx1"/>
                </a:solidFill>
                <a:effectLst/>
                <a:latin typeface="+mn-lt"/>
                <a:ea typeface="+mn-ea"/>
                <a:cs typeface="+mn-cs"/>
              </a:rPr>
              <a:t>结果：略逊于 </a:t>
            </a:r>
            <a:r>
              <a:rPr lang="en-US" altLang="zh-CN" sz="1200" b="0" i="0" kern="1200" dirty="0" err="1">
                <a:solidFill>
                  <a:schemeClr val="tx1"/>
                </a:solidFill>
                <a:effectLst/>
                <a:latin typeface="+mn-lt"/>
                <a:ea typeface="+mn-ea"/>
                <a:cs typeface="+mn-cs"/>
              </a:rPr>
              <a:t>Openai</a:t>
            </a:r>
            <a:r>
              <a:rPr lang="en-US" altLang="zh-CN" sz="1200" b="0" i="0" kern="1200" dirty="0">
                <a:solidFill>
                  <a:schemeClr val="tx1"/>
                </a:solidFill>
                <a:effectLst/>
                <a:latin typeface="+mn-lt"/>
                <a:ea typeface="+mn-ea"/>
                <a:cs typeface="+mn-cs"/>
              </a:rPr>
              <a:t> O1</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63</a:t>
            </a:fld>
            <a:endParaRPr lang="zh-CN" altLang="en-US"/>
          </a:p>
        </p:txBody>
      </p:sp>
    </p:spTree>
    <p:extLst>
      <p:ext uri="{BB962C8B-B14F-4D97-AF65-F5344CB8AC3E}">
        <p14:creationId xmlns:p14="http://schemas.microsoft.com/office/powerpoint/2010/main" val="279415364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有趣的现象</a:t>
            </a:r>
            <a:br>
              <a:rPr lang="zh-CN" altLang="en-US" dirty="0"/>
            </a:br>
            <a:r>
              <a:rPr lang="zh-CN" altLang="en-US" sz="1200" b="0" i="0" kern="1200" dirty="0">
                <a:solidFill>
                  <a:schemeClr val="tx1"/>
                </a:solidFill>
                <a:effectLst/>
                <a:latin typeface="+mn-lt"/>
                <a:ea typeface="+mn-ea"/>
                <a:cs typeface="+mn-cs"/>
              </a:rPr>
              <a:t>训练过程中思维链更长；顿悟时刻</a:t>
            </a:r>
            <a:br>
              <a:rPr lang="zh-CN" altLang="en-US" dirty="0"/>
            </a:br>
            <a:r>
              <a:rPr lang="zh-CN" altLang="en-US" sz="1200" b="0" i="0" kern="1200" dirty="0">
                <a:solidFill>
                  <a:schemeClr val="tx1"/>
                </a:solidFill>
                <a:effectLst/>
                <a:latin typeface="+mn-lt"/>
                <a:ea typeface="+mn-ea"/>
                <a:cs typeface="+mn-cs"/>
              </a:rPr>
              <a:t>但也许有点夸大</a:t>
            </a:r>
            <a:br>
              <a:rPr lang="zh-CN" altLang="en-US" dirty="0"/>
            </a:br>
            <a:r>
              <a:rPr lang="zh-CN" altLang="en-US" sz="1200" b="0" i="0" kern="1200" dirty="0">
                <a:solidFill>
                  <a:schemeClr val="tx1"/>
                </a:solidFill>
                <a:effectLst/>
                <a:latin typeface="+mn-lt"/>
                <a:ea typeface="+mn-ea"/>
                <a:cs typeface="+mn-cs"/>
              </a:rPr>
              <a:t>长度是由于偏向性的目标；基础模型已经有顿悟时刻</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64</a:t>
            </a:fld>
            <a:endParaRPr lang="zh-CN" altLang="en-US"/>
          </a:p>
        </p:txBody>
      </p:sp>
    </p:spTree>
    <p:extLst>
      <p:ext uri="{BB962C8B-B14F-4D97-AF65-F5344CB8AC3E}">
        <p14:creationId xmlns:p14="http://schemas.microsoft.com/office/powerpoint/2010/main" val="405707367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a:solidFill>
                  <a:schemeClr val="tx1"/>
                </a:solidFill>
                <a:effectLst/>
                <a:latin typeface="+mn-lt"/>
                <a:ea typeface="+mn-ea"/>
                <a:cs typeface="+mn-cs"/>
              </a:rPr>
              <a:t>R1 </a:t>
            </a:r>
            <a:r>
              <a:rPr lang="zh-CN" altLang="en-US" sz="1200" b="1" i="0" kern="1200" dirty="0">
                <a:solidFill>
                  <a:schemeClr val="tx1"/>
                </a:solidFill>
                <a:effectLst/>
                <a:latin typeface="+mn-lt"/>
                <a:ea typeface="+mn-ea"/>
                <a:cs typeface="+mn-cs"/>
              </a:rPr>
              <a:t>与 </a:t>
            </a:r>
            <a:r>
              <a:rPr lang="en-US" altLang="zh-CN" sz="1200" b="1" i="0" kern="1200" dirty="0">
                <a:solidFill>
                  <a:schemeClr val="tx1"/>
                </a:solidFill>
                <a:effectLst/>
                <a:latin typeface="+mn-lt"/>
                <a:ea typeface="+mn-ea"/>
                <a:cs typeface="+mn-cs"/>
              </a:rPr>
              <a:t>R1-zero </a:t>
            </a:r>
            <a:r>
              <a:rPr lang="zh-CN" altLang="en-US" sz="1200" b="1" i="0" kern="1200" dirty="0">
                <a:solidFill>
                  <a:schemeClr val="tx1"/>
                </a:solidFill>
                <a:effectLst/>
                <a:latin typeface="+mn-lt"/>
                <a:ea typeface="+mn-ea"/>
                <a:cs typeface="+mn-cs"/>
              </a:rPr>
              <a:t>的主要区别：</a:t>
            </a:r>
            <a:br>
              <a:rPr lang="zh-CN" altLang="en-US" dirty="0"/>
            </a:br>
            <a:r>
              <a:rPr lang="en-US" altLang="zh-CN" sz="1200" b="1" i="0" kern="1200" dirty="0">
                <a:solidFill>
                  <a:schemeClr val="tx1"/>
                </a:solidFill>
                <a:effectLst/>
                <a:latin typeface="+mn-lt"/>
                <a:ea typeface="+mn-ea"/>
                <a:cs typeface="+mn-cs"/>
              </a:rPr>
              <a:t>SFT </a:t>
            </a:r>
            <a:r>
              <a:rPr lang="zh-CN" altLang="en-US" sz="1200" b="1" i="0" kern="1200" dirty="0">
                <a:solidFill>
                  <a:schemeClr val="tx1"/>
                </a:solidFill>
                <a:effectLst/>
                <a:latin typeface="+mn-lt"/>
                <a:ea typeface="+mn-ea"/>
                <a:cs typeface="+mn-cs"/>
              </a:rPr>
              <a:t>初始化</a:t>
            </a:r>
            <a:br>
              <a:rPr lang="zh-CN" altLang="en-US" dirty="0"/>
            </a:br>
            <a:r>
              <a:rPr lang="zh-CN" altLang="en-US" sz="1200" b="1" i="0" kern="1200" dirty="0">
                <a:solidFill>
                  <a:schemeClr val="tx1"/>
                </a:solidFill>
                <a:effectLst/>
                <a:latin typeface="+mn-lt"/>
                <a:ea typeface="+mn-ea"/>
                <a:cs typeface="+mn-cs"/>
              </a:rPr>
              <a:t>用于思维链的语言一致性奖励</a:t>
            </a:r>
            <a:br>
              <a:rPr lang="zh-CN" altLang="en-US" dirty="0"/>
            </a:br>
            <a:r>
              <a:rPr lang="zh-CN" altLang="en-US" sz="1200" b="1" i="0" kern="1200" dirty="0">
                <a:solidFill>
                  <a:schemeClr val="tx1"/>
                </a:solidFill>
                <a:effectLst/>
                <a:latin typeface="+mn-lt"/>
                <a:ea typeface="+mn-ea"/>
                <a:cs typeface="+mn-cs"/>
              </a:rPr>
              <a:t>不可验证的奖励（在第二阶段）</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65</a:t>
            </a:fld>
            <a:endParaRPr lang="zh-CN" altLang="en-US"/>
          </a:p>
        </p:txBody>
      </p:sp>
    </p:spTree>
    <p:extLst>
      <p:ext uri="{BB962C8B-B14F-4D97-AF65-F5344CB8AC3E}">
        <p14:creationId xmlns:p14="http://schemas.microsoft.com/office/powerpoint/2010/main" val="2744387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a:solidFill>
                  <a:schemeClr val="tx1"/>
                </a:solidFill>
                <a:effectLst/>
                <a:latin typeface="+mn-lt"/>
                <a:ea typeface="+mn-ea"/>
                <a:cs typeface="+mn-cs"/>
              </a:rPr>
              <a:t>SFT </a:t>
            </a:r>
            <a:r>
              <a:rPr lang="zh-CN" altLang="en-US" sz="1200" b="1" i="0" kern="1200" dirty="0">
                <a:solidFill>
                  <a:schemeClr val="tx1"/>
                </a:solidFill>
                <a:effectLst/>
                <a:latin typeface="+mn-lt"/>
                <a:ea typeface="+mn-ea"/>
                <a:cs typeface="+mn-cs"/>
              </a:rPr>
              <a:t>初始化</a:t>
            </a:r>
            <a:r>
              <a:rPr lang="zh-CN" altLang="en-US" sz="1200" b="0" i="0" kern="1200" dirty="0">
                <a:solidFill>
                  <a:schemeClr val="tx1"/>
                </a:solidFill>
                <a:effectLst/>
                <a:latin typeface="+mn-lt"/>
                <a:ea typeface="+mn-ea"/>
                <a:cs typeface="+mn-cs"/>
              </a:rPr>
              <a:t>：从普通的（长）</a:t>
            </a:r>
            <a:r>
              <a:rPr lang="en-US" altLang="zh-CN" sz="1200" b="0" i="0" kern="1200" dirty="0" err="1">
                <a:solidFill>
                  <a:schemeClr val="tx1"/>
                </a:solidFill>
                <a:effectLst/>
                <a:latin typeface="+mn-lt"/>
                <a:ea typeface="+mn-ea"/>
                <a:cs typeface="+mn-cs"/>
              </a:rPr>
              <a:t>CoT</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开始，然后可能进行额外的验证</a:t>
            </a:r>
            <a:br>
              <a:rPr lang="zh-CN" altLang="en-US" dirty="0"/>
            </a:br>
            <a:r>
              <a:rPr lang="zh-CN" altLang="en-US" sz="1200" b="1" i="0" kern="1200" dirty="0">
                <a:solidFill>
                  <a:schemeClr val="tx1"/>
                </a:solidFill>
                <a:effectLst/>
                <a:latin typeface="+mn-lt"/>
                <a:ea typeface="+mn-ea"/>
                <a:cs typeface="+mn-cs"/>
              </a:rPr>
              <a:t>用于推理的 </a:t>
            </a:r>
            <a:r>
              <a:rPr lang="en-US" altLang="zh-CN" sz="1200" b="1" i="0" kern="1200" dirty="0">
                <a:solidFill>
                  <a:schemeClr val="tx1"/>
                </a:solidFill>
                <a:effectLst/>
                <a:latin typeface="+mn-lt"/>
                <a:ea typeface="+mn-ea"/>
                <a:cs typeface="+mn-cs"/>
              </a:rPr>
              <a:t>SFT</a:t>
            </a:r>
            <a:r>
              <a:rPr lang="zh-CN" altLang="en-US" sz="1200" b="0" i="0" kern="1200" dirty="0">
                <a:solidFill>
                  <a:schemeClr val="tx1"/>
                </a:solidFill>
                <a:effectLst/>
                <a:latin typeface="+mn-lt"/>
                <a:ea typeface="+mn-ea"/>
                <a:cs typeface="+mn-cs"/>
              </a:rPr>
              <a:t>：即使少量样本也能有效地从语言模型引导推理</a:t>
            </a:r>
            <a:br>
              <a:rPr lang="zh-CN" altLang="en-US" dirty="0"/>
            </a:br>
            <a:r>
              <a:rPr lang="en-US" altLang="zh-CN" sz="1200" b="1" i="0" kern="1200" dirty="0">
                <a:solidFill>
                  <a:schemeClr val="tx1"/>
                </a:solidFill>
                <a:effectLst/>
                <a:latin typeface="+mn-lt"/>
                <a:ea typeface="+mn-ea"/>
                <a:cs typeface="+mn-cs"/>
              </a:rPr>
              <a:t>RL </a:t>
            </a:r>
            <a:r>
              <a:rPr lang="zh-CN" altLang="en-US" sz="1200" b="1" i="0" kern="1200" dirty="0">
                <a:solidFill>
                  <a:schemeClr val="tx1"/>
                </a:solidFill>
                <a:effectLst/>
                <a:latin typeface="+mn-lt"/>
                <a:ea typeface="+mn-ea"/>
                <a:cs typeface="+mn-cs"/>
              </a:rPr>
              <a:t>步骤</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RL </a:t>
            </a:r>
            <a:r>
              <a:rPr lang="zh-CN" altLang="en-US" sz="1200" b="0" i="0" kern="1200" dirty="0">
                <a:solidFill>
                  <a:schemeClr val="tx1"/>
                </a:solidFill>
                <a:effectLst/>
                <a:latin typeface="+mn-lt"/>
                <a:ea typeface="+mn-ea"/>
                <a:cs typeface="+mn-cs"/>
              </a:rPr>
              <a:t>部分基本相同。小差别：额外的语言一致性损失</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66</a:t>
            </a:fld>
            <a:endParaRPr lang="zh-CN" altLang="en-US"/>
          </a:p>
        </p:txBody>
      </p:sp>
    </p:spTree>
    <p:extLst>
      <p:ext uri="{BB962C8B-B14F-4D97-AF65-F5344CB8AC3E}">
        <p14:creationId xmlns:p14="http://schemas.microsoft.com/office/powerpoint/2010/main" val="156734275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a:solidFill>
                  <a:schemeClr val="tx1"/>
                </a:solidFill>
                <a:effectLst/>
                <a:latin typeface="+mn-lt"/>
                <a:ea typeface="+mn-ea"/>
                <a:cs typeface="+mn-cs"/>
              </a:rPr>
              <a:t>SFT </a:t>
            </a:r>
            <a:r>
              <a:rPr lang="zh-CN" altLang="en-US" sz="1200" b="1" i="0" kern="1200" dirty="0">
                <a:solidFill>
                  <a:schemeClr val="tx1"/>
                </a:solidFill>
                <a:effectLst/>
                <a:latin typeface="+mn-lt"/>
                <a:ea typeface="+mn-ea"/>
                <a:cs typeface="+mn-cs"/>
              </a:rPr>
              <a:t>步骤，训练 </a:t>
            </a:r>
            <a:r>
              <a:rPr lang="en-US" altLang="zh-CN" sz="1200" b="1" i="0" kern="1200" dirty="0">
                <a:solidFill>
                  <a:schemeClr val="tx1"/>
                </a:solidFill>
                <a:effectLst/>
                <a:latin typeface="+mn-lt"/>
                <a:ea typeface="+mn-ea"/>
                <a:cs typeface="+mn-cs"/>
              </a:rPr>
              <a:t>2 </a:t>
            </a:r>
            <a:r>
              <a:rPr lang="zh-CN" altLang="en-US" sz="1200" b="1" i="0" kern="1200" dirty="0">
                <a:solidFill>
                  <a:schemeClr val="tx1"/>
                </a:solidFill>
                <a:effectLst/>
                <a:latin typeface="+mn-lt"/>
                <a:ea typeface="+mn-ea"/>
                <a:cs typeface="+mn-cs"/>
              </a:rPr>
              <a:t>个周期</a:t>
            </a:r>
            <a:r>
              <a:rPr lang="zh-CN" altLang="en-US" sz="1200" b="0" i="0" kern="1200" dirty="0">
                <a:solidFill>
                  <a:schemeClr val="tx1"/>
                </a:solidFill>
                <a:effectLst/>
                <a:latin typeface="+mn-lt"/>
                <a:ea typeface="+mn-ea"/>
                <a:cs typeface="+mn-cs"/>
              </a:rPr>
              <a:t>： 推理数据 </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不可验证的任务（‘写出 </a:t>
            </a:r>
            <a:r>
              <a:rPr lang="en-US" altLang="zh-CN" sz="1200" b="0" i="0" kern="1200" dirty="0">
                <a:solidFill>
                  <a:schemeClr val="tx1"/>
                </a:solidFill>
                <a:effectLst/>
                <a:latin typeface="+mn-lt"/>
                <a:ea typeface="+mn-ea"/>
                <a:cs typeface="+mn-cs"/>
              </a:rPr>
              <a:t>X </a:t>
            </a:r>
            <a:r>
              <a:rPr lang="zh-CN" altLang="en-US" sz="1200" b="0" i="0" kern="1200" dirty="0">
                <a:solidFill>
                  <a:schemeClr val="tx1"/>
                </a:solidFill>
                <a:effectLst/>
                <a:latin typeface="+mn-lt"/>
                <a:ea typeface="+mn-ea"/>
                <a:cs typeface="+mn-cs"/>
              </a:rPr>
              <a:t>的证明’），使用 </a:t>
            </a:r>
            <a:r>
              <a:rPr lang="en-US" altLang="zh-CN" sz="1200" b="0" i="0" kern="1200" dirty="0">
                <a:solidFill>
                  <a:schemeClr val="tx1"/>
                </a:solidFill>
                <a:effectLst/>
                <a:latin typeface="+mn-lt"/>
                <a:ea typeface="+mn-ea"/>
                <a:cs typeface="+mn-cs"/>
              </a:rPr>
              <a:t>V3 </a:t>
            </a:r>
            <a:r>
              <a:rPr lang="zh-CN" altLang="en-US" sz="1200" b="0" i="0" kern="1200" dirty="0">
                <a:solidFill>
                  <a:schemeClr val="tx1"/>
                </a:solidFill>
                <a:effectLst/>
                <a:latin typeface="+mn-lt"/>
                <a:ea typeface="+mn-ea"/>
                <a:cs typeface="+mn-cs"/>
              </a:rPr>
              <a:t>作为评判（</a:t>
            </a:r>
            <a:r>
              <a:rPr lang="en-US" altLang="zh-CN" sz="1200" b="0" i="0" kern="1200" dirty="0">
                <a:solidFill>
                  <a:schemeClr val="tx1"/>
                </a:solidFill>
                <a:effectLst/>
                <a:latin typeface="+mn-lt"/>
                <a:ea typeface="+mn-ea"/>
                <a:cs typeface="+mn-cs"/>
              </a:rPr>
              <a:t>60 </a:t>
            </a:r>
            <a:r>
              <a:rPr lang="zh-CN" altLang="en-US" sz="1200" b="0" i="0" kern="1200" dirty="0">
                <a:solidFill>
                  <a:schemeClr val="tx1"/>
                </a:solidFill>
                <a:effectLst/>
                <a:latin typeface="+mn-lt"/>
                <a:ea typeface="+mn-ea"/>
                <a:cs typeface="+mn-cs"/>
              </a:rPr>
              <a:t>万条） 非推理数据 </a:t>
            </a:r>
            <a:r>
              <a:rPr lang="en-US" altLang="zh-CN" sz="1200" b="0" i="0" kern="1200" dirty="0">
                <a:solidFill>
                  <a:schemeClr val="tx1"/>
                </a:solidFill>
                <a:effectLst/>
                <a:latin typeface="+mn-lt"/>
                <a:ea typeface="+mn-ea"/>
                <a:cs typeface="+mn-cs"/>
              </a:rPr>
              <a:t>– V3 SFT </a:t>
            </a:r>
            <a:r>
              <a:rPr lang="zh-CN" altLang="en-US" sz="1200" b="0" i="0" kern="1200" dirty="0">
                <a:solidFill>
                  <a:schemeClr val="tx1"/>
                </a:solidFill>
                <a:effectLst/>
                <a:latin typeface="+mn-lt"/>
                <a:ea typeface="+mn-ea"/>
                <a:cs typeface="+mn-cs"/>
              </a:rPr>
              <a:t>数据集（</a:t>
            </a:r>
            <a:r>
              <a:rPr lang="en-US" altLang="zh-CN" sz="1200" b="0" i="0" kern="1200" dirty="0">
                <a:solidFill>
                  <a:schemeClr val="tx1"/>
                </a:solidFill>
                <a:effectLst/>
                <a:latin typeface="+mn-lt"/>
                <a:ea typeface="+mn-ea"/>
                <a:cs typeface="+mn-cs"/>
              </a:rPr>
              <a:t>20 </a:t>
            </a:r>
            <a:r>
              <a:rPr lang="zh-CN" altLang="en-US" sz="1200" b="0" i="0" kern="1200" dirty="0">
                <a:solidFill>
                  <a:schemeClr val="tx1"/>
                </a:solidFill>
                <a:effectLst/>
                <a:latin typeface="+mn-lt"/>
                <a:ea typeface="+mn-ea"/>
                <a:cs typeface="+mn-cs"/>
              </a:rPr>
              <a:t>万条） </a:t>
            </a:r>
            <a:endParaRPr lang="en-US" altLang="zh-CN" sz="1200" b="0" i="0" kern="1200" dirty="0">
              <a:solidFill>
                <a:schemeClr val="tx1"/>
              </a:solidFill>
              <a:effectLst/>
              <a:latin typeface="+mn-lt"/>
              <a:ea typeface="+mn-ea"/>
              <a:cs typeface="+mn-cs"/>
            </a:endParaRPr>
          </a:p>
          <a:p>
            <a:r>
              <a:rPr lang="en-US" altLang="zh-CN" sz="1200" b="1" i="0" kern="1200" dirty="0">
                <a:solidFill>
                  <a:schemeClr val="tx1"/>
                </a:solidFill>
                <a:effectLst/>
                <a:latin typeface="+mn-lt"/>
                <a:ea typeface="+mn-ea"/>
                <a:cs typeface="+mn-cs"/>
              </a:rPr>
              <a:t>RLHF </a:t>
            </a:r>
            <a:r>
              <a:rPr lang="zh-CN" altLang="en-US" sz="1200" b="1" i="0" kern="1200" dirty="0">
                <a:solidFill>
                  <a:schemeClr val="tx1"/>
                </a:solidFill>
                <a:effectLst/>
                <a:latin typeface="+mn-lt"/>
                <a:ea typeface="+mn-ea"/>
                <a:cs typeface="+mn-cs"/>
              </a:rPr>
              <a:t>步骤 </a:t>
            </a:r>
            <a:r>
              <a:rPr lang="zh-CN" altLang="en-US" sz="1200" b="0" i="0" kern="1200" dirty="0">
                <a:solidFill>
                  <a:schemeClr val="tx1"/>
                </a:solidFill>
                <a:effectLst/>
                <a:latin typeface="+mn-lt"/>
                <a:ea typeface="+mn-ea"/>
                <a:cs typeface="+mn-cs"/>
              </a:rPr>
              <a:t>：在这里重用 </a:t>
            </a:r>
            <a:r>
              <a:rPr lang="en-US" altLang="zh-CN" sz="1200" b="0" i="0" kern="1200" dirty="0">
                <a:solidFill>
                  <a:schemeClr val="tx1"/>
                </a:solidFill>
                <a:effectLst/>
                <a:latin typeface="+mn-lt"/>
                <a:ea typeface="+mn-ea"/>
                <a:cs typeface="+mn-cs"/>
              </a:rPr>
              <a:t>R1-zero </a:t>
            </a:r>
            <a:r>
              <a:rPr lang="zh-CN" altLang="en-US" sz="1200" b="0" i="0" kern="1200" dirty="0">
                <a:solidFill>
                  <a:schemeClr val="tx1"/>
                </a:solidFill>
                <a:effectLst/>
                <a:latin typeface="+mn-lt"/>
                <a:ea typeface="+mn-ea"/>
                <a:cs typeface="+mn-cs"/>
              </a:rPr>
              <a:t>风格的推理 </a:t>
            </a:r>
            <a:r>
              <a:rPr lang="en-US" altLang="zh-CN" sz="1200" b="0" i="0" kern="1200" dirty="0">
                <a:solidFill>
                  <a:schemeClr val="tx1"/>
                </a:solidFill>
                <a:effectLst/>
                <a:latin typeface="+mn-lt"/>
                <a:ea typeface="+mn-ea"/>
                <a:cs typeface="+mn-cs"/>
              </a:rPr>
              <a:t>RLHF </a:t>
            </a:r>
            <a:r>
              <a:rPr lang="zh-CN" altLang="en-US" sz="1200" b="0" i="0" kern="1200" dirty="0">
                <a:solidFill>
                  <a:schemeClr val="tx1"/>
                </a:solidFill>
                <a:effectLst/>
                <a:latin typeface="+mn-lt"/>
                <a:ea typeface="+mn-ea"/>
                <a:cs typeface="+mn-cs"/>
              </a:rPr>
              <a:t>不可验证的任务 </a:t>
            </a:r>
            <a:r>
              <a:rPr lang="en-US" altLang="zh-CN" sz="1200" b="0" i="0" kern="1200" dirty="0">
                <a:solidFill>
                  <a:schemeClr val="tx1"/>
                </a:solidFill>
                <a:effectLst/>
                <a:latin typeface="+mn-lt"/>
                <a:ea typeface="+mn-ea"/>
                <a:cs typeface="+mn-cs"/>
              </a:rPr>
              <a:t>- V3 RLHF </a:t>
            </a:r>
            <a:r>
              <a:rPr lang="zh-CN" altLang="en-US" sz="1200" b="0" i="0" kern="1200" dirty="0">
                <a:solidFill>
                  <a:schemeClr val="tx1"/>
                </a:solidFill>
                <a:effectLst/>
                <a:latin typeface="+mn-lt"/>
                <a:ea typeface="+mn-ea"/>
                <a:cs typeface="+mn-cs"/>
              </a:rPr>
              <a:t>流程。仍然使用 </a:t>
            </a:r>
            <a:r>
              <a:rPr lang="en-US" altLang="zh-CN" sz="1200" b="0" i="0" kern="1200" dirty="0">
                <a:solidFill>
                  <a:schemeClr val="tx1"/>
                </a:solidFill>
                <a:effectLst/>
                <a:latin typeface="+mn-lt"/>
                <a:ea typeface="+mn-ea"/>
                <a:cs typeface="+mn-cs"/>
              </a:rPr>
              <a:t>GRPO</a:t>
            </a:r>
            <a:r>
              <a:rPr lang="zh-CN" altLang="en-US" sz="1200" b="0" i="0" kern="1200" dirty="0">
                <a:solidFill>
                  <a:schemeClr val="tx1"/>
                </a:solidFill>
                <a:effectLst/>
                <a:latin typeface="+mn-lt"/>
                <a:ea typeface="+mn-ea"/>
                <a:cs typeface="+mn-cs"/>
              </a:rPr>
              <a:t>（用于 </a:t>
            </a:r>
            <a:r>
              <a:rPr lang="en-US" altLang="zh-CN" sz="1200" b="0" i="0" kern="1200" dirty="0">
                <a:solidFill>
                  <a:schemeClr val="tx1"/>
                </a:solidFill>
                <a:effectLst/>
                <a:latin typeface="+mn-lt"/>
                <a:ea typeface="+mn-ea"/>
                <a:cs typeface="+mn-cs"/>
              </a:rPr>
              <a:t>RLHF</a:t>
            </a:r>
            <a:r>
              <a:rPr lang="zh-CN" altLang="en-US" sz="1200" b="0" i="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67</a:t>
            </a:fld>
            <a:endParaRPr lang="zh-CN" altLang="en-US"/>
          </a:p>
        </p:txBody>
      </p:sp>
    </p:spTree>
    <p:extLst>
      <p:ext uri="{BB962C8B-B14F-4D97-AF65-F5344CB8AC3E}">
        <p14:creationId xmlns:p14="http://schemas.microsoft.com/office/powerpoint/2010/main" val="314543482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a:solidFill>
                  <a:schemeClr val="tx1"/>
                </a:solidFill>
                <a:effectLst/>
                <a:latin typeface="+mn-lt"/>
                <a:ea typeface="+mn-ea"/>
                <a:cs typeface="+mn-cs"/>
              </a:rPr>
              <a:t>R1</a:t>
            </a:r>
            <a:r>
              <a:rPr lang="zh-CN" altLang="en-US" sz="1200" b="1" i="0" kern="1200" dirty="0">
                <a:solidFill>
                  <a:schemeClr val="tx1"/>
                </a:solidFill>
                <a:effectLst/>
                <a:latin typeface="+mn-lt"/>
                <a:ea typeface="+mn-ea"/>
                <a:cs typeface="+mn-cs"/>
              </a:rPr>
              <a:t>效果如何？特别好</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68</a:t>
            </a:fld>
            <a:endParaRPr lang="zh-CN" altLang="en-US"/>
          </a:p>
        </p:txBody>
      </p:sp>
    </p:spTree>
    <p:extLst>
      <p:ext uri="{BB962C8B-B14F-4D97-AF65-F5344CB8AC3E}">
        <p14:creationId xmlns:p14="http://schemas.microsoft.com/office/powerpoint/2010/main" val="95353114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mn-lt"/>
                <a:ea typeface="+mn-ea"/>
                <a:cs typeface="+mn-cs"/>
              </a:rPr>
              <a:t>我们能让不会推理的模型进行推理吗？</a:t>
            </a:r>
            <a:br>
              <a:rPr lang="zh-CN" altLang="en-US" dirty="0"/>
            </a:br>
            <a:r>
              <a:rPr lang="zh-CN" altLang="en-US" sz="1200" b="1" i="0" kern="1200" dirty="0">
                <a:solidFill>
                  <a:schemeClr val="tx1"/>
                </a:solidFill>
                <a:effectLst/>
                <a:latin typeface="+mn-lt"/>
                <a:ea typeface="+mn-ea"/>
                <a:cs typeface="+mn-cs"/>
              </a:rPr>
              <a:t>让 </a:t>
            </a:r>
            <a:r>
              <a:rPr lang="en-US" altLang="zh-CN" sz="1200" b="1" i="0" kern="1200" dirty="0">
                <a:solidFill>
                  <a:schemeClr val="tx1"/>
                </a:solidFill>
                <a:effectLst/>
                <a:latin typeface="+mn-lt"/>
                <a:ea typeface="+mn-ea"/>
                <a:cs typeface="+mn-cs"/>
              </a:rPr>
              <a:t>R1 </a:t>
            </a:r>
            <a:r>
              <a:rPr lang="zh-CN" altLang="en-US" sz="1200" b="1" i="0" kern="1200" dirty="0">
                <a:solidFill>
                  <a:schemeClr val="tx1"/>
                </a:solidFill>
                <a:effectLst/>
                <a:latin typeface="+mn-lt"/>
                <a:ea typeface="+mn-ea"/>
                <a:cs typeface="+mn-cs"/>
              </a:rPr>
              <a:t>生成 </a:t>
            </a:r>
            <a:r>
              <a:rPr lang="en-US" altLang="zh-CN" sz="1200" b="1" i="0" kern="1200" dirty="0" err="1">
                <a:solidFill>
                  <a:schemeClr val="tx1"/>
                </a:solidFill>
                <a:effectLst/>
                <a:latin typeface="+mn-lt"/>
                <a:ea typeface="+mn-ea"/>
                <a:cs typeface="+mn-cs"/>
              </a:rPr>
              <a:t>CoT</a:t>
            </a:r>
            <a:r>
              <a:rPr lang="en-US" altLang="zh-CN" sz="1200" b="1" i="0" kern="1200" dirty="0">
                <a:solidFill>
                  <a:schemeClr val="tx1"/>
                </a:solidFill>
                <a:effectLst/>
                <a:latin typeface="+mn-lt"/>
                <a:ea typeface="+mn-ea"/>
                <a:cs typeface="+mn-cs"/>
              </a:rPr>
              <a:t> </a:t>
            </a:r>
            <a:r>
              <a:rPr lang="zh-CN" altLang="en-US" sz="1200" b="1" i="0" kern="1200" dirty="0">
                <a:solidFill>
                  <a:schemeClr val="tx1"/>
                </a:solidFill>
                <a:effectLst/>
                <a:latin typeface="+mn-lt"/>
                <a:ea typeface="+mn-ea"/>
                <a:cs typeface="+mn-cs"/>
              </a:rPr>
              <a:t>路径（</a:t>
            </a:r>
            <a:r>
              <a:rPr lang="en-US" altLang="zh-CN" sz="1200" b="1" i="0" kern="1200" dirty="0">
                <a:solidFill>
                  <a:schemeClr val="tx1"/>
                </a:solidFill>
                <a:effectLst/>
                <a:latin typeface="+mn-lt"/>
                <a:ea typeface="+mn-ea"/>
                <a:cs typeface="+mn-cs"/>
              </a:rPr>
              <a:t>80 </a:t>
            </a:r>
            <a:r>
              <a:rPr lang="zh-CN" altLang="en-US" sz="1200" b="1" i="0" kern="1200" dirty="0">
                <a:solidFill>
                  <a:schemeClr val="tx1"/>
                </a:solidFill>
                <a:effectLst/>
                <a:latin typeface="+mn-lt"/>
                <a:ea typeface="+mn-ea"/>
                <a:cs typeface="+mn-cs"/>
              </a:rPr>
              <a:t>万条！）</a:t>
            </a:r>
            <a:br>
              <a:rPr lang="zh-CN" altLang="en-US" dirty="0"/>
            </a:br>
            <a:r>
              <a:rPr lang="zh-CN" altLang="en-US" sz="1200" b="1" i="0" kern="1200" dirty="0">
                <a:solidFill>
                  <a:schemeClr val="tx1"/>
                </a:solidFill>
                <a:effectLst/>
                <a:latin typeface="+mn-lt"/>
                <a:ea typeface="+mn-ea"/>
                <a:cs typeface="+mn-cs"/>
              </a:rPr>
              <a:t>通过蒸馏教学 </a:t>
            </a:r>
            <a:r>
              <a:rPr lang="en-US" altLang="zh-CN" sz="1200" b="1" i="0" kern="1200" dirty="0">
                <a:solidFill>
                  <a:schemeClr val="tx1"/>
                </a:solidFill>
                <a:effectLst/>
                <a:latin typeface="+mn-lt"/>
                <a:ea typeface="+mn-ea"/>
                <a:cs typeface="+mn-cs"/>
              </a:rPr>
              <a:t>Qwen 2.5</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69</a:t>
            </a:fld>
            <a:endParaRPr lang="zh-CN" altLang="en-US"/>
          </a:p>
        </p:txBody>
      </p:sp>
    </p:spTree>
    <p:extLst>
      <p:ext uri="{BB962C8B-B14F-4D97-AF65-F5344CB8AC3E}">
        <p14:creationId xmlns:p14="http://schemas.microsoft.com/office/powerpoint/2010/main" val="265730222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mn-lt"/>
                <a:ea typeface="+mn-ea"/>
                <a:cs typeface="+mn-cs"/>
              </a:rPr>
              <a:t>与</a:t>
            </a:r>
            <a:r>
              <a:rPr lang="en-US" altLang="zh-CN" sz="1200" b="1" i="0" kern="1200" dirty="0">
                <a:solidFill>
                  <a:schemeClr val="tx1"/>
                </a:solidFill>
                <a:effectLst/>
                <a:latin typeface="+mn-lt"/>
                <a:ea typeface="+mn-ea"/>
                <a:cs typeface="+mn-cs"/>
              </a:rPr>
              <a:t>R1</a:t>
            </a:r>
            <a:r>
              <a:rPr lang="zh-CN" altLang="en-US" sz="1200" b="1" i="0" kern="1200" dirty="0">
                <a:solidFill>
                  <a:schemeClr val="tx1"/>
                </a:solidFill>
                <a:effectLst/>
                <a:latin typeface="+mn-lt"/>
                <a:ea typeface="+mn-ea"/>
                <a:cs typeface="+mn-cs"/>
              </a:rPr>
              <a:t>同时发布</a:t>
            </a:r>
            <a:br>
              <a:rPr lang="zh-CN" altLang="en-US" dirty="0"/>
            </a:br>
            <a:r>
              <a:rPr lang="zh-CN" altLang="en-US" sz="1200" b="1" i="0" kern="1200" dirty="0">
                <a:solidFill>
                  <a:schemeClr val="tx1"/>
                </a:solidFill>
                <a:effectLst/>
                <a:latin typeface="+mn-lt"/>
                <a:ea typeface="+mn-ea"/>
                <a:cs typeface="+mn-cs"/>
              </a:rPr>
              <a:t>也使用</a:t>
            </a:r>
            <a:r>
              <a:rPr lang="en-US" altLang="zh-CN" sz="1200" b="1" i="0" kern="1200" dirty="0">
                <a:solidFill>
                  <a:schemeClr val="tx1"/>
                </a:solidFill>
                <a:effectLst/>
                <a:latin typeface="+mn-lt"/>
                <a:ea typeface="+mn-ea"/>
                <a:cs typeface="+mn-cs"/>
              </a:rPr>
              <a:t>RL</a:t>
            </a:r>
            <a:r>
              <a:rPr lang="zh-CN" altLang="en-US" sz="1200" b="1" i="0" kern="1200" dirty="0">
                <a:solidFill>
                  <a:schemeClr val="tx1"/>
                </a:solidFill>
                <a:effectLst/>
                <a:latin typeface="+mn-lt"/>
                <a:ea typeface="+mn-ea"/>
                <a:cs typeface="+mn-cs"/>
              </a:rPr>
              <a:t>击败了</a:t>
            </a:r>
            <a:r>
              <a:rPr lang="en-US" altLang="zh-CN" sz="1200" b="1" i="0" kern="1200" dirty="0">
                <a:solidFill>
                  <a:schemeClr val="tx1"/>
                </a:solidFill>
                <a:effectLst/>
                <a:latin typeface="+mn-lt"/>
                <a:ea typeface="+mn-ea"/>
                <a:cs typeface="+mn-cs"/>
              </a:rPr>
              <a:t>o1</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70</a:t>
            </a:fld>
            <a:endParaRPr lang="zh-CN" altLang="en-US"/>
          </a:p>
        </p:txBody>
      </p:sp>
    </p:spTree>
    <p:extLst>
      <p:ext uri="{BB962C8B-B14F-4D97-AF65-F5344CB8AC3E}">
        <p14:creationId xmlns:p14="http://schemas.microsoft.com/office/powerpoint/2010/main" val="278425105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mn-lt"/>
                <a:ea typeface="+mn-ea"/>
                <a:cs typeface="+mn-cs"/>
              </a:rPr>
              <a:t>关键步骤</a:t>
            </a:r>
            <a:br>
              <a:rPr lang="zh-CN" altLang="en-US" dirty="0"/>
            </a:br>
            <a:r>
              <a:rPr lang="en-US" altLang="zh-CN" sz="1200" b="1" i="0" kern="1200" dirty="0">
                <a:solidFill>
                  <a:schemeClr val="tx1"/>
                </a:solidFill>
                <a:effectLst/>
                <a:latin typeface="+mn-lt"/>
                <a:ea typeface="+mn-ea"/>
                <a:cs typeface="+mn-cs"/>
              </a:rPr>
              <a:t>• </a:t>
            </a:r>
            <a:r>
              <a:rPr lang="zh-CN" altLang="en-US" sz="1200" b="1" i="0" kern="1200" dirty="0">
                <a:solidFill>
                  <a:schemeClr val="tx1"/>
                </a:solidFill>
                <a:effectLst/>
                <a:latin typeface="+mn-lt"/>
                <a:ea typeface="+mn-ea"/>
                <a:cs typeface="+mn-cs"/>
              </a:rPr>
              <a:t>数据集构建（难度筛选）</a:t>
            </a:r>
            <a:br>
              <a:rPr lang="zh-CN" altLang="en-US" dirty="0"/>
            </a:br>
            <a:r>
              <a:rPr lang="en-US" altLang="zh-CN" sz="1200" b="1" i="0" kern="1200" dirty="0">
                <a:solidFill>
                  <a:schemeClr val="tx1"/>
                </a:solidFill>
                <a:effectLst/>
                <a:latin typeface="+mn-lt"/>
                <a:ea typeface="+mn-ea"/>
                <a:cs typeface="+mn-cs"/>
              </a:rPr>
              <a:t>• SFT</a:t>
            </a:r>
            <a:r>
              <a:rPr lang="zh-CN" altLang="en-US" sz="1200" b="1" i="0" kern="1200" dirty="0">
                <a:solidFill>
                  <a:schemeClr val="tx1"/>
                </a:solidFill>
                <a:effectLst/>
                <a:latin typeface="+mn-lt"/>
                <a:ea typeface="+mn-ea"/>
                <a:cs typeface="+mn-cs"/>
              </a:rPr>
              <a:t>（用于长链推理）</a:t>
            </a:r>
            <a:br>
              <a:rPr lang="zh-CN" altLang="en-US" dirty="0"/>
            </a:br>
            <a:r>
              <a:rPr lang="en-US" altLang="zh-CN" sz="1200" b="1" i="0" kern="1200" dirty="0">
                <a:solidFill>
                  <a:schemeClr val="tx1"/>
                </a:solidFill>
                <a:effectLst/>
                <a:latin typeface="+mn-lt"/>
                <a:ea typeface="+mn-ea"/>
                <a:cs typeface="+mn-cs"/>
              </a:rPr>
              <a:t>• RL</a:t>
            </a:r>
            <a:r>
              <a:rPr lang="zh-CN" altLang="en-US" sz="1200" b="1" i="0" kern="1200" dirty="0">
                <a:solidFill>
                  <a:schemeClr val="tx1"/>
                </a:solidFill>
                <a:effectLst/>
                <a:latin typeface="+mn-lt"/>
                <a:ea typeface="+mn-ea"/>
                <a:cs typeface="+mn-cs"/>
              </a:rPr>
              <a:t>（采用他们自己的策略梯度损失）</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71</a:t>
            </a:fld>
            <a:endParaRPr lang="zh-CN" altLang="en-US"/>
          </a:p>
        </p:txBody>
      </p:sp>
    </p:spTree>
    <p:extLst>
      <p:ext uri="{BB962C8B-B14F-4D97-AF65-F5344CB8AC3E}">
        <p14:creationId xmlns:p14="http://schemas.microsoft.com/office/powerpoint/2010/main" val="199563150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数据整理</a:t>
            </a:r>
            <a:br>
              <a:rPr lang="zh-CN" altLang="en-US" dirty="0"/>
            </a:b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在数学风格设置中进行标准整理，平衡各个主题</a:t>
            </a:r>
            <a:br>
              <a:rPr lang="zh-CN" altLang="en-US" dirty="0"/>
            </a:b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排除多项选择题</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对错题（假阳性）</a:t>
            </a:r>
            <a:br>
              <a:rPr lang="zh-CN" altLang="en-US" dirty="0"/>
            </a:b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仅选择模型在最佳</a:t>
            </a:r>
            <a:r>
              <a:rPr lang="en-US" altLang="zh-CN" sz="1200" b="0" i="0" kern="1200" dirty="0">
                <a:solidFill>
                  <a:schemeClr val="tx1"/>
                </a:solidFill>
                <a:effectLst/>
                <a:latin typeface="+mn-lt"/>
                <a:ea typeface="+mn-ea"/>
                <a:cs typeface="+mn-cs"/>
              </a:rPr>
              <a:t>8</a:t>
            </a:r>
            <a:r>
              <a:rPr lang="zh-CN" altLang="en-US" sz="1200" b="0" i="0" kern="1200" dirty="0">
                <a:solidFill>
                  <a:schemeClr val="tx1"/>
                </a:solidFill>
                <a:effectLst/>
                <a:latin typeface="+mn-lt"/>
                <a:ea typeface="+mn-ea"/>
                <a:cs typeface="+mn-cs"/>
              </a:rPr>
              <a:t>次尝试中失败的示例</a:t>
            </a:r>
            <a:br>
              <a:rPr lang="zh-CN" altLang="en-US" dirty="0"/>
            </a:br>
            <a:r>
              <a:rPr lang="en-US" altLang="zh-CN" sz="1200" b="0" i="0" kern="1200" dirty="0">
                <a:solidFill>
                  <a:schemeClr val="tx1"/>
                </a:solidFill>
                <a:effectLst/>
                <a:latin typeface="+mn-lt"/>
                <a:ea typeface="+mn-ea"/>
                <a:cs typeface="+mn-cs"/>
              </a:rPr>
              <a:t>SFT</a:t>
            </a:r>
            <a:br>
              <a:rPr lang="zh-CN" altLang="en-US" dirty="0"/>
            </a:br>
            <a:r>
              <a:rPr lang="zh-CN" altLang="en-US" sz="1200" b="0" i="0" kern="1200" dirty="0">
                <a:solidFill>
                  <a:schemeClr val="tx1"/>
                </a:solidFill>
                <a:effectLst/>
                <a:latin typeface="+mn-lt"/>
                <a:ea typeface="+mn-ea"/>
                <a:cs typeface="+mn-cs"/>
              </a:rPr>
              <a:t>简单描述，仅被称为‘提示工程’（蒸馏？）</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72</a:t>
            </a:fld>
            <a:endParaRPr lang="zh-CN" altLang="en-US"/>
          </a:p>
        </p:txBody>
      </p:sp>
    </p:spTree>
    <p:extLst>
      <p:ext uri="{BB962C8B-B14F-4D97-AF65-F5344CB8AC3E}">
        <p14:creationId xmlns:p14="http://schemas.microsoft.com/office/powerpoint/2010/main" val="208729097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mn-lt"/>
                <a:ea typeface="+mn-ea"/>
                <a:cs typeface="+mn-cs"/>
              </a:rPr>
              <a:t>比 </a:t>
            </a:r>
            <a:r>
              <a:rPr lang="en-US" altLang="zh-CN" sz="1200" b="1" i="0" kern="1200" dirty="0">
                <a:solidFill>
                  <a:schemeClr val="tx1"/>
                </a:solidFill>
                <a:effectLst/>
                <a:latin typeface="+mn-lt"/>
                <a:ea typeface="+mn-ea"/>
                <a:cs typeface="+mn-cs"/>
              </a:rPr>
              <a:t>o1 </a:t>
            </a:r>
            <a:r>
              <a:rPr lang="zh-CN" altLang="en-US" sz="1200" b="1" i="0" kern="1200" dirty="0">
                <a:solidFill>
                  <a:schemeClr val="tx1"/>
                </a:solidFill>
                <a:effectLst/>
                <a:latin typeface="+mn-lt"/>
                <a:ea typeface="+mn-ea"/>
                <a:cs typeface="+mn-cs"/>
              </a:rPr>
              <a:t>和 </a:t>
            </a:r>
            <a:r>
              <a:rPr lang="en-US" altLang="zh-CN" sz="1200" b="1" i="0" kern="1200" dirty="0">
                <a:solidFill>
                  <a:schemeClr val="tx1"/>
                </a:solidFill>
                <a:effectLst/>
                <a:latin typeface="+mn-lt"/>
                <a:ea typeface="+mn-ea"/>
                <a:cs typeface="+mn-cs"/>
              </a:rPr>
              <a:t>R1 </a:t>
            </a:r>
            <a:r>
              <a:rPr lang="zh-CN" altLang="en-US" sz="1200" b="1" i="0" kern="1200" dirty="0">
                <a:solidFill>
                  <a:schemeClr val="tx1"/>
                </a:solidFill>
                <a:effectLst/>
                <a:latin typeface="+mn-lt"/>
                <a:ea typeface="+mn-ea"/>
                <a:cs typeface="+mn-cs"/>
              </a:rPr>
              <a:t>更好（尽管稍晚推出）。</a:t>
            </a:r>
            <a:br>
              <a:rPr lang="zh-CN" altLang="en-US" dirty="0"/>
            </a:br>
            <a:r>
              <a:rPr lang="zh-CN" altLang="en-US" sz="1200" b="1" i="0" kern="1200" dirty="0">
                <a:solidFill>
                  <a:schemeClr val="tx1"/>
                </a:solidFill>
                <a:effectLst/>
                <a:latin typeface="+mn-lt"/>
                <a:ea typeface="+mn-ea"/>
                <a:cs typeface="+mn-cs"/>
              </a:rPr>
              <a:t>但在扩展性和数据结果上很有趣</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73</a:t>
            </a:fld>
            <a:endParaRPr lang="zh-CN" altLang="en-US"/>
          </a:p>
        </p:txBody>
      </p:sp>
    </p:spTree>
    <p:extLst>
      <p:ext uri="{BB962C8B-B14F-4D97-AF65-F5344CB8AC3E}">
        <p14:creationId xmlns:p14="http://schemas.microsoft.com/office/powerpoint/2010/main" val="64542456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a:solidFill>
                  <a:schemeClr val="tx1"/>
                </a:solidFill>
                <a:effectLst/>
                <a:latin typeface="+mn-lt"/>
                <a:ea typeface="+mn-ea"/>
                <a:cs typeface="+mn-cs"/>
              </a:rPr>
              <a:t>RLHF </a:t>
            </a:r>
            <a:r>
              <a:rPr lang="zh-CN" altLang="en-US" sz="1200" b="1" i="0" kern="1200" dirty="0">
                <a:solidFill>
                  <a:schemeClr val="tx1"/>
                </a:solidFill>
                <a:effectLst/>
                <a:latin typeface="+mn-lt"/>
                <a:ea typeface="+mn-ea"/>
                <a:cs typeface="+mn-cs"/>
              </a:rPr>
              <a:t>发生在推理型强化学习（如 </a:t>
            </a:r>
            <a:r>
              <a:rPr lang="en-US" altLang="zh-CN" sz="1200" b="1" i="0" kern="1200" dirty="0">
                <a:solidFill>
                  <a:schemeClr val="tx1"/>
                </a:solidFill>
                <a:effectLst/>
                <a:latin typeface="+mn-lt"/>
                <a:ea typeface="+mn-ea"/>
                <a:cs typeface="+mn-cs"/>
              </a:rPr>
              <a:t>r1</a:t>
            </a:r>
            <a:r>
              <a:rPr lang="zh-CN" altLang="en-US" sz="1200" b="1" i="0" kern="1200" dirty="0">
                <a:solidFill>
                  <a:schemeClr val="tx1"/>
                </a:solidFill>
                <a:effectLst/>
                <a:latin typeface="+mn-lt"/>
                <a:ea typeface="+mn-ea"/>
                <a:cs typeface="+mn-cs"/>
              </a:rPr>
              <a:t>）之后，蒸馏在其之后</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74</a:t>
            </a:fld>
            <a:endParaRPr lang="zh-CN" altLang="en-US"/>
          </a:p>
        </p:txBody>
      </p:sp>
    </p:spTree>
    <p:extLst>
      <p:ext uri="{BB962C8B-B14F-4D97-AF65-F5344CB8AC3E}">
        <p14:creationId xmlns:p14="http://schemas.microsoft.com/office/powerpoint/2010/main" val="110778065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到现在我们已经熟悉了操作手册，</a:t>
            </a:r>
            <a:r>
              <a:rPr lang="en-US" altLang="zh-CN" sz="1200" b="0" i="0" kern="1200" dirty="0">
                <a:solidFill>
                  <a:schemeClr val="tx1"/>
                </a:solidFill>
                <a:effectLst/>
                <a:latin typeface="+mn-lt"/>
                <a:ea typeface="+mn-ea"/>
                <a:cs typeface="+mn-cs"/>
              </a:rPr>
              <a:t>Qwen</a:t>
            </a:r>
            <a:r>
              <a:rPr lang="zh-CN" altLang="en-US" sz="1200" b="0" i="0" kern="1200" dirty="0">
                <a:solidFill>
                  <a:schemeClr val="tx1"/>
                </a:solidFill>
                <a:effectLst/>
                <a:latin typeface="+mn-lt"/>
                <a:ea typeface="+mn-ea"/>
                <a:cs typeface="+mn-cs"/>
              </a:rPr>
              <a:t>也大量使用了这些方法：</a:t>
            </a:r>
            <a:br>
              <a:rPr lang="zh-CN" altLang="en-US" dirty="0"/>
            </a:b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按难度筛选（按</a:t>
            </a:r>
            <a:r>
              <a:rPr lang="en-US" altLang="zh-CN" sz="1200" b="0" i="0" kern="1200" dirty="0">
                <a:solidFill>
                  <a:schemeClr val="tx1"/>
                </a:solidFill>
                <a:effectLst/>
                <a:latin typeface="+mn-lt"/>
                <a:ea typeface="+mn-ea"/>
                <a:cs typeface="+mn-cs"/>
              </a:rPr>
              <a:t>best-of-n</a:t>
            </a:r>
            <a:r>
              <a:rPr lang="zh-CN" altLang="en-US" sz="1200" b="0" i="0" kern="1200" dirty="0">
                <a:solidFill>
                  <a:schemeClr val="tx1"/>
                </a:solidFill>
                <a:effectLst/>
                <a:latin typeface="+mn-lt"/>
                <a:ea typeface="+mn-ea"/>
                <a:cs typeface="+mn-cs"/>
              </a:rPr>
              <a:t>，例如</a:t>
            </a:r>
            <a:r>
              <a:rPr lang="en-US" altLang="zh-CN" sz="1200" b="0" i="0" kern="1200" dirty="0" err="1">
                <a:solidFill>
                  <a:schemeClr val="tx1"/>
                </a:solidFill>
                <a:effectLst/>
                <a:latin typeface="+mn-lt"/>
                <a:ea typeface="+mn-ea"/>
                <a:cs typeface="+mn-cs"/>
              </a:rPr>
              <a:t>kimi</a:t>
            </a:r>
            <a:r>
              <a:rPr lang="zh-CN" altLang="en-US" sz="1200" b="0" i="0" kern="1200" dirty="0">
                <a:solidFill>
                  <a:schemeClr val="tx1"/>
                </a:solidFill>
                <a:effectLst/>
                <a:latin typeface="+mn-lt"/>
                <a:ea typeface="+mn-ea"/>
                <a:cs typeface="+mn-cs"/>
              </a:rPr>
              <a:t>）</a:t>
            </a:r>
            <a:br>
              <a:rPr lang="zh-CN" altLang="en-US" dirty="0"/>
            </a:br>
            <a:r>
              <a:rPr lang="zh-CN" altLang="en-US" sz="1200" b="0" i="0" kern="1200" dirty="0">
                <a:solidFill>
                  <a:schemeClr val="tx1"/>
                </a:solidFill>
                <a:effectLst/>
                <a:latin typeface="+mn-lt"/>
                <a:ea typeface="+mn-ea"/>
                <a:cs typeface="+mn-cs"/>
              </a:rPr>
              <a:t>删除模型无需链式思维就能正确回答的内容</a:t>
            </a:r>
            <a:br>
              <a:rPr lang="zh-CN" altLang="en-US" dirty="0"/>
            </a:br>
            <a:r>
              <a:rPr lang="zh-CN" altLang="en-US" sz="1200" b="0" i="0" kern="1200" dirty="0">
                <a:solidFill>
                  <a:schemeClr val="tx1"/>
                </a:solidFill>
                <a:effectLst/>
                <a:latin typeface="+mn-lt"/>
                <a:ea typeface="+mn-ea"/>
                <a:cs typeface="+mn-cs"/>
              </a:rPr>
              <a:t>删除与验证数据过于相似的内容</a:t>
            </a:r>
            <a:br>
              <a:rPr lang="zh-CN" altLang="en-US" dirty="0"/>
            </a:b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对链式思维质量进行人工筛选（猜测的与正确的）</a:t>
            </a:r>
            <a:br>
              <a:rPr lang="zh-CN" altLang="en-US" dirty="0"/>
            </a:b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仅在</a:t>
            </a:r>
            <a:r>
              <a:rPr lang="en-US" altLang="zh-CN" sz="1200" b="0" i="0" kern="1200" dirty="0">
                <a:solidFill>
                  <a:schemeClr val="tx1"/>
                </a:solidFill>
                <a:effectLst/>
                <a:latin typeface="+mn-lt"/>
                <a:ea typeface="+mn-ea"/>
                <a:cs typeface="+mn-cs"/>
              </a:rPr>
              <a:t>3995</a:t>
            </a:r>
            <a:r>
              <a:rPr lang="zh-CN" altLang="en-US" sz="1200" b="0" i="0" kern="1200" dirty="0">
                <a:solidFill>
                  <a:schemeClr val="tx1"/>
                </a:solidFill>
                <a:effectLst/>
                <a:latin typeface="+mn-lt"/>
                <a:ea typeface="+mn-ea"/>
                <a:cs typeface="+mn-cs"/>
              </a:rPr>
              <a:t>个示例上使用</a:t>
            </a:r>
            <a:r>
              <a:rPr lang="en-US" altLang="zh-CN" sz="1200" b="0" i="0" kern="1200" dirty="0">
                <a:solidFill>
                  <a:schemeClr val="tx1"/>
                </a:solidFill>
                <a:effectLst/>
                <a:latin typeface="+mn-lt"/>
                <a:ea typeface="+mn-ea"/>
                <a:cs typeface="+mn-cs"/>
              </a:rPr>
              <a:t>GRPO</a:t>
            </a:r>
            <a:r>
              <a:rPr lang="zh-CN" altLang="en-US" sz="1200" b="0" i="0" kern="1200" dirty="0">
                <a:solidFill>
                  <a:schemeClr val="tx1"/>
                </a:solidFill>
                <a:effectLst/>
                <a:latin typeface="+mn-lt"/>
                <a:ea typeface="+mn-ea"/>
                <a:cs typeface="+mn-cs"/>
              </a:rPr>
              <a:t>进行强化学习</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75</a:t>
            </a:fld>
            <a:endParaRPr lang="zh-CN" altLang="en-US"/>
          </a:p>
        </p:txBody>
      </p:sp>
    </p:spTree>
    <p:extLst>
      <p:ext uri="{BB962C8B-B14F-4D97-AF65-F5344CB8AC3E}">
        <p14:creationId xmlns:p14="http://schemas.microsoft.com/office/powerpoint/2010/main" val="48552946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思维模式融合</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控制 </a:t>
            </a:r>
            <a:r>
              <a:rPr lang="en-US" altLang="zh-CN" sz="1200" b="0" i="0" kern="1200" dirty="0" err="1">
                <a:solidFill>
                  <a:schemeClr val="tx1"/>
                </a:solidFill>
                <a:effectLst/>
                <a:latin typeface="+mn-lt"/>
                <a:ea typeface="+mn-ea"/>
                <a:cs typeface="+mn-cs"/>
              </a:rPr>
              <a:t>CoT</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的长度。</a:t>
            </a:r>
            <a:br>
              <a:rPr lang="zh-CN" altLang="en-US" dirty="0"/>
            </a:br>
            <a:r>
              <a:rPr lang="en-US" altLang="zh-CN" dirty="0"/>
              <a:t>1.</a:t>
            </a:r>
            <a:r>
              <a:rPr lang="zh-CN" altLang="en-US" sz="1200" b="0" i="0" kern="1200" dirty="0">
                <a:solidFill>
                  <a:schemeClr val="tx1"/>
                </a:solidFill>
                <a:effectLst/>
                <a:latin typeface="+mn-lt"/>
                <a:ea typeface="+mn-ea"/>
                <a:cs typeface="+mn-cs"/>
              </a:rPr>
              <a:t>将非思维和思维数据混合，并添加标签</a:t>
            </a:r>
            <a:br>
              <a:rPr lang="zh-CN" altLang="en-US" dirty="0"/>
            </a:br>
            <a:br>
              <a:rPr lang="zh-CN" altLang="en-US" dirty="0"/>
            </a:br>
            <a:r>
              <a:rPr lang="en-US" altLang="zh-CN" sz="1200" b="0" i="0" kern="1200" dirty="0">
                <a:solidFill>
                  <a:schemeClr val="tx1"/>
                </a:solidFill>
                <a:effectLst/>
                <a:latin typeface="+mn-lt"/>
                <a:ea typeface="+mn-ea"/>
                <a:cs typeface="+mn-cs"/>
              </a:rPr>
              <a:t>2. </a:t>
            </a:r>
            <a:r>
              <a:rPr lang="zh-CN" altLang="en-US" sz="1200" b="0" i="0" kern="1200" dirty="0">
                <a:solidFill>
                  <a:schemeClr val="tx1"/>
                </a:solidFill>
                <a:effectLst/>
                <a:latin typeface="+mn-lt"/>
                <a:ea typeface="+mn-ea"/>
                <a:cs typeface="+mn-cs"/>
              </a:rPr>
              <a:t>通过特殊字符串早停终止</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76</a:t>
            </a:fld>
            <a:endParaRPr lang="zh-CN" altLang="en-US"/>
          </a:p>
        </p:txBody>
      </p:sp>
    </p:spTree>
    <p:extLst>
      <p:ext uri="{BB962C8B-B14F-4D97-AF65-F5344CB8AC3E}">
        <p14:creationId xmlns:p14="http://schemas.microsoft.com/office/powerpoint/2010/main" val="154949600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过度优化是一个问题</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在狭窄领域中使用强化学习是一种解决方案。</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GRPO </a:t>
            </a:r>
            <a:r>
              <a:rPr lang="zh-CN" altLang="en-US" sz="1200" b="0" i="0" kern="1200" dirty="0">
                <a:solidFill>
                  <a:schemeClr val="tx1"/>
                </a:solidFill>
                <a:effectLst/>
                <a:latin typeface="+mn-lt"/>
                <a:ea typeface="+mn-ea"/>
                <a:cs typeface="+mn-cs"/>
              </a:rPr>
              <a:t>很简单（但有一些缺陷），并支持 </a:t>
            </a:r>
            <a:r>
              <a:rPr lang="en-US" altLang="zh-CN" sz="1200" b="0" i="0" kern="1200" dirty="0">
                <a:solidFill>
                  <a:schemeClr val="tx1"/>
                </a:solidFill>
                <a:effectLst/>
                <a:latin typeface="+mn-lt"/>
                <a:ea typeface="+mn-ea"/>
                <a:cs typeface="+mn-cs"/>
              </a:rPr>
              <a:t>RLVR</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现实中有很多成功的案例（</a:t>
            </a:r>
            <a:r>
              <a:rPr lang="en-US" altLang="zh-CN" sz="1200" b="0" i="0" kern="1200" dirty="0">
                <a:solidFill>
                  <a:schemeClr val="tx1"/>
                </a:solidFill>
                <a:effectLst/>
                <a:latin typeface="+mn-lt"/>
                <a:ea typeface="+mn-ea"/>
                <a:cs typeface="+mn-cs"/>
              </a:rPr>
              <a:t>R1</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Kimi 1.5</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Qwen3</a:t>
            </a:r>
            <a:r>
              <a:rPr lang="zh-CN" altLang="en-US" sz="1200" b="0" i="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fld id="{36B26CF1-BF27-4431-B71B-3569105507B5}" type="slidenum">
              <a:rPr lang="zh-CN" altLang="en-US" smtClean="0"/>
              <a:t>77</a:t>
            </a:fld>
            <a:endParaRPr lang="zh-CN" altLang="en-US"/>
          </a:p>
        </p:txBody>
      </p:sp>
    </p:spTree>
    <p:extLst>
      <p:ext uri="{BB962C8B-B14F-4D97-AF65-F5344CB8AC3E}">
        <p14:creationId xmlns:p14="http://schemas.microsoft.com/office/powerpoint/2010/main" val="2457349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229EE7-803E-1F5C-CD0B-5AAA0B714CB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268D3AE-DC34-B874-FBB0-280E1B83A6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32BB188-6C54-BE11-47C6-7B82ECF2A521}"/>
              </a:ext>
            </a:extLst>
          </p:cNvPr>
          <p:cNvSpPr>
            <a:spLocks noGrp="1"/>
          </p:cNvSpPr>
          <p:nvPr>
            <p:ph type="dt" sz="half" idx="10"/>
          </p:nvPr>
        </p:nvSpPr>
        <p:spPr/>
        <p:txBody>
          <a:bodyPr/>
          <a:lstStyle/>
          <a:p>
            <a:fld id="{368180C0-537E-49EA-8203-7EE27DE3B092}" type="datetimeFigureOut">
              <a:rPr lang="zh-CN" altLang="en-US" smtClean="0"/>
              <a:t>2025/12/7</a:t>
            </a:fld>
            <a:endParaRPr lang="zh-CN" altLang="en-US"/>
          </a:p>
        </p:txBody>
      </p:sp>
      <p:sp>
        <p:nvSpPr>
          <p:cNvPr id="5" name="页脚占位符 4">
            <a:extLst>
              <a:ext uri="{FF2B5EF4-FFF2-40B4-BE49-F238E27FC236}">
                <a16:creationId xmlns:a16="http://schemas.microsoft.com/office/drawing/2014/main" id="{4529FE93-FB2E-F78F-84E0-44805F423C0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90C4CB2-C946-DB95-F660-4821B8DC3527}"/>
              </a:ext>
            </a:extLst>
          </p:cNvPr>
          <p:cNvSpPr>
            <a:spLocks noGrp="1"/>
          </p:cNvSpPr>
          <p:nvPr>
            <p:ph type="sldNum" sz="quarter" idx="12"/>
          </p:nvPr>
        </p:nvSpPr>
        <p:spPr/>
        <p:txBody>
          <a:bodyPr/>
          <a:lstStyle/>
          <a:p>
            <a:fld id="{FC6010BA-B7DA-4CAC-81C2-07F974D23F86}" type="slidenum">
              <a:rPr lang="zh-CN" altLang="en-US" smtClean="0"/>
              <a:t>‹#›</a:t>
            </a:fld>
            <a:endParaRPr lang="zh-CN" altLang="en-US"/>
          </a:p>
        </p:txBody>
      </p:sp>
    </p:spTree>
    <p:extLst>
      <p:ext uri="{BB962C8B-B14F-4D97-AF65-F5344CB8AC3E}">
        <p14:creationId xmlns:p14="http://schemas.microsoft.com/office/powerpoint/2010/main" val="3408694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1B7D7F-FE45-BB9C-5687-1B4DE2C5F8D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262D468-D18B-19B1-3A4A-9C0130E5103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AB16CEC-82E7-195A-D3A0-47107B1A0FF1}"/>
              </a:ext>
            </a:extLst>
          </p:cNvPr>
          <p:cNvSpPr>
            <a:spLocks noGrp="1"/>
          </p:cNvSpPr>
          <p:nvPr>
            <p:ph type="dt" sz="half" idx="10"/>
          </p:nvPr>
        </p:nvSpPr>
        <p:spPr/>
        <p:txBody>
          <a:bodyPr/>
          <a:lstStyle/>
          <a:p>
            <a:fld id="{368180C0-537E-49EA-8203-7EE27DE3B092}" type="datetimeFigureOut">
              <a:rPr lang="zh-CN" altLang="en-US" smtClean="0"/>
              <a:t>2025/12/7</a:t>
            </a:fld>
            <a:endParaRPr lang="zh-CN" altLang="en-US"/>
          </a:p>
        </p:txBody>
      </p:sp>
      <p:sp>
        <p:nvSpPr>
          <p:cNvPr id="5" name="页脚占位符 4">
            <a:extLst>
              <a:ext uri="{FF2B5EF4-FFF2-40B4-BE49-F238E27FC236}">
                <a16:creationId xmlns:a16="http://schemas.microsoft.com/office/drawing/2014/main" id="{76C2C3E4-6203-C639-072C-090CB69EF94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4F4BE50-CF52-CC3B-8B1F-629F7BF2C406}"/>
              </a:ext>
            </a:extLst>
          </p:cNvPr>
          <p:cNvSpPr>
            <a:spLocks noGrp="1"/>
          </p:cNvSpPr>
          <p:nvPr>
            <p:ph type="sldNum" sz="quarter" idx="12"/>
          </p:nvPr>
        </p:nvSpPr>
        <p:spPr/>
        <p:txBody>
          <a:bodyPr/>
          <a:lstStyle/>
          <a:p>
            <a:fld id="{FC6010BA-B7DA-4CAC-81C2-07F974D23F86}" type="slidenum">
              <a:rPr lang="zh-CN" altLang="en-US" smtClean="0"/>
              <a:t>‹#›</a:t>
            </a:fld>
            <a:endParaRPr lang="zh-CN" altLang="en-US"/>
          </a:p>
        </p:txBody>
      </p:sp>
    </p:spTree>
    <p:extLst>
      <p:ext uri="{BB962C8B-B14F-4D97-AF65-F5344CB8AC3E}">
        <p14:creationId xmlns:p14="http://schemas.microsoft.com/office/powerpoint/2010/main" val="990943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FFF0B1-8296-7886-67BF-85537BD6933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DFA02AF-4FAB-EB8D-FF52-36C3C5DBA2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CD68764-6BCD-A792-2B00-30307D7BD55E}"/>
              </a:ext>
            </a:extLst>
          </p:cNvPr>
          <p:cNvSpPr>
            <a:spLocks noGrp="1"/>
          </p:cNvSpPr>
          <p:nvPr>
            <p:ph type="dt" sz="half" idx="10"/>
          </p:nvPr>
        </p:nvSpPr>
        <p:spPr/>
        <p:txBody>
          <a:bodyPr/>
          <a:lstStyle/>
          <a:p>
            <a:fld id="{368180C0-537E-49EA-8203-7EE27DE3B092}" type="datetimeFigureOut">
              <a:rPr lang="zh-CN" altLang="en-US" smtClean="0"/>
              <a:t>2025/12/7</a:t>
            </a:fld>
            <a:endParaRPr lang="zh-CN" altLang="en-US"/>
          </a:p>
        </p:txBody>
      </p:sp>
      <p:sp>
        <p:nvSpPr>
          <p:cNvPr id="5" name="页脚占位符 4">
            <a:extLst>
              <a:ext uri="{FF2B5EF4-FFF2-40B4-BE49-F238E27FC236}">
                <a16:creationId xmlns:a16="http://schemas.microsoft.com/office/drawing/2014/main" id="{A1C1EFFB-7F1F-2D1E-F461-B64E220BF12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5EC7AA1-7F65-73F6-933D-19FB6A033C49}"/>
              </a:ext>
            </a:extLst>
          </p:cNvPr>
          <p:cNvSpPr>
            <a:spLocks noGrp="1"/>
          </p:cNvSpPr>
          <p:nvPr>
            <p:ph type="sldNum" sz="quarter" idx="12"/>
          </p:nvPr>
        </p:nvSpPr>
        <p:spPr/>
        <p:txBody>
          <a:bodyPr/>
          <a:lstStyle/>
          <a:p>
            <a:fld id="{FC6010BA-B7DA-4CAC-81C2-07F974D23F86}" type="slidenum">
              <a:rPr lang="zh-CN" altLang="en-US" smtClean="0"/>
              <a:t>‹#›</a:t>
            </a:fld>
            <a:endParaRPr lang="zh-CN" altLang="en-US"/>
          </a:p>
        </p:txBody>
      </p:sp>
    </p:spTree>
    <p:extLst>
      <p:ext uri="{BB962C8B-B14F-4D97-AF65-F5344CB8AC3E}">
        <p14:creationId xmlns:p14="http://schemas.microsoft.com/office/powerpoint/2010/main" val="1755562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B82ECC-F310-5D4B-44F8-12071E35841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E8466B1-1EC2-BEF1-2055-7D13A34697F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6E195D9-8472-8242-D09C-83FF2608410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7042BBE-B80D-A8B1-57F3-EB76CE318F56}"/>
              </a:ext>
            </a:extLst>
          </p:cNvPr>
          <p:cNvSpPr>
            <a:spLocks noGrp="1"/>
          </p:cNvSpPr>
          <p:nvPr>
            <p:ph type="dt" sz="half" idx="10"/>
          </p:nvPr>
        </p:nvSpPr>
        <p:spPr/>
        <p:txBody>
          <a:bodyPr/>
          <a:lstStyle/>
          <a:p>
            <a:fld id="{368180C0-537E-49EA-8203-7EE27DE3B092}" type="datetimeFigureOut">
              <a:rPr lang="zh-CN" altLang="en-US" smtClean="0"/>
              <a:t>2025/12/7</a:t>
            </a:fld>
            <a:endParaRPr lang="zh-CN" altLang="en-US"/>
          </a:p>
        </p:txBody>
      </p:sp>
      <p:sp>
        <p:nvSpPr>
          <p:cNvPr id="6" name="页脚占位符 5">
            <a:extLst>
              <a:ext uri="{FF2B5EF4-FFF2-40B4-BE49-F238E27FC236}">
                <a16:creationId xmlns:a16="http://schemas.microsoft.com/office/drawing/2014/main" id="{47CF953F-4638-63FF-DD8F-A9592A1F0CA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6519347-532B-5365-6346-3CD44C22EE89}"/>
              </a:ext>
            </a:extLst>
          </p:cNvPr>
          <p:cNvSpPr>
            <a:spLocks noGrp="1"/>
          </p:cNvSpPr>
          <p:nvPr>
            <p:ph type="sldNum" sz="quarter" idx="12"/>
          </p:nvPr>
        </p:nvSpPr>
        <p:spPr/>
        <p:txBody>
          <a:bodyPr/>
          <a:lstStyle/>
          <a:p>
            <a:fld id="{FC6010BA-B7DA-4CAC-81C2-07F974D23F86}" type="slidenum">
              <a:rPr lang="zh-CN" altLang="en-US" smtClean="0"/>
              <a:t>‹#›</a:t>
            </a:fld>
            <a:endParaRPr lang="zh-CN" altLang="en-US"/>
          </a:p>
        </p:txBody>
      </p:sp>
    </p:spTree>
    <p:extLst>
      <p:ext uri="{BB962C8B-B14F-4D97-AF65-F5344CB8AC3E}">
        <p14:creationId xmlns:p14="http://schemas.microsoft.com/office/powerpoint/2010/main" val="3442908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BA41C-959B-5FDF-0287-265AA787C77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F93D403-96D0-3625-FBA1-BBA9A528CC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F5BBE6D-0D43-B10E-523E-CEFE00C03C7E}"/>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F5D9A40-E1DA-C20D-83B5-7178C574D3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F322CD4-6CD3-4E6F-DA23-E97B9E00BE3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4E57BD6-1404-7030-668D-53C2A9EC266F}"/>
              </a:ext>
            </a:extLst>
          </p:cNvPr>
          <p:cNvSpPr>
            <a:spLocks noGrp="1"/>
          </p:cNvSpPr>
          <p:nvPr>
            <p:ph type="dt" sz="half" idx="10"/>
          </p:nvPr>
        </p:nvSpPr>
        <p:spPr/>
        <p:txBody>
          <a:bodyPr/>
          <a:lstStyle/>
          <a:p>
            <a:fld id="{368180C0-537E-49EA-8203-7EE27DE3B092}" type="datetimeFigureOut">
              <a:rPr lang="zh-CN" altLang="en-US" smtClean="0"/>
              <a:t>2025/12/7</a:t>
            </a:fld>
            <a:endParaRPr lang="zh-CN" altLang="en-US"/>
          </a:p>
        </p:txBody>
      </p:sp>
      <p:sp>
        <p:nvSpPr>
          <p:cNvPr id="8" name="页脚占位符 7">
            <a:extLst>
              <a:ext uri="{FF2B5EF4-FFF2-40B4-BE49-F238E27FC236}">
                <a16:creationId xmlns:a16="http://schemas.microsoft.com/office/drawing/2014/main" id="{7CB1AD38-5C4B-21AC-15EF-A0719DE726C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C1570CD-9BFC-14CF-5D40-6722D358E8D0}"/>
              </a:ext>
            </a:extLst>
          </p:cNvPr>
          <p:cNvSpPr>
            <a:spLocks noGrp="1"/>
          </p:cNvSpPr>
          <p:nvPr>
            <p:ph type="sldNum" sz="quarter" idx="12"/>
          </p:nvPr>
        </p:nvSpPr>
        <p:spPr/>
        <p:txBody>
          <a:bodyPr/>
          <a:lstStyle/>
          <a:p>
            <a:fld id="{FC6010BA-B7DA-4CAC-81C2-07F974D23F86}" type="slidenum">
              <a:rPr lang="zh-CN" altLang="en-US" smtClean="0"/>
              <a:t>‹#›</a:t>
            </a:fld>
            <a:endParaRPr lang="zh-CN" altLang="en-US"/>
          </a:p>
        </p:txBody>
      </p:sp>
    </p:spTree>
    <p:extLst>
      <p:ext uri="{BB962C8B-B14F-4D97-AF65-F5344CB8AC3E}">
        <p14:creationId xmlns:p14="http://schemas.microsoft.com/office/powerpoint/2010/main" val="2595603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BDE0C7-AC14-E3FA-B99A-95D4C36DFE7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CA547F3-74F1-0CCA-D9A7-55D918A05153}"/>
              </a:ext>
            </a:extLst>
          </p:cNvPr>
          <p:cNvSpPr>
            <a:spLocks noGrp="1"/>
          </p:cNvSpPr>
          <p:nvPr>
            <p:ph type="dt" sz="half" idx="10"/>
          </p:nvPr>
        </p:nvSpPr>
        <p:spPr/>
        <p:txBody>
          <a:bodyPr/>
          <a:lstStyle/>
          <a:p>
            <a:fld id="{368180C0-537E-49EA-8203-7EE27DE3B092}" type="datetimeFigureOut">
              <a:rPr lang="zh-CN" altLang="en-US" smtClean="0"/>
              <a:t>2025/12/7</a:t>
            </a:fld>
            <a:endParaRPr lang="zh-CN" altLang="en-US"/>
          </a:p>
        </p:txBody>
      </p:sp>
      <p:sp>
        <p:nvSpPr>
          <p:cNvPr id="4" name="页脚占位符 3">
            <a:extLst>
              <a:ext uri="{FF2B5EF4-FFF2-40B4-BE49-F238E27FC236}">
                <a16:creationId xmlns:a16="http://schemas.microsoft.com/office/drawing/2014/main" id="{81E5AAC2-A89E-E66D-99F3-54313444321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ACF875F-24F2-DDF6-5DB0-B5A85FA2871C}"/>
              </a:ext>
            </a:extLst>
          </p:cNvPr>
          <p:cNvSpPr>
            <a:spLocks noGrp="1"/>
          </p:cNvSpPr>
          <p:nvPr>
            <p:ph type="sldNum" sz="quarter" idx="12"/>
          </p:nvPr>
        </p:nvSpPr>
        <p:spPr/>
        <p:txBody>
          <a:bodyPr/>
          <a:lstStyle/>
          <a:p>
            <a:fld id="{FC6010BA-B7DA-4CAC-81C2-07F974D23F86}" type="slidenum">
              <a:rPr lang="zh-CN" altLang="en-US" smtClean="0"/>
              <a:t>‹#›</a:t>
            </a:fld>
            <a:endParaRPr lang="zh-CN" altLang="en-US"/>
          </a:p>
        </p:txBody>
      </p:sp>
    </p:spTree>
    <p:extLst>
      <p:ext uri="{BB962C8B-B14F-4D97-AF65-F5344CB8AC3E}">
        <p14:creationId xmlns:p14="http://schemas.microsoft.com/office/powerpoint/2010/main" val="2575712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5FAC47E-F60B-5349-A1E4-96A0A1DA87FA}"/>
              </a:ext>
            </a:extLst>
          </p:cNvPr>
          <p:cNvSpPr>
            <a:spLocks noGrp="1"/>
          </p:cNvSpPr>
          <p:nvPr>
            <p:ph type="dt" sz="half" idx="10"/>
          </p:nvPr>
        </p:nvSpPr>
        <p:spPr/>
        <p:txBody>
          <a:bodyPr/>
          <a:lstStyle/>
          <a:p>
            <a:fld id="{368180C0-537E-49EA-8203-7EE27DE3B092}" type="datetimeFigureOut">
              <a:rPr lang="zh-CN" altLang="en-US" smtClean="0"/>
              <a:t>2025/12/7</a:t>
            </a:fld>
            <a:endParaRPr lang="zh-CN" altLang="en-US"/>
          </a:p>
        </p:txBody>
      </p:sp>
      <p:sp>
        <p:nvSpPr>
          <p:cNvPr id="3" name="页脚占位符 2">
            <a:extLst>
              <a:ext uri="{FF2B5EF4-FFF2-40B4-BE49-F238E27FC236}">
                <a16:creationId xmlns:a16="http://schemas.microsoft.com/office/drawing/2014/main" id="{166DE951-618F-B608-4D00-3DF6D17F6F3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608C24D-2B27-F26B-C244-A30FA9F4487D}"/>
              </a:ext>
            </a:extLst>
          </p:cNvPr>
          <p:cNvSpPr>
            <a:spLocks noGrp="1"/>
          </p:cNvSpPr>
          <p:nvPr>
            <p:ph type="sldNum" sz="quarter" idx="12"/>
          </p:nvPr>
        </p:nvSpPr>
        <p:spPr/>
        <p:txBody>
          <a:bodyPr/>
          <a:lstStyle/>
          <a:p>
            <a:fld id="{FC6010BA-B7DA-4CAC-81C2-07F974D23F86}" type="slidenum">
              <a:rPr lang="zh-CN" altLang="en-US" smtClean="0"/>
              <a:t>‹#›</a:t>
            </a:fld>
            <a:endParaRPr lang="zh-CN" altLang="en-US"/>
          </a:p>
        </p:txBody>
      </p:sp>
    </p:spTree>
    <p:extLst>
      <p:ext uri="{BB962C8B-B14F-4D97-AF65-F5344CB8AC3E}">
        <p14:creationId xmlns:p14="http://schemas.microsoft.com/office/powerpoint/2010/main" val="560184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56BFB0-F52D-8FD2-08F8-FD18A598532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A5A8AC4-AEFE-6020-FD96-A128B8BD24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11ACD36-CB09-2817-C713-B3D2BFD664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A433BBB-24F2-C97A-DB6B-A50B8DF2E3DC}"/>
              </a:ext>
            </a:extLst>
          </p:cNvPr>
          <p:cNvSpPr>
            <a:spLocks noGrp="1"/>
          </p:cNvSpPr>
          <p:nvPr>
            <p:ph type="dt" sz="half" idx="10"/>
          </p:nvPr>
        </p:nvSpPr>
        <p:spPr/>
        <p:txBody>
          <a:bodyPr/>
          <a:lstStyle/>
          <a:p>
            <a:fld id="{368180C0-537E-49EA-8203-7EE27DE3B092}" type="datetimeFigureOut">
              <a:rPr lang="zh-CN" altLang="en-US" smtClean="0"/>
              <a:t>2025/12/7</a:t>
            </a:fld>
            <a:endParaRPr lang="zh-CN" altLang="en-US"/>
          </a:p>
        </p:txBody>
      </p:sp>
      <p:sp>
        <p:nvSpPr>
          <p:cNvPr id="6" name="页脚占位符 5">
            <a:extLst>
              <a:ext uri="{FF2B5EF4-FFF2-40B4-BE49-F238E27FC236}">
                <a16:creationId xmlns:a16="http://schemas.microsoft.com/office/drawing/2014/main" id="{10460D8C-3B97-D2EF-D0A9-A61662262E1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88F8E4C-09ED-799B-AF22-1EAD51C0C210}"/>
              </a:ext>
            </a:extLst>
          </p:cNvPr>
          <p:cNvSpPr>
            <a:spLocks noGrp="1"/>
          </p:cNvSpPr>
          <p:nvPr>
            <p:ph type="sldNum" sz="quarter" idx="12"/>
          </p:nvPr>
        </p:nvSpPr>
        <p:spPr/>
        <p:txBody>
          <a:bodyPr/>
          <a:lstStyle/>
          <a:p>
            <a:fld id="{FC6010BA-B7DA-4CAC-81C2-07F974D23F86}" type="slidenum">
              <a:rPr lang="zh-CN" altLang="en-US" smtClean="0"/>
              <a:t>‹#›</a:t>
            </a:fld>
            <a:endParaRPr lang="zh-CN" altLang="en-US"/>
          </a:p>
        </p:txBody>
      </p:sp>
    </p:spTree>
    <p:extLst>
      <p:ext uri="{BB962C8B-B14F-4D97-AF65-F5344CB8AC3E}">
        <p14:creationId xmlns:p14="http://schemas.microsoft.com/office/powerpoint/2010/main" val="1023119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EC32A8-CDF4-B87A-EF1B-E7CA9349A63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BA76B8E-C9F5-3FC3-29E2-BC45CA0A68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E07A9FC-B1A1-838B-5E77-5E29BF4165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7C6F8D5-539E-F130-2A55-D5AEDE7BF6FE}"/>
              </a:ext>
            </a:extLst>
          </p:cNvPr>
          <p:cNvSpPr>
            <a:spLocks noGrp="1"/>
          </p:cNvSpPr>
          <p:nvPr>
            <p:ph type="dt" sz="half" idx="10"/>
          </p:nvPr>
        </p:nvSpPr>
        <p:spPr/>
        <p:txBody>
          <a:bodyPr/>
          <a:lstStyle/>
          <a:p>
            <a:fld id="{368180C0-537E-49EA-8203-7EE27DE3B092}" type="datetimeFigureOut">
              <a:rPr lang="zh-CN" altLang="en-US" smtClean="0"/>
              <a:t>2025/12/7</a:t>
            </a:fld>
            <a:endParaRPr lang="zh-CN" altLang="en-US"/>
          </a:p>
        </p:txBody>
      </p:sp>
      <p:sp>
        <p:nvSpPr>
          <p:cNvPr id="6" name="页脚占位符 5">
            <a:extLst>
              <a:ext uri="{FF2B5EF4-FFF2-40B4-BE49-F238E27FC236}">
                <a16:creationId xmlns:a16="http://schemas.microsoft.com/office/drawing/2014/main" id="{A00B282B-B2F4-0B9B-0307-C3A5E6113B2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50C625C-A5EB-D179-1EE1-935E661A76F5}"/>
              </a:ext>
            </a:extLst>
          </p:cNvPr>
          <p:cNvSpPr>
            <a:spLocks noGrp="1"/>
          </p:cNvSpPr>
          <p:nvPr>
            <p:ph type="sldNum" sz="quarter" idx="12"/>
          </p:nvPr>
        </p:nvSpPr>
        <p:spPr/>
        <p:txBody>
          <a:bodyPr/>
          <a:lstStyle/>
          <a:p>
            <a:fld id="{FC6010BA-B7DA-4CAC-81C2-07F974D23F86}" type="slidenum">
              <a:rPr lang="zh-CN" altLang="en-US" smtClean="0"/>
              <a:t>‹#›</a:t>
            </a:fld>
            <a:endParaRPr lang="zh-CN" altLang="en-US"/>
          </a:p>
        </p:txBody>
      </p:sp>
    </p:spTree>
    <p:extLst>
      <p:ext uri="{BB962C8B-B14F-4D97-AF65-F5344CB8AC3E}">
        <p14:creationId xmlns:p14="http://schemas.microsoft.com/office/powerpoint/2010/main" val="1916673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1564BF-DF4A-1B78-3D81-9F3E98933DC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E846C4C-9FFB-0F87-CC70-FEC81F27480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9DEB04-2D21-B05D-2C19-F4DF451C2A14}"/>
              </a:ext>
            </a:extLst>
          </p:cNvPr>
          <p:cNvSpPr>
            <a:spLocks noGrp="1"/>
          </p:cNvSpPr>
          <p:nvPr>
            <p:ph type="dt" sz="half" idx="10"/>
          </p:nvPr>
        </p:nvSpPr>
        <p:spPr/>
        <p:txBody>
          <a:bodyPr/>
          <a:lstStyle/>
          <a:p>
            <a:fld id="{368180C0-537E-49EA-8203-7EE27DE3B092}" type="datetimeFigureOut">
              <a:rPr lang="zh-CN" altLang="en-US" smtClean="0"/>
              <a:t>2025/12/7</a:t>
            </a:fld>
            <a:endParaRPr lang="zh-CN" altLang="en-US"/>
          </a:p>
        </p:txBody>
      </p:sp>
      <p:sp>
        <p:nvSpPr>
          <p:cNvPr id="5" name="页脚占位符 4">
            <a:extLst>
              <a:ext uri="{FF2B5EF4-FFF2-40B4-BE49-F238E27FC236}">
                <a16:creationId xmlns:a16="http://schemas.microsoft.com/office/drawing/2014/main" id="{FE38DFF5-FB4F-2561-6143-50B0154D45B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EEC3E30-9C30-D7B4-85C2-FC28FF7A1562}"/>
              </a:ext>
            </a:extLst>
          </p:cNvPr>
          <p:cNvSpPr>
            <a:spLocks noGrp="1"/>
          </p:cNvSpPr>
          <p:nvPr>
            <p:ph type="sldNum" sz="quarter" idx="12"/>
          </p:nvPr>
        </p:nvSpPr>
        <p:spPr/>
        <p:txBody>
          <a:bodyPr/>
          <a:lstStyle/>
          <a:p>
            <a:fld id="{FC6010BA-B7DA-4CAC-81C2-07F974D23F86}" type="slidenum">
              <a:rPr lang="zh-CN" altLang="en-US" smtClean="0"/>
              <a:t>‹#›</a:t>
            </a:fld>
            <a:endParaRPr lang="zh-CN" altLang="en-US"/>
          </a:p>
        </p:txBody>
      </p:sp>
    </p:spTree>
    <p:extLst>
      <p:ext uri="{BB962C8B-B14F-4D97-AF65-F5344CB8AC3E}">
        <p14:creationId xmlns:p14="http://schemas.microsoft.com/office/powerpoint/2010/main" val="416248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9DCADA3-4239-2BE2-96F1-9283EB490FE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1542A74-5B45-FA1E-CD81-18751BB34F3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5F39989-4FD0-FADD-5584-8FFF62335D75}"/>
              </a:ext>
            </a:extLst>
          </p:cNvPr>
          <p:cNvSpPr>
            <a:spLocks noGrp="1"/>
          </p:cNvSpPr>
          <p:nvPr>
            <p:ph type="dt" sz="half" idx="10"/>
          </p:nvPr>
        </p:nvSpPr>
        <p:spPr/>
        <p:txBody>
          <a:bodyPr/>
          <a:lstStyle/>
          <a:p>
            <a:fld id="{368180C0-537E-49EA-8203-7EE27DE3B092}" type="datetimeFigureOut">
              <a:rPr lang="zh-CN" altLang="en-US" smtClean="0"/>
              <a:t>2025/12/7</a:t>
            </a:fld>
            <a:endParaRPr lang="zh-CN" altLang="en-US"/>
          </a:p>
        </p:txBody>
      </p:sp>
      <p:sp>
        <p:nvSpPr>
          <p:cNvPr id="5" name="页脚占位符 4">
            <a:extLst>
              <a:ext uri="{FF2B5EF4-FFF2-40B4-BE49-F238E27FC236}">
                <a16:creationId xmlns:a16="http://schemas.microsoft.com/office/drawing/2014/main" id="{D1506FA6-F7CE-ABD9-9982-3F33E212899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122D18A-3632-56DB-9374-4FD3C600E381}"/>
              </a:ext>
            </a:extLst>
          </p:cNvPr>
          <p:cNvSpPr>
            <a:spLocks noGrp="1"/>
          </p:cNvSpPr>
          <p:nvPr>
            <p:ph type="sldNum" sz="quarter" idx="12"/>
          </p:nvPr>
        </p:nvSpPr>
        <p:spPr/>
        <p:txBody>
          <a:bodyPr/>
          <a:lstStyle/>
          <a:p>
            <a:fld id="{FC6010BA-B7DA-4CAC-81C2-07F974D23F86}" type="slidenum">
              <a:rPr lang="zh-CN" altLang="en-US" smtClean="0"/>
              <a:t>‹#›</a:t>
            </a:fld>
            <a:endParaRPr lang="zh-CN" altLang="en-US"/>
          </a:p>
        </p:txBody>
      </p:sp>
    </p:spTree>
    <p:extLst>
      <p:ext uri="{BB962C8B-B14F-4D97-AF65-F5344CB8AC3E}">
        <p14:creationId xmlns:p14="http://schemas.microsoft.com/office/powerpoint/2010/main" val="259799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25323BD-45CB-6B92-CC3C-A266121320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6F122C6-2EE2-4941-FF40-7DF01716FE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4123E7-F13B-645D-676C-92504A1815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8180C0-537E-49EA-8203-7EE27DE3B092}" type="datetimeFigureOut">
              <a:rPr lang="zh-CN" altLang="en-US" smtClean="0"/>
              <a:t>2025/12/7</a:t>
            </a:fld>
            <a:endParaRPr lang="zh-CN" altLang="en-US"/>
          </a:p>
        </p:txBody>
      </p:sp>
      <p:sp>
        <p:nvSpPr>
          <p:cNvPr id="5" name="页脚占位符 4">
            <a:extLst>
              <a:ext uri="{FF2B5EF4-FFF2-40B4-BE49-F238E27FC236}">
                <a16:creationId xmlns:a16="http://schemas.microsoft.com/office/drawing/2014/main" id="{D4C76FF9-052A-99AD-EC48-74973A4BD7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4244D47-FBA4-FF1B-1D36-E7B5D2974A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6010BA-B7DA-4CAC-81C2-07F974D23F86}" type="slidenum">
              <a:rPr lang="zh-CN" altLang="en-US" smtClean="0"/>
              <a:t>‹#›</a:t>
            </a:fld>
            <a:endParaRPr lang="zh-CN" altLang="en-US"/>
          </a:p>
        </p:txBody>
      </p:sp>
    </p:spTree>
    <p:extLst>
      <p:ext uri="{BB962C8B-B14F-4D97-AF65-F5344CB8AC3E}">
        <p14:creationId xmlns:p14="http://schemas.microsoft.com/office/powerpoint/2010/main" val="1446255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AE11F4-8AF5-8199-4AEF-891495A7861A}"/>
              </a:ext>
            </a:extLst>
          </p:cNvPr>
          <p:cNvSpPr>
            <a:spLocks noGrp="1"/>
          </p:cNvSpPr>
          <p:nvPr>
            <p:ph type="ctrTitle"/>
          </p:nvPr>
        </p:nvSpPr>
        <p:spPr/>
        <p:txBody>
          <a:bodyPr>
            <a:normAutofit/>
          </a:bodyPr>
          <a:lstStyle/>
          <a:p>
            <a:r>
              <a:rPr lang="en-US" altLang="zh-CN" sz="4800" b="1" dirty="0"/>
              <a:t>Language Modeling from Scratch</a:t>
            </a:r>
            <a:endParaRPr lang="zh-CN" altLang="en-US" sz="4800" b="1" dirty="0"/>
          </a:p>
        </p:txBody>
      </p:sp>
      <p:sp>
        <p:nvSpPr>
          <p:cNvPr id="3" name="副标题 2">
            <a:extLst>
              <a:ext uri="{FF2B5EF4-FFF2-40B4-BE49-F238E27FC236}">
                <a16:creationId xmlns:a16="http://schemas.microsoft.com/office/drawing/2014/main" id="{05B23410-B82B-A1CE-5374-A856582D7F59}"/>
              </a:ext>
            </a:extLst>
          </p:cNvPr>
          <p:cNvSpPr>
            <a:spLocks noGrp="1"/>
          </p:cNvSpPr>
          <p:nvPr>
            <p:ph type="subTitle" idx="1"/>
          </p:nvPr>
        </p:nvSpPr>
        <p:spPr/>
        <p:txBody>
          <a:bodyPr/>
          <a:lstStyle/>
          <a:p>
            <a:pPr algn="r"/>
            <a:endParaRPr lang="en-US" altLang="zh-CN" dirty="0"/>
          </a:p>
          <a:p>
            <a:pPr algn="r"/>
            <a:r>
              <a:rPr lang="en-US" altLang="zh-CN" dirty="0"/>
              <a:t>lesson 15 and lesson 16:Aligment</a:t>
            </a:r>
          </a:p>
          <a:p>
            <a:endParaRPr lang="zh-CN" altLang="en-US" dirty="0"/>
          </a:p>
        </p:txBody>
      </p:sp>
    </p:spTree>
    <p:extLst>
      <p:ext uri="{BB962C8B-B14F-4D97-AF65-F5344CB8AC3E}">
        <p14:creationId xmlns:p14="http://schemas.microsoft.com/office/powerpoint/2010/main" val="3195470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83646D-1108-8F84-AF0D-8C8C7DA38B43}"/>
              </a:ext>
            </a:extLst>
          </p:cNvPr>
          <p:cNvSpPr>
            <a:spLocks noGrp="1"/>
          </p:cNvSpPr>
          <p:nvPr>
            <p:ph type="title"/>
          </p:nvPr>
        </p:nvSpPr>
        <p:spPr>
          <a:xfrm>
            <a:off x="838200" y="365125"/>
            <a:ext cx="10515600" cy="5811838"/>
          </a:xfrm>
        </p:spPr>
        <p:txBody>
          <a:bodyPr/>
          <a:lstStyle/>
          <a:p>
            <a:pPr algn="ctr"/>
            <a:r>
              <a:rPr lang="en-US" altLang="zh-CN" b="1" dirty="0"/>
              <a:t>Lesson 15</a:t>
            </a:r>
            <a:r>
              <a:rPr lang="zh-CN" altLang="en-US" b="1" dirty="0"/>
              <a:t>：</a:t>
            </a:r>
            <a:r>
              <a:rPr lang="en-US" altLang="zh-CN" b="1" dirty="0">
                <a:sym typeface="+mn-ea"/>
              </a:rPr>
              <a:t>SFT and RLHF</a:t>
            </a:r>
            <a:endParaRPr lang="zh-CN" altLang="en-US" b="1" dirty="0"/>
          </a:p>
        </p:txBody>
      </p:sp>
    </p:spTree>
    <p:extLst>
      <p:ext uri="{BB962C8B-B14F-4D97-AF65-F5344CB8AC3E}">
        <p14:creationId xmlns:p14="http://schemas.microsoft.com/office/powerpoint/2010/main" val="3751161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D48DF6-3389-4FCB-B0ED-553CD7EEA272}"/>
              </a:ext>
            </a:extLst>
          </p:cNvPr>
          <p:cNvSpPr>
            <a:spLocks noGrp="1"/>
          </p:cNvSpPr>
          <p:nvPr>
            <p:ph type="title"/>
          </p:nvPr>
        </p:nvSpPr>
        <p:spPr/>
        <p:txBody>
          <a:bodyPr/>
          <a:lstStyle/>
          <a:p>
            <a:r>
              <a:rPr lang="en-US" altLang="zh-CN" b="1" dirty="0"/>
              <a:t>Review</a:t>
            </a:r>
            <a:endParaRPr lang="zh-CN" altLang="en-US" b="1" dirty="0"/>
          </a:p>
        </p:txBody>
      </p:sp>
      <p:sp>
        <p:nvSpPr>
          <p:cNvPr id="3" name="内容占位符 2">
            <a:extLst>
              <a:ext uri="{FF2B5EF4-FFF2-40B4-BE49-F238E27FC236}">
                <a16:creationId xmlns:a16="http://schemas.microsoft.com/office/drawing/2014/main" id="{DEF47AE2-A51C-7767-4593-C6E2F9E2C16E}"/>
              </a:ext>
            </a:extLst>
          </p:cNvPr>
          <p:cNvSpPr>
            <a:spLocks noGrp="1"/>
          </p:cNvSpPr>
          <p:nvPr>
            <p:ph idx="1"/>
          </p:nvPr>
        </p:nvSpPr>
        <p:spPr/>
        <p:txBody>
          <a:bodyPr/>
          <a:lstStyle/>
          <a:p>
            <a:r>
              <a:rPr lang="en-US" altLang="zh-CN" dirty="0"/>
              <a:t>From pre-training to </a:t>
            </a:r>
            <a:r>
              <a:rPr lang="en-US" altLang="zh-CN" dirty="0">
                <a:sym typeface="Wingdings" panose="05000000000000000000" pitchFamily="2" charset="2"/>
              </a:rPr>
              <a:t>post-training</a:t>
            </a:r>
          </a:p>
          <a:p>
            <a:pPr marL="0" indent="0">
              <a:buNone/>
            </a:pPr>
            <a:endParaRPr lang="en-US" altLang="zh-CN" dirty="0">
              <a:sym typeface="Wingdings" panose="05000000000000000000" pitchFamily="2" charset="2"/>
            </a:endParaRPr>
          </a:p>
          <a:p>
            <a:pPr marL="0" indent="0">
              <a:buNone/>
            </a:pPr>
            <a:r>
              <a:rPr lang="en-US" altLang="zh-CN" dirty="0">
                <a:sym typeface="Wingdings" panose="05000000000000000000" pitchFamily="2" charset="2"/>
              </a:rPr>
              <a:t>GPT--&gt; instruct GPT</a:t>
            </a:r>
            <a:endParaRPr lang="zh-CN" altLang="en-US" dirty="0"/>
          </a:p>
        </p:txBody>
      </p:sp>
      <p:pic>
        <p:nvPicPr>
          <p:cNvPr id="5" name="图片 4">
            <a:extLst>
              <a:ext uri="{FF2B5EF4-FFF2-40B4-BE49-F238E27FC236}">
                <a16:creationId xmlns:a16="http://schemas.microsoft.com/office/drawing/2014/main" id="{CE70808F-4ECA-5BCA-F2B6-1F5C760101BB}"/>
              </a:ext>
            </a:extLst>
          </p:cNvPr>
          <p:cNvPicPr>
            <a:picLocks noChangeAspect="1"/>
          </p:cNvPicPr>
          <p:nvPr/>
        </p:nvPicPr>
        <p:blipFill>
          <a:blip r:embed="rId3"/>
          <a:stretch>
            <a:fillRect/>
          </a:stretch>
        </p:blipFill>
        <p:spPr>
          <a:xfrm>
            <a:off x="4285264" y="2433953"/>
            <a:ext cx="7068536" cy="3496163"/>
          </a:xfrm>
          <a:prstGeom prst="rect">
            <a:avLst/>
          </a:prstGeom>
        </p:spPr>
      </p:pic>
    </p:spTree>
    <p:extLst>
      <p:ext uri="{BB962C8B-B14F-4D97-AF65-F5344CB8AC3E}">
        <p14:creationId xmlns:p14="http://schemas.microsoft.com/office/powerpoint/2010/main" val="1482670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2CDA43-3B8C-83E6-EEAC-EE358252D855}"/>
              </a:ext>
            </a:extLst>
          </p:cNvPr>
          <p:cNvSpPr>
            <a:spLocks noGrp="1"/>
          </p:cNvSpPr>
          <p:nvPr>
            <p:ph type="title"/>
          </p:nvPr>
        </p:nvSpPr>
        <p:spPr/>
        <p:txBody>
          <a:bodyPr/>
          <a:lstStyle/>
          <a:p>
            <a:r>
              <a:rPr lang="en-US" altLang="zh-CN" b="1" dirty="0"/>
              <a:t>Goal</a:t>
            </a:r>
            <a:endParaRPr lang="zh-CN" altLang="en-US" b="1" dirty="0"/>
          </a:p>
        </p:txBody>
      </p:sp>
      <p:sp>
        <p:nvSpPr>
          <p:cNvPr id="3" name="内容占位符 2">
            <a:extLst>
              <a:ext uri="{FF2B5EF4-FFF2-40B4-BE49-F238E27FC236}">
                <a16:creationId xmlns:a16="http://schemas.microsoft.com/office/drawing/2014/main" id="{FC96424B-0BFD-EF69-A74B-EB4F2CB34C99}"/>
              </a:ext>
            </a:extLst>
          </p:cNvPr>
          <p:cNvSpPr>
            <a:spLocks noGrp="1"/>
          </p:cNvSpPr>
          <p:nvPr>
            <p:ph idx="1"/>
          </p:nvPr>
        </p:nvSpPr>
        <p:spPr/>
        <p:txBody>
          <a:bodyPr/>
          <a:lstStyle/>
          <a:p>
            <a:pPr marL="0" indent="0">
              <a:buNone/>
            </a:pPr>
            <a:r>
              <a:rPr lang="en-US" altLang="zh-CN" dirty="0"/>
              <a:t>Enable better, tighter controls over LM output.</a:t>
            </a:r>
          </a:p>
          <a:p>
            <a:pPr marL="0" indent="0">
              <a:buNone/>
            </a:pPr>
            <a:endParaRPr lang="en-US" altLang="zh-CN" dirty="0"/>
          </a:p>
          <a:p>
            <a:pPr marL="0" indent="0">
              <a:buNone/>
            </a:pPr>
            <a:r>
              <a:rPr lang="en-US" altLang="zh-CN" dirty="0"/>
              <a:t>Pretraining data isn’t quite what we want (but it scales).</a:t>
            </a:r>
          </a:p>
          <a:p>
            <a:pPr marL="0" indent="0">
              <a:buNone/>
            </a:pPr>
            <a:r>
              <a:rPr lang="en-US" altLang="zh-CN" dirty="0"/>
              <a:t>Can we collect data of behaviors we do want and train the LM?</a:t>
            </a:r>
          </a:p>
          <a:p>
            <a:pPr marL="0" indent="0">
              <a:buNone/>
            </a:pPr>
            <a:r>
              <a:rPr lang="en-US" altLang="zh-CN" dirty="0"/>
              <a:t>1. What does that data look like? </a:t>
            </a:r>
          </a:p>
          <a:p>
            <a:pPr marL="0" indent="0">
              <a:buNone/>
            </a:pPr>
            <a:r>
              <a:rPr lang="en-US" altLang="zh-CN" dirty="0"/>
              <a:t>2. How do we best make use of that data? </a:t>
            </a:r>
          </a:p>
          <a:p>
            <a:pPr marL="0" indent="0">
              <a:buNone/>
            </a:pPr>
            <a:r>
              <a:rPr lang="en-US" altLang="zh-CN" dirty="0"/>
              <a:t>3. Do we need scale for this?</a:t>
            </a:r>
            <a:endParaRPr lang="zh-CN" altLang="en-US" dirty="0"/>
          </a:p>
        </p:txBody>
      </p:sp>
    </p:spTree>
    <p:extLst>
      <p:ext uri="{BB962C8B-B14F-4D97-AF65-F5344CB8AC3E}">
        <p14:creationId xmlns:p14="http://schemas.microsoft.com/office/powerpoint/2010/main" val="2937877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DD8C4C-6691-6F02-29EA-4A85F017D109}"/>
              </a:ext>
            </a:extLst>
          </p:cNvPr>
          <p:cNvSpPr>
            <a:spLocks noGrp="1"/>
          </p:cNvSpPr>
          <p:nvPr>
            <p:ph type="title"/>
          </p:nvPr>
        </p:nvSpPr>
        <p:spPr/>
        <p:txBody>
          <a:bodyPr/>
          <a:lstStyle/>
          <a:p>
            <a:r>
              <a:rPr lang="en-US" altLang="zh-CN" b="1" dirty="0"/>
              <a:t>Overview</a:t>
            </a:r>
            <a:endParaRPr lang="zh-CN" altLang="en-US" b="1" dirty="0"/>
          </a:p>
        </p:txBody>
      </p:sp>
      <p:sp>
        <p:nvSpPr>
          <p:cNvPr id="3" name="内容占位符 2">
            <a:extLst>
              <a:ext uri="{FF2B5EF4-FFF2-40B4-BE49-F238E27FC236}">
                <a16:creationId xmlns:a16="http://schemas.microsoft.com/office/drawing/2014/main" id="{8B1458AE-93C0-38D6-CB52-97632E92B2C4}"/>
              </a:ext>
            </a:extLst>
          </p:cNvPr>
          <p:cNvSpPr>
            <a:spLocks noGrp="1"/>
          </p:cNvSpPr>
          <p:nvPr>
            <p:ph idx="1"/>
          </p:nvPr>
        </p:nvSpPr>
        <p:spPr/>
        <p:txBody>
          <a:bodyPr/>
          <a:lstStyle/>
          <a:p>
            <a:pPr marL="0" indent="0">
              <a:buNone/>
            </a:pPr>
            <a:r>
              <a:rPr lang="en-US" altLang="zh-CN" dirty="0"/>
              <a:t>Standard approach – imitation (SFT) followed by reinforcement (‘RL’ HF)</a:t>
            </a:r>
          </a:p>
          <a:p>
            <a:pPr marL="0" indent="0">
              <a:buNone/>
            </a:pPr>
            <a:endParaRPr lang="zh-CN" altLang="en-US" dirty="0"/>
          </a:p>
        </p:txBody>
      </p:sp>
      <p:pic>
        <p:nvPicPr>
          <p:cNvPr id="5" name="图片 4">
            <a:extLst>
              <a:ext uri="{FF2B5EF4-FFF2-40B4-BE49-F238E27FC236}">
                <a16:creationId xmlns:a16="http://schemas.microsoft.com/office/drawing/2014/main" id="{72CF2D02-AF72-0042-E0C0-23BFF2C5CE56}"/>
              </a:ext>
            </a:extLst>
          </p:cNvPr>
          <p:cNvPicPr>
            <a:picLocks noChangeAspect="1"/>
          </p:cNvPicPr>
          <p:nvPr/>
        </p:nvPicPr>
        <p:blipFill>
          <a:blip r:embed="rId3"/>
          <a:stretch>
            <a:fillRect/>
          </a:stretch>
        </p:blipFill>
        <p:spPr>
          <a:xfrm>
            <a:off x="2562166" y="2501519"/>
            <a:ext cx="6545976" cy="3891063"/>
          </a:xfrm>
          <a:prstGeom prst="rect">
            <a:avLst/>
          </a:prstGeom>
        </p:spPr>
      </p:pic>
    </p:spTree>
    <p:extLst>
      <p:ext uri="{BB962C8B-B14F-4D97-AF65-F5344CB8AC3E}">
        <p14:creationId xmlns:p14="http://schemas.microsoft.com/office/powerpoint/2010/main" val="1656285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CC4A63-B830-D861-EAE6-B2CA572B4AB0}"/>
              </a:ext>
            </a:extLst>
          </p:cNvPr>
          <p:cNvSpPr>
            <a:spLocks noGrp="1"/>
          </p:cNvSpPr>
          <p:nvPr>
            <p:ph type="title"/>
          </p:nvPr>
        </p:nvSpPr>
        <p:spPr/>
        <p:txBody>
          <a:bodyPr/>
          <a:lstStyle/>
          <a:p>
            <a:r>
              <a:rPr lang="en-US" altLang="zh-CN" b="1" dirty="0"/>
              <a:t>SFT</a:t>
            </a:r>
            <a:endParaRPr lang="zh-CN" altLang="en-US" b="1" dirty="0"/>
          </a:p>
        </p:txBody>
      </p:sp>
      <p:sp>
        <p:nvSpPr>
          <p:cNvPr id="3" name="内容占位符 2">
            <a:extLst>
              <a:ext uri="{FF2B5EF4-FFF2-40B4-BE49-F238E27FC236}">
                <a16:creationId xmlns:a16="http://schemas.microsoft.com/office/drawing/2014/main" id="{BD8A2C35-B30C-E64B-5A37-04458449B554}"/>
              </a:ext>
            </a:extLst>
          </p:cNvPr>
          <p:cNvSpPr>
            <a:spLocks noGrp="1"/>
          </p:cNvSpPr>
          <p:nvPr>
            <p:ph idx="1"/>
          </p:nvPr>
        </p:nvSpPr>
        <p:spPr/>
        <p:txBody>
          <a:bodyPr/>
          <a:lstStyle/>
          <a:p>
            <a:pPr marL="0" indent="0">
              <a:buNone/>
            </a:pPr>
            <a:r>
              <a:rPr lang="en-US" altLang="zh-CN" dirty="0"/>
              <a:t>The training data:</a:t>
            </a:r>
          </a:p>
          <a:p>
            <a:pPr marL="0" indent="0">
              <a:buNone/>
            </a:pPr>
            <a:r>
              <a:rPr lang="en-US" altLang="zh-CN" dirty="0"/>
              <a:t>1. What’s actually inside these datasets? </a:t>
            </a:r>
          </a:p>
          <a:p>
            <a:pPr marL="0" indent="0">
              <a:buNone/>
            </a:pPr>
            <a:r>
              <a:rPr lang="en-US" altLang="zh-CN" dirty="0"/>
              <a:t>2. What matters in building ‘high performance’ instruction tuning data? </a:t>
            </a:r>
          </a:p>
          <a:p>
            <a:pPr marL="0" indent="0">
              <a:buNone/>
            </a:pPr>
            <a:r>
              <a:rPr lang="en-US" altLang="zh-CN" dirty="0"/>
              <a:t>The method:</a:t>
            </a:r>
          </a:p>
          <a:p>
            <a:pPr marL="0" indent="0">
              <a:buNone/>
            </a:pPr>
            <a:r>
              <a:rPr lang="en-US" altLang="zh-CN" dirty="0"/>
              <a:t>How to fine-tune?</a:t>
            </a:r>
            <a:endParaRPr lang="zh-CN" altLang="en-US" dirty="0"/>
          </a:p>
        </p:txBody>
      </p:sp>
    </p:spTree>
    <p:extLst>
      <p:ext uri="{BB962C8B-B14F-4D97-AF65-F5344CB8AC3E}">
        <p14:creationId xmlns:p14="http://schemas.microsoft.com/office/powerpoint/2010/main" val="507771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38C3E7-7AC5-7831-D965-136024495CA6}"/>
              </a:ext>
            </a:extLst>
          </p:cNvPr>
          <p:cNvSpPr>
            <a:spLocks noGrp="1"/>
          </p:cNvSpPr>
          <p:nvPr>
            <p:ph type="title"/>
          </p:nvPr>
        </p:nvSpPr>
        <p:spPr/>
        <p:txBody>
          <a:bodyPr/>
          <a:lstStyle/>
          <a:p>
            <a:r>
              <a:rPr lang="en-US" altLang="zh-CN" b="1" dirty="0"/>
              <a:t>Some instruction-tuning data</a:t>
            </a:r>
            <a:endParaRPr lang="zh-CN" altLang="en-US" b="1" dirty="0"/>
          </a:p>
        </p:txBody>
      </p:sp>
      <p:sp>
        <p:nvSpPr>
          <p:cNvPr id="3" name="内容占位符 2">
            <a:extLst>
              <a:ext uri="{FF2B5EF4-FFF2-40B4-BE49-F238E27FC236}">
                <a16:creationId xmlns:a16="http://schemas.microsoft.com/office/drawing/2014/main" id="{4F2F8252-7FAC-98E8-891E-BEF9FB93B86B}"/>
              </a:ext>
            </a:extLst>
          </p:cNvPr>
          <p:cNvSpPr>
            <a:spLocks noGrp="1"/>
          </p:cNvSpPr>
          <p:nvPr>
            <p:ph idx="1"/>
          </p:nvPr>
        </p:nvSpPr>
        <p:spPr/>
        <p:txBody>
          <a:bodyPr/>
          <a:lstStyle/>
          <a:p>
            <a:pPr marL="0" indent="0">
              <a:buNone/>
            </a:pPr>
            <a:r>
              <a:rPr lang="en-US" altLang="zh-CN" dirty="0"/>
              <a:t>Take a look at three datasets:</a:t>
            </a:r>
          </a:p>
          <a:p>
            <a:pPr marL="514350" indent="-514350">
              <a:buAutoNum type="arabicPeriod"/>
            </a:pPr>
            <a:r>
              <a:rPr lang="en-US" altLang="zh-CN" dirty="0"/>
              <a:t>FLAN</a:t>
            </a:r>
          </a:p>
          <a:p>
            <a:pPr marL="514350" indent="-514350">
              <a:buAutoNum type="arabicPeriod"/>
            </a:pPr>
            <a:endParaRPr lang="en-US" altLang="zh-CN" dirty="0"/>
          </a:p>
          <a:p>
            <a:pPr marL="0" indent="0">
              <a:buNone/>
            </a:pPr>
            <a:r>
              <a:rPr lang="en-US" altLang="zh-CN" dirty="0"/>
              <a:t>2. </a:t>
            </a:r>
            <a:r>
              <a:rPr lang="en-US" altLang="zh-CN" dirty="0" err="1"/>
              <a:t>Oasst</a:t>
            </a:r>
            <a:endParaRPr lang="en-US" altLang="zh-CN" dirty="0"/>
          </a:p>
          <a:p>
            <a:pPr marL="0" indent="0">
              <a:buNone/>
            </a:pPr>
            <a:endParaRPr lang="en-US" altLang="zh-CN" dirty="0"/>
          </a:p>
          <a:p>
            <a:pPr marL="0" indent="0">
              <a:buNone/>
            </a:pPr>
            <a:r>
              <a:rPr lang="en-US" altLang="zh-CN" dirty="0"/>
              <a:t>3. Alpaca </a:t>
            </a:r>
          </a:p>
        </p:txBody>
      </p:sp>
      <p:pic>
        <p:nvPicPr>
          <p:cNvPr id="5" name="图片 4">
            <a:extLst>
              <a:ext uri="{FF2B5EF4-FFF2-40B4-BE49-F238E27FC236}">
                <a16:creationId xmlns:a16="http://schemas.microsoft.com/office/drawing/2014/main" id="{B2E7F341-A1B0-0A36-12F3-13127EB9D491}"/>
              </a:ext>
            </a:extLst>
          </p:cNvPr>
          <p:cNvPicPr>
            <a:picLocks noChangeAspect="1"/>
          </p:cNvPicPr>
          <p:nvPr/>
        </p:nvPicPr>
        <p:blipFill>
          <a:blip r:embed="rId3"/>
          <a:stretch>
            <a:fillRect/>
          </a:stretch>
        </p:blipFill>
        <p:spPr>
          <a:xfrm>
            <a:off x="7189694" y="2165122"/>
            <a:ext cx="3896269" cy="1476581"/>
          </a:xfrm>
          <a:prstGeom prst="rect">
            <a:avLst/>
          </a:prstGeom>
        </p:spPr>
      </p:pic>
      <p:pic>
        <p:nvPicPr>
          <p:cNvPr id="7" name="图片 6">
            <a:extLst>
              <a:ext uri="{FF2B5EF4-FFF2-40B4-BE49-F238E27FC236}">
                <a16:creationId xmlns:a16="http://schemas.microsoft.com/office/drawing/2014/main" id="{CACCED48-3330-3374-97CF-ED47AD75DA42}"/>
              </a:ext>
            </a:extLst>
          </p:cNvPr>
          <p:cNvPicPr>
            <a:picLocks noChangeAspect="1"/>
          </p:cNvPicPr>
          <p:nvPr/>
        </p:nvPicPr>
        <p:blipFill>
          <a:blip r:embed="rId4"/>
          <a:stretch>
            <a:fillRect/>
          </a:stretch>
        </p:blipFill>
        <p:spPr>
          <a:xfrm>
            <a:off x="2566698" y="2903413"/>
            <a:ext cx="3747247" cy="1553735"/>
          </a:xfrm>
          <a:prstGeom prst="rect">
            <a:avLst/>
          </a:prstGeom>
        </p:spPr>
      </p:pic>
      <p:pic>
        <p:nvPicPr>
          <p:cNvPr id="9" name="图片 8">
            <a:extLst>
              <a:ext uri="{FF2B5EF4-FFF2-40B4-BE49-F238E27FC236}">
                <a16:creationId xmlns:a16="http://schemas.microsoft.com/office/drawing/2014/main" id="{C59727C7-2A75-CDF0-F4B4-B07CFEAF6DB9}"/>
              </a:ext>
            </a:extLst>
          </p:cNvPr>
          <p:cNvPicPr>
            <a:picLocks noChangeAspect="1"/>
          </p:cNvPicPr>
          <p:nvPr/>
        </p:nvPicPr>
        <p:blipFill>
          <a:blip r:embed="rId5"/>
          <a:stretch>
            <a:fillRect/>
          </a:stretch>
        </p:blipFill>
        <p:spPr>
          <a:xfrm>
            <a:off x="1771779" y="4775867"/>
            <a:ext cx="2962688" cy="1143160"/>
          </a:xfrm>
          <a:prstGeom prst="rect">
            <a:avLst/>
          </a:prstGeom>
        </p:spPr>
      </p:pic>
    </p:spTree>
    <p:extLst>
      <p:ext uri="{BB962C8B-B14F-4D97-AF65-F5344CB8AC3E}">
        <p14:creationId xmlns:p14="http://schemas.microsoft.com/office/powerpoint/2010/main" val="509918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045D11-63DC-0D65-8A3F-F286DF9AF207}"/>
              </a:ext>
            </a:extLst>
          </p:cNvPr>
          <p:cNvSpPr>
            <a:spLocks noGrp="1"/>
          </p:cNvSpPr>
          <p:nvPr>
            <p:ph type="title"/>
          </p:nvPr>
        </p:nvSpPr>
        <p:spPr/>
        <p:txBody>
          <a:bodyPr/>
          <a:lstStyle/>
          <a:p>
            <a:r>
              <a:rPr lang="en-US" altLang="zh-CN" b="1" dirty="0"/>
              <a:t>FLAN – random examples</a:t>
            </a:r>
            <a:endParaRPr lang="zh-CN" altLang="en-US" b="1" dirty="0"/>
          </a:p>
        </p:txBody>
      </p:sp>
      <p:pic>
        <p:nvPicPr>
          <p:cNvPr id="5" name="内容占位符 4">
            <a:extLst>
              <a:ext uri="{FF2B5EF4-FFF2-40B4-BE49-F238E27FC236}">
                <a16:creationId xmlns:a16="http://schemas.microsoft.com/office/drawing/2014/main" id="{DB3325EE-BC0B-4ABA-24A8-E21494341032}"/>
              </a:ext>
            </a:extLst>
          </p:cNvPr>
          <p:cNvPicPr>
            <a:picLocks noGrp="1" noChangeAspect="1"/>
          </p:cNvPicPr>
          <p:nvPr>
            <p:ph idx="1"/>
          </p:nvPr>
        </p:nvPicPr>
        <p:blipFill>
          <a:blip r:embed="rId3"/>
          <a:stretch>
            <a:fillRect/>
          </a:stretch>
        </p:blipFill>
        <p:spPr>
          <a:xfrm>
            <a:off x="1562194" y="1789766"/>
            <a:ext cx="8906247" cy="4351338"/>
          </a:xfrm>
          <a:prstGeom prst="rect">
            <a:avLst/>
          </a:prstGeom>
        </p:spPr>
      </p:pic>
    </p:spTree>
    <p:extLst>
      <p:ext uri="{BB962C8B-B14F-4D97-AF65-F5344CB8AC3E}">
        <p14:creationId xmlns:p14="http://schemas.microsoft.com/office/powerpoint/2010/main" val="3789652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00F9D8-1ACC-5C2D-86E9-4CB943547570}"/>
              </a:ext>
            </a:extLst>
          </p:cNvPr>
          <p:cNvSpPr>
            <a:spLocks noGrp="1"/>
          </p:cNvSpPr>
          <p:nvPr>
            <p:ph type="title"/>
          </p:nvPr>
        </p:nvSpPr>
        <p:spPr/>
        <p:txBody>
          <a:bodyPr/>
          <a:lstStyle/>
          <a:p>
            <a:r>
              <a:rPr lang="en-US" altLang="zh-CN" b="1" dirty="0"/>
              <a:t>Alpaca – random examples</a:t>
            </a:r>
            <a:endParaRPr lang="zh-CN" altLang="en-US" b="1" dirty="0"/>
          </a:p>
        </p:txBody>
      </p:sp>
      <p:pic>
        <p:nvPicPr>
          <p:cNvPr id="5" name="内容占位符 4">
            <a:extLst>
              <a:ext uri="{FF2B5EF4-FFF2-40B4-BE49-F238E27FC236}">
                <a16:creationId xmlns:a16="http://schemas.microsoft.com/office/drawing/2014/main" id="{C3442C96-4541-E4C3-51D8-E501FA38D5CB}"/>
              </a:ext>
            </a:extLst>
          </p:cNvPr>
          <p:cNvPicPr>
            <a:picLocks noGrp="1" noChangeAspect="1"/>
          </p:cNvPicPr>
          <p:nvPr>
            <p:ph idx="1"/>
          </p:nvPr>
        </p:nvPicPr>
        <p:blipFill>
          <a:blip r:embed="rId3"/>
          <a:stretch>
            <a:fillRect/>
          </a:stretch>
        </p:blipFill>
        <p:spPr>
          <a:xfrm>
            <a:off x="1882039" y="1780802"/>
            <a:ext cx="8427922" cy="4351338"/>
          </a:xfrm>
          <a:prstGeom prst="rect">
            <a:avLst/>
          </a:prstGeom>
        </p:spPr>
      </p:pic>
    </p:spTree>
    <p:extLst>
      <p:ext uri="{BB962C8B-B14F-4D97-AF65-F5344CB8AC3E}">
        <p14:creationId xmlns:p14="http://schemas.microsoft.com/office/powerpoint/2010/main" val="1970893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AF5576-10DE-12D0-9FFF-7717DF3EA8E9}"/>
              </a:ext>
            </a:extLst>
          </p:cNvPr>
          <p:cNvSpPr>
            <a:spLocks noGrp="1"/>
          </p:cNvSpPr>
          <p:nvPr>
            <p:ph type="title"/>
          </p:nvPr>
        </p:nvSpPr>
        <p:spPr/>
        <p:txBody>
          <a:bodyPr/>
          <a:lstStyle/>
          <a:p>
            <a:r>
              <a:rPr lang="en-US" altLang="zh-CN" b="1" dirty="0" err="1"/>
              <a:t>OpenAssistant</a:t>
            </a:r>
            <a:r>
              <a:rPr lang="en-US" altLang="zh-CN" b="1" dirty="0"/>
              <a:t> – random examples</a:t>
            </a:r>
            <a:endParaRPr lang="zh-CN" altLang="en-US" b="1" dirty="0"/>
          </a:p>
        </p:txBody>
      </p:sp>
      <p:pic>
        <p:nvPicPr>
          <p:cNvPr id="5" name="内容占位符 4">
            <a:extLst>
              <a:ext uri="{FF2B5EF4-FFF2-40B4-BE49-F238E27FC236}">
                <a16:creationId xmlns:a16="http://schemas.microsoft.com/office/drawing/2014/main" id="{0F858615-3F80-1A9E-C86F-9B08E31E5CE0}"/>
              </a:ext>
            </a:extLst>
          </p:cNvPr>
          <p:cNvPicPr>
            <a:picLocks noGrp="1" noChangeAspect="1"/>
          </p:cNvPicPr>
          <p:nvPr>
            <p:ph idx="1"/>
          </p:nvPr>
        </p:nvPicPr>
        <p:blipFill>
          <a:blip r:embed="rId3"/>
          <a:stretch>
            <a:fillRect/>
          </a:stretch>
        </p:blipFill>
        <p:spPr>
          <a:xfrm>
            <a:off x="1716609" y="1690688"/>
            <a:ext cx="8758782" cy="4351338"/>
          </a:xfrm>
          <a:prstGeom prst="rect">
            <a:avLst/>
          </a:prstGeom>
        </p:spPr>
      </p:pic>
    </p:spTree>
    <p:extLst>
      <p:ext uri="{BB962C8B-B14F-4D97-AF65-F5344CB8AC3E}">
        <p14:creationId xmlns:p14="http://schemas.microsoft.com/office/powerpoint/2010/main" val="1271785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DB3A04-763D-A399-20A2-F1CF39C2050C}"/>
              </a:ext>
            </a:extLst>
          </p:cNvPr>
          <p:cNvSpPr>
            <a:spLocks noGrp="1"/>
          </p:cNvSpPr>
          <p:nvPr>
            <p:ph type="title"/>
          </p:nvPr>
        </p:nvSpPr>
        <p:spPr/>
        <p:txBody>
          <a:bodyPr/>
          <a:lstStyle/>
          <a:p>
            <a:r>
              <a:rPr lang="en-US" altLang="zh-CN" b="1" dirty="0"/>
              <a:t>What did we notice across the datasets?</a:t>
            </a:r>
            <a:endParaRPr lang="zh-CN" altLang="en-US" b="1" dirty="0"/>
          </a:p>
        </p:txBody>
      </p:sp>
      <p:sp>
        <p:nvSpPr>
          <p:cNvPr id="3" name="内容占位符 2">
            <a:extLst>
              <a:ext uri="{FF2B5EF4-FFF2-40B4-BE49-F238E27FC236}">
                <a16:creationId xmlns:a16="http://schemas.microsoft.com/office/drawing/2014/main" id="{09E2D439-6154-4012-5229-FD69448C2F67}"/>
              </a:ext>
            </a:extLst>
          </p:cNvPr>
          <p:cNvSpPr>
            <a:spLocks noGrp="1"/>
          </p:cNvSpPr>
          <p:nvPr>
            <p:ph idx="1"/>
          </p:nvPr>
        </p:nvSpPr>
        <p:spPr/>
        <p:txBody>
          <a:bodyPr/>
          <a:lstStyle/>
          <a:p>
            <a:pPr marL="0" indent="0">
              <a:buNone/>
            </a:pPr>
            <a:r>
              <a:rPr lang="en-US" altLang="zh-CN" dirty="0"/>
              <a:t>These datasets vary in many ways:</a:t>
            </a:r>
          </a:p>
          <a:p>
            <a:r>
              <a:rPr lang="en-US" altLang="zh-CN" dirty="0"/>
              <a:t>Length and bullet points (style variations)</a:t>
            </a:r>
          </a:p>
          <a:p>
            <a:r>
              <a:rPr lang="en-US" altLang="zh-CN" dirty="0"/>
              <a:t>References, other complex knowledge</a:t>
            </a:r>
          </a:p>
          <a:p>
            <a:r>
              <a:rPr lang="en-US" altLang="zh-CN" dirty="0"/>
              <a:t>Scale</a:t>
            </a:r>
          </a:p>
          <a:p>
            <a:r>
              <a:rPr lang="en-US" altLang="zh-CN" dirty="0"/>
              <a:t>Safety</a:t>
            </a:r>
          </a:p>
          <a:p>
            <a:pPr marL="0" indent="0">
              <a:buNone/>
            </a:pPr>
            <a:r>
              <a:rPr lang="en-US" altLang="zh-CN" dirty="0"/>
              <a:t>How do these factors affect the model? </a:t>
            </a:r>
            <a:endParaRPr lang="zh-CN" altLang="en-US" dirty="0"/>
          </a:p>
        </p:txBody>
      </p:sp>
    </p:spTree>
    <p:extLst>
      <p:ext uri="{BB962C8B-B14F-4D97-AF65-F5344CB8AC3E}">
        <p14:creationId xmlns:p14="http://schemas.microsoft.com/office/powerpoint/2010/main" val="337046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9E66DC-7BD1-2073-0A5A-D3E39784DDE9}"/>
              </a:ext>
            </a:extLst>
          </p:cNvPr>
          <p:cNvSpPr>
            <a:spLocks noGrp="1"/>
          </p:cNvSpPr>
          <p:nvPr>
            <p:ph type="title"/>
          </p:nvPr>
        </p:nvSpPr>
        <p:spPr/>
        <p:txBody>
          <a:bodyPr/>
          <a:lstStyle/>
          <a:p>
            <a:r>
              <a:rPr lang="en-US" altLang="zh-CN" b="1" dirty="0"/>
              <a:t>Style variations</a:t>
            </a:r>
            <a:endParaRPr lang="zh-CN" altLang="en-US" b="1" dirty="0"/>
          </a:p>
        </p:txBody>
      </p:sp>
      <p:sp>
        <p:nvSpPr>
          <p:cNvPr id="3" name="内容占位符 2">
            <a:extLst>
              <a:ext uri="{FF2B5EF4-FFF2-40B4-BE49-F238E27FC236}">
                <a16:creationId xmlns:a16="http://schemas.microsoft.com/office/drawing/2014/main" id="{11555F32-8D40-FC46-DB81-BA31CCEA7569}"/>
              </a:ext>
            </a:extLst>
          </p:cNvPr>
          <p:cNvSpPr>
            <a:spLocks noGrp="1"/>
          </p:cNvSpPr>
          <p:nvPr>
            <p:ph idx="1"/>
          </p:nvPr>
        </p:nvSpPr>
        <p:spPr/>
        <p:txBody>
          <a:bodyPr/>
          <a:lstStyle/>
          <a:p>
            <a:pPr marL="0" indent="0">
              <a:buNone/>
            </a:pPr>
            <a:r>
              <a:rPr lang="en-US" altLang="zh-CN" dirty="0"/>
              <a:t>Models vary a lot in response length</a:t>
            </a:r>
            <a:endParaRPr lang="zh-CN" altLang="en-US" dirty="0"/>
          </a:p>
        </p:txBody>
      </p:sp>
      <p:pic>
        <p:nvPicPr>
          <p:cNvPr id="5" name="图片 4">
            <a:extLst>
              <a:ext uri="{FF2B5EF4-FFF2-40B4-BE49-F238E27FC236}">
                <a16:creationId xmlns:a16="http://schemas.microsoft.com/office/drawing/2014/main" id="{9ADB65BC-5460-499D-57CD-11352CE30D87}"/>
              </a:ext>
            </a:extLst>
          </p:cNvPr>
          <p:cNvPicPr>
            <a:picLocks noChangeAspect="1"/>
          </p:cNvPicPr>
          <p:nvPr/>
        </p:nvPicPr>
        <p:blipFill>
          <a:blip r:embed="rId3"/>
          <a:stretch>
            <a:fillRect/>
          </a:stretch>
        </p:blipFill>
        <p:spPr>
          <a:xfrm>
            <a:off x="1364088" y="2302384"/>
            <a:ext cx="9463824" cy="4009516"/>
          </a:xfrm>
          <a:prstGeom prst="rect">
            <a:avLst/>
          </a:prstGeom>
        </p:spPr>
      </p:pic>
    </p:spTree>
    <p:extLst>
      <p:ext uri="{BB962C8B-B14F-4D97-AF65-F5344CB8AC3E}">
        <p14:creationId xmlns:p14="http://schemas.microsoft.com/office/powerpoint/2010/main" val="3195503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6910B2-4887-8ADB-7CDD-5FA903CA2625}"/>
              </a:ext>
            </a:extLst>
          </p:cNvPr>
          <p:cNvSpPr>
            <a:spLocks noGrp="1"/>
          </p:cNvSpPr>
          <p:nvPr>
            <p:ph type="title"/>
          </p:nvPr>
        </p:nvSpPr>
        <p:spPr/>
        <p:txBody>
          <a:bodyPr/>
          <a:lstStyle/>
          <a:p>
            <a:r>
              <a:rPr lang="en-US" altLang="zh-CN" b="1" dirty="0"/>
              <a:t>Style variations</a:t>
            </a:r>
            <a:endParaRPr lang="zh-CN" altLang="en-US" b="1" dirty="0"/>
          </a:p>
        </p:txBody>
      </p:sp>
      <p:sp>
        <p:nvSpPr>
          <p:cNvPr id="3" name="内容占位符 2">
            <a:extLst>
              <a:ext uri="{FF2B5EF4-FFF2-40B4-BE49-F238E27FC236}">
                <a16:creationId xmlns:a16="http://schemas.microsoft.com/office/drawing/2014/main" id="{944F5ECA-24C9-98B4-ED42-0CA398890E15}"/>
              </a:ext>
            </a:extLst>
          </p:cNvPr>
          <p:cNvSpPr>
            <a:spLocks noGrp="1"/>
          </p:cNvSpPr>
          <p:nvPr>
            <p:ph idx="1"/>
          </p:nvPr>
        </p:nvSpPr>
        <p:spPr/>
        <p:txBody>
          <a:bodyPr/>
          <a:lstStyle/>
          <a:p>
            <a:pPr marL="0" indent="0">
              <a:buNone/>
            </a:pPr>
            <a:r>
              <a:rPr lang="en-US" altLang="zh-CN" dirty="0"/>
              <a:t>We see very strong length effects (in both humans and GPT-based evaluations)</a:t>
            </a:r>
            <a:endParaRPr lang="zh-CN" altLang="en-US" dirty="0"/>
          </a:p>
        </p:txBody>
      </p:sp>
      <p:pic>
        <p:nvPicPr>
          <p:cNvPr id="5" name="图片 4">
            <a:extLst>
              <a:ext uri="{FF2B5EF4-FFF2-40B4-BE49-F238E27FC236}">
                <a16:creationId xmlns:a16="http://schemas.microsoft.com/office/drawing/2014/main" id="{AD89EC1C-B1D6-2A1B-574A-2AC20E17718B}"/>
              </a:ext>
            </a:extLst>
          </p:cNvPr>
          <p:cNvPicPr>
            <a:picLocks noChangeAspect="1"/>
          </p:cNvPicPr>
          <p:nvPr/>
        </p:nvPicPr>
        <p:blipFill>
          <a:blip r:embed="rId3"/>
          <a:stretch>
            <a:fillRect/>
          </a:stretch>
        </p:blipFill>
        <p:spPr>
          <a:xfrm>
            <a:off x="3545297" y="2342974"/>
            <a:ext cx="5370103" cy="3833989"/>
          </a:xfrm>
          <a:prstGeom prst="rect">
            <a:avLst/>
          </a:prstGeom>
        </p:spPr>
      </p:pic>
    </p:spTree>
    <p:extLst>
      <p:ext uri="{BB962C8B-B14F-4D97-AF65-F5344CB8AC3E}">
        <p14:creationId xmlns:p14="http://schemas.microsoft.com/office/powerpoint/2010/main" val="1476090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1725B4-C8DF-FA59-939E-B08FE64E807B}"/>
              </a:ext>
            </a:extLst>
          </p:cNvPr>
          <p:cNvSpPr>
            <a:spLocks noGrp="1"/>
          </p:cNvSpPr>
          <p:nvPr>
            <p:ph type="title"/>
          </p:nvPr>
        </p:nvSpPr>
        <p:spPr/>
        <p:txBody>
          <a:bodyPr/>
          <a:lstStyle/>
          <a:p>
            <a:r>
              <a:rPr lang="en-US" altLang="zh-CN" b="1" dirty="0"/>
              <a:t>References, and complex knowledge</a:t>
            </a:r>
            <a:endParaRPr lang="zh-CN" altLang="en-US" b="1" dirty="0"/>
          </a:p>
        </p:txBody>
      </p:sp>
      <p:sp>
        <p:nvSpPr>
          <p:cNvPr id="3" name="内容占位符 2">
            <a:extLst>
              <a:ext uri="{FF2B5EF4-FFF2-40B4-BE49-F238E27FC236}">
                <a16:creationId xmlns:a16="http://schemas.microsoft.com/office/drawing/2014/main" id="{E599D49D-8027-BD86-FBE9-E4D0A99235E2}"/>
              </a:ext>
            </a:extLst>
          </p:cNvPr>
          <p:cNvSpPr>
            <a:spLocks noGrp="1"/>
          </p:cNvSpPr>
          <p:nvPr>
            <p:ph idx="1"/>
          </p:nvPr>
        </p:nvSpPr>
        <p:spPr>
          <a:xfrm>
            <a:off x="838200" y="1588435"/>
            <a:ext cx="10515600" cy="4351338"/>
          </a:xfrm>
        </p:spPr>
        <p:txBody>
          <a:bodyPr>
            <a:normAutofit lnSpcReduction="10000"/>
          </a:bodyPr>
          <a:lstStyle/>
          <a:p>
            <a:r>
              <a:rPr lang="en-US" altLang="zh-CN" dirty="0"/>
              <a:t>Consider this example from open assistant:</a:t>
            </a:r>
          </a:p>
          <a:p>
            <a:endParaRPr lang="en-US" altLang="zh-CN" dirty="0"/>
          </a:p>
          <a:p>
            <a:endParaRPr lang="en-US" altLang="zh-CN" dirty="0"/>
          </a:p>
          <a:p>
            <a:endParaRPr lang="en-US" altLang="zh-CN" dirty="0"/>
          </a:p>
          <a:p>
            <a:pPr marL="0" indent="0">
              <a:buNone/>
            </a:pPr>
            <a:endParaRPr lang="en-US" altLang="zh-CN" dirty="0"/>
          </a:p>
          <a:p>
            <a:endParaRPr lang="en-US" altLang="zh-CN" dirty="0"/>
          </a:p>
          <a:p>
            <a:r>
              <a:rPr lang="en-US" altLang="zh-CN" dirty="0"/>
              <a:t>What is this example teaching the model?</a:t>
            </a:r>
          </a:p>
          <a:p>
            <a:pPr marL="0" indent="0">
              <a:buNone/>
            </a:pPr>
            <a:r>
              <a:rPr lang="en-US" altLang="zh-CN" dirty="0"/>
              <a:t>1. Teaching the model about Bivens J &amp; Mishel, L </a:t>
            </a:r>
          </a:p>
          <a:p>
            <a:pPr marL="0" indent="0">
              <a:buNone/>
            </a:pPr>
            <a:r>
              <a:rPr lang="en-US" altLang="zh-CN" dirty="0"/>
              <a:t>2. Teaching the model to output citations when asked to do so</a:t>
            </a:r>
            <a:endParaRPr lang="zh-CN" altLang="en-US" dirty="0"/>
          </a:p>
        </p:txBody>
      </p:sp>
      <p:pic>
        <p:nvPicPr>
          <p:cNvPr id="5" name="图片 4">
            <a:extLst>
              <a:ext uri="{FF2B5EF4-FFF2-40B4-BE49-F238E27FC236}">
                <a16:creationId xmlns:a16="http://schemas.microsoft.com/office/drawing/2014/main" id="{B7E70079-E986-8F3D-EBBB-D8C9F0065789}"/>
              </a:ext>
            </a:extLst>
          </p:cNvPr>
          <p:cNvPicPr>
            <a:picLocks noChangeAspect="1"/>
          </p:cNvPicPr>
          <p:nvPr/>
        </p:nvPicPr>
        <p:blipFill>
          <a:blip r:embed="rId3"/>
          <a:stretch>
            <a:fillRect/>
          </a:stretch>
        </p:blipFill>
        <p:spPr>
          <a:xfrm>
            <a:off x="1944220" y="2057414"/>
            <a:ext cx="8303559" cy="2190727"/>
          </a:xfrm>
          <a:prstGeom prst="rect">
            <a:avLst/>
          </a:prstGeom>
        </p:spPr>
      </p:pic>
    </p:spTree>
    <p:extLst>
      <p:ext uri="{BB962C8B-B14F-4D97-AF65-F5344CB8AC3E}">
        <p14:creationId xmlns:p14="http://schemas.microsoft.com/office/powerpoint/2010/main" val="1191124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571A92-2126-DD77-8EFC-659439232D35}"/>
              </a:ext>
            </a:extLst>
          </p:cNvPr>
          <p:cNvSpPr>
            <a:spLocks noGrp="1"/>
          </p:cNvSpPr>
          <p:nvPr>
            <p:ph type="title"/>
          </p:nvPr>
        </p:nvSpPr>
        <p:spPr/>
        <p:txBody>
          <a:bodyPr/>
          <a:lstStyle/>
          <a:p>
            <a:r>
              <a:rPr lang="en-US" altLang="zh-CN" b="1" dirty="0"/>
              <a:t>Knowledge extraction and alignment</a:t>
            </a:r>
            <a:endParaRPr lang="zh-CN" altLang="en-US" b="1" dirty="0"/>
          </a:p>
        </p:txBody>
      </p:sp>
      <p:sp>
        <p:nvSpPr>
          <p:cNvPr id="3" name="内容占位符 2">
            <a:extLst>
              <a:ext uri="{FF2B5EF4-FFF2-40B4-BE49-F238E27FC236}">
                <a16:creationId xmlns:a16="http://schemas.microsoft.com/office/drawing/2014/main" id="{81EB5144-5101-4AD4-48CD-6B4C91ED5B39}"/>
              </a:ext>
            </a:extLst>
          </p:cNvPr>
          <p:cNvSpPr>
            <a:spLocks noGrp="1"/>
          </p:cNvSpPr>
          <p:nvPr>
            <p:ph idx="1"/>
          </p:nvPr>
        </p:nvSpPr>
        <p:spPr/>
        <p:txBody>
          <a:bodyPr/>
          <a:lstStyle/>
          <a:p>
            <a:pPr marL="0" indent="0">
              <a:buNone/>
            </a:pPr>
            <a:r>
              <a:rPr lang="en-US" altLang="zh-CN" dirty="0"/>
              <a:t>Fine-tuning a model on ‘facts it doesn’t know’ makes it hallucinate.</a:t>
            </a:r>
            <a:endParaRPr lang="zh-CN" altLang="en-US" dirty="0"/>
          </a:p>
        </p:txBody>
      </p:sp>
      <p:pic>
        <p:nvPicPr>
          <p:cNvPr id="5" name="图片 4">
            <a:extLst>
              <a:ext uri="{FF2B5EF4-FFF2-40B4-BE49-F238E27FC236}">
                <a16:creationId xmlns:a16="http://schemas.microsoft.com/office/drawing/2014/main" id="{32B9CFC0-78AC-A9A5-1D2F-2504B1C74793}"/>
              </a:ext>
            </a:extLst>
          </p:cNvPr>
          <p:cNvPicPr>
            <a:picLocks noChangeAspect="1"/>
          </p:cNvPicPr>
          <p:nvPr/>
        </p:nvPicPr>
        <p:blipFill>
          <a:blip r:embed="rId3"/>
          <a:stretch>
            <a:fillRect/>
          </a:stretch>
        </p:blipFill>
        <p:spPr>
          <a:xfrm>
            <a:off x="3899641" y="2434659"/>
            <a:ext cx="4105848" cy="4058216"/>
          </a:xfrm>
          <a:prstGeom prst="rect">
            <a:avLst/>
          </a:prstGeom>
        </p:spPr>
      </p:pic>
    </p:spTree>
    <p:extLst>
      <p:ext uri="{BB962C8B-B14F-4D97-AF65-F5344CB8AC3E}">
        <p14:creationId xmlns:p14="http://schemas.microsoft.com/office/powerpoint/2010/main" val="695283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0F869E-A5D4-34F5-07A1-F269AC7AAB40}"/>
              </a:ext>
            </a:extLst>
          </p:cNvPr>
          <p:cNvSpPr>
            <a:spLocks noGrp="1"/>
          </p:cNvSpPr>
          <p:nvPr>
            <p:ph type="title"/>
          </p:nvPr>
        </p:nvSpPr>
        <p:spPr/>
        <p:txBody>
          <a:bodyPr/>
          <a:lstStyle/>
          <a:p>
            <a:r>
              <a:rPr lang="en-US" altLang="zh-CN" b="1" dirty="0"/>
              <a:t>Knowledge extraction and alignment</a:t>
            </a:r>
            <a:endParaRPr lang="zh-CN" altLang="en-US" dirty="0"/>
          </a:p>
        </p:txBody>
      </p:sp>
      <p:sp>
        <p:nvSpPr>
          <p:cNvPr id="3" name="内容占位符 2">
            <a:extLst>
              <a:ext uri="{FF2B5EF4-FFF2-40B4-BE49-F238E27FC236}">
                <a16:creationId xmlns:a16="http://schemas.microsoft.com/office/drawing/2014/main" id="{94E51E2C-82DD-DB21-F6B6-907308764133}"/>
              </a:ext>
            </a:extLst>
          </p:cNvPr>
          <p:cNvSpPr>
            <a:spLocks noGrp="1"/>
          </p:cNvSpPr>
          <p:nvPr>
            <p:ph idx="1"/>
          </p:nvPr>
        </p:nvSpPr>
        <p:spPr/>
        <p:txBody>
          <a:bodyPr/>
          <a:lstStyle/>
          <a:p>
            <a:pPr marL="0" indent="0">
              <a:buNone/>
            </a:pPr>
            <a:r>
              <a:rPr lang="en-US" altLang="zh-CN" dirty="0"/>
              <a:t>1. You may not want to fine-tune on tail knowledge, even that’s the LM use case </a:t>
            </a:r>
          </a:p>
          <a:p>
            <a:pPr marL="0" indent="0">
              <a:buNone/>
            </a:pPr>
            <a:r>
              <a:rPr lang="en-US" altLang="zh-CN" dirty="0"/>
              <a:t>2. In principle, ‘RL’ style correctness feedback could help </a:t>
            </a:r>
          </a:p>
          <a:p>
            <a:pPr marL="0" indent="0">
              <a:buNone/>
            </a:pPr>
            <a:r>
              <a:rPr lang="en-US" altLang="zh-CN" dirty="0"/>
              <a:t>3. Knowledge storage and extraction in LMs is messy, and nuanced</a:t>
            </a:r>
            <a:endParaRPr lang="zh-CN" altLang="en-US" dirty="0"/>
          </a:p>
        </p:txBody>
      </p:sp>
    </p:spTree>
    <p:extLst>
      <p:ext uri="{BB962C8B-B14F-4D97-AF65-F5344CB8AC3E}">
        <p14:creationId xmlns:p14="http://schemas.microsoft.com/office/powerpoint/2010/main" val="745295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3F6E01-E0D7-D80A-C9E7-CC1006743007}"/>
              </a:ext>
            </a:extLst>
          </p:cNvPr>
          <p:cNvSpPr>
            <a:spLocks noGrp="1"/>
          </p:cNvSpPr>
          <p:nvPr>
            <p:ph type="title"/>
          </p:nvPr>
        </p:nvSpPr>
        <p:spPr/>
        <p:txBody>
          <a:bodyPr/>
          <a:lstStyle/>
          <a:p>
            <a:r>
              <a:rPr lang="en-US" altLang="zh-CN" b="1" dirty="0"/>
              <a:t>Safety</a:t>
            </a:r>
            <a:endParaRPr lang="zh-CN" altLang="en-US" b="1" dirty="0"/>
          </a:p>
        </p:txBody>
      </p:sp>
      <p:sp>
        <p:nvSpPr>
          <p:cNvPr id="3" name="内容占位符 2">
            <a:extLst>
              <a:ext uri="{FF2B5EF4-FFF2-40B4-BE49-F238E27FC236}">
                <a16:creationId xmlns:a16="http://schemas.microsoft.com/office/drawing/2014/main" id="{B6D34BE3-D4AC-F93B-8BC8-64BD028E5DE9}"/>
              </a:ext>
            </a:extLst>
          </p:cNvPr>
          <p:cNvSpPr>
            <a:spLocks noGrp="1"/>
          </p:cNvSpPr>
          <p:nvPr>
            <p:ph idx="1"/>
          </p:nvPr>
        </p:nvSpPr>
        <p:spPr/>
        <p:txBody>
          <a:bodyPr/>
          <a:lstStyle/>
          <a:p>
            <a:pPr marL="0" indent="0">
              <a:buNone/>
            </a:pPr>
            <a:r>
              <a:rPr lang="en-US" altLang="zh-CN" dirty="0"/>
              <a:t>LMs are widely deployed to end-users, and need some safety controls</a:t>
            </a:r>
            <a:endParaRPr lang="zh-CN" altLang="en-US" dirty="0"/>
          </a:p>
        </p:txBody>
      </p:sp>
      <p:pic>
        <p:nvPicPr>
          <p:cNvPr id="5" name="图片 4">
            <a:extLst>
              <a:ext uri="{FF2B5EF4-FFF2-40B4-BE49-F238E27FC236}">
                <a16:creationId xmlns:a16="http://schemas.microsoft.com/office/drawing/2014/main" id="{00CF127B-88F8-F152-B2AB-D13AE269EB61}"/>
              </a:ext>
            </a:extLst>
          </p:cNvPr>
          <p:cNvPicPr>
            <a:picLocks noChangeAspect="1"/>
          </p:cNvPicPr>
          <p:nvPr/>
        </p:nvPicPr>
        <p:blipFill>
          <a:blip r:embed="rId3"/>
          <a:stretch>
            <a:fillRect/>
          </a:stretch>
        </p:blipFill>
        <p:spPr>
          <a:xfrm>
            <a:off x="1671010" y="2664861"/>
            <a:ext cx="3777290" cy="3647039"/>
          </a:xfrm>
          <a:prstGeom prst="rect">
            <a:avLst/>
          </a:prstGeom>
        </p:spPr>
      </p:pic>
      <p:pic>
        <p:nvPicPr>
          <p:cNvPr id="7" name="图片 6">
            <a:extLst>
              <a:ext uri="{FF2B5EF4-FFF2-40B4-BE49-F238E27FC236}">
                <a16:creationId xmlns:a16="http://schemas.microsoft.com/office/drawing/2014/main" id="{47477BDB-FA1E-4EE2-39DB-A709CCC0D46C}"/>
              </a:ext>
            </a:extLst>
          </p:cNvPr>
          <p:cNvPicPr>
            <a:picLocks noChangeAspect="1"/>
          </p:cNvPicPr>
          <p:nvPr/>
        </p:nvPicPr>
        <p:blipFill>
          <a:blip r:embed="rId4"/>
          <a:stretch>
            <a:fillRect/>
          </a:stretch>
        </p:blipFill>
        <p:spPr>
          <a:xfrm>
            <a:off x="6281110" y="2664861"/>
            <a:ext cx="3987960" cy="3615458"/>
          </a:xfrm>
          <a:prstGeom prst="rect">
            <a:avLst/>
          </a:prstGeom>
        </p:spPr>
      </p:pic>
    </p:spTree>
    <p:extLst>
      <p:ext uri="{BB962C8B-B14F-4D97-AF65-F5344CB8AC3E}">
        <p14:creationId xmlns:p14="http://schemas.microsoft.com/office/powerpoint/2010/main" val="8062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A61E31-95ED-0BE7-7D53-69DB4DD0E00E}"/>
              </a:ext>
            </a:extLst>
          </p:cNvPr>
          <p:cNvSpPr>
            <a:spLocks noGrp="1"/>
          </p:cNvSpPr>
          <p:nvPr>
            <p:ph type="title"/>
          </p:nvPr>
        </p:nvSpPr>
        <p:spPr/>
        <p:txBody>
          <a:bodyPr/>
          <a:lstStyle/>
          <a:p>
            <a:r>
              <a:rPr lang="en-US" altLang="zh-CN" b="1" dirty="0"/>
              <a:t>Safety-tuning</a:t>
            </a:r>
            <a:endParaRPr lang="zh-CN" altLang="en-US" b="1" dirty="0"/>
          </a:p>
        </p:txBody>
      </p:sp>
      <p:sp>
        <p:nvSpPr>
          <p:cNvPr id="3" name="内容占位符 2">
            <a:extLst>
              <a:ext uri="{FF2B5EF4-FFF2-40B4-BE49-F238E27FC236}">
                <a16:creationId xmlns:a16="http://schemas.microsoft.com/office/drawing/2014/main" id="{C52D5F33-2DA7-AF0C-930A-7FE74D3B1C43}"/>
              </a:ext>
            </a:extLst>
          </p:cNvPr>
          <p:cNvSpPr>
            <a:spLocks noGrp="1"/>
          </p:cNvSpPr>
          <p:nvPr>
            <p:ph idx="1"/>
          </p:nvPr>
        </p:nvSpPr>
        <p:spPr/>
        <p:txBody>
          <a:bodyPr/>
          <a:lstStyle/>
          <a:p>
            <a:pPr marL="0" indent="0">
              <a:buNone/>
            </a:pPr>
            <a:r>
              <a:rPr lang="en-US" altLang="zh-CN" dirty="0"/>
              <a:t>A bit of instruction tuning can drastically change safety profiles </a:t>
            </a:r>
          </a:p>
          <a:p>
            <a:pPr marL="0" indent="0">
              <a:buNone/>
            </a:pPr>
            <a:endParaRPr lang="zh-CN" altLang="en-US" dirty="0"/>
          </a:p>
        </p:txBody>
      </p:sp>
      <p:pic>
        <p:nvPicPr>
          <p:cNvPr id="5" name="图片 4">
            <a:extLst>
              <a:ext uri="{FF2B5EF4-FFF2-40B4-BE49-F238E27FC236}">
                <a16:creationId xmlns:a16="http://schemas.microsoft.com/office/drawing/2014/main" id="{323776CF-D8FB-142F-61D8-84FEA580A815}"/>
              </a:ext>
            </a:extLst>
          </p:cNvPr>
          <p:cNvPicPr>
            <a:picLocks noChangeAspect="1"/>
          </p:cNvPicPr>
          <p:nvPr/>
        </p:nvPicPr>
        <p:blipFill>
          <a:blip r:embed="rId3"/>
          <a:stretch>
            <a:fillRect/>
          </a:stretch>
        </p:blipFill>
        <p:spPr>
          <a:xfrm>
            <a:off x="1412961" y="2386978"/>
            <a:ext cx="8681297" cy="3686891"/>
          </a:xfrm>
          <a:prstGeom prst="rect">
            <a:avLst/>
          </a:prstGeom>
        </p:spPr>
      </p:pic>
    </p:spTree>
    <p:extLst>
      <p:ext uri="{BB962C8B-B14F-4D97-AF65-F5344CB8AC3E}">
        <p14:creationId xmlns:p14="http://schemas.microsoft.com/office/powerpoint/2010/main" val="4255271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7E4EA7-8169-C3E9-678B-A36C08A1619E}"/>
              </a:ext>
            </a:extLst>
          </p:cNvPr>
          <p:cNvSpPr>
            <a:spLocks noGrp="1"/>
          </p:cNvSpPr>
          <p:nvPr>
            <p:ph type="title"/>
          </p:nvPr>
        </p:nvSpPr>
        <p:spPr/>
        <p:txBody>
          <a:bodyPr/>
          <a:lstStyle/>
          <a:p>
            <a:r>
              <a:rPr lang="en-US" altLang="zh-CN" b="1" dirty="0"/>
              <a:t>Safety-tuning</a:t>
            </a:r>
            <a:endParaRPr lang="zh-CN" altLang="en-US" b="1" dirty="0"/>
          </a:p>
        </p:txBody>
      </p:sp>
      <p:sp>
        <p:nvSpPr>
          <p:cNvPr id="3" name="内容占位符 2">
            <a:extLst>
              <a:ext uri="{FF2B5EF4-FFF2-40B4-BE49-F238E27FC236}">
                <a16:creationId xmlns:a16="http://schemas.microsoft.com/office/drawing/2014/main" id="{BE7030A6-9E1E-3297-C91E-B6B2B2FE61D5}"/>
              </a:ext>
            </a:extLst>
          </p:cNvPr>
          <p:cNvSpPr>
            <a:spLocks noGrp="1"/>
          </p:cNvSpPr>
          <p:nvPr>
            <p:ph idx="1"/>
          </p:nvPr>
        </p:nvSpPr>
        <p:spPr/>
        <p:txBody>
          <a:bodyPr/>
          <a:lstStyle/>
          <a:p>
            <a:r>
              <a:rPr lang="en-US" altLang="zh-CN" dirty="0"/>
              <a:t>The challenge is really to balance this with over-refusals </a:t>
            </a:r>
          </a:p>
          <a:p>
            <a:pPr marL="0" indent="0">
              <a:buNone/>
            </a:pPr>
            <a:endParaRPr lang="zh-CN" altLang="en-US" dirty="0"/>
          </a:p>
        </p:txBody>
      </p:sp>
      <p:pic>
        <p:nvPicPr>
          <p:cNvPr id="5" name="图片 4">
            <a:extLst>
              <a:ext uri="{FF2B5EF4-FFF2-40B4-BE49-F238E27FC236}">
                <a16:creationId xmlns:a16="http://schemas.microsoft.com/office/drawing/2014/main" id="{3BC4A05A-84A6-F7C4-E42A-ADCCCB3A2529}"/>
              </a:ext>
            </a:extLst>
          </p:cNvPr>
          <p:cNvPicPr>
            <a:picLocks noChangeAspect="1"/>
          </p:cNvPicPr>
          <p:nvPr/>
        </p:nvPicPr>
        <p:blipFill>
          <a:blip r:embed="rId3"/>
          <a:stretch>
            <a:fillRect/>
          </a:stretch>
        </p:blipFill>
        <p:spPr>
          <a:xfrm>
            <a:off x="1362636" y="2354946"/>
            <a:ext cx="8875059" cy="3292696"/>
          </a:xfrm>
          <a:prstGeom prst="rect">
            <a:avLst/>
          </a:prstGeom>
        </p:spPr>
      </p:pic>
    </p:spTree>
    <p:extLst>
      <p:ext uri="{BB962C8B-B14F-4D97-AF65-F5344CB8AC3E}">
        <p14:creationId xmlns:p14="http://schemas.microsoft.com/office/powerpoint/2010/main" val="1509208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024993-BD13-E4F3-BE58-74A617D0AD7E}"/>
              </a:ext>
            </a:extLst>
          </p:cNvPr>
          <p:cNvSpPr>
            <a:spLocks noGrp="1"/>
          </p:cNvSpPr>
          <p:nvPr>
            <p:ph type="title"/>
          </p:nvPr>
        </p:nvSpPr>
        <p:spPr/>
        <p:txBody>
          <a:bodyPr/>
          <a:lstStyle/>
          <a:p>
            <a:r>
              <a:rPr lang="en-US" altLang="zh-CN" b="1" dirty="0"/>
              <a:t>Safety-tuning</a:t>
            </a:r>
            <a:endParaRPr lang="zh-CN" altLang="en-US" dirty="0"/>
          </a:p>
        </p:txBody>
      </p:sp>
      <p:sp>
        <p:nvSpPr>
          <p:cNvPr id="3" name="内容占位符 2">
            <a:extLst>
              <a:ext uri="{FF2B5EF4-FFF2-40B4-BE49-F238E27FC236}">
                <a16:creationId xmlns:a16="http://schemas.microsoft.com/office/drawing/2014/main" id="{5A7D70D3-B733-68FA-412C-9DE1B9CEF5F2}"/>
              </a:ext>
            </a:extLst>
          </p:cNvPr>
          <p:cNvSpPr>
            <a:spLocks noGrp="1"/>
          </p:cNvSpPr>
          <p:nvPr>
            <p:ph idx="1"/>
          </p:nvPr>
        </p:nvSpPr>
        <p:spPr/>
        <p:txBody>
          <a:bodyPr/>
          <a:lstStyle/>
          <a:p>
            <a:r>
              <a:rPr lang="en-US" altLang="zh-CN" dirty="0"/>
              <a:t>Significant improvements to safety with ~500 samples.</a:t>
            </a:r>
          </a:p>
          <a:p>
            <a:pPr marL="0" indent="0">
              <a:buNone/>
            </a:pPr>
            <a:r>
              <a:rPr lang="en-US" altLang="zh-CN" dirty="0"/>
              <a:t>Adding 500 Alpaca-style examples makes models follow safety guideline</a:t>
            </a:r>
          </a:p>
          <a:p>
            <a:endParaRPr lang="zh-CN" altLang="en-US" dirty="0"/>
          </a:p>
        </p:txBody>
      </p:sp>
      <p:pic>
        <p:nvPicPr>
          <p:cNvPr id="5" name="图片 4">
            <a:extLst>
              <a:ext uri="{FF2B5EF4-FFF2-40B4-BE49-F238E27FC236}">
                <a16:creationId xmlns:a16="http://schemas.microsoft.com/office/drawing/2014/main" id="{8648B955-F2C8-91E0-9EB1-49580D3012EA}"/>
              </a:ext>
            </a:extLst>
          </p:cNvPr>
          <p:cNvPicPr>
            <a:picLocks noChangeAspect="1"/>
          </p:cNvPicPr>
          <p:nvPr/>
        </p:nvPicPr>
        <p:blipFill>
          <a:blip r:embed="rId3"/>
          <a:stretch>
            <a:fillRect/>
          </a:stretch>
        </p:blipFill>
        <p:spPr>
          <a:xfrm>
            <a:off x="2556010" y="2801471"/>
            <a:ext cx="7472470" cy="3160806"/>
          </a:xfrm>
          <a:prstGeom prst="rect">
            <a:avLst/>
          </a:prstGeom>
        </p:spPr>
      </p:pic>
    </p:spTree>
    <p:extLst>
      <p:ext uri="{BB962C8B-B14F-4D97-AF65-F5344CB8AC3E}">
        <p14:creationId xmlns:p14="http://schemas.microsoft.com/office/powerpoint/2010/main" val="3412359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214245-C5BF-934B-C3C4-A7A1E3D07B4E}"/>
              </a:ext>
            </a:extLst>
          </p:cNvPr>
          <p:cNvSpPr>
            <a:spLocks noGrp="1"/>
          </p:cNvSpPr>
          <p:nvPr>
            <p:ph type="title"/>
          </p:nvPr>
        </p:nvSpPr>
        <p:spPr/>
        <p:txBody>
          <a:bodyPr/>
          <a:lstStyle/>
          <a:p>
            <a:r>
              <a:rPr lang="en-US" altLang="zh-CN" b="1" dirty="0"/>
              <a:t>Putting it together – SFT Data</a:t>
            </a:r>
            <a:endParaRPr lang="zh-CN" altLang="en-US" b="1" dirty="0"/>
          </a:p>
        </p:txBody>
      </p:sp>
      <p:sp>
        <p:nvSpPr>
          <p:cNvPr id="3" name="内容占位符 2">
            <a:extLst>
              <a:ext uri="{FF2B5EF4-FFF2-40B4-BE49-F238E27FC236}">
                <a16:creationId xmlns:a16="http://schemas.microsoft.com/office/drawing/2014/main" id="{DFC6A203-7B41-1177-80D0-4C0CBD92BF6E}"/>
              </a:ext>
            </a:extLst>
          </p:cNvPr>
          <p:cNvSpPr>
            <a:spLocks noGrp="1"/>
          </p:cNvSpPr>
          <p:nvPr>
            <p:ph idx="1"/>
          </p:nvPr>
        </p:nvSpPr>
        <p:spPr/>
        <p:txBody>
          <a:bodyPr/>
          <a:lstStyle/>
          <a:p>
            <a:pPr marL="0" indent="0">
              <a:buNone/>
            </a:pPr>
            <a:r>
              <a:rPr lang="en-US" altLang="zh-CN" dirty="0"/>
              <a:t>Instruction fine-tuning (SFT) works </a:t>
            </a:r>
            <a:r>
              <a:rPr lang="en-US" altLang="zh-CN" dirty="0" err="1"/>
              <a:t>works</a:t>
            </a:r>
            <a:r>
              <a:rPr lang="en-US" altLang="zh-CN" dirty="0"/>
              <a:t> best when we are just extracting pre training behaviors, not adding new ones</a:t>
            </a:r>
          </a:p>
          <a:p>
            <a:pPr marL="0" indent="0">
              <a:buNone/>
            </a:pPr>
            <a:endParaRPr lang="en-US" altLang="zh-CN" dirty="0"/>
          </a:p>
          <a:p>
            <a:pPr marL="0" indent="0">
              <a:buNone/>
            </a:pPr>
            <a:r>
              <a:rPr lang="en-US" altLang="zh-CN" dirty="0"/>
              <a:t>Adding (factually correct!) data can sometimes hurt</a:t>
            </a:r>
          </a:p>
          <a:p>
            <a:pPr marL="0" indent="0">
              <a:buNone/>
            </a:pPr>
            <a:endParaRPr lang="en-US" altLang="zh-CN" dirty="0"/>
          </a:p>
          <a:p>
            <a:pPr marL="0" indent="0">
              <a:buNone/>
            </a:pPr>
            <a:r>
              <a:rPr lang="en-US" altLang="zh-CN" dirty="0"/>
              <a:t>Small amounts of the right kinds of behavior (safety, instruction-following, style) make a big difference, but there is a long-tail that benefits from more data</a:t>
            </a:r>
            <a:endParaRPr lang="zh-CN" altLang="en-US" dirty="0"/>
          </a:p>
        </p:txBody>
      </p:sp>
    </p:spTree>
    <p:extLst>
      <p:ext uri="{BB962C8B-B14F-4D97-AF65-F5344CB8AC3E}">
        <p14:creationId xmlns:p14="http://schemas.microsoft.com/office/powerpoint/2010/main" val="4127674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816D09-99B1-DE19-F348-4F41F2369009}"/>
              </a:ext>
            </a:extLst>
          </p:cNvPr>
          <p:cNvSpPr>
            <a:spLocks noGrp="1"/>
          </p:cNvSpPr>
          <p:nvPr>
            <p:ph type="title"/>
          </p:nvPr>
        </p:nvSpPr>
        <p:spPr/>
        <p:txBody>
          <a:bodyPr/>
          <a:lstStyle/>
          <a:p>
            <a:r>
              <a:rPr lang="en-US" altLang="zh-CN" b="1" dirty="0"/>
              <a:t>How to fine-tune</a:t>
            </a:r>
            <a:endParaRPr lang="zh-CN" altLang="en-US" b="1" dirty="0"/>
          </a:p>
        </p:txBody>
      </p:sp>
      <p:sp>
        <p:nvSpPr>
          <p:cNvPr id="3" name="内容占位符 2">
            <a:extLst>
              <a:ext uri="{FF2B5EF4-FFF2-40B4-BE49-F238E27FC236}">
                <a16:creationId xmlns:a16="http://schemas.microsoft.com/office/drawing/2014/main" id="{0704C4E1-4B32-5A80-771C-D502A6FF64B5}"/>
              </a:ext>
            </a:extLst>
          </p:cNvPr>
          <p:cNvSpPr>
            <a:spLocks noGrp="1"/>
          </p:cNvSpPr>
          <p:nvPr>
            <p:ph idx="1"/>
          </p:nvPr>
        </p:nvSpPr>
        <p:spPr/>
        <p:txBody>
          <a:bodyPr/>
          <a:lstStyle/>
          <a:p>
            <a:r>
              <a:rPr lang="en-US" altLang="zh-CN" dirty="0"/>
              <a:t>Just do gradient descent</a:t>
            </a:r>
          </a:p>
          <a:p>
            <a:pPr marL="0" indent="0">
              <a:buNone/>
            </a:pPr>
            <a:r>
              <a:rPr lang="en-US" altLang="zh-CN" dirty="0"/>
              <a:t>In many academic settings – this is basically it. But what if..</a:t>
            </a:r>
          </a:p>
          <a:p>
            <a:pPr marL="0" indent="0">
              <a:buNone/>
            </a:pPr>
            <a:endParaRPr lang="en-US" altLang="zh-CN" dirty="0"/>
          </a:p>
          <a:p>
            <a:pPr marL="0" indent="0">
              <a:buNone/>
            </a:pPr>
            <a:r>
              <a:rPr lang="en-US" altLang="zh-CN" dirty="0"/>
              <a:t> </a:t>
            </a:r>
          </a:p>
          <a:p>
            <a:pPr marL="0" indent="0">
              <a:buNone/>
            </a:pPr>
            <a:r>
              <a:rPr lang="en-US" altLang="zh-CN" dirty="0"/>
              <a:t>You have tons of compute and data, you want to scale up instruction tuning </a:t>
            </a:r>
            <a:endParaRPr lang="zh-CN" altLang="en-US" dirty="0"/>
          </a:p>
        </p:txBody>
      </p:sp>
    </p:spTree>
    <p:extLst>
      <p:ext uri="{BB962C8B-B14F-4D97-AF65-F5344CB8AC3E}">
        <p14:creationId xmlns:p14="http://schemas.microsoft.com/office/powerpoint/2010/main" val="2779844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90DF18-B32C-BFF7-BAB0-5794CE877F98}"/>
              </a:ext>
            </a:extLst>
          </p:cNvPr>
          <p:cNvSpPr>
            <a:spLocks noGrp="1"/>
          </p:cNvSpPr>
          <p:nvPr>
            <p:ph type="title"/>
          </p:nvPr>
        </p:nvSpPr>
        <p:spPr/>
        <p:txBody>
          <a:bodyPr/>
          <a:lstStyle/>
          <a:p>
            <a:r>
              <a:rPr lang="en-US" altLang="zh-CN" b="1" dirty="0"/>
              <a:t>Turning instruction tuning into pretraining</a:t>
            </a:r>
            <a:endParaRPr lang="zh-CN" altLang="en-US" b="1" dirty="0"/>
          </a:p>
        </p:txBody>
      </p:sp>
      <p:sp>
        <p:nvSpPr>
          <p:cNvPr id="3" name="内容占位符 2">
            <a:extLst>
              <a:ext uri="{FF2B5EF4-FFF2-40B4-BE49-F238E27FC236}">
                <a16:creationId xmlns:a16="http://schemas.microsoft.com/office/drawing/2014/main" id="{BFA1BD60-E992-7A82-E0B6-510FFFC95B6F}"/>
              </a:ext>
            </a:extLst>
          </p:cNvPr>
          <p:cNvSpPr>
            <a:spLocks noGrp="1"/>
          </p:cNvSpPr>
          <p:nvPr>
            <p:ph idx="1"/>
          </p:nvPr>
        </p:nvSpPr>
        <p:spPr/>
        <p:txBody>
          <a:bodyPr/>
          <a:lstStyle/>
          <a:p>
            <a:pPr marL="0" indent="0">
              <a:buNone/>
            </a:pPr>
            <a:r>
              <a:rPr lang="en-US" altLang="zh-CN" dirty="0"/>
              <a:t>Can we somehow turn instruction tuning data into pretraining data?</a:t>
            </a:r>
          </a:p>
          <a:p>
            <a:r>
              <a:rPr lang="en-US" altLang="zh-CN" dirty="0"/>
              <a:t>1. Pre-train on web/pretraining data</a:t>
            </a:r>
          </a:p>
          <a:p>
            <a:r>
              <a:rPr lang="en-US" altLang="zh-CN" dirty="0"/>
              <a:t>2. Mix in instruction-tuning data into pre-training </a:t>
            </a:r>
          </a:p>
          <a:p>
            <a:r>
              <a:rPr lang="en-US" altLang="zh-CN" dirty="0"/>
              <a:t>3. Do an actual (but short) instruction-tuning round.</a:t>
            </a:r>
            <a:endParaRPr lang="zh-CN" altLang="en-US" dirty="0"/>
          </a:p>
        </p:txBody>
      </p:sp>
    </p:spTree>
    <p:extLst>
      <p:ext uri="{BB962C8B-B14F-4D97-AF65-F5344CB8AC3E}">
        <p14:creationId xmlns:p14="http://schemas.microsoft.com/office/powerpoint/2010/main" val="5534870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6665B6-FF90-025E-330D-1D4DE1890454}"/>
              </a:ext>
            </a:extLst>
          </p:cNvPr>
          <p:cNvSpPr>
            <a:spLocks noGrp="1"/>
          </p:cNvSpPr>
          <p:nvPr>
            <p:ph type="title"/>
          </p:nvPr>
        </p:nvSpPr>
        <p:spPr/>
        <p:txBody>
          <a:bodyPr/>
          <a:lstStyle/>
          <a:p>
            <a:r>
              <a:rPr lang="en-US" altLang="zh-CN" b="1" dirty="0"/>
              <a:t>‘</a:t>
            </a:r>
            <a:r>
              <a:rPr lang="en-US" altLang="zh-CN" b="1" dirty="0" err="1"/>
              <a:t>Midtraining</a:t>
            </a:r>
            <a:r>
              <a:rPr lang="en-US" altLang="zh-CN" b="1" dirty="0"/>
              <a:t>’ / ‘Two-phase training’</a:t>
            </a:r>
            <a:endParaRPr lang="zh-CN" altLang="en-US" b="1" dirty="0"/>
          </a:p>
        </p:txBody>
      </p:sp>
      <p:sp>
        <p:nvSpPr>
          <p:cNvPr id="3" name="内容占位符 2">
            <a:extLst>
              <a:ext uri="{FF2B5EF4-FFF2-40B4-BE49-F238E27FC236}">
                <a16:creationId xmlns:a16="http://schemas.microsoft.com/office/drawing/2014/main" id="{1F66D3E8-F850-C568-89A2-6D86BD2615FB}"/>
              </a:ext>
            </a:extLst>
          </p:cNvPr>
          <p:cNvSpPr>
            <a:spLocks noGrp="1"/>
          </p:cNvSpPr>
          <p:nvPr>
            <p:ph idx="1"/>
          </p:nvPr>
        </p:nvSpPr>
        <p:spPr/>
        <p:txBody>
          <a:bodyPr/>
          <a:lstStyle/>
          <a:p>
            <a:r>
              <a:rPr lang="en-US" altLang="zh-CN" dirty="0"/>
              <a:t>The recipe is common knowledge among many LLM companies (but not documented)</a:t>
            </a:r>
          </a:p>
          <a:p>
            <a:endParaRPr lang="en-US" altLang="zh-CN" dirty="0"/>
          </a:p>
          <a:p>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en-US" altLang="zh-CN" dirty="0"/>
              <a:t>Widely used by most models today.. Publicized in recent Chinese-derived LMs (</a:t>
            </a:r>
            <a:r>
              <a:rPr lang="en-US" altLang="zh-CN" dirty="0" err="1"/>
              <a:t>miniCPM</a:t>
            </a:r>
            <a:r>
              <a:rPr lang="en-US" altLang="zh-CN" dirty="0"/>
              <a:t>, </a:t>
            </a:r>
            <a:r>
              <a:rPr lang="en-US" altLang="zh-CN" dirty="0" err="1"/>
              <a:t>jetMoE</a:t>
            </a:r>
            <a:r>
              <a:rPr lang="en-US" altLang="zh-CN" dirty="0"/>
              <a:t>) </a:t>
            </a:r>
            <a:endParaRPr lang="zh-CN" altLang="en-US" dirty="0"/>
          </a:p>
        </p:txBody>
      </p:sp>
      <p:pic>
        <p:nvPicPr>
          <p:cNvPr id="5" name="图片 4">
            <a:extLst>
              <a:ext uri="{FF2B5EF4-FFF2-40B4-BE49-F238E27FC236}">
                <a16:creationId xmlns:a16="http://schemas.microsoft.com/office/drawing/2014/main" id="{5AD6162B-2C58-90B8-DB33-198ADA431F06}"/>
              </a:ext>
            </a:extLst>
          </p:cNvPr>
          <p:cNvPicPr>
            <a:picLocks noChangeAspect="1"/>
          </p:cNvPicPr>
          <p:nvPr/>
        </p:nvPicPr>
        <p:blipFill>
          <a:blip r:embed="rId3"/>
          <a:stretch>
            <a:fillRect/>
          </a:stretch>
        </p:blipFill>
        <p:spPr>
          <a:xfrm>
            <a:off x="2659248" y="2716306"/>
            <a:ext cx="6873504" cy="2417117"/>
          </a:xfrm>
          <a:prstGeom prst="rect">
            <a:avLst/>
          </a:prstGeom>
        </p:spPr>
      </p:pic>
    </p:spTree>
    <p:extLst>
      <p:ext uri="{BB962C8B-B14F-4D97-AF65-F5344CB8AC3E}">
        <p14:creationId xmlns:p14="http://schemas.microsoft.com/office/powerpoint/2010/main" val="15573724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195866-4953-67DA-EABE-2CED19D9944D}"/>
              </a:ext>
            </a:extLst>
          </p:cNvPr>
          <p:cNvSpPr>
            <a:spLocks noGrp="1"/>
          </p:cNvSpPr>
          <p:nvPr>
            <p:ph type="title"/>
          </p:nvPr>
        </p:nvSpPr>
        <p:spPr/>
        <p:txBody>
          <a:bodyPr/>
          <a:lstStyle/>
          <a:p>
            <a:r>
              <a:rPr lang="en-US" altLang="zh-CN" b="1" dirty="0"/>
              <a:t>RLHF</a:t>
            </a:r>
            <a:endParaRPr lang="zh-CN" altLang="en-US" b="1" dirty="0"/>
          </a:p>
        </p:txBody>
      </p:sp>
      <p:pic>
        <p:nvPicPr>
          <p:cNvPr id="5" name="内容占位符 4">
            <a:extLst>
              <a:ext uri="{FF2B5EF4-FFF2-40B4-BE49-F238E27FC236}">
                <a16:creationId xmlns:a16="http://schemas.microsoft.com/office/drawing/2014/main" id="{F8CF8C8B-36E6-2466-5339-3140099C86B1}"/>
              </a:ext>
            </a:extLst>
          </p:cNvPr>
          <p:cNvPicPr>
            <a:picLocks noGrp="1" noChangeAspect="1"/>
          </p:cNvPicPr>
          <p:nvPr>
            <p:ph idx="1"/>
          </p:nvPr>
        </p:nvPicPr>
        <p:blipFill>
          <a:blip r:embed="rId3"/>
          <a:stretch>
            <a:fillRect/>
          </a:stretch>
        </p:blipFill>
        <p:spPr>
          <a:xfrm>
            <a:off x="2524691" y="1825625"/>
            <a:ext cx="7142618" cy="4351338"/>
          </a:xfrm>
          <a:prstGeom prst="rect">
            <a:avLst/>
          </a:prstGeom>
        </p:spPr>
      </p:pic>
    </p:spTree>
    <p:extLst>
      <p:ext uri="{BB962C8B-B14F-4D97-AF65-F5344CB8AC3E}">
        <p14:creationId xmlns:p14="http://schemas.microsoft.com/office/powerpoint/2010/main" val="940977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2E607F-2D9C-33EA-D316-F3D9FC8C622B}"/>
              </a:ext>
            </a:extLst>
          </p:cNvPr>
          <p:cNvSpPr>
            <a:spLocks noGrp="1"/>
          </p:cNvSpPr>
          <p:nvPr>
            <p:ph type="title"/>
          </p:nvPr>
        </p:nvSpPr>
        <p:spPr/>
        <p:txBody>
          <a:bodyPr/>
          <a:lstStyle/>
          <a:p>
            <a:r>
              <a:rPr lang="en-US" altLang="zh-CN" b="1" dirty="0"/>
              <a:t>From imitation to optimization</a:t>
            </a:r>
            <a:endParaRPr lang="zh-CN" altLang="en-US" b="1"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3B231D0-577B-04C4-D0A4-58FED53F3AB8}"/>
                  </a:ext>
                </a:extLst>
              </p:cNvPr>
              <p:cNvSpPr>
                <a:spLocks noGrp="1"/>
              </p:cNvSpPr>
              <p:nvPr>
                <p:ph idx="1"/>
              </p:nvPr>
            </p:nvSpPr>
            <p:spPr/>
            <p:txBody>
              <a:bodyPr>
                <a:normAutofit lnSpcReduction="10000"/>
              </a:bodyPr>
              <a:lstStyle/>
              <a:p>
                <a:r>
                  <a:rPr lang="en-US" altLang="zh-CN" dirty="0"/>
                  <a:t>Imitation (SFT) :</a:t>
                </a:r>
              </a:p>
              <a:p>
                <a:pPr marL="0" indent="0">
                  <a:buNone/>
                </a:pPr>
                <a:r>
                  <a:rPr lang="en-US" altLang="zh-CN" dirty="0"/>
                  <a:t>Fit </a:t>
                </a:r>
                <a14:m>
                  <m:oMath xmlns:m="http://schemas.openxmlformats.org/officeDocument/2006/math">
                    <m:sPre>
                      <m:sPrePr>
                        <m:ctrlPr>
                          <a:rPr lang="en-US" altLang="zh-CN" i="1" smtClean="0">
                            <a:latin typeface="Cambria Math" panose="02040503050406030204" pitchFamily="18" charset="0"/>
                          </a:rPr>
                        </m:ctrlPr>
                      </m:sPrePr>
                      <m:sub>
                        <m:r>
                          <m:rPr>
                            <m:sty m:val="p"/>
                          </m:rPr>
                          <a:rPr lang="en-US" altLang="zh-CN" i="1">
                            <a:latin typeface="Cambria Math" panose="02040503050406030204" pitchFamily="18" charset="0"/>
                          </a:rPr>
                          <m:t>p</m:t>
                        </m:r>
                      </m:sub>
                      <m:sup>
                        <m:r>
                          <a:rPr lang="en-US" altLang="zh-CN" b="0" i="1" smtClean="0">
                            <a:latin typeface="Cambria Math" panose="02040503050406030204" pitchFamily="18" charset="0"/>
                          </a:rPr>
                          <m:t>^</m:t>
                        </m:r>
                      </m:sup>
                      <m:e>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e>
                    </m:sPre>
                    <m:r>
                      <a:rPr lang="zh-CN" altLang="en-US" i="1" smtClean="0">
                        <a:latin typeface="Cambria Math" panose="02040503050406030204" pitchFamily="18" charset="0"/>
                      </a:rPr>
                      <m:t>≈</m:t>
                    </m:r>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𝑝</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oMath>
                </a14:m>
                <a:r>
                  <a:rPr lang="en-US" altLang="zh-CN" dirty="0"/>
                  <a:t> for some reference distribution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𝑝</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oMath>
                </a14:m>
                <a:r>
                  <a:rPr lang="en-US" altLang="zh-CN" dirty="0"/>
                  <a:t> </a:t>
                </a:r>
              </a:p>
              <a:p>
                <a:pPr marL="0" indent="0">
                  <a:buNone/>
                </a:pPr>
                <a:r>
                  <a:rPr lang="en-US" altLang="zh-CN" dirty="0"/>
                  <a:t>Pure generative modeling perspective </a:t>
                </a:r>
              </a:p>
              <a:p>
                <a:pPr marL="0" indent="0">
                  <a:buNone/>
                </a:pPr>
                <a:r>
                  <a:rPr lang="en-US" altLang="zh-CN" dirty="0"/>
                  <a:t>Requires samples from reference policy</a:t>
                </a:r>
              </a:p>
              <a:p>
                <a:endParaRPr lang="en-US" altLang="zh-CN" dirty="0"/>
              </a:p>
              <a:p>
                <a:r>
                  <a:rPr lang="en-US" altLang="zh-CN" dirty="0"/>
                  <a:t>Optimization (RLHF):</a:t>
                </a:r>
              </a:p>
              <a:p>
                <a:pPr marL="0" indent="0">
                  <a:buNone/>
                </a:pPr>
                <a:r>
                  <a:rPr lang="en-US" altLang="zh-CN" dirty="0"/>
                  <a:t>Find </a:t>
                </a:r>
                <a14:m>
                  <m:oMath xmlns:m="http://schemas.openxmlformats.org/officeDocument/2006/math">
                    <m:func>
                      <m:funcPr>
                        <m:ctrlPr>
                          <a:rPr lang="en-US" altLang="zh-CN" i="1" smtClean="0">
                            <a:latin typeface="Cambria Math" panose="02040503050406030204" pitchFamily="18" charset="0"/>
                          </a:rPr>
                        </m:ctrlPr>
                      </m:funcPr>
                      <m:fName>
                        <m:limLow>
                          <m:limLowPr>
                            <m:ctrlPr>
                              <a:rPr lang="en-US" altLang="zh-CN" i="1" smtClean="0">
                                <a:latin typeface="Cambria Math" panose="02040503050406030204" pitchFamily="18" charset="0"/>
                              </a:rPr>
                            </m:ctrlPr>
                          </m:limLowPr>
                          <m:e>
                            <m:r>
                              <m:rPr>
                                <m:sty m:val="p"/>
                              </m:rPr>
                              <a:rPr lang="en-US" altLang="zh-CN" i="0" smtClean="0">
                                <a:latin typeface="Cambria Math" panose="02040503050406030204" pitchFamily="18" charset="0"/>
                              </a:rPr>
                              <m:t>max</m:t>
                            </m:r>
                          </m:e>
                          <m:lim>
                            <m:r>
                              <a:rPr lang="en-US" altLang="zh-CN" b="0" i="1" smtClean="0">
                                <a:latin typeface="Cambria Math" panose="02040503050406030204" pitchFamily="18" charset="0"/>
                              </a:rPr>
                              <m:t>𝑝</m:t>
                            </m:r>
                          </m:lim>
                        </m:limLow>
                      </m:fName>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𝐸</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𝑅</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e>
                    </m:func>
                  </m:oMath>
                </a14:m>
                <a:r>
                  <a:rPr lang="en-US" altLang="zh-CN" dirty="0"/>
                  <a:t> such that max for a reward </a:t>
                </a:r>
                <a:r>
                  <a:rPr lang="zh-CN" altLang="en-US" dirty="0"/>
                  <a:t>𝑅</a:t>
                </a:r>
                <a:r>
                  <a:rPr lang="en-US" altLang="zh-CN" dirty="0"/>
                  <a:t>(</a:t>
                </a:r>
                <a:r>
                  <a:rPr lang="zh-CN" altLang="en-US" dirty="0"/>
                  <a:t>𝑦</a:t>
                </a:r>
                <a:r>
                  <a:rPr lang="en-US" altLang="zh-CN" dirty="0"/>
                  <a:t>,</a:t>
                </a:r>
                <a:r>
                  <a:rPr lang="zh-CN" altLang="en-US" dirty="0"/>
                  <a:t>𝑥</a:t>
                </a:r>
                <a:r>
                  <a:rPr lang="en-US" altLang="zh-CN" dirty="0"/>
                  <a:t>) </a:t>
                </a:r>
              </a:p>
              <a:p>
                <a:pPr marL="0" indent="0">
                  <a:buNone/>
                </a:pPr>
                <a:r>
                  <a:rPr lang="en-US" altLang="zh-CN" dirty="0"/>
                  <a:t>Maximize some reward function that we can measure</a:t>
                </a:r>
              </a:p>
              <a:p>
                <a:pPr marL="0" indent="0">
                  <a:buNone/>
                </a:pPr>
                <a:r>
                  <a:rPr lang="en-US" altLang="zh-CN" dirty="0"/>
                  <a:t>LMs are policies, not a model of some distribution </a:t>
                </a:r>
                <a:endParaRPr lang="zh-CN" altLang="en-US" dirty="0"/>
              </a:p>
            </p:txBody>
          </p:sp>
        </mc:Choice>
        <mc:Fallback xmlns="">
          <p:sp>
            <p:nvSpPr>
              <p:cNvPr id="3" name="内容占位符 2">
                <a:extLst>
                  <a:ext uri="{FF2B5EF4-FFF2-40B4-BE49-F238E27FC236}">
                    <a16:creationId xmlns:a16="http://schemas.microsoft.com/office/drawing/2014/main" id="{73B231D0-577B-04C4-D0A4-58FED53F3AB8}"/>
                  </a:ext>
                </a:extLst>
              </p:cNvPr>
              <p:cNvSpPr>
                <a:spLocks noGrp="1" noRot="1" noChangeAspect="1" noMove="1" noResize="1" noEditPoints="1" noAdjustHandles="1" noChangeArrowheads="1" noChangeShapeType="1" noTextEdit="1"/>
              </p:cNvSpPr>
              <p:nvPr>
                <p:ph idx="1"/>
              </p:nvPr>
            </p:nvSpPr>
            <p:spPr>
              <a:blipFill>
                <a:blip r:embed="rId3"/>
                <a:stretch>
                  <a:fillRect l="-1217" t="-3221" b="-18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44402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0A7E92-2779-D016-C5D4-A64B24D86A9C}"/>
              </a:ext>
            </a:extLst>
          </p:cNvPr>
          <p:cNvSpPr>
            <a:spLocks noGrp="1"/>
          </p:cNvSpPr>
          <p:nvPr>
            <p:ph type="title"/>
          </p:nvPr>
        </p:nvSpPr>
        <p:spPr/>
        <p:txBody>
          <a:bodyPr/>
          <a:lstStyle/>
          <a:p>
            <a:r>
              <a:rPr lang="en-US" altLang="zh-CN" b="1" dirty="0"/>
              <a:t>Why optimize? Costs</a:t>
            </a:r>
            <a:endParaRPr lang="zh-CN" altLang="en-US" b="1" dirty="0"/>
          </a:p>
        </p:txBody>
      </p:sp>
      <p:sp>
        <p:nvSpPr>
          <p:cNvPr id="3" name="内容占位符 2">
            <a:extLst>
              <a:ext uri="{FF2B5EF4-FFF2-40B4-BE49-F238E27FC236}">
                <a16:creationId xmlns:a16="http://schemas.microsoft.com/office/drawing/2014/main" id="{9299CFFB-1071-4313-993B-77A6B2BB24A4}"/>
              </a:ext>
            </a:extLst>
          </p:cNvPr>
          <p:cNvSpPr>
            <a:spLocks noGrp="1"/>
          </p:cNvSpPr>
          <p:nvPr>
            <p:ph idx="1"/>
          </p:nvPr>
        </p:nvSpPr>
        <p:spPr/>
        <p:txBody>
          <a:bodyPr>
            <a:normAutofit lnSpcReduction="10000"/>
          </a:bodyPr>
          <a:lstStyle/>
          <a:p>
            <a:pPr marL="0" indent="0">
              <a:buNone/>
            </a:pPr>
            <a:r>
              <a:rPr lang="en-US" altLang="zh-CN" dirty="0"/>
              <a:t>Might be easier to get scalar feedback rather than optimal policy. Even for a tiny and simple 7B model</a:t>
            </a:r>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en-US" altLang="zh-CN" dirty="0"/>
              <a:t>SFT data can be really expensive, and there may be tasks that are much easier for experts to verify than solve $50 Most frontier model labs spend millions on the post-training data.</a:t>
            </a:r>
          </a:p>
        </p:txBody>
      </p:sp>
      <p:pic>
        <p:nvPicPr>
          <p:cNvPr id="5" name="图片 4">
            <a:extLst>
              <a:ext uri="{FF2B5EF4-FFF2-40B4-BE49-F238E27FC236}">
                <a16:creationId xmlns:a16="http://schemas.microsoft.com/office/drawing/2014/main" id="{B7287E0F-DAED-CC5F-079D-8EF7CF108B30}"/>
              </a:ext>
            </a:extLst>
          </p:cNvPr>
          <p:cNvPicPr>
            <a:picLocks noChangeAspect="1"/>
          </p:cNvPicPr>
          <p:nvPr/>
        </p:nvPicPr>
        <p:blipFill>
          <a:blip r:embed="rId3"/>
          <a:stretch>
            <a:fillRect/>
          </a:stretch>
        </p:blipFill>
        <p:spPr>
          <a:xfrm>
            <a:off x="701278" y="2562762"/>
            <a:ext cx="10789443" cy="2247180"/>
          </a:xfrm>
          <a:prstGeom prst="rect">
            <a:avLst/>
          </a:prstGeom>
        </p:spPr>
      </p:pic>
    </p:spTree>
    <p:extLst>
      <p:ext uri="{BB962C8B-B14F-4D97-AF65-F5344CB8AC3E}">
        <p14:creationId xmlns:p14="http://schemas.microsoft.com/office/powerpoint/2010/main" val="27173807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3C9F82-C2BE-C510-AA06-48AD34C4E6A3}"/>
              </a:ext>
            </a:extLst>
          </p:cNvPr>
          <p:cNvSpPr>
            <a:spLocks noGrp="1"/>
          </p:cNvSpPr>
          <p:nvPr>
            <p:ph type="title"/>
          </p:nvPr>
        </p:nvSpPr>
        <p:spPr/>
        <p:txBody>
          <a:bodyPr/>
          <a:lstStyle/>
          <a:p>
            <a:r>
              <a:rPr lang="en-US" altLang="zh-CN" b="1" dirty="0"/>
              <a:t>Why optimize? G-V gap</a:t>
            </a:r>
            <a:endParaRPr lang="zh-CN" altLang="en-US" b="1" dirty="0"/>
          </a:p>
        </p:txBody>
      </p:sp>
      <p:sp>
        <p:nvSpPr>
          <p:cNvPr id="3" name="内容占位符 2">
            <a:extLst>
              <a:ext uri="{FF2B5EF4-FFF2-40B4-BE49-F238E27FC236}">
                <a16:creationId xmlns:a16="http://schemas.microsoft.com/office/drawing/2014/main" id="{75A528EF-4338-200E-6531-8B452AF9167C}"/>
              </a:ext>
            </a:extLst>
          </p:cNvPr>
          <p:cNvSpPr>
            <a:spLocks noGrp="1"/>
          </p:cNvSpPr>
          <p:nvPr>
            <p:ph idx="1"/>
          </p:nvPr>
        </p:nvSpPr>
        <p:spPr/>
        <p:txBody>
          <a:bodyPr/>
          <a:lstStyle/>
          <a:p>
            <a:pPr marL="0" indent="0">
              <a:buNone/>
            </a:pPr>
            <a:r>
              <a:rPr lang="en-US" altLang="zh-CN" dirty="0"/>
              <a:t>People don’t always write the thing that they prefer in LM outputs.</a:t>
            </a:r>
          </a:p>
          <a:p>
            <a:pPr marL="0" indent="0">
              <a:buNone/>
            </a:pPr>
            <a:endParaRPr lang="en-US" altLang="zh-CN" dirty="0"/>
          </a:p>
          <a:p>
            <a:pPr marL="0" indent="0">
              <a:buNone/>
            </a:pPr>
            <a:endParaRPr lang="zh-CN" altLang="en-US" dirty="0"/>
          </a:p>
        </p:txBody>
      </p:sp>
      <p:pic>
        <p:nvPicPr>
          <p:cNvPr id="5" name="图片 4">
            <a:extLst>
              <a:ext uri="{FF2B5EF4-FFF2-40B4-BE49-F238E27FC236}">
                <a16:creationId xmlns:a16="http://schemas.microsoft.com/office/drawing/2014/main" id="{41A2CF58-3FE4-8B7C-D97B-AB9E00A93B5B}"/>
              </a:ext>
            </a:extLst>
          </p:cNvPr>
          <p:cNvPicPr>
            <a:picLocks noChangeAspect="1"/>
          </p:cNvPicPr>
          <p:nvPr/>
        </p:nvPicPr>
        <p:blipFill>
          <a:blip r:embed="rId3"/>
          <a:stretch>
            <a:fillRect/>
          </a:stretch>
        </p:blipFill>
        <p:spPr>
          <a:xfrm>
            <a:off x="2333685" y="2424598"/>
            <a:ext cx="7524630" cy="3490894"/>
          </a:xfrm>
          <a:prstGeom prst="rect">
            <a:avLst/>
          </a:prstGeom>
        </p:spPr>
      </p:pic>
    </p:spTree>
    <p:extLst>
      <p:ext uri="{BB962C8B-B14F-4D97-AF65-F5344CB8AC3E}">
        <p14:creationId xmlns:p14="http://schemas.microsoft.com/office/powerpoint/2010/main" val="3286169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010551-8F12-DA0E-DDB5-0B3BFA67D19E}"/>
              </a:ext>
            </a:extLst>
          </p:cNvPr>
          <p:cNvSpPr>
            <a:spLocks noGrp="1"/>
          </p:cNvSpPr>
          <p:nvPr>
            <p:ph type="title"/>
          </p:nvPr>
        </p:nvSpPr>
        <p:spPr/>
        <p:txBody>
          <a:bodyPr/>
          <a:lstStyle/>
          <a:p>
            <a:r>
              <a:rPr lang="en-US" altLang="zh-CN" b="1" dirty="0"/>
              <a:t>Overview</a:t>
            </a:r>
            <a:endParaRPr lang="zh-CN" altLang="en-US" b="1" dirty="0"/>
          </a:p>
        </p:txBody>
      </p:sp>
      <p:sp>
        <p:nvSpPr>
          <p:cNvPr id="3" name="内容占位符 2">
            <a:extLst>
              <a:ext uri="{FF2B5EF4-FFF2-40B4-BE49-F238E27FC236}">
                <a16:creationId xmlns:a16="http://schemas.microsoft.com/office/drawing/2014/main" id="{264D292F-319A-9ADF-4FAC-D410AB514E04}"/>
              </a:ext>
            </a:extLst>
          </p:cNvPr>
          <p:cNvSpPr>
            <a:spLocks noGrp="1"/>
          </p:cNvSpPr>
          <p:nvPr>
            <p:ph idx="1"/>
          </p:nvPr>
        </p:nvSpPr>
        <p:spPr/>
        <p:txBody>
          <a:bodyPr>
            <a:normAutofit lnSpcReduction="10000"/>
          </a:bodyPr>
          <a:lstStyle/>
          <a:p>
            <a:pPr marL="0" indent="0">
              <a:buNone/>
            </a:pPr>
            <a:r>
              <a:rPr lang="en-US" altLang="zh-CN" dirty="0"/>
              <a:t>Data</a:t>
            </a:r>
          </a:p>
          <a:p>
            <a:r>
              <a:rPr lang="en-US" altLang="zh-CN" dirty="0"/>
              <a:t>How do people collect RLHF data?</a:t>
            </a:r>
          </a:p>
          <a:p>
            <a:r>
              <a:rPr lang="en-US" altLang="zh-CN" dirty="0"/>
              <a:t>What are some things to worry about</a:t>
            </a:r>
          </a:p>
          <a:p>
            <a:endParaRPr lang="en-US" altLang="zh-CN" dirty="0"/>
          </a:p>
          <a:p>
            <a:pPr marL="0" indent="0">
              <a:buNone/>
            </a:pPr>
            <a:r>
              <a:rPr lang="en-US" altLang="zh-CN" dirty="0"/>
              <a:t>How do we RLHF?</a:t>
            </a:r>
          </a:p>
          <a:p>
            <a:r>
              <a:rPr lang="en-US" altLang="zh-CN" dirty="0"/>
              <a:t>PPO</a:t>
            </a:r>
          </a:p>
          <a:p>
            <a:r>
              <a:rPr lang="en-US" altLang="zh-CN" dirty="0"/>
              <a:t>DPO</a:t>
            </a:r>
          </a:p>
          <a:p>
            <a:pPr marL="0" indent="0">
              <a:buNone/>
            </a:pPr>
            <a:endParaRPr lang="en-US" altLang="zh-CN" dirty="0"/>
          </a:p>
          <a:p>
            <a:pPr marL="0" indent="0">
              <a:buNone/>
            </a:pPr>
            <a:r>
              <a:rPr lang="en-US" altLang="zh-CN" dirty="0"/>
              <a:t>What are some side-effects of RLHF? </a:t>
            </a:r>
            <a:endParaRPr lang="zh-CN" altLang="en-US" dirty="0"/>
          </a:p>
        </p:txBody>
      </p:sp>
    </p:spTree>
    <p:extLst>
      <p:ext uri="{BB962C8B-B14F-4D97-AF65-F5344CB8AC3E}">
        <p14:creationId xmlns:p14="http://schemas.microsoft.com/office/powerpoint/2010/main" val="12569571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9ECBA4-CF1D-FCB8-12E0-B456627BFC5F}"/>
              </a:ext>
            </a:extLst>
          </p:cNvPr>
          <p:cNvSpPr>
            <a:spLocks noGrp="1"/>
          </p:cNvSpPr>
          <p:nvPr>
            <p:ph type="title"/>
          </p:nvPr>
        </p:nvSpPr>
        <p:spPr/>
        <p:txBody>
          <a:bodyPr/>
          <a:lstStyle/>
          <a:p>
            <a:r>
              <a:rPr lang="en-US" altLang="zh-CN" b="1" dirty="0"/>
              <a:t>RLHF Data</a:t>
            </a:r>
            <a:endParaRPr lang="zh-CN" altLang="en-US" b="1" dirty="0"/>
          </a:p>
        </p:txBody>
      </p:sp>
      <p:sp>
        <p:nvSpPr>
          <p:cNvPr id="3" name="内容占位符 2">
            <a:extLst>
              <a:ext uri="{FF2B5EF4-FFF2-40B4-BE49-F238E27FC236}">
                <a16:creationId xmlns:a16="http://schemas.microsoft.com/office/drawing/2014/main" id="{E83806ED-AC2C-AFB4-7EFF-A86CE85A79EB}"/>
              </a:ext>
            </a:extLst>
          </p:cNvPr>
          <p:cNvSpPr>
            <a:spLocks noGrp="1"/>
          </p:cNvSpPr>
          <p:nvPr>
            <p:ph idx="1"/>
          </p:nvPr>
        </p:nvSpPr>
        <p:spPr/>
        <p:txBody>
          <a:bodyPr/>
          <a:lstStyle/>
          <a:p>
            <a:r>
              <a:rPr lang="en-US" altLang="zh-CN" dirty="0"/>
              <a:t>What types of pairwise feedback. </a:t>
            </a:r>
            <a:endParaRPr lang="zh-CN" altLang="en-US" dirty="0"/>
          </a:p>
        </p:txBody>
      </p:sp>
      <p:pic>
        <p:nvPicPr>
          <p:cNvPr id="5" name="图片 4">
            <a:extLst>
              <a:ext uri="{FF2B5EF4-FFF2-40B4-BE49-F238E27FC236}">
                <a16:creationId xmlns:a16="http://schemas.microsoft.com/office/drawing/2014/main" id="{E4DB83B2-DDC8-E675-A2EC-BD0FA3200728}"/>
              </a:ext>
            </a:extLst>
          </p:cNvPr>
          <p:cNvPicPr>
            <a:picLocks noChangeAspect="1"/>
          </p:cNvPicPr>
          <p:nvPr/>
        </p:nvPicPr>
        <p:blipFill>
          <a:blip r:embed="rId3"/>
          <a:stretch>
            <a:fillRect/>
          </a:stretch>
        </p:blipFill>
        <p:spPr>
          <a:xfrm>
            <a:off x="3057472" y="2360693"/>
            <a:ext cx="6507870" cy="3951207"/>
          </a:xfrm>
          <a:prstGeom prst="rect">
            <a:avLst/>
          </a:prstGeom>
        </p:spPr>
      </p:pic>
    </p:spTree>
    <p:extLst>
      <p:ext uri="{BB962C8B-B14F-4D97-AF65-F5344CB8AC3E}">
        <p14:creationId xmlns:p14="http://schemas.microsoft.com/office/powerpoint/2010/main" val="17302480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BE66B7-B828-1CE8-219C-034F27D08EE5}"/>
              </a:ext>
            </a:extLst>
          </p:cNvPr>
          <p:cNvSpPr>
            <a:spLocks noGrp="1"/>
          </p:cNvSpPr>
          <p:nvPr>
            <p:ph type="title"/>
          </p:nvPr>
        </p:nvSpPr>
        <p:spPr/>
        <p:txBody>
          <a:bodyPr/>
          <a:lstStyle/>
          <a:p>
            <a:r>
              <a:rPr lang="en-US" altLang="zh-CN" b="1" dirty="0"/>
              <a:t>RLHF Data</a:t>
            </a:r>
            <a:endParaRPr lang="zh-CN" altLang="en-US" dirty="0"/>
          </a:p>
        </p:txBody>
      </p:sp>
      <p:sp>
        <p:nvSpPr>
          <p:cNvPr id="3" name="内容占位符 2">
            <a:extLst>
              <a:ext uri="{FF2B5EF4-FFF2-40B4-BE49-F238E27FC236}">
                <a16:creationId xmlns:a16="http://schemas.microsoft.com/office/drawing/2014/main" id="{0033BD2E-D237-E765-118D-98FB21512EF9}"/>
              </a:ext>
            </a:extLst>
          </p:cNvPr>
          <p:cNvSpPr>
            <a:spLocks noGrp="1"/>
          </p:cNvSpPr>
          <p:nvPr>
            <p:ph idx="1"/>
          </p:nvPr>
        </p:nvSpPr>
        <p:spPr/>
        <p:txBody>
          <a:bodyPr/>
          <a:lstStyle/>
          <a:p>
            <a:pPr marL="0" indent="0">
              <a:buNone/>
            </a:pPr>
            <a:r>
              <a:rPr lang="en-US" altLang="zh-CN" dirty="0"/>
              <a:t>How do we get (good) pairwise feedback?</a:t>
            </a:r>
          </a:p>
          <a:p>
            <a:r>
              <a:rPr lang="en-US" altLang="zh-CN" dirty="0"/>
              <a:t>Standard ‘pairwise feedback’ setup </a:t>
            </a:r>
          </a:p>
          <a:p>
            <a:r>
              <a:rPr lang="en-US" altLang="zh-CN" dirty="0"/>
              <a:t>Instruct GPT guideline</a:t>
            </a:r>
          </a:p>
          <a:p>
            <a:r>
              <a:rPr lang="en-US" altLang="zh-CN" dirty="0"/>
              <a:t>Google bard crowdsourcing instructions</a:t>
            </a:r>
            <a:endParaRPr lang="zh-CN" altLang="en-US" dirty="0"/>
          </a:p>
        </p:txBody>
      </p:sp>
      <p:pic>
        <p:nvPicPr>
          <p:cNvPr id="7" name="图片 6">
            <a:extLst>
              <a:ext uri="{FF2B5EF4-FFF2-40B4-BE49-F238E27FC236}">
                <a16:creationId xmlns:a16="http://schemas.microsoft.com/office/drawing/2014/main" id="{3B1B8730-BFB0-E4AC-3E2D-7468A263703D}"/>
              </a:ext>
            </a:extLst>
          </p:cNvPr>
          <p:cNvPicPr>
            <a:picLocks noChangeAspect="1"/>
          </p:cNvPicPr>
          <p:nvPr/>
        </p:nvPicPr>
        <p:blipFill>
          <a:blip r:embed="rId3"/>
          <a:stretch>
            <a:fillRect/>
          </a:stretch>
        </p:blipFill>
        <p:spPr>
          <a:xfrm>
            <a:off x="7559048" y="1680637"/>
            <a:ext cx="3480998" cy="3496726"/>
          </a:xfrm>
          <a:prstGeom prst="rect">
            <a:avLst/>
          </a:prstGeom>
        </p:spPr>
      </p:pic>
    </p:spTree>
    <p:extLst>
      <p:ext uri="{BB962C8B-B14F-4D97-AF65-F5344CB8AC3E}">
        <p14:creationId xmlns:p14="http://schemas.microsoft.com/office/powerpoint/2010/main" val="5641206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15CF3A-FBB5-A946-ABCF-6821A6022812}"/>
              </a:ext>
            </a:extLst>
          </p:cNvPr>
          <p:cNvSpPr>
            <a:spLocks noGrp="1"/>
          </p:cNvSpPr>
          <p:nvPr>
            <p:ph type="title"/>
          </p:nvPr>
        </p:nvSpPr>
        <p:spPr/>
        <p:txBody>
          <a:bodyPr/>
          <a:lstStyle/>
          <a:p>
            <a:r>
              <a:rPr lang="en-US" altLang="zh-CN" b="1" dirty="0"/>
              <a:t>RLHF Data : complexities</a:t>
            </a:r>
            <a:endParaRPr lang="zh-CN" altLang="en-US" dirty="0"/>
          </a:p>
        </p:txBody>
      </p:sp>
      <p:sp>
        <p:nvSpPr>
          <p:cNvPr id="3" name="内容占位符 2">
            <a:extLst>
              <a:ext uri="{FF2B5EF4-FFF2-40B4-BE49-F238E27FC236}">
                <a16:creationId xmlns:a16="http://schemas.microsoft.com/office/drawing/2014/main" id="{8FAC9EA9-FBAE-A528-83E8-C8B2B8478927}"/>
              </a:ext>
            </a:extLst>
          </p:cNvPr>
          <p:cNvSpPr>
            <a:spLocks noGrp="1"/>
          </p:cNvSpPr>
          <p:nvPr>
            <p:ph idx="1"/>
          </p:nvPr>
        </p:nvSpPr>
        <p:spPr/>
        <p:txBody>
          <a:bodyPr/>
          <a:lstStyle/>
          <a:p>
            <a:pPr marL="0" indent="0">
              <a:buNone/>
            </a:pPr>
            <a:endParaRPr lang="en-US" altLang="zh-CN" dirty="0"/>
          </a:p>
          <a:p>
            <a:pPr marL="0" indent="0">
              <a:buNone/>
            </a:pPr>
            <a:r>
              <a:rPr lang="en-US" altLang="zh-CN" dirty="0"/>
              <a:t>Complexities of crowdsourcing</a:t>
            </a:r>
            <a:r>
              <a:rPr lang="zh-CN" altLang="en-US" dirty="0"/>
              <a:t>：</a:t>
            </a:r>
            <a:endParaRPr lang="en-US" altLang="zh-CN" dirty="0"/>
          </a:p>
          <a:p>
            <a:r>
              <a:rPr lang="en-US" altLang="zh-CN" dirty="0"/>
              <a:t>Hard to get really high-quality, verifiable annotators</a:t>
            </a:r>
          </a:p>
          <a:p>
            <a:endParaRPr lang="en-US" altLang="zh-CN" dirty="0"/>
          </a:p>
          <a:p>
            <a:r>
              <a:rPr lang="en-US" altLang="zh-CN" dirty="0"/>
              <a:t>Hard to get them to really check correctness</a:t>
            </a:r>
          </a:p>
          <a:p>
            <a:endParaRPr lang="en-US" altLang="zh-CN" dirty="0"/>
          </a:p>
          <a:p>
            <a:r>
              <a:rPr lang="en-US" altLang="zh-CN" dirty="0"/>
              <a:t>Have to be careful about GPT4 use</a:t>
            </a:r>
            <a:endParaRPr lang="zh-CN" altLang="en-US" dirty="0"/>
          </a:p>
        </p:txBody>
      </p:sp>
    </p:spTree>
    <p:extLst>
      <p:ext uri="{BB962C8B-B14F-4D97-AF65-F5344CB8AC3E}">
        <p14:creationId xmlns:p14="http://schemas.microsoft.com/office/powerpoint/2010/main" val="18507089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E9C8AA-297E-8D28-3244-06EAAEA2A886}"/>
              </a:ext>
            </a:extLst>
          </p:cNvPr>
          <p:cNvSpPr>
            <a:spLocks noGrp="1"/>
          </p:cNvSpPr>
          <p:nvPr>
            <p:ph type="title"/>
          </p:nvPr>
        </p:nvSpPr>
        <p:spPr/>
        <p:txBody>
          <a:bodyPr/>
          <a:lstStyle/>
          <a:p>
            <a:r>
              <a:rPr lang="en-US" altLang="zh-CN" b="1" dirty="0"/>
              <a:t>RLHF Data : issues</a:t>
            </a:r>
            <a:endParaRPr lang="zh-CN" altLang="en-US" dirty="0"/>
          </a:p>
        </p:txBody>
      </p:sp>
      <p:sp>
        <p:nvSpPr>
          <p:cNvPr id="3" name="内容占位符 2">
            <a:extLst>
              <a:ext uri="{FF2B5EF4-FFF2-40B4-BE49-F238E27FC236}">
                <a16:creationId xmlns:a16="http://schemas.microsoft.com/office/drawing/2014/main" id="{8BD5395E-4306-487A-0D3D-CAE5A30F518A}"/>
              </a:ext>
            </a:extLst>
          </p:cNvPr>
          <p:cNvSpPr>
            <a:spLocks noGrp="1"/>
          </p:cNvSpPr>
          <p:nvPr>
            <p:ph idx="1"/>
          </p:nvPr>
        </p:nvSpPr>
        <p:spPr/>
        <p:txBody>
          <a:bodyPr/>
          <a:lstStyle/>
          <a:p>
            <a:r>
              <a:rPr lang="en-US" altLang="zh-CN" dirty="0"/>
              <a:t>Data collection at scale can have significant issues</a:t>
            </a:r>
            <a:r>
              <a:rPr lang="zh-CN" altLang="en-US" dirty="0"/>
              <a:t>：</a:t>
            </a:r>
            <a:endParaRPr lang="en-US" altLang="zh-CN" dirty="0"/>
          </a:p>
          <a:p>
            <a:pPr marL="0" indent="0">
              <a:buNone/>
            </a:pPr>
            <a:r>
              <a:rPr lang="en-US" altLang="zh-CN" dirty="0"/>
              <a:t>Crowdsourcing ethics</a:t>
            </a:r>
          </a:p>
          <a:p>
            <a:pPr marL="0" indent="0">
              <a:buNone/>
            </a:pPr>
            <a:r>
              <a:rPr lang="en-US" altLang="zh-CN" dirty="0"/>
              <a:t>Demographics: The annotator distribution for RLHF can significantly shift its behaviors</a:t>
            </a:r>
          </a:p>
          <a:p>
            <a:pPr marL="0" indent="0">
              <a:buNone/>
            </a:pPr>
            <a:r>
              <a:rPr lang="en-US" altLang="zh-CN" dirty="0"/>
              <a:t>Annotators matter (a lot):This is true even for many annotators – but not all annotators</a:t>
            </a:r>
            <a:endParaRPr lang="zh-CN" altLang="en-US" dirty="0"/>
          </a:p>
          <a:p>
            <a:endParaRPr lang="zh-CN" altLang="en-US" dirty="0"/>
          </a:p>
        </p:txBody>
      </p:sp>
      <p:pic>
        <p:nvPicPr>
          <p:cNvPr id="5" name="图片 4">
            <a:extLst>
              <a:ext uri="{FF2B5EF4-FFF2-40B4-BE49-F238E27FC236}">
                <a16:creationId xmlns:a16="http://schemas.microsoft.com/office/drawing/2014/main" id="{4A91D5D0-585C-149A-0F67-E3661019780D}"/>
              </a:ext>
            </a:extLst>
          </p:cNvPr>
          <p:cNvPicPr>
            <a:picLocks noChangeAspect="1"/>
          </p:cNvPicPr>
          <p:nvPr/>
        </p:nvPicPr>
        <p:blipFill>
          <a:blip r:embed="rId3"/>
          <a:stretch>
            <a:fillRect/>
          </a:stretch>
        </p:blipFill>
        <p:spPr>
          <a:xfrm>
            <a:off x="5764670" y="4225905"/>
            <a:ext cx="4724036" cy="2470731"/>
          </a:xfrm>
          <a:prstGeom prst="rect">
            <a:avLst/>
          </a:prstGeom>
        </p:spPr>
      </p:pic>
    </p:spTree>
    <p:extLst>
      <p:ext uri="{BB962C8B-B14F-4D97-AF65-F5344CB8AC3E}">
        <p14:creationId xmlns:p14="http://schemas.microsoft.com/office/powerpoint/2010/main" val="31766696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4CEB51-06BF-0875-9895-3114DA52B9FA}"/>
              </a:ext>
            </a:extLst>
          </p:cNvPr>
          <p:cNvSpPr>
            <a:spLocks noGrp="1"/>
          </p:cNvSpPr>
          <p:nvPr>
            <p:ph type="title"/>
          </p:nvPr>
        </p:nvSpPr>
        <p:spPr/>
        <p:txBody>
          <a:bodyPr/>
          <a:lstStyle/>
          <a:p>
            <a:r>
              <a:rPr lang="en-US" altLang="zh-CN" b="1" dirty="0"/>
              <a:t>RLHF Data: LM-generated</a:t>
            </a:r>
            <a:endParaRPr lang="zh-CN" altLang="en-US" b="1" dirty="0"/>
          </a:p>
        </p:txBody>
      </p:sp>
      <p:sp>
        <p:nvSpPr>
          <p:cNvPr id="3" name="内容占位符 2">
            <a:extLst>
              <a:ext uri="{FF2B5EF4-FFF2-40B4-BE49-F238E27FC236}">
                <a16:creationId xmlns:a16="http://schemas.microsoft.com/office/drawing/2014/main" id="{0055D56B-DE5A-4BEA-163C-5832EF3A5CD1}"/>
              </a:ext>
            </a:extLst>
          </p:cNvPr>
          <p:cNvSpPr>
            <a:spLocks noGrp="1"/>
          </p:cNvSpPr>
          <p:nvPr>
            <p:ph idx="1"/>
          </p:nvPr>
        </p:nvSpPr>
        <p:spPr/>
        <p:txBody>
          <a:bodyPr/>
          <a:lstStyle/>
          <a:p>
            <a:r>
              <a:rPr lang="en-US" altLang="zh-CN" dirty="0"/>
              <a:t>LM-generated</a:t>
            </a:r>
          </a:p>
          <a:p>
            <a:pPr marL="0" indent="0">
              <a:buNone/>
            </a:pPr>
            <a:r>
              <a:rPr lang="en-US" altLang="zh-CN" dirty="0"/>
              <a:t>GPT4 is a surprisingly good pairwise feedback system</a:t>
            </a:r>
          </a:p>
          <a:p>
            <a:pPr marL="0" indent="0">
              <a:buNone/>
            </a:pPr>
            <a:r>
              <a:rPr lang="en-US" altLang="zh-CN" dirty="0"/>
              <a:t>At the lower end of the cost + quality spectrum – AI feedback often used for RLHF</a:t>
            </a:r>
          </a:p>
          <a:p>
            <a:pPr marL="0" indent="0">
              <a:buNone/>
            </a:pPr>
            <a:endParaRPr lang="zh-CN" altLang="en-US" dirty="0"/>
          </a:p>
        </p:txBody>
      </p:sp>
      <p:pic>
        <p:nvPicPr>
          <p:cNvPr id="5" name="图片 4">
            <a:extLst>
              <a:ext uri="{FF2B5EF4-FFF2-40B4-BE49-F238E27FC236}">
                <a16:creationId xmlns:a16="http://schemas.microsoft.com/office/drawing/2014/main" id="{821D0024-FA25-E60B-A198-82D5FB826EC2}"/>
              </a:ext>
            </a:extLst>
          </p:cNvPr>
          <p:cNvPicPr>
            <a:picLocks noChangeAspect="1"/>
          </p:cNvPicPr>
          <p:nvPr/>
        </p:nvPicPr>
        <p:blipFill>
          <a:blip r:embed="rId3"/>
          <a:stretch>
            <a:fillRect/>
          </a:stretch>
        </p:blipFill>
        <p:spPr>
          <a:xfrm>
            <a:off x="838200" y="4087972"/>
            <a:ext cx="3397980" cy="1486616"/>
          </a:xfrm>
          <a:prstGeom prst="rect">
            <a:avLst/>
          </a:prstGeom>
        </p:spPr>
      </p:pic>
      <p:pic>
        <p:nvPicPr>
          <p:cNvPr id="7" name="图片 6">
            <a:extLst>
              <a:ext uri="{FF2B5EF4-FFF2-40B4-BE49-F238E27FC236}">
                <a16:creationId xmlns:a16="http://schemas.microsoft.com/office/drawing/2014/main" id="{50FD485E-0FE9-E7F5-4304-8DA5630C3CCE}"/>
              </a:ext>
            </a:extLst>
          </p:cNvPr>
          <p:cNvPicPr>
            <a:picLocks noChangeAspect="1"/>
          </p:cNvPicPr>
          <p:nvPr/>
        </p:nvPicPr>
        <p:blipFill>
          <a:blip r:embed="rId4"/>
          <a:stretch>
            <a:fillRect/>
          </a:stretch>
        </p:blipFill>
        <p:spPr>
          <a:xfrm>
            <a:off x="4236180" y="4001294"/>
            <a:ext cx="3397980" cy="1659973"/>
          </a:xfrm>
          <a:prstGeom prst="rect">
            <a:avLst/>
          </a:prstGeom>
        </p:spPr>
      </p:pic>
      <p:pic>
        <p:nvPicPr>
          <p:cNvPr id="9" name="图片 8">
            <a:extLst>
              <a:ext uri="{FF2B5EF4-FFF2-40B4-BE49-F238E27FC236}">
                <a16:creationId xmlns:a16="http://schemas.microsoft.com/office/drawing/2014/main" id="{5DEB86FF-E51F-6DE0-B520-6424F4F36512}"/>
              </a:ext>
            </a:extLst>
          </p:cNvPr>
          <p:cNvPicPr>
            <a:picLocks noChangeAspect="1"/>
          </p:cNvPicPr>
          <p:nvPr/>
        </p:nvPicPr>
        <p:blipFill>
          <a:blip r:embed="rId5"/>
          <a:stretch>
            <a:fillRect/>
          </a:stretch>
        </p:blipFill>
        <p:spPr>
          <a:xfrm>
            <a:off x="7634160" y="4074127"/>
            <a:ext cx="4410348" cy="1587140"/>
          </a:xfrm>
          <a:prstGeom prst="rect">
            <a:avLst/>
          </a:prstGeom>
        </p:spPr>
      </p:pic>
    </p:spTree>
    <p:extLst>
      <p:ext uri="{BB962C8B-B14F-4D97-AF65-F5344CB8AC3E}">
        <p14:creationId xmlns:p14="http://schemas.microsoft.com/office/powerpoint/2010/main" val="16180644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267DE3-AAC3-2200-92BF-84D3091A1452}"/>
              </a:ext>
            </a:extLst>
          </p:cNvPr>
          <p:cNvSpPr>
            <a:spLocks noGrp="1"/>
          </p:cNvSpPr>
          <p:nvPr>
            <p:ph type="title"/>
          </p:nvPr>
        </p:nvSpPr>
        <p:spPr/>
        <p:txBody>
          <a:bodyPr/>
          <a:lstStyle/>
          <a:p>
            <a:r>
              <a:rPr lang="en-US" altLang="zh-CN" b="1" dirty="0"/>
              <a:t>RLHF Data : length effects</a:t>
            </a:r>
            <a:endParaRPr lang="zh-CN" altLang="en-US" dirty="0"/>
          </a:p>
        </p:txBody>
      </p:sp>
      <p:sp>
        <p:nvSpPr>
          <p:cNvPr id="3" name="内容占位符 2">
            <a:extLst>
              <a:ext uri="{FF2B5EF4-FFF2-40B4-BE49-F238E27FC236}">
                <a16:creationId xmlns:a16="http://schemas.microsoft.com/office/drawing/2014/main" id="{EE618015-CD8B-2E57-BC5C-7215852876B6}"/>
              </a:ext>
            </a:extLst>
          </p:cNvPr>
          <p:cNvSpPr>
            <a:spLocks noGrp="1"/>
          </p:cNvSpPr>
          <p:nvPr>
            <p:ph idx="1"/>
          </p:nvPr>
        </p:nvSpPr>
        <p:spPr/>
        <p:txBody>
          <a:bodyPr/>
          <a:lstStyle/>
          <a:p>
            <a:r>
              <a:rPr lang="en-US" altLang="zh-CN" dirty="0"/>
              <a:t>Length effects are a very significant outcome of RLHF</a:t>
            </a:r>
          </a:p>
          <a:p>
            <a:pPr marL="0" indent="0">
              <a:buNone/>
            </a:pPr>
            <a:endParaRPr lang="zh-CN" altLang="en-US" dirty="0"/>
          </a:p>
        </p:txBody>
      </p:sp>
      <p:pic>
        <p:nvPicPr>
          <p:cNvPr id="5" name="图片 4">
            <a:extLst>
              <a:ext uri="{FF2B5EF4-FFF2-40B4-BE49-F238E27FC236}">
                <a16:creationId xmlns:a16="http://schemas.microsoft.com/office/drawing/2014/main" id="{05405F8C-8B18-95B0-AA85-5B074C89758C}"/>
              </a:ext>
            </a:extLst>
          </p:cNvPr>
          <p:cNvPicPr>
            <a:picLocks noChangeAspect="1"/>
          </p:cNvPicPr>
          <p:nvPr/>
        </p:nvPicPr>
        <p:blipFill>
          <a:blip r:embed="rId3"/>
          <a:stretch>
            <a:fillRect/>
          </a:stretch>
        </p:blipFill>
        <p:spPr>
          <a:xfrm>
            <a:off x="652734" y="2521228"/>
            <a:ext cx="3757902" cy="2906569"/>
          </a:xfrm>
          <a:prstGeom prst="rect">
            <a:avLst/>
          </a:prstGeom>
        </p:spPr>
      </p:pic>
      <p:pic>
        <p:nvPicPr>
          <p:cNvPr id="7" name="图片 6">
            <a:extLst>
              <a:ext uri="{FF2B5EF4-FFF2-40B4-BE49-F238E27FC236}">
                <a16:creationId xmlns:a16="http://schemas.microsoft.com/office/drawing/2014/main" id="{0853CA2F-E4DC-9423-8300-7B4D7B3E931C}"/>
              </a:ext>
            </a:extLst>
          </p:cNvPr>
          <p:cNvPicPr>
            <a:picLocks noChangeAspect="1"/>
          </p:cNvPicPr>
          <p:nvPr/>
        </p:nvPicPr>
        <p:blipFill>
          <a:blip r:embed="rId4"/>
          <a:stretch>
            <a:fillRect/>
          </a:stretch>
        </p:blipFill>
        <p:spPr>
          <a:xfrm>
            <a:off x="4675631" y="2574788"/>
            <a:ext cx="6413173" cy="2853009"/>
          </a:xfrm>
          <a:prstGeom prst="rect">
            <a:avLst/>
          </a:prstGeom>
        </p:spPr>
      </p:pic>
    </p:spTree>
    <p:extLst>
      <p:ext uri="{BB962C8B-B14F-4D97-AF65-F5344CB8AC3E}">
        <p14:creationId xmlns:p14="http://schemas.microsoft.com/office/powerpoint/2010/main" val="36958834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9070F0-905B-1FA2-71A5-D6D89706AB8D}"/>
              </a:ext>
            </a:extLst>
          </p:cNvPr>
          <p:cNvSpPr>
            <a:spLocks noGrp="1"/>
          </p:cNvSpPr>
          <p:nvPr>
            <p:ph type="title"/>
          </p:nvPr>
        </p:nvSpPr>
        <p:spPr/>
        <p:txBody>
          <a:bodyPr/>
          <a:lstStyle/>
          <a:p>
            <a:r>
              <a:rPr lang="en-US" altLang="zh-CN" b="1" dirty="0"/>
              <a:t>How do we RLHF?</a:t>
            </a:r>
            <a:endParaRPr lang="zh-CN" altLang="en-US" b="1" dirty="0"/>
          </a:p>
        </p:txBody>
      </p:sp>
      <p:sp>
        <p:nvSpPr>
          <p:cNvPr id="3" name="内容占位符 2">
            <a:extLst>
              <a:ext uri="{FF2B5EF4-FFF2-40B4-BE49-F238E27FC236}">
                <a16:creationId xmlns:a16="http://schemas.microsoft.com/office/drawing/2014/main" id="{6BC06ABC-8C19-0478-92D4-D18C3D821781}"/>
              </a:ext>
            </a:extLst>
          </p:cNvPr>
          <p:cNvSpPr>
            <a:spLocks noGrp="1"/>
          </p:cNvSpPr>
          <p:nvPr>
            <p:ph idx="1"/>
          </p:nvPr>
        </p:nvSpPr>
        <p:spPr/>
        <p:txBody>
          <a:bodyPr/>
          <a:lstStyle/>
          <a:p>
            <a:pPr marL="0" indent="0">
              <a:buNone/>
            </a:pPr>
            <a:r>
              <a:rPr lang="en-US" altLang="zh-CN" dirty="0"/>
              <a:t>We now have a (high quality) pairwise feedback data collection pipeline? </a:t>
            </a:r>
          </a:p>
          <a:p>
            <a:pPr marL="0" indent="0">
              <a:buNone/>
            </a:pPr>
            <a:r>
              <a:rPr lang="en-US" altLang="zh-CN" dirty="0"/>
              <a:t>How do we adapt the model to make use of pairwise feedback? </a:t>
            </a:r>
          </a:p>
          <a:p>
            <a:r>
              <a:rPr lang="en-US" altLang="zh-CN" dirty="0"/>
              <a:t>Part 1: PPO – the original and very finicky approach (the brief version) </a:t>
            </a:r>
            <a:r>
              <a:rPr lang="en-US" altLang="zh-CN" b="1" dirty="0"/>
              <a:t>Proximal Policy Optimization</a:t>
            </a:r>
            <a:endParaRPr lang="en-US" altLang="zh-CN" dirty="0"/>
          </a:p>
          <a:p>
            <a:r>
              <a:rPr lang="en-US" altLang="zh-CN" dirty="0"/>
              <a:t>Part 2: DPO – the new, very accessible approach </a:t>
            </a:r>
          </a:p>
          <a:p>
            <a:pPr marL="0" indent="0">
              <a:buNone/>
            </a:pPr>
            <a:r>
              <a:rPr lang="en-US" altLang="zh-CN" b="1" dirty="0"/>
              <a:t>Direct Preference Optimization</a:t>
            </a:r>
            <a:endParaRPr lang="zh-CN" altLang="en-US" dirty="0"/>
          </a:p>
        </p:txBody>
      </p:sp>
    </p:spTree>
    <p:extLst>
      <p:ext uri="{BB962C8B-B14F-4D97-AF65-F5344CB8AC3E}">
        <p14:creationId xmlns:p14="http://schemas.microsoft.com/office/powerpoint/2010/main" val="9502046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4A00E9-9BA8-CD28-CBEB-FF7A101DB3E5}"/>
              </a:ext>
            </a:extLst>
          </p:cNvPr>
          <p:cNvSpPr>
            <a:spLocks noGrp="1"/>
          </p:cNvSpPr>
          <p:nvPr>
            <p:ph type="title"/>
          </p:nvPr>
        </p:nvSpPr>
        <p:spPr/>
        <p:txBody>
          <a:bodyPr/>
          <a:lstStyle/>
          <a:p>
            <a:r>
              <a:rPr lang="en-US" altLang="zh-CN" b="1" dirty="0"/>
              <a:t>PPO – at a conceptual level</a:t>
            </a:r>
            <a:endParaRPr lang="zh-CN" altLang="en-US" b="1" dirty="0"/>
          </a:p>
        </p:txBody>
      </p:sp>
      <p:sp>
        <p:nvSpPr>
          <p:cNvPr id="3" name="内容占位符 2">
            <a:extLst>
              <a:ext uri="{FF2B5EF4-FFF2-40B4-BE49-F238E27FC236}">
                <a16:creationId xmlns:a16="http://schemas.microsoft.com/office/drawing/2014/main" id="{387C4E79-7D3C-6C4B-FE4A-629D100684CE}"/>
              </a:ext>
            </a:extLst>
          </p:cNvPr>
          <p:cNvSpPr>
            <a:spLocks noGrp="1"/>
          </p:cNvSpPr>
          <p:nvPr>
            <p:ph idx="1"/>
          </p:nvPr>
        </p:nvSpPr>
        <p:spPr/>
        <p:txBody>
          <a:bodyPr/>
          <a:lstStyle/>
          <a:p>
            <a:pPr marL="0" indent="0">
              <a:buNone/>
            </a:pPr>
            <a:r>
              <a:rPr lang="en-US" altLang="zh-CN" dirty="0"/>
              <a:t>A brief (and high level) introduction to the various ideas in PPO.. </a:t>
            </a:r>
          </a:p>
          <a:p>
            <a:r>
              <a:rPr lang="en-US" altLang="zh-CN" dirty="0"/>
              <a:t>Attempt 1: Policy gradients (variances are too high)</a:t>
            </a:r>
          </a:p>
          <a:p>
            <a:pPr marL="0" indent="0">
              <a:buNone/>
            </a:pPr>
            <a:endParaRPr lang="en-US" altLang="zh-CN" dirty="0"/>
          </a:p>
          <a:p>
            <a:r>
              <a:rPr lang="en-US" altLang="zh-CN" dirty="0"/>
              <a:t>Attempt 2: TRPO (Linearize the problem around the current policy)</a:t>
            </a:r>
          </a:p>
          <a:p>
            <a:pPr marL="0" indent="0">
              <a:buNone/>
            </a:pPr>
            <a:endParaRPr lang="en-US" altLang="zh-CN" dirty="0"/>
          </a:p>
          <a:p>
            <a:pPr marL="0" indent="0">
              <a:buNone/>
            </a:pPr>
            <a:endParaRPr lang="en-US" altLang="zh-CN" dirty="0"/>
          </a:p>
          <a:p>
            <a:r>
              <a:rPr lang="en-US" altLang="zh-CN" dirty="0"/>
              <a:t>Attempt 3: PPO (Clip the ratios at some eps)</a:t>
            </a:r>
            <a:endParaRPr lang="zh-CN" altLang="en-US" dirty="0"/>
          </a:p>
        </p:txBody>
      </p:sp>
      <p:pic>
        <p:nvPicPr>
          <p:cNvPr id="5" name="图片 4">
            <a:extLst>
              <a:ext uri="{FF2B5EF4-FFF2-40B4-BE49-F238E27FC236}">
                <a16:creationId xmlns:a16="http://schemas.microsoft.com/office/drawing/2014/main" id="{D15EB91C-24B7-52BC-7FB5-51DEFF9D62DC}"/>
              </a:ext>
            </a:extLst>
          </p:cNvPr>
          <p:cNvPicPr>
            <a:picLocks noChangeAspect="1"/>
          </p:cNvPicPr>
          <p:nvPr/>
        </p:nvPicPr>
        <p:blipFill>
          <a:blip r:embed="rId3"/>
          <a:stretch>
            <a:fillRect/>
          </a:stretch>
        </p:blipFill>
        <p:spPr>
          <a:xfrm>
            <a:off x="3614391" y="2822727"/>
            <a:ext cx="4963218" cy="495369"/>
          </a:xfrm>
          <a:prstGeom prst="rect">
            <a:avLst/>
          </a:prstGeom>
        </p:spPr>
      </p:pic>
      <p:pic>
        <p:nvPicPr>
          <p:cNvPr id="7" name="图片 6">
            <a:extLst>
              <a:ext uri="{FF2B5EF4-FFF2-40B4-BE49-F238E27FC236}">
                <a16:creationId xmlns:a16="http://schemas.microsoft.com/office/drawing/2014/main" id="{2281F354-64F2-8D80-25D3-73483D3CD04B}"/>
              </a:ext>
            </a:extLst>
          </p:cNvPr>
          <p:cNvPicPr>
            <a:picLocks noChangeAspect="1"/>
          </p:cNvPicPr>
          <p:nvPr/>
        </p:nvPicPr>
        <p:blipFill>
          <a:blip r:embed="rId4"/>
          <a:stretch>
            <a:fillRect/>
          </a:stretch>
        </p:blipFill>
        <p:spPr>
          <a:xfrm>
            <a:off x="3824254" y="3785328"/>
            <a:ext cx="4270875" cy="1133785"/>
          </a:xfrm>
          <a:prstGeom prst="rect">
            <a:avLst/>
          </a:prstGeom>
        </p:spPr>
      </p:pic>
      <p:pic>
        <p:nvPicPr>
          <p:cNvPr id="9" name="图片 8">
            <a:extLst>
              <a:ext uri="{FF2B5EF4-FFF2-40B4-BE49-F238E27FC236}">
                <a16:creationId xmlns:a16="http://schemas.microsoft.com/office/drawing/2014/main" id="{3B54D872-BF6F-9387-C10B-ED49535274D1}"/>
              </a:ext>
            </a:extLst>
          </p:cNvPr>
          <p:cNvPicPr>
            <a:picLocks noChangeAspect="1"/>
          </p:cNvPicPr>
          <p:nvPr/>
        </p:nvPicPr>
        <p:blipFill>
          <a:blip r:embed="rId5"/>
          <a:stretch>
            <a:fillRect/>
          </a:stretch>
        </p:blipFill>
        <p:spPr>
          <a:xfrm>
            <a:off x="1916998" y="5467472"/>
            <a:ext cx="8716591" cy="943107"/>
          </a:xfrm>
          <a:prstGeom prst="rect">
            <a:avLst/>
          </a:prstGeom>
        </p:spPr>
      </p:pic>
    </p:spTree>
    <p:extLst>
      <p:ext uri="{BB962C8B-B14F-4D97-AF65-F5344CB8AC3E}">
        <p14:creationId xmlns:p14="http://schemas.microsoft.com/office/powerpoint/2010/main" val="2434432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55085B-563A-586E-BEFB-BBD2E1B1237B}"/>
              </a:ext>
            </a:extLst>
          </p:cNvPr>
          <p:cNvSpPr>
            <a:spLocks noGrp="1"/>
          </p:cNvSpPr>
          <p:nvPr>
            <p:ph type="title"/>
          </p:nvPr>
        </p:nvSpPr>
        <p:spPr/>
        <p:txBody>
          <a:bodyPr/>
          <a:lstStyle/>
          <a:p>
            <a:r>
              <a:rPr lang="en-US" altLang="zh-CN" b="1" dirty="0"/>
              <a:t>Can we get rid of PPO?</a:t>
            </a:r>
            <a:endParaRPr lang="zh-CN" altLang="en-US" b="1" dirty="0"/>
          </a:p>
        </p:txBody>
      </p:sp>
      <p:sp>
        <p:nvSpPr>
          <p:cNvPr id="3" name="内容占位符 2">
            <a:extLst>
              <a:ext uri="{FF2B5EF4-FFF2-40B4-BE49-F238E27FC236}">
                <a16:creationId xmlns:a16="http://schemas.microsoft.com/office/drawing/2014/main" id="{D3AE0950-C742-0044-54C5-43BAD4C2ADD3}"/>
              </a:ext>
            </a:extLst>
          </p:cNvPr>
          <p:cNvSpPr>
            <a:spLocks noGrp="1"/>
          </p:cNvSpPr>
          <p:nvPr>
            <p:ph idx="1"/>
          </p:nvPr>
        </p:nvSpPr>
        <p:spPr/>
        <p:txBody>
          <a:bodyPr/>
          <a:lstStyle/>
          <a:p>
            <a:pPr marL="0" indent="0">
              <a:buNone/>
            </a:pPr>
            <a:r>
              <a:rPr lang="en-US" altLang="zh-CN" dirty="0"/>
              <a:t>Question for many: can we avoid doing any ‘RL’ ? (i.e. on-policy RL algorithms)</a:t>
            </a:r>
          </a:p>
          <a:p>
            <a:pPr marL="0" indent="0">
              <a:buNone/>
            </a:pPr>
            <a:r>
              <a:rPr lang="en-US" altLang="zh-CN" dirty="0"/>
              <a:t>Some reasonable stuff people thought about:</a:t>
            </a:r>
          </a:p>
          <a:p>
            <a:pPr marL="0" indent="0">
              <a:buNone/>
            </a:pPr>
            <a:r>
              <a:rPr lang="en-US" altLang="zh-CN" dirty="0"/>
              <a:t>• Train the model with a control token – (SFT on the pairs, prepend [GOOD] to chosen, [BAD] to not chosen)</a:t>
            </a:r>
          </a:p>
          <a:p>
            <a:pPr marL="0" indent="0">
              <a:buNone/>
            </a:pPr>
            <a:r>
              <a:rPr lang="en-US" altLang="zh-CN" dirty="0"/>
              <a:t>• Train the model on only preferred output</a:t>
            </a:r>
          </a:p>
          <a:p>
            <a:pPr marL="0" indent="0">
              <a:buNone/>
            </a:pPr>
            <a:r>
              <a:rPr lang="en-US" altLang="zh-CN" dirty="0"/>
              <a:t>• Train a reward model, get LM outputs, train on the preferred output</a:t>
            </a:r>
          </a:p>
          <a:p>
            <a:pPr marL="0" indent="0">
              <a:buNone/>
            </a:pPr>
            <a:r>
              <a:rPr lang="en-US" altLang="zh-CN" dirty="0"/>
              <a:t>• Train a reward model, get 1024 LM outputs, take the best one.</a:t>
            </a:r>
            <a:endParaRPr lang="zh-CN" altLang="en-US" dirty="0"/>
          </a:p>
        </p:txBody>
      </p:sp>
    </p:spTree>
    <p:extLst>
      <p:ext uri="{BB962C8B-B14F-4D97-AF65-F5344CB8AC3E}">
        <p14:creationId xmlns:p14="http://schemas.microsoft.com/office/powerpoint/2010/main" val="40934440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69093C-187C-C3AD-ED26-2A316B0E36B4}"/>
              </a:ext>
            </a:extLst>
          </p:cNvPr>
          <p:cNvSpPr>
            <a:spLocks noGrp="1"/>
          </p:cNvSpPr>
          <p:nvPr>
            <p:ph type="title"/>
          </p:nvPr>
        </p:nvSpPr>
        <p:spPr/>
        <p:txBody>
          <a:bodyPr/>
          <a:lstStyle/>
          <a:p>
            <a:r>
              <a:rPr lang="en-US" altLang="zh-CN" b="1" dirty="0"/>
              <a:t>DPO</a:t>
            </a:r>
            <a:endParaRPr lang="zh-CN" altLang="en-US" b="1" dirty="0"/>
          </a:p>
        </p:txBody>
      </p:sp>
      <p:sp>
        <p:nvSpPr>
          <p:cNvPr id="3" name="内容占位符 2">
            <a:extLst>
              <a:ext uri="{FF2B5EF4-FFF2-40B4-BE49-F238E27FC236}">
                <a16:creationId xmlns:a16="http://schemas.microsoft.com/office/drawing/2014/main" id="{8942821C-1661-337B-1881-4542C4538C60}"/>
              </a:ext>
            </a:extLst>
          </p:cNvPr>
          <p:cNvSpPr>
            <a:spLocks noGrp="1"/>
          </p:cNvSpPr>
          <p:nvPr>
            <p:ph idx="1"/>
          </p:nvPr>
        </p:nvSpPr>
        <p:spPr>
          <a:xfrm>
            <a:off x="838200" y="1484966"/>
            <a:ext cx="10515600" cy="4351338"/>
          </a:xfrm>
        </p:spPr>
        <p:txBody>
          <a:bodyPr/>
          <a:lstStyle/>
          <a:p>
            <a:pPr marL="0" indent="0">
              <a:buNone/>
            </a:pPr>
            <a:r>
              <a:rPr lang="en-US" altLang="zh-CN" dirty="0"/>
              <a:t>Try to simplify PPO by..</a:t>
            </a:r>
          </a:p>
          <a:p>
            <a:pPr marL="0" indent="0">
              <a:buNone/>
            </a:pPr>
            <a:r>
              <a:rPr lang="en-US" altLang="zh-CN" dirty="0"/>
              <a:t>• Getting rid of the reward model</a:t>
            </a:r>
          </a:p>
          <a:p>
            <a:pPr marL="0" indent="0">
              <a:buNone/>
            </a:pPr>
            <a:r>
              <a:rPr lang="en-US" altLang="zh-CN" dirty="0"/>
              <a:t>• Getting rid of any on-policy stuff (rollouts, outer loops </a:t>
            </a:r>
            <a:r>
              <a:rPr lang="en-US" altLang="zh-CN" dirty="0" err="1"/>
              <a:t>etc</a:t>
            </a:r>
            <a:r>
              <a:rPr lang="en-US" altLang="zh-CN" dirty="0"/>
              <a:t>)</a:t>
            </a:r>
          </a:p>
          <a:p>
            <a:pPr marL="0" indent="0">
              <a:buNone/>
            </a:pPr>
            <a:r>
              <a:rPr lang="en-US" altLang="zh-CN" dirty="0"/>
              <a:t>Instead</a:t>
            </a:r>
          </a:p>
          <a:p>
            <a:pPr marL="0" indent="0">
              <a:buNone/>
            </a:pPr>
            <a:r>
              <a:rPr lang="en-US" altLang="zh-CN" dirty="0"/>
              <a:t>• Take gradient steps on log-loss of good stuff</a:t>
            </a:r>
          </a:p>
          <a:p>
            <a:pPr marL="0" indent="0">
              <a:buNone/>
            </a:pPr>
            <a:r>
              <a:rPr lang="en-US" altLang="zh-CN" dirty="0"/>
              <a:t>• Take negative gradient steps on bad stuff (appropriately weighted).</a:t>
            </a:r>
          </a:p>
          <a:p>
            <a:pPr marL="0" indent="0">
              <a:buNone/>
            </a:pPr>
            <a:endParaRPr lang="zh-CN" altLang="en-US" dirty="0"/>
          </a:p>
        </p:txBody>
      </p:sp>
      <p:pic>
        <p:nvPicPr>
          <p:cNvPr id="5" name="图片 4">
            <a:extLst>
              <a:ext uri="{FF2B5EF4-FFF2-40B4-BE49-F238E27FC236}">
                <a16:creationId xmlns:a16="http://schemas.microsoft.com/office/drawing/2014/main" id="{1E0AAE9C-F973-01F7-30CA-9724E23F9602}"/>
              </a:ext>
            </a:extLst>
          </p:cNvPr>
          <p:cNvPicPr>
            <a:picLocks noChangeAspect="1"/>
          </p:cNvPicPr>
          <p:nvPr/>
        </p:nvPicPr>
        <p:blipFill>
          <a:blip r:embed="rId3"/>
          <a:stretch>
            <a:fillRect/>
          </a:stretch>
        </p:blipFill>
        <p:spPr>
          <a:xfrm>
            <a:off x="2721545" y="4569287"/>
            <a:ext cx="8421584" cy="1758270"/>
          </a:xfrm>
          <a:prstGeom prst="rect">
            <a:avLst/>
          </a:prstGeom>
        </p:spPr>
      </p:pic>
    </p:spTree>
    <p:extLst>
      <p:ext uri="{BB962C8B-B14F-4D97-AF65-F5344CB8AC3E}">
        <p14:creationId xmlns:p14="http://schemas.microsoft.com/office/powerpoint/2010/main" val="3031019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7B83B8-E441-82AF-E965-3E65C71C7AF2}"/>
              </a:ext>
            </a:extLst>
          </p:cNvPr>
          <p:cNvSpPr>
            <a:spLocks noGrp="1"/>
          </p:cNvSpPr>
          <p:nvPr>
            <p:ph type="title"/>
          </p:nvPr>
        </p:nvSpPr>
        <p:spPr/>
        <p:txBody>
          <a:bodyPr/>
          <a:lstStyle/>
          <a:p>
            <a:r>
              <a:rPr lang="en-US" altLang="zh-CN" b="1" dirty="0"/>
              <a:t>DPO</a:t>
            </a:r>
            <a:endParaRPr lang="zh-CN" altLang="en-US" b="1" dirty="0"/>
          </a:p>
        </p:txBody>
      </p:sp>
      <p:sp>
        <p:nvSpPr>
          <p:cNvPr id="3" name="内容占位符 2">
            <a:extLst>
              <a:ext uri="{FF2B5EF4-FFF2-40B4-BE49-F238E27FC236}">
                <a16:creationId xmlns:a16="http://schemas.microsoft.com/office/drawing/2014/main" id="{89CBB3CC-1FC0-C456-B450-3847DF683B50}"/>
              </a:ext>
            </a:extLst>
          </p:cNvPr>
          <p:cNvSpPr>
            <a:spLocks noGrp="1"/>
          </p:cNvSpPr>
          <p:nvPr>
            <p:ph idx="1"/>
          </p:nvPr>
        </p:nvSpPr>
        <p:spPr/>
        <p:txBody>
          <a:bodyPr/>
          <a:lstStyle/>
          <a:p>
            <a:pPr marL="0" indent="0">
              <a:buNone/>
            </a:pPr>
            <a:r>
              <a:rPr lang="en-US" altLang="zh-CN" dirty="0"/>
              <a:t>Our goal is to optimize</a:t>
            </a:r>
          </a:p>
          <a:p>
            <a:pPr marL="0" indent="0">
              <a:buNone/>
            </a:pPr>
            <a:endParaRPr lang="en-US" altLang="zh-CN" dirty="0"/>
          </a:p>
          <a:p>
            <a:pPr marL="0" indent="0">
              <a:buNone/>
            </a:pPr>
            <a:r>
              <a:rPr lang="en-US" altLang="zh-CN" dirty="0"/>
              <a:t>Assume that the policy </a:t>
            </a:r>
            <a:r>
              <a:rPr lang="zh-CN" altLang="en-US" dirty="0"/>
              <a:t>𝜋 </a:t>
            </a:r>
            <a:r>
              <a:rPr lang="en-US" altLang="zh-CN" dirty="0"/>
              <a:t>is the set of all policies (nonparametric assumption). </a:t>
            </a:r>
          </a:p>
          <a:p>
            <a:pPr marL="0" indent="0">
              <a:buNone/>
            </a:pPr>
            <a:endParaRPr lang="en-US" altLang="zh-CN" dirty="0"/>
          </a:p>
          <a:p>
            <a:pPr marL="0" indent="0">
              <a:buNone/>
            </a:pPr>
            <a:r>
              <a:rPr lang="en-US" altLang="zh-CN" dirty="0"/>
              <a:t>The maximizer is then,</a:t>
            </a:r>
          </a:p>
          <a:p>
            <a:pPr marL="0" indent="0">
              <a:buNone/>
            </a:pPr>
            <a:endParaRPr lang="en-US" altLang="zh-CN" dirty="0"/>
          </a:p>
          <a:p>
            <a:pPr marL="0" indent="0">
              <a:buNone/>
            </a:pPr>
            <a:r>
              <a:rPr lang="en-US" altLang="zh-CN" dirty="0"/>
              <a:t>Solve for the ‘implied reward</a:t>
            </a:r>
          </a:p>
          <a:p>
            <a:pPr marL="0" indent="0">
              <a:buNone/>
            </a:pPr>
            <a:endParaRPr lang="zh-CN" altLang="en-US" dirty="0"/>
          </a:p>
        </p:txBody>
      </p:sp>
      <p:pic>
        <p:nvPicPr>
          <p:cNvPr id="5" name="图片 4">
            <a:extLst>
              <a:ext uri="{FF2B5EF4-FFF2-40B4-BE49-F238E27FC236}">
                <a16:creationId xmlns:a16="http://schemas.microsoft.com/office/drawing/2014/main" id="{66C1A01D-F5B8-8894-DF97-13E8C3B686CA}"/>
              </a:ext>
            </a:extLst>
          </p:cNvPr>
          <p:cNvPicPr>
            <a:picLocks noChangeAspect="1"/>
          </p:cNvPicPr>
          <p:nvPr/>
        </p:nvPicPr>
        <p:blipFill>
          <a:blip r:embed="rId3"/>
          <a:stretch>
            <a:fillRect/>
          </a:stretch>
        </p:blipFill>
        <p:spPr>
          <a:xfrm>
            <a:off x="4487088" y="1714874"/>
            <a:ext cx="6216770" cy="748149"/>
          </a:xfrm>
          <a:prstGeom prst="rect">
            <a:avLst/>
          </a:prstGeom>
        </p:spPr>
      </p:pic>
      <p:pic>
        <p:nvPicPr>
          <p:cNvPr id="7" name="图片 6">
            <a:extLst>
              <a:ext uri="{FF2B5EF4-FFF2-40B4-BE49-F238E27FC236}">
                <a16:creationId xmlns:a16="http://schemas.microsoft.com/office/drawing/2014/main" id="{E706D35B-0602-5553-B564-E42CA4C460B0}"/>
              </a:ext>
            </a:extLst>
          </p:cNvPr>
          <p:cNvPicPr>
            <a:picLocks noChangeAspect="1"/>
          </p:cNvPicPr>
          <p:nvPr/>
        </p:nvPicPr>
        <p:blipFill>
          <a:blip r:embed="rId4"/>
          <a:stretch>
            <a:fillRect/>
          </a:stretch>
        </p:blipFill>
        <p:spPr>
          <a:xfrm>
            <a:off x="4594665" y="4058661"/>
            <a:ext cx="4401164" cy="838317"/>
          </a:xfrm>
          <a:prstGeom prst="rect">
            <a:avLst/>
          </a:prstGeom>
        </p:spPr>
      </p:pic>
      <p:pic>
        <p:nvPicPr>
          <p:cNvPr id="9" name="图片 8">
            <a:extLst>
              <a:ext uri="{FF2B5EF4-FFF2-40B4-BE49-F238E27FC236}">
                <a16:creationId xmlns:a16="http://schemas.microsoft.com/office/drawing/2014/main" id="{A1C6F8B8-1192-9247-211B-9CEFE107298A}"/>
              </a:ext>
            </a:extLst>
          </p:cNvPr>
          <p:cNvPicPr>
            <a:picLocks noChangeAspect="1"/>
          </p:cNvPicPr>
          <p:nvPr/>
        </p:nvPicPr>
        <p:blipFill>
          <a:blip r:embed="rId5"/>
          <a:stretch>
            <a:fillRect/>
          </a:stretch>
        </p:blipFill>
        <p:spPr>
          <a:xfrm>
            <a:off x="5618760" y="5224834"/>
            <a:ext cx="3953427" cy="533474"/>
          </a:xfrm>
          <a:prstGeom prst="rect">
            <a:avLst/>
          </a:prstGeom>
        </p:spPr>
      </p:pic>
    </p:spTree>
    <p:extLst>
      <p:ext uri="{BB962C8B-B14F-4D97-AF65-F5344CB8AC3E}">
        <p14:creationId xmlns:p14="http://schemas.microsoft.com/office/powerpoint/2010/main" val="39753275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6E16B1-C736-F6FA-258A-EBB9D5F4772E}"/>
              </a:ext>
            </a:extLst>
          </p:cNvPr>
          <p:cNvSpPr>
            <a:spLocks noGrp="1"/>
          </p:cNvSpPr>
          <p:nvPr>
            <p:ph type="title"/>
          </p:nvPr>
        </p:nvSpPr>
        <p:spPr/>
        <p:txBody>
          <a:bodyPr/>
          <a:lstStyle/>
          <a:p>
            <a:r>
              <a:rPr lang="en-US" altLang="zh-CN" b="1" dirty="0"/>
              <a:t>DPO</a:t>
            </a:r>
            <a:endParaRPr lang="zh-CN" altLang="en-US" dirty="0"/>
          </a:p>
        </p:txBody>
      </p:sp>
      <p:sp>
        <p:nvSpPr>
          <p:cNvPr id="3" name="内容占位符 2">
            <a:extLst>
              <a:ext uri="{FF2B5EF4-FFF2-40B4-BE49-F238E27FC236}">
                <a16:creationId xmlns:a16="http://schemas.microsoft.com/office/drawing/2014/main" id="{1399AB4C-673B-9CCE-8201-2CF07F59A684}"/>
              </a:ext>
            </a:extLst>
          </p:cNvPr>
          <p:cNvSpPr>
            <a:spLocks noGrp="1"/>
          </p:cNvSpPr>
          <p:nvPr>
            <p:ph idx="1"/>
          </p:nvPr>
        </p:nvSpPr>
        <p:spPr/>
        <p:txBody>
          <a:bodyPr>
            <a:normAutofit fontScale="85000" lnSpcReduction="20000"/>
          </a:bodyPr>
          <a:lstStyle/>
          <a:p>
            <a:pPr marL="0" indent="0">
              <a:buNone/>
            </a:pPr>
            <a:r>
              <a:rPr lang="en-US" altLang="zh-CN" dirty="0"/>
              <a:t>We can now optimize the implied reward as a reward model via the </a:t>
            </a:r>
            <a:r>
              <a:rPr lang="en-US" altLang="zh-CN" dirty="0" err="1"/>
              <a:t>Stiennon</a:t>
            </a:r>
            <a:r>
              <a:rPr lang="en-US" altLang="zh-CN" dirty="0"/>
              <a:t> objective</a:t>
            </a:r>
          </a:p>
          <a:p>
            <a:pPr marL="0" indent="0">
              <a:buNone/>
            </a:pPr>
            <a:endParaRPr lang="en-US" altLang="zh-CN" dirty="0"/>
          </a:p>
          <a:p>
            <a:pPr marL="0" indent="0">
              <a:buNone/>
            </a:pPr>
            <a:endParaRPr lang="en-US" altLang="zh-CN" dirty="0"/>
          </a:p>
          <a:p>
            <a:pPr marL="0" indent="0">
              <a:buNone/>
            </a:pPr>
            <a:r>
              <a:rPr lang="en-US" altLang="zh-CN" dirty="0"/>
              <a:t>This gives the DPO objective,</a:t>
            </a:r>
          </a:p>
          <a:p>
            <a:pPr marL="0" indent="0">
              <a:buNone/>
            </a:pPr>
            <a:endParaRPr lang="en-US" altLang="zh-CN" dirty="0"/>
          </a:p>
          <a:p>
            <a:pPr marL="0" indent="0">
              <a:buNone/>
            </a:pPr>
            <a:endParaRPr lang="en-US" altLang="zh-CN" dirty="0"/>
          </a:p>
          <a:p>
            <a:pPr marL="0" indent="0">
              <a:buNone/>
            </a:pPr>
            <a:r>
              <a:rPr lang="en-US" altLang="zh-CN" dirty="0"/>
              <a:t>The key steps? </a:t>
            </a:r>
          </a:p>
          <a:p>
            <a:pPr marL="514350" indent="-514350">
              <a:buAutoNum type="arabicPeriod"/>
            </a:pPr>
            <a:r>
              <a:rPr lang="en-US" altLang="zh-CN" dirty="0"/>
              <a:t>Make a nonparametric assumption (links </a:t>
            </a:r>
            <a:r>
              <a:rPr lang="zh-CN" altLang="en-US" dirty="0"/>
              <a:t>𝜋𝜃 </a:t>
            </a:r>
            <a:r>
              <a:rPr lang="en-US" altLang="zh-CN" dirty="0"/>
              <a:t>and r in closed form) </a:t>
            </a:r>
          </a:p>
          <a:p>
            <a:pPr marL="514350" indent="-514350">
              <a:buAutoNum type="arabicPeriod"/>
            </a:pPr>
            <a:r>
              <a:rPr lang="en-US" altLang="zh-CN" dirty="0"/>
              <a:t>Parametrize reward r via the policy </a:t>
            </a:r>
          </a:p>
          <a:p>
            <a:pPr marL="514350" indent="-514350">
              <a:buAutoNum type="arabicPeriod"/>
            </a:pPr>
            <a:r>
              <a:rPr lang="en-US" altLang="zh-CN" dirty="0"/>
              <a:t>Optimize the reward using supervised losses (which in turn, optimizes the policy)</a:t>
            </a:r>
          </a:p>
          <a:p>
            <a:pPr marL="0" indent="0">
              <a:buNone/>
            </a:pPr>
            <a:endParaRPr lang="zh-CN" altLang="en-US" dirty="0"/>
          </a:p>
        </p:txBody>
      </p:sp>
      <p:pic>
        <p:nvPicPr>
          <p:cNvPr id="5" name="图片 4">
            <a:extLst>
              <a:ext uri="{FF2B5EF4-FFF2-40B4-BE49-F238E27FC236}">
                <a16:creationId xmlns:a16="http://schemas.microsoft.com/office/drawing/2014/main" id="{DE119380-26C1-FB05-9835-8F97FB94BF70}"/>
              </a:ext>
            </a:extLst>
          </p:cNvPr>
          <p:cNvPicPr>
            <a:picLocks noChangeAspect="1"/>
          </p:cNvPicPr>
          <p:nvPr/>
        </p:nvPicPr>
        <p:blipFill>
          <a:blip r:embed="rId3"/>
          <a:stretch>
            <a:fillRect/>
          </a:stretch>
        </p:blipFill>
        <p:spPr>
          <a:xfrm>
            <a:off x="746977" y="2611955"/>
            <a:ext cx="10698046" cy="495368"/>
          </a:xfrm>
          <a:prstGeom prst="rect">
            <a:avLst/>
          </a:prstGeom>
        </p:spPr>
      </p:pic>
      <p:pic>
        <p:nvPicPr>
          <p:cNvPr id="7" name="图片 6">
            <a:extLst>
              <a:ext uri="{FF2B5EF4-FFF2-40B4-BE49-F238E27FC236}">
                <a16:creationId xmlns:a16="http://schemas.microsoft.com/office/drawing/2014/main" id="{97FCCCC6-FEDD-9A57-BC48-322FBBD3F59C}"/>
              </a:ext>
            </a:extLst>
          </p:cNvPr>
          <p:cNvPicPr>
            <a:picLocks noChangeAspect="1"/>
          </p:cNvPicPr>
          <p:nvPr/>
        </p:nvPicPr>
        <p:blipFill>
          <a:blip r:embed="rId4"/>
          <a:stretch>
            <a:fillRect/>
          </a:stretch>
        </p:blipFill>
        <p:spPr>
          <a:xfrm>
            <a:off x="2116624" y="3569934"/>
            <a:ext cx="7958752" cy="647438"/>
          </a:xfrm>
          <a:prstGeom prst="rect">
            <a:avLst/>
          </a:prstGeom>
        </p:spPr>
      </p:pic>
    </p:spTree>
    <p:extLst>
      <p:ext uri="{BB962C8B-B14F-4D97-AF65-F5344CB8AC3E}">
        <p14:creationId xmlns:p14="http://schemas.microsoft.com/office/powerpoint/2010/main" val="31241759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A4C82D-B22B-61B5-7B23-05F43B209AC6}"/>
              </a:ext>
            </a:extLst>
          </p:cNvPr>
          <p:cNvSpPr>
            <a:spLocks noGrp="1"/>
          </p:cNvSpPr>
          <p:nvPr>
            <p:ph type="title"/>
          </p:nvPr>
        </p:nvSpPr>
        <p:spPr/>
        <p:txBody>
          <a:bodyPr/>
          <a:lstStyle/>
          <a:p>
            <a:r>
              <a:rPr lang="en-US" altLang="zh-CN" b="1" dirty="0"/>
              <a:t>DPO</a:t>
            </a:r>
            <a:endParaRPr lang="zh-CN" altLang="en-US" b="1" dirty="0"/>
          </a:p>
        </p:txBody>
      </p:sp>
      <p:sp>
        <p:nvSpPr>
          <p:cNvPr id="3" name="内容占位符 2">
            <a:extLst>
              <a:ext uri="{FF2B5EF4-FFF2-40B4-BE49-F238E27FC236}">
                <a16:creationId xmlns:a16="http://schemas.microsoft.com/office/drawing/2014/main" id="{BEB4398F-C414-AEC4-F51B-B17BC06A31A0}"/>
              </a:ext>
            </a:extLst>
          </p:cNvPr>
          <p:cNvSpPr>
            <a:spLocks noGrp="1"/>
          </p:cNvSpPr>
          <p:nvPr>
            <p:ph idx="1"/>
          </p:nvPr>
        </p:nvSpPr>
        <p:spPr/>
        <p:txBody>
          <a:bodyPr/>
          <a:lstStyle/>
          <a:p>
            <a:r>
              <a:rPr lang="en-US" altLang="zh-CN" dirty="0"/>
              <a:t>In some sense, reduces to “pos gradient on good, neg gradient on bad”</a:t>
            </a:r>
            <a:endParaRPr lang="zh-CN" altLang="en-US" dirty="0"/>
          </a:p>
        </p:txBody>
      </p:sp>
      <p:pic>
        <p:nvPicPr>
          <p:cNvPr id="5" name="图片 4">
            <a:extLst>
              <a:ext uri="{FF2B5EF4-FFF2-40B4-BE49-F238E27FC236}">
                <a16:creationId xmlns:a16="http://schemas.microsoft.com/office/drawing/2014/main" id="{EAB5125F-321A-B10C-9578-843D858ED3B5}"/>
              </a:ext>
            </a:extLst>
          </p:cNvPr>
          <p:cNvPicPr>
            <a:picLocks noChangeAspect="1"/>
          </p:cNvPicPr>
          <p:nvPr/>
        </p:nvPicPr>
        <p:blipFill>
          <a:blip r:embed="rId3"/>
          <a:stretch>
            <a:fillRect/>
          </a:stretch>
        </p:blipFill>
        <p:spPr>
          <a:xfrm>
            <a:off x="654600" y="2880350"/>
            <a:ext cx="10882800" cy="2241887"/>
          </a:xfrm>
          <a:prstGeom prst="rect">
            <a:avLst/>
          </a:prstGeom>
        </p:spPr>
      </p:pic>
    </p:spTree>
    <p:extLst>
      <p:ext uri="{BB962C8B-B14F-4D97-AF65-F5344CB8AC3E}">
        <p14:creationId xmlns:p14="http://schemas.microsoft.com/office/powerpoint/2010/main" val="34693567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F938C7-6CC9-B965-F649-94540C23EE07}"/>
              </a:ext>
            </a:extLst>
          </p:cNvPr>
          <p:cNvSpPr>
            <a:spLocks noGrp="1"/>
          </p:cNvSpPr>
          <p:nvPr>
            <p:ph type="title"/>
          </p:nvPr>
        </p:nvSpPr>
        <p:spPr/>
        <p:txBody>
          <a:bodyPr/>
          <a:lstStyle/>
          <a:p>
            <a:r>
              <a:rPr lang="en-US" altLang="zh-CN" b="1" dirty="0"/>
              <a:t>DPO</a:t>
            </a:r>
            <a:endParaRPr lang="zh-CN" altLang="en-US" dirty="0"/>
          </a:p>
        </p:txBody>
      </p:sp>
      <p:sp>
        <p:nvSpPr>
          <p:cNvPr id="3" name="内容占位符 2">
            <a:extLst>
              <a:ext uri="{FF2B5EF4-FFF2-40B4-BE49-F238E27FC236}">
                <a16:creationId xmlns:a16="http://schemas.microsoft.com/office/drawing/2014/main" id="{4F7CD683-3AC1-3633-22BE-AF5F2AC8A80C}"/>
              </a:ext>
            </a:extLst>
          </p:cNvPr>
          <p:cNvSpPr>
            <a:spLocks noGrp="1"/>
          </p:cNvSpPr>
          <p:nvPr>
            <p:ph idx="1"/>
          </p:nvPr>
        </p:nvSpPr>
        <p:spPr/>
        <p:txBody>
          <a:bodyPr/>
          <a:lstStyle/>
          <a:p>
            <a:pPr marL="0" indent="0">
              <a:buNone/>
            </a:pPr>
            <a:r>
              <a:rPr lang="en-US" altLang="zh-CN" dirty="0"/>
              <a:t>Compared to our previous PPO implementation? Same perf (on sim) with no pain! </a:t>
            </a:r>
            <a:endParaRPr lang="zh-CN" altLang="en-US" dirty="0"/>
          </a:p>
        </p:txBody>
      </p:sp>
      <p:pic>
        <p:nvPicPr>
          <p:cNvPr id="5" name="图片 4">
            <a:extLst>
              <a:ext uri="{FF2B5EF4-FFF2-40B4-BE49-F238E27FC236}">
                <a16:creationId xmlns:a16="http://schemas.microsoft.com/office/drawing/2014/main" id="{33FBB103-178B-B7C8-C45B-B226A6F91A49}"/>
              </a:ext>
            </a:extLst>
          </p:cNvPr>
          <p:cNvPicPr>
            <a:picLocks noChangeAspect="1"/>
          </p:cNvPicPr>
          <p:nvPr/>
        </p:nvPicPr>
        <p:blipFill>
          <a:blip r:embed="rId3"/>
          <a:stretch>
            <a:fillRect/>
          </a:stretch>
        </p:blipFill>
        <p:spPr>
          <a:xfrm>
            <a:off x="2659589" y="2640119"/>
            <a:ext cx="6872822" cy="3671781"/>
          </a:xfrm>
          <a:prstGeom prst="rect">
            <a:avLst/>
          </a:prstGeom>
        </p:spPr>
      </p:pic>
    </p:spTree>
    <p:extLst>
      <p:ext uri="{BB962C8B-B14F-4D97-AF65-F5344CB8AC3E}">
        <p14:creationId xmlns:p14="http://schemas.microsoft.com/office/powerpoint/2010/main" val="20148367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E574B5-C6AE-B237-5470-B0BB73CF67BE}"/>
              </a:ext>
            </a:extLst>
          </p:cNvPr>
          <p:cNvSpPr>
            <a:spLocks noGrp="1"/>
          </p:cNvSpPr>
          <p:nvPr>
            <p:ph type="title"/>
          </p:nvPr>
        </p:nvSpPr>
        <p:spPr/>
        <p:txBody>
          <a:bodyPr/>
          <a:lstStyle/>
          <a:p>
            <a:r>
              <a:rPr lang="en-US" altLang="zh-CN" b="1" dirty="0"/>
              <a:t>DPO</a:t>
            </a:r>
            <a:endParaRPr lang="zh-CN" altLang="en-US" dirty="0"/>
          </a:p>
        </p:txBody>
      </p:sp>
      <p:sp>
        <p:nvSpPr>
          <p:cNvPr id="3" name="内容占位符 2">
            <a:extLst>
              <a:ext uri="{FF2B5EF4-FFF2-40B4-BE49-F238E27FC236}">
                <a16:creationId xmlns:a16="http://schemas.microsoft.com/office/drawing/2014/main" id="{30440B05-41E6-FF88-F6D8-13F29187A295}"/>
              </a:ext>
            </a:extLst>
          </p:cNvPr>
          <p:cNvSpPr>
            <a:spLocks noGrp="1"/>
          </p:cNvSpPr>
          <p:nvPr>
            <p:ph idx="1"/>
          </p:nvPr>
        </p:nvSpPr>
        <p:spPr/>
        <p:txBody>
          <a:bodyPr/>
          <a:lstStyle/>
          <a:p>
            <a:pPr marL="0" indent="0">
              <a:buNone/>
            </a:pPr>
            <a:r>
              <a:rPr lang="en-US" altLang="zh-CN" dirty="0"/>
              <a:t>DPO works:</a:t>
            </a:r>
          </a:p>
          <a:p>
            <a:pPr marL="0" indent="0">
              <a:buNone/>
            </a:pPr>
            <a:r>
              <a:rPr lang="en-US" altLang="zh-CN" dirty="0"/>
              <a:t>Most ‘top open-source’ RLHF models are </a:t>
            </a:r>
            <a:r>
              <a:rPr lang="en-US" altLang="zh-CN" dirty="0" err="1"/>
              <a:t>DPO’d</a:t>
            </a:r>
            <a:r>
              <a:rPr lang="en-US" altLang="zh-CN" dirty="0"/>
              <a:t> </a:t>
            </a:r>
          </a:p>
          <a:p>
            <a:pPr marL="0" indent="0">
              <a:buNone/>
            </a:pPr>
            <a:endParaRPr lang="zh-CN" altLang="en-US" dirty="0"/>
          </a:p>
        </p:txBody>
      </p:sp>
      <p:pic>
        <p:nvPicPr>
          <p:cNvPr id="5" name="图片 4">
            <a:extLst>
              <a:ext uri="{FF2B5EF4-FFF2-40B4-BE49-F238E27FC236}">
                <a16:creationId xmlns:a16="http://schemas.microsoft.com/office/drawing/2014/main" id="{B8216FFE-ADF6-B486-54BF-42C96DB462B3}"/>
              </a:ext>
            </a:extLst>
          </p:cNvPr>
          <p:cNvPicPr>
            <a:picLocks noChangeAspect="1"/>
          </p:cNvPicPr>
          <p:nvPr/>
        </p:nvPicPr>
        <p:blipFill>
          <a:blip r:embed="rId3"/>
          <a:stretch>
            <a:fillRect/>
          </a:stretch>
        </p:blipFill>
        <p:spPr>
          <a:xfrm>
            <a:off x="1789616" y="2948543"/>
            <a:ext cx="9183905" cy="3228420"/>
          </a:xfrm>
          <a:prstGeom prst="rect">
            <a:avLst/>
          </a:prstGeom>
        </p:spPr>
      </p:pic>
    </p:spTree>
    <p:extLst>
      <p:ext uri="{BB962C8B-B14F-4D97-AF65-F5344CB8AC3E}">
        <p14:creationId xmlns:p14="http://schemas.microsoft.com/office/powerpoint/2010/main" val="30562470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F964BA-B592-6E33-93C0-20E249FFD076}"/>
              </a:ext>
            </a:extLst>
          </p:cNvPr>
          <p:cNvSpPr>
            <a:spLocks noGrp="1"/>
          </p:cNvSpPr>
          <p:nvPr>
            <p:ph type="title"/>
          </p:nvPr>
        </p:nvSpPr>
        <p:spPr/>
        <p:txBody>
          <a:bodyPr/>
          <a:lstStyle/>
          <a:p>
            <a:r>
              <a:rPr lang="en-US" altLang="zh-CN" b="1" dirty="0"/>
              <a:t>DPO Variants</a:t>
            </a:r>
            <a:endParaRPr lang="zh-CN" altLang="en-US" b="1" dirty="0"/>
          </a:p>
        </p:txBody>
      </p:sp>
      <p:sp>
        <p:nvSpPr>
          <p:cNvPr id="3" name="内容占位符 2">
            <a:extLst>
              <a:ext uri="{FF2B5EF4-FFF2-40B4-BE49-F238E27FC236}">
                <a16:creationId xmlns:a16="http://schemas.microsoft.com/office/drawing/2014/main" id="{9D169F70-54A9-701F-ED7E-EA8317014B00}"/>
              </a:ext>
            </a:extLst>
          </p:cNvPr>
          <p:cNvSpPr>
            <a:spLocks noGrp="1"/>
          </p:cNvSpPr>
          <p:nvPr>
            <p:ph idx="1"/>
          </p:nvPr>
        </p:nvSpPr>
        <p:spPr/>
        <p:txBody>
          <a:bodyPr/>
          <a:lstStyle/>
          <a:p>
            <a:pPr marL="0" indent="0">
              <a:buNone/>
            </a:pPr>
            <a:r>
              <a:rPr lang="en-US" altLang="zh-CN" dirty="0"/>
              <a:t>Lots of variants (too many variants)</a:t>
            </a:r>
          </a:p>
          <a:p>
            <a:pPr marL="0" indent="0">
              <a:buNone/>
            </a:pPr>
            <a:endParaRPr lang="en-US" altLang="zh-CN" dirty="0"/>
          </a:p>
          <a:p>
            <a:r>
              <a:rPr lang="en-US" altLang="zh-CN" dirty="0"/>
              <a:t>Length normalized DPO </a:t>
            </a:r>
          </a:p>
          <a:p>
            <a:endParaRPr lang="en-US" altLang="zh-CN" dirty="0"/>
          </a:p>
          <a:p>
            <a:endParaRPr lang="en-US" altLang="zh-CN" dirty="0"/>
          </a:p>
          <a:p>
            <a:pPr marL="0" indent="0">
              <a:buNone/>
            </a:pPr>
            <a:endParaRPr lang="en-US" altLang="zh-CN" dirty="0"/>
          </a:p>
          <a:p>
            <a:r>
              <a:rPr lang="en-US" altLang="zh-CN" dirty="0" err="1"/>
              <a:t>SimPO</a:t>
            </a:r>
            <a:r>
              <a:rPr lang="en-US" altLang="zh-CN" dirty="0"/>
              <a:t> (no ref)</a:t>
            </a:r>
            <a:endParaRPr lang="zh-CN" altLang="en-US" dirty="0"/>
          </a:p>
          <a:p>
            <a:endParaRPr lang="en-US" altLang="zh-CN" dirty="0"/>
          </a:p>
          <a:p>
            <a:endParaRPr lang="en-US" altLang="zh-CN" dirty="0"/>
          </a:p>
          <a:p>
            <a:endParaRPr lang="en-US" altLang="zh-CN" dirty="0"/>
          </a:p>
          <a:p>
            <a:endParaRPr lang="en-US" altLang="zh-CN" dirty="0"/>
          </a:p>
          <a:p>
            <a:pPr marL="0" indent="0">
              <a:buNone/>
            </a:pPr>
            <a:endParaRPr lang="en-US" altLang="zh-CN" dirty="0"/>
          </a:p>
          <a:p>
            <a:pPr marL="0" indent="0">
              <a:buNone/>
            </a:pPr>
            <a:endParaRPr lang="en-US" altLang="zh-CN" dirty="0"/>
          </a:p>
        </p:txBody>
      </p:sp>
      <p:pic>
        <p:nvPicPr>
          <p:cNvPr id="5" name="图片 4">
            <a:extLst>
              <a:ext uri="{FF2B5EF4-FFF2-40B4-BE49-F238E27FC236}">
                <a16:creationId xmlns:a16="http://schemas.microsoft.com/office/drawing/2014/main" id="{E9949888-3234-CAA2-2B2D-59B08FB98A68}"/>
              </a:ext>
            </a:extLst>
          </p:cNvPr>
          <p:cNvPicPr>
            <a:picLocks noChangeAspect="1"/>
          </p:cNvPicPr>
          <p:nvPr/>
        </p:nvPicPr>
        <p:blipFill>
          <a:blip r:embed="rId3"/>
          <a:stretch>
            <a:fillRect/>
          </a:stretch>
        </p:blipFill>
        <p:spPr>
          <a:xfrm>
            <a:off x="3530407" y="3657601"/>
            <a:ext cx="5296442" cy="2601053"/>
          </a:xfrm>
          <a:prstGeom prst="rect">
            <a:avLst/>
          </a:prstGeom>
        </p:spPr>
      </p:pic>
      <p:pic>
        <p:nvPicPr>
          <p:cNvPr id="7" name="图片 6">
            <a:extLst>
              <a:ext uri="{FF2B5EF4-FFF2-40B4-BE49-F238E27FC236}">
                <a16:creationId xmlns:a16="http://schemas.microsoft.com/office/drawing/2014/main" id="{76EB3E5A-D5D1-48FF-1C1D-611D2C72D276}"/>
              </a:ext>
            </a:extLst>
          </p:cNvPr>
          <p:cNvPicPr>
            <a:picLocks noChangeAspect="1"/>
          </p:cNvPicPr>
          <p:nvPr/>
        </p:nvPicPr>
        <p:blipFill>
          <a:blip r:embed="rId4"/>
          <a:stretch>
            <a:fillRect/>
          </a:stretch>
        </p:blipFill>
        <p:spPr>
          <a:xfrm>
            <a:off x="5049314" y="2580921"/>
            <a:ext cx="5311060" cy="778584"/>
          </a:xfrm>
          <a:prstGeom prst="rect">
            <a:avLst/>
          </a:prstGeom>
        </p:spPr>
      </p:pic>
    </p:spTree>
    <p:extLst>
      <p:ext uri="{BB962C8B-B14F-4D97-AF65-F5344CB8AC3E}">
        <p14:creationId xmlns:p14="http://schemas.microsoft.com/office/powerpoint/2010/main" val="12636996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8E93D3-299A-562B-D15F-09532AE4A463}"/>
              </a:ext>
            </a:extLst>
          </p:cNvPr>
          <p:cNvSpPr>
            <a:spLocks noGrp="1"/>
          </p:cNvSpPr>
          <p:nvPr>
            <p:ph type="title"/>
          </p:nvPr>
        </p:nvSpPr>
        <p:spPr/>
        <p:txBody>
          <a:bodyPr/>
          <a:lstStyle/>
          <a:p>
            <a:r>
              <a:rPr lang="en-US" altLang="zh-CN" b="1" dirty="0"/>
              <a:t>Things to watch out for in RLHF</a:t>
            </a:r>
            <a:endParaRPr lang="zh-CN" altLang="en-US" b="1" dirty="0"/>
          </a:p>
        </p:txBody>
      </p:sp>
      <p:sp>
        <p:nvSpPr>
          <p:cNvPr id="3" name="内容占位符 2">
            <a:extLst>
              <a:ext uri="{FF2B5EF4-FFF2-40B4-BE49-F238E27FC236}">
                <a16:creationId xmlns:a16="http://schemas.microsoft.com/office/drawing/2014/main" id="{62604F35-7A36-B9DC-1244-8238C91A6995}"/>
              </a:ext>
            </a:extLst>
          </p:cNvPr>
          <p:cNvSpPr>
            <a:spLocks noGrp="1"/>
          </p:cNvSpPr>
          <p:nvPr>
            <p:ph idx="1"/>
          </p:nvPr>
        </p:nvSpPr>
        <p:spPr>
          <a:xfrm>
            <a:off x="838200" y="1825625"/>
            <a:ext cx="5257800" cy="4162799"/>
          </a:xfrm>
        </p:spPr>
        <p:txBody>
          <a:bodyPr/>
          <a:lstStyle/>
          <a:p>
            <a:pPr marL="0" indent="0">
              <a:buNone/>
            </a:pPr>
            <a:r>
              <a:rPr lang="en-US" altLang="zh-CN" dirty="0"/>
              <a:t>Overoptimization / overfitting on the reward </a:t>
            </a:r>
          </a:p>
          <a:p>
            <a:pPr marL="0" indent="0">
              <a:buNone/>
            </a:pPr>
            <a:endParaRPr lang="en-US" altLang="zh-CN" dirty="0"/>
          </a:p>
          <a:p>
            <a:pPr marL="0" indent="0">
              <a:buNone/>
            </a:pPr>
            <a:endParaRPr lang="en-US" altLang="zh-CN" dirty="0"/>
          </a:p>
          <a:p>
            <a:pPr marL="0" indent="0">
              <a:buNone/>
            </a:pPr>
            <a:endParaRPr lang="en-US" altLang="zh-CN" dirty="0"/>
          </a:p>
        </p:txBody>
      </p:sp>
      <p:pic>
        <p:nvPicPr>
          <p:cNvPr id="5" name="图片 4">
            <a:extLst>
              <a:ext uri="{FF2B5EF4-FFF2-40B4-BE49-F238E27FC236}">
                <a16:creationId xmlns:a16="http://schemas.microsoft.com/office/drawing/2014/main" id="{CAB009D0-A159-F79D-A1FF-43A74F3931DA}"/>
              </a:ext>
            </a:extLst>
          </p:cNvPr>
          <p:cNvPicPr>
            <a:picLocks noChangeAspect="1"/>
          </p:cNvPicPr>
          <p:nvPr/>
        </p:nvPicPr>
        <p:blipFill>
          <a:blip r:embed="rId3"/>
          <a:stretch>
            <a:fillRect/>
          </a:stretch>
        </p:blipFill>
        <p:spPr>
          <a:xfrm>
            <a:off x="1153289" y="2741626"/>
            <a:ext cx="4627621" cy="3246798"/>
          </a:xfrm>
          <a:prstGeom prst="rect">
            <a:avLst/>
          </a:prstGeom>
        </p:spPr>
      </p:pic>
      <p:sp>
        <p:nvSpPr>
          <p:cNvPr id="6" name="内容占位符 2">
            <a:extLst>
              <a:ext uri="{FF2B5EF4-FFF2-40B4-BE49-F238E27FC236}">
                <a16:creationId xmlns:a16="http://schemas.microsoft.com/office/drawing/2014/main" id="{5E40C5E7-5E6D-742C-583B-D295B97C6AE7}"/>
              </a:ext>
            </a:extLst>
          </p:cNvPr>
          <p:cNvSpPr txBox="1">
            <a:spLocks/>
          </p:cNvSpPr>
          <p:nvPr/>
        </p:nvSpPr>
        <p:spPr>
          <a:xfrm>
            <a:off x="6411089" y="1825625"/>
            <a:ext cx="5257800" cy="41627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dirty="0"/>
              <a:t>Mode collapse / entropy </a:t>
            </a:r>
          </a:p>
          <a:p>
            <a:pPr marL="0" indent="0">
              <a:buFont typeface="Arial" panose="020B0604020202020204" pitchFamily="34" charset="0"/>
              <a:buNone/>
            </a:pPr>
            <a:endParaRPr lang="en-US" altLang="zh-CN" dirty="0"/>
          </a:p>
          <a:p>
            <a:pPr marL="0" indent="0">
              <a:buFont typeface="Arial" panose="020B0604020202020204" pitchFamily="34" charset="0"/>
              <a:buNone/>
            </a:pPr>
            <a:endParaRPr lang="en-US" altLang="zh-CN" dirty="0"/>
          </a:p>
        </p:txBody>
      </p:sp>
      <p:pic>
        <p:nvPicPr>
          <p:cNvPr id="8" name="图片 7">
            <a:extLst>
              <a:ext uri="{FF2B5EF4-FFF2-40B4-BE49-F238E27FC236}">
                <a16:creationId xmlns:a16="http://schemas.microsoft.com/office/drawing/2014/main" id="{163FE442-BBE9-2A41-0713-7151EB669AB2}"/>
              </a:ext>
            </a:extLst>
          </p:cNvPr>
          <p:cNvPicPr>
            <a:picLocks noChangeAspect="1"/>
          </p:cNvPicPr>
          <p:nvPr/>
        </p:nvPicPr>
        <p:blipFill>
          <a:blip r:embed="rId4"/>
          <a:stretch>
            <a:fillRect/>
          </a:stretch>
        </p:blipFill>
        <p:spPr>
          <a:xfrm>
            <a:off x="7309202" y="2741626"/>
            <a:ext cx="3729509" cy="2959927"/>
          </a:xfrm>
          <a:prstGeom prst="rect">
            <a:avLst/>
          </a:prstGeom>
        </p:spPr>
      </p:pic>
    </p:spTree>
    <p:extLst>
      <p:ext uri="{BB962C8B-B14F-4D97-AF65-F5344CB8AC3E}">
        <p14:creationId xmlns:p14="http://schemas.microsoft.com/office/powerpoint/2010/main" val="35173774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11A55-EDA4-4A1F-DF09-601B371BDDD9}"/>
              </a:ext>
            </a:extLst>
          </p:cNvPr>
          <p:cNvSpPr>
            <a:spLocks noGrp="1"/>
          </p:cNvSpPr>
          <p:nvPr>
            <p:ph type="title"/>
          </p:nvPr>
        </p:nvSpPr>
        <p:spPr/>
        <p:txBody>
          <a:bodyPr/>
          <a:lstStyle/>
          <a:p>
            <a:r>
              <a:rPr lang="en-US" altLang="zh-CN" b="1" dirty="0"/>
              <a:t>Overoptimization</a:t>
            </a:r>
            <a:endParaRPr lang="zh-CN" altLang="en-US" b="1" dirty="0"/>
          </a:p>
        </p:txBody>
      </p:sp>
      <p:sp>
        <p:nvSpPr>
          <p:cNvPr id="3" name="内容占位符 2">
            <a:extLst>
              <a:ext uri="{FF2B5EF4-FFF2-40B4-BE49-F238E27FC236}">
                <a16:creationId xmlns:a16="http://schemas.microsoft.com/office/drawing/2014/main" id="{0AE183C8-72A9-9D0D-D4A2-14CD23E69991}"/>
              </a:ext>
            </a:extLst>
          </p:cNvPr>
          <p:cNvSpPr>
            <a:spLocks noGrp="1"/>
          </p:cNvSpPr>
          <p:nvPr>
            <p:ph idx="1"/>
          </p:nvPr>
        </p:nvSpPr>
        <p:spPr/>
        <p:txBody>
          <a:bodyPr/>
          <a:lstStyle/>
          <a:p>
            <a:pPr marL="0" indent="0">
              <a:buNone/>
            </a:pPr>
            <a:r>
              <a:rPr lang="en-US" altLang="zh-CN" dirty="0"/>
              <a:t>Across many different RLHF-style optimizers. Optimizing for reward overfits past a point</a:t>
            </a:r>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en-US" altLang="zh-CN" dirty="0"/>
              <a:t>Holds true for human </a:t>
            </a:r>
            <a:r>
              <a:rPr lang="en-US" altLang="zh-CN" dirty="0" err="1"/>
              <a:t>pref</a:t>
            </a:r>
            <a:r>
              <a:rPr lang="en-US" altLang="zh-CN" dirty="0"/>
              <a:t> (left), noisy LM </a:t>
            </a:r>
            <a:r>
              <a:rPr lang="en-US" altLang="zh-CN" dirty="0" err="1"/>
              <a:t>pref</a:t>
            </a:r>
            <a:r>
              <a:rPr lang="en-US" altLang="zh-CN" dirty="0"/>
              <a:t> (mid) but not noiseless LM </a:t>
            </a:r>
            <a:r>
              <a:rPr lang="en-US" altLang="zh-CN" dirty="0" err="1"/>
              <a:t>pref</a:t>
            </a:r>
            <a:r>
              <a:rPr lang="en-US" altLang="zh-CN" dirty="0"/>
              <a:t> (right) </a:t>
            </a:r>
          </a:p>
        </p:txBody>
      </p:sp>
      <p:pic>
        <p:nvPicPr>
          <p:cNvPr id="5" name="图片 4">
            <a:extLst>
              <a:ext uri="{FF2B5EF4-FFF2-40B4-BE49-F238E27FC236}">
                <a16:creationId xmlns:a16="http://schemas.microsoft.com/office/drawing/2014/main" id="{E797E84A-822C-D834-978D-9112067F15CA}"/>
              </a:ext>
            </a:extLst>
          </p:cNvPr>
          <p:cNvPicPr>
            <a:picLocks noChangeAspect="1"/>
          </p:cNvPicPr>
          <p:nvPr/>
        </p:nvPicPr>
        <p:blipFill>
          <a:blip r:embed="rId3"/>
          <a:stretch>
            <a:fillRect/>
          </a:stretch>
        </p:blipFill>
        <p:spPr>
          <a:xfrm>
            <a:off x="2117947" y="2706620"/>
            <a:ext cx="7525800" cy="2305372"/>
          </a:xfrm>
          <a:prstGeom prst="rect">
            <a:avLst/>
          </a:prstGeom>
        </p:spPr>
      </p:pic>
    </p:spTree>
    <p:extLst>
      <p:ext uri="{BB962C8B-B14F-4D97-AF65-F5344CB8AC3E}">
        <p14:creationId xmlns:p14="http://schemas.microsoft.com/office/powerpoint/2010/main" val="18398301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97E73A-30A6-4452-1AF3-61F80B880C32}"/>
              </a:ext>
            </a:extLst>
          </p:cNvPr>
          <p:cNvSpPr>
            <a:spLocks noGrp="1"/>
          </p:cNvSpPr>
          <p:nvPr>
            <p:ph type="title"/>
          </p:nvPr>
        </p:nvSpPr>
        <p:spPr/>
        <p:txBody>
          <a:bodyPr/>
          <a:lstStyle/>
          <a:p>
            <a:r>
              <a:rPr lang="en-US" altLang="zh-CN" b="1" dirty="0"/>
              <a:t>Mode collapse</a:t>
            </a:r>
            <a:endParaRPr lang="zh-CN" altLang="en-US" b="1" dirty="0"/>
          </a:p>
        </p:txBody>
      </p:sp>
      <p:sp>
        <p:nvSpPr>
          <p:cNvPr id="3" name="内容占位符 2">
            <a:extLst>
              <a:ext uri="{FF2B5EF4-FFF2-40B4-BE49-F238E27FC236}">
                <a16:creationId xmlns:a16="http://schemas.microsoft.com/office/drawing/2014/main" id="{9DC4AA5A-7C28-F75D-32C7-EE7F1563631B}"/>
              </a:ext>
            </a:extLst>
          </p:cNvPr>
          <p:cNvSpPr>
            <a:spLocks noGrp="1"/>
          </p:cNvSpPr>
          <p:nvPr>
            <p:ph idx="1"/>
          </p:nvPr>
        </p:nvSpPr>
        <p:spPr/>
        <p:txBody>
          <a:bodyPr/>
          <a:lstStyle/>
          <a:p>
            <a:pPr marL="0" indent="0">
              <a:buNone/>
            </a:pPr>
            <a:r>
              <a:rPr lang="en-US" altLang="zh-CN" dirty="0"/>
              <a:t>RLHF makes models no longer ‘probabilistic models’ – no calibration by default </a:t>
            </a:r>
            <a:endParaRPr lang="zh-CN" altLang="en-US" dirty="0"/>
          </a:p>
        </p:txBody>
      </p:sp>
      <p:pic>
        <p:nvPicPr>
          <p:cNvPr id="5" name="图片 4">
            <a:extLst>
              <a:ext uri="{FF2B5EF4-FFF2-40B4-BE49-F238E27FC236}">
                <a16:creationId xmlns:a16="http://schemas.microsoft.com/office/drawing/2014/main" id="{F253CF25-AC3D-8831-E5B7-0B6D990822D3}"/>
              </a:ext>
            </a:extLst>
          </p:cNvPr>
          <p:cNvPicPr>
            <a:picLocks noChangeAspect="1"/>
          </p:cNvPicPr>
          <p:nvPr/>
        </p:nvPicPr>
        <p:blipFill>
          <a:blip r:embed="rId3"/>
          <a:stretch>
            <a:fillRect/>
          </a:stretch>
        </p:blipFill>
        <p:spPr>
          <a:xfrm>
            <a:off x="2442652" y="2672826"/>
            <a:ext cx="7306695" cy="3753374"/>
          </a:xfrm>
          <a:prstGeom prst="rect">
            <a:avLst/>
          </a:prstGeom>
        </p:spPr>
      </p:pic>
    </p:spTree>
    <p:extLst>
      <p:ext uri="{BB962C8B-B14F-4D97-AF65-F5344CB8AC3E}">
        <p14:creationId xmlns:p14="http://schemas.microsoft.com/office/powerpoint/2010/main" val="31577755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3353FD-66DB-95A0-C912-BE4AB332FE51}"/>
              </a:ext>
            </a:extLst>
          </p:cNvPr>
          <p:cNvSpPr>
            <a:spLocks noGrp="1"/>
          </p:cNvSpPr>
          <p:nvPr>
            <p:ph type="title"/>
          </p:nvPr>
        </p:nvSpPr>
        <p:spPr/>
        <p:txBody>
          <a:bodyPr/>
          <a:lstStyle/>
          <a:p>
            <a:r>
              <a:rPr lang="en-US" altLang="zh-CN" b="1" dirty="0"/>
              <a:t>Recap</a:t>
            </a:r>
            <a:endParaRPr lang="zh-CN" altLang="en-US" dirty="0"/>
          </a:p>
        </p:txBody>
      </p:sp>
      <p:sp>
        <p:nvSpPr>
          <p:cNvPr id="3" name="内容占位符 2">
            <a:extLst>
              <a:ext uri="{FF2B5EF4-FFF2-40B4-BE49-F238E27FC236}">
                <a16:creationId xmlns:a16="http://schemas.microsoft.com/office/drawing/2014/main" id="{A8C2D53D-3764-B114-B92E-4B23BEBBE66C}"/>
              </a:ext>
            </a:extLst>
          </p:cNvPr>
          <p:cNvSpPr>
            <a:spLocks noGrp="1"/>
          </p:cNvSpPr>
          <p:nvPr>
            <p:ph idx="1"/>
          </p:nvPr>
        </p:nvSpPr>
        <p:spPr/>
        <p:txBody>
          <a:bodyPr/>
          <a:lstStyle/>
          <a:p>
            <a:pPr marL="0" indent="0">
              <a:buNone/>
            </a:pPr>
            <a:r>
              <a:rPr lang="en-US" altLang="zh-CN" dirty="0"/>
              <a:t>RLHF</a:t>
            </a:r>
            <a:r>
              <a:rPr lang="zh-CN" altLang="en-US" dirty="0"/>
              <a:t>：</a:t>
            </a:r>
            <a:endParaRPr lang="en-US" altLang="zh-CN" dirty="0"/>
          </a:p>
          <a:p>
            <a:pPr marL="514350" indent="-514350">
              <a:buAutoNum type="arabicPeriod"/>
            </a:pPr>
            <a:r>
              <a:rPr lang="en-US" altLang="zh-CN" dirty="0"/>
              <a:t>RLHF data collection is (also) hard! Many confounding factors</a:t>
            </a:r>
          </a:p>
          <a:p>
            <a:pPr marL="514350" indent="-514350">
              <a:buAutoNum type="arabicPeriod"/>
            </a:pPr>
            <a:r>
              <a:rPr lang="en-US" altLang="zh-CN" dirty="0"/>
              <a:t>RLHF algorithms are a bit more complex than SFT – esp. PPO</a:t>
            </a:r>
          </a:p>
          <a:p>
            <a:pPr marL="514350" indent="-514350">
              <a:buAutoNum type="arabicPeriod"/>
            </a:pPr>
            <a:r>
              <a:rPr lang="en-US" altLang="zh-CN" dirty="0"/>
              <a:t>Be mindful of the impact of (over) optimizing for rewards</a:t>
            </a:r>
            <a:endParaRPr lang="zh-CN" altLang="en-US" dirty="0"/>
          </a:p>
        </p:txBody>
      </p:sp>
    </p:spTree>
    <p:extLst>
      <p:ext uri="{BB962C8B-B14F-4D97-AF65-F5344CB8AC3E}">
        <p14:creationId xmlns:p14="http://schemas.microsoft.com/office/powerpoint/2010/main" val="4047769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19DD3-DBA6-ECE1-28DB-50CB7F7F960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EBA7B97-5605-B3FE-0A20-9A8480182E7C}"/>
              </a:ext>
            </a:extLst>
          </p:cNvPr>
          <p:cNvSpPr>
            <a:spLocks noGrp="1"/>
          </p:cNvSpPr>
          <p:nvPr>
            <p:ph type="title"/>
          </p:nvPr>
        </p:nvSpPr>
        <p:spPr>
          <a:xfrm>
            <a:off x="838200" y="365125"/>
            <a:ext cx="10515600" cy="5811838"/>
          </a:xfrm>
        </p:spPr>
        <p:txBody>
          <a:bodyPr/>
          <a:lstStyle/>
          <a:p>
            <a:pPr algn="ctr"/>
            <a:r>
              <a:rPr lang="en-US" altLang="zh-CN" b="1" dirty="0"/>
              <a:t>Lesson 16</a:t>
            </a:r>
            <a:r>
              <a:rPr lang="zh-CN" altLang="en-US" b="1" dirty="0"/>
              <a:t>：</a:t>
            </a:r>
            <a:r>
              <a:rPr lang="en-US" altLang="zh-CN" b="1" dirty="0"/>
              <a:t>Core algorithms, Case studies</a:t>
            </a:r>
            <a:endParaRPr lang="zh-CN" altLang="en-US" b="1" dirty="0"/>
          </a:p>
        </p:txBody>
      </p:sp>
    </p:spTree>
    <p:extLst>
      <p:ext uri="{BB962C8B-B14F-4D97-AF65-F5344CB8AC3E}">
        <p14:creationId xmlns:p14="http://schemas.microsoft.com/office/powerpoint/2010/main" val="15637465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C9097D-8746-5A74-9D41-F8C4EC371C6C}"/>
              </a:ext>
            </a:extLst>
          </p:cNvPr>
          <p:cNvSpPr>
            <a:spLocks noGrp="1"/>
          </p:cNvSpPr>
          <p:nvPr>
            <p:ph type="title"/>
          </p:nvPr>
        </p:nvSpPr>
        <p:spPr/>
        <p:txBody>
          <a:bodyPr/>
          <a:lstStyle/>
          <a:p>
            <a:r>
              <a:rPr lang="en-US" altLang="zh-CN" b="1" dirty="0"/>
              <a:t>Review</a:t>
            </a:r>
            <a:endParaRPr lang="zh-CN" altLang="en-US" dirty="0"/>
          </a:p>
        </p:txBody>
      </p:sp>
      <p:sp>
        <p:nvSpPr>
          <p:cNvPr id="3" name="内容占位符 2">
            <a:extLst>
              <a:ext uri="{FF2B5EF4-FFF2-40B4-BE49-F238E27FC236}">
                <a16:creationId xmlns:a16="http://schemas.microsoft.com/office/drawing/2014/main" id="{FB281105-DA03-78E7-DCBB-305C0801C0E6}"/>
              </a:ext>
            </a:extLst>
          </p:cNvPr>
          <p:cNvSpPr>
            <a:spLocks noGrp="1"/>
          </p:cNvSpPr>
          <p:nvPr>
            <p:ph idx="1"/>
          </p:nvPr>
        </p:nvSpPr>
        <p:spPr/>
        <p:txBody>
          <a:bodyPr/>
          <a:lstStyle/>
          <a:p>
            <a:pPr marL="0" indent="0">
              <a:buNone/>
            </a:pPr>
            <a:r>
              <a:rPr lang="en-US" altLang="zh-CN" dirty="0"/>
              <a:t>Pre-training + RLHF gets you to ~ GPT3.5</a:t>
            </a:r>
          </a:p>
          <a:p>
            <a:pPr marL="0" indent="0">
              <a:buNone/>
            </a:pPr>
            <a:r>
              <a:rPr lang="en-US" altLang="zh-CN" dirty="0"/>
              <a:t>Today we’ll get all the way to o1/r1</a:t>
            </a:r>
            <a:endParaRPr lang="zh-CN" altLang="en-US" dirty="0"/>
          </a:p>
        </p:txBody>
      </p:sp>
      <p:pic>
        <p:nvPicPr>
          <p:cNvPr id="5" name="图片 4">
            <a:extLst>
              <a:ext uri="{FF2B5EF4-FFF2-40B4-BE49-F238E27FC236}">
                <a16:creationId xmlns:a16="http://schemas.microsoft.com/office/drawing/2014/main" id="{F5BCE682-9577-8C52-1A07-7AF454C6EB5E}"/>
              </a:ext>
            </a:extLst>
          </p:cNvPr>
          <p:cNvPicPr>
            <a:picLocks noChangeAspect="1"/>
          </p:cNvPicPr>
          <p:nvPr/>
        </p:nvPicPr>
        <p:blipFill>
          <a:blip r:embed="rId3"/>
          <a:stretch>
            <a:fillRect/>
          </a:stretch>
        </p:blipFill>
        <p:spPr>
          <a:xfrm>
            <a:off x="2574165" y="2988458"/>
            <a:ext cx="7043670" cy="3650162"/>
          </a:xfrm>
          <a:prstGeom prst="rect">
            <a:avLst/>
          </a:prstGeom>
        </p:spPr>
      </p:pic>
    </p:spTree>
    <p:extLst>
      <p:ext uri="{BB962C8B-B14F-4D97-AF65-F5344CB8AC3E}">
        <p14:creationId xmlns:p14="http://schemas.microsoft.com/office/powerpoint/2010/main" val="3358837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A488FA-203C-2FEA-4C2E-43100E43EF1A}"/>
              </a:ext>
            </a:extLst>
          </p:cNvPr>
          <p:cNvSpPr>
            <a:spLocks noGrp="1"/>
          </p:cNvSpPr>
          <p:nvPr>
            <p:ph type="title"/>
          </p:nvPr>
        </p:nvSpPr>
        <p:spPr/>
        <p:txBody>
          <a:bodyPr/>
          <a:lstStyle/>
          <a:p>
            <a:r>
              <a:rPr lang="en-US" altLang="zh-CN" b="1" dirty="0"/>
              <a:t>Goal</a:t>
            </a:r>
            <a:endParaRPr lang="zh-CN" altLang="en-US" b="1" dirty="0"/>
          </a:p>
        </p:txBody>
      </p:sp>
      <p:sp>
        <p:nvSpPr>
          <p:cNvPr id="3" name="内容占位符 2">
            <a:extLst>
              <a:ext uri="{FF2B5EF4-FFF2-40B4-BE49-F238E27FC236}">
                <a16:creationId xmlns:a16="http://schemas.microsoft.com/office/drawing/2014/main" id="{C25B15C6-47A5-99B7-7A48-596F31F773BF}"/>
              </a:ext>
            </a:extLst>
          </p:cNvPr>
          <p:cNvSpPr>
            <a:spLocks noGrp="1"/>
          </p:cNvSpPr>
          <p:nvPr>
            <p:ph idx="1"/>
          </p:nvPr>
        </p:nvSpPr>
        <p:spPr/>
        <p:txBody>
          <a:bodyPr/>
          <a:lstStyle/>
          <a:p>
            <a:r>
              <a:rPr lang="en-US" altLang="zh-CN" dirty="0"/>
              <a:t>With RLHF: we can’t cleanly scale out due to overoptimization</a:t>
            </a:r>
          </a:p>
          <a:p>
            <a:r>
              <a:rPr lang="en-US" altLang="zh-CN" dirty="0"/>
              <a:t>Can we work in domains where RL excels? Where we optimize exactly what we want </a:t>
            </a:r>
            <a:endParaRPr lang="zh-CN" altLang="en-US" dirty="0"/>
          </a:p>
        </p:txBody>
      </p:sp>
      <p:pic>
        <p:nvPicPr>
          <p:cNvPr id="5" name="图片 4">
            <a:extLst>
              <a:ext uri="{FF2B5EF4-FFF2-40B4-BE49-F238E27FC236}">
                <a16:creationId xmlns:a16="http://schemas.microsoft.com/office/drawing/2014/main" id="{97D9DB7F-966C-6EEC-A648-0440408630C1}"/>
              </a:ext>
            </a:extLst>
          </p:cNvPr>
          <p:cNvPicPr>
            <a:picLocks noChangeAspect="1"/>
          </p:cNvPicPr>
          <p:nvPr/>
        </p:nvPicPr>
        <p:blipFill>
          <a:blip r:embed="rId3"/>
          <a:stretch>
            <a:fillRect/>
          </a:stretch>
        </p:blipFill>
        <p:spPr>
          <a:xfrm>
            <a:off x="336449" y="3429000"/>
            <a:ext cx="6143449" cy="2513764"/>
          </a:xfrm>
          <a:prstGeom prst="rect">
            <a:avLst/>
          </a:prstGeom>
        </p:spPr>
      </p:pic>
      <p:pic>
        <p:nvPicPr>
          <p:cNvPr id="7" name="图片 6">
            <a:extLst>
              <a:ext uri="{FF2B5EF4-FFF2-40B4-BE49-F238E27FC236}">
                <a16:creationId xmlns:a16="http://schemas.microsoft.com/office/drawing/2014/main" id="{456A6228-9AA5-B443-F580-D82D228E2C69}"/>
              </a:ext>
            </a:extLst>
          </p:cNvPr>
          <p:cNvPicPr>
            <a:picLocks noChangeAspect="1"/>
          </p:cNvPicPr>
          <p:nvPr/>
        </p:nvPicPr>
        <p:blipFill>
          <a:blip r:embed="rId4"/>
          <a:stretch>
            <a:fillRect/>
          </a:stretch>
        </p:blipFill>
        <p:spPr>
          <a:xfrm>
            <a:off x="6479898" y="3926123"/>
            <a:ext cx="5184239" cy="1519518"/>
          </a:xfrm>
          <a:prstGeom prst="rect">
            <a:avLst/>
          </a:prstGeom>
        </p:spPr>
      </p:pic>
    </p:spTree>
    <p:extLst>
      <p:ext uri="{BB962C8B-B14F-4D97-AF65-F5344CB8AC3E}">
        <p14:creationId xmlns:p14="http://schemas.microsoft.com/office/powerpoint/2010/main" val="2204224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98E91E-797D-50F2-E215-1517A7244759}"/>
              </a:ext>
            </a:extLst>
          </p:cNvPr>
          <p:cNvSpPr>
            <a:spLocks noGrp="1"/>
          </p:cNvSpPr>
          <p:nvPr>
            <p:ph type="title"/>
          </p:nvPr>
        </p:nvSpPr>
        <p:spPr/>
        <p:txBody>
          <a:bodyPr/>
          <a:lstStyle/>
          <a:p>
            <a:r>
              <a:rPr lang="en-US" altLang="zh-CN" b="1" dirty="0"/>
              <a:t>Overview</a:t>
            </a:r>
            <a:endParaRPr lang="zh-CN" altLang="en-US" dirty="0"/>
          </a:p>
        </p:txBody>
      </p:sp>
      <p:sp>
        <p:nvSpPr>
          <p:cNvPr id="3" name="内容占位符 2">
            <a:extLst>
              <a:ext uri="{FF2B5EF4-FFF2-40B4-BE49-F238E27FC236}">
                <a16:creationId xmlns:a16="http://schemas.microsoft.com/office/drawing/2014/main" id="{D8CD03F4-FC1D-94CC-5B1F-45E8FADDAC77}"/>
              </a:ext>
            </a:extLst>
          </p:cNvPr>
          <p:cNvSpPr>
            <a:spLocks noGrp="1"/>
          </p:cNvSpPr>
          <p:nvPr>
            <p:ph idx="1"/>
          </p:nvPr>
        </p:nvSpPr>
        <p:spPr/>
        <p:txBody>
          <a:bodyPr/>
          <a:lstStyle/>
          <a:p>
            <a:r>
              <a:rPr lang="en-US" altLang="zh-CN" dirty="0"/>
              <a:t>1. Core algorithms</a:t>
            </a:r>
          </a:p>
          <a:p>
            <a:pPr marL="0" indent="0">
              <a:buNone/>
            </a:pPr>
            <a:r>
              <a:rPr lang="en-US" altLang="zh-CN" dirty="0"/>
              <a:t>PPO-&gt;GRPO</a:t>
            </a:r>
          </a:p>
          <a:p>
            <a:pPr marL="0" indent="0">
              <a:buNone/>
            </a:pPr>
            <a:r>
              <a:rPr lang="en-US" altLang="zh-CN" dirty="0"/>
              <a:t>GRPO variants </a:t>
            </a:r>
          </a:p>
          <a:p>
            <a:r>
              <a:rPr lang="en-US" altLang="zh-CN" dirty="0"/>
              <a:t>2. Case studies</a:t>
            </a:r>
          </a:p>
          <a:p>
            <a:pPr marL="0" indent="0">
              <a:buNone/>
            </a:pPr>
            <a:r>
              <a:rPr lang="en-US" altLang="zh-CN" dirty="0"/>
              <a:t>Deepseek-R1</a:t>
            </a:r>
          </a:p>
          <a:p>
            <a:pPr marL="0" indent="0">
              <a:buNone/>
            </a:pPr>
            <a:r>
              <a:rPr lang="en-US" altLang="zh-CN" dirty="0"/>
              <a:t>Kimi K1.5</a:t>
            </a:r>
          </a:p>
          <a:p>
            <a:pPr marL="0" indent="0">
              <a:buNone/>
            </a:pPr>
            <a:r>
              <a:rPr lang="en-US" altLang="zh-CN" dirty="0"/>
              <a:t>Qwen3</a:t>
            </a:r>
          </a:p>
        </p:txBody>
      </p:sp>
    </p:spTree>
    <p:extLst>
      <p:ext uri="{BB962C8B-B14F-4D97-AF65-F5344CB8AC3E}">
        <p14:creationId xmlns:p14="http://schemas.microsoft.com/office/powerpoint/2010/main" val="31082755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FE0C6-7E14-3044-B2C7-23C938CE46D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73ED578-1490-C43D-005F-3F295C7F840B}"/>
              </a:ext>
            </a:extLst>
          </p:cNvPr>
          <p:cNvSpPr>
            <a:spLocks noGrp="1"/>
          </p:cNvSpPr>
          <p:nvPr>
            <p:ph type="title"/>
          </p:nvPr>
        </p:nvSpPr>
        <p:spPr/>
        <p:txBody>
          <a:bodyPr/>
          <a:lstStyle/>
          <a:p>
            <a:r>
              <a:rPr lang="en-US" altLang="zh-CN" b="1" dirty="0"/>
              <a:t>Recap: PPO in theory</a:t>
            </a:r>
            <a:endParaRPr lang="zh-CN" altLang="en-US" b="1" dirty="0"/>
          </a:p>
        </p:txBody>
      </p:sp>
      <p:sp>
        <p:nvSpPr>
          <p:cNvPr id="3" name="内容占位符 2">
            <a:extLst>
              <a:ext uri="{FF2B5EF4-FFF2-40B4-BE49-F238E27FC236}">
                <a16:creationId xmlns:a16="http://schemas.microsoft.com/office/drawing/2014/main" id="{9190AB1B-32EF-1491-02C1-F9014BA17B60}"/>
              </a:ext>
            </a:extLst>
          </p:cNvPr>
          <p:cNvSpPr>
            <a:spLocks noGrp="1"/>
          </p:cNvSpPr>
          <p:nvPr>
            <p:ph idx="1"/>
          </p:nvPr>
        </p:nvSpPr>
        <p:spPr/>
        <p:txBody>
          <a:bodyPr/>
          <a:lstStyle/>
          <a:p>
            <a:pPr marL="0" indent="0">
              <a:buNone/>
            </a:pPr>
            <a:r>
              <a:rPr lang="en-US" altLang="zh-CN" dirty="0"/>
              <a:t>A brief (and high level) introduction to the various ideas in PPO.. </a:t>
            </a:r>
          </a:p>
          <a:p>
            <a:r>
              <a:rPr lang="en-US" altLang="zh-CN" dirty="0"/>
              <a:t>Attempt 1: Policy gradients (variances are too high)</a:t>
            </a:r>
          </a:p>
          <a:p>
            <a:pPr marL="0" indent="0">
              <a:buNone/>
            </a:pPr>
            <a:endParaRPr lang="en-US" altLang="zh-CN" dirty="0"/>
          </a:p>
          <a:p>
            <a:r>
              <a:rPr lang="en-US" altLang="zh-CN" dirty="0"/>
              <a:t>Attempt 2: TRPO (Linearize the problem around the current policy)</a:t>
            </a:r>
          </a:p>
          <a:p>
            <a:pPr marL="0" indent="0">
              <a:buNone/>
            </a:pPr>
            <a:endParaRPr lang="en-US" altLang="zh-CN" dirty="0"/>
          </a:p>
          <a:p>
            <a:pPr marL="0" indent="0">
              <a:buNone/>
            </a:pPr>
            <a:endParaRPr lang="en-US" altLang="zh-CN" dirty="0"/>
          </a:p>
          <a:p>
            <a:r>
              <a:rPr lang="en-US" altLang="zh-CN" dirty="0"/>
              <a:t>Attempt 3: PPO (Clip the ratios at some eps)</a:t>
            </a:r>
            <a:endParaRPr lang="zh-CN" altLang="en-US" dirty="0"/>
          </a:p>
        </p:txBody>
      </p:sp>
      <p:pic>
        <p:nvPicPr>
          <p:cNvPr id="5" name="图片 4">
            <a:extLst>
              <a:ext uri="{FF2B5EF4-FFF2-40B4-BE49-F238E27FC236}">
                <a16:creationId xmlns:a16="http://schemas.microsoft.com/office/drawing/2014/main" id="{CA7892B0-BEA4-82A1-C654-6BF170A4234B}"/>
              </a:ext>
            </a:extLst>
          </p:cNvPr>
          <p:cNvPicPr>
            <a:picLocks noChangeAspect="1"/>
          </p:cNvPicPr>
          <p:nvPr/>
        </p:nvPicPr>
        <p:blipFill>
          <a:blip r:embed="rId3"/>
          <a:stretch>
            <a:fillRect/>
          </a:stretch>
        </p:blipFill>
        <p:spPr>
          <a:xfrm>
            <a:off x="3614391" y="2822727"/>
            <a:ext cx="4963218" cy="495369"/>
          </a:xfrm>
          <a:prstGeom prst="rect">
            <a:avLst/>
          </a:prstGeom>
        </p:spPr>
      </p:pic>
      <p:pic>
        <p:nvPicPr>
          <p:cNvPr id="7" name="图片 6">
            <a:extLst>
              <a:ext uri="{FF2B5EF4-FFF2-40B4-BE49-F238E27FC236}">
                <a16:creationId xmlns:a16="http://schemas.microsoft.com/office/drawing/2014/main" id="{CA0531A5-2980-3C73-C460-B4676506DA60}"/>
              </a:ext>
            </a:extLst>
          </p:cNvPr>
          <p:cNvPicPr>
            <a:picLocks noChangeAspect="1"/>
          </p:cNvPicPr>
          <p:nvPr/>
        </p:nvPicPr>
        <p:blipFill>
          <a:blip r:embed="rId4"/>
          <a:stretch>
            <a:fillRect/>
          </a:stretch>
        </p:blipFill>
        <p:spPr>
          <a:xfrm>
            <a:off x="3824254" y="3785328"/>
            <a:ext cx="4270875" cy="1133785"/>
          </a:xfrm>
          <a:prstGeom prst="rect">
            <a:avLst/>
          </a:prstGeom>
        </p:spPr>
      </p:pic>
      <p:pic>
        <p:nvPicPr>
          <p:cNvPr id="9" name="图片 8">
            <a:extLst>
              <a:ext uri="{FF2B5EF4-FFF2-40B4-BE49-F238E27FC236}">
                <a16:creationId xmlns:a16="http://schemas.microsoft.com/office/drawing/2014/main" id="{6FD3B1AB-E3F3-8917-69C2-FF5812F94EE5}"/>
              </a:ext>
            </a:extLst>
          </p:cNvPr>
          <p:cNvPicPr>
            <a:picLocks noChangeAspect="1"/>
          </p:cNvPicPr>
          <p:nvPr/>
        </p:nvPicPr>
        <p:blipFill>
          <a:blip r:embed="rId5"/>
          <a:stretch>
            <a:fillRect/>
          </a:stretch>
        </p:blipFill>
        <p:spPr>
          <a:xfrm>
            <a:off x="1916998" y="5467472"/>
            <a:ext cx="8716591" cy="943107"/>
          </a:xfrm>
          <a:prstGeom prst="rect">
            <a:avLst/>
          </a:prstGeom>
        </p:spPr>
      </p:pic>
    </p:spTree>
    <p:extLst>
      <p:ext uri="{BB962C8B-B14F-4D97-AF65-F5344CB8AC3E}">
        <p14:creationId xmlns:p14="http://schemas.microsoft.com/office/powerpoint/2010/main" val="37099971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62053A-B78C-C4AE-05C8-18BCCCA01ACC}"/>
              </a:ext>
            </a:extLst>
          </p:cNvPr>
          <p:cNvSpPr>
            <a:spLocks noGrp="1"/>
          </p:cNvSpPr>
          <p:nvPr>
            <p:ph type="title"/>
          </p:nvPr>
        </p:nvSpPr>
        <p:spPr/>
        <p:txBody>
          <a:bodyPr/>
          <a:lstStyle/>
          <a:p>
            <a:r>
              <a:rPr lang="en-US" altLang="zh-CN" b="1" dirty="0"/>
              <a:t>What do you expect to see in PPO?</a:t>
            </a:r>
            <a:endParaRPr lang="zh-CN" altLang="en-US" b="1" dirty="0"/>
          </a:p>
        </p:txBody>
      </p:sp>
      <p:sp>
        <p:nvSpPr>
          <p:cNvPr id="3" name="内容占位符 2">
            <a:extLst>
              <a:ext uri="{FF2B5EF4-FFF2-40B4-BE49-F238E27FC236}">
                <a16:creationId xmlns:a16="http://schemas.microsoft.com/office/drawing/2014/main" id="{FFC6F5BE-35EE-C589-96C1-540CB275A0B4}"/>
              </a:ext>
            </a:extLst>
          </p:cNvPr>
          <p:cNvSpPr>
            <a:spLocks noGrp="1"/>
          </p:cNvSpPr>
          <p:nvPr>
            <p:ph idx="1"/>
          </p:nvPr>
        </p:nvSpPr>
        <p:spPr/>
        <p:txBody>
          <a:bodyPr/>
          <a:lstStyle/>
          <a:p>
            <a:r>
              <a:rPr lang="en-US" altLang="zh-CN" dirty="0"/>
              <a:t>This is a bandit setting, you expect reasonable training curves </a:t>
            </a:r>
          </a:p>
          <a:p>
            <a:pPr marL="0" indent="0">
              <a:buNone/>
            </a:pPr>
            <a:endParaRPr lang="en-US" altLang="zh-CN" dirty="0"/>
          </a:p>
          <a:p>
            <a:pPr marL="0" indent="0">
              <a:buNone/>
            </a:pPr>
            <a:endParaRPr lang="zh-CN" altLang="en-US" dirty="0"/>
          </a:p>
        </p:txBody>
      </p:sp>
      <p:pic>
        <p:nvPicPr>
          <p:cNvPr id="5" name="图片 4">
            <a:extLst>
              <a:ext uri="{FF2B5EF4-FFF2-40B4-BE49-F238E27FC236}">
                <a16:creationId xmlns:a16="http://schemas.microsoft.com/office/drawing/2014/main" id="{A09F9295-DF78-54F7-F1FD-2D55B5BABCE7}"/>
              </a:ext>
            </a:extLst>
          </p:cNvPr>
          <p:cNvPicPr>
            <a:picLocks noChangeAspect="1"/>
          </p:cNvPicPr>
          <p:nvPr/>
        </p:nvPicPr>
        <p:blipFill>
          <a:blip r:embed="rId3"/>
          <a:stretch>
            <a:fillRect/>
          </a:stretch>
        </p:blipFill>
        <p:spPr>
          <a:xfrm>
            <a:off x="1282519" y="2752165"/>
            <a:ext cx="9626961" cy="2713742"/>
          </a:xfrm>
          <a:prstGeom prst="rect">
            <a:avLst/>
          </a:prstGeom>
        </p:spPr>
      </p:pic>
    </p:spTree>
    <p:extLst>
      <p:ext uri="{BB962C8B-B14F-4D97-AF65-F5344CB8AC3E}">
        <p14:creationId xmlns:p14="http://schemas.microsoft.com/office/powerpoint/2010/main" val="6759240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AC033F-9830-001E-8FA8-670EB0FEF152}"/>
              </a:ext>
            </a:extLst>
          </p:cNvPr>
          <p:cNvSpPr>
            <a:spLocks noGrp="1"/>
          </p:cNvSpPr>
          <p:nvPr>
            <p:ph type="title"/>
          </p:nvPr>
        </p:nvSpPr>
        <p:spPr/>
        <p:txBody>
          <a:bodyPr/>
          <a:lstStyle/>
          <a:p>
            <a:r>
              <a:rPr lang="en-US" altLang="zh-CN" b="1" dirty="0"/>
              <a:t>Why do we need yet another RL algorithm?</a:t>
            </a:r>
            <a:endParaRPr lang="zh-CN" altLang="en-US" b="1" dirty="0"/>
          </a:p>
        </p:txBody>
      </p:sp>
      <p:sp>
        <p:nvSpPr>
          <p:cNvPr id="3" name="内容占位符 2">
            <a:extLst>
              <a:ext uri="{FF2B5EF4-FFF2-40B4-BE49-F238E27FC236}">
                <a16:creationId xmlns:a16="http://schemas.microsoft.com/office/drawing/2014/main" id="{1DD73CB5-1766-BA90-994A-9FC7A5F2A779}"/>
              </a:ext>
            </a:extLst>
          </p:cNvPr>
          <p:cNvSpPr>
            <a:spLocks noGrp="1"/>
          </p:cNvSpPr>
          <p:nvPr>
            <p:ph idx="1"/>
          </p:nvPr>
        </p:nvSpPr>
        <p:spPr/>
        <p:txBody>
          <a:bodyPr/>
          <a:lstStyle/>
          <a:p>
            <a:pPr marL="0" indent="0">
              <a:buNone/>
            </a:pPr>
            <a:r>
              <a:rPr lang="en-US" altLang="zh-CN" dirty="0"/>
              <a:t>Why not PPO?</a:t>
            </a:r>
          </a:p>
          <a:p>
            <a:r>
              <a:rPr lang="en-US" altLang="zh-CN" dirty="0"/>
              <a:t>In practice, complicated implementation</a:t>
            </a:r>
          </a:p>
          <a:p>
            <a:r>
              <a:rPr lang="en-US" altLang="zh-CN" dirty="0"/>
              <a:t>Value model (memory hungry, involves additional tuning for training)</a:t>
            </a:r>
          </a:p>
          <a:p>
            <a:pPr marL="0" indent="0">
              <a:buNone/>
            </a:pPr>
            <a:r>
              <a:rPr lang="en-US" altLang="zh-CN" dirty="0"/>
              <a:t>Why not DPO? </a:t>
            </a:r>
          </a:p>
          <a:p>
            <a:pPr marL="0" indent="0">
              <a:buNone/>
            </a:pPr>
            <a:r>
              <a:rPr lang="en-US" altLang="zh-CN" dirty="0"/>
              <a:t>• Data not inherently pairwise (or in the form of Bradley-terry comparisons)</a:t>
            </a:r>
          </a:p>
          <a:p>
            <a:pPr marL="0" indent="0">
              <a:buNone/>
            </a:pPr>
            <a:r>
              <a:rPr lang="en-US" altLang="zh-CN" dirty="0"/>
              <a:t>• Offline (though could be made online by iterating) </a:t>
            </a:r>
            <a:endParaRPr lang="zh-CN" altLang="en-US" dirty="0"/>
          </a:p>
        </p:txBody>
      </p:sp>
    </p:spTree>
    <p:extLst>
      <p:ext uri="{BB962C8B-B14F-4D97-AF65-F5344CB8AC3E}">
        <p14:creationId xmlns:p14="http://schemas.microsoft.com/office/powerpoint/2010/main" val="17866891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C97724-BD98-55C9-098E-85CFC29EB158}"/>
              </a:ext>
            </a:extLst>
          </p:cNvPr>
          <p:cNvSpPr>
            <a:spLocks noGrp="1"/>
          </p:cNvSpPr>
          <p:nvPr>
            <p:ph type="title"/>
          </p:nvPr>
        </p:nvSpPr>
        <p:spPr/>
        <p:txBody>
          <a:bodyPr/>
          <a:lstStyle/>
          <a:p>
            <a:r>
              <a:rPr lang="en-US" altLang="zh-CN" b="1" dirty="0"/>
              <a:t>GRPO</a:t>
            </a:r>
            <a:endParaRPr lang="zh-CN" altLang="en-US" b="1" dirty="0"/>
          </a:p>
        </p:txBody>
      </p:sp>
      <p:sp>
        <p:nvSpPr>
          <p:cNvPr id="3" name="内容占位符 2">
            <a:extLst>
              <a:ext uri="{FF2B5EF4-FFF2-40B4-BE49-F238E27FC236}">
                <a16:creationId xmlns:a16="http://schemas.microsoft.com/office/drawing/2014/main" id="{52C880BF-2D52-625A-4FDB-5D0C7F78005B}"/>
              </a:ext>
            </a:extLst>
          </p:cNvPr>
          <p:cNvSpPr>
            <a:spLocks noGrp="1"/>
          </p:cNvSpPr>
          <p:nvPr>
            <p:ph idx="1"/>
          </p:nvPr>
        </p:nvSpPr>
        <p:spPr/>
        <p:txBody>
          <a:bodyPr/>
          <a:lstStyle/>
          <a:p>
            <a:pPr marL="0" indent="0">
              <a:buNone/>
            </a:pPr>
            <a:r>
              <a:rPr lang="en-US" altLang="zh-CN" dirty="0"/>
              <a:t>What’s GRPO?</a:t>
            </a:r>
          </a:p>
          <a:p>
            <a:r>
              <a:rPr lang="en-US" altLang="zh-CN" dirty="0"/>
              <a:t>Start with PPO (many parts are similar)</a:t>
            </a:r>
          </a:p>
          <a:p>
            <a:r>
              <a:rPr lang="en-US" altLang="zh-CN" dirty="0"/>
              <a:t>Remove the value function / advantage computation</a:t>
            </a:r>
          </a:p>
          <a:p>
            <a:r>
              <a:rPr lang="en-US" altLang="zh-CN" dirty="0"/>
              <a:t>Calculate the advantage as “z-score within group”</a:t>
            </a:r>
          </a:p>
          <a:p>
            <a:pPr marL="0" indent="0">
              <a:buNone/>
            </a:pPr>
            <a:endParaRPr lang="en-US" altLang="zh-CN" dirty="0"/>
          </a:p>
          <a:p>
            <a:pPr marL="0" indent="0">
              <a:buNone/>
            </a:pPr>
            <a:r>
              <a:rPr lang="en-US" altLang="zh-CN" dirty="0"/>
              <a:t>In the online case (</a:t>
            </a:r>
            <a:r>
              <a:rPr lang="en-US" altLang="zh-CN" dirty="0" err="1"/>
              <a:t>rollout+immediate</a:t>
            </a:r>
            <a:r>
              <a:rPr lang="en-US" altLang="zh-CN" dirty="0"/>
              <a:t> update), this is just policy gradient with group normalized rewards </a:t>
            </a:r>
            <a:endParaRPr lang="zh-CN" altLang="en-US" dirty="0"/>
          </a:p>
        </p:txBody>
      </p:sp>
    </p:spTree>
    <p:extLst>
      <p:ext uri="{BB962C8B-B14F-4D97-AF65-F5344CB8AC3E}">
        <p14:creationId xmlns:p14="http://schemas.microsoft.com/office/powerpoint/2010/main" val="7565487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E84C66-C4BA-BB68-C5B5-EAD82C7CE794}"/>
              </a:ext>
            </a:extLst>
          </p:cNvPr>
          <p:cNvSpPr>
            <a:spLocks noGrp="1"/>
          </p:cNvSpPr>
          <p:nvPr>
            <p:ph type="title"/>
          </p:nvPr>
        </p:nvSpPr>
        <p:spPr/>
        <p:txBody>
          <a:bodyPr/>
          <a:lstStyle/>
          <a:p>
            <a:r>
              <a:rPr lang="en-US" altLang="zh-CN" b="1" dirty="0"/>
              <a:t>GRPO</a:t>
            </a:r>
            <a:r>
              <a:rPr lang="en-US" altLang="zh-CN" dirty="0"/>
              <a:t> </a:t>
            </a:r>
            <a:endParaRPr lang="zh-CN" altLang="en-US" dirty="0"/>
          </a:p>
        </p:txBody>
      </p:sp>
      <p:sp>
        <p:nvSpPr>
          <p:cNvPr id="3" name="内容占位符 2">
            <a:extLst>
              <a:ext uri="{FF2B5EF4-FFF2-40B4-BE49-F238E27FC236}">
                <a16:creationId xmlns:a16="http://schemas.microsoft.com/office/drawing/2014/main" id="{C646C372-BC03-EFAF-5E93-561EBC179F15}"/>
              </a:ext>
            </a:extLst>
          </p:cNvPr>
          <p:cNvSpPr>
            <a:spLocks noGrp="1"/>
          </p:cNvSpPr>
          <p:nvPr>
            <p:ph idx="1"/>
          </p:nvPr>
        </p:nvSpPr>
        <p:spPr/>
        <p:txBody>
          <a:bodyPr/>
          <a:lstStyle/>
          <a:p>
            <a:pPr marL="0" indent="0">
              <a:buNone/>
            </a:pPr>
            <a:r>
              <a:rPr lang="en-US" altLang="zh-CN" dirty="0"/>
              <a:t>GRPO is very simple (thanks to lack of value function..) You can (and people do) write tiny GRPO implementations </a:t>
            </a:r>
          </a:p>
          <a:p>
            <a:pPr marL="0" indent="0">
              <a:buNone/>
            </a:pPr>
            <a:r>
              <a:rPr lang="en-US" altLang="zh-CN" dirty="0"/>
              <a:t>• Compute reward for each rollout</a:t>
            </a:r>
          </a:p>
          <a:p>
            <a:pPr marL="0" indent="0">
              <a:buNone/>
            </a:pPr>
            <a:r>
              <a:rPr lang="en-US" altLang="zh-CN" dirty="0"/>
              <a:t>• Mean/Var normalization per group</a:t>
            </a:r>
          </a:p>
          <a:p>
            <a:pPr marL="0" indent="0">
              <a:buNone/>
            </a:pPr>
            <a:r>
              <a:rPr lang="en-US" altLang="zh-CN" dirty="0"/>
              <a:t>• Compute KL term</a:t>
            </a:r>
          </a:p>
          <a:p>
            <a:pPr marL="0" indent="0">
              <a:buNone/>
            </a:pPr>
            <a:r>
              <a:rPr lang="en-US" altLang="zh-CN" dirty="0"/>
              <a:t>• Gradient updates on the loss</a:t>
            </a:r>
            <a:endParaRPr lang="zh-CN" altLang="en-US" dirty="0"/>
          </a:p>
        </p:txBody>
      </p:sp>
    </p:spTree>
    <p:extLst>
      <p:ext uri="{BB962C8B-B14F-4D97-AF65-F5344CB8AC3E}">
        <p14:creationId xmlns:p14="http://schemas.microsoft.com/office/powerpoint/2010/main" val="10967052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29AE12-0867-541D-739B-83FAE6CFAD6A}"/>
              </a:ext>
            </a:extLst>
          </p:cNvPr>
          <p:cNvSpPr>
            <a:spLocks noGrp="1"/>
          </p:cNvSpPr>
          <p:nvPr>
            <p:ph type="title"/>
          </p:nvPr>
        </p:nvSpPr>
        <p:spPr/>
        <p:txBody>
          <a:bodyPr/>
          <a:lstStyle/>
          <a:p>
            <a:r>
              <a:rPr lang="en-US" altLang="zh-CN" b="1" dirty="0"/>
              <a:t>How well does it work?</a:t>
            </a:r>
            <a:endParaRPr lang="zh-CN" altLang="en-US" b="1" dirty="0"/>
          </a:p>
        </p:txBody>
      </p:sp>
      <p:sp>
        <p:nvSpPr>
          <p:cNvPr id="3" name="内容占位符 2">
            <a:extLst>
              <a:ext uri="{FF2B5EF4-FFF2-40B4-BE49-F238E27FC236}">
                <a16:creationId xmlns:a16="http://schemas.microsoft.com/office/drawing/2014/main" id="{7E0DC7D3-8D41-EF80-AE88-1EB316CC4E1A}"/>
              </a:ext>
            </a:extLst>
          </p:cNvPr>
          <p:cNvSpPr>
            <a:spLocks noGrp="1"/>
          </p:cNvSpPr>
          <p:nvPr>
            <p:ph idx="1"/>
          </p:nvPr>
        </p:nvSpPr>
        <p:spPr/>
        <p:txBody>
          <a:bodyPr/>
          <a:lstStyle/>
          <a:p>
            <a:r>
              <a:rPr lang="en-US" altLang="zh-CN" dirty="0"/>
              <a:t>Outperforms RFT (reinforcing correct answers), with some gains from process supervision</a:t>
            </a:r>
            <a:endParaRPr lang="zh-CN" altLang="en-US" dirty="0"/>
          </a:p>
        </p:txBody>
      </p:sp>
      <p:pic>
        <p:nvPicPr>
          <p:cNvPr id="7" name="图片 6">
            <a:extLst>
              <a:ext uri="{FF2B5EF4-FFF2-40B4-BE49-F238E27FC236}">
                <a16:creationId xmlns:a16="http://schemas.microsoft.com/office/drawing/2014/main" id="{B948261F-482A-4EF9-6FC4-6ECCCDD45092}"/>
              </a:ext>
            </a:extLst>
          </p:cNvPr>
          <p:cNvPicPr>
            <a:picLocks noChangeAspect="1"/>
          </p:cNvPicPr>
          <p:nvPr/>
        </p:nvPicPr>
        <p:blipFill>
          <a:blip r:embed="rId3"/>
          <a:stretch>
            <a:fillRect/>
          </a:stretch>
        </p:blipFill>
        <p:spPr>
          <a:xfrm>
            <a:off x="2452179" y="2775994"/>
            <a:ext cx="7287642" cy="3096057"/>
          </a:xfrm>
          <a:prstGeom prst="rect">
            <a:avLst/>
          </a:prstGeom>
        </p:spPr>
      </p:pic>
    </p:spTree>
    <p:extLst>
      <p:ext uri="{BB962C8B-B14F-4D97-AF65-F5344CB8AC3E}">
        <p14:creationId xmlns:p14="http://schemas.microsoft.com/office/powerpoint/2010/main" val="32094728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9D78C9-595D-A511-E76A-1D95F049BCBB}"/>
              </a:ext>
            </a:extLst>
          </p:cNvPr>
          <p:cNvSpPr>
            <a:spLocks noGrp="1"/>
          </p:cNvSpPr>
          <p:nvPr>
            <p:ph type="title"/>
          </p:nvPr>
        </p:nvSpPr>
        <p:spPr/>
        <p:txBody>
          <a:bodyPr/>
          <a:lstStyle/>
          <a:p>
            <a:r>
              <a:rPr lang="en-US" altLang="zh-CN" b="1" dirty="0"/>
              <a:t>Case studies</a:t>
            </a:r>
            <a:endParaRPr lang="zh-CN" altLang="en-US" b="1" dirty="0"/>
          </a:p>
        </p:txBody>
      </p:sp>
      <p:sp>
        <p:nvSpPr>
          <p:cNvPr id="3" name="内容占位符 2">
            <a:extLst>
              <a:ext uri="{FF2B5EF4-FFF2-40B4-BE49-F238E27FC236}">
                <a16:creationId xmlns:a16="http://schemas.microsoft.com/office/drawing/2014/main" id="{EAF9FDDF-EEDA-2EC9-A25D-CD99EDD8678F}"/>
              </a:ext>
            </a:extLst>
          </p:cNvPr>
          <p:cNvSpPr>
            <a:spLocks noGrp="1"/>
          </p:cNvSpPr>
          <p:nvPr>
            <p:ph idx="1"/>
          </p:nvPr>
        </p:nvSpPr>
        <p:spPr/>
        <p:txBody>
          <a:bodyPr/>
          <a:lstStyle/>
          <a:p>
            <a:pPr marL="0" indent="0">
              <a:buNone/>
            </a:pPr>
            <a:r>
              <a:rPr lang="en-US" altLang="zh-CN" dirty="0"/>
              <a:t>Let’s look at a few representative open models with RLVR</a:t>
            </a:r>
            <a:r>
              <a:rPr lang="zh-CN" altLang="en-US" b="1" dirty="0"/>
              <a:t> </a:t>
            </a:r>
            <a:r>
              <a:rPr lang="en-US" altLang="zh-CN" b="1" dirty="0"/>
              <a:t>(Verifiable Rule Feedback)</a:t>
            </a:r>
            <a:endParaRPr lang="en-US" altLang="zh-CN" dirty="0"/>
          </a:p>
          <a:p>
            <a:r>
              <a:rPr lang="en-US" altLang="zh-CN" dirty="0"/>
              <a:t>Deepseek-R1:</a:t>
            </a:r>
          </a:p>
          <a:p>
            <a:pPr marL="0" indent="0">
              <a:buNone/>
            </a:pPr>
            <a:r>
              <a:rPr lang="en-US" altLang="zh-CN" dirty="0"/>
              <a:t>Central to many recent RLVR efforts; Lots of interesting details</a:t>
            </a:r>
          </a:p>
          <a:p>
            <a:r>
              <a:rPr lang="en-US" altLang="zh-CN" dirty="0"/>
              <a:t>Kimi K1.5:</a:t>
            </a:r>
          </a:p>
          <a:p>
            <a:pPr marL="0" indent="0">
              <a:buNone/>
            </a:pPr>
            <a:r>
              <a:rPr lang="en-US" altLang="zh-CN" dirty="0"/>
              <a:t>Contemporaneous to R1;RLVR Complementary details to R1</a:t>
            </a:r>
          </a:p>
          <a:p>
            <a:r>
              <a:rPr lang="en-US" altLang="zh-CN" dirty="0"/>
              <a:t>Qwen 3</a:t>
            </a:r>
          </a:p>
          <a:p>
            <a:pPr marL="0" indent="0">
              <a:buNone/>
            </a:pPr>
            <a:r>
              <a:rPr lang="en-US" altLang="zh-CN" dirty="0"/>
              <a:t>Most recent open reasoning model attempt; Low-data RLVR </a:t>
            </a:r>
          </a:p>
        </p:txBody>
      </p:sp>
    </p:spTree>
    <p:extLst>
      <p:ext uri="{BB962C8B-B14F-4D97-AF65-F5344CB8AC3E}">
        <p14:creationId xmlns:p14="http://schemas.microsoft.com/office/powerpoint/2010/main" val="23985159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FFD3C0-83BB-DDB7-C71F-6C654E19D434}"/>
              </a:ext>
            </a:extLst>
          </p:cNvPr>
          <p:cNvSpPr>
            <a:spLocks noGrp="1"/>
          </p:cNvSpPr>
          <p:nvPr>
            <p:ph type="title"/>
          </p:nvPr>
        </p:nvSpPr>
        <p:spPr/>
        <p:txBody>
          <a:bodyPr/>
          <a:lstStyle/>
          <a:p>
            <a:r>
              <a:rPr lang="en-US" altLang="zh-CN" b="1" dirty="0" err="1"/>
              <a:t>Deepseek</a:t>
            </a:r>
            <a:r>
              <a:rPr lang="en-US" altLang="zh-CN" b="1" dirty="0"/>
              <a:t> R1</a:t>
            </a:r>
            <a:endParaRPr lang="zh-CN" altLang="en-US" b="1" dirty="0"/>
          </a:p>
        </p:txBody>
      </p:sp>
      <p:sp>
        <p:nvSpPr>
          <p:cNvPr id="3" name="内容占位符 2">
            <a:extLst>
              <a:ext uri="{FF2B5EF4-FFF2-40B4-BE49-F238E27FC236}">
                <a16:creationId xmlns:a16="http://schemas.microsoft.com/office/drawing/2014/main" id="{A75BFC73-44B5-9ECE-7431-4E963CA713E7}"/>
              </a:ext>
            </a:extLst>
          </p:cNvPr>
          <p:cNvSpPr>
            <a:spLocks noGrp="1"/>
          </p:cNvSpPr>
          <p:nvPr>
            <p:ph idx="1"/>
          </p:nvPr>
        </p:nvSpPr>
        <p:spPr/>
        <p:txBody>
          <a:bodyPr>
            <a:normAutofit fontScale="92500" lnSpcReduction="20000"/>
          </a:bodyPr>
          <a:lstStyle/>
          <a:p>
            <a:r>
              <a:rPr lang="en-US" altLang="zh-CN" dirty="0"/>
              <a:t>The paper that launched a bit of a social phenomenon</a:t>
            </a:r>
          </a:p>
          <a:p>
            <a:endParaRPr lang="en-US" altLang="zh-CN" dirty="0"/>
          </a:p>
          <a:p>
            <a:endParaRPr lang="en-US" altLang="zh-CN" dirty="0"/>
          </a:p>
          <a:p>
            <a:endParaRPr lang="en-US" altLang="zh-CN" dirty="0"/>
          </a:p>
          <a:p>
            <a:endParaRPr lang="en-US" altLang="zh-CN" dirty="0"/>
          </a:p>
          <a:p>
            <a:pPr marL="0" indent="0">
              <a:buNone/>
            </a:pPr>
            <a:r>
              <a:rPr lang="en-US" altLang="zh-CN" dirty="0"/>
              <a:t>What’s remarkable about R1?</a:t>
            </a:r>
          </a:p>
          <a:p>
            <a:pPr marL="0" indent="0">
              <a:buNone/>
            </a:pPr>
            <a:r>
              <a:rPr lang="en-US" altLang="zh-CN" dirty="0"/>
              <a:t> • Performance exceeding OpenAI O1</a:t>
            </a:r>
          </a:p>
          <a:p>
            <a:pPr marL="0" indent="0">
              <a:buNone/>
            </a:pPr>
            <a:r>
              <a:rPr lang="en-US" altLang="zh-CN" dirty="0"/>
              <a:t> • Open RL recipe (that is also pretty simple)</a:t>
            </a:r>
          </a:p>
          <a:p>
            <a:pPr marL="0" indent="0">
              <a:buNone/>
            </a:pPr>
            <a:r>
              <a:rPr lang="en-US" altLang="zh-CN" dirty="0"/>
              <a:t> • Ended speculations on the necessity of MCTS/PRMs </a:t>
            </a:r>
          </a:p>
          <a:p>
            <a:pPr marL="0" indent="0">
              <a:buNone/>
            </a:pPr>
            <a:r>
              <a:rPr lang="en-US" altLang="zh-CN" dirty="0"/>
              <a:t> • SFT insights (both R1-zero and distil-r1) </a:t>
            </a:r>
          </a:p>
        </p:txBody>
      </p:sp>
      <p:pic>
        <p:nvPicPr>
          <p:cNvPr id="7" name="图片 6">
            <a:extLst>
              <a:ext uri="{FF2B5EF4-FFF2-40B4-BE49-F238E27FC236}">
                <a16:creationId xmlns:a16="http://schemas.microsoft.com/office/drawing/2014/main" id="{5442F8F5-D63A-1973-0310-A3C3FEF486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2094" y="2383029"/>
            <a:ext cx="5316070" cy="1199286"/>
          </a:xfrm>
          <a:prstGeom prst="rect">
            <a:avLst/>
          </a:prstGeom>
        </p:spPr>
      </p:pic>
    </p:spTree>
    <p:extLst>
      <p:ext uri="{BB962C8B-B14F-4D97-AF65-F5344CB8AC3E}">
        <p14:creationId xmlns:p14="http://schemas.microsoft.com/office/powerpoint/2010/main" val="34026038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9C2938-DF11-2942-DD67-318E48A60E96}"/>
              </a:ext>
            </a:extLst>
          </p:cNvPr>
          <p:cNvSpPr>
            <a:spLocks noGrp="1"/>
          </p:cNvSpPr>
          <p:nvPr>
            <p:ph type="title"/>
          </p:nvPr>
        </p:nvSpPr>
        <p:spPr/>
        <p:txBody>
          <a:bodyPr/>
          <a:lstStyle/>
          <a:p>
            <a:r>
              <a:rPr lang="en-US" altLang="zh-CN" b="1" dirty="0"/>
              <a:t>Algorithm - GRPO</a:t>
            </a:r>
            <a:endParaRPr lang="zh-CN" altLang="en-US" b="1" dirty="0"/>
          </a:p>
        </p:txBody>
      </p:sp>
      <p:sp>
        <p:nvSpPr>
          <p:cNvPr id="3" name="内容占位符 2">
            <a:extLst>
              <a:ext uri="{FF2B5EF4-FFF2-40B4-BE49-F238E27FC236}">
                <a16:creationId xmlns:a16="http://schemas.microsoft.com/office/drawing/2014/main" id="{5838269F-B807-DCC8-85B7-2F7CC3F8D7F6}"/>
              </a:ext>
            </a:extLst>
          </p:cNvPr>
          <p:cNvSpPr>
            <a:spLocks noGrp="1"/>
          </p:cNvSpPr>
          <p:nvPr>
            <p:ph idx="1"/>
          </p:nvPr>
        </p:nvSpPr>
        <p:spPr/>
        <p:txBody>
          <a:bodyPr/>
          <a:lstStyle/>
          <a:p>
            <a:r>
              <a:rPr lang="en-US" altLang="zh-CN" dirty="0"/>
              <a:t>They build on the results of GRPO from </a:t>
            </a:r>
            <a:r>
              <a:rPr lang="en-US" altLang="zh-CN" dirty="0" err="1"/>
              <a:t>DeepSeekMath</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But they do not use process supervision in R1</a:t>
            </a:r>
            <a:endParaRPr lang="zh-CN" altLang="en-US" dirty="0"/>
          </a:p>
        </p:txBody>
      </p:sp>
      <p:pic>
        <p:nvPicPr>
          <p:cNvPr id="5" name="图片 4">
            <a:extLst>
              <a:ext uri="{FF2B5EF4-FFF2-40B4-BE49-F238E27FC236}">
                <a16:creationId xmlns:a16="http://schemas.microsoft.com/office/drawing/2014/main" id="{E391D836-5A66-EF1C-18A7-735EB86294F3}"/>
              </a:ext>
            </a:extLst>
          </p:cNvPr>
          <p:cNvPicPr>
            <a:picLocks noChangeAspect="1"/>
          </p:cNvPicPr>
          <p:nvPr/>
        </p:nvPicPr>
        <p:blipFill>
          <a:blip r:embed="rId3"/>
          <a:stretch>
            <a:fillRect/>
          </a:stretch>
        </p:blipFill>
        <p:spPr>
          <a:xfrm>
            <a:off x="3324166" y="2350733"/>
            <a:ext cx="5999128" cy="2767839"/>
          </a:xfrm>
          <a:prstGeom prst="rect">
            <a:avLst/>
          </a:prstGeom>
        </p:spPr>
      </p:pic>
    </p:spTree>
    <p:extLst>
      <p:ext uri="{BB962C8B-B14F-4D97-AF65-F5344CB8AC3E}">
        <p14:creationId xmlns:p14="http://schemas.microsoft.com/office/powerpoint/2010/main" val="175451254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A9DFE4-9EDF-0DCD-E734-1514E425F2F9}"/>
              </a:ext>
            </a:extLst>
          </p:cNvPr>
          <p:cNvSpPr>
            <a:spLocks noGrp="1"/>
          </p:cNvSpPr>
          <p:nvPr>
            <p:ph type="title"/>
          </p:nvPr>
        </p:nvSpPr>
        <p:spPr/>
        <p:txBody>
          <a:bodyPr/>
          <a:lstStyle/>
          <a:p>
            <a:r>
              <a:rPr lang="en-US" altLang="zh-CN" b="1" dirty="0"/>
              <a:t>R1 zero</a:t>
            </a:r>
            <a:endParaRPr lang="zh-CN" altLang="en-US" b="1" dirty="0"/>
          </a:p>
        </p:txBody>
      </p:sp>
      <p:sp>
        <p:nvSpPr>
          <p:cNvPr id="3" name="内容占位符 2">
            <a:extLst>
              <a:ext uri="{FF2B5EF4-FFF2-40B4-BE49-F238E27FC236}">
                <a16:creationId xmlns:a16="http://schemas.microsoft.com/office/drawing/2014/main" id="{6F603B5B-9C9D-C390-33BA-576574571BE7}"/>
              </a:ext>
            </a:extLst>
          </p:cNvPr>
          <p:cNvSpPr>
            <a:spLocks noGrp="1"/>
          </p:cNvSpPr>
          <p:nvPr>
            <p:ph idx="1"/>
          </p:nvPr>
        </p:nvSpPr>
        <p:spPr/>
        <p:txBody>
          <a:bodyPr/>
          <a:lstStyle/>
          <a:p>
            <a:pPr marL="0" indent="0">
              <a:buNone/>
            </a:pPr>
            <a:r>
              <a:rPr lang="en-US" altLang="zh-CN" dirty="0"/>
              <a:t>Setup: </a:t>
            </a:r>
          </a:p>
          <a:p>
            <a:r>
              <a:rPr lang="en-US" altLang="zh-CN" dirty="0"/>
              <a:t>Rewards </a:t>
            </a:r>
          </a:p>
          <a:p>
            <a:pPr marL="0" indent="0">
              <a:buNone/>
            </a:pPr>
            <a:r>
              <a:rPr lang="en-US" altLang="zh-CN" dirty="0"/>
              <a:t>	Accuracy rewards (is it correct?)</a:t>
            </a:r>
          </a:p>
          <a:p>
            <a:pPr marL="0" indent="0">
              <a:buNone/>
            </a:pPr>
            <a:r>
              <a:rPr lang="en-US" altLang="zh-CN" dirty="0"/>
              <a:t>	Format rewards (use thinking tags) </a:t>
            </a:r>
          </a:p>
          <a:p>
            <a:r>
              <a:rPr lang="en-US" altLang="zh-CN" dirty="0"/>
              <a:t>Data (not public) </a:t>
            </a:r>
          </a:p>
          <a:p>
            <a:r>
              <a:rPr lang="en-US" altLang="zh-CN" dirty="0"/>
              <a:t>Base model: Deepseek-V3</a:t>
            </a:r>
          </a:p>
          <a:p>
            <a:pPr marL="0" indent="0">
              <a:buNone/>
            </a:pPr>
            <a:r>
              <a:rPr lang="en-US" altLang="zh-CN" dirty="0"/>
              <a:t>Results: a bit worse than </a:t>
            </a:r>
            <a:r>
              <a:rPr lang="en-US" altLang="zh-CN" dirty="0" err="1"/>
              <a:t>Openai</a:t>
            </a:r>
            <a:r>
              <a:rPr lang="en-US" altLang="zh-CN" dirty="0"/>
              <a:t> O1</a:t>
            </a:r>
          </a:p>
          <a:p>
            <a:pPr marL="0" indent="0">
              <a:buNone/>
            </a:pPr>
            <a:endParaRPr lang="zh-CN" altLang="en-US" dirty="0"/>
          </a:p>
        </p:txBody>
      </p:sp>
      <p:pic>
        <p:nvPicPr>
          <p:cNvPr id="5" name="图片 4">
            <a:extLst>
              <a:ext uri="{FF2B5EF4-FFF2-40B4-BE49-F238E27FC236}">
                <a16:creationId xmlns:a16="http://schemas.microsoft.com/office/drawing/2014/main" id="{D887A7C3-EF20-0881-1119-DE56FD1C4F56}"/>
              </a:ext>
            </a:extLst>
          </p:cNvPr>
          <p:cNvPicPr>
            <a:picLocks noChangeAspect="1"/>
          </p:cNvPicPr>
          <p:nvPr/>
        </p:nvPicPr>
        <p:blipFill>
          <a:blip r:embed="rId3"/>
          <a:stretch>
            <a:fillRect/>
          </a:stretch>
        </p:blipFill>
        <p:spPr>
          <a:xfrm>
            <a:off x="6580095" y="4574714"/>
            <a:ext cx="4433036" cy="1162697"/>
          </a:xfrm>
          <a:prstGeom prst="rect">
            <a:avLst/>
          </a:prstGeom>
        </p:spPr>
      </p:pic>
    </p:spTree>
    <p:extLst>
      <p:ext uri="{BB962C8B-B14F-4D97-AF65-F5344CB8AC3E}">
        <p14:creationId xmlns:p14="http://schemas.microsoft.com/office/powerpoint/2010/main" val="38508505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190507-72C3-8651-A3E6-BCD34430C58C}"/>
              </a:ext>
            </a:extLst>
          </p:cNvPr>
          <p:cNvSpPr>
            <a:spLocks noGrp="1"/>
          </p:cNvSpPr>
          <p:nvPr>
            <p:ph type="title"/>
          </p:nvPr>
        </p:nvSpPr>
        <p:spPr/>
        <p:txBody>
          <a:bodyPr/>
          <a:lstStyle/>
          <a:p>
            <a:r>
              <a:rPr lang="en-US" altLang="zh-CN" b="1" dirty="0"/>
              <a:t>Interesting phenomena</a:t>
            </a:r>
            <a:endParaRPr lang="zh-CN" altLang="en-US" b="1" dirty="0"/>
          </a:p>
        </p:txBody>
      </p:sp>
      <p:sp>
        <p:nvSpPr>
          <p:cNvPr id="3" name="内容占位符 2">
            <a:extLst>
              <a:ext uri="{FF2B5EF4-FFF2-40B4-BE49-F238E27FC236}">
                <a16:creationId xmlns:a16="http://schemas.microsoft.com/office/drawing/2014/main" id="{3C2034BE-5C67-6058-8085-AF516771F942}"/>
              </a:ext>
            </a:extLst>
          </p:cNvPr>
          <p:cNvSpPr>
            <a:spLocks noGrp="1"/>
          </p:cNvSpPr>
          <p:nvPr>
            <p:ph idx="1"/>
          </p:nvPr>
        </p:nvSpPr>
        <p:spPr/>
        <p:txBody>
          <a:bodyPr/>
          <a:lstStyle/>
          <a:p>
            <a:pPr marL="0" indent="0">
              <a:buNone/>
            </a:pPr>
            <a:r>
              <a:rPr lang="en-US" altLang="zh-CN" dirty="0"/>
              <a:t>Interesting phenomena</a:t>
            </a:r>
          </a:p>
          <a:p>
            <a:r>
              <a:rPr lang="en-US" altLang="zh-CN" dirty="0"/>
              <a:t>Longer </a:t>
            </a:r>
            <a:r>
              <a:rPr lang="en-US" altLang="zh-CN" dirty="0" err="1"/>
              <a:t>CoTs</a:t>
            </a:r>
            <a:r>
              <a:rPr lang="en-US" altLang="zh-CN" dirty="0"/>
              <a:t> during training</a:t>
            </a:r>
          </a:p>
          <a:p>
            <a:r>
              <a:rPr lang="en-US" altLang="zh-CN" dirty="0"/>
              <a:t>‘aha’ moment</a:t>
            </a:r>
          </a:p>
          <a:p>
            <a:pPr marL="0" indent="0">
              <a:buNone/>
            </a:pPr>
            <a:endParaRPr lang="en-US" altLang="zh-CN" dirty="0"/>
          </a:p>
          <a:p>
            <a:pPr marL="0" indent="0">
              <a:buNone/>
            </a:pPr>
            <a:r>
              <a:rPr lang="en-US" altLang="zh-CN" dirty="0"/>
              <a:t>But maybe a bit overstated</a:t>
            </a:r>
          </a:p>
          <a:p>
            <a:r>
              <a:rPr lang="en-US" altLang="zh-CN" dirty="0"/>
              <a:t>Length due to biased objective</a:t>
            </a:r>
          </a:p>
          <a:p>
            <a:r>
              <a:rPr lang="en-US" altLang="zh-CN" dirty="0"/>
              <a:t>Base model already has ‘aha’ </a:t>
            </a:r>
          </a:p>
        </p:txBody>
      </p:sp>
    </p:spTree>
    <p:extLst>
      <p:ext uri="{BB962C8B-B14F-4D97-AF65-F5344CB8AC3E}">
        <p14:creationId xmlns:p14="http://schemas.microsoft.com/office/powerpoint/2010/main" val="4337778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EE0B73-860B-4CC1-FD30-7DACE18715D8}"/>
              </a:ext>
            </a:extLst>
          </p:cNvPr>
          <p:cNvSpPr>
            <a:spLocks noGrp="1"/>
          </p:cNvSpPr>
          <p:nvPr>
            <p:ph type="title"/>
          </p:nvPr>
        </p:nvSpPr>
        <p:spPr/>
        <p:txBody>
          <a:bodyPr/>
          <a:lstStyle/>
          <a:p>
            <a:r>
              <a:rPr lang="en-US" altLang="zh-CN" b="1" dirty="0"/>
              <a:t>R1</a:t>
            </a:r>
            <a:endParaRPr lang="zh-CN" altLang="en-US" b="1" dirty="0"/>
          </a:p>
        </p:txBody>
      </p:sp>
      <p:sp>
        <p:nvSpPr>
          <p:cNvPr id="3" name="内容占位符 2">
            <a:extLst>
              <a:ext uri="{FF2B5EF4-FFF2-40B4-BE49-F238E27FC236}">
                <a16:creationId xmlns:a16="http://schemas.microsoft.com/office/drawing/2014/main" id="{28C43CA9-7F0E-CB9A-0F0B-FC3EA7BE8AF0}"/>
              </a:ext>
            </a:extLst>
          </p:cNvPr>
          <p:cNvSpPr>
            <a:spLocks noGrp="1"/>
          </p:cNvSpPr>
          <p:nvPr>
            <p:ph idx="1"/>
          </p:nvPr>
        </p:nvSpPr>
        <p:spPr/>
        <p:txBody>
          <a:bodyPr/>
          <a:lstStyle/>
          <a:p>
            <a:pPr marL="0" indent="0">
              <a:buNone/>
            </a:pPr>
            <a:r>
              <a:rPr lang="en-US" altLang="zh-CN" dirty="0"/>
              <a:t>R1 vs R1-zero Key differences:</a:t>
            </a:r>
          </a:p>
          <a:p>
            <a:r>
              <a:rPr lang="en-US" altLang="zh-CN" dirty="0"/>
              <a:t>SFT initialization</a:t>
            </a:r>
          </a:p>
          <a:p>
            <a:r>
              <a:rPr lang="en-US" altLang="zh-CN" dirty="0"/>
              <a:t>Language consistency reward for </a:t>
            </a:r>
            <a:r>
              <a:rPr lang="en-US" altLang="zh-CN" dirty="0" err="1"/>
              <a:t>CoT</a:t>
            </a:r>
            <a:endParaRPr lang="en-US" altLang="zh-CN" dirty="0"/>
          </a:p>
          <a:p>
            <a:r>
              <a:rPr lang="en-US" altLang="zh-CN" dirty="0"/>
              <a:t>Non-verifiable rewards (in stage 2)</a:t>
            </a:r>
          </a:p>
          <a:p>
            <a:pPr marL="0" indent="0">
              <a:buNone/>
            </a:pPr>
            <a:endParaRPr lang="zh-CN" altLang="en-US" dirty="0"/>
          </a:p>
        </p:txBody>
      </p:sp>
      <p:pic>
        <p:nvPicPr>
          <p:cNvPr id="5" name="图片 4">
            <a:extLst>
              <a:ext uri="{FF2B5EF4-FFF2-40B4-BE49-F238E27FC236}">
                <a16:creationId xmlns:a16="http://schemas.microsoft.com/office/drawing/2014/main" id="{C8B99171-9403-A961-2E80-252B0C75E2C8}"/>
              </a:ext>
            </a:extLst>
          </p:cNvPr>
          <p:cNvPicPr>
            <a:picLocks noChangeAspect="1"/>
          </p:cNvPicPr>
          <p:nvPr/>
        </p:nvPicPr>
        <p:blipFill>
          <a:blip r:embed="rId3"/>
          <a:stretch>
            <a:fillRect/>
          </a:stretch>
        </p:blipFill>
        <p:spPr>
          <a:xfrm>
            <a:off x="735106" y="4220930"/>
            <a:ext cx="10721788" cy="1422212"/>
          </a:xfrm>
          <a:prstGeom prst="rect">
            <a:avLst/>
          </a:prstGeom>
        </p:spPr>
      </p:pic>
    </p:spTree>
    <p:extLst>
      <p:ext uri="{BB962C8B-B14F-4D97-AF65-F5344CB8AC3E}">
        <p14:creationId xmlns:p14="http://schemas.microsoft.com/office/powerpoint/2010/main" val="21484701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2FF7AF-19BB-2929-99DE-28745C53F397}"/>
              </a:ext>
            </a:extLst>
          </p:cNvPr>
          <p:cNvSpPr>
            <a:spLocks noGrp="1"/>
          </p:cNvSpPr>
          <p:nvPr>
            <p:ph type="title"/>
          </p:nvPr>
        </p:nvSpPr>
        <p:spPr/>
        <p:txBody>
          <a:bodyPr/>
          <a:lstStyle/>
          <a:p>
            <a:r>
              <a:rPr lang="en-US" altLang="zh-CN" b="1" dirty="0"/>
              <a:t>R1 Process</a:t>
            </a:r>
            <a:endParaRPr lang="zh-CN" altLang="en-US" b="1" dirty="0"/>
          </a:p>
        </p:txBody>
      </p:sp>
      <p:sp>
        <p:nvSpPr>
          <p:cNvPr id="3" name="内容占位符 2">
            <a:extLst>
              <a:ext uri="{FF2B5EF4-FFF2-40B4-BE49-F238E27FC236}">
                <a16:creationId xmlns:a16="http://schemas.microsoft.com/office/drawing/2014/main" id="{5E4757EC-3E9C-EC99-19F6-956A6B45A3B0}"/>
              </a:ext>
            </a:extLst>
          </p:cNvPr>
          <p:cNvSpPr>
            <a:spLocks noGrp="1"/>
          </p:cNvSpPr>
          <p:nvPr>
            <p:ph idx="1"/>
          </p:nvPr>
        </p:nvSpPr>
        <p:spPr/>
        <p:txBody>
          <a:bodyPr>
            <a:normAutofit/>
          </a:bodyPr>
          <a:lstStyle/>
          <a:p>
            <a:r>
              <a:rPr lang="en-US" altLang="zh-CN" dirty="0"/>
              <a:t>SFT initialization</a:t>
            </a:r>
          </a:p>
          <a:p>
            <a:pPr marL="0" indent="0">
              <a:buNone/>
            </a:pPr>
            <a:r>
              <a:rPr lang="en-US" altLang="zh-CN" dirty="0"/>
              <a:t>Start with plain </a:t>
            </a:r>
            <a:r>
              <a:rPr lang="en-US" altLang="zh-CN" dirty="0" err="1"/>
              <a:t>ol</a:t>
            </a:r>
            <a:r>
              <a:rPr lang="en-US" altLang="zh-CN" dirty="0"/>
              <a:t> (long) </a:t>
            </a:r>
            <a:r>
              <a:rPr lang="en-US" altLang="zh-CN" dirty="0" err="1"/>
              <a:t>CoT</a:t>
            </a:r>
            <a:r>
              <a:rPr lang="en-US" altLang="zh-CN" dirty="0"/>
              <a:t>, then maybe additional verification</a:t>
            </a:r>
          </a:p>
          <a:p>
            <a:r>
              <a:rPr lang="en-US" altLang="zh-CN" dirty="0"/>
              <a:t>SFT for reasoning</a:t>
            </a:r>
          </a:p>
          <a:p>
            <a:pPr marL="0" indent="0">
              <a:buNone/>
            </a:pPr>
            <a:r>
              <a:rPr lang="en-US" altLang="zh-CN" dirty="0"/>
              <a:t>Even a small number of samples is effective for bootstrapping reasoning from LMs</a:t>
            </a:r>
          </a:p>
          <a:p>
            <a:r>
              <a:rPr lang="en-US" altLang="zh-CN" dirty="0"/>
              <a:t>RL step</a:t>
            </a:r>
          </a:p>
          <a:p>
            <a:pPr marL="0" indent="0">
              <a:buNone/>
            </a:pPr>
            <a:r>
              <a:rPr lang="en-US" altLang="zh-CN" dirty="0"/>
              <a:t>The RL part is basically the same. Minor difference: additional language consistency loss</a:t>
            </a:r>
          </a:p>
        </p:txBody>
      </p:sp>
    </p:spTree>
    <p:extLst>
      <p:ext uri="{BB962C8B-B14F-4D97-AF65-F5344CB8AC3E}">
        <p14:creationId xmlns:p14="http://schemas.microsoft.com/office/powerpoint/2010/main" val="11658220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F5B060-8CD3-708B-81A8-C602B9A2961B}"/>
              </a:ext>
            </a:extLst>
          </p:cNvPr>
          <p:cNvSpPr>
            <a:spLocks noGrp="1"/>
          </p:cNvSpPr>
          <p:nvPr>
            <p:ph type="title"/>
          </p:nvPr>
        </p:nvSpPr>
        <p:spPr/>
        <p:txBody>
          <a:bodyPr/>
          <a:lstStyle/>
          <a:p>
            <a:r>
              <a:rPr lang="en-US" altLang="zh-CN" b="1" dirty="0"/>
              <a:t>R1 Process</a:t>
            </a:r>
            <a:endParaRPr lang="zh-CN" altLang="en-US" b="1" dirty="0"/>
          </a:p>
        </p:txBody>
      </p:sp>
      <p:sp>
        <p:nvSpPr>
          <p:cNvPr id="3" name="内容占位符 2">
            <a:extLst>
              <a:ext uri="{FF2B5EF4-FFF2-40B4-BE49-F238E27FC236}">
                <a16:creationId xmlns:a16="http://schemas.microsoft.com/office/drawing/2014/main" id="{29600EFC-7FD7-5FD6-5070-6A2C38A5F906}"/>
              </a:ext>
            </a:extLst>
          </p:cNvPr>
          <p:cNvSpPr>
            <a:spLocks noGrp="1"/>
          </p:cNvSpPr>
          <p:nvPr>
            <p:ph idx="1"/>
          </p:nvPr>
        </p:nvSpPr>
        <p:spPr/>
        <p:txBody>
          <a:bodyPr/>
          <a:lstStyle/>
          <a:p>
            <a:pPr marL="0" indent="0">
              <a:buNone/>
            </a:pPr>
            <a:r>
              <a:rPr lang="en-US" altLang="zh-CN" dirty="0"/>
              <a:t>SFT step, 2 epochs. </a:t>
            </a:r>
          </a:p>
          <a:p>
            <a:r>
              <a:rPr lang="en-US" altLang="zh-CN" dirty="0"/>
              <a:t>Reasoning data – non-verifiable tasks (‘write a proof of X’), use V3 as a judge (600k)</a:t>
            </a:r>
          </a:p>
          <a:p>
            <a:r>
              <a:rPr lang="en-US" altLang="zh-CN" dirty="0"/>
              <a:t>Non-reasoning data – V3 SFT dataset (200k)</a:t>
            </a:r>
          </a:p>
          <a:p>
            <a:pPr marL="0" indent="0">
              <a:buNone/>
            </a:pPr>
            <a:r>
              <a:rPr lang="en-US" altLang="zh-CN" dirty="0"/>
              <a:t>RLHF step</a:t>
            </a:r>
          </a:p>
          <a:p>
            <a:r>
              <a:rPr lang="en-US" altLang="zh-CN" dirty="0"/>
              <a:t>Re-use R1-zero style reasoning RLHF in here</a:t>
            </a:r>
          </a:p>
          <a:p>
            <a:r>
              <a:rPr lang="en-US" altLang="zh-CN" dirty="0"/>
              <a:t>Non-verifiable tasks - V3 RLHF pipeline. Still uses GRPO (for RLHF) </a:t>
            </a:r>
            <a:endParaRPr lang="zh-CN" altLang="en-US" dirty="0"/>
          </a:p>
        </p:txBody>
      </p:sp>
    </p:spTree>
    <p:extLst>
      <p:ext uri="{BB962C8B-B14F-4D97-AF65-F5344CB8AC3E}">
        <p14:creationId xmlns:p14="http://schemas.microsoft.com/office/powerpoint/2010/main" val="4406140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7150A7-8CA0-CCE7-CA14-97435A35F134}"/>
              </a:ext>
            </a:extLst>
          </p:cNvPr>
          <p:cNvSpPr>
            <a:spLocks noGrp="1"/>
          </p:cNvSpPr>
          <p:nvPr>
            <p:ph type="title"/>
          </p:nvPr>
        </p:nvSpPr>
        <p:spPr/>
        <p:txBody>
          <a:bodyPr/>
          <a:lstStyle/>
          <a:p>
            <a:r>
              <a:rPr lang="en-US" altLang="zh-CN" b="1" dirty="0"/>
              <a:t>How well does R1 work?</a:t>
            </a:r>
            <a:endParaRPr lang="zh-CN" altLang="en-US" b="1" dirty="0"/>
          </a:p>
        </p:txBody>
      </p:sp>
      <p:sp>
        <p:nvSpPr>
          <p:cNvPr id="3" name="内容占位符 2">
            <a:extLst>
              <a:ext uri="{FF2B5EF4-FFF2-40B4-BE49-F238E27FC236}">
                <a16:creationId xmlns:a16="http://schemas.microsoft.com/office/drawing/2014/main" id="{6330FCB0-307D-DFEE-C668-D1C1B586DAC2}"/>
              </a:ext>
            </a:extLst>
          </p:cNvPr>
          <p:cNvSpPr>
            <a:spLocks noGrp="1"/>
          </p:cNvSpPr>
          <p:nvPr>
            <p:ph idx="1"/>
          </p:nvPr>
        </p:nvSpPr>
        <p:spPr/>
        <p:txBody>
          <a:bodyPr/>
          <a:lstStyle/>
          <a:p>
            <a:r>
              <a:rPr lang="en-US" altLang="zh-CN" dirty="0"/>
              <a:t>It’s pretty good (but you knew that) </a:t>
            </a:r>
          </a:p>
          <a:p>
            <a:endParaRPr lang="zh-CN" altLang="en-US" dirty="0"/>
          </a:p>
        </p:txBody>
      </p:sp>
      <p:pic>
        <p:nvPicPr>
          <p:cNvPr id="5" name="图片 4">
            <a:extLst>
              <a:ext uri="{FF2B5EF4-FFF2-40B4-BE49-F238E27FC236}">
                <a16:creationId xmlns:a16="http://schemas.microsoft.com/office/drawing/2014/main" id="{BC85FB02-425D-7328-6C4F-B02717F6DCDF}"/>
              </a:ext>
            </a:extLst>
          </p:cNvPr>
          <p:cNvPicPr>
            <a:picLocks noChangeAspect="1"/>
          </p:cNvPicPr>
          <p:nvPr/>
        </p:nvPicPr>
        <p:blipFill>
          <a:blip r:embed="rId3"/>
          <a:stretch>
            <a:fillRect/>
          </a:stretch>
        </p:blipFill>
        <p:spPr>
          <a:xfrm>
            <a:off x="3468896" y="2298612"/>
            <a:ext cx="5254208" cy="4257016"/>
          </a:xfrm>
          <a:prstGeom prst="rect">
            <a:avLst/>
          </a:prstGeom>
        </p:spPr>
      </p:pic>
    </p:spTree>
    <p:extLst>
      <p:ext uri="{BB962C8B-B14F-4D97-AF65-F5344CB8AC3E}">
        <p14:creationId xmlns:p14="http://schemas.microsoft.com/office/powerpoint/2010/main" val="2295245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67CAE3-590E-B3C5-26D6-549D95F4F392}"/>
              </a:ext>
            </a:extLst>
          </p:cNvPr>
          <p:cNvSpPr>
            <a:spLocks noGrp="1"/>
          </p:cNvSpPr>
          <p:nvPr>
            <p:ph type="title"/>
          </p:nvPr>
        </p:nvSpPr>
        <p:spPr/>
        <p:txBody>
          <a:bodyPr/>
          <a:lstStyle/>
          <a:p>
            <a:r>
              <a:rPr lang="en-US" altLang="zh-CN" b="1" dirty="0"/>
              <a:t>Distillation</a:t>
            </a:r>
            <a:endParaRPr lang="zh-CN" altLang="en-US" b="1" dirty="0"/>
          </a:p>
        </p:txBody>
      </p:sp>
      <p:sp>
        <p:nvSpPr>
          <p:cNvPr id="3" name="内容占位符 2">
            <a:extLst>
              <a:ext uri="{FF2B5EF4-FFF2-40B4-BE49-F238E27FC236}">
                <a16:creationId xmlns:a16="http://schemas.microsoft.com/office/drawing/2014/main" id="{B011F5E0-E6D7-66A5-A4DF-9B3155451484}"/>
              </a:ext>
            </a:extLst>
          </p:cNvPr>
          <p:cNvSpPr>
            <a:spLocks noGrp="1"/>
          </p:cNvSpPr>
          <p:nvPr>
            <p:ph idx="1"/>
          </p:nvPr>
        </p:nvSpPr>
        <p:spPr/>
        <p:txBody>
          <a:bodyPr/>
          <a:lstStyle/>
          <a:p>
            <a:r>
              <a:rPr lang="en-US" altLang="zh-CN" dirty="0"/>
              <a:t>Can we get non-reasoning models to reason?</a:t>
            </a:r>
          </a:p>
          <a:p>
            <a:pPr marL="0" indent="0">
              <a:buNone/>
            </a:pPr>
            <a:r>
              <a:rPr lang="en-US" altLang="zh-CN" dirty="0"/>
              <a:t>Have R1 generate </a:t>
            </a:r>
            <a:r>
              <a:rPr lang="en-US" altLang="zh-CN" dirty="0" err="1"/>
              <a:t>CoT</a:t>
            </a:r>
            <a:r>
              <a:rPr lang="en-US" altLang="zh-CN" dirty="0"/>
              <a:t> traces (800k!) </a:t>
            </a:r>
          </a:p>
          <a:p>
            <a:pPr marL="0" indent="0">
              <a:buNone/>
            </a:pPr>
            <a:r>
              <a:rPr lang="en-US" altLang="zh-CN" dirty="0"/>
              <a:t>Teach Qwen 2.5 via distillation</a:t>
            </a:r>
          </a:p>
          <a:p>
            <a:pPr marL="0" indent="0">
              <a:buNone/>
            </a:pPr>
            <a:endParaRPr lang="zh-CN" altLang="en-US" dirty="0"/>
          </a:p>
        </p:txBody>
      </p:sp>
      <p:pic>
        <p:nvPicPr>
          <p:cNvPr id="5" name="图片 4">
            <a:extLst>
              <a:ext uri="{FF2B5EF4-FFF2-40B4-BE49-F238E27FC236}">
                <a16:creationId xmlns:a16="http://schemas.microsoft.com/office/drawing/2014/main" id="{52967F6D-56C5-5119-4E47-9BBC14DBFCB2}"/>
              </a:ext>
            </a:extLst>
          </p:cNvPr>
          <p:cNvPicPr>
            <a:picLocks noChangeAspect="1"/>
          </p:cNvPicPr>
          <p:nvPr/>
        </p:nvPicPr>
        <p:blipFill>
          <a:blip r:embed="rId3"/>
          <a:stretch>
            <a:fillRect/>
          </a:stretch>
        </p:blipFill>
        <p:spPr>
          <a:xfrm>
            <a:off x="2392206" y="3429000"/>
            <a:ext cx="6787653" cy="2697228"/>
          </a:xfrm>
          <a:prstGeom prst="rect">
            <a:avLst/>
          </a:prstGeom>
        </p:spPr>
      </p:pic>
    </p:spTree>
    <p:extLst>
      <p:ext uri="{BB962C8B-B14F-4D97-AF65-F5344CB8AC3E}">
        <p14:creationId xmlns:p14="http://schemas.microsoft.com/office/powerpoint/2010/main" val="341711049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D0D26E-B88D-0C95-897D-A7503F99CD12}"/>
              </a:ext>
            </a:extLst>
          </p:cNvPr>
          <p:cNvSpPr>
            <a:spLocks noGrp="1"/>
          </p:cNvSpPr>
          <p:nvPr>
            <p:ph type="title"/>
          </p:nvPr>
        </p:nvSpPr>
        <p:spPr/>
        <p:txBody>
          <a:bodyPr/>
          <a:lstStyle/>
          <a:p>
            <a:r>
              <a:rPr lang="en-US" altLang="zh-CN" b="1" dirty="0"/>
              <a:t>Kimi K1.5</a:t>
            </a:r>
            <a:endParaRPr lang="zh-CN" altLang="en-US" b="1" dirty="0"/>
          </a:p>
        </p:txBody>
      </p:sp>
      <p:sp>
        <p:nvSpPr>
          <p:cNvPr id="3" name="内容占位符 2">
            <a:extLst>
              <a:ext uri="{FF2B5EF4-FFF2-40B4-BE49-F238E27FC236}">
                <a16:creationId xmlns:a16="http://schemas.microsoft.com/office/drawing/2014/main" id="{C8FA5111-89B7-99F9-C04B-AA9ABD137F34}"/>
              </a:ext>
            </a:extLst>
          </p:cNvPr>
          <p:cNvSpPr>
            <a:spLocks noGrp="1"/>
          </p:cNvSpPr>
          <p:nvPr>
            <p:ph idx="1"/>
          </p:nvPr>
        </p:nvSpPr>
        <p:spPr/>
        <p:txBody>
          <a:bodyPr/>
          <a:lstStyle/>
          <a:p>
            <a:pPr marL="0" indent="0">
              <a:buNone/>
            </a:pPr>
            <a:r>
              <a:rPr lang="en-US" altLang="zh-CN" dirty="0"/>
              <a:t>Released at the same time as R1 </a:t>
            </a:r>
          </a:p>
          <a:p>
            <a:pPr marL="0" indent="0">
              <a:buNone/>
            </a:pPr>
            <a:r>
              <a:rPr lang="en-US" altLang="zh-CN" dirty="0"/>
              <a:t>Also beats o1 using RL</a:t>
            </a:r>
          </a:p>
          <a:p>
            <a:pPr marL="0" indent="0">
              <a:buNone/>
            </a:pPr>
            <a:endParaRPr lang="zh-CN" altLang="en-US" dirty="0"/>
          </a:p>
        </p:txBody>
      </p:sp>
      <p:pic>
        <p:nvPicPr>
          <p:cNvPr id="5" name="图片 4">
            <a:extLst>
              <a:ext uri="{FF2B5EF4-FFF2-40B4-BE49-F238E27FC236}">
                <a16:creationId xmlns:a16="http://schemas.microsoft.com/office/drawing/2014/main" id="{337A380E-2C56-CD4A-8768-8784022B43BD}"/>
              </a:ext>
            </a:extLst>
          </p:cNvPr>
          <p:cNvPicPr>
            <a:picLocks noChangeAspect="1"/>
          </p:cNvPicPr>
          <p:nvPr/>
        </p:nvPicPr>
        <p:blipFill>
          <a:blip r:embed="rId3"/>
          <a:stretch>
            <a:fillRect/>
          </a:stretch>
        </p:blipFill>
        <p:spPr>
          <a:xfrm>
            <a:off x="2433917" y="2872635"/>
            <a:ext cx="6996953" cy="3304328"/>
          </a:xfrm>
          <a:prstGeom prst="rect">
            <a:avLst/>
          </a:prstGeom>
        </p:spPr>
      </p:pic>
    </p:spTree>
    <p:extLst>
      <p:ext uri="{BB962C8B-B14F-4D97-AF65-F5344CB8AC3E}">
        <p14:creationId xmlns:p14="http://schemas.microsoft.com/office/powerpoint/2010/main" val="19434195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2DAB09-44F7-2AB2-141A-ED9EF1BD3EC1}"/>
              </a:ext>
            </a:extLst>
          </p:cNvPr>
          <p:cNvSpPr>
            <a:spLocks noGrp="1"/>
          </p:cNvSpPr>
          <p:nvPr>
            <p:ph type="title"/>
          </p:nvPr>
        </p:nvSpPr>
        <p:spPr/>
        <p:txBody>
          <a:bodyPr/>
          <a:lstStyle/>
          <a:p>
            <a:r>
              <a:rPr lang="en-US" altLang="zh-CN" b="1" dirty="0"/>
              <a:t>Kimi K1.5</a:t>
            </a:r>
            <a:endParaRPr lang="zh-CN" altLang="en-US" b="1" dirty="0"/>
          </a:p>
        </p:txBody>
      </p:sp>
      <p:sp>
        <p:nvSpPr>
          <p:cNvPr id="3" name="内容占位符 2">
            <a:extLst>
              <a:ext uri="{FF2B5EF4-FFF2-40B4-BE49-F238E27FC236}">
                <a16:creationId xmlns:a16="http://schemas.microsoft.com/office/drawing/2014/main" id="{B6365995-D743-CAC7-8F9C-B0853DE4CA7E}"/>
              </a:ext>
            </a:extLst>
          </p:cNvPr>
          <p:cNvSpPr>
            <a:spLocks noGrp="1"/>
          </p:cNvSpPr>
          <p:nvPr>
            <p:ph idx="1"/>
          </p:nvPr>
        </p:nvSpPr>
        <p:spPr/>
        <p:txBody>
          <a:bodyPr/>
          <a:lstStyle/>
          <a:p>
            <a:pPr marL="0" indent="0">
              <a:buNone/>
            </a:pPr>
            <a:r>
              <a:rPr lang="en-US" altLang="zh-CN" dirty="0"/>
              <a:t>Key steps</a:t>
            </a:r>
          </a:p>
          <a:p>
            <a:pPr marL="0" indent="0">
              <a:buNone/>
            </a:pPr>
            <a:r>
              <a:rPr lang="en-US" altLang="zh-CN" dirty="0"/>
              <a:t>• Dataset construction (difficulty filtering)</a:t>
            </a:r>
          </a:p>
          <a:p>
            <a:pPr marL="0" indent="0">
              <a:buNone/>
            </a:pPr>
            <a:r>
              <a:rPr lang="en-US" altLang="zh-CN" dirty="0"/>
              <a:t>• SFT (for long COT)</a:t>
            </a:r>
          </a:p>
          <a:p>
            <a:pPr marL="0" indent="0">
              <a:buNone/>
            </a:pPr>
            <a:r>
              <a:rPr lang="en-US" altLang="zh-CN" dirty="0"/>
              <a:t>• RL (with their own policy gradient loss)</a:t>
            </a:r>
            <a:endParaRPr lang="zh-CN" altLang="en-US" dirty="0"/>
          </a:p>
        </p:txBody>
      </p:sp>
    </p:spTree>
    <p:extLst>
      <p:ext uri="{BB962C8B-B14F-4D97-AF65-F5344CB8AC3E}">
        <p14:creationId xmlns:p14="http://schemas.microsoft.com/office/powerpoint/2010/main" val="23886434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B99444-BF54-B989-0032-F867FF1B31D8}"/>
              </a:ext>
            </a:extLst>
          </p:cNvPr>
          <p:cNvSpPr>
            <a:spLocks noGrp="1"/>
          </p:cNvSpPr>
          <p:nvPr>
            <p:ph type="title"/>
          </p:nvPr>
        </p:nvSpPr>
        <p:spPr/>
        <p:txBody>
          <a:bodyPr/>
          <a:lstStyle/>
          <a:p>
            <a:r>
              <a:rPr lang="en-US" altLang="zh-CN" b="1" dirty="0"/>
              <a:t>Kimi K1.5 Process</a:t>
            </a:r>
            <a:endParaRPr lang="zh-CN" altLang="en-US" dirty="0"/>
          </a:p>
        </p:txBody>
      </p:sp>
      <p:sp>
        <p:nvSpPr>
          <p:cNvPr id="3" name="内容占位符 2">
            <a:extLst>
              <a:ext uri="{FF2B5EF4-FFF2-40B4-BE49-F238E27FC236}">
                <a16:creationId xmlns:a16="http://schemas.microsoft.com/office/drawing/2014/main" id="{46D6CB0A-183A-6770-1C4B-B8AA88B2BCCC}"/>
              </a:ext>
            </a:extLst>
          </p:cNvPr>
          <p:cNvSpPr>
            <a:spLocks noGrp="1"/>
          </p:cNvSpPr>
          <p:nvPr>
            <p:ph idx="1"/>
          </p:nvPr>
        </p:nvSpPr>
        <p:spPr/>
        <p:txBody>
          <a:bodyPr/>
          <a:lstStyle/>
          <a:p>
            <a:pPr marL="0" indent="0">
              <a:buNone/>
            </a:pPr>
            <a:r>
              <a:rPr lang="en-US" altLang="zh-CN" dirty="0"/>
              <a:t>Data curation</a:t>
            </a:r>
          </a:p>
          <a:p>
            <a:pPr marL="0" indent="0">
              <a:buNone/>
            </a:pPr>
            <a:r>
              <a:rPr lang="en-US" altLang="zh-CN" dirty="0"/>
              <a:t>• Standard curation across math-style settings, balancing topics</a:t>
            </a:r>
          </a:p>
          <a:p>
            <a:pPr marL="0" indent="0">
              <a:buNone/>
            </a:pPr>
            <a:r>
              <a:rPr lang="en-US" altLang="zh-CN" dirty="0"/>
              <a:t>• Exclude multiple choice / true false (false positives)</a:t>
            </a:r>
          </a:p>
          <a:p>
            <a:pPr marL="0" indent="0">
              <a:buNone/>
            </a:pPr>
            <a:r>
              <a:rPr lang="en-US" altLang="zh-CN" dirty="0"/>
              <a:t>• Select only examples that models fail on best-of-8</a:t>
            </a:r>
          </a:p>
          <a:p>
            <a:pPr marL="0" indent="0">
              <a:buNone/>
            </a:pPr>
            <a:endParaRPr lang="en-US" altLang="zh-CN" dirty="0"/>
          </a:p>
          <a:p>
            <a:pPr marL="0" indent="0">
              <a:buNone/>
            </a:pPr>
            <a:r>
              <a:rPr lang="en-US" altLang="zh-CN" dirty="0"/>
              <a:t>SFT </a:t>
            </a:r>
          </a:p>
          <a:p>
            <a:pPr marL="0" indent="0">
              <a:buNone/>
            </a:pPr>
            <a:r>
              <a:rPr lang="en-US" altLang="zh-CN" dirty="0"/>
              <a:t>little description, just described as ‘prompt engineering’ (distillation?) </a:t>
            </a:r>
            <a:endParaRPr lang="zh-CN" altLang="en-US" dirty="0"/>
          </a:p>
        </p:txBody>
      </p:sp>
    </p:spTree>
    <p:extLst>
      <p:ext uri="{BB962C8B-B14F-4D97-AF65-F5344CB8AC3E}">
        <p14:creationId xmlns:p14="http://schemas.microsoft.com/office/powerpoint/2010/main" val="21934050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73BA0-EFED-B34D-FD0E-6A4A24B1BC4F}"/>
              </a:ext>
            </a:extLst>
          </p:cNvPr>
          <p:cNvSpPr>
            <a:spLocks noGrp="1"/>
          </p:cNvSpPr>
          <p:nvPr>
            <p:ph type="title"/>
          </p:nvPr>
        </p:nvSpPr>
        <p:spPr/>
        <p:txBody>
          <a:bodyPr/>
          <a:lstStyle/>
          <a:p>
            <a:r>
              <a:rPr lang="en-US" altLang="zh-CN" b="1" dirty="0"/>
              <a:t>Qwen 3</a:t>
            </a:r>
            <a:endParaRPr lang="zh-CN" altLang="en-US" b="1" dirty="0"/>
          </a:p>
        </p:txBody>
      </p:sp>
      <p:sp>
        <p:nvSpPr>
          <p:cNvPr id="3" name="内容占位符 2">
            <a:extLst>
              <a:ext uri="{FF2B5EF4-FFF2-40B4-BE49-F238E27FC236}">
                <a16:creationId xmlns:a16="http://schemas.microsoft.com/office/drawing/2014/main" id="{9553832D-B662-F6BD-45BA-36422522BE7C}"/>
              </a:ext>
            </a:extLst>
          </p:cNvPr>
          <p:cNvSpPr>
            <a:spLocks noGrp="1"/>
          </p:cNvSpPr>
          <p:nvPr>
            <p:ph idx="1"/>
          </p:nvPr>
        </p:nvSpPr>
        <p:spPr/>
        <p:txBody>
          <a:bodyPr/>
          <a:lstStyle/>
          <a:p>
            <a:r>
              <a:rPr lang="en-US" altLang="zh-CN" dirty="0"/>
              <a:t>Better than o1 and R1 (though comes later).</a:t>
            </a:r>
          </a:p>
          <a:p>
            <a:r>
              <a:rPr lang="en-US" altLang="zh-CN" dirty="0"/>
              <a:t>But interesting scaling and data results </a:t>
            </a:r>
          </a:p>
          <a:p>
            <a:endParaRPr lang="zh-CN" altLang="en-US" dirty="0"/>
          </a:p>
        </p:txBody>
      </p:sp>
      <p:pic>
        <p:nvPicPr>
          <p:cNvPr id="5" name="图片 4">
            <a:extLst>
              <a:ext uri="{FF2B5EF4-FFF2-40B4-BE49-F238E27FC236}">
                <a16:creationId xmlns:a16="http://schemas.microsoft.com/office/drawing/2014/main" id="{9D11463E-CE16-D54A-DC5D-E1939F0F7972}"/>
              </a:ext>
            </a:extLst>
          </p:cNvPr>
          <p:cNvPicPr>
            <a:picLocks noChangeAspect="1"/>
          </p:cNvPicPr>
          <p:nvPr/>
        </p:nvPicPr>
        <p:blipFill>
          <a:blip r:embed="rId3"/>
          <a:stretch>
            <a:fillRect/>
          </a:stretch>
        </p:blipFill>
        <p:spPr>
          <a:xfrm>
            <a:off x="2719563" y="2818935"/>
            <a:ext cx="6752874" cy="3335616"/>
          </a:xfrm>
          <a:prstGeom prst="rect">
            <a:avLst/>
          </a:prstGeom>
        </p:spPr>
      </p:pic>
    </p:spTree>
    <p:extLst>
      <p:ext uri="{BB962C8B-B14F-4D97-AF65-F5344CB8AC3E}">
        <p14:creationId xmlns:p14="http://schemas.microsoft.com/office/powerpoint/2010/main" val="25196647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FB41FF-6667-F7AB-97D2-A8A3304B946F}"/>
              </a:ext>
            </a:extLst>
          </p:cNvPr>
          <p:cNvSpPr>
            <a:spLocks noGrp="1"/>
          </p:cNvSpPr>
          <p:nvPr>
            <p:ph type="title"/>
          </p:nvPr>
        </p:nvSpPr>
        <p:spPr/>
        <p:txBody>
          <a:bodyPr/>
          <a:lstStyle/>
          <a:p>
            <a:r>
              <a:rPr lang="en-US" altLang="zh-CN" b="1" dirty="0"/>
              <a:t>Overall picture</a:t>
            </a:r>
            <a:endParaRPr lang="zh-CN" altLang="en-US" b="1" dirty="0"/>
          </a:p>
        </p:txBody>
      </p:sp>
      <p:sp>
        <p:nvSpPr>
          <p:cNvPr id="3" name="内容占位符 2">
            <a:extLst>
              <a:ext uri="{FF2B5EF4-FFF2-40B4-BE49-F238E27FC236}">
                <a16:creationId xmlns:a16="http://schemas.microsoft.com/office/drawing/2014/main" id="{EEA02BDA-91ED-B3E0-B0BE-219AD90B0BE9}"/>
              </a:ext>
            </a:extLst>
          </p:cNvPr>
          <p:cNvSpPr>
            <a:spLocks noGrp="1"/>
          </p:cNvSpPr>
          <p:nvPr>
            <p:ph idx="1"/>
          </p:nvPr>
        </p:nvSpPr>
        <p:spPr/>
        <p:txBody>
          <a:bodyPr/>
          <a:lstStyle/>
          <a:p>
            <a:r>
              <a:rPr lang="en-US" altLang="zh-CN" dirty="0"/>
              <a:t>RLHF comes after reasoning RL (like r1), distillation after that</a:t>
            </a:r>
          </a:p>
          <a:p>
            <a:endParaRPr lang="zh-CN" altLang="en-US" dirty="0"/>
          </a:p>
        </p:txBody>
      </p:sp>
      <p:pic>
        <p:nvPicPr>
          <p:cNvPr id="5" name="图片 4">
            <a:extLst>
              <a:ext uri="{FF2B5EF4-FFF2-40B4-BE49-F238E27FC236}">
                <a16:creationId xmlns:a16="http://schemas.microsoft.com/office/drawing/2014/main" id="{39BDB8D0-343C-67EF-0F98-77C2B74670A1}"/>
              </a:ext>
            </a:extLst>
          </p:cNvPr>
          <p:cNvPicPr>
            <a:picLocks noChangeAspect="1"/>
          </p:cNvPicPr>
          <p:nvPr/>
        </p:nvPicPr>
        <p:blipFill>
          <a:blip r:embed="rId3"/>
          <a:stretch>
            <a:fillRect/>
          </a:stretch>
        </p:blipFill>
        <p:spPr>
          <a:xfrm>
            <a:off x="1496356" y="2377200"/>
            <a:ext cx="9199288" cy="3629152"/>
          </a:xfrm>
          <a:prstGeom prst="rect">
            <a:avLst/>
          </a:prstGeom>
        </p:spPr>
      </p:pic>
    </p:spTree>
    <p:extLst>
      <p:ext uri="{BB962C8B-B14F-4D97-AF65-F5344CB8AC3E}">
        <p14:creationId xmlns:p14="http://schemas.microsoft.com/office/powerpoint/2010/main" val="206112652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117412-A8A3-723C-9F82-2393CD8A71F3}"/>
              </a:ext>
            </a:extLst>
          </p:cNvPr>
          <p:cNvSpPr>
            <a:spLocks noGrp="1"/>
          </p:cNvSpPr>
          <p:nvPr>
            <p:ph type="title"/>
          </p:nvPr>
        </p:nvSpPr>
        <p:spPr/>
        <p:txBody>
          <a:bodyPr/>
          <a:lstStyle/>
          <a:p>
            <a:r>
              <a:rPr lang="en-US" altLang="zh-CN" b="1" dirty="0"/>
              <a:t>SFT + Reasoning RL</a:t>
            </a:r>
            <a:endParaRPr lang="zh-CN" altLang="en-US" b="1" dirty="0"/>
          </a:p>
        </p:txBody>
      </p:sp>
      <p:sp>
        <p:nvSpPr>
          <p:cNvPr id="3" name="内容占位符 2">
            <a:extLst>
              <a:ext uri="{FF2B5EF4-FFF2-40B4-BE49-F238E27FC236}">
                <a16:creationId xmlns:a16="http://schemas.microsoft.com/office/drawing/2014/main" id="{B0552690-BB89-C97F-A264-6F5CE6FC95E9}"/>
              </a:ext>
            </a:extLst>
          </p:cNvPr>
          <p:cNvSpPr>
            <a:spLocks noGrp="1"/>
          </p:cNvSpPr>
          <p:nvPr>
            <p:ph idx="1"/>
          </p:nvPr>
        </p:nvSpPr>
        <p:spPr/>
        <p:txBody>
          <a:bodyPr/>
          <a:lstStyle/>
          <a:p>
            <a:pPr marL="0" indent="0">
              <a:buNone/>
            </a:pPr>
            <a:r>
              <a:rPr lang="en-US" altLang="zh-CN" dirty="0"/>
              <a:t>We know the playbook by now, and Qwen uses a lot of this.. </a:t>
            </a:r>
          </a:p>
          <a:p>
            <a:pPr marL="0" indent="0">
              <a:buNone/>
            </a:pPr>
            <a:r>
              <a:rPr lang="en-US" altLang="zh-CN" dirty="0"/>
              <a:t>• Filtering for difficulty (by best-of-n, like </a:t>
            </a:r>
            <a:r>
              <a:rPr lang="en-US" altLang="zh-CN" dirty="0" err="1"/>
              <a:t>kimi</a:t>
            </a:r>
            <a:r>
              <a:rPr lang="en-US" altLang="zh-CN" dirty="0"/>
              <a:t>) </a:t>
            </a:r>
          </a:p>
          <a:p>
            <a:pPr marL="0" indent="0">
              <a:buNone/>
            </a:pPr>
            <a:r>
              <a:rPr lang="en-US" altLang="zh-CN" dirty="0"/>
              <a:t>	Remove things that the model gets right w/o </a:t>
            </a:r>
            <a:r>
              <a:rPr lang="en-US" altLang="zh-CN" dirty="0" err="1"/>
              <a:t>CoT</a:t>
            </a:r>
            <a:r>
              <a:rPr lang="en-US" altLang="zh-CN" dirty="0"/>
              <a:t> </a:t>
            </a:r>
          </a:p>
          <a:p>
            <a:pPr marL="0" indent="0">
              <a:buNone/>
            </a:pPr>
            <a:r>
              <a:rPr lang="en-US" altLang="zh-CN" dirty="0"/>
              <a:t>	Remove things too similar to validation data </a:t>
            </a:r>
          </a:p>
          <a:p>
            <a:pPr marL="0" indent="0">
              <a:buNone/>
            </a:pPr>
            <a:r>
              <a:rPr lang="en-US" altLang="zh-CN" dirty="0"/>
              <a:t>• Manual filtering for the quality of </a:t>
            </a:r>
            <a:r>
              <a:rPr lang="en-US" altLang="zh-CN" dirty="0" err="1"/>
              <a:t>CoTs</a:t>
            </a:r>
            <a:r>
              <a:rPr lang="en-US" altLang="zh-CN" dirty="0"/>
              <a:t> (guessing vs getting it right) </a:t>
            </a:r>
          </a:p>
          <a:p>
            <a:pPr marL="0" indent="0">
              <a:buNone/>
            </a:pPr>
            <a:r>
              <a:rPr lang="en-US" altLang="zh-CN" dirty="0"/>
              <a:t>• RL with GRPO on only 3995 examples </a:t>
            </a:r>
            <a:endParaRPr lang="zh-CN" altLang="en-US" dirty="0"/>
          </a:p>
        </p:txBody>
      </p:sp>
    </p:spTree>
    <p:extLst>
      <p:ext uri="{BB962C8B-B14F-4D97-AF65-F5344CB8AC3E}">
        <p14:creationId xmlns:p14="http://schemas.microsoft.com/office/powerpoint/2010/main" val="29633895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20348B-7648-39C7-6DCD-AFA60FC4ACCE}"/>
              </a:ext>
            </a:extLst>
          </p:cNvPr>
          <p:cNvSpPr>
            <a:spLocks noGrp="1"/>
          </p:cNvSpPr>
          <p:nvPr>
            <p:ph type="title"/>
          </p:nvPr>
        </p:nvSpPr>
        <p:spPr/>
        <p:txBody>
          <a:bodyPr/>
          <a:lstStyle/>
          <a:p>
            <a:r>
              <a:rPr lang="en-US" altLang="zh-CN" b="1" dirty="0"/>
              <a:t>Qwen 3 specific new stuff</a:t>
            </a:r>
            <a:endParaRPr lang="zh-CN" altLang="en-US" b="1" dirty="0"/>
          </a:p>
        </p:txBody>
      </p:sp>
      <p:sp>
        <p:nvSpPr>
          <p:cNvPr id="3" name="内容占位符 2">
            <a:extLst>
              <a:ext uri="{FF2B5EF4-FFF2-40B4-BE49-F238E27FC236}">
                <a16:creationId xmlns:a16="http://schemas.microsoft.com/office/drawing/2014/main" id="{80F34AE0-6249-1344-AB87-A5EA8D0B4527}"/>
              </a:ext>
            </a:extLst>
          </p:cNvPr>
          <p:cNvSpPr>
            <a:spLocks noGrp="1"/>
          </p:cNvSpPr>
          <p:nvPr>
            <p:ph idx="1"/>
          </p:nvPr>
        </p:nvSpPr>
        <p:spPr/>
        <p:txBody>
          <a:bodyPr>
            <a:normAutofit/>
          </a:bodyPr>
          <a:lstStyle/>
          <a:p>
            <a:pPr marL="0" indent="0">
              <a:buNone/>
            </a:pPr>
            <a:r>
              <a:rPr lang="en-US" altLang="zh-CN" dirty="0"/>
              <a:t>Thinking mode fusion – controlling the length of the </a:t>
            </a:r>
            <a:r>
              <a:rPr lang="en-US" altLang="zh-CN" dirty="0" err="1"/>
              <a:t>CoT</a:t>
            </a:r>
            <a:r>
              <a:rPr lang="en-US" altLang="zh-CN" dirty="0"/>
              <a:t>. </a:t>
            </a:r>
          </a:p>
          <a:p>
            <a:pPr marL="514350" indent="-514350">
              <a:buAutoNum type="arabicPeriod"/>
            </a:pPr>
            <a:r>
              <a:rPr lang="en-US" altLang="zh-CN" dirty="0"/>
              <a:t>Mix non-thinking and thinking data with tags </a:t>
            </a:r>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en-US" altLang="zh-CN" dirty="0"/>
              <a:t>2. Early stopping termination via a special string </a:t>
            </a:r>
            <a:endParaRPr lang="zh-CN" altLang="en-US" dirty="0"/>
          </a:p>
        </p:txBody>
      </p:sp>
      <p:pic>
        <p:nvPicPr>
          <p:cNvPr id="5" name="图片 4">
            <a:extLst>
              <a:ext uri="{FF2B5EF4-FFF2-40B4-BE49-F238E27FC236}">
                <a16:creationId xmlns:a16="http://schemas.microsoft.com/office/drawing/2014/main" id="{1400A796-286A-0E48-CCB0-AECE8194ECCE}"/>
              </a:ext>
            </a:extLst>
          </p:cNvPr>
          <p:cNvPicPr>
            <a:picLocks noChangeAspect="1"/>
          </p:cNvPicPr>
          <p:nvPr/>
        </p:nvPicPr>
        <p:blipFill>
          <a:blip r:embed="rId3"/>
          <a:stretch>
            <a:fillRect/>
          </a:stretch>
        </p:blipFill>
        <p:spPr>
          <a:xfrm>
            <a:off x="2842960" y="2815723"/>
            <a:ext cx="6506079" cy="2566382"/>
          </a:xfrm>
          <a:prstGeom prst="rect">
            <a:avLst/>
          </a:prstGeom>
        </p:spPr>
      </p:pic>
    </p:spTree>
    <p:extLst>
      <p:ext uri="{BB962C8B-B14F-4D97-AF65-F5344CB8AC3E}">
        <p14:creationId xmlns:p14="http://schemas.microsoft.com/office/powerpoint/2010/main" val="42216338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0A6B6B-2233-6E4D-43E8-2276BF4107DD}"/>
              </a:ext>
            </a:extLst>
          </p:cNvPr>
          <p:cNvSpPr>
            <a:spLocks noGrp="1"/>
          </p:cNvSpPr>
          <p:nvPr>
            <p:ph type="title"/>
          </p:nvPr>
        </p:nvSpPr>
        <p:spPr/>
        <p:txBody>
          <a:bodyPr/>
          <a:lstStyle/>
          <a:p>
            <a:r>
              <a:rPr lang="en-US" altLang="zh-CN" b="1" dirty="0"/>
              <a:t>Recap</a:t>
            </a:r>
            <a:endParaRPr lang="zh-CN" altLang="en-US" b="1" dirty="0"/>
          </a:p>
        </p:txBody>
      </p:sp>
      <p:sp>
        <p:nvSpPr>
          <p:cNvPr id="3" name="内容占位符 2">
            <a:extLst>
              <a:ext uri="{FF2B5EF4-FFF2-40B4-BE49-F238E27FC236}">
                <a16:creationId xmlns:a16="http://schemas.microsoft.com/office/drawing/2014/main" id="{665665AD-C534-1731-0D91-2BA5D9F2C1EC}"/>
              </a:ext>
            </a:extLst>
          </p:cNvPr>
          <p:cNvSpPr>
            <a:spLocks noGrp="1"/>
          </p:cNvSpPr>
          <p:nvPr>
            <p:ph idx="1"/>
          </p:nvPr>
        </p:nvSpPr>
        <p:spPr/>
        <p:txBody>
          <a:bodyPr/>
          <a:lstStyle/>
          <a:p>
            <a:r>
              <a:rPr lang="en-US" altLang="zh-CN" dirty="0"/>
              <a:t>Overoptimization is a problem.. RL in narrow domains is one solution</a:t>
            </a:r>
          </a:p>
          <a:p>
            <a:r>
              <a:rPr lang="en-US" altLang="zh-CN" dirty="0"/>
              <a:t>GRPO is simple (but with some flaws), and enables RLVR</a:t>
            </a:r>
          </a:p>
          <a:p>
            <a:r>
              <a:rPr lang="en-US" altLang="zh-CN" dirty="0"/>
              <a:t>Lots of successful recipes in the wild (R1, Kimi 1.5, Qwen3)</a:t>
            </a:r>
            <a:endParaRPr lang="zh-CN" altLang="en-US" dirty="0"/>
          </a:p>
        </p:txBody>
      </p:sp>
    </p:spTree>
    <p:extLst>
      <p:ext uri="{BB962C8B-B14F-4D97-AF65-F5344CB8AC3E}">
        <p14:creationId xmlns:p14="http://schemas.microsoft.com/office/powerpoint/2010/main" val="32820809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5812790"/>
          </a:xfrm>
        </p:spPr>
        <p:txBody>
          <a:bodyPr>
            <a:normAutofit/>
          </a:bodyPr>
          <a:lstStyle/>
          <a:p>
            <a:pPr algn="ctr"/>
            <a:r>
              <a:rPr lang="en-US" altLang="zh-CN" sz="4800" b="1" dirty="0"/>
              <a:t>Thank you for listening!</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1732</TotalTime>
  <Words>5705</Words>
  <Application>Microsoft Office PowerPoint</Application>
  <PresentationFormat>宽屏</PresentationFormat>
  <Paragraphs>591</Paragraphs>
  <Slides>78</Slides>
  <Notes>77</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78</vt:i4>
      </vt:variant>
    </vt:vector>
  </HeadingPairs>
  <TitlesOfParts>
    <vt:vector size="84" baseType="lpstr">
      <vt:lpstr>等线</vt:lpstr>
      <vt:lpstr>等线 Light</vt:lpstr>
      <vt:lpstr>Arial</vt:lpstr>
      <vt:lpstr>Cambria Math</vt:lpstr>
      <vt:lpstr>Wingdings</vt:lpstr>
      <vt:lpstr>Office 主题​​</vt:lpstr>
      <vt:lpstr>Language Modeling from Scratch</vt:lpstr>
      <vt:lpstr>Lesson 15：SFT and RLHF</vt:lpstr>
      <vt:lpstr>Review</vt:lpstr>
      <vt:lpstr>Goal</vt:lpstr>
      <vt:lpstr>Overview</vt:lpstr>
      <vt:lpstr>SFT</vt:lpstr>
      <vt:lpstr>Some instruction-tuning data</vt:lpstr>
      <vt:lpstr>FLAN – random examples</vt:lpstr>
      <vt:lpstr>Alpaca – random examples</vt:lpstr>
      <vt:lpstr>OpenAssistant – random examples</vt:lpstr>
      <vt:lpstr>What did we notice across the datasets?</vt:lpstr>
      <vt:lpstr>Style variations</vt:lpstr>
      <vt:lpstr>Style variations</vt:lpstr>
      <vt:lpstr>References, and complex knowledge</vt:lpstr>
      <vt:lpstr>Knowledge extraction and alignment</vt:lpstr>
      <vt:lpstr>Knowledge extraction and alignment</vt:lpstr>
      <vt:lpstr>Safety</vt:lpstr>
      <vt:lpstr>Safety-tuning</vt:lpstr>
      <vt:lpstr>Safety-tuning</vt:lpstr>
      <vt:lpstr>Safety-tuning</vt:lpstr>
      <vt:lpstr>Putting it together – SFT Data</vt:lpstr>
      <vt:lpstr>How to fine-tune</vt:lpstr>
      <vt:lpstr>Turning instruction tuning into pretraining</vt:lpstr>
      <vt:lpstr>‘Midtraining’ / ‘Two-phase training’</vt:lpstr>
      <vt:lpstr>RLHF</vt:lpstr>
      <vt:lpstr>From imitation to optimization</vt:lpstr>
      <vt:lpstr>Why optimize? Costs</vt:lpstr>
      <vt:lpstr>Why optimize? G-V gap</vt:lpstr>
      <vt:lpstr>Overview</vt:lpstr>
      <vt:lpstr>RLHF Data</vt:lpstr>
      <vt:lpstr>RLHF Data</vt:lpstr>
      <vt:lpstr>RLHF Data : complexities</vt:lpstr>
      <vt:lpstr>RLHF Data : issues</vt:lpstr>
      <vt:lpstr>RLHF Data: LM-generated</vt:lpstr>
      <vt:lpstr>RLHF Data : length effects</vt:lpstr>
      <vt:lpstr>How do we RLHF?</vt:lpstr>
      <vt:lpstr>PPO – at a conceptual level</vt:lpstr>
      <vt:lpstr>Can we get rid of PPO?</vt:lpstr>
      <vt:lpstr>DPO</vt:lpstr>
      <vt:lpstr>DPO</vt:lpstr>
      <vt:lpstr>DPO</vt:lpstr>
      <vt:lpstr>DPO</vt:lpstr>
      <vt:lpstr>DPO</vt:lpstr>
      <vt:lpstr>DPO</vt:lpstr>
      <vt:lpstr>DPO Variants</vt:lpstr>
      <vt:lpstr>Things to watch out for in RLHF</vt:lpstr>
      <vt:lpstr>Overoptimization</vt:lpstr>
      <vt:lpstr>Mode collapse</vt:lpstr>
      <vt:lpstr>Recap</vt:lpstr>
      <vt:lpstr>Lesson 16：Core algorithms, Case studies</vt:lpstr>
      <vt:lpstr>Review</vt:lpstr>
      <vt:lpstr>Goal</vt:lpstr>
      <vt:lpstr>Overview</vt:lpstr>
      <vt:lpstr>Recap: PPO in theory</vt:lpstr>
      <vt:lpstr>What do you expect to see in PPO?</vt:lpstr>
      <vt:lpstr>Why do we need yet another RL algorithm?</vt:lpstr>
      <vt:lpstr>GRPO</vt:lpstr>
      <vt:lpstr>GRPO </vt:lpstr>
      <vt:lpstr>How well does it work?</vt:lpstr>
      <vt:lpstr>Case studies</vt:lpstr>
      <vt:lpstr>Deepseek R1</vt:lpstr>
      <vt:lpstr>Algorithm - GRPO</vt:lpstr>
      <vt:lpstr>R1 zero</vt:lpstr>
      <vt:lpstr>Interesting phenomena</vt:lpstr>
      <vt:lpstr>R1</vt:lpstr>
      <vt:lpstr>R1 Process</vt:lpstr>
      <vt:lpstr>R1 Process</vt:lpstr>
      <vt:lpstr>How well does R1 work?</vt:lpstr>
      <vt:lpstr>Distillation</vt:lpstr>
      <vt:lpstr>Kimi K1.5</vt:lpstr>
      <vt:lpstr>Kimi K1.5</vt:lpstr>
      <vt:lpstr>Kimi K1.5 Process</vt:lpstr>
      <vt:lpstr>Qwen 3</vt:lpstr>
      <vt:lpstr>Overall picture</vt:lpstr>
      <vt:lpstr>SFT + Reasoning RL</vt:lpstr>
      <vt:lpstr>Qwen 3 specific new stuff</vt:lpstr>
      <vt:lpstr>Recap</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凯文 王</dc:creator>
  <cp:lastModifiedBy>凯文 王</cp:lastModifiedBy>
  <cp:revision>7</cp:revision>
  <dcterms:created xsi:type="dcterms:W3CDTF">2025-12-02T01:20:40Z</dcterms:created>
  <dcterms:modified xsi:type="dcterms:W3CDTF">2025-12-07T11:58:08Z</dcterms:modified>
</cp:coreProperties>
</file>