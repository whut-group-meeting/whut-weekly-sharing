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4"/>
  </p:notesMasterIdLst>
  <p:sldIdLst>
    <p:sldId id="257" r:id="rId3"/>
    <p:sldId id="259" r:id="rId4"/>
    <p:sldId id="261" r:id="rId5"/>
    <p:sldId id="260" r:id="rId6"/>
    <p:sldId id="262" r:id="rId7"/>
    <p:sldId id="349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350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5" r:id="rId51"/>
    <p:sldId id="306" r:id="rId52"/>
    <p:sldId id="304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5" r:id="rId81"/>
    <p:sldId id="336" r:id="rId82"/>
    <p:sldId id="337" r:id="rId83"/>
    <p:sldId id="338" r:id="rId84"/>
    <p:sldId id="339" r:id="rId85"/>
    <p:sldId id="340" r:id="rId86"/>
    <p:sldId id="344" r:id="rId87"/>
    <p:sldId id="347" r:id="rId88"/>
    <p:sldId id="348" r:id="rId89"/>
    <p:sldId id="345" r:id="rId90"/>
    <p:sldId id="346" r:id="rId91"/>
    <p:sldId id="341" r:id="rId92"/>
    <p:sldId id="343" r:id="rId9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4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7" Type="http://schemas.openxmlformats.org/officeDocument/2006/relationships/tableStyles" Target="tableStyles.xml"/><Relationship Id="rId96" Type="http://schemas.openxmlformats.org/officeDocument/2006/relationships/viewProps" Target="viewProps.xml"/><Relationship Id="rId95" Type="http://schemas.openxmlformats.org/officeDocument/2006/relationships/presProps" Target="presProps.xml"/><Relationship Id="rId94" Type="http://schemas.openxmlformats.org/officeDocument/2006/relationships/notesMaster" Target="notesMasters/notesMaster1.xml"/><Relationship Id="rId93" Type="http://schemas.openxmlformats.org/officeDocument/2006/relationships/slide" Target="slides/slide91.xml"/><Relationship Id="rId92" Type="http://schemas.openxmlformats.org/officeDocument/2006/relationships/slide" Target="slides/slide90.xml"/><Relationship Id="rId91" Type="http://schemas.openxmlformats.org/officeDocument/2006/relationships/slide" Target="slides/slide89.xml"/><Relationship Id="rId90" Type="http://schemas.openxmlformats.org/officeDocument/2006/relationships/slide" Target="slides/slide88.xml"/><Relationship Id="rId9" Type="http://schemas.openxmlformats.org/officeDocument/2006/relationships/slide" Target="slides/slide7.xml"/><Relationship Id="rId89" Type="http://schemas.openxmlformats.org/officeDocument/2006/relationships/slide" Target="slides/slide87.xml"/><Relationship Id="rId88" Type="http://schemas.openxmlformats.org/officeDocument/2006/relationships/slide" Target="slides/slide86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openrouter.ai/rankings" TargetMode="External"/><Relationship Id="rId2" Type="http://schemas.openxmlformats.org/officeDocument/2006/relationships/hyperlink" Target="https://artificialanalysis.ai/" TargetMode="External"/><Relationship Id="rId1" Type="http://schemas.openxmlformats.org/officeDocument/2006/relationships/hyperlink" Target="https://crfm.stanford.edu/helm/capabilities/latest/#/leaderboard" TargetMode="Externa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5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6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7.png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8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9.png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pPr algn="ctr"/>
            <a:r>
              <a:rPr lang="en-US" altLang="zh-CN" sz="4800"/>
              <a:t>Language Modeling from Scratch</a:t>
            </a:r>
            <a:endParaRPr lang="en-US" altLang="zh-CN" sz="480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pPr algn="r"/>
            <a:endParaRPr lang="en-US" altLang="zh-CN"/>
          </a:p>
          <a:p>
            <a:pPr algn="r"/>
            <a:r>
              <a:rPr lang="en-US" altLang="zh-CN"/>
              <a:t>lesson 10 and lesson 12: </a:t>
            </a:r>
            <a:r>
              <a:rPr lang="en-US" altLang="zh-CN">
                <a:sym typeface="+mn-ea"/>
              </a:rPr>
              <a:t>I</a:t>
            </a:r>
            <a:r>
              <a:rPr lang="en-US" altLang="zh-CN">
                <a:sym typeface="+mn-ea"/>
              </a:rPr>
              <a:t>nference and Evaluation</a:t>
            </a:r>
            <a:endParaRPr lang="en-US" altLang="zh-CN"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33380" cy="6073140"/>
          </a:xfrm>
        </p:spPr>
        <p:txBody>
          <a:bodyPr/>
          <a:p>
            <a:pPr algn="ctr"/>
            <a:r>
              <a:rPr lang="en-US" altLang="zh-CN" sz="7200"/>
              <a:t>Lesson 10</a:t>
            </a:r>
            <a:r>
              <a:rPr lang="zh-CN" altLang="en-US" sz="7200"/>
              <a:t>：</a:t>
            </a:r>
            <a:r>
              <a:rPr lang="en-US" altLang="zh-CN" sz="7200"/>
              <a:t>Inference</a:t>
            </a:r>
            <a:endParaRPr lang="en-US" altLang="zh-CN" sz="7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Overview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9747250" cy="436054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/>
              <a:t>Lesson 10:Inference</a:t>
            </a:r>
            <a:endParaRPr lang="en-US" altLang="zh-CN"/>
          </a:p>
          <a:p>
            <a:endParaRPr lang="en-US" altLang="zh-CN"/>
          </a:p>
          <a:p>
            <a:pPr marL="0" indent="0">
              <a:buNone/>
            </a:pPr>
            <a:r>
              <a:rPr lang="en-US" altLang="en-US" sz="2400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10.1 </a:t>
            </a:r>
            <a:r>
              <a:rPr lang="en-US" altLang="zh-CN" sz="2400"/>
              <a:t>Understanding the inference workload</a:t>
            </a:r>
            <a:endParaRPr lang="en-US" altLang="zh-CN" sz="2400"/>
          </a:p>
          <a:p>
            <a:endParaRPr lang="en-US" altLang="zh-CN" sz="2400"/>
          </a:p>
          <a:p>
            <a:pPr marL="0" indent="0">
              <a:buNone/>
            </a:pPr>
            <a:r>
              <a:rPr lang="en-US" altLang="en-US" sz="2400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10.2</a:t>
            </a:r>
            <a:r>
              <a:rPr lang="en-US" altLang="en-US" sz="2400">
                <a:solidFill>
                  <a:srgbClr val="00B0F0"/>
                </a:solidFill>
                <a:sym typeface="+mn-ea"/>
              </a:rPr>
              <a:t> </a:t>
            </a:r>
            <a:r>
              <a:rPr lang="en-US" altLang="zh-CN" sz="2400"/>
              <a:t>Taking shortcuts , lossy(key point)</a:t>
            </a:r>
            <a:endParaRPr lang="en-US" altLang="zh-CN" sz="2400"/>
          </a:p>
          <a:p>
            <a:pPr marL="0" indent="0">
              <a:buNone/>
            </a:pPr>
            <a:endParaRPr lang="en-US" altLang="zh-CN" sz="2400"/>
          </a:p>
          <a:p>
            <a:pPr marL="0" indent="0">
              <a:buNone/>
            </a:pPr>
            <a:r>
              <a:rPr lang="en-US" altLang="en-US" sz="2400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10.3</a:t>
            </a:r>
            <a:r>
              <a:rPr lang="en-US" altLang="en-US" sz="2400">
                <a:solidFill>
                  <a:srgbClr val="00B0F0"/>
                </a:solidFill>
                <a:sym typeface="+mn-ea"/>
              </a:rPr>
              <a:t> </a:t>
            </a:r>
            <a:r>
              <a:rPr lang="en-US" altLang="zh-CN" sz="2400"/>
              <a:t>Use shortcuts but double check , lossless</a:t>
            </a:r>
            <a:endParaRPr lang="en-US" altLang="zh-CN" sz="2400"/>
          </a:p>
          <a:p>
            <a:pPr marL="0" indent="0">
              <a:buNone/>
            </a:pPr>
            <a:endParaRPr lang="en-US" altLang="zh-CN" sz="2400"/>
          </a:p>
          <a:p>
            <a:pPr marL="0" indent="0">
              <a:buNone/>
            </a:pPr>
            <a:r>
              <a:rPr lang="en-US" altLang="en-US" sz="2400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10.4 </a:t>
            </a:r>
            <a:r>
              <a:rPr lang="en-US" altLang="zh-CN" sz="2400"/>
              <a:t>Handling dynamic workloads</a:t>
            </a:r>
            <a:endParaRPr lang="en-US" altLang="zh-CN" sz="2400"/>
          </a:p>
          <a:p>
            <a:endParaRPr lang="en-US" altLang="zh-CN" sz="1800"/>
          </a:p>
          <a:p>
            <a:endParaRPr lang="en-US" altLang="zh-CN" sz="1800"/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241415" y="1952625"/>
            <a:ext cx="5257800" cy="43605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800"/>
          </a:p>
          <a:p>
            <a:endParaRPr lang="en-US" altLang="zh-CN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10.1 Understanding the inference workload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>
                <a:sym typeface="+mn-ea"/>
              </a:rPr>
              <a:t>Landscape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>
                <a:sym typeface="+mn-ea"/>
              </a:rPr>
              <a:t>Review Transformer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>
                <a:sym typeface="+mn-ea"/>
              </a:rPr>
              <a:t>Review Arithmetic Intensity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>
                <a:sym typeface="+mn-ea"/>
              </a:rPr>
              <a:t>Arithmetic Intensity of Inference</a:t>
            </a:r>
            <a:endParaRPr lang="en-US" altLang="zh-CN">
              <a:sym typeface="+mn-ea"/>
            </a:endParaRPr>
          </a:p>
          <a:p>
            <a:pPr marL="0" indent="0">
              <a:buNone/>
            </a:pPr>
            <a:endParaRPr lang="en-US" altLang="zh-CN">
              <a:sym typeface="+mn-ea"/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Throughput and Latency</a:t>
            </a:r>
            <a:endParaRPr lang="en-US" altLang="zh-CN"/>
          </a:p>
          <a:p>
            <a:pPr marL="0" indent="0">
              <a:buNone/>
            </a:pP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10.1.1 Landscape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zh-CN" b="1"/>
              <a:t>Inference</a:t>
            </a:r>
            <a:r>
              <a:rPr lang="en-US" altLang="zh-CN"/>
              <a:t>: given a fixed model, generate responses given prompts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Inference shows up in many places:    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Actual use (chatbots, code completion, batch data processing)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Model evaluation (e.g., on instruction following)   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Test-time compute (thinking requires more inference)    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Training via reinforcement learning (sample generation, then score)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10.1.1 Landscape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>
                <a:sym typeface="+mn-ea"/>
              </a:rPr>
              <a:t>Metrics:</a:t>
            </a:r>
            <a:endParaRPr lang="en-US" altLang="zh-CN">
              <a:sym typeface="+mn-ea"/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>
                <a:sym typeface="+mn-ea"/>
              </a:rPr>
              <a:t>Time-to-first-token (TTFT): how long user waits before any generation happens .(matters for interactive applications)</a:t>
            </a:r>
            <a:endParaRPr lang="en-US" altLang="zh-CN">
              <a:sym typeface="+mn-ea"/>
            </a:endParaRPr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>
                <a:sym typeface="+mn-ea"/>
              </a:rPr>
              <a:t>Latency (seconds/token): how fast tokens appear for a user (matters for interactive applications)</a:t>
            </a:r>
            <a:endParaRPr lang="en-US" altLang="zh-CN">
              <a:sym typeface="+mn-ea"/>
            </a:endParaRPr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>
                <a:sym typeface="+mn-ea"/>
              </a:rPr>
              <a:t>Throughput (tokens/second): useful for batch processing applications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10.1.1 Landscape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Key considerations in efficiency: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</a:t>
            </a:r>
            <a:endParaRPr lang="en-US" altLang="zh-CN"/>
          </a:p>
          <a:p>
            <a:pPr marL="0" indent="0">
              <a:buNone/>
            </a:pPr>
            <a:r>
              <a:rPr lang="en-US" altLang="zh-CN" b="1"/>
              <a:t>Training (supervised)</a:t>
            </a:r>
            <a:r>
              <a:rPr lang="en-US" altLang="zh-CN"/>
              <a:t>: you see all tokens, can parallelize over sequence (matmul in Transformer); one-time cost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</a:t>
            </a:r>
            <a:endParaRPr lang="en-US" altLang="zh-CN"/>
          </a:p>
          <a:p>
            <a:pPr marL="0" indent="0">
              <a:buNone/>
            </a:pPr>
            <a:r>
              <a:rPr lang="en-US" altLang="zh-CN" b="1"/>
              <a:t>Inference</a:t>
            </a:r>
            <a:r>
              <a:rPr lang="en-US" altLang="zh-CN"/>
              <a:t>: you have to generate sequentially, can't parallelize, so harder to fully utilize compute;repeated many times</a:t>
            </a:r>
            <a:endParaRPr lang="en-US" alt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10.1.2 Review Transformer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05305"/>
            <a:ext cx="6120765" cy="4371975"/>
          </a:xfrm>
        </p:spPr>
        <p:txBody>
          <a:bodyPr/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following conventions: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F = 4*D, D = N*H, N = K*G, S = T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FLOPs for a feedforward pass: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6 * (B*T) * (num_params + O(T))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1930" y="1805305"/>
            <a:ext cx="4801870" cy="41421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10.1.3 Review Arithmetic Intensity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p>
            <a:pPr marL="0" indent="0">
              <a:buNone/>
            </a:pPr>
            <a:r>
              <a:rPr lang="en-US" altLang="zh-CN" b="1">
                <a:sym typeface="+mn-ea"/>
              </a:rPr>
              <a:t>Arithmetic intensity</a:t>
            </a:r>
            <a:r>
              <a:rPr lang="en-US" altLang="zh-CN">
                <a:sym typeface="+mn-ea"/>
              </a:rPr>
              <a:t> is how much compute we do per byte transferred (want to be high):intensity = (flops / bytes_transferred)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Setup: multiply X (B x D) and W (D x F) matrix; bf16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①</a:t>
            </a:r>
            <a:r>
              <a:rPr lang="en-US" altLang="zh-CN"/>
              <a:t>Read X (B x D) from HBM:bytes_transferred += 2*B*D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②</a:t>
            </a:r>
            <a:r>
              <a:rPr lang="en-US" altLang="zh-CN"/>
              <a:t>Read W (D x F) from HBM:bytes_transferred += 2*D*F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③</a:t>
            </a:r>
            <a:r>
              <a:rPr lang="en-US" altLang="zh-CN"/>
              <a:t>Compute Y = X (B x D) @ W (D x F):flops += 2*B*D*F  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④</a:t>
            </a:r>
            <a:r>
              <a:rPr lang="en-US" altLang="zh-CN"/>
              <a:t>Write Y (B x F) to HBM:bytes_transferred += 2*B*F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flops == 2*B*D*F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bytes_transferred == 2*B*D + 2*D*F + 2*B*F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Assuming B is much less than D and F, then we can simplify:intensity == B</a:t>
            </a:r>
            <a:endParaRPr lang="en-US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10.1.3 Review Arithmetic Intensity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pPr marL="0" indent="0">
              <a:buNone/>
            </a:pPr>
            <a:r>
              <a:rPr lang="en-US" altLang="zh-CN"/>
              <a:t>Accelerator intensity of H100: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flops_per_second = 989e12</a:t>
            </a:r>
            <a:r>
              <a:rPr lang="zh-CN" altLang="en-US"/>
              <a:t>；</a:t>
            </a:r>
            <a:r>
              <a:rPr lang="en-US" altLang="zh-CN"/>
              <a:t>memory_bandwidth = 3.35e12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accelerator_intensity == 295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If computation intensity &gt; accelerator intensity, compute-limited (good)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If computation intensity &lt; accelerator intensity, memory-limited (bad)</a:t>
            </a:r>
            <a:endParaRPr lang="en-US" altLang="zh-CN"/>
          </a:p>
          <a:p>
            <a:pPr marL="0" indent="0">
              <a:buNone/>
            </a:pPr>
            <a:r>
              <a:rPr lang="en-US" altLang="zh-CN" b="1"/>
              <a:t>Conclusion</a:t>
            </a:r>
            <a:r>
              <a:rPr lang="en-US" altLang="zh-CN"/>
              <a:t>: compute-limited iff B &gt; 295</a:t>
            </a:r>
            <a:endParaRPr lang="en-US" altLang="zh-CN"/>
          </a:p>
          <a:p>
            <a:pPr marL="0" indent="0">
              <a:buNone/>
            </a:pPr>
            <a:r>
              <a:rPr lang="en-US" altLang="zh-CN" b="1"/>
              <a:t>Extreme case</a:t>
            </a:r>
            <a:r>
              <a:rPr lang="en-US" altLang="zh-CN"/>
              <a:t> (B = 1, corresponding to matrix-vector product):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Arithmetic intensity: 1   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Memory-limited (read D x F matrix, perform only 2DF FLOPs)  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This is basically what happens with generation...</a:t>
            </a:r>
            <a:endParaRPr lang="en-US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10.1.4 A</a:t>
            </a:r>
            <a:r>
              <a:rPr lang="en-US" altLang="zh-CN"/>
              <a:t>rithmetic Intensity of Inference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543425" cy="4454525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zh-CN" b="1"/>
              <a:t>Naive inference: </a:t>
            </a:r>
            <a:endParaRPr lang="en-US" altLang="zh-CN" b="1"/>
          </a:p>
          <a:p>
            <a:pPr marL="0" indent="0">
              <a:buNone/>
            </a:pPr>
            <a:r>
              <a:rPr lang="en-US" altLang="zh-CN"/>
              <a:t>to generate each token, feed history into Transformer</a:t>
            </a:r>
            <a:endParaRPr lang="en-US" altLang="zh-CN"/>
          </a:p>
          <a:p>
            <a:pPr marL="0" indent="0">
              <a:buNone/>
            </a:pPr>
            <a:r>
              <a:rPr lang="en-US" altLang="zh-CN" b="1"/>
              <a:t>Complexity: </a:t>
            </a:r>
            <a:endParaRPr lang="en-US" altLang="zh-CN" b="1"/>
          </a:p>
          <a:p>
            <a:pPr marL="0" indent="0">
              <a:buNone/>
            </a:pPr>
            <a:r>
              <a:rPr lang="en-US" altLang="zh-CN"/>
              <a:t>generating T tokens requires O(T^3) FLOPs </a:t>
            </a:r>
            <a:endParaRPr lang="en-US" altLang="zh-CN"/>
          </a:p>
          <a:p>
            <a:pPr marL="0" indent="0">
              <a:buNone/>
            </a:pPr>
            <a:r>
              <a:rPr lang="en-US" altLang="zh-CN" b="1"/>
              <a:t>Observation:</a:t>
            </a:r>
            <a:r>
              <a:rPr lang="en-US" altLang="zh-CN"/>
              <a:t>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a lot of the work can be shared across prefixes</a:t>
            </a:r>
            <a:endParaRPr lang="en-US" altLang="zh-CN"/>
          </a:p>
          <a:p>
            <a:pPr marL="0" indent="0">
              <a:buNone/>
            </a:pPr>
            <a:r>
              <a:rPr lang="en-US" altLang="zh-CN" b="1"/>
              <a:t>Solution: </a:t>
            </a:r>
            <a:endParaRPr lang="en-US" altLang="zh-CN" b="1"/>
          </a:p>
          <a:p>
            <a:pPr marL="0" indent="0">
              <a:buNone/>
            </a:pPr>
            <a:r>
              <a:rPr lang="en-US" altLang="zh-CN"/>
              <a:t>store KV cache in HBM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3080" y="2514600"/>
            <a:ext cx="5950585" cy="24936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10.1.4 A</a:t>
            </a:r>
            <a:r>
              <a:rPr lang="en-US" altLang="zh-CN">
                <a:sym typeface="+mn-ea"/>
              </a:rPr>
              <a:t>rithmetic Intensity of Inference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KV cache: for every sequence (B), token (S), layer (L), head (K), store an H-dimensional vector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5715" y="2670175"/>
            <a:ext cx="6960235" cy="34201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10.1.4 A</a:t>
            </a:r>
            <a:r>
              <a:rPr lang="en-US" altLang="zh-CN">
                <a:sym typeface="+mn-ea"/>
              </a:rPr>
              <a:t>rithmetic Intensity of Inference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zh-CN"/>
              <a:t>Two stages of inference: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Prefill: given a prompt, encode into vectors (parallelizable like in training)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Generation: generate new response tokens (sequential)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Let's compute the FLOPs and memory IO for both the MLP and attention layers.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S is the number of tokens we're conditioning on, T is the number of tokens we're generating.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Later, we'll specialize to prefill (T = S) and generation (T = 1).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10.1.4 A</a:t>
            </a:r>
            <a:r>
              <a:rPr lang="en-US" altLang="zh-CN">
                <a:sym typeface="+mn-ea"/>
              </a:rPr>
              <a:t>rithmetic Intensity of Inference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5000"/>
          </a:bodyPr>
          <a:p>
            <a:pPr marL="0" indent="0">
              <a:buNone/>
            </a:pPr>
            <a:r>
              <a:rPr lang="en-US" altLang="zh-CN" b="1"/>
              <a:t>MLP layers (only looking at the matrix multiplications)</a:t>
            </a:r>
            <a:endParaRPr lang="en-US" altLang="zh-CN" b="1"/>
          </a:p>
          <a:p>
            <a:pPr marL="0" indent="0">
              <a:buNone/>
            </a:pPr>
            <a:r>
              <a:rPr lang="en-US" altLang="zh-CN"/>
              <a:t>Steps: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Read X (B x T x D) from HBM:bytes_transferred += 2*B*T*D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Read Wup (D x F), Wgate (D x F), Wdown (F x D) from HBM: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bytes_transferred += 3 * 2*D*F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Compute U = X (B x T x D) @ Wup (D x F): flops += 2*B*T*D*F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Write U (B x T x F) to HBM:bytes_transferred += 2*B*T*F   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Compute G = X (B x T x F) @ Wgate (D x F):flops += 2*B*T*D*F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Write G (B x T x F) to HBM:bytes_transferred += 2*B*T*F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Compute Y = GeLU(G)*U (B x T x F) @ Wdown (F x D):flops += 2*B*T*D*F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Write Y (B x T x D) to HBM:bytes_transferred += 2*B*T*D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205" y="1691005"/>
            <a:ext cx="4506595" cy="324294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10.1.4 A</a:t>
            </a:r>
            <a:r>
              <a:rPr lang="en-US" altLang="zh-CN">
                <a:sym typeface="+mn-ea"/>
              </a:rPr>
              <a:t>rithmetic Intensity of Inference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pPr marL="0" indent="0">
              <a:buNone/>
            </a:pPr>
            <a:r>
              <a:rPr lang="en-US" altLang="zh-CN"/>
              <a:t>flops == 6*B*T*D*F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bytes_transferred == 4*B*T*D + 4*B*T*F + 6*D*F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intensity = (flops / bytes_transferred)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Assume that B*T is much smaller than D and F.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intensity == B*T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For the two stages: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Prefill: easy to make compute-limited (good) by making B T large enough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Generation:</a:t>
            </a:r>
            <a:endParaRPr lang="en-US" altLang="zh-CN"/>
          </a:p>
          <a:p>
            <a:pPr marL="0" indent="457200">
              <a:buNone/>
            </a:pPr>
            <a:r>
              <a:rPr lang="en-US" altLang="zh-CN"/>
              <a:t>Generating one token at a time (T = 1)</a:t>
            </a:r>
            <a:endParaRPr lang="en-US" altLang="zh-CN"/>
          </a:p>
          <a:p>
            <a:pPr marL="0" indent="457200">
              <a:buNone/>
            </a:pPr>
            <a:r>
              <a:rPr lang="en-US" altLang="zh-CN"/>
              <a:t>B is number of concurrent requests, hard to make large enough!</a:t>
            </a:r>
            <a:endParaRPr lang="en-US" altLang="zh-C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10.1.4 A</a:t>
            </a:r>
            <a:r>
              <a:rPr lang="en-US" altLang="zh-CN">
                <a:sym typeface="+mn-ea"/>
              </a:rPr>
              <a:t>rithmetic Intensity of Inference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77010"/>
            <a:ext cx="10515600" cy="4351338"/>
          </a:xfrm>
        </p:spPr>
        <p:txBody>
          <a:bodyPr>
            <a:normAutofit fontScale="80000"/>
          </a:bodyPr>
          <a:p>
            <a:pPr marL="0" indent="0">
              <a:buNone/>
            </a:pPr>
            <a:r>
              <a:rPr lang="en-US" altLang="zh-CN" b="1"/>
              <a:t>Attention layers (focusing on the matrix multiplications with FlashAttention)</a:t>
            </a:r>
            <a:endParaRPr lang="en-US" altLang="zh-CN" b="1"/>
          </a:p>
          <a:p>
            <a:pPr marL="0" indent="0">
              <a:buNone/>
            </a:pPr>
            <a:r>
              <a:rPr lang="en-US" altLang="zh-CN"/>
              <a:t>Steps:   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Read Q (B x T x D), K (B x S x D), V (B x S x D) from HBM: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bytes_transferred += 2*B*T*D + 2*B*S*D + 2*B*S*D   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Compute A = Q (B x T x D) @ K (B x S x D):flops += 2*B*S*T*D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Compute Y = softmax(A) (B x S x T x K x G) @ V (B x S x K x H):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flops += 2*B*S*T*D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Write Y (B x T x D) to HBM:bytes_transferred += 2*B*T*D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flops == 4*B*S*T*D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bytes_transferred == 4*B*S*D + 4*B*T*D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2740" y="1881505"/>
            <a:ext cx="3979545" cy="45770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10.1.4 A</a:t>
            </a:r>
            <a:r>
              <a:rPr lang="en-US" altLang="zh-CN">
                <a:sym typeface="+mn-ea"/>
              </a:rPr>
              <a:t>rithmetic Intensity of Inference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pPr marL="0" indent="0">
              <a:buNone/>
            </a:pPr>
            <a:r>
              <a:rPr lang="en-US" altLang="zh-CN"/>
              <a:t>intensity = (flops / bytes_transferred)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intensity == S*T / (S + T)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For the two stages:    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Prefill: T = S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prefill_intensity == S/2  # Good!    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Generation: T = 1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generate_intensity &lt; 1  # Bad!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Why</a:t>
            </a:r>
            <a:r>
              <a:rPr lang="zh-CN" altLang="en-US">
                <a:sym typeface="+mn-ea"/>
              </a:rPr>
              <a:t>：</a:t>
            </a:r>
            <a:r>
              <a:rPr lang="en-US" altLang="zh-CN">
                <a:sym typeface="+mn-ea"/>
              </a:rPr>
              <a:t>Unlike MLPs, no dependence on B, so batching doesn't help!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In MLP layers, every sequence hits the same MLP weights (Wup, Wgate, Wdown don't depend on B)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In attention layers, every sequence has its own vectors KV cache (Q, K, V all depend on B)</a:t>
            </a:r>
            <a:endParaRPr lang="en-US" altLang="zh-C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10.1.4 A</a:t>
            </a:r>
            <a:r>
              <a:rPr lang="en-US" altLang="zh-CN">
                <a:sym typeface="+mn-ea"/>
              </a:rPr>
              <a:t>rithmetic Intensity of Inference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/>
              <a:t>Summary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Prefill is compute-limited, generation is memory-limited;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>
                <a:sym typeface="+mn-ea"/>
              </a:rPr>
              <a:t>Prefill:</a:t>
            </a:r>
            <a:endParaRPr lang="en-US" altLang="zh-CN">
              <a:sym typeface="+mn-ea"/>
            </a:endParaRPr>
          </a:p>
          <a:p>
            <a:pPr marL="0" indent="457200">
              <a:buNone/>
            </a:pPr>
            <a:r>
              <a:rPr lang="en-US" altLang="zh-CN">
                <a:sym typeface="+mn-ea"/>
              </a:rPr>
              <a:t>MLP intensity is B*T ;</a:t>
            </a:r>
            <a:endParaRPr lang="en-US" altLang="zh-CN"/>
          </a:p>
          <a:p>
            <a:pPr marL="0" indent="457200">
              <a:buNone/>
            </a:pPr>
            <a:r>
              <a:rPr lang="en-US" altLang="zh-CN">
                <a:sym typeface="+mn-ea"/>
              </a:rPr>
              <a:t>Attention intensity is S/2;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Generation:</a:t>
            </a:r>
            <a:endParaRPr lang="en-US" altLang="zh-CN"/>
          </a:p>
          <a:p>
            <a:pPr marL="0" indent="457200">
              <a:buNone/>
            </a:pPr>
            <a:r>
              <a:rPr lang="en-US" altLang="zh-CN"/>
              <a:t>MLP intensity is B (requires concurrent requests);</a:t>
            </a:r>
            <a:endParaRPr lang="en-US" altLang="zh-CN"/>
          </a:p>
          <a:p>
            <a:pPr marL="0" indent="457200">
              <a:buNone/>
            </a:pPr>
            <a:r>
              <a:rPr lang="en-US" altLang="zh-CN"/>
              <a:t>Attention intensity is 1 (impossible to improve);</a:t>
            </a:r>
            <a:endParaRPr lang="en-US" altLang="zh-C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10.1.5 </a:t>
            </a:r>
            <a:r>
              <a:rPr lang="en-US" altLang="zh-CN">
                <a:sym typeface="+mn-ea"/>
              </a:rPr>
              <a:t>Throughput and Latency</a:t>
            </a:r>
            <a:endParaRPr lang="zh-CN" altLang="en-US"/>
          </a:p>
        </p:txBody>
      </p:sp>
      <p:sp>
        <p:nvSpPr>
          <p:cNvPr id="5" name="内容占位符 4"/>
          <p:cNvSpPr/>
          <p:nvPr>
            <p:ph idx="1"/>
          </p:nvPr>
        </p:nvSpPr>
        <p:spPr>
          <a:xfrm>
            <a:off x="838200" y="1825625"/>
            <a:ext cx="10515600" cy="873125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zh-CN"/>
              <a:t>Assumption: can overlap compute and communication perfectly and ignore various types of overhead.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6" name="图片 5" descr="屏幕截图 2025-11-14 1731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3850" y="2223135"/>
            <a:ext cx="3779520" cy="215074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26465" y="4018280"/>
            <a:ext cx="9221470" cy="2221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altLang="zh-CN" sz="2400">
                <a:sym typeface="+mn-ea"/>
              </a:rPr>
              <a:t>Tradeoff between latency and throughput:</a:t>
            </a:r>
            <a:endParaRPr lang="en-US" altLang="zh-CN" sz="2400"/>
          </a:p>
          <a:p>
            <a:pPr marL="0" indent="457200">
              <a:buNone/>
            </a:pPr>
            <a:r>
              <a:rPr lang="en-US" altLang="zh-CN" sz="2400">
                <a:sym typeface="+mn-ea"/>
              </a:rPr>
              <a:t>Smaller batch sizes yields better latency but worse throughput</a:t>
            </a:r>
            <a:endParaRPr lang="en-US" altLang="zh-CN" sz="2400"/>
          </a:p>
          <a:p>
            <a:pPr marL="0" indent="457200">
              <a:buNone/>
            </a:pPr>
            <a:r>
              <a:rPr lang="en-US" altLang="zh-CN" sz="2400">
                <a:sym typeface="+mn-ea"/>
              </a:rPr>
              <a:t>Larger batch sizes yields better throughput but worse latency</a:t>
            </a:r>
            <a:endParaRPr lang="en-US" altLang="zh-CN" sz="2400"/>
          </a:p>
          <a:p>
            <a:pPr marL="0" indent="0">
              <a:buNone/>
            </a:pPr>
            <a:r>
              <a:rPr lang="en-US" altLang="zh-CN" sz="2400">
                <a:sym typeface="+mn-ea"/>
              </a:rPr>
              <a:t>Note: time-to-first-token (TTFT) is essentially a function of prefill</a:t>
            </a:r>
            <a:endParaRPr lang="en-US" altLang="zh-CN" sz="2400"/>
          </a:p>
          <a:p>
            <a:pPr marL="0" indent="457200">
              <a:buNone/>
            </a:pPr>
            <a:r>
              <a:rPr lang="en-US" altLang="zh-CN" sz="2400">
                <a:sym typeface="+mn-ea"/>
              </a:rPr>
              <a:t>Use smaller batch sizes during prefill for faster TTFT</a:t>
            </a:r>
            <a:endParaRPr lang="en-US" altLang="zh-CN" sz="2400"/>
          </a:p>
          <a:p>
            <a:pPr marL="0" indent="457200">
              <a:buNone/>
            </a:pPr>
            <a:r>
              <a:rPr lang="en-US" altLang="zh-CN" sz="2400">
                <a:sym typeface="+mn-ea"/>
              </a:rPr>
              <a:t>Use larger batch sizes during generation to improve throughput</a:t>
            </a:r>
            <a:endParaRPr lang="zh-CN" altLang="en-US"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10.2</a:t>
            </a:r>
            <a:r>
              <a:rPr lang="en-US" altLang="en-US">
                <a:solidFill>
                  <a:srgbClr val="00B0F0"/>
                </a:solidFill>
                <a:sym typeface="+mn-ea"/>
              </a:rPr>
              <a:t> </a:t>
            </a:r>
            <a:r>
              <a:rPr lang="en-US" altLang="zh-CN">
                <a:sym typeface="+mn-ea"/>
              </a:rPr>
              <a:t>Taking shortcuts (lossy)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Reduce KV Cache Size</a:t>
            </a:r>
            <a:endParaRPr lang="en-US" altLang="zh-CN"/>
          </a:p>
          <a:p>
            <a:pPr marL="0" indent="457200">
              <a:buNone/>
            </a:pPr>
            <a:r>
              <a:rPr lang="en-US" altLang="zh-CN">
                <a:sym typeface="+mn-ea"/>
              </a:rPr>
              <a:t>GQA,MLA,CLA,Local attention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Alternatives to the Transformer</a:t>
            </a:r>
            <a:endParaRPr lang="en-US" altLang="zh-CN"/>
          </a:p>
          <a:p>
            <a:pPr marL="0" indent="457200">
              <a:buNone/>
            </a:pPr>
            <a:r>
              <a:rPr lang="en-US" altLang="zh-CN"/>
              <a:t>State-space models</a:t>
            </a:r>
            <a:endParaRPr lang="en-US" altLang="zh-CN"/>
          </a:p>
          <a:p>
            <a:pPr marL="0" indent="457200">
              <a:buNone/>
            </a:pPr>
            <a:r>
              <a:rPr lang="en-US" altLang="zh-CN"/>
              <a:t>Diffusion models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Quantization</a:t>
            </a:r>
            <a:endParaRPr lang="en-US" altLang="zh-CN"/>
          </a:p>
          <a:p>
            <a:pPr marL="0" indent="457200">
              <a:buNone/>
            </a:pPr>
            <a:r>
              <a:rPr lang="en-US" altLang="zh-CN">
                <a:sym typeface="+mn-ea"/>
              </a:rPr>
              <a:t>Standard quantization,LLM.int8,Activation-aware quantization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Model Pruning</a:t>
            </a:r>
            <a:endParaRPr lang="en-US" altLang="zh-C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10.2.1 </a:t>
            </a:r>
            <a:r>
              <a:rPr lang="en-US" altLang="zh-CN">
                <a:sym typeface="+mn-ea"/>
              </a:rPr>
              <a:t>Reduce KV Cache Size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zh-CN"/>
              <a:t>Memory is the bottleneck for inference.So let's try to reduce the size of the KV cache.But make sure we don't lose too much accuracy.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>
                <a:sym typeface="+mn-ea"/>
              </a:rPr>
              <a:t>Grouped-query attention (GQA)</a:t>
            </a:r>
            <a:endParaRPr lang="en-US" altLang="zh-CN">
              <a:sym typeface="+mn-ea"/>
            </a:endParaRPr>
          </a:p>
          <a:p>
            <a:pPr marL="0" indent="0">
              <a:buNone/>
            </a:pPr>
            <a:endParaRPr lang="en-US" altLang="zh-CN">
              <a:sym typeface="+mn-ea"/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>
                <a:sym typeface="+mn-ea"/>
              </a:rPr>
              <a:t>Multi-head latent attention (MLA)</a:t>
            </a:r>
            <a:endParaRPr lang="en-US" altLang="zh-CN">
              <a:sym typeface="+mn-ea"/>
            </a:endParaRPr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>
                <a:sym typeface="+mn-ea"/>
              </a:rPr>
              <a:t>Cross-layer attention (CLA)</a:t>
            </a:r>
            <a:endParaRPr lang="en-US" altLang="zh-CN">
              <a:sym typeface="+mn-ea"/>
            </a:endParaRPr>
          </a:p>
          <a:p>
            <a:pPr marL="0" indent="0">
              <a:buNone/>
            </a:pPr>
            <a:endParaRPr lang="en-US" altLang="zh-CN">
              <a:sym typeface="+mn-ea"/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>
                <a:sym typeface="+mn-ea"/>
              </a:rPr>
              <a:t>Local attention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10.2.1 </a:t>
            </a:r>
            <a:r>
              <a:rPr lang="en-US" altLang="zh-CN"/>
              <a:t>Grouped-query attention (GQA)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Idea: N query heads, but only K key and value heads, each interacting with N/K query heads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Multi-headed attention (MHA): K=N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Multi-query attention (MQA): K=1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Group-query attention (GQA): K is somewhere in between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4" name="图片 3" descr="屏幕截图 2025-11-14 1741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5605" y="4294505"/>
            <a:ext cx="6320790" cy="20764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10.2.1 </a:t>
            </a:r>
            <a:r>
              <a:rPr lang="en-US" altLang="zh-CN">
                <a:sym typeface="+mn-ea"/>
              </a:rPr>
              <a:t>Grouped-query attention (GQA)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1.Worse latency, but better throughput (and it fits in memory now!).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2.Latency/throughput improvements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3.Check that accuracy doesn't drop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1725" y="2284095"/>
            <a:ext cx="2311400" cy="15487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345" y="2284095"/>
            <a:ext cx="2621915" cy="154876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2450" y="4886325"/>
            <a:ext cx="5511800" cy="106235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10.2.1 Multi-head latent attention (MLA)</a:t>
            </a:r>
            <a:endParaRPr lang="en-US" altLang="zh-CN"/>
          </a:p>
        </p:txBody>
      </p:sp>
      <p:sp>
        <p:nvSpPr>
          <p:cNvPr id="5" name="内容占位符 4"/>
          <p:cNvSpPr/>
          <p:nvPr>
            <p:ph idx="1"/>
          </p:nvPr>
        </p:nvSpPr>
        <p:spPr>
          <a:xfrm>
            <a:off x="838200" y="1416050"/>
            <a:ext cx="10515600" cy="4351338"/>
          </a:xfrm>
        </p:spPr>
        <p:txBody>
          <a:bodyPr/>
          <a:p>
            <a:pPr marL="0" indent="0">
              <a:buNone/>
            </a:pPr>
            <a:r>
              <a:rPr lang="en-US" altLang="zh-CN"/>
              <a:t>Key idea: project down each key and value vector from N*H dimensions to C dimensions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DeepSeek v2: reduce N*H = 16384 to C = 512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Latency/throughput improvements follow similarly from the KV cache reduction as argued earlier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6" name="图片 5" descr="屏幕截图 2025-11-14 1748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8930" y="3722370"/>
            <a:ext cx="8994140" cy="234632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10.2.1 Multi-head latent attention (MLA)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Let's now check the accuracy.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MHA is better than GQA (though more expensive)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MLA is a bit better than MHA (and much cheaper)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7425" y="2806700"/>
            <a:ext cx="4344670" cy="13493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7450" y="4904105"/>
            <a:ext cx="4451985" cy="140398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10.2.1 Cross-layer attention (CLA)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4990"/>
            <a:ext cx="5257800" cy="4352290"/>
          </a:xfrm>
        </p:spPr>
        <p:txBody>
          <a:bodyPr/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Idea: share KVs across layers (just as GQA shares KVs across heads)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Empirically improves the pareto frontier of accuracy and KV cache size (latency and throughput)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0975" y="1691005"/>
            <a:ext cx="4287520" cy="445579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10.2.1 Local attention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Idea: just look at the local context, which is most relevant for modeling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Effective context scales linearly with the number of layers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KV cache is independent of sequence length!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920" y="3537585"/>
            <a:ext cx="10677525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10.2.1 Local attention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>
                <a:sym typeface="+mn-ea"/>
              </a:rPr>
              <a:t>Problem: this can still hurt accuracy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Solution: interleave local attention with global attention (hybrid layers)</a:t>
            </a:r>
            <a:endParaRPr lang="en-US" altLang="zh-CN"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ym typeface="+mn-ea"/>
              </a:rPr>
              <a:t>Example: uses 1 global layer every 6 layers (in addition to CLA)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640" y="3429000"/>
            <a:ext cx="5969000" cy="266128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10.2.2 </a:t>
            </a:r>
            <a:r>
              <a:rPr lang="en-US" altLang="zh-CN">
                <a:sym typeface="+mn-ea"/>
              </a:rPr>
              <a:t>Alternatives to the Transformer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Attention + autoregression is fundamentally memory-limited (Transformers were not designed with inference in mind).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Can we substantially improve things if we go beyond the Transformer?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We will discuss two directions: </a:t>
            </a:r>
            <a:endParaRPr lang="en-US" altLang="zh-CN"/>
          </a:p>
          <a:p>
            <a:pPr marL="0" indent="0">
              <a:buNone/>
            </a:pPr>
            <a:r>
              <a:rPr lang="en-US" altLang="zh-CN" b="1"/>
              <a:t>state-space models</a:t>
            </a:r>
            <a:r>
              <a:rPr lang="en-US" altLang="zh-CN"/>
              <a:t> and </a:t>
            </a:r>
            <a:r>
              <a:rPr lang="en-US" altLang="zh-CN" b="1"/>
              <a:t>diffusion models</a:t>
            </a:r>
            <a:r>
              <a:rPr lang="en-US" altLang="zh-CN"/>
              <a:t>.</a:t>
            </a:r>
            <a:endParaRPr lang="en-US" altLang="zh-CN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10.2.2 State-space models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Idea: from signal processing to model long-context sequences in a sub-quadratic time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S4: based on classic state space models, good at synthetic long-context tasks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Weaknesses: bad at solving associative recall tasks important for language (where Transformers do well)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9775" y="4256405"/>
            <a:ext cx="3919855" cy="122999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10.2.2 State-space models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655"/>
          </a:xfrm>
        </p:spPr>
        <p:txBody>
          <a:bodyPr/>
          <a:p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Mamba: allow SSM parameters to be input-dependent, match Transformers at 1B scale</a:t>
            </a:r>
            <a:endParaRPr lang="en-US" altLang="zh-CN"/>
          </a:p>
          <a:p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Jamba: interleave Transformer-Mamba layers (1:7 ratio) with a 52B MoE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8620" y="1570355"/>
            <a:ext cx="4500245" cy="460692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10.2.2 Diffusion models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Idea: generate each token in parallel (not autoregressively), refine multiple time steps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Start with random noise (over entire sequence), iteratively refine it.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850" y="3676650"/>
            <a:ext cx="10073640" cy="189992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10.2.3 </a:t>
            </a:r>
            <a:r>
              <a:rPr lang="en-US" altLang="zh-CN">
                <a:sym typeface="+mn-ea"/>
              </a:rPr>
              <a:t>Quantization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p>
            <a:pPr marL="0" indent="0">
              <a:buNone/>
            </a:pPr>
            <a:r>
              <a:rPr lang="en-US" altLang="zh-CN"/>
              <a:t>Key idea: reduce the precision of numbers</a:t>
            </a:r>
            <a:endParaRPr lang="en-US" altLang="zh-CN"/>
          </a:p>
          <a:p>
            <a:pPr marL="0" indent="0">
              <a:buNone/>
            </a:pPr>
            <a:r>
              <a:rPr lang="en-US" altLang="zh-CN" b="1"/>
              <a:t>fp32 </a:t>
            </a:r>
            <a:r>
              <a:rPr lang="en-US" altLang="zh-CN"/>
              <a:t>(4 bytes): needed for parameters and optimizer states during training</a:t>
            </a:r>
            <a:endParaRPr lang="en-US" altLang="zh-CN"/>
          </a:p>
          <a:p>
            <a:pPr marL="0" indent="0">
              <a:buNone/>
            </a:pPr>
            <a:r>
              <a:rPr lang="en-US" altLang="zh-CN" b="1"/>
              <a:t>bf16</a:t>
            </a:r>
            <a:r>
              <a:rPr lang="en-US" altLang="zh-CN"/>
              <a:t> (2 bytes): default for inference</a:t>
            </a:r>
            <a:endParaRPr lang="en-US" altLang="zh-CN"/>
          </a:p>
          <a:p>
            <a:pPr marL="0" indent="0">
              <a:buNone/>
            </a:pPr>
            <a:r>
              <a:rPr lang="en-US" altLang="zh-CN" b="1"/>
              <a:t>fp8</a:t>
            </a:r>
            <a:r>
              <a:rPr lang="en-US" altLang="zh-CN"/>
              <a:t> (1 byte) [-240, 240] for e4m3 on H100s: can train if you dare</a:t>
            </a:r>
            <a:endParaRPr lang="en-US" altLang="zh-CN"/>
          </a:p>
          <a:p>
            <a:pPr marL="0" indent="0">
              <a:buNone/>
            </a:pPr>
            <a:r>
              <a:rPr lang="en-US" altLang="zh-CN" b="1"/>
              <a:t>int8</a:t>
            </a:r>
            <a:r>
              <a:rPr lang="en-US" altLang="zh-CN"/>
              <a:t> (1 byte) [-128, 127]: less accurate but cheaper than fp8, but for inference .</a:t>
            </a:r>
            <a:endParaRPr lang="en-US" altLang="zh-CN"/>
          </a:p>
          <a:p>
            <a:pPr marL="0" indent="0">
              <a:buNone/>
            </a:pPr>
            <a:r>
              <a:rPr lang="en-US" altLang="zh-CN" b="1"/>
              <a:t>int4</a:t>
            </a:r>
            <a:r>
              <a:rPr lang="en-US" altLang="zh-CN"/>
              <a:t> (0.5 bytes) [-8, 7]: cheaper, even less accurate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Quantization-aware training (QAT):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train with quantization, but doesn't scale up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Post-training quantization (PTQ):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run on sample data to determine scale and zero point for each layer or tensor</a:t>
            </a:r>
            <a:endParaRPr lang="en-US" altLang="zh-CN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10.2.3 </a:t>
            </a:r>
            <a:r>
              <a:rPr lang="en-US" altLang="zh-CN">
                <a:sym typeface="+mn-ea"/>
              </a:rPr>
              <a:t>Quantization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95755"/>
            <a:ext cx="10515600" cy="4351338"/>
          </a:xfrm>
        </p:spPr>
        <p:txBody>
          <a:bodyPr/>
          <a:p>
            <a:pPr marL="0" indent="0">
              <a:buNone/>
            </a:pPr>
            <a:r>
              <a:rPr lang="en-US" altLang="zh-CN"/>
              <a:t>Standard quantization (scale by max of absolute values):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143125"/>
            <a:ext cx="6874510" cy="40341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892415" y="2364105"/>
            <a:ext cx="3855085" cy="3813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800">
              <a:sym typeface="+mn-ea"/>
            </a:endParaRPr>
          </a:p>
          <a:p>
            <a:r>
              <a:rPr lang="en-US" altLang="zh-CN" sz="2800">
                <a:sym typeface="+mn-ea"/>
              </a:rPr>
              <a:t>Problem: outliers screw everything up</a:t>
            </a:r>
            <a:endParaRPr lang="en-US" altLang="zh-CN" sz="2800">
              <a:sym typeface="+mn-ea"/>
            </a:endParaRPr>
          </a:p>
          <a:p>
            <a:endParaRPr lang="en-US" altLang="zh-CN" sz="2800">
              <a:sym typeface="+mn-ea"/>
            </a:endParaRPr>
          </a:p>
          <a:p>
            <a:endParaRPr lang="en-US" altLang="zh-CN" sz="2800"/>
          </a:p>
          <a:p>
            <a:r>
              <a:rPr lang="en-US" altLang="zh-CN" sz="2800">
                <a:sym typeface="+mn-ea"/>
              </a:rPr>
              <a:t>Solution: extract outliers and process them in fp16</a:t>
            </a:r>
            <a:endParaRPr lang="zh-CN" altLang="en-US" sz="28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10.2.3 Quantization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LLM.int8:It works well (but is 15-23% slower than fp16):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9090" y="2418715"/>
            <a:ext cx="8973820" cy="355536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10.2.3 Quantization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Activation-aware quantization</a:t>
            </a:r>
            <a:endParaRPr lang="en-US" altLang="zh-CN"/>
          </a:p>
          <a:p>
            <a:r>
              <a:rPr lang="en-US" altLang="zh-CN"/>
              <a:t>Idea: select which weights (0.1-1%) to keep in high precision based on activations</a:t>
            </a:r>
            <a:endParaRPr lang="en-US" altLang="zh-CN"/>
          </a:p>
          <a:p>
            <a:r>
              <a:rPr lang="en-US" altLang="zh-CN"/>
              <a:t>fp16 -&gt; int3 produces 4x lower memory, 3.2x speedup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3863975"/>
            <a:ext cx="9638030" cy="222313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10.2.4 Model Pruning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zh-CN"/>
              <a:t>Key idea: just rip out parts of an expensive model to make it cheaper. and then fix it up.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1025" y="2539365"/>
            <a:ext cx="4870450" cy="363791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p>
            <a:r>
              <a:rPr lang="en-US" altLang="zh-CN">
                <a:sym typeface="+mn-ea"/>
              </a:rPr>
              <a:t>10.2.4 Model Pruning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4149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>
                <a:sym typeface="+mn-ea"/>
              </a:rPr>
              <a:t>Algorithm:</a:t>
            </a:r>
            <a:endParaRPr lang="en-US" altLang="zh-CN"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ym typeface="+mn-ea"/>
              </a:rPr>
              <a:t>①</a:t>
            </a:r>
            <a:r>
              <a:rPr lang="en-US" altLang="zh-CN">
                <a:sym typeface="+mn-ea"/>
              </a:rPr>
              <a:t>Identify important {layer, head, hidden dimension} on a small Calibration dataset (1024 samples)</a:t>
            </a:r>
            <a:endParaRPr lang="en-US" altLang="zh-CN">
              <a:sym typeface="+mn-ea"/>
            </a:endParaRPr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zh-CN" altLang="en-US">
                <a:sym typeface="+mn-ea"/>
              </a:rPr>
              <a:t>②</a:t>
            </a:r>
            <a:r>
              <a:rPr lang="en-US" altLang="zh-CN">
                <a:sym typeface="+mn-ea"/>
              </a:rPr>
              <a:t>Remove unimportant layers to get a smaller model</a:t>
            </a:r>
            <a:endParaRPr lang="en-US" altLang="zh-CN">
              <a:sym typeface="+mn-ea"/>
            </a:endParaRPr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zh-CN" altLang="en-US">
                <a:sym typeface="+mn-ea"/>
              </a:rPr>
              <a:t>③</a:t>
            </a:r>
            <a:r>
              <a:rPr lang="en-US" altLang="zh-CN">
                <a:sym typeface="+mn-ea"/>
              </a:rPr>
              <a:t>Distill the original model into pruned model</a:t>
            </a:r>
            <a:endParaRPr lang="en-US" altLang="zh-CN"/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5985" y="2572385"/>
            <a:ext cx="5748020" cy="236728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10.2.4 </a:t>
            </a:r>
            <a:r>
              <a:rPr lang="en-US" altLang="zh-CN">
                <a:sym typeface="+mn-ea"/>
              </a:rPr>
              <a:t>Model Pruning</a:t>
            </a:r>
            <a:endParaRPr lang="en-US" altLang="zh-CN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From scratch recipe:</a:t>
            </a:r>
            <a:endParaRPr lang="en-US" altLang="zh-CN"/>
          </a:p>
          <a:p>
            <a:pPr marL="0" indent="457200">
              <a:buNone/>
            </a:pPr>
            <a:r>
              <a:rPr lang="en-US" altLang="zh-CN"/>
              <a:t>Define faster model architecture</a:t>
            </a:r>
            <a:endParaRPr lang="en-US" altLang="zh-CN"/>
          </a:p>
          <a:p>
            <a:pPr marL="0" indent="457200">
              <a:buNone/>
            </a:pPr>
            <a:r>
              <a:rPr lang="en-US" altLang="zh-CN"/>
              <a:t>Train faster model</a:t>
            </a:r>
            <a:endParaRPr lang="en-US" altLang="zh-CN"/>
          </a:p>
          <a:p>
            <a:pPr marL="0" indent="45720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Distillation recipe: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Define faster model architecture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Initialize weights using original model (different architecture)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Repair faster model (distillation)</a:t>
            </a:r>
            <a:endParaRPr lang="en-US" altLang="zh-CN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10.3 Use shortcuts but double check (lossless)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Prefill: given a sequence, encode tokens in parallel (compute-limited)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Generation: generate one token at a time (memory-limited)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In other words, checking is faster than generation.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>
                <a:sym typeface="+mn-ea"/>
              </a:rPr>
              <a:t>Speculative Sampling</a:t>
            </a:r>
            <a:endParaRPr lang="en-US" altLang="zh-CN">
              <a:sym typeface="+mn-ea"/>
            </a:endParaRPr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10.3.1 </a:t>
            </a:r>
            <a:r>
              <a:rPr lang="en-US" altLang="zh-CN">
                <a:sym typeface="+mn-ea"/>
              </a:rPr>
              <a:t>Speculative Sampling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zh-CN">
                <a:sym typeface="+mn-ea"/>
              </a:rPr>
              <a:t>Speculative sampling:</a:t>
            </a:r>
            <a:endParaRPr lang="en-US" altLang="zh-CN"/>
          </a:p>
          <a:p>
            <a:pPr marL="0" indent="457200">
              <a:buNone/>
            </a:pPr>
            <a:r>
              <a:rPr lang="en-US" altLang="zh-CN">
                <a:sym typeface="+mn-ea"/>
              </a:rPr>
              <a:t>Use a cheaper draft model p to guess a few tokens (e.g., 4)</a:t>
            </a:r>
            <a:r>
              <a:rPr lang="zh-CN" altLang="en-US">
                <a:sym typeface="+mn-ea"/>
              </a:rPr>
              <a:t>；</a:t>
            </a:r>
            <a:r>
              <a:rPr lang="en-US" altLang="zh-CN">
                <a:sym typeface="+mn-ea"/>
              </a:rPr>
              <a:t>Evaluate with target model q (process tokens in parallel), and accept if it looks good</a:t>
            </a:r>
            <a:endParaRPr lang="en-US" altLang="zh-CN">
              <a:sym typeface="+mn-ea"/>
            </a:endParaRPr>
          </a:p>
          <a:p>
            <a:pPr marL="0" indent="457200">
              <a:buNone/>
            </a:pPr>
            <a:endParaRPr lang="en-US" altLang="zh-CN">
              <a:sym typeface="+mn-ea"/>
            </a:endParaRPr>
          </a:p>
          <a:p>
            <a:pPr marL="0" indent="0">
              <a:buNone/>
            </a:pPr>
            <a:r>
              <a:rPr lang="en-US" altLang="zh-CN"/>
              <a:t>In practice:</a:t>
            </a:r>
            <a:endParaRPr lang="en-US" altLang="zh-CN"/>
          </a:p>
          <a:p>
            <a:pPr marL="0" indent="457200">
              <a:buNone/>
            </a:pPr>
            <a:r>
              <a:rPr lang="en-US" altLang="zh-CN"/>
              <a:t>Target model has 70B parameters, draft model has 8B parameters</a:t>
            </a:r>
            <a:endParaRPr lang="en-US" altLang="zh-CN"/>
          </a:p>
          <a:p>
            <a:pPr marL="0" indent="457200">
              <a:buNone/>
            </a:pPr>
            <a:r>
              <a:rPr lang="en-US" altLang="zh-CN"/>
              <a:t>Target model has 8B parameters, draft model has 1B parameters</a:t>
            </a:r>
            <a:endParaRPr lang="en-US" altLang="zh-CN"/>
          </a:p>
          <a:p>
            <a:pPr marL="0" indent="457200">
              <a:buNone/>
            </a:pPr>
            <a:r>
              <a:rPr lang="en-US" altLang="zh-CN"/>
              <a:t>Try to make draft model as close to target (distillation)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10.3.1 </a:t>
            </a:r>
            <a:r>
              <a:rPr lang="en-US" altLang="zh-CN">
                <a:sym typeface="+mn-ea"/>
              </a:rPr>
              <a:t>Speculative Sampling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Extensions to improve the draft model:</a:t>
            </a:r>
            <a:endParaRPr lang="en-US" altLang="zh-CN"/>
          </a:p>
          <a:p>
            <a:r>
              <a:rPr lang="en-US" altLang="zh-CN"/>
              <a:t>Medusa: draft model generates multiple tokens in parallel    </a:t>
            </a:r>
            <a:endParaRPr lang="en-US" altLang="zh-CN"/>
          </a:p>
          <a:p>
            <a:r>
              <a:rPr lang="en-US" altLang="zh-CN"/>
              <a:t>EAGLE: draft model takes high-level features from target model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6570" y="3429000"/>
            <a:ext cx="8368030" cy="277685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10.4 </a:t>
            </a:r>
            <a:r>
              <a:rPr lang="en-US" altLang="zh-CN">
                <a:sym typeface="+mn-ea"/>
              </a:rPr>
              <a:t>Handling dynamic workloads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Batching over sequences in live traffic is tricky because: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Requests arrive at different times (waiting for batch is bad for early requests)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Sequences have shared prefixes (e.g., system prompts, generating multiple samples)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Sequences have different lengths (padding is inefficient)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>
                <a:sym typeface="+mn-ea"/>
              </a:rPr>
              <a:t>Continuous Batching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>
                <a:sym typeface="+mn-ea"/>
              </a:rPr>
              <a:t>PagedAttention</a:t>
            </a:r>
            <a:endParaRPr lang="zh-CN" altLang="en-US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10.4.1 Continuous Batching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zh-CN" b="1"/>
              <a:t>Problem</a:t>
            </a:r>
            <a:r>
              <a:rPr lang="en-US" altLang="zh-CN"/>
              <a:t>: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Training: get a dense block of tokens (batch size x sequence length)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Inference: requests arrive and finish at different times, so you have a ragged array</a:t>
            </a:r>
            <a:endParaRPr lang="en-US" altLang="zh-CN"/>
          </a:p>
          <a:p>
            <a:pPr marL="0" indent="0">
              <a:buNone/>
            </a:pPr>
            <a:r>
              <a:rPr lang="en-US" altLang="zh-CN" b="1"/>
              <a:t>Solution</a:t>
            </a:r>
            <a:r>
              <a:rPr lang="en-US" altLang="zh-CN"/>
              <a:t>: iteration-level scheduling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Decode step by step;Add new requests to the batch as they arrive (so don't have to wait until generation completes)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335" y="4845050"/>
            <a:ext cx="5447030" cy="12128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3155" y="4845050"/>
            <a:ext cx="5160645" cy="121221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10.4.1 Continuous Batching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pPr marL="0" indent="0">
              <a:buNone/>
            </a:pPr>
            <a:r>
              <a:rPr lang="en-US" altLang="zh-CN" b="1"/>
              <a:t>Problem</a:t>
            </a:r>
            <a:r>
              <a:rPr lang="en-US" altLang="zh-CN"/>
              <a:t>:  </a:t>
            </a:r>
            <a:endParaRPr lang="en-US" altLang="zh-CN"/>
          </a:p>
          <a:p>
            <a:pPr marL="0" indent="457200">
              <a:buNone/>
            </a:pPr>
            <a:r>
              <a:rPr lang="en-US" altLang="zh-CN"/>
              <a:t>Batching only works when all sequences have the same dimensionality. But each request might have a different length</a:t>
            </a:r>
            <a:endParaRPr lang="en-US" altLang="zh-CN"/>
          </a:p>
          <a:p>
            <a:pPr marL="0" indent="0">
              <a:buNone/>
            </a:pPr>
            <a:r>
              <a:rPr lang="en-US" altLang="zh-CN" b="1"/>
              <a:t>Solution</a:t>
            </a:r>
            <a:r>
              <a:rPr lang="en-US" altLang="zh-CN"/>
              <a:t>: selective batching   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Training: when all sequences of the same length, operate on a B x S x H tensor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But we might have different lengths: [3, H], [9, H], [5, H], etc.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Attention computation: process each sequence separately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Non-attention computation: concatenate all the sequences together to [3 + 9 + 5, H]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10.4.2 PagedAttention 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zh-CN" b="1"/>
              <a:t>Previous status quo</a:t>
            </a:r>
            <a:r>
              <a:rPr lang="en-US" altLang="zh-CN"/>
              <a:t>: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Request comes in;Allocate section of KV cache for prompt and response(up to a max length)</a:t>
            </a:r>
            <a:endParaRPr lang="en-US" altLang="zh-CN"/>
          </a:p>
          <a:p>
            <a:pPr marL="0" indent="0">
              <a:buNone/>
            </a:pPr>
            <a:r>
              <a:rPr lang="en-US" altLang="zh-CN" b="1"/>
              <a:t>Problem</a:t>
            </a:r>
            <a:r>
              <a:rPr lang="en-US" altLang="zh-CN"/>
              <a:t>: fragmentation (what happens to your hard drive)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We might generate much fewer tokens (internal fragmentation)!   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Extra unused space between sections (external fragmentation)!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370" y="4729480"/>
            <a:ext cx="9981565" cy="162242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10.4.2 PagedAttention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zh-CN" b="1"/>
              <a:t>Solution</a:t>
            </a:r>
            <a:r>
              <a:rPr lang="en-US" altLang="zh-CN"/>
              <a:t>: PagedAttention (remember operating systems)  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Divide the KV cache of a sequence into non-contiguous blocks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 b="1"/>
              <a:t>Summary</a:t>
            </a:r>
            <a:r>
              <a:rPr lang="en-US" altLang="zh-CN"/>
              <a:t>: use ideas from operating systems (paging) to make use of memory for dynamic workloads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7080" y="2735580"/>
            <a:ext cx="5193665" cy="216408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10.5 </a:t>
            </a:r>
            <a:r>
              <a:rPr lang="en-US" altLang="zh-CN">
                <a:sym typeface="+mn-ea"/>
              </a:rPr>
              <a:t>Summary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Inference is important (actual use, evaluation, reinforcement learning)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Different characteristics compared to training (memory-limited, dynamic)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Techniques: new architectures, quantization,distillation, speculative decoding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Ideas from systems (speculative execution, paging)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New architectures have huge potential for improvement</a:t>
            </a:r>
            <a:endParaRPr lang="en-US" altLang="zh-CN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33380" cy="6073140"/>
          </a:xfrm>
        </p:spPr>
        <p:txBody>
          <a:bodyPr/>
          <a:p>
            <a:pPr algn="ctr"/>
            <a:r>
              <a:rPr lang="en-US" altLang="zh-CN" sz="7200"/>
              <a:t>Lesson 12</a:t>
            </a:r>
            <a:r>
              <a:rPr lang="zh-CN" altLang="en-US" sz="7200"/>
              <a:t>：</a:t>
            </a:r>
            <a:r>
              <a:rPr lang="en-US" altLang="zh-CN" sz="7200"/>
              <a:t>E</a:t>
            </a:r>
            <a:r>
              <a:rPr lang="en-US" altLang="zh-CN" sz="7200"/>
              <a:t>valuation</a:t>
            </a:r>
            <a:endParaRPr lang="en-US" altLang="zh-CN" sz="72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Overview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9747250" cy="436054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/>
              <a:t>Lesson 12:Evaluation</a:t>
            </a:r>
            <a:endParaRPr lang="en-US" altLang="zh-CN"/>
          </a:p>
          <a:p>
            <a:endParaRPr lang="en-US" altLang="zh-CN"/>
          </a:p>
          <a:p>
            <a:pPr marL="0" indent="0">
              <a:buNone/>
            </a:pPr>
            <a:r>
              <a:rPr lang="en-US" altLang="en-US" sz="2400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12.1 </a:t>
            </a:r>
            <a:r>
              <a:rPr lang="en-US" altLang="zh-CN" sz="2400"/>
              <a:t>Introduce the background</a:t>
            </a:r>
            <a:endParaRPr lang="en-US" altLang="zh-CN" sz="2400"/>
          </a:p>
          <a:p>
            <a:endParaRPr lang="en-US" altLang="zh-CN" sz="2400"/>
          </a:p>
          <a:p>
            <a:pPr marL="0" indent="0">
              <a:buNone/>
            </a:pPr>
            <a:r>
              <a:rPr lang="en-US" altLang="en-US" sz="2400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12.2</a:t>
            </a:r>
            <a:r>
              <a:rPr lang="en-US" altLang="en-US" sz="2400">
                <a:solidFill>
                  <a:srgbClr val="00B0F0"/>
                </a:solidFill>
                <a:sym typeface="+mn-ea"/>
              </a:rPr>
              <a:t> </a:t>
            </a:r>
            <a:r>
              <a:rPr lang="en-US" altLang="zh-CN" sz="2400"/>
              <a:t>How to think about evaluation</a:t>
            </a:r>
            <a:endParaRPr lang="en-US" altLang="zh-CN" sz="2400"/>
          </a:p>
          <a:p>
            <a:pPr marL="0" indent="0">
              <a:buNone/>
            </a:pPr>
            <a:endParaRPr lang="en-US" altLang="zh-CN" sz="2400"/>
          </a:p>
          <a:p>
            <a:pPr marL="0" indent="0">
              <a:buNone/>
            </a:pPr>
            <a:r>
              <a:rPr lang="en-US" altLang="en-US" sz="2400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12.3</a:t>
            </a:r>
            <a:r>
              <a:rPr lang="en-US" altLang="en-US" sz="2400">
                <a:solidFill>
                  <a:srgbClr val="00B0F0"/>
                </a:solidFill>
                <a:sym typeface="+mn-ea"/>
              </a:rPr>
              <a:t> </a:t>
            </a:r>
            <a:r>
              <a:rPr lang="en-US" altLang="zh-CN" sz="2400"/>
              <a:t>Introduce some benchmarks(key point)</a:t>
            </a:r>
            <a:endParaRPr lang="en-US" altLang="zh-CN" sz="1800"/>
          </a:p>
          <a:p>
            <a:pPr marL="0" indent="0">
              <a:buNone/>
            </a:pPr>
            <a:endParaRPr lang="en-US" altLang="zh-CN" sz="1800"/>
          </a:p>
          <a:p>
            <a:pPr marL="0" indent="0">
              <a:buNone/>
            </a:pPr>
            <a:r>
              <a:rPr lang="en-US" altLang="en-US" sz="2400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12.4 Some problems about evaluation</a:t>
            </a:r>
            <a:endParaRPr lang="en-US" altLang="en-US" sz="2400">
              <a:solidFill>
                <a:schemeClr val="tx1"/>
              </a:solidFill>
              <a:sym typeface="+mn-ea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223000" y="1952625"/>
            <a:ext cx="5257800" cy="43605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800"/>
          </a:p>
          <a:p>
            <a:endParaRPr lang="en-US" altLang="zh-CN" sz="18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12.1 What we see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D</a:t>
            </a:r>
            <a:r>
              <a:rPr lang="en-US" altLang="zh-CN"/>
              <a:t>eepseek-R1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955" y="2309495"/>
            <a:ext cx="3794125" cy="22390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4175" y="1203325"/>
            <a:ext cx="5359400" cy="203327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352665" y="649605"/>
            <a:ext cx="1382395" cy="493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sz="2800">
                <a:sym typeface="+mn-ea"/>
              </a:rPr>
              <a:t>Llama 4</a:t>
            </a:r>
            <a:endParaRPr lang="en-US" altLang="zh-CN"/>
          </a:p>
          <a:p>
            <a:pPr indent="0">
              <a:buFont typeface="Arial" panose="020B0604020202020204" pitchFamily="34" charset="0"/>
              <a:buNone/>
            </a:pPr>
            <a:endParaRPr lang="en-US" altLang="zh-CN" sz="280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630" y="3429000"/>
            <a:ext cx="4290695" cy="290449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836795" y="4757420"/>
            <a:ext cx="1134110" cy="6629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/>
              <a:t>OLM2</a:t>
            </a:r>
            <a:endParaRPr lang="en-US" altLang="zh-CN" sz="28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12.1 What we see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p>
            <a:pPr marL="0" indent="0">
              <a:buNone/>
            </a:pPr>
            <a:r>
              <a:rPr lang="en-US" altLang="zh-CN"/>
              <a:t>Recent language models are evaluated on similar, but not entirely identical, benchmarks (MMLU, MATH, etc.).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What are these benchmarks?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What do these numbers mean?</a:t>
            </a:r>
            <a:endParaRPr lang="en-US" altLang="zh-CN"/>
          </a:p>
          <a:p>
            <a:pPr marL="0" indent="0">
              <a:buNone/>
            </a:pPr>
            <a:r>
              <a:rPr lang="en-US" altLang="zh-CN" b="1"/>
              <a:t>Some website</a:t>
            </a:r>
            <a:r>
              <a:rPr lang="en-US" altLang="zh-CN"/>
              <a:t>: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hlinkClick r:id="rId1" action="ppaction://hlinkfile"/>
              </a:rPr>
              <a:t>HELM capabilities</a:t>
            </a:r>
            <a:endParaRPr lang="en-US" altLang="zh-CN">
              <a:hlinkClick r:id="rId1" action="ppaction://hlinkfile"/>
            </a:endParaRPr>
          </a:p>
          <a:p>
            <a:pPr marL="0" indent="0">
              <a:buNone/>
            </a:pPr>
            <a:r>
              <a:rPr lang="en-US" altLang="zh-CN">
                <a:hlinkClick r:id="rId2" action="ppaction://hlinkfile"/>
              </a:rPr>
              <a:t>Artificial Analysis</a:t>
            </a:r>
            <a:endParaRPr lang="en-US" altLang="zh-CN">
              <a:hlinkClick r:id="rId2" action="ppaction://hlinkfile"/>
            </a:endParaRPr>
          </a:p>
          <a:p>
            <a:pPr marL="0" indent="0">
              <a:buNone/>
            </a:pPr>
            <a:r>
              <a:rPr lang="en-US" altLang="zh-CN">
                <a:hlinkClick r:id="rId3" action="ppaction://hlinkfile"/>
              </a:rPr>
              <a:t>OpenRouter</a:t>
            </a:r>
            <a:endParaRPr lang="en-US" altLang="zh-CN">
              <a:hlinkClick r:id="rId3" action="ppaction://hlinkfile"/>
            </a:endParaRPr>
          </a:p>
          <a:p>
            <a:pPr marL="0" indent="0">
              <a:buNone/>
            </a:pPr>
            <a:r>
              <a:rPr lang="en-US" altLang="zh-CN" b="1"/>
              <a:t>An crisis</a:t>
            </a:r>
            <a:r>
              <a:rPr lang="en-US" altLang="zh-CN"/>
              <a:t>:we have this plethora of benchmarks and numbers that are coming out,and it’s unclear which are the right way.</a:t>
            </a:r>
            <a:endParaRPr lang="en-US" altLang="zh-CN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12.2 How to think about evaluation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pPr marL="0" indent="0">
              <a:buNone/>
            </a:pPr>
            <a:r>
              <a:rPr lang="en-US" altLang="zh-CN">
                <a:sym typeface="+mn-ea"/>
              </a:rPr>
              <a:t>Evaluation:given a fixed model, how "good" is it?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What's the point of evaluation?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There is no one true evaluation; it depends on what question you're trying to answer.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</a:t>
            </a: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User or company wants to make a purchase decision (model A or model B) for their use case (e.g., customer service chatbots).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</a:t>
            </a: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Researchers want to measure the raw capabilities of a model (e.g., intelligence).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</a:t>
            </a: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We want to understand the benefits + harms of a model (for business and policy reasons).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</a:t>
            </a: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Model developers want to get feedback to improve the model.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In each case, there is an </a:t>
            </a:r>
            <a:r>
              <a:rPr lang="en-US" altLang="zh-CN" b="1"/>
              <a:t>abstract goal</a:t>
            </a:r>
            <a:r>
              <a:rPr lang="en-US" altLang="zh-CN"/>
              <a:t> that needs to be translated into a </a:t>
            </a:r>
            <a:r>
              <a:rPr lang="en-US" altLang="zh-CN" b="1"/>
              <a:t>concrete evaluation</a:t>
            </a:r>
            <a:r>
              <a:rPr lang="en-US" altLang="zh-CN"/>
              <a:t>.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12.2 How to think about evaluation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/>
              <a:t>Framework: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What are the inputs?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How do call the language model?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How do you evaluate the outputs?  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How to interpret the results?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12.2 How to think about evaluation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1.What are the inputs?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What use cases are covered?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Do we have representation of difficult inputs in the tail?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Are the inputs adapted to the model (e.g., multi-turn)?</a:t>
            </a:r>
            <a:endParaRPr lang="en-US" altLang="zh-CN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12.2 How to think about evaluation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2.How do you call the language model?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How do you prompt the language model?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Does the language model use chain-of-thought, tools, RAG, etc.?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Are we evaluating the language model or an agentic system (model developer wants former, user wants latter)?</a:t>
            </a:r>
            <a:endParaRPr lang="en-US" altLang="zh-CN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12.2 How to think about evaluation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zh-CN"/>
              <a:t>3.How do you evaluate the outputs?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Are the reference outputs used for evaluation error-free?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What metrics do you use (e.g., pass@k)?   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How do you factor in cost (e.g., inference + training)?   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How do you factor in asymmetric errors (e.g., hallucinations in a medical setting)?   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How do you handle open-ended generation (no ground truth)?</a:t>
            </a:r>
            <a:endParaRPr lang="en-US" altLang="zh-CN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12.2 How to think about evaluation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/>
              <a:t>4.How do you inteprret the metrics?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How do you interpret a number (e.g., 91%) - is it ready for deployment?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How do we assess generalization in the face of train-test overlap?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Are we evaluating the final model or the method?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Summary: lots of questions to think through when doing evaluation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12.3 </a:t>
            </a:r>
            <a:r>
              <a:rPr lang="en-US" altLang="zh-CN">
                <a:sym typeface="+mn-ea"/>
              </a:rPr>
              <a:t>Introduce some benchmarks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zh-CN" sz="3200">
                <a:sym typeface="+mn-ea"/>
              </a:rPr>
              <a:t>Introduce some benchmarks:</a:t>
            </a:r>
            <a:endParaRPr lang="en-US" altLang="en-US" sz="3200">
              <a:solidFill>
                <a:srgbClr val="00B0F0"/>
              </a:solidFill>
              <a:sym typeface="+mn-ea"/>
            </a:endParaRPr>
          </a:p>
          <a:p>
            <a:pPr marL="0" indent="0">
              <a:buNone/>
            </a:pPr>
            <a:r>
              <a:rPr lang="en-US" altLang="en-US" sz="3200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 sz="3200"/>
              <a:t>perplexity(PPL)</a:t>
            </a:r>
            <a:endParaRPr lang="en-US" altLang="zh-CN" sz="3200"/>
          </a:p>
          <a:p>
            <a:pPr marL="0" indent="0">
              <a:buNone/>
            </a:pPr>
            <a:r>
              <a:rPr lang="en-US" altLang="en-US" sz="3200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 sz="3200"/>
              <a:t>knowledge benchmarks</a:t>
            </a:r>
            <a:endParaRPr lang="en-US" altLang="zh-CN" sz="3200"/>
          </a:p>
          <a:p>
            <a:pPr marL="0" indent="0">
              <a:buNone/>
            </a:pPr>
            <a:r>
              <a:rPr lang="en-US" altLang="en-US" sz="3200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 sz="3200"/>
              <a:t>instruction following benchmarks</a:t>
            </a:r>
            <a:endParaRPr lang="en-US" altLang="zh-CN" sz="3200"/>
          </a:p>
          <a:p>
            <a:pPr marL="0" indent="0">
              <a:buNone/>
            </a:pPr>
            <a:r>
              <a:rPr lang="en-US" altLang="en-US" sz="3200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 sz="3200"/>
              <a:t>agent benchmarks</a:t>
            </a:r>
            <a:endParaRPr lang="en-US" altLang="zh-CN" sz="3200"/>
          </a:p>
          <a:p>
            <a:pPr marL="0" indent="0">
              <a:buNone/>
            </a:pPr>
            <a:r>
              <a:rPr lang="en-US" altLang="en-US" sz="3200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 sz="3200"/>
              <a:t>pure reasoning benchmarks</a:t>
            </a:r>
            <a:endParaRPr lang="en-US" altLang="zh-CN" sz="3200"/>
          </a:p>
          <a:p>
            <a:pPr marL="0" indent="0">
              <a:buNone/>
            </a:pPr>
            <a:r>
              <a:rPr lang="en-US" altLang="en-US" sz="3200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 sz="3200"/>
              <a:t>safety benchmarks</a:t>
            </a:r>
            <a:endParaRPr lang="en-US" altLang="zh-CN" sz="3200"/>
          </a:p>
          <a:p>
            <a:pPr marL="0" indent="0">
              <a:buNone/>
            </a:pPr>
            <a:endParaRPr lang="en-US" altLang="zh-CN" sz="32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12.3.1 P</a:t>
            </a:r>
            <a:r>
              <a:rPr lang="en-US" altLang="zh-CN">
                <a:sym typeface="+mn-ea"/>
              </a:rPr>
              <a:t>erplexity(PPL)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A language model is a probability distribution p(x) over sequences of tokens.</a:t>
            </a:r>
            <a:endParaRPr lang="en-US" altLang="zh-CN"/>
          </a:p>
          <a:p>
            <a:pPr marL="0" indent="0">
              <a:buNone/>
            </a:pPr>
            <a:r>
              <a:rPr lang="en-US" altLang="zh-CN" b="1"/>
              <a:t>Perplexity</a:t>
            </a:r>
            <a:r>
              <a:rPr lang="en-US" altLang="zh-CN"/>
              <a:t> (1/p(D))^(1/|D|) measures whether p assigns high probability to some dataset D.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In pre-training, you minimize perplexity on the training set.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The obvious thing is to measure perplexity on the test set.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12.3.1 P</a:t>
            </a:r>
            <a:r>
              <a:rPr lang="en-US" altLang="zh-CN">
                <a:sym typeface="+mn-ea"/>
              </a:rPr>
              <a:t>erplexity(PPL)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/>
              <a:t>Standard datasets: Penn Treebank (WSJ), WikiText-103 (Wikipedia), One Billion Word Benchmark (from machine translation WMT11 - EuroParl, UN, news)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Papers trained on a dataset (training split) and evaluated on the same dataset (test split)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    GPT-2 trained on WebText (40GB text, websites linked from Reddit), zero-shot on standard dataset. This is out-of-distribution evaluation Works better on small datasets, but not larger datasets.</a:t>
            </a:r>
            <a:endParaRPr lang="en-US" altLang="zh-CN"/>
          </a:p>
          <a:p>
            <a:pPr marL="0" indent="457200"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12.3.1 Perplexity(PPL)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zh-CN"/>
              <a:t>Since GPT-2 and GPT-3, language modeling papers have shifted more towards downstream task accuracy.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But reasons why perplexity is still useful:    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Smoother than downstream task accuracy (for fitting scaling laws)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Is universal (why we use it for training) whereas task accuracy might miss some nuances    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can measure conditional perplexity on downstream task too (used for scaling laws)</a:t>
            </a:r>
            <a:endParaRPr lang="en-US" altLang="zh-CN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12.3.2 K</a:t>
            </a:r>
            <a:r>
              <a:rPr lang="en-US" altLang="zh-CN">
                <a:sym typeface="+mn-ea"/>
              </a:rPr>
              <a:t>nowledge benchmarks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endParaRPr lang="en-US" altLang="en-US">
              <a:solidFill>
                <a:srgbClr val="00B0F0"/>
              </a:solidFill>
              <a:sym typeface="+mn-ea"/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Massive Multitask Language Understanding (MMLU)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>
                <a:sym typeface="+mn-ea"/>
              </a:rPr>
              <a:t>Massive Multitask Language Understanding-Pro(</a:t>
            </a:r>
            <a:r>
              <a:rPr lang="en-US" altLang="zh-CN"/>
              <a:t>MMLU-Pro)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Graduate-Level Google-Proof Q&amp;A (GPQA)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Humanity's Last Exam(HLE)</a:t>
            </a:r>
            <a:endParaRPr lang="zh-CN" alt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12.3.2 </a:t>
            </a:r>
            <a:r>
              <a:rPr lang="en-US" altLang="zh-CN">
                <a:sym typeface="+mn-ea"/>
              </a:rPr>
              <a:t>K</a:t>
            </a:r>
            <a:r>
              <a:rPr lang="en-US" altLang="zh-CN">
                <a:sym typeface="+mn-ea"/>
              </a:rPr>
              <a:t>nowledge benchmarks:</a:t>
            </a:r>
            <a:r>
              <a:rPr lang="en-US" altLang="zh-CN"/>
              <a:t>MMLU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>
                <a:sym typeface="+mn-ea"/>
              </a:rPr>
              <a:t>Massive Multitask Language Understanding (MMLU):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57 subjects (e.g., math, US history, law, morality), multiple-choice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"collected by graduate and undergraduate students from freely available sources online"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Really about testing knowledge, not language understanding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Evaluated on GPT-3 using few-shot prompting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5385" y="4765040"/>
            <a:ext cx="3940810" cy="1692275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12.3.2 </a:t>
            </a:r>
            <a:r>
              <a:rPr lang="en-US" altLang="zh-CN">
                <a:sym typeface="+mn-ea"/>
              </a:rPr>
              <a:t>Knowledge benchmarks:</a:t>
            </a:r>
            <a:r>
              <a:rPr lang="en-US" altLang="zh-CN">
                <a:sym typeface="+mn-ea"/>
              </a:rPr>
              <a:t>MMLU-Pro</a:t>
            </a:r>
            <a:endParaRPr lang="en-US" altLang="zh-CN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91005"/>
            <a:ext cx="10515600" cy="4351338"/>
          </a:xfrm>
        </p:spPr>
        <p:txBody>
          <a:bodyPr/>
          <a:p>
            <a:pPr marL="0" indent="0">
              <a:buNone/>
            </a:pPr>
            <a:r>
              <a:rPr lang="en-US" altLang="zh-CN">
                <a:sym typeface="+mn-ea"/>
              </a:rPr>
              <a:t>Massive Multitask Language Understanding-pro(MMLU-pro):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Removed noisy/trivial questions from MMLU   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Expanded 4 choices to 10 choices   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Evaluated using chain of thought (gives model more of a chance)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Accuracy of models drop by 16% to 33% (not as saturated)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8260" y="4216400"/>
            <a:ext cx="6235065" cy="182626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12.3.2 </a:t>
            </a:r>
            <a:r>
              <a:rPr lang="en-US" altLang="zh-CN">
                <a:sym typeface="+mn-ea"/>
              </a:rPr>
              <a:t>Knowledge benchmarks:</a:t>
            </a:r>
            <a:r>
              <a:rPr lang="en-US" altLang="zh-CN">
                <a:sym typeface="+mn-ea"/>
              </a:rPr>
              <a:t>GPQA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Graduate-Level Google-Proof Q&amp;A (GPQA):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Questions written by 61 PhD contractors from Upwork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PhD experts achieve 65% accuracy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Non-experts achieve 34% over 30 minutes with access to Google   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GPT-4 achieves 39%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2615" y="3864610"/>
            <a:ext cx="3046730" cy="238379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12.3.2 </a:t>
            </a:r>
            <a:r>
              <a:rPr lang="en-US" altLang="zh-CN">
                <a:sym typeface="+mn-ea"/>
              </a:rPr>
              <a:t>Knowledge benchmarks:HLE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Humanity's Last Exam(HLE):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2500 questions: multimodal, many subjects, multiple-choice + short-answer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Awarded $500K prize pool + co-authorship to question creators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Filtered by frontier LLMs, multiple stages of review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8925" y="4281805"/>
            <a:ext cx="6534150" cy="168529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12.3.3 I</a:t>
            </a:r>
            <a:r>
              <a:rPr lang="en-US" altLang="zh-CN">
                <a:sym typeface="+mn-ea"/>
              </a:rPr>
              <a:t>nstruction following benchmarks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So far, we've been evaluating on fairly structured tasks.</a:t>
            </a:r>
            <a:endParaRPr lang="en-US" altLang="zh-CN"/>
          </a:p>
          <a:p>
            <a:pPr marL="0" indent="0">
              <a:buNone/>
            </a:pPr>
            <a:r>
              <a:rPr lang="en-US" altLang="zh-CN" b="1"/>
              <a:t>Instruction following </a:t>
            </a:r>
            <a:r>
              <a:rPr lang="en-US" altLang="zh-CN"/>
              <a:t>(as popularized by ChatGPT): just follow the instructions.</a:t>
            </a:r>
            <a:endParaRPr lang="en-US" altLang="zh-CN"/>
          </a:p>
          <a:p>
            <a:pPr marL="0" indent="0">
              <a:buNone/>
            </a:pPr>
            <a:r>
              <a:rPr lang="en-US" altLang="zh-CN" b="1"/>
              <a:t>Challenge</a:t>
            </a:r>
            <a:r>
              <a:rPr lang="en-US" altLang="zh-CN"/>
              <a:t>: how to evaluate an open-ended response?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Chatbot Arena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Instruction-Following Eval (IFEval)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AlpacaEval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WildBench</a:t>
            </a:r>
            <a:endParaRPr lang="en-US" altLang="zh-CN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12.3.3 </a:t>
            </a:r>
            <a:r>
              <a:rPr lang="en-US" altLang="zh-CN">
                <a:sym typeface="+mn-ea"/>
              </a:rPr>
              <a:t>Chatbot Arena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zh-CN"/>
              <a:t>How it works: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①</a:t>
            </a:r>
            <a:r>
              <a:rPr lang="en-US" altLang="zh-CN"/>
              <a:t>Random person from the Internet types in prompt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②</a:t>
            </a:r>
            <a:r>
              <a:rPr lang="en-US" altLang="zh-CN"/>
              <a:t>They get response from two random (anonymized) models    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③</a:t>
            </a:r>
            <a:r>
              <a:rPr lang="en-US" altLang="zh-CN"/>
              <a:t>They rate which one is better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④</a:t>
            </a:r>
            <a:r>
              <a:rPr lang="en-US" altLang="zh-CN"/>
              <a:t>ELO scores are computed based on the pairwise comparisons   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Features: live (not static) inputs, can accomodate new models</a:t>
            </a:r>
            <a:endParaRPr lang="en-US" altLang="zh-CN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12.3.3 Instruction-Following Eval (IFEval)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>
                <a:sym typeface="+mn-ea"/>
              </a:rPr>
              <a:t>Instruction-Following Eval (IFEval)</a:t>
            </a:r>
            <a:r>
              <a:rPr lang="zh-CN" altLang="en-US">
                <a:sym typeface="+mn-ea"/>
              </a:rPr>
              <a:t>：</a:t>
            </a:r>
            <a:endParaRPr lang="en-US" altLang="en-US">
              <a:solidFill>
                <a:srgbClr val="00B0F0"/>
              </a:solidFill>
              <a:sym typeface="+mn-ea"/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Add simple synthetic constraints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to instructions    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Constraints can be automatically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verified,but not the semantics of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the response.  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Fairly simple instructions, constraints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are a bit artificial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5445" y="1691005"/>
            <a:ext cx="4328160" cy="4341495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12.3.3 AlpacaEval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>
                <a:sym typeface="+mn-ea"/>
              </a:rPr>
              <a:t>AlpacaEval: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805 instructions from various sources.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Metric: win rate against GPT-4 preview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as judged by GPT-4 preview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(potential bias)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9910" y="1339215"/>
            <a:ext cx="4912995" cy="475615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12.3.3 WildBench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WildBench: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Sourced 1024 examples from 1M human-chatbot conversations    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Uses GPT-4 turbo as a judge with a checklist (like CoT for judging) + GPT-4 as a judge    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Well-correlated (0.95) with Chatbot Arena (seems to be the de facto sanity check for benchmarks)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2125" y="4314825"/>
            <a:ext cx="4811395" cy="1862455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12.3.4 A</a:t>
            </a:r>
            <a:r>
              <a:rPr lang="en-US" altLang="zh-CN">
                <a:sym typeface="+mn-ea"/>
              </a:rPr>
              <a:t>gent benchmarks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Consider tasks that require tool use (e.g., running code) and iterating over a period of time</a:t>
            </a:r>
            <a:endParaRPr lang="en-US" altLang="zh-CN"/>
          </a:p>
          <a:p>
            <a:pPr marL="0" indent="0">
              <a:buNone/>
            </a:pPr>
            <a:r>
              <a:rPr lang="en-US" altLang="zh-CN" b="1"/>
              <a:t>Agent</a:t>
            </a:r>
            <a:r>
              <a:rPr lang="en-US" altLang="zh-CN"/>
              <a:t> = language model + agent scaffolding (logic for deciding how to use the LM)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SWEBench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CyBench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MLEBench</a:t>
            </a:r>
            <a:endParaRPr lang="en-US" altLang="zh-CN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12.3.4 A</a:t>
            </a:r>
            <a:r>
              <a:rPr lang="en-US" altLang="zh-CN">
                <a:sym typeface="+mn-ea"/>
              </a:rPr>
              <a:t>gent benchmarks:</a:t>
            </a:r>
            <a:r>
              <a:rPr lang="en-US" altLang="zh-CN">
                <a:sym typeface="+mn-ea"/>
              </a:rPr>
              <a:t>SWEBench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>
                <a:sym typeface="+mn-ea"/>
              </a:rPr>
              <a:t>SWEBench: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2294 tasks across 12 Python repositories    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Given codebase + issue description, submit a PR  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Evaluation metric: unit tests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4165" y="3355975"/>
            <a:ext cx="5770245" cy="2731135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12.3.4 Agent benchmarks:</a:t>
            </a:r>
            <a:r>
              <a:rPr lang="en-US" altLang="zh-CN">
                <a:sym typeface="+mn-ea"/>
              </a:rPr>
              <a:t>CyBench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>
                <a:sym typeface="+mn-ea"/>
              </a:rPr>
              <a:t>CyBench</a:t>
            </a:r>
            <a:r>
              <a:rPr lang="en-US" altLang="zh-CN"/>
              <a:t>: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40 Capture the Flag (CTF) tasks    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Use first-solve time as a measure of difficulty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1190" y="3348355"/>
            <a:ext cx="5650865" cy="2898775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12.3.4 Agent benchmarks:</a:t>
            </a:r>
            <a:r>
              <a:rPr lang="en-US" altLang="zh-CN">
                <a:sym typeface="+mn-ea"/>
              </a:rPr>
              <a:t>MLEBench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>
                <a:sym typeface="+mn-ea"/>
              </a:rPr>
              <a:t>MLEBench: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75 Kaggle competitions (require training models, processing data, etc.)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775" y="3005455"/>
            <a:ext cx="9305925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12.3.5 Pure reasoning benchmarks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/>
              <a:t>All of the tasks so far require linguistic and world knowledge.Can we isolate reasoning from knowledge?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Arguably, </a:t>
            </a:r>
            <a:r>
              <a:rPr lang="en-US" altLang="zh-CN" b="1"/>
              <a:t>reasoning</a:t>
            </a:r>
            <a:r>
              <a:rPr lang="en-US" altLang="zh-CN"/>
              <a:t> captures a more pure form of intelligence (isn't just about memorizing facts)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ARC-AGI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ARC-AGI-2: harder</a:t>
            </a:r>
            <a:endParaRPr lang="en-US" altLang="zh-CN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12.3.5 Pure reasoning benchmarks:ARC-AGI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08125"/>
            <a:ext cx="10515600" cy="4351338"/>
          </a:xfrm>
        </p:spPr>
        <p:txBody>
          <a:bodyPr/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test machine reasoning and general problem-solving skills.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ARG</a:t>
            </a:r>
            <a:r>
              <a:rPr lang="en-US" altLang="zh-CN">
                <a:sym typeface="+mn-ea"/>
              </a:rPr>
              <a:t>-AGI-1: 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endParaRPr lang="en-US" altLang="zh-CN">
              <a:sym typeface="+mn-ea"/>
            </a:endParaRPr>
          </a:p>
          <a:p>
            <a:pPr marL="0" indent="0">
              <a:buNone/>
            </a:pPr>
            <a:endParaRPr lang="en-US" altLang="zh-CN"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ym typeface="+mn-ea"/>
              </a:rPr>
              <a:t>ARG</a:t>
            </a:r>
            <a:r>
              <a:rPr lang="en-US" altLang="zh-CN">
                <a:sym typeface="+mn-ea"/>
              </a:rPr>
              <a:t>-AGI-2: harder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2745" y="2439035"/>
            <a:ext cx="8906510" cy="15767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5560" y="4189730"/>
            <a:ext cx="4307840" cy="206629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12.3.6 S</a:t>
            </a:r>
            <a:r>
              <a:rPr lang="en-US" altLang="zh-CN">
                <a:sym typeface="+mn-ea"/>
              </a:rPr>
              <a:t>afety benchmarks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>
                <a:sym typeface="+mn-ea"/>
              </a:rPr>
              <a:t>Two aspects of a model that reduce safety: capabilities + propensity   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A system could be capable of doing something, but refuse to do it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For API models, propensity matters   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For open weight models, capability matters (since can easily fine-tune safety away)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HarmBench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AIR-Bench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Jailbreaking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Pre-deployment testing</a:t>
            </a:r>
            <a:endParaRPr lang="en-US" altLang="zh-CN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12.3.6 Safety benchmarks:</a:t>
            </a:r>
            <a:r>
              <a:rPr lang="en-US" altLang="zh-CN">
                <a:sym typeface="+mn-ea"/>
              </a:rPr>
              <a:t>HarmBench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05585"/>
            <a:ext cx="10515600" cy="4351338"/>
          </a:xfrm>
        </p:spPr>
        <p:txBody>
          <a:bodyPr/>
          <a:p>
            <a:pPr marL="0" indent="0">
              <a:buNone/>
            </a:pPr>
            <a:r>
              <a:rPr lang="en-US" altLang="zh-CN">
                <a:sym typeface="+mn-ea"/>
              </a:rPr>
              <a:t>HarmBench</a:t>
            </a:r>
            <a:r>
              <a:rPr lang="zh-CN" altLang="en-US">
                <a:sym typeface="+mn-ea"/>
              </a:rPr>
              <a:t>：</a:t>
            </a:r>
            <a:endParaRPr lang="zh-CN" altLang="en-US">
              <a:sym typeface="+mn-ea"/>
            </a:endParaRPr>
          </a:p>
          <a:p>
            <a:pPr marL="0" indent="0">
              <a:buNone/>
            </a:pPr>
            <a:r>
              <a:rPr lang="en-US" altLang="zh-CN"/>
              <a:t>Based on 510 harmful behaviors that violate laws or norms</a:t>
            </a:r>
            <a:endParaRPr lang="en-US" altLang="zh-CN"/>
          </a:p>
        </p:txBody>
      </p:sp>
      <p:pic>
        <p:nvPicPr>
          <p:cNvPr id="4" name="图片 3" descr="c437dc8ad400b382b354e02194f970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205" y="2588895"/>
            <a:ext cx="9960610" cy="334772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12.3.6 Safety benchmarks:</a:t>
            </a:r>
            <a:r>
              <a:rPr lang="en-US" altLang="zh-CN">
                <a:sym typeface="+mn-ea"/>
              </a:rPr>
              <a:t>AIR-Bench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15415"/>
            <a:ext cx="10515600" cy="4351338"/>
          </a:xfrm>
        </p:spPr>
        <p:txBody>
          <a:bodyPr/>
          <a:p>
            <a:pPr marL="0" indent="0">
              <a:buNone/>
            </a:pPr>
            <a:r>
              <a:rPr lang="en-US" altLang="zh-CN">
                <a:sym typeface="+mn-ea"/>
              </a:rPr>
              <a:t>AIR-Bench:</a:t>
            </a:r>
            <a:endParaRPr lang="en-US" altLang="en-US">
              <a:solidFill>
                <a:srgbClr val="00B0F0"/>
              </a:solidFill>
              <a:sym typeface="+mn-ea"/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Based on regulatory frameworks and company policies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Taxonomized into 314 risk categories, 5694 prompts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5530" y="2969895"/>
            <a:ext cx="416179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12.3.6 Safety benchmarks:</a:t>
            </a:r>
            <a:r>
              <a:rPr lang="en-US" altLang="zh-CN">
                <a:sym typeface="+mn-ea"/>
              </a:rPr>
              <a:t>Jailbreaking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Language models are trained to refuse harmful instructions  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Greedy Coordinate Gradient (GCG) automatically optimizes prompts to bypass safety   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Transfers from open-weight models (Llama) to closed models (GPT-4)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9495" y="3719195"/>
            <a:ext cx="4645025" cy="291719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12.3.6 </a:t>
            </a:r>
            <a:r>
              <a:rPr lang="en-US" altLang="zh-CN">
                <a:sym typeface="+mn-ea"/>
              </a:rPr>
              <a:t>Safety benchmarks:</a:t>
            </a:r>
            <a:r>
              <a:rPr lang="en-US" altLang="zh-CN"/>
              <a:t>Pre-deployment testing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>
                <a:sym typeface="+mn-ea"/>
              </a:rPr>
              <a:t>Pre-deployment testing: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①</a:t>
            </a:r>
            <a:r>
              <a:rPr lang="en-US" altLang="zh-CN"/>
              <a:t>US Safety Institute + UK AI Safety Institute working together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②</a:t>
            </a:r>
            <a:r>
              <a:rPr lang="en-US" altLang="zh-CN"/>
              <a:t>Company gives safety institutes access to model before release (currently voluntary)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③</a:t>
            </a:r>
            <a:r>
              <a:rPr lang="en-US" altLang="zh-CN"/>
              <a:t>Safety institutes run evaluations and produce a report to company</a:t>
            </a:r>
            <a:endParaRPr lang="en-US" altLang="zh-CN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12.4 </a:t>
            </a:r>
            <a:r>
              <a:rPr lang="en-US" altLang="en-US">
                <a:sym typeface="+mn-ea"/>
              </a:rPr>
              <a:t>Some problems about evaluation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realism</a:t>
            </a:r>
            <a:endParaRPr lang="en-US" altLang="zh-CN"/>
          </a:p>
          <a:p>
            <a:pPr marL="0" indent="457200">
              <a:buNone/>
            </a:pPr>
            <a:r>
              <a:rPr lang="en-US" altLang="zh-CN"/>
              <a:t>Clio</a:t>
            </a:r>
            <a:endParaRPr lang="en-US" altLang="zh-CN"/>
          </a:p>
          <a:p>
            <a:pPr marL="0" indent="457200">
              <a:buNone/>
            </a:pPr>
            <a:r>
              <a:rPr lang="en-US" altLang="zh-CN">
                <a:sym typeface="+mn-ea"/>
              </a:rPr>
              <a:t>MedHELM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validity</a:t>
            </a:r>
            <a:endParaRPr lang="en-US" altLang="zh-CN"/>
          </a:p>
          <a:p>
            <a:pPr marL="0" indent="457200">
              <a:buNone/>
            </a:pPr>
            <a:r>
              <a:rPr lang="en-US" altLang="zh-CN">
                <a:sym typeface="+mn-ea"/>
              </a:rPr>
              <a:t>Train-test overlap</a:t>
            </a:r>
            <a:endParaRPr lang="en-US" altLang="zh-CN"/>
          </a:p>
          <a:p>
            <a:pPr marL="0" indent="457200">
              <a:buNone/>
            </a:pPr>
            <a:r>
              <a:rPr lang="en-US" altLang="zh-CN">
                <a:sym typeface="+mn-ea"/>
              </a:rPr>
              <a:t>Dataset quality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what are we evaluating</a:t>
            </a:r>
            <a:endParaRPr lang="en-US" altLang="zh-CN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12.4.1 </a:t>
            </a:r>
            <a:r>
              <a:rPr lang="en-US" altLang="zh-CN">
                <a:sym typeface="+mn-ea"/>
              </a:rPr>
              <a:t>realism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/>
              <a:t>However, most existing benchmarks (e.g., MMLU) are far away from real-world use.Live traffic from real people contain garbage.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Two types of prompts:    </a:t>
            </a:r>
            <a:endParaRPr lang="en-US" altLang="zh-CN"/>
          </a:p>
          <a:p>
            <a:pPr marL="0" indent="0">
              <a:buNone/>
            </a:pPr>
            <a:r>
              <a:rPr lang="en-US" altLang="zh-CN" b="1"/>
              <a:t>Quizzing</a:t>
            </a:r>
            <a:r>
              <a:rPr lang="en-US" altLang="zh-CN"/>
              <a:t>: User knows the answer and trying to test the system (think standardized exams).    </a:t>
            </a:r>
            <a:endParaRPr lang="en-US" altLang="zh-CN"/>
          </a:p>
          <a:p>
            <a:pPr marL="0" indent="0">
              <a:buNone/>
            </a:pPr>
            <a:r>
              <a:rPr lang="en-US" altLang="zh-CN" b="1"/>
              <a:t>Asking</a:t>
            </a:r>
            <a:r>
              <a:rPr lang="en-US" altLang="zh-CN"/>
              <a:t>: User doesn't know the answer is trying to use the system to get it. Asking is more realistic and produces value for the user.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Unfortunately, realism and privacy are sometimes at odds with each other.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12.4.1 Clio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16050"/>
            <a:ext cx="10515600" cy="4351338"/>
          </a:xfrm>
        </p:spPr>
        <p:txBody>
          <a:bodyPr/>
          <a:p>
            <a:pPr marL="0" indent="0">
              <a:buNone/>
            </a:pPr>
            <a:r>
              <a:rPr lang="en-US" altLang="zh-CN">
                <a:sym typeface="+mn-ea"/>
              </a:rPr>
              <a:t>Clio:</a:t>
            </a:r>
            <a:endParaRPr lang="en-US" altLang="en-US">
              <a:solidFill>
                <a:srgbClr val="00B0F0"/>
              </a:solidFill>
              <a:sym typeface="+mn-ea"/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Use language models to analyze real user data   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Share general patterns of what people are asking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7435" y="2948305"/>
            <a:ext cx="4977130" cy="3289935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12.4.1 MedHELM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45895"/>
            <a:ext cx="10515600" cy="4351338"/>
          </a:xfrm>
        </p:spPr>
        <p:txBody>
          <a:bodyPr/>
          <a:p>
            <a:pPr marL="0" indent="0">
              <a:buNone/>
            </a:pPr>
            <a:r>
              <a:rPr lang="en-US" altLang="zh-CN">
                <a:sym typeface="+mn-ea"/>
              </a:rPr>
              <a:t>MedHELM: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Previous medical benchmarks were based on standardized exams    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121 clinical tasks sourced from 29 clinicians, mixture of private and public datasets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7335" y="2953385"/>
            <a:ext cx="5774055" cy="296037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12.4.2 </a:t>
            </a:r>
            <a:r>
              <a:rPr lang="en-US" altLang="zh-CN">
                <a:sym typeface="+mn-ea"/>
              </a:rPr>
              <a:t>validity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Train-test overlap: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Route 1: try to infer train-test overlap from model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Exploit exchangeability of data points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Route 2: encourage reporting norms (e.g., people report confidence intervals)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Model providers should report train-test overlap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Dataset quality: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Fixed up SWE-Bench to produce SWE-Bench Verified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Create Platinum versions of benchmarks</a:t>
            </a:r>
            <a:endParaRPr lang="en-US" altLang="zh-CN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12.4.3 </a:t>
            </a:r>
            <a:r>
              <a:rPr lang="en-US" altLang="zh-CN">
                <a:sym typeface="+mn-ea"/>
              </a:rPr>
              <a:t>what are we evaluating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Pre-foundation models, we evaluated </a:t>
            </a:r>
            <a:r>
              <a:rPr lang="en-US" altLang="zh-CN" b="1"/>
              <a:t>methods</a:t>
            </a:r>
            <a:r>
              <a:rPr lang="en-US" altLang="zh-CN"/>
              <a:t> (standardized train-test splits).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Today, we're evaluating </a:t>
            </a:r>
            <a:r>
              <a:rPr lang="en-US" altLang="zh-CN" b="1"/>
              <a:t>models/systems</a:t>
            </a:r>
            <a:r>
              <a:rPr lang="en-US" altLang="zh-CN"/>
              <a:t> (anything goes).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There are some exceptions...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nanogpt speedrun: fixed data, compute time to get to a particular validation loss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DataComp-LM: given a raw dataset, get the best accuracy using standard training pipeline</a:t>
            </a:r>
            <a:endParaRPr lang="en-US" altLang="zh-CN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12.5 S</a:t>
            </a:r>
            <a:r>
              <a:rPr lang="en-US" altLang="zh-CN"/>
              <a:t>ummary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There is no one true evaluation; choose the evaluation depending on what you're trying to measure.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Always look at the individual instances and the predictions.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There are many aspects to consider: capabilities, safety, costs, realism.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</a:t>
            </a:r>
            <a:endParaRPr lang="en-US" altLang="zh-CN"/>
          </a:p>
          <a:p>
            <a:pPr marL="0" indent="0">
              <a:buNone/>
            </a:pPr>
            <a:r>
              <a:rPr lang="en-US" altLang="en-US">
                <a:solidFill>
                  <a:srgbClr val="00B0F0"/>
                </a:solidFill>
                <a:sym typeface="+mn-ea"/>
              </a:rPr>
              <a:t>❖</a:t>
            </a:r>
            <a:r>
              <a:rPr lang="en-US" altLang="zh-CN"/>
              <a:t>Clearly state the rules of the game (methods versus models/systems).</a:t>
            </a:r>
            <a:endParaRPr lang="en-US" altLang="zh-CN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12790"/>
          </a:xfrm>
        </p:spPr>
        <p:txBody>
          <a:bodyPr/>
          <a:p>
            <a:pPr algn="ctr"/>
            <a:r>
              <a:rPr lang="en-US" altLang="zh-CN" sz="6600"/>
              <a:t>Thank you for listening!</a:t>
            </a:r>
            <a:endParaRPr lang="en-US" altLang="zh-CN" sz="6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24139</Words>
  <Application>WPS 演示</Application>
  <PresentationFormat>宽屏</PresentationFormat>
  <Paragraphs>852</Paragraphs>
  <Slides>91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91</vt:i4>
      </vt:variant>
    </vt:vector>
  </HeadingPairs>
  <TitlesOfParts>
    <vt:vector size="98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Language Modeling from Scratch</vt:lpstr>
      <vt:lpstr>Lesson 10：Inference</vt:lpstr>
      <vt:lpstr>Overview</vt:lpstr>
      <vt:lpstr>10.1 Understanding the inference workload</vt:lpstr>
      <vt:lpstr>10.1.1 Landscape</vt:lpstr>
      <vt:lpstr>10.1.1 Landscape</vt:lpstr>
      <vt:lpstr>10.1.1 Landscape</vt:lpstr>
      <vt:lpstr>10.1.2 Review Transformer</vt:lpstr>
      <vt:lpstr>10.1.3 Review Arithmetic Intensity</vt:lpstr>
      <vt:lpstr>10.1.3 Review Arithmetic Intensity</vt:lpstr>
      <vt:lpstr>10.1.4 Arithmetic Intensity of Inference</vt:lpstr>
      <vt:lpstr>10.1.4 Arithmetic Intensity of Inference</vt:lpstr>
      <vt:lpstr>10.1.4 Arithmetic Intensity of Inference</vt:lpstr>
      <vt:lpstr>10.1.4 Arithmetic Intensity of Inference</vt:lpstr>
      <vt:lpstr>10.1.4 Arithmetic Intensity of Inference</vt:lpstr>
      <vt:lpstr>10.1.4 Arithmetic Intensity of Inference</vt:lpstr>
      <vt:lpstr>10.1.4 Arithmetic Intensity of Inference</vt:lpstr>
      <vt:lpstr>10.1.4 Arithmetic Intensity of Inference</vt:lpstr>
      <vt:lpstr>10.1.5 Throughput and Latency</vt:lpstr>
      <vt:lpstr>10.2 Taking shortcuts (lossy)</vt:lpstr>
      <vt:lpstr>10.2.1 Reduce KV Cache Size</vt:lpstr>
      <vt:lpstr>10.2.1 Grouped-query attention (GQA)</vt:lpstr>
      <vt:lpstr>10.2.1 Grouped-query attention (GQA)</vt:lpstr>
      <vt:lpstr>10.2.1 Multi-head latent attention (MLA)</vt:lpstr>
      <vt:lpstr>10.2.1 Multi-head latent attention (MLA)</vt:lpstr>
      <vt:lpstr>10.2.1 Cross-layer attention (CLA)</vt:lpstr>
      <vt:lpstr>10.2.1 Local attention</vt:lpstr>
      <vt:lpstr>10.2.1 Local attention</vt:lpstr>
      <vt:lpstr>10.2.2 Alternatives to the Transformer</vt:lpstr>
      <vt:lpstr>10.2.2 State-space models</vt:lpstr>
      <vt:lpstr>10.2.2 State-space models</vt:lpstr>
      <vt:lpstr>10.2.2 Diffusion models</vt:lpstr>
      <vt:lpstr>10.2.3 Quantization</vt:lpstr>
      <vt:lpstr>10.2.3 Quantization</vt:lpstr>
      <vt:lpstr>10.2.3 Quantization</vt:lpstr>
      <vt:lpstr>10.2.3 Quantization</vt:lpstr>
      <vt:lpstr>10.2.4 Model Pruning</vt:lpstr>
      <vt:lpstr>10.2.4 Model Pruning</vt:lpstr>
      <vt:lpstr>10.2.4 Model Pruning</vt:lpstr>
      <vt:lpstr>10.3 Use shortcuts but double check (lossless)</vt:lpstr>
      <vt:lpstr>10.3.1 Speculative Sampling</vt:lpstr>
      <vt:lpstr>10.3.1 Speculative Sampling</vt:lpstr>
      <vt:lpstr>10.4 Handling dynamic workloads</vt:lpstr>
      <vt:lpstr>10.4.1 Continuous Batching</vt:lpstr>
      <vt:lpstr>10.4.1 Continuous Batching</vt:lpstr>
      <vt:lpstr>10.4.2 PagedAttention </vt:lpstr>
      <vt:lpstr>10.4.2 PagedAttention</vt:lpstr>
      <vt:lpstr>10.5 Summary</vt:lpstr>
      <vt:lpstr>Lesson 12：Evaluation</vt:lpstr>
      <vt:lpstr>Overview</vt:lpstr>
      <vt:lpstr>12.1 What we see</vt:lpstr>
      <vt:lpstr>12.1 What we see</vt:lpstr>
      <vt:lpstr>12.2 How to think about evaluation</vt:lpstr>
      <vt:lpstr>12.2 How to think about evaluation</vt:lpstr>
      <vt:lpstr>12.2 How to think about evaluation</vt:lpstr>
      <vt:lpstr>12.2 How to think about evaluation</vt:lpstr>
      <vt:lpstr>12.2 How to think about evaluation</vt:lpstr>
      <vt:lpstr>12.2 How to think about evaluation</vt:lpstr>
      <vt:lpstr>12.3 Introduce some benchmarks</vt:lpstr>
      <vt:lpstr>12.3.1 Perplexity(PPL)</vt:lpstr>
      <vt:lpstr>12.3.1 Perplexity(PPL)</vt:lpstr>
      <vt:lpstr>12.3.1 Perplexity(PPL)</vt:lpstr>
      <vt:lpstr>12.3.2 Knowledge benchmarks</vt:lpstr>
      <vt:lpstr>12.3.2 Knowledge benchmarks:MMLU</vt:lpstr>
      <vt:lpstr>12.3.2 Knowledge benchmarks:MMLU-Pro</vt:lpstr>
      <vt:lpstr>12.3.2 Knowledge benchmarks:GPQA</vt:lpstr>
      <vt:lpstr>12.3.2 Knowledge benchmarks:HLE</vt:lpstr>
      <vt:lpstr>12.3.3 Instruction following benchmarks</vt:lpstr>
      <vt:lpstr>12.3.3 Chatbot Arena</vt:lpstr>
      <vt:lpstr>12.3.3 Instruction-Following Eval (IFEval)</vt:lpstr>
      <vt:lpstr>12.3.3 AlpacaEval</vt:lpstr>
      <vt:lpstr>12.3.3 WildBench</vt:lpstr>
      <vt:lpstr>12.3.4 Agent benchmarks</vt:lpstr>
      <vt:lpstr>12.3.4 Agent benchmarks:SWEBench</vt:lpstr>
      <vt:lpstr>12.3.4 Agent benchmarks:CyBench</vt:lpstr>
      <vt:lpstr>12.3.4 Agent benchmarks:MLEBench</vt:lpstr>
      <vt:lpstr>12.3.5 Pure reasoning benchmarks</vt:lpstr>
      <vt:lpstr>12.3.5 Pure reasoning benchmarks:ARC-AGI</vt:lpstr>
      <vt:lpstr>12.3.6 Safety benchmarks</vt:lpstr>
      <vt:lpstr>12.3.6 Safety benchmarks:HarmBench</vt:lpstr>
      <vt:lpstr>12.3.6 Safety benchmarks:AIR-Bench</vt:lpstr>
      <vt:lpstr>12.3.6 Safety benchmarks:Jailbreaking</vt:lpstr>
      <vt:lpstr>12.3.6 Safety benchmarks:Pre-deployment testing</vt:lpstr>
      <vt:lpstr>12.4 Some problems about evaluation</vt:lpstr>
      <vt:lpstr>12.4.1 realism</vt:lpstr>
      <vt:lpstr>12.4.1 Clio</vt:lpstr>
      <vt:lpstr>12.4.1 MedHELM</vt:lpstr>
      <vt:lpstr>12.4.2 validity</vt:lpstr>
      <vt:lpstr>12.4.3 what are we evaluating</vt:lpstr>
      <vt:lpstr>12.5 Summary</vt:lpstr>
      <vt:lpstr>Thank you for listening!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x</cp:lastModifiedBy>
  <cp:revision>11</cp:revision>
  <dcterms:created xsi:type="dcterms:W3CDTF">2023-08-09T12:44:00Z</dcterms:created>
  <dcterms:modified xsi:type="dcterms:W3CDTF">2025-11-23T11:49:08Z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D5807A1D06D14F35B51486507C9F3C6E_12</vt:lpwstr>
  </property>
</Properties>
</file>