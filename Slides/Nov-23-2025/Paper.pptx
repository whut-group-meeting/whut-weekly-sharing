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60" r:id="rId5"/>
    <p:sldId id="262" r:id="rId6"/>
    <p:sldId id="259" r:id="rId7"/>
    <p:sldId id="267" r:id="rId8"/>
    <p:sldId id="268" r:id="rId9"/>
    <p:sldId id="269" r:id="rId10"/>
    <p:sldId id="261" r:id="rId11"/>
    <p:sldId id="274" r:id="rId12"/>
    <p:sldId id="264" r:id="rId13"/>
    <p:sldId id="265" r:id="rId14"/>
    <p:sldId id="271" r:id="rId15"/>
    <p:sldId id="273" r:id="rId16"/>
    <p:sldId id="272" r:id="rId17"/>
    <p:sldId id="270" r:id="rId18"/>
    <p:sldId id="275" r:id="rId19"/>
    <p:sldId id="276" r:id="rId20"/>
    <p:sldId id="277" r:id="rId21"/>
    <p:sldId id="279" r:id="rId22"/>
    <p:sldId id="280" r:id="rId23"/>
    <p:sldId id="281" r:id="rId24"/>
    <p:sldId id="287" r:id="rId25"/>
    <p:sldId id="282" r:id="rId26"/>
    <p:sldId id="283" r:id="rId27"/>
    <p:sldId id="285" r:id="rId28"/>
    <p:sldId id="284" r:id="rId29"/>
    <p:sldId id="288" r:id="rId30"/>
    <p:sldId id="289" r:id="rId31"/>
    <p:sldId id="286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志鹏 段" initials="志段" lastIdx="1" clrIdx="0">
    <p:extLst>
      <p:ext uri="{19B8F6BF-5375-455C-9EA6-DF929625EA0E}">
        <p15:presenceInfo xmlns:p15="http://schemas.microsoft.com/office/powerpoint/2012/main" userId="1db87e58c74057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A4FDA-6A65-4A8A-9115-F5192BE509E0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086C4-9EFF-45E3-831E-A9ABD8090F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174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867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ED77-9386-7B73-1A1A-14609209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F0A001-4336-7E3C-9478-362FE99AC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02DF4C-4996-D370-2848-3BCB13D27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FC6B49-0062-48D4-5963-1EA28EFA4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945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66AD2-1F7D-F5E4-B578-6FADBA0C7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8216C6-EE9B-F1D3-1E8D-17EF9E0F1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A6FCA3-7861-4517-F9B7-4FF0BD8E4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4F5083-DBB1-0A9B-9E69-F780BDE72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250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74F6E-591B-1BBD-05DE-71A450E3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7426C8-6F68-8712-B4F0-E35516741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18F739-CA56-7A8D-3BEA-05E27767C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D218B3-C0C6-2BEF-3C35-95DF7A2C3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802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D124D-26F4-BDB6-AFC2-1526AECCD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E30012-18D4-75C9-2E6C-5E697499B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A89CEC-AC22-6945-A680-9292202FC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15ECD0-EAD5-3BB1-2DC5-02FE5C576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080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548E-57FF-2CED-CDAE-2C640723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69BDAE-2698-5A04-E06C-3E1CD94B3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0C75F4-5EED-746C-E244-839AEE272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8AE656-91D5-1D0F-7011-9FBA12794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328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FAAD1-8128-3F1B-E05A-8BD7F59EE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8DD800-E8F3-4F18-B780-C27313290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1723E4-3B2E-9D2F-AF5D-2F9D8A4FE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D3A1E1-34D0-F72F-924F-93C36CA25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399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6633-B814-7592-B8A0-3276A3CA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5B39A3-4DFF-4A41-E08E-EF639ED6B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7EF2BE-108B-5702-3C8A-FDE63CF1E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A752DB-3AB0-F9D3-2B4C-8885280D9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294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15B5-46F9-0ED5-30AC-72AD8137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1089EB-3774-21B4-F086-F14C79875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C8E987-57C4-0281-4470-9D33F132E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2FCEF0-7901-565B-DEF6-2EFE427CF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287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5740E-3AC3-2E18-AAA8-CE83E958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758DEA-3400-9058-93E7-80B5E0209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324C9C-2556-3101-B5B0-6FB3E2575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0FA351-77F1-20F8-0C4F-D78EA7638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559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B0FBA-6C56-893A-5076-69081AE55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89E170-975D-DC9E-8A05-0D333F231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52C6D7-4BB9-4B25-00E5-D3DB5C480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0D4817-5FDA-F30D-C6FC-7F40C33BC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56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57A26-4CD6-23FF-14CA-EF8682B0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1CA72B-7B62-1AA4-01F8-C7EA0C114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142AD7-A1BA-0798-F343-763E54390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0F88B5-F874-E9FC-308C-85EA79128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680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0FFBB-0898-2021-8DD7-972FE49BF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F35E1B-2599-2AAC-B1F9-0E7F4B953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E0FDC9-E173-C9C4-7171-6A5287D15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FBBF5B-FE70-C7EC-F483-72A1B1540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323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D3522-715C-8D00-5668-6272FC22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EB70CF-705B-4F47-0636-B780085A2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A5A0B5-1E1D-F373-D2DB-A87865AC2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EB8DF9-354C-5002-504F-1E9498FD8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653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D579-776E-F8BC-35A0-FCDD769E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FCD8A8-42CD-417F-853B-363056645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C2C10A-5A67-DA46-7514-3231673D3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4B7498-8F35-7B05-90B6-92936A4EE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7166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A2AA-F13D-C9A0-E4DB-47430C50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578C51-0BE3-C2A1-E28D-FDA2C5802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5B312F-5711-4D60-4429-F639F553B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9CA854-D4C7-EADE-31D7-1B79B8B30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223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0277-D83C-8598-211B-2EA2B288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C5DA3A-B8FF-6CE7-EC36-B9DD1633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0BAEBE-C5B0-A0CC-3A9A-0AD3586E1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BB2C60-ABDC-2984-64C4-CEE1B61BF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8480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3497-648C-0688-640B-50260FB2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F8FF07-F20C-0CDF-4673-557CFD454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975757-2C34-5F83-4400-4B95392D2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57F605-237F-780C-B835-4F2648CB7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6923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F3DDA-3E0E-8555-0C94-B9D394EE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8AFD07-8680-2645-9387-9A49B9ADA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49B7B3-8C85-2D1C-B567-483395FE5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E65E02-DF36-DCDC-D4B1-396061E16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1545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66F87-95A4-92F3-C023-0048D30E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8A1B98-26CA-AEB5-8B2D-ED1CEB76A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CF9172-E523-FA66-5800-219B9C5EF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0B561B-8F3F-739E-EECB-8083B9848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1606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63E1E-3E4E-02CF-6BD3-75C518D69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0DBF5D-3644-E42C-6C41-89D23CA56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0EAE25-2F51-06BC-1848-38B23EDB5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0616B2-78F3-8B39-5D57-26A399A37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4129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FEA4-0B36-B13D-EFCB-591F1C12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FEED45-45BC-D5FB-8F93-7EC6BF5D0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304D02-D97D-C284-09B8-60DC92AD9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3D3CB1-A12F-2E14-E32E-772450579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779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CD31-E1D3-9B0E-07F9-452DBD56D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647910-8ED7-C2A2-25AC-083432F2B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C80305-2C0B-F0FC-461D-4D71B0E55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97D34D-219C-5025-1496-0400831EB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7229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9973E-AC46-FE33-3568-743F24A8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C4A3FB-5987-7D30-7D42-AA9C7FED0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903431-A5A9-4F71-7E32-588CEC457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1DBA24-BAC2-E4DC-57B3-15C35264B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2522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B5958-2B6D-035B-7FEF-F6EAA977B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6E277D-F1A4-2DA6-F27C-47E12CA38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EA6848-6280-BEE1-47D2-A6C55E62E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4D460E-78E3-5A87-AE11-6130290B9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4697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E29EF-4257-F685-7CCF-9FE96DEF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21B3BB-3323-5537-5D33-9C01F5CDE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43A20D-E9C4-C9F2-6E3D-91C1BFC5D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B53085-2C9F-18EC-94CD-51FB37B08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5361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2D441-EE86-BAE6-2690-2A13DDC7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6C1BE3-DBE5-0F50-8D45-364BB97AD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78CCEA-2DD0-6EB7-A92C-EB888E564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020FBB-BC1B-1AFC-64DD-E0F75BAB8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3268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94840-974D-6F01-6C78-541D790B6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069013-C02A-A224-E3EB-18AB7352E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C4F291-4DA1-5BE4-4AE8-684413EFF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D2E0EE-F430-1270-1EE6-599446127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086C4-9EFF-45E3-831E-A9ABD8090F1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6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986D2-FBC7-D124-9CCB-D294B953E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92DB09-B949-7D9E-2FAD-4917DF959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AAD10C-9488-0F67-DC92-8697DBC5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27B6BA-C95F-92A1-662F-5415CFAF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5A40C6-F827-4382-20D0-B4952529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46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39394-E9BD-6D45-3820-E245B8FD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251643-E6C3-0248-76CC-01DFDF80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850B3B-B0C8-743C-5AE4-AC7BD31C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001FD-3FA1-C6C0-5175-79642158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C96DF-CDCE-04D2-FA8E-06D6E2E9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77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F858EB-F45F-0349-F228-8276435F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746E13-0155-9C37-B8E8-BCC6B2BF2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82DE3-6A35-A03E-E370-4E8B72BB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02F110-9451-692A-7491-D7FF08E76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67DC01-BE96-6E9F-B1CC-A86ECA14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8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2CDD4-DDF4-3BF0-4948-DFAC217AB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766F63-5E43-8011-D2E2-F406F46272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34F89A-1D23-045A-C37E-1FA949370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0E0FB0-604D-2792-CD78-1D878BB26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AA622E-7028-02C5-9706-69DF754C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3227E5-2281-F547-593E-17F1183D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68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E429B-E47F-991F-36E6-DBA3BF303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0EFAEE-39DE-8AE0-5674-3E7F99670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C5EE95-19D7-83E0-EE54-0DD8E25DF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4D148E-36ED-5A30-818B-6BA301F99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CD6B14-2E6B-D3EE-F11D-669BFEFF53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CF9B32-978F-A809-D37E-F8F86C633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6F4BC1-E04C-D467-C5E5-417582FC9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1BAD2FE-A558-F965-9EE1-BD437C145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7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F57C3-2C32-FBBD-26E5-7689121A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5FFDDB-3B60-3DF8-4EBE-883935FC9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CFD73A-5D6E-90E7-6FFE-EA62186BB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65D585-51CD-5340-7560-C6C0FF3D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5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82370A-BA97-2FC8-A847-6E13F3320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68489C-4178-316D-9F39-73B87711A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ED0E22-5C60-2AE2-CE42-0F0AC56D6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328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28117-DE5C-5419-4379-6A3CEDE9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C2F958-B46A-3E7F-92CF-8A302BC9C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D22661-FBAD-B3E1-E9CA-951C73F35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29ABA9-18C6-5F62-23D5-247128F4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A4B266-C5D5-F9BA-4C6E-F2F23DFC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198AB0-BE66-6300-A8BB-FE8C72AD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082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DC372-2362-8CA6-57B4-13FDC0B3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D9F07DA-B379-A558-8707-78D4B2B03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15E409-CA2B-0A24-4071-645CE2F09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8D7D4B-17EC-425C-F700-BB133A713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35C484-9D85-AA06-F1F3-16032FDB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D1BECB-A79B-E40F-E348-097FA647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215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7DB75-3099-9A27-35A9-AFE3143CB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2F08C4-A41C-DE5A-2A5F-594620158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4FA187-E333-2A70-EC0B-E8FBD0F53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100EAD-91C2-1C03-E746-3EAEFD154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3029CD-296C-DD38-1E23-5DEC45F8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30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9B4089-1E6D-3550-0309-226F9BD21C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8D0F02-B27A-F6A7-ECFD-2DE80A61E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CCF407-055C-9019-DB72-44598CAF3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F0D8C7-E786-E012-FBDE-36B8257B9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B2D8AD-BB76-0393-D575-5161C369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41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749C58-CC2C-6D8F-B0BC-F734D6962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9CDB56-ED96-638A-AF66-7C5ACF3C6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A58454-DF0C-3D67-F978-835129DF5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8C5D2-1A16-4FE0-A36C-F4DF49C295F2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8AD4C-57F6-1396-E1A0-CE9BF1C62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E525C9-80C9-C140-B710-FC898E8B3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9E2CE-C223-406F-A845-18DA266C5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34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D6DEC-2AD8-CC16-A889-F862F769C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523" y="665163"/>
            <a:ext cx="11852953" cy="2387600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ADAMAS : Adaptive Domain-Aware Performance  Anomaly Detection in Cloud Service Systems</a:t>
            </a:r>
            <a:endParaRPr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E08DAD-136E-280A-7BF8-721D44B03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Wenwei Gu, </a:t>
            </a:r>
            <a:r>
              <a:rPr lang="en-US" altLang="zh-CN" dirty="0" err="1"/>
              <a:t>Jiazhen</a:t>
            </a:r>
            <a:r>
              <a:rPr lang="en-US" altLang="zh-CN" dirty="0"/>
              <a:t> Gu, </a:t>
            </a:r>
            <a:r>
              <a:rPr lang="en-US" altLang="zh-CN" dirty="0" err="1"/>
              <a:t>Jinyang</a:t>
            </a:r>
            <a:r>
              <a:rPr lang="en-US" altLang="zh-CN" dirty="0"/>
              <a:t> Liu, </a:t>
            </a:r>
            <a:r>
              <a:rPr lang="en-US" altLang="zh-CN" dirty="0" err="1"/>
              <a:t>Zhuangbin</a:t>
            </a:r>
            <a:r>
              <a:rPr lang="en-US" altLang="zh-CN" dirty="0"/>
              <a:t> Chen, Jianping Zhang, </a:t>
            </a:r>
            <a:r>
              <a:rPr lang="en-US" altLang="zh-CN" dirty="0" err="1"/>
              <a:t>Jinxi</a:t>
            </a:r>
            <a:r>
              <a:rPr lang="en-US" altLang="zh-CN" dirty="0"/>
              <a:t> Kuang, Cong Feng, </a:t>
            </a:r>
            <a:r>
              <a:rPr lang="en-US" altLang="zh-CN" dirty="0" err="1"/>
              <a:t>Yongqiang</a:t>
            </a:r>
            <a:r>
              <a:rPr lang="en-US" altLang="zh-CN" dirty="0"/>
              <a:t> Yang, Michael R. Lyu</a:t>
            </a:r>
          </a:p>
          <a:p>
            <a:r>
              <a:rPr lang="en-US" altLang="zh-CN" dirty="0"/>
              <a:t>ICSE 2025</a:t>
            </a:r>
          </a:p>
          <a:p>
            <a:r>
              <a:rPr lang="en-US" altLang="zh-CN" dirty="0"/>
              <a:t>November 23</a:t>
            </a:r>
            <a:r>
              <a:rPr lang="zh-CN" altLang="en-US" dirty="0"/>
              <a:t>，</a:t>
            </a:r>
            <a:r>
              <a:rPr lang="en-US" altLang="zh-CN" dirty="0"/>
              <a:t>2025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6082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21AA5-BA3B-7FC7-6B37-E772F5393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E4009A-611D-C576-03BA-A2CF76254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>
              <a:lnSpc>
                <a:spcPct val="150000"/>
              </a:lnSpc>
            </a:pPr>
            <a:r>
              <a:rPr lang="en-US" altLang="zh-CN" dirty="0"/>
              <a:t>1. Introduction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2. Background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3. Methodology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4. Experiments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5. Conclusion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182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E8EC8-3DA1-1B9F-29CC-52F850F1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Introduction</a:t>
            </a:r>
            <a:endParaRPr lang="zh-CN" altLang="en-US" b="1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A7D8987-17BE-90FF-CF48-F10C1440F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3600" dirty="0"/>
              <a:t>Cloud services generate massive monitoring data. Detecting anomalies early is crucial for reliability.</a:t>
            </a:r>
          </a:p>
          <a:p>
            <a:r>
              <a:rPr lang="en-US" altLang="zh-CN" sz="3600" dirty="0"/>
              <a:t>Existing methods often fall short of detecting diverse and evolving anomalies across different services</a:t>
            </a:r>
            <a:r>
              <a:rPr lang="en-US" altLang="zh-CN" sz="3400" dirty="0"/>
              <a:t>.</a:t>
            </a:r>
          </a:p>
          <a:p>
            <a:r>
              <a:rPr lang="en-US" altLang="zh-CN" sz="3400" dirty="0"/>
              <a:t>We propose ADAMAS, an adaptive </a:t>
            </a:r>
            <a:r>
              <a:rPr lang="en-US" altLang="zh-CN" sz="3400" dirty="0" err="1"/>
              <a:t>AutoML</a:t>
            </a:r>
            <a:r>
              <a:rPr lang="en-US" altLang="zh-CN" sz="3400" dirty="0"/>
              <a:t>-based anomaly detection framework.</a:t>
            </a:r>
          </a:p>
          <a:p>
            <a:r>
              <a:rPr lang="en-US" altLang="zh-CN" sz="3400" dirty="0"/>
              <a:t>We design a novel unsupervised evaluation function and ADAMAS also contains a lightweight human-in-the-loop design.</a:t>
            </a:r>
          </a:p>
        </p:txBody>
      </p:sp>
    </p:spTree>
    <p:extLst>
      <p:ext uri="{BB962C8B-B14F-4D97-AF65-F5344CB8AC3E}">
        <p14:creationId xmlns:p14="http://schemas.microsoft.com/office/powerpoint/2010/main" val="391273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08672-170C-7F1E-8A9D-49BAE6D93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50132-66CE-522E-CC4B-13CEB907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Challenges</a:t>
            </a:r>
            <a:endParaRPr lang="zh-CN" altLang="en-US" b="1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655F1CD-6C27-E2F3-68A2-9DACAC811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Cloud services tend to exhibit great diversity and dynamism not only in functionalities but also in anomaly patterns.</a:t>
            </a:r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BB4B21E-B61D-F85C-DB7F-26F7F1D59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132" y="3146575"/>
            <a:ext cx="8965736" cy="289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2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DDCD3-9A36-8E7B-7BA3-132F85ED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E0BD4-8592-A57A-846D-3E83BB312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Challenges</a:t>
            </a:r>
            <a:endParaRPr lang="zh-CN" altLang="en-US" b="1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ADF6057-9767-5782-AD0A-78F47776F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A technical anomaly do not always translate to a performance issue that impacts the overall business performance or customer experience . </a:t>
            </a:r>
          </a:p>
          <a:p>
            <a:r>
              <a:rPr lang="en-US" altLang="zh-CN" dirty="0"/>
              <a:t>Due to the frequent service updates and user behavior changes, the anomaly patterns of services may evolve accordingly.</a:t>
            </a:r>
          </a:p>
          <a:p>
            <a:r>
              <a:rPr lang="en-US" altLang="zh-CN" dirty="0"/>
              <a:t>Existing </a:t>
            </a:r>
            <a:r>
              <a:rPr lang="en-US" altLang="zh-CN" dirty="0" err="1"/>
              <a:t>AutoML</a:t>
            </a:r>
            <a:r>
              <a:rPr lang="en-US" altLang="zh-CN" dirty="0"/>
              <a:t> methods often require labeled data, which can mislead model search and heavily rely on human expertise to provide high-quality feedback.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4716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676282-F770-B66A-E784-A9E51198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Contributions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EF0E70-7BA5-8FD6-A412-82CE1354A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label-free automated configuration search for anomaly detection models.</a:t>
            </a:r>
          </a:p>
          <a:p>
            <a:r>
              <a:rPr lang="en-US" altLang="zh-CN" dirty="0"/>
              <a:t>A feedback-based adaptive learning mechanism that reduces human workload.</a:t>
            </a:r>
          </a:p>
          <a:p>
            <a:r>
              <a:rPr lang="en-US" altLang="zh-CN" dirty="0"/>
              <a:t>Comprehensive evaluation on both public and industrial </a:t>
            </a:r>
            <a:r>
              <a:rPr lang="en-US" altLang="zh-CN" dirty="0" err="1"/>
              <a:t>datasets.Real</a:t>
            </a:r>
            <a:r>
              <a:rPr lang="en-US" altLang="zh-CN" dirty="0"/>
              <a:t>-world deployment demonstrating significant reduction in false positives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010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EE6FC-77B7-2346-E518-1DB9BFEB4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8AEC5-AFA8-B9E3-6AA0-E82576DD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Background</a:t>
            </a:r>
            <a:endParaRPr lang="zh-CN" altLang="en-US" b="1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8A2A005-0999-4557-BDA9-6D55C638F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Performance Anomaly Detection in Cloud Service Systems</a:t>
            </a:r>
          </a:p>
          <a:p>
            <a:pPr lvl="1"/>
            <a:r>
              <a:rPr lang="en-US" altLang="zh-CN" sz="2800" dirty="0"/>
              <a:t>A particular type of performance anomaly can be characterized as an anomaly pattern.</a:t>
            </a:r>
          </a:p>
          <a:p>
            <a:pPr lvl="1"/>
            <a:r>
              <a:rPr lang="en-US" altLang="zh-CN" sz="2800" dirty="0"/>
              <a:t>Not all anomaly patterns manifest in monitoring metrics are true performance anomalies</a:t>
            </a:r>
          </a:p>
          <a:p>
            <a:pPr lvl="1"/>
            <a:endParaRPr lang="en-US" altLang="zh-CN" sz="2800" dirty="0"/>
          </a:p>
          <a:p>
            <a:endParaRPr lang="en-US" altLang="zh-CN" sz="3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22A9012-8656-DDFE-2507-D7379823C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541" y="3969098"/>
            <a:ext cx="4647343" cy="271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42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CA53-689F-4559-357F-904E95A4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48052-536D-0EB9-B5EC-198A0EDA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Background</a:t>
            </a:r>
            <a:endParaRPr lang="zh-CN" altLang="en-US" b="1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7F0A16E-410C-3E6E-0F54-80531170D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3200" dirty="0" err="1"/>
              <a:t>AutoML</a:t>
            </a:r>
            <a:endParaRPr lang="en-US" altLang="zh-CN" sz="3200" dirty="0"/>
          </a:p>
          <a:p>
            <a:pPr lvl="1"/>
            <a:r>
              <a:rPr lang="en-US" altLang="zh-CN" dirty="0" err="1"/>
              <a:t>AutoML</a:t>
            </a:r>
            <a:r>
              <a:rPr lang="en-US" altLang="zh-CN" dirty="0"/>
              <a:t> simplifies machine learning by eliminating manual hyperparameter tuning.</a:t>
            </a:r>
          </a:p>
          <a:p>
            <a:pPr lvl="1"/>
            <a:r>
              <a:rPr lang="en-US" altLang="zh-CN" dirty="0" err="1"/>
              <a:t>AutoML</a:t>
            </a:r>
            <a:r>
              <a:rPr lang="en-US" altLang="zh-CN" dirty="0"/>
              <a:t> can be formulated as a Combined Algorithm Selection and Hyper-parameter problem.</a:t>
            </a:r>
          </a:p>
          <a:p>
            <a:pPr lvl="1"/>
            <a:endParaRPr lang="en-US" altLang="zh-CN" dirty="0"/>
          </a:p>
          <a:p>
            <a:pPr lvl="1"/>
            <a:endParaRPr lang="en-US" altLang="zh-CN" sz="2800" dirty="0"/>
          </a:p>
          <a:p>
            <a:endParaRPr lang="en-US" altLang="zh-CN" sz="3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EB8446-9E09-299A-90DE-BFE07198A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219" y="3773497"/>
            <a:ext cx="6992684" cy="27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68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B08F-925B-A8A5-7C00-5687CFEA4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80486-86D5-BBAF-7251-0AA06F73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Background</a:t>
            </a:r>
            <a:endParaRPr lang="zh-CN" altLang="en-US" b="1" dirty="0"/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5CEF5314-4E35-9691-461D-8D799FA51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1812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3200" dirty="0" err="1"/>
              <a:t>AutoML</a:t>
            </a:r>
            <a:endParaRPr lang="en-US" altLang="zh-CN" sz="3200" dirty="0"/>
          </a:p>
          <a:p>
            <a:pPr lvl="1">
              <a:lnSpc>
                <a:spcPct val="100000"/>
              </a:lnSpc>
            </a:pPr>
            <a:r>
              <a:rPr lang="en-US" altLang="zh-CN" sz="2800" dirty="0"/>
              <a:t>None of the existing </a:t>
            </a:r>
            <a:r>
              <a:rPr lang="en-US" altLang="zh-CN" sz="2800" dirty="0" err="1"/>
              <a:t>AutoML</a:t>
            </a:r>
            <a:r>
              <a:rPr lang="en-US" altLang="zh-CN" sz="2800" dirty="0"/>
              <a:t> methods possess the merit of domain knowledge</a:t>
            </a:r>
          </a:p>
          <a:p>
            <a:pPr lvl="1">
              <a:lnSpc>
                <a:spcPct val="100000"/>
              </a:lnSpc>
            </a:pPr>
            <a:r>
              <a:rPr lang="en-US" altLang="zh-CN" sz="2800" dirty="0"/>
              <a:t>Existing </a:t>
            </a:r>
            <a:r>
              <a:rPr lang="en-US" altLang="zh-CN" sz="2800" dirty="0" err="1"/>
              <a:t>AutoML</a:t>
            </a:r>
            <a:r>
              <a:rPr lang="en-US" altLang="zh-CN" sz="2800" dirty="0"/>
              <a:t> frameworks lack the adaptability to new anomaly patterns in online services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77052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7E793-BDF5-6117-20FA-3088E3F8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E4021-8377-006D-4CE3-66B95ADE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Methodology</a:t>
            </a:r>
            <a:endParaRPr lang="zh-CN" altLang="en-US" b="1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91E0E6-1D81-6E3B-14BC-827EE35BA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773791"/>
          </a:xfrm>
        </p:spPr>
        <p:txBody>
          <a:bodyPr/>
          <a:lstStyle/>
          <a:p>
            <a:r>
              <a:rPr lang="en-US" altLang="zh-CN" dirty="0"/>
              <a:t>We present ADAMAS, which is a Bayesian Optimization-based approach for identifying performance issues based on monitoring metrics in cloud systems.</a:t>
            </a:r>
          </a:p>
          <a:p>
            <a:r>
              <a:rPr lang="en-US" altLang="zh-CN" dirty="0"/>
              <a:t>First, we will give a formal definition of the problem</a:t>
            </a:r>
          </a:p>
          <a:p>
            <a:r>
              <a:rPr lang="en-US" altLang="zh-CN" dirty="0"/>
              <a:t>Then, we give the overview of ADAMAS.</a:t>
            </a:r>
          </a:p>
          <a:p>
            <a:r>
              <a:rPr lang="en-US" altLang="zh-CN" dirty="0"/>
              <a:t>We illustrate the core design of ADAMAS in detail in the remaining sub-sections.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3145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E030E-041A-25E3-64D3-10BBB6AB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E7223-9ADD-788A-508C-AB354D393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9CFBE1F8-05E3-6ECA-CB3B-3B7B692B6D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The objective of our work is to detect performance anomalies in software systems, especially large-scale cloud systems with monitoring metrics.</a:t>
                </a:r>
              </a:p>
              <a:p>
                <a:r>
                  <a:rPr lang="en-US" altLang="zh-CN" dirty="0"/>
                  <a:t>A monitoring metric can be seen as a time series </a:t>
                </a:r>
                <a:r>
                  <a:rPr lang="en-US" altLang="zh-CN" dirty="0" err="1"/>
                  <a:t>X∈Rn</a:t>
                </a:r>
                <a:r>
                  <a:rPr lang="en-US" altLang="zh-CN" dirty="0"/>
                  <a:t>=[x1, x2, ..., </a:t>
                </a:r>
                <a:r>
                  <a:rPr lang="en-US" altLang="zh-CN" dirty="0" err="1"/>
                  <a:t>xn</a:t>
                </a:r>
                <a:r>
                  <a:rPr lang="en-US" altLang="zh-CN" dirty="0"/>
                  <a:t>]</a:t>
                </a:r>
              </a:p>
              <a:p>
                <a:r>
                  <a:rPr lang="en-US" altLang="zh-CN" dirty="0"/>
                  <a:t>A sliding window of historical values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CN" dirty="0"/>
                  <a:t>= [x</a:t>
                </a:r>
                <a:r>
                  <a:rPr lang="en-US" altLang="zh-CN" baseline="-25000" dirty="0"/>
                  <a:t>t−l+1</a:t>
                </a:r>
                <a:r>
                  <a:rPr lang="en-US" altLang="zh-CN" dirty="0"/>
                  <a:t>, x</a:t>
                </a:r>
                <a:r>
                  <a:rPr lang="en-US" altLang="zh-CN" baseline="-25000" dirty="0"/>
                  <a:t>t−l+2</a:t>
                </a:r>
                <a:r>
                  <a:rPr lang="en-US" altLang="zh-CN" dirty="0"/>
                  <a:t>, ..., 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t</a:t>
                </a:r>
                <a:r>
                  <a:rPr lang="en-US" altLang="zh-CN" dirty="0"/>
                  <a:t>]</a:t>
                </a:r>
              </a:p>
              <a:p>
                <a:r>
                  <a:rPr lang="en-US" altLang="zh-CN" dirty="0"/>
                  <a:t>M = {m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, m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, ..., </a:t>
                </a:r>
                <a:r>
                  <a:rPr lang="en-US" altLang="zh-CN" dirty="0" err="1"/>
                  <a:t>m</a:t>
                </a:r>
                <a:r>
                  <a:rPr lang="en-US" altLang="zh-CN" baseline="-25000" dirty="0" err="1"/>
                  <a:t>k</a:t>
                </a:r>
                <a:r>
                  <a:rPr lang="en-US" altLang="zh-CN" dirty="0"/>
                  <a:t>}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= {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bSup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bSup>
                  </m:oMath>
                </a14:m>
                <a:r>
                  <a:rPr lang="en-US" altLang="zh-CN" dirty="0"/>
                  <a:t>, ...,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bSup>
                  </m:oMath>
                </a14:m>
                <a:r>
                  <a:rPr lang="en-US" altLang="zh-CN" dirty="0"/>
                  <a:t>}</a:t>
                </a:r>
              </a:p>
              <a:p>
                <a:r>
                  <a:rPr lang="en-US" altLang="zh-CN" dirty="0"/>
                  <a:t>the goal of </a:t>
                </a:r>
                <a:r>
                  <a:rPr lang="en-US" altLang="zh-CN" dirty="0" err="1"/>
                  <a:t>AutoML</a:t>
                </a:r>
                <a:r>
                  <a:rPr lang="en-US" altLang="zh-CN" dirty="0"/>
                  <a:t> is to find the optimal configuration c∗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9CFBE1F8-05E3-6ECA-CB3B-3B7B692B6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 r="-2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D7AC2473-18C4-89D2-478C-29E2D5119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851" y="5568547"/>
            <a:ext cx="4399111" cy="92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487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664F-A42D-33E4-FD1A-0F12BAB12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E6F86-856E-1D52-D7F4-794C0EBC3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ADAMAS Framework Overview</a:t>
            </a:r>
            <a:endParaRPr lang="zh-CN" altLang="en-US" b="1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84E95B5-8627-A109-02CE-CFF2D00B7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ADAMAS consists of two phases, namely, </a:t>
            </a:r>
            <a:r>
              <a:rPr lang="en-US" altLang="zh-CN" sz="3200" b="1" dirty="0"/>
              <a:t>label-free configuration search </a:t>
            </a:r>
            <a:r>
              <a:rPr lang="en-US" altLang="zh-CN" sz="3200" dirty="0"/>
              <a:t>and </a:t>
            </a:r>
            <a:r>
              <a:rPr lang="en-US" altLang="zh-CN" sz="3200" b="1" dirty="0"/>
              <a:t>feedback-based adaptive learning</a:t>
            </a:r>
            <a:endParaRPr lang="zh-CN" altLang="en-US" sz="32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4453A33-5401-BE76-D699-D8D0CE203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170" y="3220582"/>
            <a:ext cx="8913621" cy="336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4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5A4D4-9AD5-32B2-DC10-B3FA383C0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98952-7947-991D-6417-8979C9D50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Label-free Configuration Search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CC4E887-A36B-1B11-9892-9738BB2E6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Cold start and warm start</a:t>
            </a:r>
          </a:p>
          <a:p>
            <a:r>
              <a:rPr lang="en-US" altLang="zh-CN" dirty="0"/>
              <a:t>The objective function evaluates each configuration, and the GP surrogate updates the search-space belief accordingly.</a:t>
            </a:r>
          </a:p>
          <a:p>
            <a:r>
              <a:rPr lang="en-US" altLang="zh-CN" dirty="0"/>
              <a:t>Noise-Free Mean squared error with Kurtosis (NFMK) serves as an excellent approximation to evaluation functions like the F1 score without labels.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1515BEC-59AC-33F5-6A31-2D5268F7F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537" y="4713636"/>
            <a:ext cx="7678486" cy="105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2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31DAB-F0B9-B447-3EC6-2D63DFB2F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D5BF0-A182-72B1-7969-60E438BD0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Label-free Configuration Search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7ACC251-9850-BF96-318C-81B689452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Objective Function</a:t>
            </a:r>
          </a:p>
          <a:p>
            <a:pPr lvl="1"/>
            <a:r>
              <a:rPr lang="en-US" altLang="zh-CN" dirty="0"/>
              <a:t>By using Mean Squared Error (MSE), we can evaluate the reconstruction ability of a model.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Noise detection : Given an anomaly ratio r estimated by engineers according to historical observation, a threshold α is the r quantile of reconstruction error in each point.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DBA9829-CD89-1D8E-A4D6-C6CC89AA1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032" y="3016251"/>
            <a:ext cx="4910923" cy="9426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FE9D14B-ADD0-3366-57A8-B183EBED5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089" y="5137641"/>
            <a:ext cx="4415404" cy="129730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924E0A5-82F6-3B14-ADB0-15FAF9AC789F}"/>
              </a:ext>
            </a:extLst>
          </p:cNvPr>
          <p:cNvSpPr txBox="1"/>
          <p:nvPr/>
        </p:nvSpPr>
        <p:spPr>
          <a:xfrm>
            <a:off x="4987468" y="5474888"/>
            <a:ext cx="7293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e.g:0.1</a:t>
            </a:r>
            <a:r>
              <a:rPr lang="zh-CN" altLang="en-US" dirty="0"/>
              <a:t>、</a:t>
            </a:r>
            <a:r>
              <a:rPr lang="en-US" altLang="zh-CN" dirty="0"/>
              <a:t>0.2</a:t>
            </a:r>
            <a:r>
              <a:rPr lang="zh-CN" altLang="en-US" dirty="0"/>
              <a:t>、</a:t>
            </a:r>
            <a:r>
              <a:rPr lang="en-US" altLang="zh-CN" dirty="0"/>
              <a:t>0.2</a:t>
            </a:r>
            <a:r>
              <a:rPr lang="zh-CN" altLang="en-US" dirty="0"/>
              <a:t>、</a:t>
            </a:r>
            <a:r>
              <a:rPr lang="en-US" altLang="zh-CN" dirty="0"/>
              <a:t>0.3</a:t>
            </a:r>
            <a:r>
              <a:rPr lang="zh-CN" altLang="en-US" dirty="0"/>
              <a:t>、</a:t>
            </a:r>
            <a:r>
              <a:rPr lang="en-US" altLang="zh-CN" dirty="0"/>
              <a:t>0.4</a:t>
            </a:r>
            <a:r>
              <a:rPr lang="zh-CN" altLang="en-US" dirty="0"/>
              <a:t>、</a:t>
            </a:r>
            <a:r>
              <a:rPr lang="en-US" altLang="zh-CN" dirty="0"/>
              <a:t>...</a:t>
            </a:r>
            <a:r>
              <a:rPr lang="zh-CN" altLang="en-US" dirty="0"/>
              <a:t>、</a:t>
            </a:r>
            <a:r>
              <a:rPr lang="en-US" altLang="zh-CN" dirty="0"/>
              <a:t>1.8</a:t>
            </a:r>
            <a:r>
              <a:rPr lang="zh-CN" altLang="en-US" dirty="0"/>
              <a:t>、</a:t>
            </a:r>
            <a:r>
              <a:rPr lang="en-US" altLang="zh-CN" dirty="0"/>
              <a:t>1.9</a:t>
            </a:r>
            <a:r>
              <a:rPr lang="zh-CN" altLang="en-US" dirty="0"/>
              <a:t>、</a:t>
            </a:r>
            <a:r>
              <a:rPr lang="en-US" altLang="zh-CN" b="1" dirty="0"/>
              <a:t>2.8</a:t>
            </a:r>
            <a:r>
              <a:rPr lang="zh-CN" altLang="en-US" b="1" dirty="0"/>
              <a:t>、</a:t>
            </a:r>
            <a:r>
              <a:rPr lang="en-US" altLang="zh-CN" b="1" dirty="0"/>
              <a:t>2.9</a:t>
            </a:r>
            <a:r>
              <a:rPr lang="zh-CN" altLang="en-US" b="1" dirty="0"/>
              <a:t>、</a:t>
            </a:r>
            <a:r>
              <a:rPr lang="en-US" altLang="zh-CN" b="1" dirty="0"/>
              <a:t>3.1</a:t>
            </a:r>
            <a:r>
              <a:rPr lang="zh-CN" altLang="en-US" b="1" dirty="0"/>
              <a:t>、</a:t>
            </a:r>
            <a:r>
              <a:rPr lang="en-US" altLang="zh-CN" b="1" dirty="0"/>
              <a:t>3.3</a:t>
            </a:r>
            <a:r>
              <a:rPr lang="zh-CN" altLang="en-US" b="1" dirty="0"/>
              <a:t>、</a:t>
            </a:r>
            <a:r>
              <a:rPr lang="en-US" altLang="zh-CN" b="1" dirty="0"/>
              <a:t>3.5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035296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910D8-48B8-CC35-646F-302C568FC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3722C7-0126-E6D5-354C-DB19E144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Label-free Configuration Search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3240792-3068-4C6A-1A77-891463692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Objective Function</a:t>
            </a:r>
          </a:p>
          <a:p>
            <a:pPr lvl="1"/>
            <a:r>
              <a:rPr lang="en-US" altLang="zh-CN" dirty="0"/>
              <a:t>To ensure the model can differentiate potential anomalies from normal patterns, we use the difference in kurtosis before and after noise removal.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A higher kurtosis corresponds to greater fluctuation, indicating the presence of anomalies.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1815393-6E76-D68D-D52B-6768A92C9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967" y="3274297"/>
            <a:ext cx="4825553" cy="9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80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F4CF7-CC38-698E-8136-D91F17BAE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3F236-A8B0-4248-C837-58B9E32B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Label-free Configuration Search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A0206D09-E154-C0A6-35A9-E7A6EA44A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Acquisition Function: Max-value Entropy Search (MES)</a:t>
            </a:r>
          </a:p>
          <a:p>
            <a:pPr lvl="1"/>
            <a:r>
              <a:rPr lang="en-US" altLang="zh-CN" dirty="0"/>
              <a:t>The acquisition function guides the choice of the next configuration to explore.</a:t>
            </a:r>
          </a:p>
          <a:p>
            <a:pPr lvl="1"/>
            <a:r>
              <a:rPr lang="en-US" altLang="zh-CN" dirty="0"/>
              <a:t>Entropy search-based acquisition functions are proven to achieve a fast convergence rate.</a:t>
            </a:r>
          </a:p>
          <a:p>
            <a:pPr lvl="1"/>
            <a:r>
              <a:rPr lang="en-US" altLang="zh-CN" dirty="0"/>
              <a:t>In our framework, we apply the Max-value Entropy Search (MES) as the acquisition function.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47471FA-FD94-2E21-ED01-E04B979AA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964" y="4476291"/>
            <a:ext cx="6301827" cy="201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07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32CA6-AA39-7780-8717-E8A29F3F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8C07E-698F-7EB6-5895-797CCA3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Feedback-based Adaptive Learning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44E25334-CCF0-521D-4EBE-F808EDD2D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We propose to incorporate the knowledge of experts through human-in-the-loop to facilitate the anomaly detection process.</a:t>
            </a:r>
          </a:p>
          <a:p>
            <a:r>
              <a:rPr lang="en-US" altLang="zh-CN" dirty="0"/>
              <a:t>We observe that similar types of performance anomalies tend to trigger similar patterns on the monitoring metric.</a:t>
            </a:r>
          </a:p>
          <a:p>
            <a:r>
              <a:rPr lang="en-US" altLang="zh-CN" dirty="0"/>
              <a:t>Because monitoring metrics arrive as a stream, storing all data is infeasible, making full-data clustering unsuitable.</a:t>
            </a:r>
          </a:p>
          <a:p>
            <a:r>
              <a:rPr lang="en-US" altLang="zh-CN" dirty="0"/>
              <a:t>We propose a streaming metrics clustering method, Metric Stream Clustering (MSC), that continuously clusters all incoming anomalous metric segments.</a:t>
            </a:r>
          </a:p>
        </p:txBody>
      </p:sp>
    </p:spTree>
    <p:extLst>
      <p:ext uri="{BB962C8B-B14F-4D97-AF65-F5344CB8AC3E}">
        <p14:creationId xmlns:p14="http://schemas.microsoft.com/office/powerpoint/2010/main" val="2856722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000C-EB6B-D387-E39E-E33B0F40B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D98D5-6C66-8B51-36DB-A980F0A5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Feedback-based Adaptive Learning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ED7EDD8-DDC6-B711-4998-6D01AC5AD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82043" y="1325367"/>
            <a:ext cx="4169210" cy="541437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23F4EE2-3991-BC98-B6BA-848FF1D7A8D5}"/>
              </a:ext>
            </a:extLst>
          </p:cNvPr>
          <p:cNvSpPr txBox="1"/>
          <p:nvPr/>
        </p:nvSpPr>
        <p:spPr>
          <a:xfrm>
            <a:off x="982333" y="1462620"/>
            <a:ext cx="545557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Initialization Phase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Initialized clusters is denoted as X0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We apply DBSCAN to construct the initialized clusters.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The mean vectors, cluster sizes, and radii are denoted as μ0, S0, R0.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Continuous Clustering Phase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When a new anomaly pattern is absorbed, the cluster’s attributes should be updated.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Search for the index of the closest cluster </a:t>
            </a:r>
            <a:r>
              <a:rPr lang="en-US" altLang="zh-CN" sz="2000" dirty="0" err="1"/>
              <a:t>idx</a:t>
            </a:r>
            <a:r>
              <a:rPr lang="en-US" altLang="zh-CN" sz="2000" baseline="-25000" dirty="0" err="1"/>
              <a:t>t</a:t>
            </a:r>
            <a:r>
              <a:rPr lang="en-US" altLang="zh-CN" sz="2000" baseline="-25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check the distance between the mean vector of the cluster and the metric pattern.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Update attributes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25290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05272-670B-B0F0-2CAD-CF4B5A72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7DA65-824B-8A6D-80B2-B54799065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Feedback-based Adaptive Learning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A7C4AA-312C-A896-E637-7BFAF7E12D36}"/>
              </a:ext>
            </a:extLst>
          </p:cNvPr>
          <p:cNvSpPr txBox="1"/>
          <p:nvPr/>
        </p:nvSpPr>
        <p:spPr>
          <a:xfrm>
            <a:off x="982333" y="1856522"/>
            <a:ext cx="63225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 radius cannot be directly calculated as only the attributes of clusters are retained.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We estimate it by analyzing the best and worst case of the radius update.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 best case can be trivially derived in that the radius remained unchanged at Rt[</a:t>
            </a:r>
            <a:r>
              <a:rPr lang="en-US" altLang="zh-CN" sz="2400" dirty="0" err="1"/>
              <a:t>idxt</a:t>
            </a:r>
            <a:r>
              <a:rPr lang="en-US" altLang="zh-CN" sz="2400" dirty="0"/>
              <a:t>].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 worst case is shown in Fig. 5, where the new radius reaches its maximum value.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89736A-175A-29AD-5306-DB0168886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926" y="1856522"/>
            <a:ext cx="4565233" cy="353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26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4E1CE-9C22-4332-0245-4CE71D98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53741-B875-907A-9E9D-33E4AD08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Feedback-based Adaptive Learning</a:t>
            </a:r>
          </a:p>
        </p:txBody>
      </p:sp>
      <p:sp>
        <p:nvSpPr>
          <p:cNvPr id="9" name="内容占位符 6">
            <a:extLst>
              <a:ext uri="{FF2B5EF4-FFF2-40B4-BE49-F238E27FC236}">
                <a16:creationId xmlns:a16="http://schemas.microsoft.com/office/drawing/2014/main" id="{1CA76A2A-2E5E-E082-E2BF-6A499CDC2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With the proposed clustering method MSC, we can seamlessly integrate valuable feedback from on-site engineers to ADAMAS.</a:t>
            </a:r>
          </a:p>
          <a:p>
            <a:r>
              <a:rPr lang="en-US" altLang="zh-CN" dirty="0"/>
              <a:t>When the offline model identifies an unseen suspicious anomaly pattern, it issues a query to cloud experts for confirmation.</a:t>
            </a:r>
          </a:p>
          <a:p>
            <a:r>
              <a:rPr lang="en-US" altLang="zh-CN" dirty="0"/>
              <a:t>Experts only need to label a cluster once; if any segment is labeled anomalous, the entire cluster is treated as anomalous.</a:t>
            </a:r>
          </a:p>
          <a:p>
            <a:r>
              <a:rPr lang="en-US" altLang="zh-CN" dirty="0"/>
              <a:t>We address this by using an engineer-defined threshold: if false-positive clusters exceed it, the model is retrained.</a:t>
            </a:r>
          </a:p>
        </p:txBody>
      </p:sp>
    </p:spTree>
    <p:extLst>
      <p:ext uri="{BB962C8B-B14F-4D97-AF65-F5344CB8AC3E}">
        <p14:creationId xmlns:p14="http://schemas.microsoft.com/office/powerpoint/2010/main" val="4072823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143E9-BC80-7BCF-E654-74B790BA6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94105-1ADD-8379-7C10-9B53FC71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Experiments</a:t>
            </a:r>
          </a:p>
        </p:txBody>
      </p:sp>
      <p:sp>
        <p:nvSpPr>
          <p:cNvPr id="9" name="内容占位符 6">
            <a:extLst>
              <a:ext uri="{FF2B5EF4-FFF2-40B4-BE49-F238E27FC236}">
                <a16:creationId xmlns:a16="http://schemas.microsoft.com/office/drawing/2014/main" id="{E28AA2F3-4105-C268-97AD-C98777FE6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We evaluate ADAMAS using both a public dataset and real-world monitoring data from large-scale cloud systems in Company X.</a:t>
            </a:r>
          </a:p>
          <a:p>
            <a:r>
              <a:rPr lang="en-US" altLang="zh-CN" dirty="0"/>
              <a:t>We aim to answer the following research questions (RQs).  </a:t>
            </a:r>
          </a:p>
          <a:p>
            <a:pPr lvl="1"/>
            <a:r>
              <a:rPr lang="en-US" altLang="zh-CN" dirty="0"/>
              <a:t>RQ1: What is the effectiveness of ADAMAS compared with other baselines? </a:t>
            </a:r>
          </a:p>
          <a:p>
            <a:pPr lvl="1"/>
            <a:r>
              <a:rPr lang="en-US" altLang="zh-CN" dirty="0"/>
              <a:t>RQ2: What is the effectiveness of each component in ADAMAS? </a:t>
            </a:r>
          </a:p>
          <a:p>
            <a:pPr lvl="1"/>
            <a:r>
              <a:rPr lang="en-US" altLang="zh-CN" dirty="0"/>
              <a:t>RQ3: What is the sensitivity of ADAMAS to each hyperparameter?</a:t>
            </a:r>
          </a:p>
        </p:txBody>
      </p:sp>
    </p:spTree>
    <p:extLst>
      <p:ext uri="{BB962C8B-B14F-4D97-AF65-F5344CB8AC3E}">
        <p14:creationId xmlns:p14="http://schemas.microsoft.com/office/powerpoint/2010/main" val="2628346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9DD9-2BC9-9BDE-252D-AC166AE4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5E481-302F-AA19-659E-7E05BE8D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Experiment Settings</a:t>
            </a:r>
          </a:p>
        </p:txBody>
      </p:sp>
      <p:sp>
        <p:nvSpPr>
          <p:cNvPr id="9" name="内容占位符 6">
            <a:extLst>
              <a:ext uri="{FF2B5EF4-FFF2-40B4-BE49-F238E27FC236}">
                <a16:creationId xmlns:a16="http://schemas.microsoft.com/office/drawing/2014/main" id="{72323E7E-5552-E322-CAAC-8428EAE72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257167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Datasets: one public benchmark (AIOps18) and two industrial datasets (A and B) collected from Huawei Cloud’s services.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1B3AE5-2E94-3EEA-4C59-4D3D3F385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950" y="2686641"/>
            <a:ext cx="6675767" cy="355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606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188A-31B6-3371-3F5B-78FD5132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0E2D3-21CD-B07F-84C2-C85DF08B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Experiment Settings</a:t>
            </a:r>
          </a:p>
        </p:txBody>
      </p:sp>
      <p:sp>
        <p:nvSpPr>
          <p:cNvPr id="9" name="内容占位符 6">
            <a:extLst>
              <a:ext uri="{FF2B5EF4-FFF2-40B4-BE49-F238E27FC236}">
                <a16:creationId xmlns:a16="http://schemas.microsoft.com/office/drawing/2014/main" id="{22D7323C-8D78-E95D-5953-5156EFA28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Implementation</a:t>
            </a:r>
            <a:r>
              <a:rPr lang="zh-CN" altLang="en-US" dirty="0"/>
              <a:t>：</a:t>
            </a:r>
            <a:r>
              <a:rPr lang="en-US" altLang="zh-CN" dirty="0"/>
              <a:t>We implement four widely used metric performance anomaly detection methods by cloud system operators in our ADAMAS framework.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AB8259-0333-6B43-B397-1C5EF8A1A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778" y="2886552"/>
            <a:ext cx="4571998" cy="360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47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E2CA-D351-5EF1-832B-88B265D73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A2350-AA26-6A1A-7BC3-E0900B19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Experiment Settings</a:t>
            </a:r>
          </a:p>
        </p:txBody>
      </p:sp>
      <p:sp>
        <p:nvSpPr>
          <p:cNvPr id="9" name="内容占位符 6">
            <a:extLst>
              <a:ext uri="{FF2B5EF4-FFF2-40B4-BE49-F238E27FC236}">
                <a16:creationId xmlns:a16="http://schemas.microsoft.com/office/drawing/2014/main" id="{442DBC7E-A1D0-1FDA-DE07-85243554E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163" y="2141537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Evaluation Metrics</a:t>
            </a:r>
            <a:r>
              <a:rPr lang="zh-CN" altLang="en-US" dirty="0"/>
              <a:t>：</a:t>
            </a:r>
            <a:r>
              <a:rPr lang="en-US" altLang="zh-CN" dirty="0"/>
              <a:t>The anomaly detection problem is modeled as a binary classification problem, so the widely used binary classification measurements can be applied to evaluate the models.</a:t>
            </a:r>
          </a:p>
          <a:p>
            <a:r>
              <a:rPr lang="en-US" altLang="zh-CN" dirty="0"/>
              <a:t>We employ Precision: PC = TP/(TP+FP), Recall:  RC = TP/(TP +FN), F1 score: F1 = 2·PC·RC /(PC+RC).</a:t>
            </a:r>
          </a:p>
        </p:txBody>
      </p:sp>
    </p:spTree>
    <p:extLst>
      <p:ext uri="{BB962C8B-B14F-4D97-AF65-F5344CB8AC3E}">
        <p14:creationId xmlns:p14="http://schemas.microsoft.com/office/powerpoint/2010/main" val="339926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ECD7E-107D-10FB-DACD-7D785F32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A8F4B-B120-8542-86B2-46E2B7DD6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RQ1: The Effectiveness of ADAMAS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967029-18D1-DA8D-E5D3-7D9CEFADB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264" y="1392920"/>
            <a:ext cx="9517786" cy="471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465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AEC5A-F04C-4AF9-1D5A-D5201DDF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8924-88DE-8540-D27C-6E7ECFA3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RQ2: The Effectiveness of Each Components of ADAMAS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AFB1CF-1AE7-8CEF-939D-BC6514880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33" y="1509935"/>
            <a:ext cx="9462977" cy="329147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D32F70B-4EC0-9763-2883-9A060EADFAE4}"/>
              </a:ext>
            </a:extLst>
          </p:cNvPr>
          <p:cNvSpPr txBox="1"/>
          <p:nvPr/>
        </p:nvSpPr>
        <p:spPr>
          <a:xfrm>
            <a:off x="1364511" y="4930552"/>
            <a:ext cx="94629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ADAMAS-OFF</a:t>
            </a:r>
            <a:r>
              <a:rPr lang="zh-CN" altLang="en-US" b="1" dirty="0"/>
              <a:t>：</a:t>
            </a:r>
            <a:r>
              <a:rPr lang="en-US" altLang="zh-CN" dirty="0"/>
              <a:t>Remove human feedback or retraining.</a:t>
            </a:r>
          </a:p>
          <a:p>
            <a:r>
              <a:rPr lang="en-US" altLang="zh-CN" b="1" dirty="0"/>
              <a:t>ADAMAS-Jacob/Snip/</a:t>
            </a:r>
            <a:r>
              <a:rPr lang="en-US" altLang="zh-CN" b="1" dirty="0" err="1"/>
              <a:t>Synflow</a:t>
            </a:r>
            <a:r>
              <a:rPr lang="zh-CN" altLang="en-US" b="1" dirty="0"/>
              <a:t>：</a:t>
            </a:r>
            <a:r>
              <a:rPr lang="en-US" altLang="zh-CN" dirty="0"/>
              <a:t>Replace NFMK with common proxy metrics.</a:t>
            </a:r>
          </a:p>
          <a:p>
            <a:r>
              <a:rPr lang="en-US" altLang="zh-CN" b="1" dirty="0"/>
              <a:t>ADAMAS-F05/F15/F30</a:t>
            </a:r>
            <a:r>
              <a:rPr lang="zh-CN" altLang="en-US" dirty="0"/>
              <a:t>：</a:t>
            </a:r>
            <a:r>
              <a:rPr lang="en-US" altLang="zh-CN" dirty="0"/>
              <a:t>Randomly sample 5%, 15%, or 30% of the metric stream and use feedback only on these sampled segments.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7909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54AA-ABCC-1F78-D94D-B35B45303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23D79-72E2-659B-8950-81C41F3E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RQ2: The Effectiveness of Each Components of ADAMAS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E4ADFE8-9294-5B4F-964A-EC8017023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501" y="1913972"/>
            <a:ext cx="8398998" cy="41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30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7454F-7C72-794A-E9D2-857526B86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E5B96-34FA-BFD2-2C68-2DA2A77A2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RQ3: Parameter Sensitivity of ADAMAS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8D07F57-56C1-95F8-B42F-99F5EA0EB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081" y="1690688"/>
            <a:ext cx="8709838" cy="433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92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76FED-872C-FCD4-BF8D-831D02B6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5932A-4221-C343-6250-A87F86CB3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Case Study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98B71D-7736-F6C3-EBC0-50283CF43675}"/>
              </a:ext>
            </a:extLst>
          </p:cNvPr>
          <p:cNvSpPr txBox="1"/>
          <p:nvPr/>
        </p:nvSpPr>
        <p:spPr>
          <a:xfrm>
            <a:off x="838200" y="2273442"/>
            <a:ext cx="942044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ADAMAS can be seamlessly integrated into the existing cloud monitoring data analytics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We focus on the deployment of ADAMAS in the Object Storage Service (OBS).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9409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5B728-677A-76FD-A9B5-0C32DCE9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F6C50-6A6B-F014-152D-9C7B01302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Case Study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5E61EF-471C-70D3-F849-454DEF0F6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12" y="2084677"/>
            <a:ext cx="5285261" cy="32847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8FF818-2EEB-07D3-8555-72A5451F1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158" y="2084677"/>
            <a:ext cx="5807461" cy="328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2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0B7FF-4435-9DD6-68C0-84E66F47F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424BD-08C3-FDB9-5440-7793211B4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Conclusion</a:t>
            </a: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630B4939-53A9-0F0D-94AC-321E78DE6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We propose ADAMAS, an adaptive </a:t>
            </a:r>
            <a:r>
              <a:rPr lang="en-US" altLang="zh-CN" dirty="0" err="1"/>
              <a:t>AutoMLbased</a:t>
            </a:r>
            <a:r>
              <a:rPr lang="en-US" altLang="zh-CN" dirty="0"/>
              <a:t> performance anomaly detection framework incorporated with domain knowledge.</a:t>
            </a:r>
          </a:p>
          <a:p>
            <a:r>
              <a:rPr lang="en-US" altLang="zh-CN" dirty="0"/>
              <a:t>A novel unsupervised evaluation function, NFMK, is proposed to guide the configuration search.</a:t>
            </a:r>
          </a:p>
          <a:p>
            <a:r>
              <a:rPr lang="en-US" altLang="zh-CN" dirty="0"/>
              <a:t>MSC uses historical engineer feedback to reduce manual effort.</a:t>
            </a:r>
          </a:p>
          <a:p>
            <a:r>
              <a:rPr lang="en-US" altLang="zh-CN" dirty="0"/>
              <a:t>ADAMAS achieves high F1-score on public and industrial datasets, outperforming all baselines.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38464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8353</TotalTime>
  <Words>1438</Words>
  <Application>Microsoft Office PowerPoint</Application>
  <PresentationFormat>宽屏</PresentationFormat>
  <Paragraphs>174</Paragraphs>
  <Slides>31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等线</vt:lpstr>
      <vt:lpstr>等线 Light</vt:lpstr>
      <vt:lpstr>Arial</vt:lpstr>
      <vt:lpstr>Cambria Math</vt:lpstr>
      <vt:lpstr>Office 主题​​</vt:lpstr>
      <vt:lpstr>ADAMAS : Adaptive Domain-Aware Performance  Anomaly Detection in Cloud Service Systems</vt:lpstr>
      <vt:lpstr>CONTENTS</vt:lpstr>
      <vt:lpstr>Introduction</vt:lpstr>
      <vt:lpstr>Challenges</vt:lpstr>
      <vt:lpstr>Challenges</vt:lpstr>
      <vt:lpstr>Contributions</vt:lpstr>
      <vt:lpstr>Background</vt:lpstr>
      <vt:lpstr>Background</vt:lpstr>
      <vt:lpstr>Background</vt:lpstr>
      <vt:lpstr>Methodology</vt:lpstr>
      <vt:lpstr>Problem Formulation</vt:lpstr>
      <vt:lpstr>ADAMAS Framework Overview</vt:lpstr>
      <vt:lpstr>Label-free Configuration Search</vt:lpstr>
      <vt:lpstr>Label-free Configuration Search</vt:lpstr>
      <vt:lpstr>Label-free Configuration Search</vt:lpstr>
      <vt:lpstr>Label-free Configuration Search</vt:lpstr>
      <vt:lpstr>Feedback-based Adaptive Learning</vt:lpstr>
      <vt:lpstr>Feedback-based Adaptive Learning</vt:lpstr>
      <vt:lpstr>Feedback-based Adaptive Learning</vt:lpstr>
      <vt:lpstr>Feedback-based Adaptive Learning</vt:lpstr>
      <vt:lpstr>Experiments</vt:lpstr>
      <vt:lpstr>Experiment Settings</vt:lpstr>
      <vt:lpstr>Experiment Settings</vt:lpstr>
      <vt:lpstr>Experiment Settings</vt:lpstr>
      <vt:lpstr>RQ1: The Effectiveness of ADAMAS</vt:lpstr>
      <vt:lpstr>RQ2: The Effectiveness of Each Components of ADAMAS</vt:lpstr>
      <vt:lpstr>RQ2: The Effectiveness of Each Components of ADAMAS</vt:lpstr>
      <vt:lpstr>RQ3: Parameter Sensitivity of ADAMAS</vt:lpstr>
      <vt:lpstr>Case Study</vt:lpstr>
      <vt:lpstr>Case Study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志鹏 段</dc:creator>
  <cp:lastModifiedBy>志鹏 段</cp:lastModifiedBy>
  <cp:revision>13</cp:revision>
  <dcterms:created xsi:type="dcterms:W3CDTF">2025-11-17T02:42:39Z</dcterms:created>
  <dcterms:modified xsi:type="dcterms:W3CDTF">2025-11-23T13:04:20Z</dcterms:modified>
</cp:coreProperties>
</file>