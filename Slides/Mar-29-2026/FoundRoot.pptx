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70" r:id="rId4"/>
    <p:sldId id="260" r:id="rId5"/>
    <p:sldId id="271" r:id="rId6"/>
    <p:sldId id="261" r:id="rId7"/>
    <p:sldId id="272" r:id="rId8"/>
    <p:sldId id="262" r:id="rId9"/>
    <p:sldId id="263" r:id="rId10"/>
    <p:sldId id="264" r:id="rId11"/>
    <p:sldId id="273" r:id="rId12"/>
    <p:sldId id="274" r:id="rId13"/>
    <p:sldId id="275" r:id="rId14"/>
    <p:sldId id="276" r:id="rId15"/>
    <p:sldId id="277" r:id="rId16"/>
    <p:sldId id="265" r:id="rId17"/>
    <p:sldId id="267" r:id="rId18"/>
    <p:sldId id="268" r:id="rId19"/>
    <p:sldId id="278" r:id="rId20"/>
    <p:sldId id="279" r:id="rId21"/>
    <p:sldId id="280" r:id="rId22"/>
    <p:sldId id="281" r:id="rId23"/>
    <p:sldId id="269" r:id="rId24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890" userDrawn="1">
          <p15:clr>
            <a:srgbClr val="A4A3A4"/>
          </p15:clr>
        </p15:guide>
        <p15:guide id="6" orient="horz" pos="3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93" d="100"/>
          <a:sy n="93" d="100"/>
        </p:scale>
        <p:origin x="101" y="134"/>
      </p:cViewPr>
      <p:guideLst>
        <p:guide pos="384"/>
        <p:guide pos="7256"/>
        <p:guide orient="horz" pos="648"/>
        <p:guide orient="horz" pos="712"/>
        <p:guide orient="horz" pos="3890"/>
        <p:guide orient="horz" pos="38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组合 8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矩形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 l="-111" r="-11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9202056" y="4849848"/>
              <a:ext cx="2989944" cy="2008152"/>
              <a:chOff x="9202056" y="4849848"/>
              <a:chExt cx="2989944" cy="2008152"/>
            </a:xfrm>
          </p:grpSpPr>
          <p:sp>
            <p:nvSpPr>
              <p:cNvPr id="66" name="任意多边形 65"/>
              <p:cNvSpPr/>
              <p:nvPr/>
            </p:nvSpPr>
            <p:spPr>
              <a:xfrm>
                <a:off x="9202056" y="4849848"/>
                <a:ext cx="2989943" cy="2008151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 59"/>
              <p:cNvSpPr/>
              <p:nvPr/>
            </p:nvSpPr>
            <p:spPr>
              <a:xfrm>
                <a:off x="9436022" y="5006988"/>
                <a:ext cx="2755978" cy="1851012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0" y="0"/>
              <a:ext cx="2989943" cy="2008151"/>
              <a:chOff x="0" y="0"/>
              <a:chExt cx="2989943" cy="2008151"/>
            </a:xfrm>
          </p:grpSpPr>
          <p:sp>
            <p:nvSpPr>
              <p:cNvPr id="67" name="任意多边形 66"/>
              <p:cNvSpPr/>
              <p:nvPr/>
            </p:nvSpPr>
            <p:spPr>
              <a:xfrm flipH="1" flipV="1">
                <a:off x="0" y="0"/>
                <a:ext cx="2989943" cy="2008151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 63"/>
              <p:cNvSpPr/>
              <p:nvPr/>
            </p:nvSpPr>
            <p:spPr>
              <a:xfrm flipH="1" flipV="1">
                <a:off x="0" y="0"/>
                <a:ext cx="2755978" cy="1851012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5353798" y="594610"/>
              <a:ext cx="1471702" cy="1471702"/>
              <a:chOff x="5353798" y="594610"/>
              <a:chExt cx="1471702" cy="1471702"/>
            </a:xfrm>
          </p:grpSpPr>
          <p:sp>
            <p:nvSpPr>
              <p:cNvPr id="51" name="任意多边形 50"/>
              <p:cNvSpPr/>
              <p:nvPr/>
            </p:nvSpPr>
            <p:spPr>
              <a:xfrm>
                <a:off x="5532347" y="978311"/>
                <a:ext cx="1114605" cy="704301"/>
              </a:xfrm>
              <a:custGeom>
                <a:avLst/>
                <a:gdLst>
                  <a:gd name="connsiteX0" fmla="*/ 104550 w 604718"/>
                  <a:gd name="connsiteY0" fmla="*/ 208330 h 382112"/>
                  <a:gd name="connsiteX1" fmla="*/ 156180 w 604718"/>
                  <a:gd name="connsiteY1" fmla="*/ 208330 h 382112"/>
                  <a:gd name="connsiteX2" fmla="*/ 261642 w 604718"/>
                  <a:gd name="connsiteY2" fmla="*/ 248878 h 382112"/>
                  <a:gd name="connsiteX3" fmla="*/ 298947 w 604718"/>
                  <a:gd name="connsiteY3" fmla="*/ 255007 h 382112"/>
                  <a:gd name="connsiteX4" fmla="*/ 340187 w 604718"/>
                  <a:gd name="connsiteY4" fmla="*/ 247621 h 382112"/>
                  <a:gd name="connsiteX5" fmla="*/ 433687 w 604718"/>
                  <a:gd name="connsiteY5" fmla="*/ 208330 h 382112"/>
                  <a:gd name="connsiteX6" fmla="*/ 490825 w 604718"/>
                  <a:gd name="connsiteY6" fmla="*/ 208330 h 382112"/>
                  <a:gd name="connsiteX7" fmla="*/ 490825 w 604718"/>
                  <a:gd name="connsiteY7" fmla="*/ 271509 h 382112"/>
                  <a:gd name="connsiteX8" fmla="*/ 458400 w 604718"/>
                  <a:gd name="connsiteY8" fmla="*/ 320701 h 382112"/>
                  <a:gd name="connsiteX9" fmla="*/ 329326 w 604718"/>
                  <a:gd name="connsiteY9" fmla="*/ 376337 h 382112"/>
                  <a:gd name="connsiteX10" fmla="*/ 264632 w 604718"/>
                  <a:gd name="connsiteY10" fmla="*/ 376337 h 382112"/>
                  <a:gd name="connsiteX11" fmla="*/ 136819 w 604718"/>
                  <a:gd name="connsiteY11" fmla="*/ 320701 h 382112"/>
                  <a:gd name="connsiteX12" fmla="*/ 104550 w 604718"/>
                  <a:gd name="connsiteY12" fmla="*/ 271509 h 382112"/>
                  <a:gd name="connsiteX13" fmla="*/ 300973 w 604718"/>
                  <a:gd name="connsiteY13" fmla="*/ 5 h 382112"/>
                  <a:gd name="connsiteX14" fmla="*/ 334162 w 604718"/>
                  <a:gd name="connsiteY14" fmla="*/ 4701 h 382112"/>
                  <a:gd name="connsiteX15" fmla="*/ 581267 w 604718"/>
                  <a:gd name="connsiteY15" fmla="*/ 92552 h 382112"/>
                  <a:gd name="connsiteX16" fmla="*/ 588822 w 604718"/>
                  <a:gd name="connsiteY16" fmla="*/ 114398 h 382112"/>
                  <a:gd name="connsiteX17" fmla="*/ 589136 w 604718"/>
                  <a:gd name="connsiteY17" fmla="*/ 114398 h 382112"/>
                  <a:gd name="connsiteX18" fmla="*/ 589136 w 604718"/>
                  <a:gd name="connsiteY18" fmla="*/ 270771 h 382112"/>
                  <a:gd name="connsiteX19" fmla="*/ 604718 w 604718"/>
                  <a:gd name="connsiteY19" fmla="*/ 321376 h 382112"/>
                  <a:gd name="connsiteX20" fmla="*/ 561278 w 604718"/>
                  <a:gd name="connsiteY20" fmla="*/ 321376 h 382112"/>
                  <a:gd name="connsiteX21" fmla="*/ 576388 w 604718"/>
                  <a:gd name="connsiteY21" fmla="*/ 271242 h 382112"/>
                  <a:gd name="connsiteX22" fmla="*/ 576388 w 604718"/>
                  <a:gd name="connsiteY22" fmla="*/ 120370 h 382112"/>
                  <a:gd name="connsiteX23" fmla="*/ 333376 w 604718"/>
                  <a:gd name="connsiteY23" fmla="*/ 222680 h 382112"/>
                  <a:gd name="connsiteX24" fmla="*/ 268058 w 604718"/>
                  <a:gd name="connsiteY24" fmla="*/ 223780 h 382112"/>
                  <a:gd name="connsiteX25" fmla="*/ 13556 w 604718"/>
                  <a:gd name="connsiteY25" fmla="*/ 125870 h 382112"/>
                  <a:gd name="connsiteX26" fmla="*/ 13714 w 604718"/>
                  <a:gd name="connsiteY26" fmla="*/ 100882 h 382112"/>
                  <a:gd name="connsiteX27" fmla="*/ 267901 w 604718"/>
                  <a:gd name="connsiteY27" fmla="*/ 5329 h 382112"/>
                  <a:gd name="connsiteX28" fmla="*/ 300973 w 604718"/>
                  <a:gd name="connsiteY28" fmla="*/ 5 h 382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04718" h="382112">
                    <a:moveTo>
                      <a:pt x="104550" y="208330"/>
                    </a:moveTo>
                    <a:lnTo>
                      <a:pt x="156180" y="208330"/>
                    </a:lnTo>
                    <a:lnTo>
                      <a:pt x="261642" y="248878"/>
                    </a:lnTo>
                    <a:cubicBezTo>
                      <a:pt x="274864" y="253907"/>
                      <a:pt x="289188" y="255007"/>
                      <a:pt x="298947" y="255007"/>
                    </a:cubicBezTo>
                    <a:cubicBezTo>
                      <a:pt x="314373" y="255007"/>
                      <a:pt x="329012" y="252493"/>
                      <a:pt x="340187" y="247621"/>
                    </a:cubicBezTo>
                    <a:lnTo>
                      <a:pt x="433687" y="208330"/>
                    </a:lnTo>
                    <a:lnTo>
                      <a:pt x="490825" y="208330"/>
                    </a:lnTo>
                    <a:lnTo>
                      <a:pt x="490825" y="271509"/>
                    </a:lnTo>
                    <a:cubicBezTo>
                      <a:pt x="490825" y="290998"/>
                      <a:pt x="476344" y="313000"/>
                      <a:pt x="458400" y="320701"/>
                    </a:cubicBezTo>
                    <a:lnTo>
                      <a:pt x="329326" y="376337"/>
                    </a:lnTo>
                    <a:cubicBezTo>
                      <a:pt x="311382" y="384038"/>
                      <a:pt x="282419" y="384038"/>
                      <a:pt x="264632" y="376337"/>
                    </a:cubicBezTo>
                    <a:lnTo>
                      <a:pt x="136819" y="320701"/>
                    </a:lnTo>
                    <a:cubicBezTo>
                      <a:pt x="119032" y="313000"/>
                      <a:pt x="104550" y="290998"/>
                      <a:pt x="104550" y="271509"/>
                    </a:cubicBezTo>
                    <a:close/>
                    <a:moveTo>
                      <a:pt x="300973" y="5"/>
                    </a:moveTo>
                    <a:cubicBezTo>
                      <a:pt x="312954" y="-93"/>
                      <a:pt x="324955" y="1479"/>
                      <a:pt x="334162" y="4701"/>
                    </a:cubicBezTo>
                    <a:lnTo>
                      <a:pt x="581267" y="92552"/>
                    </a:lnTo>
                    <a:cubicBezTo>
                      <a:pt x="596849" y="98053"/>
                      <a:pt x="599210" y="107168"/>
                      <a:pt x="588822" y="114398"/>
                    </a:cubicBezTo>
                    <a:lnTo>
                      <a:pt x="589136" y="114398"/>
                    </a:lnTo>
                    <a:lnTo>
                      <a:pt x="589136" y="270771"/>
                    </a:lnTo>
                    <a:lnTo>
                      <a:pt x="604718" y="321376"/>
                    </a:lnTo>
                    <a:lnTo>
                      <a:pt x="561278" y="321376"/>
                    </a:lnTo>
                    <a:lnTo>
                      <a:pt x="576388" y="271242"/>
                    </a:lnTo>
                    <a:lnTo>
                      <a:pt x="576388" y="120370"/>
                    </a:lnTo>
                    <a:lnTo>
                      <a:pt x="333376" y="222680"/>
                    </a:lnTo>
                    <a:cubicBezTo>
                      <a:pt x="315433" y="230224"/>
                      <a:pt x="286158" y="230695"/>
                      <a:pt x="268058" y="223780"/>
                    </a:cubicBezTo>
                    <a:lnTo>
                      <a:pt x="13556" y="125870"/>
                    </a:lnTo>
                    <a:cubicBezTo>
                      <a:pt x="-4544" y="118798"/>
                      <a:pt x="-4544" y="107640"/>
                      <a:pt x="13714" y="100882"/>
                    </a:cubicBezTo>
                    <a:lnTo>
                      <a:pt x="267901" y="5329"/>
                    </a:lnTo>
                    <a:cubicBezTo>
                      <a:pt x="277030" y="1872"/>
                      <a:pt x="288991" y="104"/>
                      <a:pt x="300973" y="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5353798" y="594610"/>
                <a:ext cx="1471702" cy="1471702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2279072" y="4910172"/>
              <a:ext cx="571700" cy="571700"/>
              <a:chOff x="1787721" y="4928420"/>
              <a:chExt cx="571700" cy="571700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1787721" y="4928420"/>
                <a:ext cx="571700" cy="5717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任意多边形 75"/>
              <p:cNvSpPr/>
              <p:nvPr/>
            </p:nvSpPr>
            <p:spPr>
              <a:xfrm>
                <a:off x="1925105" y="5064585"/>
                <a:ext cx="296932" cy="299370"/>
              </a:xfrm>
              <a:custGeom>
                <a:avLst/>
                <a:gdLst>
                  <a:gd name="T0" fmla="*/ 2773 w 11164"/>
                  <a:gd name="T1" fmla="*/ 2760 h 11255"/>
                  <a:gd name="T2" fmla="*/ 5568 w 11164"/>
                  <a:gd name="T3" fmla="*/ 5520 h 11255"/>
                  <a:gd name="T4" fmla="*/ 8363 w 11164"/>
                  <a:gd name="T5" fmla="*/ 2760 h 11255"/>
                  <a:gd name="T6" fmla="*/ 5568 w 11164"/>
                  <a:gd name="T7" fmla="*/ 0 h 11255"/>
                  <a:gd name="T8" fmla="*/ 2773 w 11164"/>
                  <a:gd name="T9" fmla="*/ 2760 h 11255"/>
                  <a:gd name="T10" fmla="*/ 5582 w 11164"/>
                  <a:gd name="T11" fmla="*/ 6064 h 11255"/>
                  <a:gd name="T12" fmla="*/ 0 w 11164"/>
                  <a:gd name="T13" fmla="*/ 11255 h 11255"/>
                  <a:gd name="T14" fmla="*/ 11164 w 11164"/>
                  <a:gd name="T15" fmla="*/ 11255 h 11255"/>
                  <a:gd name="T16" fmla="*/ 5582 w 11164"/>
                  <a:gd name="T17" fmla="*/ 6064 h 11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64" h="11255">
                    <a:moveTo>
                      <a:pt x="2773" y="2760"/>
                    </a:moveTo>
                    <a:cubicBezTo>
                      <a:pt x="2773" y="4284"/>
                      <a:pt x="4025" y="5520"/>
                      <a:pt x="5568" y="5520"/>
                    </a:cubicBezTo>
                    <a:cubicBezTo>
                      <a:pt x="7112" y="5520"/>
                      <a:pt x="8363" y="4284"/>
                      <a:pt x="8363" y="2760"/>
                    </a:cubicBezTo>
                    <a:cubicBezTo>
                      <a:pt x="8363" y="1236"/>
                      <a:pt x="7112" y="0"/>
                      <a:pt x="5568" y="0"/>
                    </a:cubicBezTo>
                    <a:cubicBezTo>
                      <a:pt x="4025" y="0"/>
                      <a:pt x="2773" y="1236"/>
                      <a:pt x="2773" y="2760"/>
                    </a:cubicBezTo>
                    <a:close/>
                    <a:moveTo>
                      <a:pt x="5582" y="6064"/>
                    </a:moveTo>
                    <a:cubicBezTo>
                      <a:pt x="2556" y="6064"/>
                      <a:pt x="93" y="8373"/>
                      <a:pt x="0" y="11255"/>
                    </a:cubicBezTo>
                    <a:lnTo>
                      <a:pt x="11164" y="11255"/>
                    </a:lnTo>
                    <a:cubicBezTo>
                      <a:pt x="11071" y="8373"/>
                      <a:pt x="8608" y="6064"/>
                      <a:pt x="5582" y="60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6386776" y="4910172"/>
              <a:ext cx="571700" cy="571700"/>
              <a:chOff x="5895425" y="4891924"/>
              <a:chExt cx="571700" cy="571700"/>
            </a:xfrm>
          </p:grpSpPr>
          <p:sp>
            <p:nvSpPr>
              <p:cNvPr id="79" name="椭圆 78"/>
              <p:cNvSpPr/>
              <p:nvPr/>
            </p:nvSpPr>
            <p:spPr>
              <a:xfrm>
                <a:off x="5895425" y="4891924"/>
                <a:ext cx="571700" cy="5717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>
                <a:off x="6031590" y="5030540"/>
                <a:ext cx="299370" cy="294468"/>
              </a:xfrm>
              <a:custGeom>
                <a:avLst/>
                <a:gdLst>
                  <a:gd name="T0" fmla="*/ 4737 w 4872"/>
                  <a:gd name="T1" fmla="*/ 3626 h 4800"/>
                  <a:gd name="T2" fmla="*/ 4051 w 4872"/>
                  <a:gd name="T3" fmla="*/ 2917 h 4800"/>
                  <a:gd name="T4" fmla="*/ 3718 w 4872"/>
                  <a:gd name="T5" fmla="*/ 2818 h 4800"/>
                  <a:gd name="T6" fmla="*/ 3591 w 4872"/>
                  <a:gd name="T7" fmla="*/ 2833 h 4800"/>
                  <a:gd name="T8" fmla="*/ 3185 w 4872"/>
                  <a:gd name="T9" fmla="*/ 3030 h 4800"/>
                  <a:gd name="T10" fmla="*/ 3030 w 4872"/>
                  <a:gd name="T11" fmla="*/ 3078 h 4800"/>
                  <a:gd name="T12" fmla="*/ 2823 w 4872"/>
                  <a:gd name="T13" fmla="*/ 3012 h 4800"/>
                  <a:gd name="T14" fmla="*/ 1801 w 4872"/>
                  <a:gd name="T15" fmla="*/ 1989 h 4800"/>
                  <a:gd name="T16" fmla="*/ 1782 w 4872"/>
                  <a:gd name="T17" fmla="*/ 1628 h 4800"/>
                  <a:gd name="T18" fmla="*/ 1980 w 4872"/>
                  <a:gd name="T19" fmla="*/ 1221 h 4800"/>
                  <a:gd name="T20" fmla="*/ 1896 w 4872"/>
                  <a:gd name="T21" fmla="*/ 762 h 4800"/>
                  <a:gd name="T22" fmla="*/ 1187 w 4872"/>
                  <a:gd name="T23" fmla="*/ 76 h 4800"/>
                  <a:gd name="T24" fmla="*/ 892 w 4872"/>
                  <a:gd name="T25" fmla="*/ 0 h 4800"/>
                  <a:gd name="T26" fmla="*/ 447 w 4872"/>
                  <a:gd name="T27" fmla="*/ 207 h 4800"/>
                  <a:gd name="T28" fmla="*/ 108 w 4872"/>
                  <a:gd name="T29" fmla="*/ 621 h 4800"/>
                  <a:gd name="T30" fmla="*/ 16 w 4872"/>
                  <a:gd name="T31" fmla="*/ 1083 h 4800"/>
                  <a:gd name="T32" fmla="*/ 17 w 4872"/>
                  <a:gd name="T33" fmla="*/ 1086 h 4800"/>
                  <a:gd name="T34" fmla="*/ 231 w 4872"/>
                  <a:gd name="T35" fmla="*/ 1767 h 4800"/>
                  <a:gd name="T36" fmla="*/ 1195 w 4872"/>
                  <a:gd name="T37" fmla="*/ 3091 h 4800"/>
                  <a:gd name="T38" fmla="*/ 1721 w 4872"/>
                  <a:gd name="T39" fmla="*/ 3618 h 4800"/>
                  <a:gd name="T40" fmla="*/ 3046 w 4872"/>
                  <a:gd name="T41" fmla="*/ 4581 h 4800"/>
                  <a:gd name="T42" fmla="*/ 3726 w 4872"/>
                  <a:gd name="T43" fmla="*/ 4796 h 4800"/>
                  <a:gd name="T44" fmla="*/ 3730 w 4872"/>
                  <a:gd name="T45" fmla="*/ 4796 h 4800"/>
                  <a:gd name="T46" fmla="*/ 3850 w 4872"/>
                  <a:gd name="T47" fmla="*/ 4800 h 4800"/>
                  <a:gd name="T48" fmla="*/ 3850 w 4872"/>
                  <a:gd name="T49" fmla="*/ 4800 h 4800"/>
                  <a:gd name="T50" fmla="*/ 4192 w 4872"/>
                  <a:gd name="T51" fmla="*/ 4704 h 4800"/>
                  <a:gd name="T52" fmla="*/ 4606 w 4872"/>
                  <a:gd name="T53" fmla="*/ 4366 h 4800"/>
                  <a:gd name="T54" fmla="*/ 4737 w 4872"/>
                  <a:gd name="T55" fmla="*/ 3626 h 4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72" h="4800">
                    <a:moveTo>
                      <a:pt x="4737" y="3626"/>
                    </a:moveTo>
                    <a:cubicBezTo>
                      <a:pt x="4581" y="3328"/>
                      <a:pt x="4351" y="3089"/>
                      <a:pt x="4051" y="2917"/>
                    </a:cubicBezTo>
                    <a:cubicBezTo>
                      <a:pt x="3936" y="2850"/>
                      <a:pt x="3827" y="2818"/>
                      <a:pt x="3718" y="2818"/>
                    </a:cubicBezTo>
                    <a:cubicBezTo>
                      <a:pt x="3675" y="2818"/>
                      <a:pt x="3633" y="2823"/>
                      <a:pt x="3591" y="2833"/>
                    </a:cubicBezTo>
                    <a:cubicBezTo>
                      <a:pt x="3453" y="2866"/>
                      <a:pt x="3320" y="2931"/>
                      <a:pt x="3185" y="3030"/>
                    </a:cubicBezTo>
                    <a:cubicBezTo>
                      <a:pt x="3143" y="3062"/>
                      <a:pt x="3091" y="3078"/>
                      <a:pt x="3030" y="3078"/>
                    </a:cubicBezTo>
                    <a:cubicBezTo>
                      <a:pt x="2957" y="3078"/>
                      <a:pt x="2878" y="3053"/>
                      <a:pt x="2823" y="3012"/>
                    </a:cubicBezTo>
                    <a:cubicBezTo>
                      <a:pt x="2429" y="2718"/>
                      <a:pt x="2095" y="2384"/>
                      <a:pt x="1801" y="1989"/>
                    </a:cubicBezTo>
                    <a:cubicBezTo>
                      <a:pt x="1743" y="1912"/>
                      <a:pt x="1697" y="1743"/>
                      <a:pt x="1782" y="1628"/>
                    </a:cubicBezTo>
                    <a:cubicBezTo>
                      <a:pt x="1882" y="1493"/>
                      <a:pt x="1947" y="1360"/>
                      <a:pt x="1980" y="1221"/>
                    </a:cubicBezTo>
                    <a:cubicBezTo>
                      <a:pt x="2016" y="1072"/>
                      <a:pt x="1989" y="922"/>
                      <a:pt x="1896" y="762"/>
                    </a:cubicBezTo>
                    <a:cubicBezTo>
                      <a:pt x="1724" y="462"/>
                      <a:pt x="1485" y="231"/>
                      <a:pt x="1187" y="76"/>
                    </a:cubicBezTo>
                    <a:cubicBezTo>
                      <a:pt x="1090" y="26"/>
                      <a:pt x="991" y="0"/>
                      <a:pt x="892" y="0"/>
                    </a:cubicBezTo>
                    <a:cubicBezTo>
                      <a:pt x="728" y="0"/>
                      <a:pt x="574" y="72"/>
                      <a:pt x="447" y="207"/>
                    </a:cubicBezTo>
                    <a:cubicBezTo>
                      <a:pt x="330" y="331"/>
                      <a:pt x="227" y="462"/>
                      <a:pt x="108" y="621"/>
                    </a:cubicBezTo>
                    <a:cubicBezTo>
                      <a:pt x="0" y="767"/>
                      <a:pt x="9" y="935"/>
                      <a:pt x="16" y="1083"/>
                    </a:cubicBezTo>
                    <a:lnTo>
                      <a:pt x="17" y="1086"/>
                    </a:lnTo>
                    <a:cubicBezTo>
                      <a:pt x="30" y="1274"/>
                      <a:pt x="100" y="1497"/>
                      <a:pt x="231" y="1767"/>
                    </a:cubicBezTo>
                    <a:cubicBezTo>
                      <a:pt x="453" y="2223"/>
                      <a:pt x="769" y="2656"/>
                      <a:pt x="1195" y="3091"/>
                    </a:cubicBezTo>
                    <a:cubicBezTo>
                      <a:pt x="1283" y="3181"/>
                      <a:pt x="1632" y="3530"/>
                      <a:pt x="1721" y="3618"/>
                    </a:cubicBezTo>
                    <a:cubicBezTo>
                      <a:pt x="2156" y="4044"/>
                      <a:pt x="2590" y="4359"/>
                      <a:pt x="3046" y="4581"/>
                    </a:cubicBezTo>
                    <a:cubicBezTo>
                      <a:pt x="3316" y="4713"/>
                      <a:pt x="3538" y="4783"/>
                      <a:pt x="3726" y="4796"/>
                    </a:cubicBezTo>
                    <a:lnTo>
                      <a:pt x="3730" y="4796"/>
                    </a:lnTo>
                    <a:cubicBezTo>
                      <a:pt x="3768" y="4798"/>
                      <a:pt x="3810" y="4800"/>
                      <a:pt x="3850" y="4800"/>
                    </a:cubicBezTo>
                    <a:lnTo>
                      <a:pt x="3850" y="4800"/>
                    </a:lnTo>
                    <a:cubicBezTo>
                      <a:pt x="3949" y="4800"/>
                      <a:pt x="4078" y="4789"/>
                      <a:pt x="4192" y="4704"/>
                    </a:cubicBezTo>
                    <a:cubicBezTo>
                      <a:pt x="4351" y="4585"/>
                      <a:pt x="4482" y="4482"/>
                      <a:pt x="4606" y="4366"/>
                    </a:cubicBezTo>
                    <a:cubicBezTo>
                      <a:pt x="4823" y="4162"/>
                      <a:pt x="4872" y="3886"/>
                      <a:pt x="4737" y="362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399" y="2144315"/>
            <a:ext cx="10858500" cy="152251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733800" y="3882131"/>
            <a:ext cx="4711700" cy="5829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tabLst>
                <a:tab pos="7797800" algn="l"/>
              </a:tabLst>
              <a:defRPr lang="en-US" sz="2000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962282" y="4988741"/>
            <a:ext cx="2830242" cy="414562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7069986" y="4988741"/>
            <a:ext cx="2830242" cy="414562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5513364"/>
            <a:ext cx="12192000" cy="1344636"/>
            <a:chOff x="0" y="5513364"/>
            <a:chExt cx="12192000" cy="1344636"/>
          </a:xfrm>
        </p:grpSpPr>
        <p:sp>
          <p:nvSpPr>
            <p:cNvPr id="24" name="任意多边形 23"/>
            <p:cNvSpPr/>
            <p:nvPr/>
          </p:nvSpPr>
          <p:spPr>
            <a:xfrm>
              <a:off x="0" y="5513364"/>
              <a:ext cx="12192000" cy="1344636"/>
            </a:xfrm>
            <a:custGeom>
              <a:avLst/>
              <a:gdLst>
                <a:gd name="connsiteX0" fmla="*/ 0 w 12192000"/>
                <a:gd name="connsiteY0" fmla="*/ 0 h 1344636"/>
                <a:gd name="connsiteX1" fmla="*/ 33819 w 12192000"/>
                <a:gd name="connsiteY1" fmla="*/ 16709 h 1344636"/>
                <a:gd name="connsiteX2" fmla="*/ 6096000 w 12192000"/>
                <a:gd name="connsiteY2" fmla="*/ 875413 h 1344636"/>
                <a:gd name="connsiteX3" fmla="*/ 12158181 w 12192000"/>
                <a:gd name="connsiteY3" fmla="*/ 16709 h 1344636"/>
                <a:gd name="connsiteX4" fmla="*/ 12192000 w 12192000"/>
                <a:gd name="connsiteY4" fmla="*/ 0 h 1344636"/>
                <a:gd name="connsiteX5" fmla="*/ 12192000 w 12192000"/>
                <a:gd name="connsiteY5" fmla="*/ 1344636 h 1344636"/>
                <a:gd name="connsiteX6" fmla="*/ 0 w 12192000"/>
                <a:gd name="connsiteY6" fmla="*/ 1344636 h 134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344636">
                  <a:moveTo>
                    <a:pt x="0" y="0"/>
                  </a:moveTo>
                  <a:lnTo>
                    <a:pt x="33819" y="16709"/>
                  </a:lnTo>
                  <a:cubicBezTo>
                    <a:pt x="1201292" y="528192"/>
                    <a:pt x="3478270" y="875413"/>
                    <a:pt x="6096000" y="875413"/>
                  </a:cubicBezTo>
                  <a:cubicBezTo>
                    <a:pt x="8713730" y="875413"/>
                    <a:pt x="10990708" y="528192"/>
                    <a:pt x="12158181" y="16709"/>
                  </a:cubicBezTo>
                  <a:lnTo>
                    <a:pt x="12192000" y="0"/>
                  </a:lnTo>
                  <a:lnTo>
                    <a:pt x="12192000" y="1344636"/>
                  </a:lnTo>
                  <a:lnTo>
                    <a:pt x="0" y="1344636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0" y="6054064"/>
              <a:ext cx="12192000" cy="803936"/>
            </a:xfrm>
            <a:custGeom>
              <a:avLst/>
              <a:gdLst>
                <a:gd name="connsiteX0" fmla="*/ 0 w 12192000"/>
                <a:gd name="connsiteY0" fmla="*/ 0 h 803936"/>
                <a:gd name="connsiteX1" fmla="*/ 374491 w 12192000"/>
                <a:gd name="connsiteY1" fmla="*/ 52753 h 803936"/>
                <a:gd name="connsiteX2" fmla="*/ 6096000 w 12192000"/>
                <a:gd name="connsiteY2" fmla="*/ 372604 h 803936"/>
                <a:gd name="connsiteX3" fmla="*/ 11817509 w 12192000"/>
                <a:gd name="connsiteY3" fmla="*/ 52753 h 803936"/>
                <a:gd name="connsiteX4" fmla="*/ 12192000 w 12192000"/>
                <a:gd name="connsiteY4" fmla="*/ 0 h 803936"/>
                <a:gd name="connsiteX5" fmla="*/ 12192000 w 12192000"/>
                <a:gd name="connsiteY5" fmla="*/ 803936 h 803936"/>
                <a:gd name="connsiteX6" fmla="*/ 0 w 12192000"/>
                <a:gd name="connsiteY6" fmla="*/ 803936 h 80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803936">
                  <a:moveTo>
                    <a:pt x="0" y="0"/>
                  </a:moveTo>
                  <a:lnTo>
                    <a:pt x="374491" y="52753"/>
                  </a:lnTo>
                  <a:cubicBezTo>
                    <a:pt x="1879965" y="251345"/>
                    <a:pt x="3889238" y="372604"/>
                    <a:pt x="6096000" y="372604"/>
                  </a:cubicBezTo>
                  <a:cubicBezTo>
                    <a:pt x="8302762" y="372604"/>
                    <a:pt x="10312035" y="251345"/>
                    <a:pt x="11817509" y="52753"/>
                  </a:cubicBezTo>
                  <a:lnTo>
                    <a:pt x="12192000" y="0"/>
                  </a:lnTo>
                  <a:lnTo>
                    <a:pt x="12192000" y="803936"/>
                  </a:lnTo>
                  <a:lnTo>
                    <a:pt x="0" y="803936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446233"/>
            <a:ext cx="1911688" cy="1296056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942677" y="1446234"/>
            <a:ext cx="8588921" cy="4186204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2757383" y="1446233"/>
            <a:ext cx="0" cy="4186204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任意多边形 9"/>
          <p:cNvSpPr>
            <a:spLocks noChangeAspect="1"/>
          </p:cNvSpPr>
          <p:nvPr/>
        </p:nvSpPr>
        <p:spPr bwMode="auto">
          <a:xfrm>
            <a:off x="1611070" y="4588223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矩形 30"/>
            <p:cNvSpPr/>
            <p:nvPr/>
          </p:nvSpPr>
          <p:spPr>
            <a:xfrm>
              <a:off x="0" y="5080"/>
              <a:ext cx="12192000" cy="6847840"/>
            </a:xfrm>
            <a:prstGeom prst="rect">
              <a:avLst/>
            </a:prstGeom>
            <a:blipFill>
              <a:blip r:embed="rId2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anchor="ctr"/>
            <a:lstStyle/>
            <a:p>
              <a:pPr algn="ctr"/>
              <a:endParaRPr 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9202056" y="4849848"/>
              <a:ext cx="2989943" cy="2008151"/>
            </a:xfrm>
            <a:custGeom>
              <a:avLst/>
              <a:gdLst>
                <a:gd name="connsiteX0" fmla="*/ 2687120 w 2755978"/>
                <a:gd name="connsiteY0" fmla="*/ 0 h 1851012"/>
                <a:gd name="connsiteX1" fmla="*/ 2755978 w 2755978"/>
                <a:gd name="connsiteY1" fmla="*/ 1108 h 1851012"/>
                <a:gd name="connsiteX2" fmla="*/ 2755978 w 2755978"/>
                <a:gd name="connsiteY2" fmla="*/ 1851012 h 1851012"/>
                <a:gd name="connsiteX3" fmla="*/ 8191 w 2755978"/>
                <a:gd name="connsiteY3" fmla="*/ 1851012 h 1851012"/>
                <a:gd name="connsiteX4" fmla="*/ 390 w 2755978"/>
                <a:gd name="connsiteY4" fmla="*/ 1795336 h 1851012"/>
                <a:gd name="connsiteX5" fmla="*/ 789448 w 2755978"/>
                <a:gd name="connsiteY5" fmla="*/ 1108535 h 1851012"/>
                <a:gd name="connsiteX6" fmla="*/ 854037 w 2755978"/>
                <a:gd name="connsiteY6" fmla="*/ 1106059 h 1851012"/>
                <a:gd name="connsiteX7" fmla="*/ 1500883 w 2755978"/>
                <a:gd name="connsiteY7" fmla="*/ 826214 h 1851012"/>
                <a:gd name="connsiteX8" fmla="*/ 2120559 w 2755978"/>
                <a:gd name="connsiteY8" fmla="*/ 216519 h 1851012"/>
                <a:gd name="connsiteX9" fmla="*/ 2687120 w 2755978"/>
                <a:gd name="connsiteY9" fmla="*/ 0 h 185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55978" h="1851012">
                  <a:moveTo>
                    <a:pt x="2687120" y="0"/>
                  </a:moveTo>
                  <a:lnTo>
                    <a:pt x="2755978" y="1108"/>
                  </a:lnTo>
                  <a:lnTo>
                    <a:pt x="2755978" y="1851012"/>
                  </a:lnTo>
                  <a:lnTo>
                    <a:pt x="8191" y="1851012"/>
                  </a:lnTo>
                  <a:lnTo>
                    <a:pt x="390" y="1795336"/>
                  </a:lnTo>
                  <a:cubicBezTo>
                    <a:pt x="-11482" y="1466818"/>
                    <a:pt x="247709" y="1132348"/>
                    <a:pt x="789448" y="1108535"/>
                  </a:cubicBezTo>
                  <a:cubicBezTo>
                    <a:pt x="811613" y="1107582"/>
                    <a:pt x="833183" y="1106725"/>
                    <a:pt x="854037" y="1106059"/>
                  </a:cubicBezTo>
                  <a:cubicBezTo>
                    <a:pt x="1112156" y="1097296"/>
                    <a:pt x="1350254" y="993949"/>
                    <a:pt x="1500883" y="826214"/>
                  </a:cubicBezTo>
                  <a:cubicBezTo>
                    <a:pt x="1710858" y="592375"/>
                    <a:pt x="1920117" y="390255"/>
                    <a:pt x="2120559" y="216519"/>
                  </a:cubicBezTo>
                  <a:cubicBezTo>
                    <a:pt x="2282255" y="76353"/>
                    <a:pt x="2484904" y="8470"/>
                    <a:pt x="2687120" y="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9436022" y="5006988"/>
              <a:ext cx="2755978" cy="1851012"/>
            </a:xfrm>
            <a:custGeom>
              <a:avLst/>
              <a:gdLst>
                <a:gd name="connsiteX0" fmla="*/ 2687120 w 2755978"/>
                <a:gd name="connsiteY0" fmla="*/ 0 h 1851012"/>
                <a:gd name="connsiteX1" fmla="*/ 2755978 w 2755978"/>
                <a:gd name="connsiteY1" fmla="*/ 1108 h 1851012"/>
                <a:gd name="connsiteX2" fmla="*/ 2755978 w 2755978"/>
                <a:gd name="connsiteY2" fmla="*/ 1851012 h 1851012"/>
                <a:gd name="connsiteX3" fmla="*/ 8191 w 2755978"/>
                <a:gd name="connsiteY3" fmla="*/ 1851012 h 1851012"/>
                <a:gd name="connsiteX4" fmla="*/ 390 w 2755978"/>
                <a:gd name="connsiteY4" fmla="*/ 1795336 h 1851012"/>
                <a:gd name="connsiteX5" fmla="*/ 789448 w 2755978"/>
                <a:gd name="connsiteY5" fmla="*/ 1108535 h 1851012"/>
                <a:gd name="connsiteX6" fmla="*/ 854037 w 2755978"/>
                <a:gd name="connsiteY6" fmla="*/ 1106059 h 1851012"/>
                <a:gd name="connsiteX7" fmla="*/ 1500883 w 2755978"/>
                <a:gd name="connsiteY7" fmla="*/ 826214 h 1851012"/>
                <a:gd name="connsiteX8" fmla="*/ 2120559 w 2755978"/>
                <a:gd name="connsiteY8" fmla="*/ 216519 h 1851012"/>
                <a:gd name="connsiteX9" fmla="*/ 2687120 w 2755978"/>
                <a:gd name="connsiteY9" fmla="*/ 0 h 185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55978" h="1851012">
                  <a:moveTo>
                    <a:pt x="2687120" y="0"/>
                  </a:moveTo>
                  <a:lnTo>
                    <a:pt x="2755978" y="1108"/>
                  </a:lnTo>
                  <a:lnTo>
                    <a:pt x="2755978" y="1851012"/>
                  </a:lnTo>
                  <a:lnTo>
                    <a:pt x="8191" y="1851012"/>
                  </a:lnTo>
                  <a:lnTo>
                    <a:pt x="390" y="1795336"/>
                  </a:lnTo>
                  <a:cubicBezTo>
                    <a:pt x="-11482" y="1466818"/>
                    <a:pt x="247709" y="1132348"/>
                    <a:pt x="789448" y="1108535"/>
                  </a:cubicBezTo>
                  <a:cubicBezTo>
                    <a:pt x="811613" y="1107582"/>
                    <a:pt x="833183" y="1106725"/>
                    <a:pt x="854037" y="1106059"/>
                  </a:cubicBezTo>
                  <a:cubicBezTo>
                    <a:pt x="1112156" y="1097296"/>
                    <a:pt x="1350254" y="993949"/>
                    <a:pt x="1500883" y="826214"/>
                  </a:cubicBezTo>
                  <a:cubicBezTo>
                    <a:pt x="1710858" y="592375"/>
                    <a:pt x="1920117" y="390255"/>
                    <a:pt x="2120559" y="216519"/>
                  </a:cubicBezTo>
                  <a:cubicBezTo>
                    <a:pt x="2282255" y="76353"/>
                    <a:pt x="2484904" y="8470"/>
                    <a:pt x="2687120" y="0"/>
                  </a:cubicBezTo>
                  <a:close/>
                </a:path>
              </a:pathLst>
            </a:custGeom>
            <a:solidFill>
              <a:schemeClr val="accent1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 42"/>
            <p:cNvSpPr/>
            <p:nvPr/>
          </p:nvSpPr>
          <p:spPr>
            <a:xfrm flipH="1" flipV="1">
              <a:off x="0" y="0"/>
              <a:ext cx="2989943" cy="2008151"/>
            </a:xfrm>
            <a:custGeom>
              <a:avLst/>
              <a:gdLst>
                <a:gd name="connsiteX0" fmla="*/ 2687120 w 2755978"/>
                <a:gd name="connsiteY0" fmla="*/ 0 h 1851012"/>
                <a:gd name="connsiteX1" fmla="*/ 2755978 w 2755978"/>
                <a:gd name="connsiteY1" fmla="*/ 1108 h 1851012"/>
                <a:gd name="connsiteX2" fmla="*/ 2755978 w 2755978"/>
                <a:gd name="connsiteY2" fmla="*/ 1851012 h 1851012"/>
                <a:gd name="connsiteX3" fmla="*/ 8191 w 2755978"/>
                <a:gd name="connsiteY3" fmla="*/ 1851012 h 1851012"/>
                <a:gd name="connsiteX4" fmla="*/ 390 w 2755978"/>
                <a:gd name="connsiteY4" fmla="*/ 1795336 h 1851012"/>
                <a:gd name="connsiteX5" fmla="*/ 789448 w 2755978"/>
                <a:gd name="connsiteY5" fmla="*/ 1108535 h 1851012"/>
                <a:gd name="connsiteX6" fmla="*/ 854037 w 2755978"/>
                <a:gd name="connsiteY6" fmla="*/ 1106059 h 1851012"/>
                <a:gd name="connsiteX7" fmla="*/ 1500883 w 2755978"/>
                <a:gd name="connsiteY7" fmla="*/ 826214 h 1851012"/>
                <a:gd name="connsiteX8" fmla="*/ 2120559 w 2755978"/>
                <a:gd name="connsiteY8" fmla="*/ 216519 h 1851012"/>
                <a:gd name="connsiteX9" fmla="*/ 2687120 w 2755978"/>
                <a:gd name="connsiteY9" fmla="*/ 0 h 185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55978" h="1851012">
                  <a:moveTo>
                    <a:pt x="2687120" y="0"/>
                  </a:moveTo>
                  <a:lnTo>
                    <a:pt x="2755978" y="1108"/>
                  </a:lnTo>
                  <a:lnTo>
                    <a:pt x="2755978" y="1851012"/>
                  </a:lnTo>
                  <a:lnTo>
                    <a:pt x="8191" y="1851012"/>
                  </a:lnTo>
                  <a:lnTo>
                    <a:pt x="390" y="1795336"/>
                  </a:lnTo>
                  <a:cubicBezTo>
                    <a:pt x="-11482" y="1466818"/>
                    <a:pt x="247709" y="1132348"/>
                    <a:pt x="789448" y="1108535"/>
                  </a:cubicBezTo>
                  <a:cubicBezTo>
                    <a:pt x="811613" y="1107582"/>
                    <a:pt x="833183" y="1106725"/>
                    <a:pt x="854037" y="1106059"/>
                  </a:cubicBezTo>
                  <a:cubicBezTo>
                    <a:pt x="1112156" y="1097296"/>
                    <a:pt x="1350254" y="993949"/>
                    <a:pt x="1500883" y="826214"/>
                  </a:cubicBezTo>
                  <a:cubicBezTo>
                    <a:pt x="1710858" y="592375"/>
                    <a:pt x="1920117" y="390255"/>
                    <a:pt x="2120559" y="216519"/>
                  </a:cubicBezTo>
                  <a:cubicBezTo>
                    <a:pt x="2282255" y="76353"/>
                    <a:pt x="2484904" y="8470"/>
                    <a:pt x="2687120" y="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 43"/>
            <p:cNvSpPr/>
            <p:nvPr/>
          </p:nvSpPr>
          <p:spPr>
            <a:xfrm flipH="1" flipV="1">
              <a:off x="0" y="0"/>
              <a:ext cx="2755978" cy="1851012"/>
            </a:xfrm>
            <a:custGeom>
              <a:avLst/>
              <a:gdLst>
                <a:gd name="connsiteX0" fmla="*/ 2687120 w 2755978"/>
                <a:gd name="connsiteY0" fmla="*/ 0 h 1851012"/>
                <a:gd name="connsiteX1" fmla="*/ 2755978 w 2755978"/>
                <a:gd name="connsiteY1" fmla="*/ 1108 h 1851012"/>
                <a:gd name="connsiteX2" fmla="*/ 2755978 w 2755978"/>
                <a:gd name="connsiteY2" fmla="*/ 1851012 h 1851012"/>
                <a:gd name="connsiteX3" fmla="*/ 8191 w 2755978"/>
                <a:gd name="connsiteY3" fmla="*/ 1851012 h 1851012"/>
                <a:gd name="connsiteX4" fmla="*/ 390 w 2755978"/>
                <a:gd name="connsiteY4" fmla="*/ 1795336 h 1851012"/>
                <a:gd name="connsiteX5" fmla="*/ 789448 w 2755978"/>
                <a:gd name="connsiteY5" fmla="*/ 1108535 h 1851012"/>
                <a:gd name="connsiteX6" fmla="*/ 854037 w 2755978"/>
                <a:gd name="connsiteY6" fmla="*/ 1106059 h 1851012"/>
                <a:gd name="connsiteX7" fmla="*/ 1500883 w 2755978"/>
                <a:gd name="connsiteY7" fmla="*/ 826214 h 1851012"/>
                <a:gd name="connsiteX8" fmla="*/ 2120559 w 2755978"/>
                <a:gd name="connsiteY8" fmla="*/ 216519 h 1851012"/>
                <a:gd name="connsiteX9" fmla="*/ 2687120 w 2755978"/>
                <a:gd name="connsiteY9" fmla="*/ 0 h 185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55978" h="1851012">
                  <a:moveTo>
                    <a:pt x="2687120" y="0"/>
                  </a:moveTo>
                  <a:lnTo>
                    <a:pt x="2755978" y="1108"/>
                  </a:lnTo>
                  <a:lnTo>
                    <a:pt x="2755978" y="1851012"/>
                  </a:lnTo>
                  <a:lnTo>
                    <a:pt x="8191" y="1851012"/>
                  </a:lnTo>
                  <a:lnTo>
                    <a:pt x="390" y="1795336"/>
                  </a:lnTo>
                  <a:cubicBezTo>
                    <a:pt x="-11482" y="1466818"/>
                    <a:pt x="247709" y="1132348"/>
                    <a:pt x="789448" y="1108535"/>
                  </a:cubicBezTo>
                  <a:cubicBezTo>
                    <a:pt x="811613" y="1107582"/>
                    <a:pt x="833183" y="1106725"/>
                    <a:pt x="854037" y="1106059"/>
                  </a:cubicBezTo>
                  <a:cubicBezTo>
                    <a:pt x="1112156" y="1097296"/>
                    <a:pt x="1350254" y="993949"/>
                    <a:pt x="1500883" y="826214"/>
                  </a:cubicBezTo>
                  <a:cubicBezTo>
                    <a:pt x="1710858" y="592375"/>
                    <a:pt x="1920117" y="390255"/>
                    <a:pt x="2120559" y="216519"/>
                  </a:cubicBezTo>
                  <a:cubicBezTo>
                    <a:pt x="2282255" y="76353"/>
                    <a:pt x="2484904" y="8470"/>
                    <a:pt x="2687120" y="0"/>
                  </a:cubicBezTo>
                  <a:close/>
                </a:path>
              </a:pathLst>
            </a:custGeom>
            <a:solidFill>
              <a:schemeClr val="accent1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41930" y="2841170"/>
            <a:ext cx="8895442" cy="121720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1641930" y="4058376"/>
            <a:ext cx="8895442" cy="143891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4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矩形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 l="-111" r="-11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9202056" y="4849848"/>
              <a:ext cx="2989944" cy="2008152"/>
              <a:chOff x="9202056" y="4849848"/>
              <a:chExt cx="2989944" cy="2008152"/>
            </a:xfrm>
          </p:grpSpPr>
          <p:sp>
            <p:nvSpPr>
              <p:cNvPr id="10" name="任意多边形 9"/>
              <p:cNvSpPr/>
              <p:nvPr/>
            </p:nvSpPr>
            <p:spPr>
              <a:xfrm>
                <a:off x="9202056" y="4849848"/>
                <a:ext cx="2989943" cy="2008151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436022" y="5006988"/>
                <a:ext cx="2755978" cy="1851012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0" y="0"/>
              <a:ext cx="2989943" cy="2008151"/>
              <a:chOff x="0" y="0"/>
              <a:chExt cx="2989943" cy="2008151"/>
            </a:xfrm>
          </p:grpSpPr>
          <p:sp>
            <p:nvSpPr>
              <p:cNvPr id="26" name="任意多边形 25"/>
              <p:cNvSpPr/>
              <p:nvPr/>
            </p:nvSpPr>
            <p:spPr>
              <a:xfrm flipH="1" flipV="1">
                <a:off x="0" y="0"/>
                <a:ext cx="2989943" cy="2008151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 flipH="1" flipV="1">
                <a:off x="0" y="0"/>
                <a:ext cx="2755978" cy="1851012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5353798" y="594610"/>
              <a:ext cx="1471702" cy="1471702"/>
              <a:chOff x="5353798" y="594610"/>
              <a:chExt cx="1471702" cy="1471702"/>
            </a:xfrm>
          </p:grpSpPr>
          <p:sp>
            <p:nvSpPr>
              <p:cNvPr id="9" name="任意多边形 8"/>
              <p:cNvSpPr/>
              <p:nvPr/>
            </p:nvSpPr>
            <p:spPr>
              <a:xfrm>
                <a:off x="5532347" y="978311"/>
                <a:ext cx="1114605" cy="704301"/>
              </a:xfrm>
              <a:custGeom>
                <a:avLst/>
                <a:gdLst>
                  <a:gd name="connsiteX0" fmla="*/ 104550 w 604718"/>
                  <a:gd name="connsiteY0" fmla="*/ 208330 h 382112"/>
                  <a:gd name="connsiteX1" fmla="*/ 156180 w 604718"/>
                  <a:gd name="connsiteY1" fmla="*/ 208330 h 382112"/>
                  <a:gd name="connsiteX2" fmla="*/ 261642 w 604718"/>
                  <a:gd name="connsiteY2" fmla="*/ 248878 h 382112"/>
                  <a:gd name="connsiteX3" fmla="*/ 298947 w 604718"/>
                  <a:gd name="connsiteY3" fmla="*/ 255007 h 382112"/>
                  <a:gd name="connsiteX4" fmla="*/ 340187 w 604718"/>
                  <a:gd name="connsiteY4" fmla="*/ 247621 h 382112"/>
                  <a:gd name="connsiteX5" fmla="*/ 433687 w 604718"/>
                  <a:gd name="connsiteY5" fmla="*/ 208330 h 382112"/>
                  <a:gd name="connsiteX6" fmla="*/ 490825 w 604718"/>
                  <a:gd name="connsiteY6" fmla="*/ 208330 h 382112"/>
                  <a:gd name="connsiteX7" fmla="*/ 490825 w 604718"/>
                  <a:gd name="connsiteY7" fmla="*/ 271509 h 382112"/>
                  <a:gd name="connsiteX8" fmla="*/ 458400 w 604718"/>
                  <a:gd name="connsiteY8" fmla="*/ 320701 h 382112"/>
                  <a:gd name="connsiteX9" fmla="*/ 329326 w 604718"/>
                  <a:gd name="connsiteY9" fmla="*/ 376337 h 382112"/>
                  <a:gd name="connsiteX10" fmla="*/ 264632 w 604718"/>
                  <a:gd name="connsiteY10" fmla="*/ 376337 h 382112"/>
                  <a:gd name="connsiteX11" fmla="*/ 136819 w 604718"/>
                  <a:gd name="connsiteY11" fmla="*/ 320701 h 382112"/>
                  <a:gd name="connsiteX12" fmla="*/ 104550 w 604718"/>
                  <a:gd name="connsiteY12" fmla="*/ 271509 h 382112"/>
                  <a:gd name="connsiteX13" fmla="*/ 300973 w 604718"/>
                  <a:gd name="connsiteY13" fmla="*/ 5 h 382112"/>
                  <a:gd name="connsiteX14" fmla="*/ 334162 w 604718"/>
                  <a:gd name="connsiteY14" fmla="*/ 4701 h 382112"/>
                  <a:gd name="connsiteX15" fmla="*/ 581267 w 604718"/>
                  <a:gd name="connsiteY15" fmla="*/ 92552 h 382112"/>
                  <a:gd name="connsiteX16" fmla="*/ 588822 w 604718"/>
                  <a:gd name="connsiteY16" fmla="*/ 114398 h 382112"/>
                  <a:gd name="connsiteX17" fmla="*/ 589136 w 604718"/>
                  <a:gd name="connsiteY17" fmla="*/ 114398 h 382112"/>
                  <a:gd name="connsiteX18" fmla="*/ 589136 w 604718"/>
                  <a:gd name="connsiteY18" fmla="*/ 270771 h 382112"/>
                  <a:gd name="connsiteX19" fmla="*/ 604718 w 604718"/>
                  <a:gd name="connsiteY19" fmla="*/ 321376 h 382112"/>
                  <a:gd name="connsiteX20" fmla="*/ 561278 w 604718"/>
                  <a:gd name="connsiteY20" fmla="*/ 321376 h 382112"/>
                  <a:gd name="connsiteX21" fmla="*/ 576388 w 604718"/>
                  <a:gd name="connsiteY21" fmla="*/ 271242 h 382112"/>
                  <a:gd name="connsiteX22" fmla="*/ 576388 w 604718"/>
                  <a:gd name="connsiteY22" fmla="*/ 120370 h 382112"/>
                  <a:gd name="connsiteX23" fmla="*/ 333376 w 604718"/>
                  <a:gd name="connsiteY23" fmla="*/ 222680 h 382112"/>
                  <a:gd name="connsiteX24" fmla="*/ 268058 w 604718"/>
                  <a:gd name="connsiteY24" fmla="*/ 223780 h 382112"/>
                  <a:gd name="connsiteX25" fmla="*/ 13556 w 604718"/>
                  <a:gd name="connsiteY25" fmla="*/ 125870 h 382112"/>
                  <a:gd name="connsiteX26" fmla="*/ 13714 w 604718"/>
                  <a:gd name="connsiteY26" fmla="*/ 100882 h 382112"/>
                  <a:gd name="connsiteX27" fmla="*/ 267901 w 604718"/>
                  <a:gd name="connsiteY27" fmla="*/ 5329 h 382112"/>
                  <a:gd name="connsiteX28" fmla="*/ 300973 w 604718"/>
                  <a:gd name="connsiteY28" fmla="*/ 5 h 382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04718" h="382112">
                    <a:moveTo>
                      <a:pt x="104550" y="208330"/>
                    </a:moveTo>
                    <a:lnTo>
                      <a:pt x="156180" y="208330"/>
                    </a:lnTo>
                    <a:lnTo>
                      <a:pt x="261642" y="248878"/>
                    </a:lnTo>
                    <a:cubicBezTo>
                      <a:pt x="274864" y="253907"/>
                      <a:pt x="289188" y="255007"/>
                      <a:pt x="298947" y="255007"/>
                    </a:cubicBezTo>
                    <a:cubicBezTo>
                      <a:pt x="314373" y="255007"/>
                      <a:pt x="329012" y="252493"/>
                      <a:pt x="340187" y="247621"/>
                    </a:cubicBezTo>
                    <a:lnTo>
                      <a:pt x="433687" y="208330"/>
                    </a:lnTo>
                    <a:lnTo>
                      <a:pt x="490825" y="208330"/>
                    </a:lnTo>
                    <a:lnTo>
                      <a:pt x="490825" y="271509"/>
                    </a:lnTo>
                    <a:cubicBezTo>
                      <a:pt x="490825" y="290998"/>
                      <a:pt x="476344" y="313000"/>
                      <a:pt x="458400" y="320701"/>
                    </a:cubicBezTo>
                    <a:lnTo>
                      <a:pt x="329326" y="376337"/>
                    </a:lnTo>
                    <a:cubicBezTo>
                      <a:pt x="311382" y="384038"/>
                      <a:pt x="282419" y="384038"/>
                      <a:pt x="264632" y="376337"/>
                    </a:cubicBezTo>
                    <a:lnTo>
                      <a:pt x="136819" y="320701"/>
                    </a:lnTo>
                    <a:cubicBezTo>
                      <a:pt x="119032" y="313000"/>
                      <a:pt x="104550" y="290998"/>
                      <a:pt x="104550" y="271509"/>
                    </a:cubicBezTo>
                    <a:close/>
                    <a:moveTo>
                      <a:pt x="300973" y="5"/>
                    </a:moveTo>
                    <a:cubicBezTo>
                      <a:pt x="312954" y="-93"/>
                      <a:pt x="324955" y="1479"/>
                      <a:pt x="334162" y="4701"/>
                    </a:cubicBezTo>
                    <a:lnTo>
                      <a:pt x="581267" y="92552"/>
                    </a:lnTo>
                    <a:cubicBezTo>
                      <a:pt x="596849" y="98053"/>
                      <a:pt x="599210" y="107168"/>
                      <a:pt x="588822" y="114398"/>
                    </a:cubicBezTo>
                    <a:lnTo>
                      <a:pt x="589136" y="114398"/>
                    </a:lnTo>
                    <a:lnTo>
                      <a:pt x="589136" y="270771"/>
                    </a:lnTo>
                    <a:lnTo>
                      <a:pt x="604718" y="321376"/>
                    </a:lnTo>
                    <a:lnTo>
                      <a:pt x="561278" y="321376"/>
                    </a:lnTo>
                    <a:lnTo>
                      <a:pt x="576388" y="271242"/>
                    </a:lnTo>
                    <a:lnTo>
                      <a:pt x="576388" y="120370"/>
                    </a:lnTo>
                    <a:lnTo>
                      <a:pt x="333376" y="222680"/>
                    </a:lnTo>
                    <a:cubicBezTo>
                      <a:pt x="315433" y="230224"/>
                      <a:pt x="286158" y="230695"/>
                      <a:pt x="268058" y="223780"/>
                    </a:cubicBezTo>
                    <a:lnTo>
                      <a:pt x="13556" y="125870"/>
                    </a:lnTo>
                    <a:cubicBezTo>
                      <a:pt x="-4544" y="118798"/>
                      <a:pt x="-4544" y="107640"/>
                      <a:pt x="13714" y="100882"/>
                    </a:cubicBezTo>
                    <a:lnTo>
                      <a:pt x="267901" y="5329"/>
                    </a:lnTo>
                    <a:cubicBezTo>
                      <a:pt x="277030" y="1872"/>
                      <a:pt x="288991" y="104"/>
                      <a:pt x="300973" y="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5353798" y="594610"/>
                <a:ext cx="1471702" cy="1471702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0" y="2164542"/>
            <a:ext cx="10858500" cy="228045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181081" y="4943288"/>
            <a:ext cx="5817137" cy="276999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181081" y="5220287"/>
            <a:ext cx="5817137" cy="276999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0" y="0"/>
            <a:ext cx="12192003" cy="6858000"/>
            <a:chOff x="0" y="0"/>
            <a:chExt cx="12192003" cy="6858000"/>
          </a:xfrm>
        </p:grpSpPr>
        <p:sp>
          <p:nvSpPr>
            <p:cNvPr id="50" name="矩形 49"/>
            <p:cNvSpPr/>
            <p:nvPr/>
          </p:nvSpPr>
          <p:spPr>
            <a:xfrm>
              <a:off x="0" y="0"/>
              <a:ext cx="12192000" cy="6847840"/>
            </a:xfrm>
            <a:prstGeom prst="rect">
              <a:avLst/>
            </a:prstGeom>
            <a:blipFill>
              <a:blip r:embed="rId9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anchor="ctr"/>
            <a:lstStyle/>
            <a:p>
              <a:pPr algn="ctr"/>
              <a:endParaRPr 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" y="1"/>
              <a:ext cx="12192002" cy="6857998"/>
              <a:chOff x="1" y="1"/>
              <a:chExt cx="12192002" cy="6857998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1" y="1"/>
                <a:ext cx="1080654" cy="725805"/>
                <a:chOff x="0" y="0"/>
                <a:chExt cx="2100139" cy="1410527"/>
              </a:xfrm>
            </p:grpSpPr>
            <p:sp>
              <p:nvSpPr>
                <p:cNvPr id="11" name="任意多边形 10"/>
                <p:cNvSpPr/>
                <p:nvPr/>
              </p:nvSpPr>
              <p:spPr>
                <a:xfrm flipH="1" flipV="1">
                  <a:off x="0" y="0"/>
                  <a:ext cx="2100139" cy="1410527"/>
                </a:xfrm>
                <a:custGeom>
                  <a:avLst/>
                  <a:gdLst>
                    <a:gd name="connsiteX0" fmla="*/ 2687120 w 2755978"/>
                    <a:gd name="connsiteY0" fmla="*/ 0 h 1851012"/>
                    <a:gd name="connsiteX1" fmla="*/ 2755978 w 2755978"/>
                    <a:gd name="connsiteY1" fmla="*/ 1108 h 1851012"/>
                    <a:gd name="connsiteX2" fmla="*/ 2755978 w 2755978"/>
                    <a:gd name="connsiteY2" fmla="*/ 1851012 h 1851012"/>
                    <a:gd name="connsiteX3" fmla="*/ 8191 w 2755978"/>
                    <a:gd name="connsiteY3" fmla="*/ 1851012 h 1851012"/>
                    <a:gd name="connsiteX4" fmla="*/ 390 w 2755978"/>
                    <a:gd name="connsiteY4" fmla="*/ 1795336 h 1851012"/>
                    <a:gd name="connsiteX5" fmla="*/ 789448 w 2755978"/>
                    <a:gd name="connsiteY5" fmla="*/ 1108535 h 1851012"/>
                    <a:gd name="connsiteX6" fmla="*/ 854037 w 2755978"/>
                    <a:gd name="connsiteY6" fmla="*/ 1106059 h 1851012"/>
                    <a:gd name="connsiteX7" fmla="*/ 1500883 w 2755978"/>
                    <a:gd name="connsiteY7" fmla="*/ 826214 h 1851012"/>
                    <a:gd name="connsiteX8" fmla="*/ 2120559 w 2755978"/>
                    <a:gd name="connsiteY8" fmla="*/ 216519 h 1851012"/>
                    <a:gd name="connsiteX9" fmla="*/ 2687120 w 2755978"/>
                    <a:gd name="connsiteY9" fmla="*/ 0 h 1851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755978" h="1851012">
                      <a:moveTo>
                        <a:pt x="2687120" y="0"/>
                      </a:moveTo>
                      <a:lnTo>
                        <a:pt x="2755978" y="1108"/>
                      </a:lnTo>
                      <a:lnTo>
                        <a:pt x="2755978" y="1851012"/>
                      </a:lnTo>
                      <a:lnTo>
                        <a:pt x="8191" y="1851012"/>
                      </a:lnTo>
                      <a:lnTo>
                        <a:pt x="390" y="1795336"/>
                      </a:lnTo>
                      <a:cubicBezTo>
                        <a:pt x="-11482" y="1466818"/>
                        <a:pt x="247709" y="1132348"/>
                        <a:pt x="789448" y="1108535"/>
                      </a:cubicBezTo>
                      <a:cubicBezTo>
                        <a:pt x="811613" y="1107582"/>
                        <a:pt x="833183" y="1106725"/>
                        <a:pt x="854037" y="1106059"/>
                      </a:cubicBezTo>
                      <a:cubicBezTo>
                        <a:pt x="1112156" y="1097296"/>
                        <a:pt x="1350254" y="993949"/>
                        <a:pt x="1500883" y="826214"/>
                      </a:cubicBezTo>
                      <a:cubicBezTo>
                        <a:pt x="1710858" y="592375"/>
                        <a:pt x="1920117" y="390255"/>
                        <a:pt x="2120559" y="216519"/>
                      </a:cubicBezTo>
                      <a:cubicBezTo>
                        <a:pt x="2282255" y="76353"/>
                        <a:pt x="2484904" y="8470"/>
                        <a:pt x="2687120" y="0"/>
                      </a:cubicBezTo>
                      <a:close/>
                    </a:path>
                  </a:pathLst>
                </a:custGeom>
                <a:solidFill>
                  <a:schemeClr val="accent1">
                    <a:alpha val="15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任意多边形 14"/>
                <p:cNvSpPr/>
                <p:nvPr/>
              </p:nvSpPr>
              <p:spPr>
                <a:xfrm flipH="1" flipV="1">
                  <a:off x="0" y="0"/>
                  <a:ext cx="1935802" cy="1300152"/>
                </a:xfrm>
                <a:custGeom>
                  <a:avLst/>
                  <a:gdLst>
                    <a:gd name="connsiteX0" fmla="*/ 2687120 w 2755978"/>
                    <a:gd name="connsiteY0" fmla="*/ 0 h 1851012"/>
                    <a:gd name="connsiteX1" fmla="*/ 2755978 w 2755978"/>
                    <a:gd name="connsiteY1" fmla="*/ 1108 h 1851012"/>
                    <a:gd name="connsiteX2" fmla="*/ 2755978 w 2755978"/>
                    <a:gd name="connsiteY2" fmla="*/ 1851012 h 1851012"/>
                    <a:gd name="connsiteX3" fmla="*/ 8191 w 2755978"/>
                    <a:gd name="connsiteY3" fmla="*/ 1851012 h 1851012"/>
                    <a:gd name="connsiteX4" fmla="*/ 390 w 2755978"/>
                    <a:gd name="connsiteY4" fmla="*/ 1795336 h 1851012"/>
                    <a:gd name="connsiteX5" fmla="*/ 789448 w 2755978"/>
                    <a:gd name="connsiteY5" fmla="*/ 1108535 h 1851012"/>
                    <a:gd name="connsiteX6" fmla="*/ 854037 w 2755978"/>
                    <a:gd name="connsiteY6" fmla="*/ 1106059 h 1851012"/>
                    <a:gd name="connsiteX7" fmla="*/ 1500883 w 2755978"/>
                    <a:gd name="connsiteY7" fmla="*/ 826214 h 1851012"/>
                    <a:gd name="connsiteX8" fmla="*/ 2120559 w 2755978"/>
                    <a:gd name="connsiteY8" fmla="*/ 216519 h 1851012"/>
                    <a:gd name="connsiteX9" fmla="*/ 2687120 w 2755978"/>
                    <a:gd name="connsiteY9" fmla="*/ 0 h 1851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755978" h="1851012">
                      <a:moveTo>
                        <a:pt x="2687120" y="0"/>
                      </a:moveTo>
                      <a:lnTo>
                        <a:pt x="2755978" y="1108"/>
                      </a:lnTo>
                      <a:lnTo>
                        <a:pt x="2755978" y="1851012"/>
                      </a:lnTo>
                      <a:lnTo>
                        <a:pt x="8191" y="1851012"/>
                      </a:lnTo>
                      <a:lnTo>
                        <a:pt x="390" y="1795336"/>
                      </a:lnTo>
                      <a:cubicBezTo>
                        <a:pt x="-11482" y="1466818"/>
                        <a:pt x="247709" y="1132348"/>
                        <a:pt x="789448" y="1108535"/>
                      </a:cubicBezTo>
                      <a:cubicBezTo>
                        <a:pt x="811613" y="1107582"/>
                        <a:pt x="833183" y="1106725"/>
                        <a:pt x="854037" y="1106059"/>
                      </a:cubicBezTo>
                      <a:cubicBezTo>
                        <a:pt x="1112156" y="1097296"/>
                        <a:pt x="1350254" y="993949"/>
                        <a:pt x="1500883" y="826214"/>
                      </a:cubicBezTo>
                      <a:cubicBezTo>
                        <a:pt x="1710858" y="592375"/>
                        <a:pt x="1920117" y="390255"/>
                        <a:pt x="2120559" y="216519"/>
                      </a:cubicBezTo>
                      <a:cubicBezTo>
                        <a:pt x="2282255" y="76353"/>
                        <a:pt x="2484904" y="8470"/>
                        <a:pt x="26871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686477" y="5892798"/>
                <a:ext cx="1505526" cy="965201"/>
                <a:chOff x="9890343" y="5382395"/>
                <a:chExt cx="2301656" cy="1475605"/>
              </a:xfrm>
            </p:grpSpPr>
            <p:sp>
              <p:nvSpPr>
                <p:cNvPr id="20" name="任意多边形 19"/>
                <p:cNvSpPr/>
                <p:nvPr/>
              </p:nvSpPr>
              <p:spPr>
                <a:xfrm>
                  <a:off x="9890343" y="5382395"/>
                  <a:ext cx="2301656" cy="1475602"/>
                </a:xfrm>
                <a:custGeom>
                  <a:avLst/>
                  <a:gdLst>
                    <a:gd name="connsiteX0" fmla="*/ 2687120 w 2755978"/>
                    <a:gd name="connsiteY0" fmla="*/ 0 h 1851012"/>
                    <a:gd name="connsiteX1" fmla="*/ 2755978 w 2755978"/>
                    <a:gd name="connsiteY1" fmla="*/ 1108 h 1851012"/>
                    <a:gd name="connsiteX2" fmla="*/ 2755978 w 2755978"/>
                    <a:gd name="connsiteY2" fmla="*/ 1851012 h 1851012"/>
                    <a:gd name="connsiteX3" fmla="*/ 8191 w 2755978"/>
                    <a:gd name="connsiteY3" fmla="*/ 1851012 h 1851012"/>
                    <a:gd name="connsiteX4" fmla="*/ 390 w 2755978"/>
                    <a:gd name="connsiteY4" fmla="*/ 1795336 h 1851012"/>
                    <a:gd name="connsiteX5" fmla="*/ 789448 w 2755978"/>
                    <a:gd name="connsiteY5" fmla="*/ 1108535 h 1851012"/>
                    <a:gd name="connsiteX6" fmla="*/ 854037 w 2755978"/>
                    <a:gd name="connsiteY6" fmla="*/ 1106059 h 1851012"/>
                    <a:gd name="connsiteX7" fmla="*/ 1500883 w 2755978"/>
                    <a:gd name="connsiteY7" fmla="*/ 826214 h 1851012"/>
                    <a:gd name="connsiteX8" fmla="*/ 2120559 w 2755978"/>
                    <a:gd name="connsiteY8" fmla="*/ 216519 h 1851012"/>
                    <a:gd name="connsiteX9" fmla="*/ 2687120 w 2755978"/>
                    <a:gd name="connsiteY9" fmla="*/ 0 h 1851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755978" h="1851012">
                      <a:moveTo>
                        <a:pt x="2687120" y="0"/>
                      </a:moveTo>
                      <a:lnTo>
                        <a:pt x="2755978" y="1108"/>
                      </a:lnTo>
                      <a:lnTo>
                        <a:pt x="2755978" y="1851012"/>
                      </a:lnTo>
                      <a:lnTo>
                        <a:pt x="8191" y="1851012"/>
                      </a:lnTo>
                      <a:lnTo>
                        <a:pt x="390" y="1795336"/>
                      </a:lnTo>
                      <a:cubicBezTo>
                        <a:pt x="-11482" y="1466818"/>
                        <a:pt x="247709" y="1132348"/>
                        <a:pt x="789448" y="1108535"/>
                      </a:cubicBezTo>
                      <a:cubicBezTo>
                        <a:pt x="811613" y="1107582"/>
                        <a:pt x="833183" y="1106725"/>
                        <a:pt x="854037" y="1106059"/>
                      </a:cubicBezTo>
                      <a:cubicBezTo>
                        <a:pt x="1112156" y="1097296"/>
                        <a:pt x="1350254" y="993949"/>
                        <a:pt x="1500883" y="826214"/>
                      </a:cubicBezTo>
                      <a:cubicBezTo>
                        <a:pt x="1710858" y="592375"/>
                        <a:pt x="1920117" y="390255"/>
                        <a:pt x="2120559" y="216519"/>
                      </a:cubicBezTo>
                      <a:cubicBezTo>
                        <a:pt x="2282255" y="76353"/>
                        <a:pt x="2484904" y="8470"/>
                        <a:pt x="2687120" y="0"/>
                      </a:cubicBezTo>
                      <a:close/>
                    </a:path>
                  </a:pathLst>
                </a:custGeom>
                <a:solidFill>
                  <a:schemeClr val="accent1">
                    <a:alpha val="15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任意多边形 20"/>
                <p:cNvSpPr/>
                <p:nvPr/>
              </p:nvSpPr>
              <p:spPr>
                <a:xfrm>
                  <a:off x="10070446" y="5497865"/>
                  <a:ext cx="2121550" cy="1360135"/>
                </a:xfrm>
                <a:custGeom>
                  <a:avLst/>
                  <a:gdLst>
                    <a:gd name="connsiteX0" fmla="*/ 2687120 w 2755978"/>
                    <a:gd name="connsiteY0" fmla="*/ 0 h 1851012"/>
                    <a:gd name="connsiteX1" fmla="*/ 2755978 w 2755978"/>
                    <a:gd name="connsiteY1" fmla="*/ 1108 h 1851012"/>
                    <a:gd name="connsiteX2" fmla="*/ 2755978 w 2755978"/>
                    <a:gd name="connsiteY2" fmla="*/ 1851012 h 1851012"/>
                    <a:gd name="connsiteX3" fmla="*/ 8191 w 2755978"/>
                    <a:gd name="connsiteY3" fmla="*/ 1851012 h 1851012"/>
                    <a:gd name="connsiteX4" fmla="*/ 390 w 2755978"/>
                    <a:gd name="connsiteY4" fmla="*/ 1795336 h 1851012"/>
                    <a:gd name="connsiteX5" fmla="*/ 789448 w 2755978"/>
                    <a:gd name="connsiteY5" fmla="*/ 1108535 h 1851012"/>
                    <a:gd name="connsiteX6" fmla="*/ 854037 w 2755978"/>
                    <a:gd name="connsiteY6" fmla="*/ 1106059 h 1851012"/>
                    <a:gd name="connsiteX7" fmla="*/ 1500883 w 2755978"/>
                    <a:gd name="connsiteY7" fmla="*/ 826214 h 1851012"/>
                    <a:gd name="connsiteX8" fmla="*/ 2120559 w 2755978"/>
                    <a:gd name="connsiteY8" fmla="*/ 216519 h 1851012"/>
                    <a:gd name="connsiteX9" fmla="*/ 2687120 w 2755978"/>
                    <a:gd name="connsiteY9" fmla="*/ 0 h 1851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755978" h="1851012">
                      <a:moveTo>
                        <a:pt x="2687120" y="0"/>
                      </a:moveTo>
                      <a:lnTo>
                        <a:pt x="2755978" y="1108"/>
                      </a:lnTo>
                      <a:lnTo>
                        <a:pt x="2755978" y="1851012"/>
                      </a:lnTo>
                      <a:lnTo>
                        <a:pt x="8191" y="1851012"/>
                      </a:lnTo>
                      <a:lnTo>
                        <a:pt x="390" y="1795336"/>
                      </a:lnTo>
                      <a:cubicBezTo>
                        <a:pt x="-11482" y="1466818"/>
                        <a:pt x="247709" y="1132348"/>
                        <a:pt x="789448" y="1108535"/>
                      </a:cubicBezTo>
                      <a:cubicBezTo>
                        <a:pt x="811613" y="1107582"/>
                        <a:pt x="833183" y="1106725"/>
                        <a:pt x="854037" y="1106059"/>
                      </a:cubicBezTo>
                      <a:cubicBezTo>
                        <a:pt x="1112156" y="1097296"/>
                        <a:pt x="1350254" y="993949"/>
                        <a:pt x="1500883" y="826214"/>
                      </a:cubicBezTo>
                      <a:cubicBezTo>
                        <a:pt x="1710858" y="592375"/>
                        <a:pt x="1920117" y="390255"/>
                        <a:pt x="2120559" y="216519"/>
                      </a:cubicBezTo>
                      <a:cubicBezTo>
                        <a:pt x="2282255" y="76353"/>
                        <a:pt x="2484904" y="8470"/>
                        <a:pt x="26871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FoundRoot: Towards Foundation Model for Root Cause Analysis</a:t>
            </a:r>
            <a:br>
              <a:rPr lang="en-US" altLang="zh-CN" sz="3200" dirty="0"/>
            </a:br>
            <a:r>
              <a:rPr lang="en-US" altLang="zh-CN" sz="3200" dirty="0"/>
              <a:t>via Structured Deep Thinking</a:t>
            </a: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/>
        <p:txBody>
          <a:bodyPr/>
          <a:lstStyle/>
          <a:p>
            <a:r>
              <a:rPr lang="en-US" altLang="zh-CN" dirty="0"/>
              <a:t>ICSE ’26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r>
              <a:rPr lang="zh-CN" altLang="en-US" dirty="0"/>
              <a:t>刘军辉</a:t>
            </a:r>
            <a:r>
              <a:rPr lang="en-US" altLang="zh-CN" dirty="0"/>
              <a:t>	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r>
              <a:rPr lang="zh-CN" altLang="en-US" dirty="0"/>
              <a:t>2026/3/2</a:t>
            </a:r>
            <a:r>
              <a:rPr lang="en-US" altLang="zh-CN" dirty="0"/>
              <a:t>9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205" y="4890770"/>
            <a:ext cx="704850" cy="610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Background</a:t>
            </a:r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7042785" y="1804670"/>
            <a:ext cx="4476115" cy="32486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2100" y="2090420"/>
            <a:ext cx="6096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/>
              <a:t>The Complexity Challenges of Cloud-Native Systems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Service Component Scale: Hundreds or thousands of microservices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Monitoring Data Scale: Massive time-series metrics and call chains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Core Pain Point: How to quickly locate the root cause when a failure occurs.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Background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22900" y="1394460"/>
            <a:ext cx="6096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The number of metrics is extremely large (hundreds or even thousands).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Complex causal relationships exist among the metrics.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Fault propagation paths span multiple services.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45" y="1330325"/>
            <a:ext cx="4229100" cy="25908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596515" y="4678045"/>
            <a:ext cx="7134860" cy="79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2800" b="0" i="0"/>
              <a:t>Zero</a:t>
            </a:r>
            <a:r>
              <a:rPr lang="en-US" altLang="zh-CN" sz="2400" b="0" i="0">
                <a:solidFill>
                  <a:srgbClr val="0F1115"/>
                </a:solidFill>
                <a:ea typeface="quote-cjk-patch"/>
                <a:cs typeface="+mn-lt"/>
              </a:rPr>
              <a:t>-Shot RCA</a:t>
            </a:r>
            <a:r>
              <a:rPr lang="en-US" altLang="zh-CN" b="0" i="0">
                <a:solidFill>
                  <a:srgbClr val="0F1115"/>
                </a:solidFill>
                <a:ea typeface="quote-cjk-patch"/>
                <a:cs typeface="+mn-lt"/>
              </a:rPr>
              <a:t> – Identifies faults directly from current monitoring data without requiring historical tags.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93bb95d8-f2cb-4f98-8f9d-c39327c109ad.source.2.zh-Hans.pptx"/>
          <p:cNvGrpSpPr/>
          <p:nvPr/>
        </p:nvGrpSpPr>
        <p:grpSpPr>
          <a:xfrm>
            <a:off x="660400" y="1109345"/>
            <a:ext cx="10853823" cy="5105820"/>
            <a:chOff x="660400" y="1130300"/>
            <a:chExt cx="10853823" cy="5105820"/>
          </a:xfrm>
        </p:grpSpPr>
        <p:grpSp>
          <p:nvGrpSpPr>
            <p:cNvPr id="2" name="组合 1"/>
            <p:cNvGrpSpPr/>
            <p:nvPr/>
          </p:nvGrpSpPr>
          <p:grpSpPr>
            <a:xfrm>
              <a:off x="7583226" y="1130300"/>
              <a:ext cx="3930997" cy="5105400"/>
              <a:chOff x="7583226" y="1130300"/>
              <a:chExt cx="3930997" cy="5105400"/>
            </a:xfrm>
          </p:grpSpPr>
          <p:sp>
            <p:nvSpPr>
              <p:cNvPr id="3" name="PictureMisc1"/>
              <p:cNvSpPr/>
              <p:nvPr/>
            </p:nvSpPr>
            <p:spPr>
              <a:xfrm>
                <a:off x="7583226" y="1880268"/>
                <a:ext cx="1902109" cy="4355432"/>
              </a:xfrm>
              <a:prstGeom prst="roundRect">
                <a:avLst>
                  <a:gd name="adj" fmla="val 8131"/>
                </a:avLst>
              </a:prstGeom>
              <a:blipFill>
                <a:blip r:embed="rId3" cstate="email"/>
                <a:stretch>
                  <a:fillRect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PictureMisc2"/>
              <p:cNvSpPr/>
              <p:nvPr/>
            </p:nvSpPr>
            <p:spPr>
              <a:xfrm>
                <a:off x="9612114" y="1130300"/>
                <a:ext cx="1902109" cy="1949784"/>
              </a:xfrm>
              <a:prstGeom prst="roundRect">
                <a:avLst>
                  <a:gd name="adj" fmla="val 8131"/>
                </a:avLst>
              </a:prstGeom>
              <a:blipFill>
                <a:blip r:embed="rId4" cstate="email"/>
                <a:stretch>
                  <a:fillRect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" name="PictureMisc3"/>
              <p:cNvSpPr/>
              <p:nvPr/>
            </p:nvSpPr>
            <p:spPr>
              <a:xfrm>
                <a:off x="9612113" y="3200398"/>
                <a:ext cx="1902109" cy="1793373"/>
              </a:xfrm>
              <a:prstGeom prst="roundRect">
                <a:avLst>
                  <a:gd name="adj" fmla="val 8131"/>
                </a:avLst>
              </a:prstGeom>
              <a:blipFill>
                <a:blip r:embed="rId5" cstate="email"/>
                <a:stretch>
                  <a:fillRect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PictureMisc4"/>
              <p:cNvSpPr/>
              <p:nvPr/>
            </p:nvSpPr>
            <p:spPr>
              <a:xfrm>
                <a:off x="9612113" y="5114085"/>
                <a:ext cx="1902109" cy="1070815"/>
              </a:xfrm>
              <a:prstGeom prst="roundRect">
                <a:avLst>
                  <a:gd name="adj" fmla="val 13158"/>
                </a:avLst>
              </a:prstGeom>
              <a:blipFill>
                <a:blip r:embed="rId6" cstate="email"/>
                <a:stretch>
                  <a:fillRect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660400" y="1478918"/>
              <a:ext cx="6796682" cy="4757202"/>
              <a:chOff x="4824452" y="1478918"/>
              <a:chExt cx="6796682" cy="4757202"/>
            </a:xfrm>
          </p:grpSpPr>
          <p:sp>
            <p:nvSpPr>
              <p:cNvPr id="10" name="Text1"/>
              <p:cNvSpPr txBox="1"/>
              <p:nvPr/>
            </p:nvSpPr>
            <p:spPr>
              <a:xfrm>
                <a:off x="4825087" y="2007382"/>
                <a:ext cx="6796047" cy="1733164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Anomaly detection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Cause-effect graph analysis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Rule matching</a:t>
                </a:r>
              </a:p>
            </p:txBody>
          </p:sp>
          <p:sp>
            <p:nvSpPr>
              <p:cNvPr id="11" name="Bullet1"/>
              <p:cNvSpPr txBox="1"/>
              <p:nvPr/>
            </p:nvSpPr>
            <p:spPr>
              <a:xfrm>
                <a:off x="4825087" y="1478918"/>
                <a:ext cx="6796047" cy="40146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lang="en-US" altLang="zh-CN" dirty="0"/>
                  <a:t>Method 1: Statistical/Rule-Based Approach</a:t>
                </a:r>
              </a:p>
            </p:txBody>
          </p:sp>
          <p:sp>
            <p:nvSpPr>
              <p:cNvPr id="12" name="Text2"/>
              <p:cNvSpPr txBox="1"/>
              <p:nvPr/>
            </p:nvSpPr>
            <p:spPr>
              <a:xfrm>
                <a:off x="4825087" y="4502956"/>
                <a:ext cx="6796047" cy="1733164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Leveraging its semantic understanding capabilities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combined with tools (time-series analysis)</a:t>
                </a:r>
              </a:p>
            </p:txBody>
          </p:sp>
          <p:sp>
            <p:nvSpPr>
              <p:cNvPr id="13" name="Bullet2"/>
              <p:cNvSpPr txBox="1"/>
              <p:nvPr/>
            </p:nvSpPr>
            <p:spPr>
              <a:xfrm>
                <a:off x="4824452" y="4001794"/>
                <a:ext cx="6796047" cy="40146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lang="en-US" altLang="zh-CN" dirty="0">
                    <a:sym typeface="+mn-ea"/>
                  </a:rPr>
                  <a:t>Method 2:  </a:t>
                </a:r>
                <a:r>
                  <a:rPr lang="en-US" altLang="zh-CN" dirty="0"/>
                  <a:t>LLM + Agent Method</a:t>
                </a:r>
              </a:p>
            </p:txBody>
          </p:sp>
        </p:grpSp>
      </p:grp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Existing methods and limitations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Deep Thinking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95" y="2276475"/>
            <a:ext cx="5191125" cy="24288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514475"/>
            <a:ext cx="4953000" cy="4133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Structured Deep Thinking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36575" y="233362"/>
            <a:ext cx="10858500" cy="90011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Structured Deep Thinking</a:t>
            </a:r>
            <a:br>
              <a:rPr lang="en-US" altLang="zh-CN" dirty="0"/>
            </a:b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3429000"/>
            <a:ext cx="10692765" cy="31699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43000" y="753745"/>
            <a:ext cx="98488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/>
              <a:t> inspired by the standard RCA workflow of </a:t>
            </a:r>
            <a:r>
              <a:rPr lang="en-US" altLang="zh-CN" sz="2400" b="1" dirty="0" err="1"/>
              <a:t>detection,analysis</a:t>
            </a:r>
            <a:r>
              <a:rPr lang="en-US" altLang="zh-CN" sz="2400" b="1" dirty="0"/>
              <a:t>, causal attribution, and ranking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50950" y="1715770"/>
            <a:ext cx="3241675" cy="1353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b="1"/>
              <a:t>Core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Step-by-step reasoning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 Goal-oriented substeps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 Structured thinking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730875" y="1373188"/>
            <a:ext cx="5080000" cy="18148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b="1"/>
              <a:t>Key Design</a:t>
            </a:r>
          </a:p>
          <a:p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These sub-steps are not controlled by multiple rounds of prompts,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but rather  are completed continuously by the model itself within a single generation.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1323975"/>
            <a:ext cx="10692765" cy="31699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93725" y="395287"/>
            <a:ext cx="10858500" cy="90011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Data and Model Training Pipelines</a:t>
            </a:r>
            <a:br>
              <a:rPr lang="en-US" altLang="zh-CN" dirty="0"/>
            </a:b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05" y="2391804"/>
            <a:ext cx="6286500" cy="261937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C786363-7B0D-68EF-38C5-BED4391DC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687" y="2280238"/>
            <a:ext cx="3665538" cy="284250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Curation of Datasets</a:t>
            </a:r>
            <a:br>
              <a:rPr lang="en-US" altLang="zh-CN" dirty="0"/>
            </a:br>
            <a:r>
              <a:rPr lang="en-US" altLang="zh-CN" sz="2200" dirty="0"/>
              <a:t>Dataset Construction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65" y="234315"/>
            <a:ext cx="4696460" cy="19564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1857375"/>
            <a:ext cx="6057900" cy="3924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770" y="3342640"/>
            <a:ext cx="3090545" cy="22675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0300" y="3171825"/>
            <a:ext cx="1914525" cy="2609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65" y="234315"/>
            <a:ext cx="4696460" cy="19564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2000" y="123825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Perform extensive preprocessing and cleaning across all datasets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190750"/>
            <a:ext cx="67811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Raw Data </a:t>
            </a:r>
            <a:r>
              <a:rPr lang="en-US" altLang="en-US"/>
              <a:t>→</a:t>
            </a:r>
            <a:r>
              <a:rPr lang="en-US" altLang="zh-CN"/>
              <a:t> Cleaning </a:t>
            </a:r>
            <a:r>
              <a:rPr lang="en-US" altLang="en-US"/>
              <a:t>→</a:t>
            </a:r>
            <a:r>
              <a:rPr lang="en-US" altLang="zh-CN"/>
              <a:t> Metric Filtering </a:t>
            </a:r>
            <a:r>
              <a:rPr lang="en-US" altLang="en-US"/>
              <a:t>→</a:t>
            </a:r>
            <a:r>
              <a:rPr lang="en-US" altLang="zh-CN"/>
              <a:t> Time Window Extraction </a:t>
            </a:r>
            <a:r>
              <a:rPr lang="en-US" altLang="en-US"/>
              <a:t>→</a:t>
            </a:r>
            <a:r>
              <a:rPr lang="en-US" altLang="zh-CN"/>
              <a:t> Text Conversion </a:t>
            </a:r>
            <a:r>
              <a:rPr lang="en-US" altLang="en-US"/>
              <a:t>→</a:t>
            </a:r>
            <a:r>
              <a:rPr lang="en-US" altLang="zh-CN"/>
              <a:t> Q&amp;A Format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2000" y="3352483"/>
            <a:ext cx="5080000" cy="20300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/>
              <a:t>Data Quality Enhancement:</a:t>
            </a:r>
          </a:p>
          <a:p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Remove invalid fault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k-sigma anomaly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Convert time series to text</a:t>
            </a:r>
          </a:p>
        </p:txBody>
      </p:sp>
      <p:sp>
        <p:nvSpPr>
          <p:cNvPr id="10" name="标题 1"/>
          <p:cNvSpPr>
            <a:spLocks noGrp="1"/>
          </p:cNvSpPr>
          <p:nvPr/>
        </p:nvSpPr>
        <p:spPr>
          <a:xfrm>
            <a:off x="762000" y="129222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Curation of Datasets</a:t>
            </a:r>
            <a:br>
              <a:rPr lang="en-US" altLang="zh-CN" dirty="0"/>
            </a:br>
            <a:r>
              <a:rPr lang="en-US" altLang="zh-CN" sz="2200" dirty="0"/>
              <a:t>Dataset Construction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Curation of Datasets</a:t>
            </a:r>
            <a:br>
              <a:rPr lang="en-US" altLang="zh-CN" dirty="0"/>
            </a:br>
            <a:r>
              <a:rPr lang="en-US" altLang="zh-CN" sz="2200" dirty="0"/>
              <a:t>Data Augmentation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090" y="282575"/>
            <a:ext cx="4939030" cy="21374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1865" y="29527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Temporal sampling.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65" y="3585845"/>
            <a:ext cx="2143125" cy="4476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305300" y="29527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Metric sampling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0" y="3485515"/>
            <a:ext cx="2705100" cy="6477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Curation of Datasets</a:t>
            </a:r>
            <a:br>
              <a:rPr lang="en-US" altLang="zh-CN" dirty="0"/>
            </a:br>
            <a:r>
              <a:rPr lang="en-US" altLang="zh-CN" sz="2200" dirty="0"/>
              <a:t>Warm-Up SFT Dataset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280035"/>
            <a:ext cx="4572000" cy="1929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1608455"/>
            <a:ext cx="5457825" cy="45681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735" y="2392045"/>
            <a:ext cx="3808095" cy="28295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Model and Training Details</a:t>
            </a:r>
            <a:br>
              <a:rPr lang="en-US" altLang="zh-CN" dirty="0"/>
            </a:br>
            <a:r>
              <a:rPr lang="en-US" altLang="zh-CN" sz="2200" dirty="0"/>
              <a:t> Warm-Up SFT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370" y="226695"/>
            <a:ext cx="4829810" cy="21653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89000" y="1562417"/>
            <a:ext cx="508000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Two-stage training: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 Warm-up SFT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 DAPO (RL optimization)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12825" y="2890203"/>
            <a:ext cx="5080000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Input Representation</a:t>
            </a:r>
          </a:p>
          <a:p>
            <a:pPr>
              <a:buFont typeface="Arial" panose="020B0604020202020204"/>
              <a:buChar char="•"/>
            </a:pPr>
            <a:endParaRPr lang="zh-CN" altLang="en-US" sz="1600" dirty="0"/>
          </a:p>
          <a:p>
            <a:pPr>
              <a:buFont typeface="Arial" panose="020B0604020202020204"/>
              <a:buChar char="•"/>
            </a:pPr>
            <a:r>
              <a:rPr lang="zh-CN" altLang="en-US" sz="1600" dirty="0"/>
              <a:t> </a:t>
            </a:r>
            <a:r>
              <a:rPr lang="en-US" altLang="zh-CN" sz="1600" dirty="0"/>
              <a:t>Time-series → Text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600" dirty="0"/>
              <a:t> k-sigma anomaly detection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740400" y="2486978"/>
            <a:ext cx="5080000" cy="427672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1600"/>
              <a:t>Output Format:</a:t>
            </a:r>
            <a:br>
              <a:rPr lang="en-US" altLang="zh-CN" sz="1600"/>
            </a:br>
            <a:endParaRPr lang="en-US" altLang="zh-CN" sz="16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600"/>
              <a:t>1. Reasoning</a:t>
            </a:r>
            <a:r>
              <a:rPr lang="zh-CN" altLang="en-US" sz="1600"/>
              <a:t>：</a:t>
            </a:r>
          </a:p>
          <a:p>
            <a:endParaRPr lang="en-US" altLang="zh-CN" sz="1600"/>
          </a:p>
          <a:p>
            <a:r>
              <a:rPr lang="en-US" altLang="zh-CN" sz="1600"/>
              <a:t>&lt;think&gt;</a:t>
            </a:r>
          </a:p>
          <a:p>
            <a:r>
              <a:rPr lang="en-US" altLang="zh-CN" sz="1600"/>
              <a:t>Step-by-step reasoning</a:t>
            </a:r>
          </a:p>
          <a:p>
            <a:r>
              <a:rPr lang="en-US" altLang="zh-CN" sz="1600"/>
              <a:t>&lt;/think&gt;</a:t>
            </a:r>
          </a:p>
          <a:p>
            <a:endParaRPr lang="en-US" altLang="zh-CN" sz="1600"/>
          </a:p>
          <a:p>
            <a:r>
              <a:rPr lang="en-US" altLang="zh-CN" sz="1600"/>
              <a:t>2. Answer</a:t>
            </a:r>
            <a:r>
              <a:rPr lang="zh-CN" altLang="en-US" sz="1600"/>
              <a:t>：</a:t>
            </a:r>
          </a:p>
          <a:p>
            <a:r>
              <a:rPr lang="en-US" altLang="zh-CN" sz="1600"/>
              <a:t>&lt;answer&gt;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rank_list: [...],</a:t>
            </a:r>
          </a:p>
          <a:p>
            <a:r>
              <a:rPr lang="en-US" altLang="zh-CN" sz="1600"/>
              <a:t>  conclusion: ...</a:t>
            </a:r>
          </a:p>
          <a:p>
            <a:r>
              <a:rPr lang="en-US" altLang="zh-CN" sz="1600"/>
              <a:t>}</a:t>
            </a:r>
          </a:p>
          <a:p>
            <a:r>
              <a:rPr lang="en-US" altLang="zh-CN" sz="1600"/>
              <a:t>&lt;/answer&gt;</a:t>
            </a:r>
          </a:p>
          <a:p>
            <a:endParaRPr lang="en-US" altLang="zh-CN" sz="1600"/>
          </a:p>
          <a:p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Model and Training Details</a:t>
            </a:r>
            <a:br>
              <a:rPr lang="en-US" altLang="zh-CN" dirty="0"/>
            </a:br>
            <a:r>
              <a:rPr lang="en-US" altLang="zh-CN" sz="2200" dirty="0"/>
              <a:t> RL with DAPO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0" y="210820"/>
            <a:ext cx="4533900" cy="1943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76300" y="14224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Reward Design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52450" y="1790700"/>
            <a:ext cx="5133340" cy="4721225"/>
            <a:chOff x="540" y="2825"/>
            <a:chExt cx="8084" cy="743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0" y="2825"/>
              <a:ext cx="8055" cy="450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0" y="7320"/>
              <a:ext cx="8085" cy="294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6194425" y="2923223"/>
            <a:ext cx="5080000" cy="13220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DAPO Framework</a:t>
            </a:r>
          </a:p>
          <a:p>
            <a:endParaRPr lang="en-US" altLang="zh-CN" sz="1600"/>
          </a:p>
          <a:p>
            <a:r>
              <a:rPr lang="en-US" altLang="zh-CN" sz="1600"/>
              <a:t>Input </a:t>
            </a:r>
            <a:r>
              <a:rPr lang="en-US" altLang="en-US" sz="1600"/>
              <a:t>→</a:t>
            </a:r>
            <a:r>
              <a:rPr lang="en-US" altLang="zh-CN" sz="1600"/>
              <a:t> Multiple Reasoning Paths  </a:t>
            </a:r>
          </a:p>
          <a:p>
            <a:r>
              <a:rPr lang="en-US" altLang="zh-CN" sz="1600"/>
              <a:t>       </a:t>
            </a:r>
            <a:r>
              <a:rPr lang="en-US" altLang="en-US" sz="1600"/>
              <a:t>→</a:t>
            </a:r>
            <a:r>
              <a:rPr lang="en-US" altLang="zh-CN" sz="1600"/>
              <a:t> Reward Evaluation  </a:t>
            </a:r>
          </a:p>
          <a:p>
            <a:r>
              <a:rPr lang="en-US" altLang="zh-CN" sz="1600"/>
              <a:t>       </a:t>
            </a:r>
            <a:r>
              <a:rPr lang="en-US" altLang="en-US" sz="1600"/>
              <a:t>→</a:t>
            </a:r>
            <a:r>
              <a:rPr lang="en-US" altLang="zh-CN" sz="1600"/>
              <a:t> Learn Best Paths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030" y="2211885"/>
            <a:ext cx="8895442" cy="1217205"/>
          </a:xfrm>
        </p:spPr>
        <p:txBody>
          <a:bodyPr>
            <a:normAutofit/>
          </a:bodyPr>
          <a:lstStyle/>
          <a:p>
            <a:r>
              <a:rPr lang="en-US" altLang="zh-CN" dirty="0"/>
              <a:t>Evaluation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Evaluation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2475" y="1311275"/>
            <a:ext cx="228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Evaluation Metrics: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52475" y="1877695"/>
            <a:ext cx="302387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Top-1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Top-3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MRR 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270" y="2811145"/>
            <a:ext cx="1743075" cy="5429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08965" y="35521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 Evaluation Datasets: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65" y="3930650"/>
            <a:ext cx="4591050" cy="28003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762625" y="6604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 Baselines: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038850" y="1028700"/>
            <a:ext cx="6096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/>
              <a:t>Classical Methods:</a:t>
            </a:r>
          </a:p>
          <a:p>
            <a:pPr indent="457200"/>
            <a:r>
              <a:rPr lang="en-US" altLang="zh-CN" dirty="0" err="1"/>
              <a:t>MicroScope</a:t>
            </a:r>
            <a:endParaRPr lang="en-US" altLang="zh-CN" dirty="0"/>
          </a:p>
          <a:p>
            <a:pPr indent="457200"/>
            <a:r>
              <a:rPr lang="en-US" altLang="zh-CN" dirty="0" err="1"/>
              <a:t>MonitorRank</a:t>
            </a:r>
            <a:endParaRPr lang="en-US" altLang="zh-CN" dirty="0"/>
          </a:p>
          <a:p>
            <a:pPr indent="457200"/>
            <a:r>
              <a:rPr lang="en-US" altLang="zh-CN" dirty="0" err="1"/>
              <a:t>MicroCause</a:t>
            </a:r>
            <a:endParaRPr lang="en-US" altLang="zh-CN" dirty="0"/>
          </a:p>
          <a:p>
            <a:pPr indent="457200"/>
            <a:r>
              <a:rPr lang="en-US" altLang="zh-CN" dirty="0"/>
              <a:t>CIRCA</a:t>
            </a:r>
          </a:p>
          <a:p>
            <a:pPr indent="457200"/>
            <a:r>
              <a:rPr lang="en-US" altLang="zh-CN" dirty="0"/>
              <a:t>RCD</a:t>
            </a:r>
          </a:p>
          <a:p>
            <a:pPr indent="457200"/>
            <a:r>
              <a:rPr lang="en-US" altLang="zh-CN" dirty="0"/>
              <a:t>BARO</a:t>
            </a:r>
          </a:p>
          <a:p>
            <a:pPr indent="457200"/>
            <a:r>
              <a:rPr lang="en-US" altLang="zh-CN" dirty="0"/>
              <a:t>ART</a:t>
            </a:r>
          </a:p>
          <a:p>
            <a:pPr indent="457200"/>
            <a:r>
              <a:rPr lang="en-US" altLang="zh-CN" dirty="0"/>
              <a:t> </a:t>
            </a:r>
          </a:p>
          <a:p>
            <a:pPr indent="457200"/>
            <a:endParaRPr lang="en-US" altLang="zh-CN" dirty="0"/>
          </a:p>
        </p:txBody>
      </p:sp>
      <p:sp>
        <p:nvSpPr>
          <p:cNvPr id="17" name="文本框 16"/>
          <p:cNvSpPr txBox="1"/>
          <p:nvPr/>
        </p:nvSpPr>
        <p:spPr>
          <a:xfrm>
            <a:off x="5613400" y="352171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en-US" altLang="zh-CN" dirty="0">
                <a:sym typeface="+mn-ea"/>
              </a:rPr>
              <a:t>LLM-based Methods:</a:t>
            </a:r>
          </a:p>
          <a:p>
            <a:pPr marL="457200" lvl="1" indent="457200"/>
            <a:r>
              <a:rPr lang="en-US" altLang="zh-CN" dirty="0">
                <a:sym typeface="+mn-ea"/>
              </a:rPr>
              <a:t>LLMs</a:t>
            </a:r>
          </a:p>
          <a:p>
            <a:pPr marL="457200" lvl="1" indent="457200"/>
            <a:r>
              <a:rPr lang="en-US" altLang="zh-CN" dirty="0">
                <a:sym typeface="+mn-ea"/>
              </a:rPr>
              <a:t>RCA-Agent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660400" y="385762"/>
            <a:ext cx="10858500" cy="90011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RQ1: Does FoundRoot outperform classical</a:t>
            </a:r>
            <a:br>
              <a:rPr lang="en-US" altLang="zh-CN" dirty="0"/>
            </a:br>
            <a:r>
              <a:rPr lang="en-US" altLang="zh-CN" dirty="0"/>
              <a:t>and LLM-based RCA methods?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95" y="1366520"/>
            <a:ext cx="10467975" cy="49625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660400" y="642937"/>
            <a:ext cx="10858500" cy="90011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RQ2: How effective is structured deep</a:t>
            </a:r>
            <a:br>
              <a:rPr lang="en-US" altLang="zh-CN" dirty="0"/>
            </a:br>
            <a:r>
              <a:rPr lang="en-US" altLang="zh-CN" dirty="0"/>
              <a:t>thinking for RCA?</a:t>
            </a:r>
            <a:br>
              <a:rPr lang="en-US" altLang="zh-CN" dirty="0"/>
            </a:b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70" y="2076450"/>
            <a:ext cx="10639425" cy="31623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660400" y="642937"/>
            <a:ext cx="10858500" cy="90011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RQ3: Does RL really improve reasoning</a:t>
            </a:r>
            <a:br>
              <a:rPr lang="en-US" altLang="zh-CN" dirty="0"/>
            </a:br>
            <a:r>
              <a:rPr lang="en-US" altLang="zh-CN" dirty="0"/>
              <a:t>performance?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70" y="2076450"/>
            <a:ext cx="10639425" cy="31623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660400" y="642937"/>
            <a:ext cx="10858500" cy="90011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RQ4: Does structured deep thinking provide</a:t>
            </a:r>
            <a:br>
              <a:rPr lang="en-US" altLang="zh-CN" dirty="0"/>
            </a:br>
            <a:r>
              <a:rPr lang="en-US" altLang="zh-CN" dirty="0"/>
              <a:t>more generalization to unseen systems?</a:t>
            </a:r>
            <a:br>
              <a:rPr lang="en-US" altLang="zh-CN" dirty="0"/>
            </a:b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745" y="1743075"/>
            <a:ext cx="6315075" cy="39287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660400" y="642937"/>
            <a:ext cx="10858500" cy="90011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RQ5: How do smaller and quantized</a:t>
            </a:r>
            <a:br>
              <a:rPr lang="en-US" altLang="zh-CN" dirty="0"/>
            </a:br>
            <a:r>
              <a:rPr lang="en-US" altLang="zh-CN" dirty="0"/>
              <a:t>variants perform?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995" y="2168525"/>
            <a:ext cx="5734050" cy="25209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" val="{&quot;Label&quot;:&quot;1&quot;,&quot;ContentProducer&quot;:&quot;\u6210\u90fd\u8292\u610f\u8f6f\u4ef6\u6280\u672f\u6709\u9650\u516c\u53f8&quot;,&quot;ProduceID&quot;:&quot;a24b424bce6568a93a58ae233343578e&quot;,&quot;ReservedCode1&quot;:&quot;a9cd0ff3233fd61e180d94310b46bbebd147b489703df64dd240d99ee09e0d5b&quot;,&quot;ContentPropagator&quot;:&quot;\u6210\u90fd\u8292\u610f\u8f6f\u4ef6\u6280\u672f\u6709\u9650\u516c\u53f8&quot;,&quot;PropagateID&quot;:&quot;a24b424bce6568a93a58ae233343578e&quot;,&quot;ReservedCode2&quot;:&quot;a9cd0ff3233fd61e180d94310b46bbebd147b489703df64dd240d99ee09e0d5b&quot;}"/>
  <p:tag name="TASKID" val="ec491838c201e1981ca5fb924ad5bf7d"/>
  <p:tag name="THEMEID" val="2810a8e3-6a82-4c7f-89b2-2e617314ca45-them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74604ce6-937b-409f-8f83-ec6b950e040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74604ce6-937b-409f-8f83-ec6b950e040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93bb95d8-f2cb-4f98-8f9d-c39327c109a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74604ce6-937b-409f-8f83-ec6b950e040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74604ce6-937b-409f-8f83-ec6b950e040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86277aa3-56b2-4bf9-bd60-6cd95a81d6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26e73eba-67b5-488e-b96e-6dca80e01a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e70c0be8-0354-4aae-81fa-03349297afcb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e70c0be8-0354-4aae-81fa-03349297afcb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e70c0be8-0354-4aae-81fa-03349297afcb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e70c0be8-0354-4aae-81fa-03349297afcb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e70c0be8-0354-4aae-81fa-03349297afcb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e70c0be8-0354-4aae-81fa-03349297afcb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c9937ce7-a1ae-44a7-87ae-3df0086261a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4c3d0738-7fd2-405a-91dc-7fe704da5ef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4c3d0738-7fd2-405a-91dc-7fe704da5ef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4c3d0738-7fd2-405a-91dc-7fe704da5ef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4c3d0738-7fd2-405a-91dc-7fe704da5ef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4c3d0738-7fd2-405a-91dc-7fe704da5efd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2349A2"/>
      </a:accent1>
      <a:accent2>
        <a:srgbClr val="5CACA3"/>
      </a:accent2>
      <a:accent3>
        <a:srgbClr val="717FB0"/>
      </a:accent3>
      <a:accent4>
        <a:srgbClr val="A47558"/>
      </a:accent4>
      <a:accent5>
        <a:srgbClr val="B24E6A"/>
      </a:accent5>
      <a:accent6>
        <a:srgbClr val="7B70B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Cappt Presentation Template</Template>
  <TotalTime>74</TotalTime>
  <Words>477</Words>
  <Application>Microsoft Office PowerPoint</Application>
  <PresentationFormat>宽屏</PresentationFormat>
  <Paragraphs>117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quote-cjk-patch</vt:lpstr>
      <vt:lpstr>Arial</vt:lpstr>
      <vt:lpstr>Designed by iSlide</vt:lpstr>
      <vt:lpstr>FoundRoot: Towards Foundation Model for Root Cause Analysis via Structured Deep Thinking</vt:lpstr>
      <vt:lpstr>Background</vt:lpstr>
      <vt:lpstr>Background</vt:lpstr>
      <vt:lpstr>Existing methods and limitations</vt:lpstr>
      <vt:lpstr>Deep Thinking</vt:lpstr>
      <vt:lpstr>Structured Deep Thinking</vt:lpstr>
      <vt:lpstr>Structured Deep Thinking </vt:lpstr>
      <vt:lpstr>PowerPoint 演示文稿</vt:lpstr>
      <vt:lpstr>Data and Model Training Pipelines </vt:lpstr>
      <vt:lpstr>Curation of Datasets Dataset Construction</vt:lpstr>
      <vt:lpstr>PowerPoint 演示文稿</vt:lpstr>
      <vt:lpstr>Curation of Datasets Data Augmentation</vt:lpstr>
      <vt:lpstr>Curation of Datasets Warm-Up SFT Dataset</vt:lpstr>
      <vt:lpstr>Model and Training Details  Warm-Up SFT</vt:lpstr>
      <vt:lpstr>Model and Training Details  RL with DAPO</vt:lpstr>
      <vt:lpstr>Evaluation</vt:lpstr>
      <vt:lpstr>Evaluation</vt:lpstr>
      <vt:lpstr>RQ1: Does FoundRoot outperform classical and LLM-based RCA methods?</vt:lpstr>
      <vt:lpstr>RQ2: How effective is structured deep thinking for RCA? </vt:lpstr>
      <vt:lpstr>RQ3: Does RL really improve reasoning performance?</vt:lpstr>
      <vt:lpstr>RQ4: Does structured deep thinking provide more generalization to unseen systems? </vt:lpstr>
      <vt:lpstr>RQ5: How do smaller and quantized variants perform?</vt:lpstr>
      <vt:lpstr>谢谢观看</vt:lpstr>
    </vt:vector>
  </TitlesOfParts>
  <Manager>Cappt</Manager>
  <Company>Cappt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FoundRoot: Towards Foundation Model for Root Cause Analysis via Structured Deep Thinking</dc:title>
  <dc:creator>Cappt</dc:creator>
  <cp:lastModifiedBy>金hui 牛</cp:lastModifiedBy>
  <cp:revision>5</cp:revision>
  <dcterms:created xsi:type="dcterms:W3CDTF">2026-03-28T03:17:02Z</dcterms:created>
  <dcterms:modified xsi:type="dcterms:W3CDTF">2026-03-29T12:23:06Z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2810a8e3-6a82-4c7f-89b2-2e617314ca45</vt:lpwstr>
  </property>
  <property fmtid="{D5CDD505-2E9C-101B-9397-08002B2CF9AE}" pid="3" name="KSOProductBuildVer">
    <vt:lpwstr>2052-12.1.0.25225</vt:lpwstr>
  </property>
  <property fmtid="{D5CDD505-2E9C-101B-9397-08002B2CF9AE}" pid="4" name="ICV">
    <vt:lpwstr>9FB23871F73049079140F157CCAEB9C1_12</vt:lpwstr>
  </property>
</Properties>
</file>