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5" r:id="rId11"/>
    <p:sldId id="263" r:id="rId12"/>
    <p:sldId id="264"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3" r:id="rId26"/>
    <p:sldId id="284" r:id="rId27"/>
    <p:sldId id="278"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710" autoAdjust="0"/>
  </p:normalViewPr>
  <p:slideViewPr>
    <p:cSldViewPr snapToGrid="0">
      <p:cViewPr varScale="1">
        <p:scale>
          <a:sx n="91" d="100"/>
          <a:sy n="91" d="100"/>
        </p:scale>
        <p:origin x="11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B283A-8D39-4727-A7B7-3BDCF9B903E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445426-31C5-4BF1-95F8-7D33792AB6C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我今天要汇报的是</a:t>
            </a:r>
            <a:r>
              <a:rPr lang="en-US" altLang="zh-CN" dirty="0"/>
              <a:t>ACL2025</a:t>
            </a:r>
            <a:r>
              <a:rPr lang="zh-CN" altLang="en-US" dirty="0"/>
              <a:t>的一篇论文，这是一篇用群体智能体来进行社交网络模拟的论文。</a:t>
            </a:r>
            <a:endParaRPr lang="zh-CN" altLang="en-US"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首先是背景部分</a:t>
            </a:r>
            <a:endParaRPr lang="en-US" altLang="zh-CN" dirty="0"/>
          </a:p>
          <a:p>
            <a:r>
              <a:rPr lang="zh-CN" altLang="en-US" dirty="0"/>
              <a:t>在线社交网络已成为社交活动的主要平台，用户在此开展聊天、发帖、内容分享等多种互动行为。</a:t>
            </a:r>
            <a:endParaRPr lang="en-US" altLang="zh-CN" dirty="0"/>
          </a:p>
          <a:p>
            <a:r>
              <a:rPr lang="zh-CN" altLang="en-US" dirty="0"/>
              <a:t>社交网络模拟旨在对这些网络中个体或实体之间的行为、关系和信息流进行建模以此来理解真实世界的动态规律</a:t>
            </a:r>
            <a:endParaRPr lang="en-US" altLang="zh-CN" dirty="0"/>
          </a:p>
          <a:p>
            <a:r>
              <a:rPr lang="zh-CN" altLang="en-US" dirty="0"/>
              <a:t>社交网络模拟是分析和预测这些交互产生的结果，并可用于群体行为，现象预测，策略优化以及商业战略优化等广泛应用</a:t>
            </a:r>
            <a:endParaRPr lang="zh-CN" altLang="en-US"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然后是遇到的挑战</a:t>
            </a:r>
            <a:endParaRPr lang="en-US" altLang="zh-CN" dirty="0"/>
          </a:p>
          <a:p>
            <a:r>
              <a:rPr lang="zh-CN" altLang="en-US" dirty="0"/>
              <a:t>传统社交网络模拟往往低估了社交行为的异质性和社会结构的动态性</a:t>
            </a:r>
            <a:endParaRPr lang="en-US" altLang="zh-CN" dirty="0"/>
          </a:p>
          <a:p>
            <a:r>
              <a:rPr lang="zh-CN" altLang="en-US" dirty="0"/>
              <a:t>近年来，社交网络模拟领域的研究倾向于</a:t>
            </a:r>
            <a:r>
              <a:rPr lang="zh-CN" altLang="en-US" sz="1200" b="0" kern="1200" dirty="0">
                <a:solidFill>
                  <a:schemeClr val="tx1"/>
                </a:solidFill>
                <a:effectLst/>
                <a:latin typeface="+mn-lt"/>
                <a:ea typeface="+mn-ea"/>
                <a:cs typeface="+mn-cs"/>
              </a:rPr>
              <a:t>使用基于大语言模型（</a:t>
            </a:r>
            <a:r>
              <a:rPr lang="en-US" altLang="zh-CN" sz="1200" b="0" kern="1200" dirty="0">
                <a:solidFill>
                  <a:schemeClr val="tx1"/>
                </a:solidFill>
                <a:effectLst/>
                <a:latin typeface="+mn-lt"/>
                <a:ea typeface="+mn-ea"/>
                <a:cs typeface="+mn-cs"/>
              </a:rPr>
              <a:t>LLM</a:t>
            </a:r>
            <a:r>
              <a:rPr lang="zh-CN" altLang="en-US" sz="1200" b="0" kern="1200" dirty="0">
                <a:solidFill>
                  <a:schemeClr val="tx1"/>
                </a:solidFill>
                <a:effectLst/>
                <a:latin typeface="+mn-lt"/>
                <a:ea typeface="+mn-ea"/>
                <a:cs typeface="+mn-cs"/>
              </a:rPr>
              <a:t>）的智能体来模拟单个实体及其行为</a:t>
            </a:r>
            <a:r>
              <a:rPr lang="zh-CN" altLang="en-US" dirty="0"/>
              <a:t>。然而，社交网络拥有数十亿用户，</a:t>
            </a:r>
            <a:r>
              <a:rPr lang="zh-CN" altLang="en-US" sz="1200" b="0" kern="1200" dirty="0">
                <a:solidFill>
                  <a:schemeClr val="tx1"/>
                </a:solidFill>
                <a:effectLst/>
                <a:latin typeface="+mn-lt"/>
                <a:ea typeface="+mn-ea"/>
                <a:cs typeface="+mn-cs"/>
              </a:rPr>
              <a:t>通过 </a:t>
            </a:r>
            <a:r>
              <a:rPr lang="en-US" altLang="zh-CN" sz="1200" b="0" kern="1200" dirty="0">
                <a:solidFill>
                  <a:schemeClr val="tx1"/>
                </a:solidFill>
                <a:effectLst/>
                <a:latin typeface="+mn-lt"/>
                <a:ea typeface="+mn-ea"/>
                <a:cs typeface="+mn-cs"/>
              </a:rPr>
              <a:t>LLM </a:t>
            </a:r>
            <a:r>
              <a:rPr lang="zh-CN" altLang="en-US" sz="1200" b="0" kern="1200" dirty="0">
                <a:solidFill>
                  <a:schemeClr val="tx1"/>
                </a:solidFill>
                <a:effectLst/>
                <a:latin typeface="+mn-lt"/>
                <a:ea typeface="+mn-ea"/>
                <a:cs typeface="+mn-cs"/>
              </a:rPr>
              <a:t>智能体逐一建模每个用户是不现实的</a:t>
            </a:r>
            <a:r>
              <a:rPr lang="zh-CN" altLang="en-US" dirty="0"/>
              <a:t>。</a:t>
            </a:r>
            <a:endParaRPr lang="en-US" altLang="zh-CN" dirty="0"/>
          </a:p>
          <a:p>
            <a:r>
              <a:rPr lang="zh-CN" altLang="en-US" dirty="0"/>
              <a:t>现有的社交模拟系统</a:t>
            </a:r>
            <a:r>
              <a:rPr lang="zh-CN" altLang="en-US" sz="1200" b="0" kern="1200" dirty="0">
                <a:solidFill>
                  <a:schemeClr val="tx1"/>
                </a:solidFill>
                <a:effectLst/>
                <a:latin typeface="+mn-lt"/>
                <a:ea typeface="+mn-ea"/>
                <a:cs typeface="+mn-cs"/>
              </a:rPr>
              <a:t>扩展性差</a:t>
            </a:r>
            <a:r>
              <a:rPr lang="zh-CN" altLang="en-US" dirty="0"/>
              <a:t>，且通常针对特定事件设计，</a:t>
            </a:r>
            <a:r>
              <a:rPr lang="zh-CN" altLang="en-US" sz="1200" b="0" kern="1200" dirty="0">
                <a:solidFill>
                  <a:schemeClr val="tx1"/>
                </a:solidFill>
                <a:effectLst/>
                <a:latin typeface="+mn-lt"/>
                <a:ea typeface="+mn-ea"/>
                <a:cs typeface="+mn-cs"/>
              </a:rPr>
              <a:t>无法全面覆盖互联网上的各类新闻事件</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针对数十亿个体产生的高复杂性和社交网络</a:t>
            </a:r>
            <a:r>
              <a:rPr lang="zh-CN" altLang="en-US" dirty="0"/>
              <a:t>模拟可扩展性差的挑战，</a:t>
            </a:r>
            <a:endParaRPr lang="en-US" altLang="zh-CN" dirty="0"/>
          </a:p>
          <a:p>
            <a:r>
              <a:rPr lang="zh-CN" altLang="en-US" dirty="0"/>
              <a:t>我们提出了一种基于群体智能体的综合社交网络模拟系统</a:t>
            </a:r>
            <a:r>
              <a:rPr lang="en-US" altLang="zh-CN" dirty="0"/>
              <a:t>( GA-S3 )</a:t>
            </a:r>
            <a:r>
              <a:rPr lang="zh-CN" altLang="en-US" dirty="0"/>
              <a:t>。</a:t>
            </a:r>
            <a:endParaRPr lang="en-US" altLang="zh-CN" dirty="0"/>
          </a:p>
          <a:p>
            <a:r>
              <a:rPr lang="zh-CN" altLang="en-US" dirty="0"/>
              <a:t>我们的群体智能体能够</a:t>
            </a:r>
            <a:r>
              <a:rPr lang="zh-CN" altLang="en-US" sz="1200" b="0" kern="1200" dirty="0">
                <a:solidFill>
                  <a:schemeClr val="tx1"/>
                </a:solidFill>
                <a:effectLst/>
                <a:latin typeface="+mn-lt"/>
                <a:ea typeface="+mn-ea"/>
                <a:cs typeface="+mn-cs"/>
              </a:rPr>
              <a:t>根据网络事件自适应生成用户画像</a:t>
            </a:r>
            <a:r>
              <a:rPr lang="zh-CN" altLang="en-US" dirty="0"/>
              <a:t>，确保在多样化线上环境中具备良好的可扩展性。</a:t>
            </a:r>
            <a:endParaRPr lang="en-US" altLang="zh-CN" dirty="0"/>
          </a:p>
          <a:p>
            <a:r>
              <a:rPr lang="zh-CN" altLang="en-US" dirty="0"/>
              <a:t>我们构建了一个</a:t>
            </a:r>
            <a:r>
              <a:rPr lang="zh-CN" altLang="en-US" sz="1200" b="0" kern="1200" dirty="0">
                <a:solidFill>
                  <a:schemeClr val="tx1"/>
                </a:solidFill>
                <a:effectLst/>
                <a:latin typeface="+mn-lt"/>
                <a:ea typeface="+mn-ea"/>
                <a:cs typeface="+mn-cs"/>
              </a:rPr>
              <a:t>社交网络基准数据集（</a:t>
            </a:r>
            <a:r>
              <a:rPr lang="en-US" altLang="zh-CN" sz="1200" b="0" kern="1200" dirty="0">
                <a:solidFill>
                  <a:schemeClr val="tx1"/>
                </a:solidFill>
                <a:effectLst/>
                <a:latin typeface="+mn-lt"/>
                <a:ea typeface="+mn-ea"/>
                <a:cs typeface="+mn-cs"/>
              </a:rPr>
              <a:t>SNB</a:t>
            </a:r>
            <a:r>
              <a:rPr lang="zh-CN" altLang="en-US" sz="1200" b="0" kern="1200" dirty="0">
                <a:solidFill>
                  <a:schemeClr val="tx1"/>
                </a:solidFill>
                <a:effectLst/>
                <a:latin typeface="+mn-lt"/>
                <a:ea typeface="+mn-ea"/>
                <a:cs typeface="+mn-cs"/>
              </a:rPr>
              <a:t>）</a:t>
            </a:r>
            <a:r>
              <a:rPr lang="zh-CN" altLang="en-US" b="0" dirty="0"/>
              <a:t>，</a:t>
            </a:r>
            <a:r>
              <a:rPr lang="zh-CN" altLang="en-US" dirty="0"/>
              <a:t>收录了 </a:t>
            </a:r>
            <a:r>
              <a:rPr lang="en-US" altLang="zh-CN" dirty="0"/>
              <a:t>2024 </a:t>
            </a:r>
            <a:r>
              <a:rPr lang="zh-CN" altLang="en-US" dirty="0"/>
              <a:t>年跨领域的热门网络事件，并包含</a:t>
            </a:r>
            <a:r>
              <a:rPr lang="zh-CN" altLang="en-US" sz="1200" b="0" kern="1200" dirty="0">
                <a:solidFill>
                  <a:schemeClr val="tx1"/>
                </a:solidFill>
                <a:effectLst/>
                <a:latin typeface="+mn-lt"/>
                <a:ea typeface="+mn-ea"/>
                <a:cs typeface="+mn-cs"/>
              </a:rPr>
              <a:t>细粒度网络流量变化</a:t>
            </a:r>
            <a:r>
              <a:rPr lang="zh-CN" altLang="en-US" dirty="0"/>
              <a:t>的详细信息。</a:t>
            </a:r>
            <a:endParaRPr lang="en-US" altLang="zh-CN" dirty="0"/>
          </a:p>
          <a:p>
            <a:r>
              <a:rPr lang="zh-CN" altLang="en-US" dirty="0"/>
              <a:t>实验结果表明，我们的</a:t>
            </a:r>
            <a:r>
              <a:rPr lang="en-US" altLang="zh-CN" sz="1200" b="0" kern="1200" dirty="0">
                <a:solidFill>
                  <a:schemeClr val="tx1"/>
                </a:solidFill>
                <a:effectLst/>
                <a:latin typeface="+mn-lt"/>
                <a:ea typeface="+mn-ea"/>
                <a:cs typeface="+mn-cs"/>
              </a:rPr>
              <a:t>GA-S³ </a:t>
            </a:r>
            <a:r>
              <a:rPr lang="zh-CN" altLang="en-US" sz="1200" b="0" kern="1200" dirty="0">
                <a:solidFill>
                  <a:schemeClr val="tx1"/>
                </a:solidFill>
                <a:effectLst/>
                <a:latin typeface="+mn-lt"/>
                <a:ea typeface="+mn-ea"/>
                <a:cs typeface="+mn-cs"/>
              </a:rPr>
              <a:t>模型能够实现精准且高度逼真的预测</a:t>
            </a:r>
            <a:r>
              <a:rPr lang="zh-CN" altLang="en-US" b="0" dirty="0"/>
              <a:t>。</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这是一些相关工作，分别是</a:t>
            </a:r>
            <a:r>
              <a:rPr lang="zh-CN" altLang="en-US" dirty="0">
                <a:sym typeface="+mn-ea"/>
              </a:rPr>
              <a:t>传统的社交模拟系统、基于传统</a:t>
            </a:r>
            <a:r>
              <a:rPr lang="en-US" altLang="zh-CN" dirty="0">
                <a:sym typeface="+mn-ea"/>
              </a:rPr>
              <a:t>agent</a:t>
            </a:r>
            <a:r>
              <a:rPr lang="zh-CN" altLang="en-US" dirty="0">
                <a:sym typeface="+mn-ea"/>
              </a:rPr>
              <a:t>的社交模拟系统、基于大语言模型的社交模拟系统</a:t>
            </a:r>
            <a:endParaRPr lang="en-US" altLang="zh-CN" b="0" dirty="0"/>
          </a:p>
          <a:p>
            <a:r>
              <a:rPr lang="zh-CN" altLang="en-US" b="0" dirty="0"/>
              <a:t>传统的社交模拟系统：传统的方法，如基于事件的模拟和系统动力学模型，往往更注重预测，而非揭示因果机制，并且忽视了行为的异质性。</a:t>
            </a:r>
            <a:endParaRPr lang="zh-CN" altLang="en-US" b="0" dirty="0"/>
          </a:p>
          <a:p>
            <a:r>
              <a:rPr lang="zh-CN" altLang="en-US" b="0" dirty="0"/>
              <a:t>基于传统</a:t>
            </a:r>
            <a:r>
              <a:rPr lang="en-US" altLang="zh-CN" b="0" dirty="0"/>
              <a:t>agent</a:t>
            </a:r>
            <a:r>
              <a:rPr lang="zh-CN" altLang="en-US" b="0" dirty="0"/>
              <a:t>的社交模拟系统：基于智能体的社交模拟借助智能体技术，通过模拟个体或群体的行为与交互来对社会现象建模，每个智能体都拥有独特属性、行为规则与决策流程。通过分析这些交互，研究者可以发现行为模式。但是尽管取得了这些进展，传统的基于</a:t>
            </a:r>
            <a:r>
              <a:rPr lang="en-US" altLang="zh-CN" b="0" dirty="0"/>
              <a:t>Agent</a:t>
            </a:r>
            <a:r>
              <a:rPr lang="zh-CN" altLang="en-US" b="0" dirty="0"/>
              <a:t>的</a:t>
            </a:r>
            <a:r>
              <a:rPr lang="zh-CN" altLang="en-US" b="0" dirty="0"/>
              <a:t>模拟仍然面临着复杂性、适应性和行为真实感等方面的挑战。</a:t>
            </a:r>
            <a:endParaRPr lang="en-US" altLang="zh-CN" b="0" dirty="0"/>
          </a:p>
          <a:p>
            <a:r>
              <a:rPr lang="zh-CN" altLang="en-US" b="0" dirty="0"/>
              <a:t>基于大语言模型的社交模拟系统：人工智能和多模型技术的进步，使得由大语言模型驱动的基于智能体的社会模拟能够以稳健的理解力和适应性来应对复杂的挑战。社交网络模拟</a:t>
            </a:r>
            <a:r>
              <a:rPr lang="zh-CN" altLang="en-US" b="0" dirty="0"/>
              <a:t>系统利用</a:t>
            </a:r>
            <a:r>
              <a:rPr lang="en-US" altLang="zh-CN" b="0" dirty="0"/>
              <a:t>LLMs</a:t>
            </a:r>
            <a:r>
              <a:rPr lang="zh-CN" altLang="en-US" b="0" dirty="0"/>
              <a:t>构建了具有高级感知和推理能力的虚拟社交网络。尽管取得了这些进展，但由于个体数量庞大和行为的复杂性，在现实场景中对每个个体进行建模仍然是不切实际的。</a:t>
            </a:r>
            <a:endParaRPr lang="en-US" altLang="zh-CN"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我们的综合</a:t>
            </a:r>
            <a:r>
              <a:rPr lang="zh-CN" altLang="en-US" b="0" dirty="0"/>
              <a:t>社交网络模拟系统</a:t>
            </a:r>
            <a:r>
              <a:rPr lang="en-US" altLang="zh-CN" b="0" dirty="0"/>
              <a:t>( GA-S3 )</a:t>
            </a:r>
            <a:r>
              <a:rPr lang="zh-CN" altLang="en-US" b="0" dirty="0"/>
              <a:t>如图所示，群体智能体包括</a:t>
            </a:r>
            <a:r>
              <a:rPr lang="en-US" altLang="zh-CN" b="0" dirty="0"/>
              <a:t>3</a:t>
            </a:r>
            <a:r>
              <a:rPr lang="zh-CN" altLang="en-US" b="0" dirty="0"/>
              <a:t>个关键模块：</a:t>
            </a:r>
            <a:r>
              <a:rPr lang="zh-CN" altLang="en-US" b="0" dirty="0"/>
              <a:t>分层生成、决策推理和行</a:t>
            </a:r>
            <a:r>
              <a:rPr lang="zh-CN" altLang="en-US" b="0" dirty="0"/>
              <a:t>为。</a:t>
            </a:r>
            <a:endParaRPr lang="zh-CN" altLang="en-US" b="0" dirty="0"/>
          </a:p>
          <a:p>
            <a:r>
              <a:rPr lang="zh-CN" altLang="en-US" b="0" dirty="0"/>
              <a:t>这个图的左边是环境输入部分，</a:t>
            </a:r>
            <a:r>
              <a:rPr lang="zh-CN" altLang="en-US" dirty="0"/>
              <a:t>这是整个系统的</a:t>
            </a:r>
            <a:r>
              <a:rPr lang="zh-CN" altLang="en-US" b="0" dirty="0"/>
              <a:t>触发源</a:t>
            </a:r>
            <a:r>
              <a:rPr lang="zh-CN" altLang="en-US" dirty="0"/>
              <a:t>，模拟真实社交网络的外部信息输入，</a:t>
            </a:r>
            <a:r>
              <a:rPr lang="zh-CN" altLang="en-US" b="0" dirty="0"/>
              <a:t>（例如图中</a:t>
            </a:r>
            <a:r>
              <a:rPr lang="zh-CN" altLang="en-US" b="0" dirty="0"/>
              <a:t>是特朗普遇袭事件）</a:t>
            </a:r>
            <a:endParaRPr lang="zh-CN" altLang="en-US" b="0" dirty="0"/>
          </a:p>
          <a:p>
            <a:r>
              <a:rPr lang="zh-CN" altLang="en-US" b="0" dirty="0"/>
              <a:t>上面这是分层生成，旨在根据给定的网络环境事件自动构建群体智能体，从环境和内容两方面塑造其感知，</a:t>
            </a:r>
            <a:r>
              <a:rPr lang="zh-CN" altLang="en-US" dirty="0"/>
              <a:t>解决「如何生成符合真实人口结构的群体智能体」的问题</a:t>
            </a:r>
            <a:r>
              <a:rPr lang="zh-CN" altLang="en-US" b="0" dirty="0"/>
              <a:t>。</a:t>
            </a:r>
            <a:endParaRPr lang="zh-CN" altLang="en-US" b="0" dirty="0"/>
          </a:p>
          <a:p>
            <a:r>
              <a:rPr lang="zh-CN" altLang="en-US" b="0" dirty="0"/>
              <a:t>决策推理作为智能体的核心，类似于人脑，通过对感知内容与角色属性进行推理来模拟人的决策。</a:t>
            </a:r>
            <a:endParaRPr lang="zh-CN" altLang="en-US" b="0" dirty="0"/>
          </a:p>
          <a:p>
            <a:r>
              <a:rPr lang="zh-CN" altLang="en-US" b="0" dirty="0"/>
              <a:t>行为模块是模拟</a:t>
            </a:r>
            <a:r>
              <a:rPr lang="zh-CN" altLang="en-US" dirty="0"/>
              <a:t>真实社交平台的用户行为</a:t>
            </a:r>
            <a:r>
              <a:rPr lang="zh-CN" altLang="en-US" b="0" dirty="0"/>
              <a:t>，并根据决策实现与网络实体或其他智能体的交互。</a:t>
            </a:r>
            <a:r>
              <a:rPr lang="zh-CN" altLang="en-US" dirty="0"/>
              <a:t>行为执行的结果会通过「</a:t>
            </a:r>
            <a:r>
              <a:rPr lang="en-US" altLang="zh-CN" dirty="0"/>
              <a:t>Update</a:t>
            </a:r>
            <a:r>
              <a:rPr lang="zh-CN" altLang="en-US" dirty="0"/>
              <a:t>」箭头</a:t>
            </a:r>
            <a:r>
              <a:rPr lang="zh-CN" altLang="en-US" b="0" dirty="0"/>
              <a:t>反向更新到决策推理模块</a:t>
            </a:r>
            <a:endParaRPr lang="en-US" altLang="zh-CN" b="0" dirty="0"/>
          </a:p>
          <a:p>
            <a:r>
              <a:rPr lang="zh-CN" altLang="en-US" b="0" dirty="0"/>
              <a:t>具体的</a:t>
            </a:r>
            <a:r>
              <a:rPr lang="zh-CN" altLang="en-US" b="0" dirty="0"/>
              <a:t>内容会在后面详细讲到</a:t>
            </a:r>
            <a:endParaRPr lang="en-US" altLang="zh-CN" b="0" dirty="0"/>
          </a:p>
          <a:p>
            <a:endParaRPr lang="en-US" altLang="zh-CN"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这是群智能体的</a:t>
            </a:r>
            <a:r>
              <a:rPr lang="zh-CN" altLang="en-US" b="0" dirty="0"/>
              <a:t>分层生成示意图。</a:t>
            </a:r>
            <a:endParaRPr lang="zh-CN" altLang="en-US" b="0" dirty="0"/>
          </a:p>
          <a:p>
            <a:r>
              <a:rPr lang="en-US" altLang="zh-CN" b="0" dirty="0"/>
              <a:t>( a )</a:t>
            </a:r>
            <a:r>
              <a:rPr lang="zh-CN" altLang="en-US" b="0" dirty="0"/>
              <a:t>是感知嵌入模块，作为感知环境的</a:t>
            </a:r>
            <a:r>
              <a:rPr lang="en-US" altLang="zh-CN" b="0" dirty="0"/>
              <a:t>"</a:t>
            </a:r>
            <a:r>
              <a:rPr lang="zh-CN" altLang="en-US" b="0" dirty="0"/>
              <a:t>眼睛</a:t>
            </a:r>
            <a:r>
              <a:rPr lang="en-US" altLang="zh-CN" b="0" dirty="0"/>
              <a:t>"</a:t>
            </a:r>
            <a:r>
              <a:rPr lang="zh-CN" altLang="en-US" b="0" dirty="0"/>
              <a:t>；用感知模块识别事件的国家、领域；</a:t>
            </a:r>
            <a:endParaRPr lang="zh-CN" altLang="en-US" b="0" dirty="0"/>
          </a:p>
          <a:p>
            <a:r>
              <a:rPr lang="en-US" altLang="zh-CN" b="0" dirty="0"/>
              <a:t>( b )</a:t>
            </a:r>
            <a:r>
              <a:rPr lang="zh-CN" altLang="en-US" b="0" dirty="0"/>
              <a:t>设计了分层多叉树模块来生成群智能体；用分层多叉树结构把人群拆成不同群体；</a:t>
            </a:r>
            <a:endParaRPr lang="zh-CN" altLang="en-US" b="0" dirty="0"/>
          </a:p>
          <a:p>
            <a:r>
              <a:rPr lang="en-US" altLang="zh-CN" b="0" dirty="0"/>
              <a:t>( c )</a:t>
            </a:r>
            <a:r>
              <a:rPr lang="zh-CN" altLang="en-US" b="0" dirty="0"/>
              <a:t>属性显示了生成智能体的基本</a:t>
            </a:r>
            <a:r>
              <a:rPr lang="zh-CN" altLang="en-US" b="0" dirty="0"/>
              <a:t>信息，输出带性格、人数、情绪等属性的群体智能体。这里我们</a:t>
            </a:r>
            <a:r>
              <a:rPr lang="zh-CN" altLang="en-US" b="0" dirty="0"/>
              <a:t>是以一个在线教育事件为例。</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0" dirty="0"/>
              <a:t>这是感知嵌入部分详细</a:t>
            </a:r>
            <a:r>
              <a:rPr lang="zh-CN" altLang="zh-CN" b="0" dirty="0"/>
              <a:t>说明。</a:t>
            </a:r>
            <a:endParaRPr lang="zh-CN" altLang="zh-CN" b="0" dirty="0"/>
          </a:p>
          <a:p>
            <a:r>
              <a:rPr lang="zh-CN" altLang="zh-CN" b="0" dirty="0"/>
              <a:t>感知</a:t>
            </a:r>
            <a:r>
              <a:rPr lang="zh-CN" altLang="en-US" b="0" dirty="0"/>
              <a:t>嵌入如同群体智能体的</a:t>
            </a:r>
            <a:r>
              <a:rPr lang="en-US" altLang="zh-CN" b="0" dirty="0"/>
              <a:t>“</a:t>
            </a:r>
            <a:r>
              <a:rPr lang="zh-CN" altLang="en-US" b="0" dirty="0"/>
              <a:t>眼睛</a:t>
            </a:r>
            <a:r>
              <a:rPr lang="en-US" altLang="zh-CN" b="0" dirty="0"/>
              <a:t>”</a:t>
            </a:r>
            <a:r>
              <a:rPr lang="zh-CN" altLang="en-US" b="0" dirty="0"/>
              <a:t>。</a:t>
            </a:r>
            <a:endParaRPr lang="zh-CN" altLang="en-US" b="0" dirty="0"/>
          </a:p>
          <a:p>
            <a:r>
              <a:rPr lang="zh-CN" altLang="en-US" b="0" dirty="0"/>
              <a:t>虚拟社交网络中出现一个新的环境事件</a:t>
            </a:r>
            <a:r>
              <a:rPr lang="en-US" altLang="zh-CN" b="0" dirty="0"/>
              <a:t> E</a:t>
            </a:r>
            <a:r>
              <a:rPr lang="zh-CN" altLang="en-US" b="0" dirty="0"/>
              <a:t>，大语言模型会自动识别并提取其内容、领域和国家，并且将其存于智能体记忆</a:t>
            </a:r>
            <a:r>
              <a:rPr lang="en-US" altLang="zh-CN" b="0" dirty="0"/>
              <a:t>M</a:t>
            </a:r>
            <a:r>
              <a:rPr lang="zh-CN" altLang="en-US" b="0" dirty="0"/>
              <a:t>中，</a:t>
            </a:r>
            <a:endParaRPr lang="zh-CN" altLang="en-US" b="0" dirty="0"/>
          </a:p>
          <a:p>
            <a:r>
              <a:rPr lang="zh-CN" altLang="en-US" b="0" dirty="0"/>
              <a:t>这些信息构成了智能体对环境与内容的基础感知，进而影响后续的推理过程与交互行为。并且，这些基础感知会随着新信息的获取而持续动态更新。</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这是分层多叉树生成</a:t>
            </a:r>
            <a:r>
              <a:rPr lang="zh-CN" altLang="en-US" dirty="0">
                <a:sym typeface="+mn-ea"/>
              </a:rPr>
              <a:t>部分</a:t>
            </a:r>
            <a:endParaRPr lang="zh-CN" altLang="en-US" dirty="0">
              <a:sym typeface="+mn-ea"/>
            </a:endParaRPr>
          </a:p>
          <a:p>
            <a:pPr marL="171450" indent="-171450">
              <a:buFont typeface="Arial" panose="020B0604020202020204" pitchFamily="34" charset="0"/>
              <a:buChar char="•"/>
            </a:pPr>
            <a:r>
              <a:rPr lang="zh-CN" altLang="en-US" dirty="0">
                <a:sym typeface="+mn-ea"/>
              </a:rPr>
              <a:t>为了综合生成具有相似行为的群体智能体，我们采用自顶向下的分层方法，将人群组织成多叉树结构。每一层的群智能体是对上一层的细粒度划分，通过提示词工程结合大语言模型，基于背景信息与环境需求生成。</a:t>
            </a:r>
            <a:r>
              <a:rPr lang="en-US" altLang="zh-CN" dirty="0">
                <a:sym typeface="+mn-ea"/>
              </a:rPr>
              <a:t>	</a:t>
            </a:r>
            <a:r>
              <a:rPr lang="zh-CN" altLang="en-US" dirty="0">
                <a:sym typeface="+mn-ea"/>
              </a:rPr>
              <a:t>从顶层大群体开始，逐层细分：教育领域</a:t>
            </a:r>
            <a:r>
              <a:rPr lang="en-US" altLang="zh-CN" dirty="0">
                <a:sym typeface="+mn-ea"/>
              </a:rPr>
              <a:t> </a:t>
            </a:r>
            <a:r>
              <a:rPr lang="en-US" altLang="en-US" dirty="0">
                <a:sym typeface="+mn-ea"/>
              </a:rPr>
              <a:t>→</a:t>
            </a:r>
            <a:r>
              <a:rPr lang="en-US" altLang="zh-CN" dirty="0">
                <a:sym typeface="+mn-ea"/>
              </a:rPr>
              <a:t> </a:t>
            </a:r>
            <a:r>
              <a:rPr lang="zh-CN" altLang="en-US" dirty="0">
                <a:sym typeface="+mn-ea"/>
              </a:rPr>
              <a:t>拆成「学生」「老师」，</a:t>
            </a:r>
            <a:r>
              <a:rPr lang="zh-CN" altLang="en-US" dirty="0">
                <a:sym typeface="+mn-ea"/>
              </a:rPr>
              <a:t>分别继续这样逐层</a:t>
            </a:r>
            <a:r>
              <a:rPr lang="zh-CN" altLang="en-US" dirty="0">
                <a:sym typeface="+mn-ea"/>
              </a:rPr>
              <a:t>拆分，同一层级的智能体共享相似行为模式</a:t>
            </a:r>
            <a:endParaRPr lang="zh-CN" altLang="en-US" dirty="0">
              <a:sym typeface="+mn-ea"/>
            </a:endParaRPr>
          </a:p>
          <a:p>
            <a:pPr marL="171450" indent="-171450">
              <a:buFont typeface="Arial" panose="020B0604020202020204" pitchFamily="34" charset="0"/>
              <a:buChar char="•"/>
            </a:pPr>
            <a:r>
              <a:rPr lang="zh-CN" altLang="en-US" dirty="0">
                <a:sym typeface="+mn-ea"/>
              </a:rPr>
              <a:t>我们还将检索增强生成技术用于自适应智能体的生成。</a:t>
            </a:r>
            <a:endParaRPr lang="zh-CN" altLang="en-US" dirty="0">
              <a:sym typeface="+mn-ea"/>
            </a:endParaRPr>
          </a:p>
          <a:p>
            <a:pPr indent="0">
              <a:buFont typeface="Arial" panose="020B0604020202020204" pitchFamily="34" charset="0"/>
              <a:buNone/>
            </a:pPr>
            <a:r>
              <a:rPr lang="zh-CN" altLang="en-US" dirty="0">
                <a:sym typeface="+mn-ea"/>
              </a:rPr>
              <a:t>具体来说，当接收到一个在线事件</a:t>
            </a:r>
            <a:r>
              <a:rPr lang="en-US" altLang="zh-CN" dirty="0">
                <a:sym typeface="+mn-ea"/>
              </a:rPr>
              <a:t>E</a:t>
            </a:r>
            <a:r>
              <a:rPr lang="zh-CN" altLang="en-US" dirty="0">
                <a:sym typeface="+mn-ea"/>
              </a:rPr>
              <a:t>时，系统分析内容确定领域和国家，利用具备网络搜索能力的大语言模型，检索对应国家和领域的人口数据，并将数据本地存储。将该数据整合到本地分层知识图谱中（图</a:t>
            </a:r>
            <a:r>
              <a:rPr lang="en-US" altLang="zh-CN" dirty="0">
                <a:sym typeface="+mn-ea"/>
              </a:rPr>
              <a:t> 2 (b)</a:t>
            </a:r>
            <a:r>
              <a:rPr lang="zh-CN" altLang="en-US" dirty="0">
                <a:sym typeface="+mn-ea"/>
              </a:rPr>
              <a:t>）：若事件的国家和领域相同，则对应同一组智能体；若国家或领域不同，则生成不同组智能体。</a:t>
            </a:r>
            <a:r>
              <a:rPr lang="zh-CN" altLang="en-US" b="0" dirty="0"/>
              <a:t>对于后续事件，若对应国家和领域信息已存在，则通过广度优先搜索（</a:t>
            </a:r>
            <a:r>
              <a:rPr lang="en-US" altLang="zh-CN" b="0" dirty="0"/>
              <a:t>BFS</a:t>
            </a:r>
            <a:r>
              <a:rPr lang="zh-CN" altLang="en-US" b="0" dirty="0"/>
              <a:t>）算法直接从知识图谱的第</a:t>
            </a:r>
            <a:r>
              <a:rPr lang="en-US" altLang="zh-CN" b="0" dirty="0"/>
              <a:t> n </a:t>
            </a:r>
            <a:r>
              <a:rPr lang="zh-CN" altLang="en-US" b="0" dirty="0"/>
              <a:t>层检索，保证高效遍历。最后，大语言模型基于第</a:t>
            </a:r>
            <a:r>
              <a:rPr lang="en-US" altLang="zh-CN" b="0" dirty="0"/>
              <a:t> n </a:t>
            </a:r>
            <a:r>
              <a:rPr lang="zh-CN" altLang="en-US" b="0" dirty="0"/>
              <a:t>层信息生成</a:t>
            </a:r>
            <a:r>
              <a:rPr lang="en-US" altLang="zh-CN" b="0" dirty="0"/>
              <a:t> n </a:t>
            </a:r>
            <a:r>
              <a:rPr lang="zh-CN" altLang="en-US" b="0" dirty="0"/>
              <a:t>个群体智能体（附录表</a:t>
            </a:r>
            <a:r>
              <a:rPr lang="en-US" altLang="zh-CN" b="0" dirty="0"/>
              <a:t> VIII</a:t>
            </a:r>
            <a:r>
              <a:rPr lang="zh-CN" altLang="en-US" b="0" dirty="0"/>
              <a:t>所示）。</a:t>
            </a:r>
            <a:endParaRPr lang="zh-CN" altLang="en-US" b="0" dirty="0"/>
          </a:p>
          <a:p>
            <a:endParaRPr lang="en-US" altLang="zh-CN"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最后是层次生成的最后一部分，</a:t>
            </a:r>
            <a:r>
              <a:rPr lang="zh-CN" altLang="en-US" dirty="0">
                <a:sym typeface="+mn-ea"/>
              </a:rPr>
              <a:t>属性</a:t>
            </a:r>
            <a:endParaRPr lang="zh-CN" altLang="en-US" dirty="0">
              <a:sym typeface="+mn-ea"/>
            </a:endParaRPr>
          </a:p>
          <a:p>
            <a:r>
              <a:rPr lang="zh-CN" altLang="en-US" b="0" dirty="0"/>
              <a:t>生成的群体智能体包括</a:t>
            </a:r>
            <a:r>
              <a:rPr lang="en-US" altLang="zh-CN" b="0" dirty="0"/>
              <a:t>ID</a:t>
            </a:r>
            <a:r>
              <a:rPr lang="zh-CN" altLang="en-US" b="0" dirty="0"/>
              <a:t>、人口、国家、</a:t>
            </a:r>
            <a:r>
              <a:rPr lang="zh-CN" altLang="en-US" b="0" dirty="0"/>
              <a:t>性格、情感和态度。</a:t>
            </a:r>
            <a:r>
              <a:rPr lang="en-US" altLang="zh-CN" b="0" dirty="0"/>
              <a:t>ID</a:t>
            </a:r>
            <a:r>
              <a:rPr lang="zh-CN" altLang="en-US" b="0" dirty="0"/>
              <a:t>和国家作为每个群体的唯一标识符，而人口决定了相互作用的频率和强度。</a:t>
            </a:r>
            <a:endParaRPr lang="zh-CN" altLang="en-US" b="0" dirty="0"/>
          </a:p>
          <a:p>
            <a:r>
              <a:rPr lang="zh-CN" altLang="en-US" b="0" dirty="0"/>
              <a:t>性格，分类为</a:t>
            </a:r>
            <a:r>
              <a:rPr lang="en-US" altLang="zh-CN" b="0" dirty="0"/>
              <a:t>"</a:t>
            </a:r>
            <a:r>
              <a:rPr lang="zh-CN" altLang="en-US" b="0" dirty="0"/>
              <a:t>敏感</a:t>
            </a:r>
            <a:r>
              <a:rPr lang="en-US" altLang="zh-CN" b="0" dirty="0"/>
              <a:t>"</a:t>
            </a:r>
            <a:r>
              <a:rPr lang="zh-CN" altLang="en-US" b="0" dirty="0"/>
              <a:t>，</a:t>
            </a:r>
            <a:r>
              <a:rPr lang="en-US" altLang="zh-CN" b="0" dirty="0"/>
              <a:t>"</a:t>
            </a:r>
            <a:r>
              <a:rPr lang="zh-CN" altLang="en-US" b="0" dirty="0"/>
              <a:t>普通</a:t>
            </a:r>
            <a:r>
              <a:rPr lang="en-US" altLang="zh-CN" b="0" dirty="0"/>
              <a:t>"</a:t>
            </a:r>
            <a:r>
              <a:rPr lang="zh-CN" altLang="en-US" b="0" dirty="0"/>
              <a:t>和</a:t>
            </a:r>
            <a:r>
              <a:rPr lang="en-US" altLang="zh-CN" b="0" dirty="0"/>
              <a:t>"</a:t>
            </a:r>
            <a:r>
              <a:rPr lang="zh-CN" altLang="en-US" b="0" dirty="0"/>
              <a:t>平静</a:t>
            </a:r>
            <a:r>
              <a:rPr lang="en-US" altLang="zh-CN" b="0" dirty="0"/>
              <a:t>"</a:t>
            </a:r>
            <a:r>
              <a:rPr lang="zh-CN" altLang="en-US" b="0" dirty="0"/>
              <a:t>，捕获真实世界的情绪反应性和稳定性。</a:t>
            </a:r>
            <a:r>
              <a:rPr lang="en-US" altLang="zh-CN" b="0" dirty="0"/>
              <a:t>"</a:t>
            </a:r>
            <a:r>
              <a:rPr lang="zh-CN" altLang="en-US" b="0" dirty="0"/>
              <a:t>敏感</a:t>
            </a:r>
            <a:r>
              <a:rPr lang="en-US" altLang="zh-CN" b="0" dirty="0"/>
              <a:t>"</a:t>
            </a:r>
            <a:r>
              <a:rPr lang="zh-CN" altLang="en-US" b="0" dirty="0"/>
              <a:t>群体对刺激高度敏感，表现出明显的波动性；</a:t>
            </a:r>
            <a:r>
              <a:rPr lang="en-US" altLang="zh-CN" b="0" dirty="0"/>
              <a:t>"</a:t>
            </a:r>
            <a:r>
              <a:rPr lang="zh-CN" altLang="en-US" b="0" dirty="0"/>
              <a:t>普通</a:t>
            </a:r>
            <a:r>
              <a:rPr lang="en-US" altLang="zh-CN" b="0" dirty="0"/>
              <a:t>"</a:t>
            </a:r>
            <a:r>
              <a:rPr lang="zh-CN" altLang="en-US" b="0" dirty="0"/>
              <a:t>群体表现出温和而典型的行为；</a:t>
            </a:r>
            <a:r>
              <a:rPr lang="en-US" altLang="zh-CN" b="0" dirty="0"/>
              <a:t>"</a:t>
            </a:r>
            <a:r>
              <a:rPr lang="zh-CN" altLang="en-US" b="0" dirty="0"/>
              <a:t>平静</a:t>
            </a:r>
            <a:r>
              <a:rPr lang="en-US" altLang="zh-CN" b="0" dirty="0"/>
              <a:t>"</a:t>
            </a:r>
            <a:r>
              <a:rPr lang="zh-CN" altLang="en-US" b="0" dirty="0"/>
              <a:t>群体保持情绪稳定。情绪，包括高兴、悲伤和愤怒，使用指数进行量化，其中较高的值表示更大的情绪强度。态度有积极和消极之分，反映了行动者对事件或信息的总体评价</a:t>
            </a:r>
            <a:endParaRPr lang="zh-CN" altLang="en-US" b="0" dirty="0"/>
          </a:p>
          <a:p>
            <a:r>
              <a:rPr lang="zh-CN" altLang="en-US" b="0" dirty="0"/>
              <a:t>这些属性存储在智能体的状态</a:t>
            </a:r>
            <a:r>
              <a:rPr lang="en-US" altLang="zh-CN" b="0" dirty="0"/>
              <a:t>S</a:t>
            </a:r>
            <a:r>
              <a:rPr lang="zh-CN" altLang="en-US" b="0" dirty="0"/>
              <a:t>中，与感知相结合形成推理和交互，并不断更新。</a:t>
            </a:r>
            <a:endParaRPr lang="zh-CN" altLang="en-US" b="0" dirty="0"/>
          </a:p>
          <a:p>
            <a:endParaRPr lang="en-US" altLang="zh-CN"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这是决策推理模块，包括两个部分：存储和</a:t>
            </a:r>
            <a:r>
              <a:rPr lang="zh-CN" altLang="en-US" b="0" dirty="0"/>
              <a:t>思维。</a:t>
            </a:r>
            <a:endParaRPr lang="zh-CN" altLang="en-US" b="0" dirty="0"/>
          </a:p>
          <a:p>
            <a:r>
              <a:rPr lang="zh-CN" altLang="en-US" b="0" dirty="0"/>
              <a:t>我们在存储</a:t>
            </a:r>
            <a:r>
              <a:rPr lang="zh-CN" altLang="en-US" b="0" dirty="0"/>
              <a:t>部分中采用了状态和</a:t>
            </a:r>
            <a:r>
              <a:rPr lang="zh-CN" altLang="en-US" b="0" dirty="0"/>
              <a:t>记忆更新策略，可以在推理中传播和更新，辅助决策过程。</a:t>
            </a:r>
            <a:endParaRPr lang="zh-CN" altLang="en-US" b="0" dirty="0"/>
          </a:p>
          <a:p>
            <a:r>
              <a:rPr lang="zh-CN" altLang="en-US" b="0" dirty="0"/>
              <a:t>此外，我们在思维过程中应用了基于马尔科夫网络的方法来扩展信息视野。</a:t>
            </a:r>
            <a:endParaRPr lang="zh-CN" altLang="en-US" b="0" dirty="0"/>
          </a:p>
          <a:p>
            <a:r>
              <a:rPr lang="zh-CN" altLang="en-US" b="0" dirty="0"/>
              <a:t>我们还加入了细粒度的因素，这些因素紧密地反映了真实世界的效果，确保了与实际场景的一致性。</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en-US" b="0" dirty="0"/>
                  <a:t>存储</a:t>
                </a:r>
                <a:r>
                  <a:rPr lang="zh-CN" altLang="en-US" b="0" dirty="0"/>
                  <a:t>部分包括两个核心部件：状态和记忆。</a:t>
                </a:r>
                <a:endParaRPr lang="zh-CN" altLang="en-US" b="0" dirty="0"/>
              </a:p>
              <a:p>
                <a:r>
                  <a:rPr lang="zh-CN" altLang="en-US" b="0" dirty="0"/>
                  <a:t>状态</a:t>
                </a:r>
                <a:r>
                  <a:rPr lang="en-US" altLang="zh-CN" b="0" dirty="0"/>
                  <a:t>S</a:t>
                </a:r>
                <a:r>
                  <a:rPr lang="zh-CN" altLang="en-US" b="0" dirty="0"/>
                  <a:t>封装了群</a:t>
                </a:r>
                <a:r>
                  <a:rPr lang="zh-CN" altLang="en-US" b="0" dirty="0"/>
                  <a:t>智能体的属性。</a:t>
                </a:r>
                <a:endParaRPr lang="zh-CN" altLang="en-US" b="0" dirty="0"/>
              </a:p>
              <a:p>
                <a:r>
                  <a:rPr lang="zh-CN" altLang="en-US" b="0" dirty="0"/>
                  <a:t>在这里，这个</a:t>
                </a:r>
                <a14:m>
                  <m:oMath xmlns:m="http://schemas.openxmlformats.org/officeDocument/2006/math">
                    <m:r>
                      <a:rPr lang="en-US" altLang="zh-CN" b="1" i="1" dirty="0">
                        <a:latin typeface="Cambria Math" panose="02040503050406030204" charset="0"/>
                        <a:cs typeface="Cambria Math" panose="02040503050406030204" charset="0"/>
                      </a:rPr>
                      <m:t>𝜺</m:t>
                    </m:r>
                  </m:oMath>
                </a14:m>
                <a:r>
                  <a:rPr lang="zh-CN" altLang="en-US" b="0" dirty="0"/>
                  <a:t>具体代表了</a:t>
                </a:r>
                <a:r>
                  <a:rPr lang="zh-CN" altLang="en-US" b="0" dirty="0"/>
                  <a:t>智能体属性中情感和态度的组合，模拟了在真实人类群体中观察到的情感和态度模式。</a:t>
                </a:r>
                <a:endParaRPr lang="zh-CN" altLang="en-US" b="0" dirty="0"/>
              </a:p>
              <a:p>
                <a:r>
                  <a:rPr lang="zh-CN" altLang="en-US" b="0" dirty="0"/>
                  <a:t>记忆</a:t>
                </a:r>
                <a:r>
                  <a:rPr lang="en-US" altLang="zh-CN" b="0" dirty="0"/>
                  <a:t>M</a:t>
                </a:r>
                <a:r>
                  <a:rPr lang="zh-CN" altLang="en-US" b="0" dirty="0"/>
                  <a:t>基于队列更新机制，反映了人们对特定在线事件的注意力是短暂的，并且随着时间的推移而衰减。</a:t>
                </a:r>
                <a:endParaRPr lang="zh-CN" altLang="en-US" b="0" dirty="0"/>
              </a:p>
              <a:p>
                <a:r>
                  <a:rPr lang="zh-CN" altLang="en-US" b="0" dirty="0"/>
                  <a:t>具体来说，智能体的</a:t>
                </a:r>
                <a:r>
                  <a:rPr lang="en-US" altLang="zh-CN" b="0" dirty="0"/>
                  <a:t>1 )</a:t>
                </a:r>
                <a:r>
                  <a:rPr lang="zh-CN" altLang="en-US" b="0" dirty="0"/>
                  <a:t>感知、</a:t>
                </a:r>
                <a:r>
                  <a:rPr lang="en-US" altLang="zh-CN" b="0" dirty="0"/>
                  <a:t>2 )</a:t>
                </a:r>
                <a:r>
                  <a:rPr lang="zh-CN" altLang="en-US" b="0" dirty="0"/>
                  <a:t>决策和</a:t>
                </a:r>
                <a:r>
                  <a:rPr lang="en-US" altLang="zh-CN" b="0" dirty="0"/>
                  <a:t>3 )</a:t>
                </a:r>
                <a:r>
                  <a:rPr lang="zh-CN" altLang="en-US" b="0" dirty="0"/>
                  <a:t>行为存储在队列结构中，随着社交网络的演化，更新的信息取代旧的数据，导致逐渐遗忘。</a:t>
                </a:r>
                <a:endParaRPr lang="zh-CN" altLang="en-US" b="0"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为了捕获决策中智能体的状态和记忆的演化，我们采用了一个马尔可夫网络框架，状态转移定义如下：其中</a:t>
            </a:r>
            <a:r>
              <a:rPr lang="en-US" altLang="zh-CN" b="0" dirty="0"/>
              <a:t>P ( Sit )</a:t>
            </a:r>
            <a:r>
              <a:rPr lang="zh-CN" altLang="en-US" b="0" dirty="0"/>
              <a:t>表示智能体</a:t>
            </a:r>
            <a:r>
              <a:rPr lang="en-US" altLang="zh-CN" b="0" dirty="0"/>
              <a:t>i</a:t>
            </a:r>
            <a:r>
              <a:rPr lang="zh-CN" altLang="en-US" b="0" dirty="0"/>
              <a:t>在时刻</a:t>
            </a:r>
            <a:r>
              <a:rPr lang="en-US" altLang="zh-CN" b="0" dirty="0"/>
              <a:t>t</a:t>
            </a:r>
            <a:r>
              <a:rPr lang="zh-CN" altLang="en-US" b="0" dirty="0"/>
              <a:t>的状态概率分布，</a:t>
            </a:r>
            <a:r>
              <a:rPr lang="en-US" altLang="zh-CN" b="0" dirty="0"/>
              <a:t>α</a:t>
            </a:r>
            <a:r>
              <a:rPr lang="zh-CN" altLang="en-US" b="0" dirty="0"/>
              <a:t>表示控制属性衰减速率的衰落参数。</a:t>
            </a:r>
            <a:endParaRPr lang="zh-CN" altLang="en-US" b="0" dirty="0"/>
          </a:p>
          <a:p>
            <a:r>
              <a:rPr lang="zh-CN" altLang="en-US" b="0" dirty="0"/>
              <a:t>在每个时间步，根据智能体的感知</a:t>
            </a:r>
            <a:r>
              <a:rPr lang="en-US" altLang="zh-CN" b="0" dirty="0"/>
              <a:t>Oit</a:t>
            </a:r>
            <a:r>
              <a:rPr lang="zh-CN" altLang="en-US" b="0" dirty="0"/>
              <a:t>以及</a:t>
            </a:r>
            <a:r>
              <a:rPr lang="zh-CN" altLang="en-US" dirty="0">
                <a:sym typeface="+mn-ea"/>
              </a:rPr>
              <a:t>先验状态</a:t>
            </a:r>
            <a:r>
              <a:rPr lang="en-US" altLang="zh-CN" dirty="0">
                <a:sym typeface="+mn-ea"/>
              </a:rPr>
              <a:t>Sit - 1</a:t>
            </a:r>
            <a:r>
              <a:rPr lang="zh-CN" altLang="en-US" b="0" dirty="0"/>
              <a:t>更新情感响应</a:t>
            </a:r>
            <a:r>
              <a:rPr lang="en-US" altLang="zh-CN" b="0" dirty="0"/>
              <a:t>Eit</a:t>
            </a:r>
            <a:r>
              <a:rPr lang="zh-CN" altLang="en-US" b="0" dirty="0"/>
              <a:t>，</a:t>
            </a:r>
            <a:r>
              <a:rPr lang="zh-CN" altLang="en-US" b="0" dirty="0"/>
              <a:t>公式如下：</a:t>
            </a:r>
            <a:endParaRPr lang="zh-CN" altLang="en-US" b="0" dirty="0"/>
          </a:p>
          <a:p>
            <a:r>
              <a:rPr lang="zh-CN" altLang="en-US" b="0" dirty="0"/>
              <a:t>决策过程由一个</a:t>
            </a:r>
            <a:r>
              <a:rPr lang="en-US" altLang="zh-CN" b="0" dirty="0"/>
              <a:t>LLM</a:t>
            </a:r>
            <a:r>
              <a:rPr lang="zh-CN" altLang="en-US" b="0" dirty="0"/>
              <a:t>策略</a:t>
            </a:r>
            <a:r>
              <a:rPr lang="en-US" altLang="zh-CN" b="0" dirty="0"/>
              <a:t>π</a:t>
            </a:r>
            <a:r>
              <a:rPr lang="zh-CN" altLang="en-US" b="0" dirty="0"/>
              <a:t>细化，</a:t>
            </a:r>
            <a:r>
              <a:rPr lang="en-US" altLang="zh-CN" b="0" dirty="0"/>
              <a:t>π</a:t>
            </a:r>
            <a:r>
              <a:rPr lang="zh-CN" altLang="en-US" b="0" dirty="0"/>
              <a:t>根据更新后的状态</a:t>
            </a:r>
            <a:r>
              <a:rPr lang="en-US" altLang="zh-CN" b="0" dirty="0"/>
              <a:t>Sit</a:t>
            </a:r>
            <a:r>
              <a:rPr lang="zh-CN" altLang="en-US" b="0" dirty="0"/>
              <a:t>决定后续的行动</a:t>
            </a:r>
            <a:r>
              <a:rPr lang="en-US" altLang="zh-CN" b="0" dirty="0"/>
              <a:t>Ait</a:t>
            </a:r>
            <a:r>
              <a:rPr lang="zh-CN" altLang="en-US" b="0" dirty="0"/>
              <a:t>：</a:t>
            </a:r>
            <a:endParaRPr lang="zh-CN" altLang="en-US" b="0" dirty="0"/>
          </a:p>
          <a:p>
            <a:r>
              <a:rPr lang="zh-CN" altLang="en-US" b="0" dirty="0"/>
              <a:t>最后，对记忆</a:t>
            </a:r>
            <a:r>
              <a:rPr lang="en-US" altLang="zh-CN" b="0" dirty="0"/>
              <a:t>M it</a:t>
            </a:r>
            <a:r>
              <a:rPr lang="zh-CN" altLang="en-US" b="0" dirty="0"/>
              <a:t>进行更新，以反映其对先前感知和动作的积累：</a:t>
            </a:r>
            <a:endParaRPr lang="zh-CN" altLang="en-US" b="0" dirty="0"/>
          </a:p>
          <a:p>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为了增强虚拟社交网络与真实世界社交网络的相似性，我们引入了四个细粒度因子：</a:t>
            </a:r>
            <a:r>
              <a:rPr lang="en-US" altLang="zh-CN" b="0" dirty="0"/>
              <a:t>1 )</a:t>
            </a:r>
            <a:r>
              <a:rPr lang="zh-CN" altLang="en-US" b="0" dirty="0"/>
              <a:t>人口权重</a:t>
            </a:r>
            <a:r>
              <a:rPr lang="zh-CN" altLang="en-US" b="0" dirty="0"/>
              <a:t>，</a:t>
            </a:r>
            <a:r>
              <a:rPr lang="en-US" altLang="zh-CN" b="0" dirty="0"/>
              <a:t>2 )</a:t>
            </a:r>
            <a:r>
              <a:rPr lang="zh-CN" altLang="en-US" b="0" dirty="0"/>
              <a:t>群体</a:t>
            </a:r>
            <a:r>
              <a:rPr lang="zh-CN" altLang="en-US" b="0" dirty="0"/>
              <a:t>特征，</a:t>
            </a:r>
            <a:r>
              <a:rPr lang="en-US" altLang="zh-CN" b="0" dirty="0"/>
              <a:t>3 )</a:t>
            </a:r>
            <a:r>
              <a:rPr lang="zh-CN" altLang="en-US" b="0" dirty="0"/>
              <a:t>情感衰退，</a:t>
            </a:r>
            <a:r>
              <a:rPr lang="en-US" altLang="zh-CN" b="0" dirty="0"/>
              <a:t>4 )</a:t>
            </a:r>
            <a:r>
              <a:rPr lang="zh-CN" altLang="en-US" b="0" dirty="0"/>
              <a:t>遗忘概率。</a:t>
            </a:r>
            <a:endParaRPr lang="zh-CN" altLang="en-US" b="0" dirty="0"/>
          </a:p>
          <a:p>
            <a:r>
              <a:rPr lang="zh-CN" altLang="en-US" b="0" dirty="0"/>
              <a:t>人口权重来源于真实数据，影响群体的活动水平和互动频率。</a:t>
            </a:r>
            <a:endParaRPr lang="zh-CN" altLang="en-US" b="0" dirty="0"/>
          </a:p>
          <a:p>
            <a:r>
              <a:rPr lang="zh-CN" altLang="en-US" b="0" dirty="0"/>
              <a:t>群体</a:t>
            </a:r>
            <a:r>
              <a:rPr lang="zh-CN" altLang="en-US" b="0" dirty="0"/>
              <a:t>特征决定了情绪和态度波动的幅度。</a:t>
            </a:r>
            <a:endParaRPr lang="zh-CN" altLang="en-US" b="0" dirty="0"/>
          </a:p>
          <a:p>
            <a:r>
              <a:rPr lang="zh-CN" altLang="en-US" dirty="0">
                <a:sym typeface="+mn-ea"/>
              </a:rPr>
              <a:t>情感衰退</a:t>
            </a:r>
            <a:r>
              <a:rPr lang="zh-CN" altLang="en-US" b="0" dirty="0"/>
              <a:t>代表着情绪和态度随着时间的推移而逐渐衰退。</a:t>
            </a:r>
            <a:endParaRPr lang="zh-CN" altLang="en-US" b="0" dirty="0"/>
          </a:p>
          <a:p>
            <a:r>
              <a:rPr lang="zh-CN" altLang="en-US" b="0" dirty="0"/>
              <a:t>遗忘概率影响短时记忆，导致与过去知觉和事件相关的记忆逐渐消退。</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行为模块使智能体能够在线模拟人类行为，并促进多个群体之间的交互。</a:t>
            </a:r>
            <a:endParaRPr lang="zh-CN" altLang="en-US" b="0" dirty="0"/>
          </a:p>
          <a:p>
            <a:r>
              <a:rPr lang="zh-CN" altLang="en-US" b="0" dirty="0"/>
              <a:t>用户可以对一个事件项执行查看、点赞、评论、分享和预测</a:t>
            </a:r>
            <a:r>
              <a:rPr lang="zh-CN" altLang="en-US" dirty="0">
                <a:sym typeface="+mn-ea"/>
              </a:rPr>
              <a:t>操作</a:t>
            </a:r>
            <a:r>
              <a:rPr lang="zh-CN" altLang="en-US" b="0" dirty="0"/>
              <a:t>。</a:t>
            </a:r>
            <a:endParaRPr lang="zh-CN" altLang="en-US" b="0" dirty="0"/>
          </a:p>
          <a:p>
            <a:r>
              <a:rPr lang="zh-CN" altLang="en-US" b="0" dirty="0"/>
              <a:t>我们假设观看是主要的行为，并且观看的次数明显多于其他行为。</a:t>
            </a:r>
            <a:endParaRPr lang="zh-CN" altLang="en-US" b="0" dirty="0"/>
          </a:p>
          <a:p>
            <a:r>
              <a:rPr lang="zh-CN" altLang="en-US" b="0" dirty="0"/>
              <a:t>真实用户群体首先查看事件及其相关信息</a:t>
            </a:r>
            <a:r>
              <a:rPr lang="en-US" altLang="zh-CN" b="0" dirty="0"/>
              <a:t>(</a:t>
            </a:r>
            <a:r>
              <a:rPr lang="zh-CN" altLang="en-US" b="0" dirty="0"/>
              <a:t>例如</a:t>
            </a:r>
            <a:r>
              <a:rPr lang="en-US" altLang="zh-CN" b="0" dirty="0"/>
              <a:t>,</a:t>
            </a:r>
            <a:r>
              <a:rPr lang="zh-CN" altLang="en-US" b="0" dirty="0"/>
              <a:t>观点数、点赞数、评论数、分享数</a:t>
            </a:r>
            <a:r>
              <a:rPr lang="en-US" altLang="zh-CN" b="0" dirty="0"/>
              <a:t>)</a:t>
            </a:r>
            <a:r>
              <a:rPr lang="zh-CN" altLang="en-US" b="0" dirty="0"/>
              <a:t>，产生情感和态度，驱动进一步的互动和新的内容创造。</a:t>
            </a:r>
            <a:r>
              <a:rPr lang="en-US" altLang="zh-CN" b="0" dirty="0"/>
              <a:t> </a:t>
            </a:r>
            <a:r>
              <a:rPr lang="zh-CN" altLang="en-US" b="0" dirty="0"/>
              <a:t>例如，</a:t>
            </a:r>
            <a:r>
              <a:rPr lang="en-US" altLang="zh-CN" b="0" dirty="0"/>
              <a:t>10</a:t>
            </a:r>
            <a:r>
              <a:rPr lang="zh-CN" altLang="en-US" b="0" dirty="0"/>
              <a:t>，</a:t>
            </a:r>
            <a:r>
              <a:rPr lang="en-US" altLang="zh-CN" b="0" dirty="0"/>
              <a:t>000</a:t>
            </a:r>
            <a:r>
              <a:rPr lang="zh-CN" altLang="en-US" b="0" dirty="0"/>
              <a:t>名学生可能观看有关学术不端的事件，其中</a:t>
            </a:r>
            <a:r>
              <a:rPr lang="en-US" altLang="zh-CN" b="0" dirty="0"/>
              <a:t>2</a:t>
            </a:r>
            <a:r>
              <a:rPr lang="zh-CN" altLang="en-US" b="0" dirty="0"/>
              <a:t>，</a:t>
            </a:r>
            <a:r>
              <a:rPr lang="en-US" altLang="zh-CN" b="0" dirty="0"/>
              <a:t>000</a:t>
            </a:r>
            <a:r>
              <a:rPr lang="zh-CN" altLang="en-US" b="0" dirty="0"/>
              <a:t>名喜欢，</a:t>
            </a:r>
            <a:r>
              <a:rPr lang="en-US" altLang="zh-CN" b="0" dirty="0"/>
              <a:t>500</a:t>
            </a:r>
            <a:r>
              <a:rPr lang="zh-CN" altLang="en-US" b="0" dirty="0"/>
              <a:t>名分享或评论，导致事件信息的更新，并影响后续的互动。</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接下来是实验</a:t>
            </a:r>
            <a:r>
              <a:rPr lang="zh-CN" altLang="en-US" b="0" dirty="0"/>
              <a:t>部分</a:t>
            </a:r>
            <a:endParaRPr lang="zh-CN" altLang="en-US" b="0" dirty="0"/>
          </a:p>
          <a:p>
            <a:r>
              <a:rPr lang="zh-CN" altLang="en-US" b="0" dirty="0"/>
              <a:t>由于现有数据集没有网络流量的时间变化，我们开发了一个社交网络基准，</a:t>
            </a:r>
            <a:r>
              <a:rPr lang="zh-CN" altLang="en-US" b="0" dirty="0"/>
              <a:t>它包含了关于细粒度网络流量变化的详细信息。</a:t>
            </a:r>
            <a:endParaRPr lang="zh-CN" altLang="en-US" b="0" dirty="0"/>
          </a:p>
          <a:p>
            <a:r>
              <a:rPr lang="zh-CN" altLang="en-US" b="0" dirty="0"/>
              <a:t>我们的</a:t>
            </a:r>
            <a:r>
              <a:rPr lang="en-US" altLang="zh-CN" b="0" dirty="0"/>
              <a:t>SNB</a:t>
            </a:r>
            <a:r>
              <a:rPr lang="zh-CN" altLang="en-US" b="0" dirty="0"/>
              <a:t>中的数据集已经从</a:t>
            </a:r>
            <a:r>
              <a:rPr lang="en-US" altLang="zh-CN" b="0" dirty="0"/>
              <a:t>Twitter </a:t>
            </a:r>
            <a:r>
              <a:rPr lang="zh-CN" altLang="en-US" b="0" dirty="0"/>
              <a:t>，</a:t>
            </a:r>
            <a:r>
              <a:rPr lang="en-US" altLang="zh-CN" b="0" dirty="0"/>
              <a:t>Reddit</a:t>
            </a:r>
            <a:r>
              <a:rPr lang="zh-CN" altLang="en-US" b="0" dirty="0"/>
              <a:t>和微博三个主要平台上收集了</a:t>
            </a:r>
            <a:r>
              <a:rPr lang="en-US" altLang="zh-CN" b="0" dirty="0"/>
              <a:t>2024</a:t>
            </a:r>
            <a:r>
              <a:rPr lang="zh-CN" altLang="en-US" b="0" dirty="0"/>
              <a:t>个流行的在线事件。</a:t>
            </a:r>
            <a:endParaRPr lang="zh-CN" altLang="en-US" b="0" dirty="0"/>
          </a:p>
          <a:p>
            <a:r>
              <a:rPr lang="zh-CN" altLang="en-US" b="0" dirty="0"/>
              <a:t>我们的</a:t>
            </a:r>
            <a:r>
              <a:rPr lang="en-US" altLang="zh-CN" b="0" dirty="0"/>
              <a:t>SNB</a:t>
            </a:r>
            <a:r>
              <a:rPr lang="zh-CN" altLang="en-US" b="0" dirty="0"/>
              <a:t>数据集由</a:t>
            </a:r>
            <a:r>
              <a:rPr lang="en-US" altLang="zh-CN" b="0" dirty="0"/>
              <a:t>30</a:t>
            </a:r>
            <a:r>
              <a:rPr lang="zh-CN" altLang="en-US" b="0" dirty="0"/>
              <a:t>个在线事件组成，每个事件包含一个标题，内容，元数据和</a:t>
            </a:r>
            <a:r>
              <a:rPr lang="en-US" altLang="zh-CN" b="0" dirty="0"/>
              <a:t>7</a:t>
            </a:r>
            <a:r>
              <a:rPr lang="zh-CN" altLang="en-US" b="0" dirty="0"/>
              <a:t>天期间的网络流量变化。这些</a:t>
            </a:r>
            <a:r>
              <a:rPr lang="zh-CN" altLang="en-US" b="0" dirty="0"/>
              <a:t>事件涉及的领域非常广泛</a:t>
            </a:r>
            <a:r>
              <a:rPr lang="zh-CN" altLang="en-US" b="0" dirty="0"/>
              <a:t>并且分别来自不同国家，代表着不同的流行程度。</a:t>
            </a:r>
            <a:endParaRPr lang="zh-CN" altLang="en-US" b="0" dirty="0"/>
          </a:p>
          <a:p>
            <a:r>
              <a:rPr lang="zh-CN" altLang="en-US" b="0" dirty="0"/>
              <a:t>为了全面评估系统的性能，我们从多个角度选取了多个指标。使用</a:t>
            </a:r>
            <a:r>
              <a:rPr lang="en-US" altLang="zh-CN" b="1" dirty="0">
                <a:ln>
                  <a:noFill/>
                </a:ln>
                <a:effectLst/>
                <a:latin typeface="Times New Roman" panose="02020603050405020304" pitchFamily="18" charset="0"/>
                <a:cs typeface="Times New Roman" panose="02020603050405020304" pitchFamily="18" charset="0"/>
                <a:sym typeface="+mn-ea"/>
              </a:rPr>
              <a:t>t-test</a:t>
            </a:r>
            <a:r>
              <a:rPr lang="zh-CN" altLang="en-US" b="0" dirty="0"/>
              <a:t>来评估模拟和真实数据两组均值之间是否存在显著差异</a:t>
            </a:r>
            <a:r>
              <a:rPr lang="en-US" altLang="zh-CN" b="0" dirty="0"/>
              <a:t>,</a:t>
            </a:r>
            <a:r>
              <a:rPr lang="zh-CN" altLang="en-US" b="1" dirty="0"/>
              <a:t>平均绝对百分比误差</a:t>
            </a:r>
            <a:r>
              <a:rPr lang="en-US" altLang="zh-CN" b="1" dirty="0"/>
              <a:t>(MAPE)</a:t>
            </a:r>
            <a:r>
              <a:rPr lang="zh-CN" altLang="en-US" b="0" dirty="0"/>
              <a:t>提供了一个明确的、基于百分比的误差度量，使其在相对意义上评估预测精度方面有用。</a:t>
            </a:r>
            <a:r>
              <a:rPr lang="en-US" altLang="zh-CN" b="1" dirty="0"/>
              <a:t>DTW</a:t>
            </a:r>
            <a:r>
              <a:rPr lang="zh-CN" altLang="en-US" b="0" dirty="0"/>
              <a:t>用于计算事件时间段内预测和观测到的网络流量变化之间的一致性，这是附录里的计算</a:t>
            </a:r>
            <a:r>
              <a:rPr lang="zh-CN" altLang="en-US" b="0" dirty="0"/>
              <a:t>公式，</a:t>
            </a:r>
            <a:r>
              <a:rPr lang="en-US" altLang="zh-CN" b="0" dirty="0"/>
              <a:t>Z-score</a:t>
            </a:r>
            <a:r>
              <a:rPr lang="zh-CN" altLang="en-US" b="0" dirty="0"/>
              <a:t>用于评估重复结果中的误差，如果</a:t>
            </a:r>
            <a:r>
              <a:rPr lang="en-US" altLang="zh-CN" b="0" dirty="0"/>
              <a:t>Z</a:t>
            </a:r>
            <a:r>
              <a:rPr lang="zh-CN" altLang="en-US" b="0" dirty="0"/>
              <a:t>分数的绝对值小于</a:t>
            </a:r>
            <a:r>
              <a:rPr lang="en-US" altLang="zh-CN" b="0" dirty="0"/>
              <a:t>1</a:t>
            </a:r>
            <a:r>
              <a:rPr lang="zh-CN" altLang="en-US" b="0" dirty="0"/>
              <a:t>，则偏差分类为较小。</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为了进行对比评估，我们在</a:t>
            </a:r>
            <a:r>
              <a:rPr lang="en-US" altLang="zh-CN" b="0" dirty="0"/>
              <a:t>SNB</a:t>
            </a:r>
            <a:r>
              <a:rPr lang="zh-CN" altLang="en-US" b="0" dirty="0"/>
              <a:t>基准上选择并重新实现了</a:t>
            </a:r>
            <a:r>
              <a:rPr lang="en-US" altLang="zh-CN" b="0" dirty="0"/>
              <a:t>PSP</a:t>
            </a:r>
            <a:r>
              <a:rPr lang="zh-CN" altLang="en-US" b="0" dirty="0"/>
              <a:t>和</a:t>
            </a:r>
            <a:r>
              <a:rPr lang="en-US" altLang="zh-CN" b="0" dirty="0"/>
              <a:t>S3</a:t>
            </a:r>
            <a:endParaRPr lang="en-US" altLang="zh-CN" b="0" dirty="0"/>
          </a:p>
          <a:p>
            <a:r>
              <a:rPr lang="zh-CN" altLang="en-US" b="0" dirty="0"/>
              <a:t>这些方法是分别采用基于模型和基于智能体的思路</a:t>
            </a:r>
            <a:r>
              <a:rPr lang="zh-CN" altLang="en-US" b="0" dirty="0"/>
              <a:t>来实现社交</a:t>
            </a:r>
            <a:r>
              <a:rPr lang="zh-CN" altLang="en-US" b="0" dirty="0"/>
              <a:t>模拟。如表所示，我们的</a:t>
            </a:r>
            <a:r>
              <a:rPr lang="en-US" altLang="zh-CN" b="0" dirty="0"/>
              <a:t>GA - S3</a:t>
            </a:r>
            <a:r>
              <a:rPr lang="zh-CN" altLang="en-US" b="0" dirty="0"/>
              <a:t>方法在所有评价指标上都显著优于</a:t>
            </a:r>
            <a:r>
              <a:rPr lang="en-US" altLang="zh-CN" b="0" dirty="0"/>
              <a:t>PSP</a:t>
            </a:r>
            <a:r>
              <a:rPr lang="zh-CN" altLang="en-US" b="0" dirty="0"/>
              <a:t>和</a:t>
            </a:r>
            <a:r>
              <a:rPr lang="en-US" altLang="zh-CN" b="0" dirty="0"/>
              <a:t>S3</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我们对不同的模块进行</a:t>
            </a:r>
            <a:r>
              <a:rPr lang="zh-CN" altLang="en-US" b="0" dirty="0"/>
              <a:t>了消融实验</a:t>
            </a:r>
            <a:endParaRPr lang="zh-CN" altLang="en-US" b="0" dirty="0"/>
          </a:p>
          <a:p>
            <a:r>
              <a:rPr lang="zh-CN" altLang="en-US" b="0" dirty="0"/>
              <a:t>我们通过在相同条件下进行五次以上的</a:t>
            </a:r>
            <a:r>
              <a:rPr lang="zh-CN" altLang="en-US" b="0" dirty="0"/>
              <a:t>实验来评估可复现性，并使用</a:t>
            </a:r>
            <a:r>
              <a:rPr lang="en-US" altLang="zh-CN" b="0" dirty="0"/>
              <a:t>Z-score</a:t>
            </a:r>
            <a:r>
              <a:rPr lang="zh-CN" altLang="en-US" b="0" dirty="0"/>
              <a:t>来评估结果，</a:t>
            </a:r>
            <a:r>
              <a:rPr lang="en-US" altLang="zh-CN" b="0" dirty="0"/>
              <a:t>Z</a:t>
            </a:r>
            <a:r>
              <a:rPr lang="zh-CN" altLang="en-US" b="0" dirty="0"/>
              <a:t>值小于</a:t>
            </a:r>
            <a:r>
              <a:rPr lang="en-US" altLang="zh-CN" b="0" dirty="0"/>
              <a:t>3</a:t>
            </a:r>
            <a:r>
              <a:rPr lang="zh-CN" altLang="en-US" b="0" dirty="0"/>
              <a:t>通常被认为是可接受的偏差。如表中</a:t>
            </a:r>
            <a:r>
              <a:rPr lang="en-US" altLang="zh-CN" b="0" dirty="0"/>
              <a:t>(</a:t>
            </a:r>
            <a:r>
              <a:rPr lang="zh-CN" altLang="en-US" b="0" dirty="0"/>
              <a:t>线</a:t>
            </a:r>
            <a:r>
              <a:rPr lang="en-US" altLang="zh-CN" b="0" dirty="0"/>
              <a:t># 1</a:t>
            </a:r>
            <a:r>
              <a:rPr lang="zh-CN" altLang="en-US" b="0" dirty="0"/>
              <a:t>、</a:t>
            </a:r>
            <a:r>
              <a:rPr lang="en-US" altLang="zh-CN" b="0" dirty="0"/>
              <a:t># 2</a:t>
            </a:r>
            <a:r>
              <a:rPr lang="zh-CN" altLang="en-US" b="0" dirty="0"/>
              <a:t>、</a:t>
            </a:r>
            <a:r>
              <a:rPr lang="en-US" altLang="zh-CN" b="0" dirty="0"/>
              <a:t># 6)</a:t>
            </a:r>
            <a:r>
              <a:rPr lang="zh-CN" altLang="en-US" b="0" dirty="0"/>
              <a:t>所示，我们的</a:t>
            </a:r>
            <a:r>
              <a:rPr lang="en-US" altLang="zh-CN" b="0" dirty="0"/>
              <a:t>Z - score</a:t>
            </a:r>
            <a:r>
              <a:rPr lang="zh-CN" altLang="en-US" b="0" dirty="0"/>
              <a:t>始终低于</a:t>
            </a:r>
            <a:r>
              <a:rPr lang="en-US" altLang="zh-CN" b="0" dirty="0"/>
              <a:t>1</a:t>
            </a:r>
            <a:r>
              <a:rPr lang="zh-CN" altLang="en-US" b="0" dirty="0"/>
              <a:t>，表明具有极好的可</a:t>
            </a:r>
            <a:r>
              <a:rPr lang="zh-CN" altLang="en-US" b="0" dirty="0"/>
              <a:t>复现性。</a:t>
            </a:r>
            <a:endParaRPr lang="zh-CN" altLang="en-US" b="0" dirty="0"/>
          </a:p>
          <a:p>
            <a:r>
              <a:rPr lang="zh-CN" altLang="en-US" b="0" dirty="0"/>
              <a:t>我们对生成群体智能体的分层结构设计进行了消融实验。随着层次的加深，</a:t>
            </a:r>
            <a:r>
              <a:rPr lang="en-US" altLang="zh-CN" b="0" dirty="0"/>
              <a:t>Agent</a:t>
            </a:r>
            <a:r>
              <a:rPr lang="zh-CN" altLang="en-US" b="0" dirty="0"/>
              <a:t>构建的准确性提高。如表所示，实验结果证实了我们设计的有效性，其中</a:t>
            </a:r>
            <a:r>
              <a:rPr lang="en-US" altLang="zh-CN" b="0" dirty="0"/>
              <a:t>L3</a:t>
            </a:r>
            <a:r>
              <a:rPr lang="zh-CN" altLang="en-US" b="0" dirty="0"/>
              <a:t>层的模拟精度明显超过了</a:t>
            </a:r>
            <a:r>
              <a:rPr lang="en-US" altLang="zh-CN" b="0" dirty="0"/>
              <a:t>L1</a:t>
            </a:r>
            <a:r>
              <a:rPr lang="zh-CN" altLang="en-US" b="0" dirty="0"/>
              <a:t>和</a:t>
            </a:r>
            <a:r>
              <a:rPr lang="en-US" altLang="zh-CN" b="0" dirty="0"/>
              <a:t>L2</a:t>
            </a:r>
            <a:r>
              <a:rPr lang="zh-CN" altLang="en-US" b="0" dirty="0"/>
              <a:t>层。</a:t>
            </a:r>
            <a:endParaRPr lang="zh-CN" altLang="en-US" b="0" dirty="0"/>
          </a:p>
          <a:p>
            <a:r>
              <a:rPr lang="zh-CN" altLang="en-US" b="0" dirty="0"/>
              <a:t>如表</a:t>
            </a:r>
            <a:r>
              <a:rPr lang="en-US" altLang="zh-CN" b="0" dirty="0"/>
              <a:t>5</a:t>
            </a:r>
            <a:r>
              <a:rPr lang="zh-CN" altLang="en-US" b="0" dirty="0"/>
              <a:t>和</a:t>
            </a:r>
            <a:r>
              <a:rPr lang="en-US" altLang="zh-CN" b="0" dirty="0"/>
              <a:t>6</a:t>
            </a:r>
            <a:r>
              <a:rPr lang="zh-CN" altLang="en-US" b="0" dirty="0"/>
              <a:t>行所示，加入记忆模块后，</a:t>
            </a:r>
            <a:r>
              <a:rPr lang="en-US" altLang="zh-CN" b="0" dirty="0"/>
              <a:t>t</a:t>
            </a:r>
            <a:r>
              <a:rPr lang="zh-CN" altLang="en-US" b="0" dirty="0"/>
              <a:t>检验得分降低，</a:t>
            </a:r>
            <a:r>
              <a:rPr lang="en-US" altLang="zh-CN" b="0" dirty="0"/>
              <a:t>4</a:t>
            </a:r>
            <a:r>
              <a:rPr lang="zh-CN" altLang="en-US" b="0" dirty="0"/>
              <a:t>和</a:t>
            </a:r>
            <a:r>
              <a:rPr lang="en-US" altLang="zh-CN" b="0" dirty="0"/>
              <a:t>6</a:t>
            </a:r>
            <a:r>
              <a:rPr lang="zh-CN" altLang="en-US" b="0" dirty="0"/>
              <a:t>行表示加入状态模块分值降低</a:t>
            </a:r>
            <a:r>
              <a:rPr lang="en-US" altLang="zh-CN" b="0" dirty="0"/>
              <a:t> </a:t>
            </a:r>
            <a:r>
              <a:rPr lang="zh-CN" altLang="en-US" b="0" dirty="0"/>
              <a:t>。这些结果有力地验证了记忆和状态更新模块在我们的</a:t>
            </a:r>
            <a:r>
              <a:rPr lang="zh-CN" altLang="en-US" b="0" dirty="0"/>
              <a:t>系统中的关键作用。</a:t>
            </a:r>
            <a:endParaRPr lang="zh-CN" altLang="en-US" b="0" dirty="0"/>
          </a:p>
          <a:p>
            <a:r>
              <a:rPr lang="zh-CN" altLang="en-US" b="0" dirty="0"/>
              <a:t>我们分析了四种不同的在线行为的结果：浏览，点赞，评论和分享。实验结果如这个表所示，在</a:t>
            </a:r>
            <a:r>
              <a:rPr lang="en-US" altLang="zh-CN" b="0" dirty="0"/>
              <a:t>t - test</a:t>
            </a:r>
            <a:r>
              <a:rPr lang="zh-CN" altLang="en-US" b="0" dirty="0"/>
              <a:t>得分下，尽管浏览量远高于其他三类行为，但模型对全部四种行为都实现了高精度建模。（</a:t>
            </a:r>
            <a:r>
              <a:rPr lang="en-US" altLang="zh-CN" b="0" dirty="0"/>
              <a:t>t-test </a:t>
            </a:r>
            <a:r>
              <a:rPr lang="zh-CN" altLang="en-US" b="0" dirty="0"/>
              <a:t>分数都接近</a:t>
            </a:r>
            <a:r>
              <a:rPr lang="en-US" altLang="zh-CN" b="0" dirty="0"/>
              <a:t> 0</a:t>
            </a:r>
            <a:r>
              <a:rPr lang="zh-CN" altLang="en-US" b="0" dirty="0"/>
              <a:t>，说明和真实数据差异很小）</a:t>
            </a:r>
            <a:r>
              <a:rPr lang="zh-CN" altLang="en-US" b="0" dirty="0"/>
              <a:t>。</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我们对为贴合真实世界而引入的四个细粒度因子</a:t>
            </a:r>
            <a:r>
              <a:rPr lang="zh-CN" altLang="en-US" b="0" dirty="0"/>
              <a:t>也进行了消融实验，包括：人口权重、群体</a:t>
            </a:r>
            <a:r>
              <a:rPr lang="zh-CN" altLang="en-US" b="0" dirty="0"/>
              <a:t>特征、情感衰退和遗忘概率。</a:t>
            </a:r>
            <a:endParaRPr lang="zh-CN" altLang="en-US" b="0" dirty="0"/>
          </a:p>
          <a:p>
            <a:r>
              <a:rPr lang="zh-CN" altLang="en-US" b="0" dirty="0"/>
              <a:t>我们在表</a:t>
            </a:r>
            <a:r>
              <a:rPr lang="en-US" altLang="zh-CN" b="0" dirty="0"/>
              <a:t> 4 </a:t>
            </a:r>
            <a:r>
              <a:rPr lang="zh-CN" altLang="en-US" b="0" dirty="0"/>
              <a:t>中展示了同领域下</a:t>
            </a:r>
            <a:r>
              <a:rPr lang="en-US" altLang="zh-CN" b="0" dirty="0"/>
              <a:t> 3 </a:t>
            </a:r>
            <a:r>
              <a:rPr lang="zh-CN" altLang="en-US" b="0" dirty="0"/>
              <a:t>个具体事件（事件</a:t>
            </a:r>
            <a:r>
              <a:rPr lang="en-US" altLang="zh-CN" b="0" dirty="0"/>
              <a:t> #2</a:t>
            </a:r>
            <a:r>
              <a:rPr lang="zh-CN" altLang="en-US" b="0" dirty="0"/>
              <a:t>、</a:t>
            </a:r>
            <a:r>
              <a:rPr lang="en-US" altLang="zh-CN" b="0" dirty="0"/>
              <a:t>#7</a:t>
            </a:r>
            <a:r>
              <a:rPr lang="zh-CN" altLang="en-US" b="0" dirty="0"/>
              <a:t>、</a:t>
            </a:r>
            <a:r>
              <a:rPr lang="en-US" altLang="zh-CN" b="0" dirty="0"/>
              <a:t>#14</a:t>
            </a:r>
            <a:r>
              <a:rPr lang="zh-CN" altLang="en-US" b="0" dirty="0"/>
              <a:t>）的详细浏览量数据。不同智能体的人口规模对网络流量</a:t>
            </a:r>
            <a:r>
              <a:rPr lang="zh-CN" altLang="en-US" b="0" dirty="0"/>
              <a:t>大小起决定性作用，浏览量占比与人口占比高度吻合；</a:t>
            </a:r>
            <a:endParaRPr lang="zh-CN" altLang="en-US" b="0" dirty="0"/>
          </a:p>
          <a:p>
            <a:r>
              <a:rPr lang="zh-CN" altLang="en-US" b="0" dirty="0"/>
              <a:t>从表</a:t>
            </a:r>
            <a:r>
              <a:rPr lang="en-US" altLang="zh-CN" b="0" dirty="0"/>
              <a:t> 4 </a:t>
            </a:r>
            <a:r>
              <a:rPr lang="zh-CN" altLang="en-US" b="0" dirty="0"/>
              <a:t>可知，全职教</a:t>
            </a:r>
            <a:r>
              <a:rPr lang="zh-CN" altLang="en-US" b="0" dirty="0"/>
              <a:t>师智能体（</a:t>
            </a:r>
            <a:r>
              <a:rPr lang="en-US" altLang="zh-CN" b="0" dirty="0"/>
              <a:t>FullTime</a:t>
            </a:r>
            <a:r>
              <a:rPr lang="zh-CN" altLang="en-US" b="0" dirty="0"/>
              <a:t>）的特征为</a:t>
            </a:r>
            <a:r>
              <a:rPr lang="en-US" altLang="zh-CN" b="0" dirty="0"/>
              <a:t> “</a:t>
            </a:r>
            <a:r>
              <a:rPr lang="zh-CN" altLang="en-US" b="0" dirty="0"/>
              <a:t>冷静（</a:t>
            </a:r>
            <a:r>
              <a:rPr lang="en-US" altLang="zh-CN" b="0" dirty="0"/>
              <a:t>calm</a:t>
            </a:r>
            <a:r>
              <a:rPr lang="zh-CN" altLang="en-US" b="0" dirty="0"/>
              <a:t>）</a:t>
            </a:r>
            <a:r>
              <a:rPr lang="en-US" altLang="zh-CN" b="0" dirty="0"/>
              <a:t>”</a:t>
            </a:r>
            <a:r>
              <a:rPr lang="zh-CN" altLang="en-US" b="0" dirty="0"/>
              <a:t>。对比图</a:t>
            </a:r>
            <a:r>
              <a:rPr lang="en-US" altLang="zh-CN" b="0" dirty="0"/>
              <a:t> 4 (b) </a:t>
            </a:r>
            <a:r>
              <a:rPr lang="zh-CN" altLang="en-US" b="0" dirty="0"/>
              <a:t>和</a:t>
            </a:r>
            <a:r>
              <a:rPr lang="en-US" altLang="zh-CN" b="0" dirty="0"/>
              <a:t> (d)</a:t>
            </a:r>
            <a:r>
              <a:rPr lang="zh-CN" altLang="en-US" b="0" dirty="0"/>
              <a:t>，我们发现移除群体特征后，全职教师的态度值会异常升高，与现实不符。这表明群体特征对特定群体角色的网络行为具有关键影响。</a:t>
            </a:r>
            <a:endParaRPr lang="zh-CN" altLang="en-US" b="0" dirty="0"/>
          </a:p>
          <a:p>
            <a:r>
              <a:rPr lang="zh-CN" altLang="en-US" b="0" dirty="0"/>
              <a:t>对于情绪衰减和遗忘概率，对比图</a:t>
            </a:r>
            <a:r>
              <a:rPr lang="en-US" altLang="zh-CN" b="0" dirty="0"/>
              <a:t> 4 (a) </a:t>
            </a:r>
            <a:r>
              <a:rPr lang="zh-CN" altLang="en-US" b="0" dirty="0"/>
              <a:t>和</a:t>
            </a:r>
            <a:r>
              <a:rPr lang="en-US" altLang="zh-CN" b="0" dirty="0"/>
              <a:t> (c) </a:t>
            </a:r>
            <a:r>
              <a:rPr lang="zh-CN" altLang="en-US" b="0" dirty="0"/>
              <a:t>可以明显看出：去掉情绪衰减和遗忘机制后，网络流量预测会出现严重失真。</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一个可能出现的问题是：同一个智能体，即使面对不同的网络事件，也可能只表现出单一、重复的行为模式。为了验证这个猜想，我们从同一教育领域中选取了三个内容差异显著的事件（如表</a:t>
            </a:r>
            <a:r>
              <a:rPr lang="en-US" altLang="zh-CN" b="0" dirty="0"/>
              <a:t> 3 </a:t>
            </a:r>
            <a:r>
              <a:rPr lang="zh-CN" altLang="en-US" b="0" dirty="0"/>
              <a:t>所示），并将这三个事件所使用的群体智能体设置为完全相同。</a:t>
            </a:r>
            <a:endParaRPr lang="zh-CN" altLang="en-US" b="0" dirty="0"/>
          </a:p>
          <a:p>
            <a:r>
              <a:rPr lang="zh-CN" altLang="en-US" b="0" dirty="0"/>
              <a:t>图</a:t>
            </a:r>
            <a:r>
              <a:rPr lang="en-US" altLang="zh-CN" b="0" dirty="0"/>
              <a:t> 3 </a:t>
            </a:r>
            <a:r>
              <a:rPr lang="zh-CN" altLang="en-US" b="0" dirty="0"/>
              <a:t>的预测结果表明：</a:t>
            </a:r>
            <a:r>
              <a:rPr lang="zh-CN" altLang="en-US" b="0" dirty="0"/>
              <a:t>我们的智能体在不同事件下能够表现出相当丰富的行为多样性，预测曲线与真实数据高度吻合。这证明我们的智能体能够对不同事件做出差异化反应，与现实世界中的人类行为一致。</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图</a:t>
            </a:r>
            <a:r>
              <a:rPr lang="en-US" altLang="zh-CN" b="0" dirty="0"/>
              <a:t> 4 (a) </a:t>
            </a:r>
            <a:r>
              <a:rPr lang="zh-CN" altLang="en-US" b="0" dirty="0"/>
              <a:t>和</a:t>
            </a:r>
            <a:r>
              <a:rPr lang="en-US" altLang="zh-CN" b="0" dirty="0"/>
              <a:t> (b) </a:t>
            </a:r>
            <a:r>
              <a:rPr lang="zh-CN" altLang="en-US" b="0" dirty="0"/>
              <a:t>展示了事件</a:t>
            </a:r>
            <a:r>
              <a:rPr lang="en-US" altLang="zh-CN" b="0" dirty="0"/>
              <a:t> #2 </a:t>
            </a:r>
            <a:r>
              <a:rPr lang="zh-CN" altLang="en-US" b="0" dirty="0"/>
              <a:t>中</a:t>
            </a:r>
            <a:r>
              <a:rPr lang="en-US" altLang="zh-CN" b="0" dirty="0"/>
              <a:t> 3 </a:t>
            </a:r>
            <a:r>
              <a:rPr lang="zh-CN" altLang="en-US" b="0" dirty="0"/>
              <a:t>个不同智能体的情感与态度变化趋势。</a:t>
            </a:r>
            <a:endParaRPr lang="zh-CN" altLang="en-US" b="0" dirty="0"/>
          </a:p>
          <a:p>
            <a:r>
              <a:rPr lang="zh-CN" altLang="en-US" b="0" dirty="0"/>
              <a:t>将其与图</a:t>
            </a:r>
            <a:r>
              <a:rPr lang="en-US" altLang="zh-CN" b="0" dirty="0"/>
              <a:t> 3 </a:t>
            </a:r>
            <a:r>
              <a:rPr lang="zh-CN" altLang="en-US" b="0" dirty="0"/>
              <a:t>中蓝色线所示的网络流量对比后，我们发现：情感与态度存在两个峰值，且与流量变化趋势基本对齐；</a:t>
            </a:r>
            <a:endParaRPr lang="zh-CN" altLang="en-US" b="0" dirty="0"/>
          </a:p>
          <a:p>
            <a:r>
              <a:rPr lang="zh-CN" altLang="en-US" b="0" dirty="0"/>
              <a:t>但情感</a:t>
            </a:r>
            <a:r>
              <a:rPr lang="en-US" altLang="zh-CN" b="0" dirty="0"/>
              <a:t> / </a:t>
            </a:r>
            <a:r>
              <a:rPr lang="zh-CN" altLang="en-US" b="0" dirty="0"/>
              <a:t>态度的第二个峰值与第一个峰值更接近，而流量的两个峰值之间差距更大。</a:t>
            </a:r>
            <a:endParaRPr lang="zh-CN" altLang="en-US" b="0" dirty="0"/>
          </a:p>
          <a:p>
            <a:r>
              <a:rPr lang="zh-CN" altLang="en-US" b="0" dirty="0"/>
              <a:t>这表明：情感</a:t>
            </a:r>
            <a:r>
              <a:rPr lang="en-US" altLang="zh-CN" b="0" dirty="0"/>
              <a:t> / </a:t>
            </a:r>
            <a:r>
              <a:rPr lang="zh-CN" altLang="en-US" b="0" dirty="0"/>
              <a:t>态度与流量并非完全线性相关，仅存在有限程度的一致性。</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这是论文附录中的一些额外</a:t>
            </a:r>
            <a:r>
              <a:rPr lang="zh-CN" altLang="en-US" b="0" dirty="0"/>
              <a:t>实验</a:t>
            </a:r>
            <a:endParaRPr lang="zh-CN" altLang="en-US" b="0" dirty="0"/>
          </a:p>
          <a:p>
            <a:r>
              <a:rPr lang="zh-CN" altLang="en-US" b="0" dirty="0"/>
              <a:t>图</a:t>
            </a:r>
            <a:r>
              <a:rPr lang="en-US" altLang="zh-CN" b="0" dirty="0"/>
              <a:t>II</a:t>
            </a:r>
            <a:r>
              <a:rPr lang="zh-CN" altLang="en-US" b="0" dirty="0"/>
              <a:t>给出了</a:t>
            </a:r>
            <a:r>
              <a:rPr lang="en-US" altLang="zh-CN" b="0" dirty="0"/>
              <a:t>4</a:t>
            </a:r>
            <a:r>
              <a:rPr lang="zh-CN" altLang="en-US" b="0" dirty="0"/>
              <a:t>种可视化方式下的实验结果对比。</a:t>
            </a:r>
            <a:endParaRPr lang="zh-CN" altLang="en-US" b="0" dirty="0"/>
          </a:p>
          <a:p>
            <a:r>
              <a:rPr lang="zh-CN" altLang="en-US" b="0" dirty="0"/>
              <a:t>图</a:t>
            </a:r>
            <a:r>
              <a:rPr lang="en-US" altLang="zh-CN" b="0" dirty="0"/>
              <a:t> (a)</a:t>
            </a:r>
            <a:r>
              <a:rPr lang="zh-CN" altLang="en-US" b="0" dirty="0"/>
              <a:t>：</a:t>
            </a:r>
            <a:r>
              <a:rPr lang="en-US" altLang="zh-CN" b="0" dirty="0"/>
              <a:t>30 </a:t>
            </a:r>
            <a:r>
              <a:rPr lang="zh-CN" altLang="en-US" b="0" dirty="0"/>
              <a:t>个事件总浏览量的散点图，预测值和真实值近似呈一条直线，说明拟合非常好。</a:t>
            </a:r>
            <a:endParaRPr lang="zh-CN" altLang="en-US" b="0" dirty="0"/>
          </a:p>
          <a:p>
            <a:r>
              <a:rPr lang="zh-CN" altLang="en-US" b="0" dirty="0"/>
              <a:t>图</a:t>
            </a:r>
            <a:r>
              <a:rPr lang="en-US" altLang="zh-CN" b="0" dirty="0"/>
              <a:t> (b)</a:t>
            </a:r>
            <a:r>
              <a:rPr lang="zh-CN" altLang="en-US" b="0" dirty="0"/>
              <a:t>：浏览量箱线图，层数越多，拟合越准确。看哪一层的浏览量预测更集中、误差更小。</a:t>
            </a:r>
            <a:endParaRPr lang="zh-CN" altLang="en-US" b="0" dirty="0"/>
          </a:p>
          <a:p>
            <a:r>
              <a:rPr lang="zh-CN" altLang="en-US" b="0" dirty="0"/>
              <a:t>图</a:t>
            </a:r>
            <a:r>
              <a:rPr lang="en-US" altLang="zh-CN" b="0" dirty="0"/>
              <a:t> (c)</a:t>
            </a:r>
            <a:r>
              <a:rPr lang="zh-CN" altLang="en-US" b="0" dirty="0"/>
              <a:t>：</a:t>
            </a:r>
            <a:r>
              <a:rPr lang="en-US" altLang="zh-CN" b="0" dirty="0"/>
              <a:t>30 </a:t>
            </a:r>
            <a:r>
              <a:rPr lang="zh-CN" altLang="en-US" b="0" dirty="0"/>
              <a:t>个事件</a:t>
            </a:r>
            <a:r>
              <a:rPr lang="en-US" altLang="zh-CN" b="0" dirty="0"/>
              <a:t> 7 </a:t>
            </a:r>
            <a:r>
              <a:rPr lang="zh-CN" altLang="en-US" b="0" dirty="0"/>
              <a:t>天趋势的</a:t>
            </a:r>
            <a:r>
              <a:rPr lang="en-US" altLang="zh-CN" b="0" dirty="0"/>
              <a:t> DTW </a:t>
            </a:r>
            <a:r>
              <a:rPr lang="zh-CN" altLang="en-US" b="0" dirty="0"/>
              <a:t>距离散点图，层数越多，</a:t>
            </a:r>
            <a:r>
              <a:rPr lang="en-US" altLang="zh-CN" b="0" dirty="0"/>
              <a:t>DTW </a:t>
            </a:r>
            <a:r>
              <a:rPr lang="zh-CN" altLang="en-US" b="0" dirty="0"/>
              <a:t>距离越小、越集中，趋势越像真实数据。</a:t>
            </a:r>
            <a:endParaRPr lang="zh-CN" altLang="en-US" b="0" dirty="0"/>
          </a:p>
          <a:p>
            <a:r>
              <a:rPr lang="zh-CN" altLang="en-US" b="0" dirty="0"/>
              <a:t>图</a:t>
            </a:r>
            <a:r>
              <a:rPr lang="en-US" altLang="zh-CN" b="0" dirty="0"/>
              <a:t> (d)</a:t>
            </a:r>
            <a:r>
              <a:rPr lang="zh-CN" altLang="en-US" b="0" dirty="0"/>
              <a:t>：</a:t>
            </a:r>
            <a:r>
              <a:rPr lang="en-US" altLang="zh-CN" b="0" dirty="0"/>
              <a:t>DTW </a:t>
            </a:r>
            <a:r>
              <a:rPr lang="zh-CN" altLang="en-US" b="0" dirty="0"/>
              <a:t>箱线图，进一步证明层数越高，误差越小。</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为了研究人口数据与宏观社交网络结构对模型泛化能力的影响，我们在两种数据缺失场景下进行了补充实验：使用</a:t>
            </a:r>
            <a:r>
              <a:rPr lang="en-US" altLang="zh-CN" b="0" dirty="0"/>
              <a:t> LLM </a:t>
            </a:r>
            <a:r>
              <a:rPr lang="zh-CN" altLang="en-US" b="0" dirty="0"/>
              <a:t>生成的人口数据，完全不用人口数据</a:t>
            </a:r>
            <a:endParaRPr lang="zh-CN" altLang="en-US" b="0" dirty="0"/>
          </a:p>
          <a:p>
            <a:r>
              <a:rPr lang="zh-CN" altLang="en-US" b="0" dirty="0"/>
              <a:t>实验结果表明，人口数据至关重要；并且</a:t>
            </a:r>
            <a:r>
              <a:rPr lang="en-US" altLang="zh-CN" b="0" dirty="0"/>
              <a:t>LLM </a:t>
            </a:r>
            <a:r>
              <a:rPr lang="zh-CN" altLang="en-US" b="0" dirty="0"/>
              <a:t>生成数据与真实数据的性能</a:t>
            </a:r>
            <a:r>
              <a:rPr lang="zh-CN" altLang="en-US" b="0" dirty="0"/>
              <a:t>相似，模型泛化性强。</a:t>
            </a:r>
            <a:endParaRPr lang="zh-CN" altLang="en-US" b="0" dirty="0"/>
          </a:p>
          <a:p>
            <a:r>
              <a:rPr lang="zh-CN" altLang="en-US" b="0" dirty="0"/>
              <a:t>表</a:t>
            </a:r>
            <a:r>
              <a:rPr lang="en-US" altLang="zh-CN" b="0" dirty="0"/>
              <a:t>4</a:t>
            </a:r>
            <a:r>
              <a:rPr lang="zh-CN" altLang="en-US" b="0" dirty="0"/>
              <a:t>是</a:t>
            </a:r>
            <a:r>
              <a:rPr lang="en-US" altLang="zh-CN" b="0" dirty="0"/>
              <a:t> </a:t>
            </a:r>
            <a:r>
              <a:rPr lang="zh-CN" altLang="en-US" b="0" dirty="0"/>
              <a:t>推理速度对比，我们的方法中每个事件的平均处理时间随着每个级别的智能体数量而变化。与</a:t>
            </a:r>
            <a:r>
              <a:rPr lang="en-US" altLang="zh-CN" b="0" dirty="0"/>
              <a:t>S3</a:t>
            </a:r>
            <a:r>
              <a:rPr lang="zh-CN" altLang="en-US" b="0" dirty="0"/>
              <a:t>方法相比，我们的方法在不同的</a:t>
            </a:r>
            <a:r>
              <a:rPr lang="zh-CN" altLang="en-US" b="0" dirty="0"/>
              <a:t>智能体配置中显示出明显更快的推理时间。</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在</a:t>
            </a:r>
            <a:r>
              <a:rPr lang="zh-CN" altLang="en-US" b="0" dirty="0"/>
              <a:t>本文中，我们介绍了一个基于群智能体的综合社会网络模拟框架。该框架有效地构建了社交网络的虚拟表示，并模拟了人类的行为。</a:t>
            </a:r>
            <a:endParaRPr lang="zh-CN" altLang="en-US" b="0" dirty="0"/>
          </a:p>
          <a:p>
            <a:r>
              <a:rPr lang="zh-CN" altLang="en-US" b="0" dirty="0"/>
              <a:t>我们设计了群体智能体，可对用户群体集合进行建模并参与社交网络交互。群体智能体包含层次生成、决策推理和动作模块，分别对应于</a:t>
            </a:r>
            <a:r>
              <a:rPr lang="zh-CN" altLang="en-US" b="0" dirty="0"/>
              <a:t>存在、决策和行为生命周期中的三个阶段。该设计能够实现具有复杂交互的大规模网络现象的模拟，同时保持可管理的计算成本。</a:t>
            </a:r>
            <a:endParaRPr lang="zh-CN" altLang="en-US" b="0" dirty="0"/>
          </a:p>
          <a:p>
            <a:r>
              <a:rPr lang="zh-CN" altLang="en-US" b="0" dirty="0"/>
              <a:t>在</a:t>
            </a:r>
            <a:r>
              <a:rPr lang="en-US" altLang="zh-CN" b="0" dirty="0"/>
              <a:t>BNS</a:t>
            </a:r>
            <a:r>
              <a:rPr lang="zh-CN" altLang="en-US" b="0" dirty="0"/>
              <a:t>基准测试集上的实验表明，我们的</a:t>
            </a:r>
            <a:r>
              <a:rPr lang="en-US" altLang="zh-CN" b="0" dirty="0"/>
              <a:t>GA - S3</a:t>
            </a:r>
            <a:r>
              <a:rPr lang="zh-CN" altLang="en-US" b="0" dirty="0"/>
              <a:t>系统提供了准确和真实的预测结果。</a:t>
            </a:r>
            <a:endParaRPr lang="zh-CN" altLang="en-US" b="0" dirty="0"/>
          </a:p>
        </p:txBody>
      </p:sp>
      <p:sp>
        <p:nvSpPr>
          <p:cNvPr id="4" name="灯片编号占位符 3"/>
          <p:cNvSpPr>
            <a:spLocks noGrp="1"/>
          </p:cNvSpPr>
          <p:nvPr>
            <p:ph type="sldNum" sz="quarter" idx="5"/>
          </p:nvPr>
        </p:nvSpPr>
        <p:spPr/>
        <p:txBody>
          <a:bodyPr/>
          <a:lstStyle/>
          <a:p>
            <a:fld id="{29445426-31C5-4BF1-95F8-7D33792AB6C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9A09865-64EA-4A94-A497-3699F2158BF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9DFCCA-BBF7-4673-9EB4-31A78BE5472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09865-64EA-4A94-A497-3699F2158BF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9DFCCA-BBF7-4673-9EB4-31A78BE5472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09865-64EA-4A94-A497-3699F2158BF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9DFCCA-BBF7-4673-9EB4-31A78BE5472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41823"/>
            <a:ext cx="9144000" cy="1655763"/>
          </a:xfrm>
        </p:spPr>
        <p:txBody>
          <a:bodyPr>
            <a:normAutofit/>
          </a:bodyPr>
          <a:lstStyle/>
          <a:p>
            <a:r>
              <a:rPr lang="en-US" altLang="zh-CN" sz="4400" dirty="0">
                <a:latin typeface="Times New Roman" panose="02020603050405020304" pitchFamily="18" charset="0"/>
                <a:cs typeface="Times New Roman" panose="02020603050405020304" pitchFamily="18" charset="0"/>
              </a:rPr>
              <a:t>GA-S</a:t>
            </a:r>
            <a:r>
              <a:rPr lang="en-US" altLang="zh-CN" sz="4400" baseline="50000" dirty="0">
                <a:latin typeface="Times New Roman" panose="02020603050405020304" pitchFamily="18" charset="0"/>
                <a:cs typeface="Times New Roman" panose="02020603050405020304" pitchFamily="18" charset="0"/>
              </a:rPr>
              <a:t>3</a:t>
            </a:r>
            <a:r>
              <a:rPr lang="en-US" altLang="zh-CN" sz="4400" dirty="0">
                <a:latin typeface="Times New Roman" panose="02020603050405020304" pitchFamily="18" charset="0"/>
                <a:cs typeface="Times New Roman" panose="02020603050405020304" pitchFamily="18" charset="0"/>
              </a:rPr>
              <a:t> Comprehensive Social Network Simulation with Group Agents</a:t>
            </a:r>
            <a:endParaRPr lang="zh-CN" altLang="en-US" sz="4400" dirty="0">
              <a:latin typeface="Times New Roman" panose="02020603050405020304" pitchFamily="18" charset="0"/>
              <a:cs typeface="Times New Roman" panose="02020603050405020304" pitchFamily="18" charset="0"/>
            </a:endParaRPr>
          </a:p>
        </p:txBody>
      </p:sp>
      <p:sp>
        <p:nvSpPr>
          <p:cNvPr id="3" name="副标题 2"/>
          <p:cNvSpPr>
            <a:spLocks noGrp="1"/>
          </p:cNvSpPr>
          <p:nvPr>
            <p:ph type="subTitle" idx="1"/>
          </p:nvPr>
        </p:nvSpPr>
        <p:spPr>
          <a:xfrm>
            <a:off x="1524000" y="3429000"/>
            <a:ext cx="9144000" cy="1655762"/>
          </a:xfrm>
        </p:spPr>
        <p:txBody>
          <a:bodyPr/>
          <a:lstStyle/>
          <a:p>
            <a:r>
              <a:rPr lang="en-US" altLang="zh-CN" dirty="0" err="1"/>
              <a:t>Yunyao</a:t>
            </a:r>
            <a:r>
              <a:rPr lang="en-US" altLang="zh-CN" dirty="0"/>
              <a:t> Zhang1, </a:t>
            </a:r>
            <a:r>
              <a:rPr lang="en-US" altLang="zh-CN" dirty="0" err="1"/>
              <a:t>Zikai</a:t>
            </a:r>
            <a:r>
              <a:rPr lang="en-US" altLang="zh-CN" dirty="0"/>
              <a:t> Song1*, Hang Zhou1, </a:t>
            </a:r>
            <a:r>
              <a:rPr lang="en-US" altLang="zh-CN" dirty="0" err="1"/>
              <a:t>Wenfeng</a:t>
            </a:r>
            <a:r>
              <a:rPr lang="en-US" altLang="zh-CN" dirty="0"/>
              <a:t> Ren2,  Yi-Ping Phoebe Chen3, Junqing Yu1, Wei Yang1</a:t>
            </a:r>
            <a:endParaRPr lang="en-US" altLang="zh-CN" dirty="0"/>
          </a:p>
          <a:p>
            <a:r>
              <a:rPr lang="en-US" altLang="zh-CN" dirty="0"/>
              <a:t>ACL 2025</a:t>
            </a:r>
            <a:endParaRPr lang="en-US" altLang="zh-CN"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669636" y="447819"/>
            <a:ext cx="11032837" cy="771382"/>
          </a:xfrm>
        </p:spPr>
        <p:txBody>
          <a:bodyPr>
            <a:noAutofit/>
          </a:bodyPr>
          <a:lstStyle/>
          <a:p>
            <a:pPr algn="l"/>
            <a:r>
              <a:rPr lang="en-US" altLang="zh-CN" sz="4400" b="1" dirty="0"/>
              <a:t>Background</a:t>
            </a:r>
            <a:endParaRPr lang="zh-CN" altLang="en-US" sz="4400" b="1" dirty="0"/>
          </a:p>
        </p:txBody>
      </p:sp>
      <p:sp>
        <p:nvSpPr>
          <p:cNvPr id="8" name="Rectangle 2"/>
          <p:cNvSpPr>
            <a:spLocks noGrp="1" noChangeArrowheads="1"/>
          </p:cNvSpPr>
          <p:nvPr>
            <p:ph type="subTitle" idx="1"/>
          </p:nvPr>
        </p:nvSpPr>
        <p:spPr bwMode="auto">
          <a:xfrm>
            <a:off x="669636" y="1495141"/>
            <a:ext cx="11309928"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Online social networks have emerged as primary platforms for social activities, where users engage in different interactive behaviors, including chatting, posting, and sharing content.</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Social network simulation aims to model behavior, relationships, and information diffusion to understand real-world dynamics.</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Social network simulation is to analyze and predict the outcomes that emerge from these interactions, and can be leveraged for a wide range of applications such as group behavior, phenomenon prediction, policy optimization, and business strategy development.</a:t>
            </a:r>
            <a:endPar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669636" y="447819"/>
            <a:ext cx="11032837" cy="771382"/>
          </a:xfrm>
        </p:spPr>
        <p:txBody>
          <a:bodyPr>
            <a:noAutofit/>
          </a:bodyPr>
          <a:lstStyle/>
          <a:p>
            <a:pPr algn="l"/>
            <a:r>
              <a:rPr lang="en-US" altLang="zh-CN" sz="4400" b="1" dirty="0"/>
              <a:t>Challenge</a:t>
            </a:r>
            <a:endParaRPr lang="zh-CN" altLang="en-US" sz="4400" b="1" dirty="0"/>
          </a:p>
        </p:txBody>
      </p:sp>
      <p:sp>
        <p:nvSpPr>
          <p:cNvPr id="8" name="Rectangle 2"/>
          <p:cNvSpPr>
            <a:spLocks noGrp="1" noChangeArrowheads="1"/>
          </p:cNvSpPr>
          <p:nvPr>
            <p:ph type="subTitle" idx="1"/>
          </p:nvPr>
        </p:nvSpPr>
        <p:spPr bwMode="auto">
          <a:xfrm>
            <a:off x="669636" y="1462565"/>
            <a:ext cx="11309928"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Traditional social network simulation systems often underestimate the heterogeneity of social behavior and the dynamism of social structures.</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tends on social networks simulation focus on employing the LLM based agents to simulate individual entities and their behaviors. However, it is impossible to model each user individually through LLM based agents</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social simulation systems suffer from poor scalability and are frequently designed for particular events, thereby failing to comprehensively cover news events on the Internet.</a:t>
            </a:r>
            <a:endPar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669636" y="447819"/>
            <a:ext cx="11032837" cy="771382"/>
          </a:xfrm>
        </p:spPr>
        <p:txBody>
          <a:bodyPr>
            <a:noAutofit/>
          </a:bodyPr>
          <a:lstStyle/>
          <a:p>
            <a:pPr algn="l"/>
            <a:r>
              <a:rPr lang="en-US" altLang="zh-CN" sz="4400" b="1" dirty="0"/>
              <a:t>Contribution</a:t>
            </a:r>
            <a:endParaRPr lang="zh-CN" altLang="en-US" sz="4400" b="1" dirty="0"/>
          </a:p>
        </p:txBody>
      </p:sp>
      <p:sp>
        <p:nvSpPr>
          <p:cNvPr id="8" name="Rectangle 2"/>
          <p:cNvSpPr>
            <a:spLocks noGrp="1" noChangeArrowheads="1"/>
          </p:cNvSpPr>
          <p:nvPr>
            <p:ph type="subTitle" idx="1"/>
          </p:nvPr>
        </p:nvSpPr>
        <p:spPr bwMode="auto">
          <a:xfrm>
            <a:off x="669636" y="1218143"/>
            <a:ext cx="11309928"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We propose a comprehensive social network simulation system (GA-S3) based on the intelligent agents—group agents.</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group agents can adaptively generate user profiles based on network events, ensuring scalability across diverse online environments.</a:t>
            </a:r>
            <a:endPar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developed a Social Network Benchmark that compiles popular online events from 2024 across various domains and includes detailed information on fine-grained network traffic variations. </a:t>
            </a:r>
            <a:endPar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Experimental results demonstrate that our GA-S3 model achieves accurate and highly realistic predictions.</a:t>
            </a:r>
            <a:endPar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669636" y="447819"/>
            <a:ext cx="11032837" cy="771382"/>
          </a:xfrm>
        </p:spPr>
        <p:txBody>
          <a:bodyPr>
            <a:noAutofit/>
          </a:bodyPr>
          <a:lstStyle/>
          <a:p>
            <a:pPr algn="l"/>
            <a:r>
              <a:rPr lang="en-US" altLang="zh-CN" sz="4400" b="1" dirty="0"/>
              <a:t>Related Work</a:t>
            </a:r>
            <a:endParaRPr lang="zh-CN" altLang="en-US" sz="4400" b="1" dirty="0"/>
          </a:p>
        </p:txBody>
      </p:sp>
      <p:sp>
        <p:nvSpPr>
          <p:cNvPr id="8" name="Rectangle 2"/>
          <p:cNvSpPr>
            <a:spLocks noGrp="1" noChangeArrowheads="1"/>
          </p:cNvSpPr>
          <p:nvPr>
            <p:ph type="subTitle" idx="1"/>
          </p:nvPr>
        </p:nvSpPr>
        <p:spPr bwMode="auto">
          <a:xfrm>
            <a:off x="669636" y="1463445"/>
            <a:ext cx="11309928" cy="507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l" eaLnBrk="0" fontAlgn="base" hangingPunct="0">
              <a:lnSpc>
                <a:spcPct val="150000"/>
              </a:lnSpc>
              <a:spcBef>
                <a:spcPct val="0"/>
              </a:spcBef>
              <a:spcAft>
                <a:spcPct val="0"/>
              </a:spcAft>
              <a:buFontTx/>
              <a:buChar char="•"/>
            </a:pPr>
            <a:r>
              <a:rPr lang="en-US" altLang="zh-CN" b="1" dirty="0">
                <a:latin typeface="Times New Roman" panose="02020603050405020304" pitchFamily="18" charset="0"/>
                <a:cs typeface="Times New Roman" panose="02020603050405020304" pitchFamily="18" charset="0"/>
              </a:rPr>
              <a:t>Traditional Social Simulation System: </a:t>
            </a:r>
            <a:r>
              <a:rPr lang="en-US" altLang="zh-CN" dirty="0">
                <a:latin typeface="Times New Roman" panose="02020603050405020304" pitchFamily="18" charset="0"/>
                <a:cs typeface="Times New Roman" panose="02020603050405020304" pitchFamily="18" charset="0"/>
              </a:rPr>
              <a:t>Traditional approaches often focus on prediction rather than uncovering causal mechanisms and fail to capture behavioral heterogeneity.</a:t>
            </a:r>
            <a:endParaRPr lang="en-US" altLang="zh-CN" dirty="0">
              <a:latin typeface="Times New Roman" panose="02020603050405020304" pitchFamily="18" charset="0"/>
              <a:cs typeface="Times New Roman" panose="02020603050405020304" pitchFamily="18" charset="0"/>
            </a:endParaRPr>
          </a:p>
          <a:p>
            <a:pPr algn="l" eaLnBrk="0" fontAlgn="base" hangingPunct="0">
              <a:lnSpc>
                <a:spcPct val="150000"/>
              </a:lnSpc>
              <a:spcBef>
                <a:spcPct val="0"/>
              </a:spcBef>
              <a:spcAft>
                <a:spcPct val="0"/>
              </a:spcAft>
              <a:buFontTx/>
              <a:buChar char="•"/>
            </a:pP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S3 based on Traditional Agent: </a:t>
            </a:r>
            <a:r>
              <a:rPr lang="en-US" altLang="zh-CN" dirty="0">
                <a:latin typeface="Times New Roman" panose="02020603050405020304" pitchFamily="18" charset="0"/>
                <a:cs typeface="Times New Roman" panose="02020603050405020304" pitchFamily="18" charset="0"/>
              </a:rPr>
              <a:t>Agent-based social simulations utilize agent technology to model social phenomena by simulating the behaviors and interactions of individuals or groups.</a:t>
            </a:r>
            <a:endParaRPr lang="en-US" altLang="zh-CN" b="1" dirty="0">
              <a:latin typeface="Times New Roman" panose="02020603050405020304" pitchFamily="18" charset="0"/>
              <a:cs typeface="Times New Roman" panose="02020603050405020304" pitchFamily="18" charset="0"/>
            </a:endParaRPr>
          </a:p>
          <a:p>
            <a:pPr algn="l" eaLnBrk="0" fontAlgn="base" hangingPunct="0">
              <a:lnSpc>
                <a:spcPct val="150000"/>
              </a:lnSpc>
              <a:spcBef>
                <a:spcPct val="0"/>
              </a:spcBef>
              <a:spcAft>
                <a:spcPct val="0"/>
              </a:spcAft>
              <a:buFontTx/>
              <a:buChar char="•"/>
            </a:pPr>
            <a:r>
              <a:rPr lang="en-US" altLang="zh-CN" b="1" dirty="0">
                <a:latin typeface="Times New Roman" panose="02020603050405020304" pitchFamily="18" charset="0"/>
                <a:cs typeface="Times New Roman" panose="02020603050405020304" pitchFamily="18" charset="0"/>
              </a:rPr>
              <a:t>S3 based on LLM Agent: </a:t>
            </a:r>
            <a:r>
              <a:rPr lang="en-US" altLang="zh-CN" dirty="0">
                <a:latin typeface="Times New Roman" panose="02020603050405020304" pitchFamily="18" charset="0"/>
                <a:cs typeface="Times New Roman" panose="02020603050405020304" pitchFamily="18" charset="0"/>
              </a:rPr>
              <a:t>S3 leveraged LLMs to build virtual social networks with advanced perception and reasoning. Modeling every individual in real-world scenarios remains impractical due to the vast number of individuals and the complexity of behaviors.</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endPar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669636" y="300674"/>
            <a:ext cx="11032837" cy="771382"/>
          </a:xfrm>
        </p:spPr>
        <p:txBody>
          <a:bodyPr>
            <a:noAutofit/>
          </a:bodyPr>
          <a:lstStyle/>
          <a:p>
            <a:pPr algn="l"/>
            <a:r>
              <a:rPr lang="en-US" altLang="zh-CN" sz="4400" b="1" dirty="0"/>
              <a:t>Methodology</a:t>
            </a:r>
            <a:endParaRPr lang="zh-CN" altLang="en-US" sz="4400" b="1" dirty="0"/>
          </a:p>
        </p:txBody>
      </p:sp>
      <p:pic>
        <p:nvPicPr>
          <p:cNvPr id="11" name="图片 10"/>
          <p:cNvPicPr>
            <a:picLocks noChangeAspect="1"/>
          </p:cNvPicPr>
          <p:nvPr/>
        </p:nvPicPr>
        <p:blipFill>
          <a:blip r:embed="rId1"/>
          <a:stretch>
            <a:fillRect/>
          </a:stretch>
        </p:blipFill>
        <p:spPr>
          <a:xfrm>
            <a:off x="1523999" y="1166183"/>
            <a:ext cx="8760692" cy="48034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09955" y="1243965"/>
            <a:ext cx="9608185" cy="5005705"/>
          </a:xfrm>
          <a:prstGeom prst="rect">
            <a:avLst/>
          </a:prstGeom>
        </p:spPr>
      </p:pic>
      <p:sp>
        <p:nvSpPr>
          <p:cNvPr id="8" name="文本框 7"/>
          <p:cNvSpPr txBox="1"/>
          <p:nvPr/>
        </p:nvSpPr>
        <p:spPr>
          <a:xfrm>
            <a:off x="514985" y="334010"/>
            <a:ext cx="8210550" cy="768350"/>
          </a:xfrm>
          <a:prstGeom prst="rect">
            <a:avLst/>
          </a:prstGeom>
          <a:noFill/>
        </p:spPr>
        <p:txBody>
          <a:bodyPr wrap="square" rtlCol="0" anchor="t">
            <a:spAutoFit/>
          </a:bodyPr>
          <a:p>
            <a:pPr algn="l"/>
            <a:r>
              <a:rPr lang="en-US" altLang="zh-CN" sz="4400" b="1" dirty="0">
                <a:sym typeface="+mn-ea"/>
              </a:rPr>
              <a:t>Hierarchical Generation</a:t>
            </a:r>
            <a:endParaRPr lang="en-US" altLang="zh-CN" sz="4400" b="1" dirty="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30571" y="481014"/>
            <a:ext cx="11032837" cy="771382"/>
          </a:xfrm>
        </p:spPr>
        <p:txBody>
          <a:bodyPr>
            <a:noAutofit/>
          </a:bodyPr>
          <a:lstStyle/>
          <a:p>
            <a:pPr algn="l"/>
            <a:r>
              <a:rPr lang="en-US" altLang="zh-CN" sz="4400" b="1" dirty="0">
                <a:sym typeface="+mn-ea"/>
              </a:rPr>
              <a:t>Hierarchical Generation</a:t>
            </a:r>
            <a:endParaRPr lang="zh-CN" altLang="en-US" sz="4400" b="1" dirty="0"/>
          </a:p>
        </p:txBody>
      </p:sp>
      <p:sp>
        <p:nvSpPr>
          <p:cNvPr id="2" name="Rectangle 2"/>
          <p:cNvSpPr>
            <a:spLocks noGrp="1" noChangeArrowheads="1"/>
          </p:cNvSpPr>
          <p:nvPr>
            <p:ph type="subTitle" idx="1"/>
          </p:nvPr>
        </p:nvSpPr>
        <p:spPr bwMode="auto">
          <a:xfrm>
            <a:off x="531090" y="1770083"/>
            <a:ext cx="11309928" cy="3507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l" eaLnBrk="0" fontAlgn="base" hangingPunct="0">
              <a:lnSpc>
                <a:spcPct val="150000"/>
              </a:lnSpc>
              <a:spcBef>
                <a:spcPct val="0"/>
              </a:spcBef>
              <a:spcAft>
                <a:spcPct val="0"/>
              </a:spcAft>
              <a:buFontTx/>
              <a:buChar char="•"/>
            </a:pPr>
            <a:r>
              <a:rPr lang="en-US" altLang="zh-CN" b="1" dirty="0">
                <a:latin typeface="Times New Roman" panose="02020603050405020304" pitchFamily="18" charset="0"/>
                <a:cs typeface="Times New Roman" panose="02020603050405020304" pitchFamily="18" charset="0"/>
              </a:rPr>
              <a:t>Perception Embedding</a:t>
            </a:r>
            <a:endParaRPr lang="en-US" altLang="zh-CN" b="1" dirty="0">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Perception </a:t>
            </a:r>
            <a:r>
              <a:rPr lang="en-US" altLang="zh-CN" b="1" dirty="0">
                <a:latin typeface="Times New Roman" panose="02020603050405020304" pitchFamily="18" charset="0"/>
                <a:cs typeface="Times New Roman" panose="02020603050405020304" pitchFamily="18" charset="0"/>
              </a:rPr>
              <a:t>O</a:t>
            </a:r>
            <a:r>
              <a:rPr lang="en-US" altLang="zh-CN" dirty="0">
                <a:latin typeface="Times New Roman" panose="02020603050405020304" pitchFamily="18" charset="0"/>
                <a:cs typeface="Times New Roman" panose="02020603050405020304" pitchFamily="18" charset="0"/>
              </a:rPr>
              <a:t> embedding acts as the "eyes" of the  group agents.</a:t>
            </a:r>
            <a:endParaRPr lang="en-US" altLang="zh-CN" dirty="0">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When a new event </a:t>
            </a:r>
            <a:r>
              <a:rPr lang="en-US" altLang="zh-CN" b="1" dirty="0">
                <a:latin typeface="Times New Roman" panose="02020603050405020304" pitchFamily="18" charset="0"/>
                <a:cs typeface="Times New Roman" panose="02020603050405020304" pitchFamily="18" charset="0"/>
              </a:rPr>
              <a:t>E</a:t>
            </a:r>
            <a:r>
              <a:rPr lang="en-US" altLang="zh-CN" dirty="0">
                <a:latin typeface="Times New Roman" panose="02020603050405020304" pitchFamily="18" charset="0"/>
                <a:cs typeface="Times New Roman" panose="02020603050405020304" pitchFamily="18" charset="0"/>
              </a:rPr>
              <a:t> occurs, its content, domain </a:t>
            </a:r>
            <a:r>
              <a:rPr lang="en-US" altLang="zh-CN" b="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 and country </a:t>
            </a:r>
            <a:r>
              <a:rPr lang="en-US" altLang="zh-CN" b="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are identified by an LLM and stored in the agent’s memory </a:t>
            </a:r>
            <a:r>
              <a:rPr lang="en-US" altLang="zh-CN" b="1" dirty="0">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lang="en-US" altLang="zh-CN" dirty="0">
                <a:latin typeface="Times New Roman" panose="02020603050405020304" pitchFamily="18" charset="0"/>
                <a:cs typeface="Times New Roman" panose="02020603050405020304" pitchFamily="18" charset="0"/>
              </a:rPr>
              <a:t>This information forms the agent’s perception, guiding reasoning and interactions, and is continuously updated with new inputs.</a:t>
            </a:r>
            <a:endParaRPr lang="en-US" altLang="zh-CN" dirty="0">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endPar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78196" y="416879"/>
            <a:ext cx="11032837" cy="771382"/>
          </a:xfrm>
        </p:spPr>
        <p:txBody>
          <a:bodyPr>
            <a:noAutofit/>
          </a:bodyPr>
          <a:lstStyle/>
          <a:p>
            <a:pPr algn="l"/>
            <a:r>
              <a:rPr lang="en-US" altLang="zh-CN" sz="4400" b="1" dirty="0">
                <a:sym typeface="+mn-ea"/>
              </a:rPr>
              <a:t>Hierarchical Generation</a:t>
            </a:r>
            <a:endParaRPr lang="zh-CN" altLang="en-US" sz="4400" b="1" dirty="0"/>
          </a:p>
        </p:txBody>
      </p:sp>
      <p:sp>
        <p:nvSpPr>
          <p:cNvPr id="2" name="Rectangle 2"/>
          <p:cNvSpPr>
            <a:spLocks noGrp="1" noChangeArrowheads="1"/>
          </p:cNvSpPr>
          <p:nvPr>
            <p:ph type="subTitle" idx="1"/>
          </p:nvPr>
        </p:nvSpPr>
        <p:spPr bwMode="auto">
          <a:xfrm>
            <a:off x="578485" y="1071245"/>
            <a:ext cx="11031855" cy="5883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lvl="0" algn="l" eaLnBrk="0" fontAlgn="base" hangingPunct="0">
              <a:lnSpc>
                <a:spcPct val="150000"/>
              </a:lnSpc>
              <a:spcBef>
                <a:spcPct val="0"/>
              </a:spcBef>
              <a:spcAft>
                <a:spcPct val="0"/>
              </a:spcAft>
              <a:buFontTx/>
              <a:buChar char="•"/>
            </a:pPr>
            <a:r>
              <a:rPr lang="en-US" altLang="zh-CN" sz="2400" b="1" dirty="0">
                <a:ln>
                  <a:noFill/>
                </a:ln>
                <a:effectLst/>
                <a:latin typeface="Times New Roman" panose="02020603050405020304" pitchFamily="18" charset="0"/>
                <a:cs typeface="Times New Roman" panose="02020603050405020304" pitchFamily="18" charset="0"/>
                <a:sym typeface="+mn-ea"/>
              </a:rPr>
              <a:t>Hierarchical Multiway-tree Generation</a:t>
            </a:r>
            <a:endParaRPr kumimoji="0" lang="en-US" altLang="zh-C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lang="en-US" altLang="zh-CN" sz="1800" dirty="0">
                <a:ln>
                  <a:noFill/>
                </a:ln>
                <a:effectLst/>
                <a:latin typeface="Times New Roman" panose="02020603050405020304" pitchFamily="18" charset="0"/>
                <a:cs typeface="Times New Roman" panose="02020603050405020304" pitchFamily="18" charset="0"/>
                <a:sym typeface="+mn-ea"/>
              </a:rPr>
              <a:t>A top-down multiway-tree structure is adopted to organize populations, where each layer progressively refines the previous one into more fine-grained group agents using LLM-based prompts.</a:t>
            </a:r>
            <a:endParaRPr lang="en-US" altLang="zh-CN" sz="1800" dirty="0">
              <a:ln>
                <a:noFill/>
              </a:ln>
              <a:effectLst/>
              <a:latin typeface="Times New Roman" panose="02020603050405020304" pitchFamily="18" charset="0"/>
              <a:cs typeface="Times New Roman" panose="02020603050405020304" pitchFamily="18" charset="0"/>
              <a:sym typeface="+mn-ea"/>
            </a:endParaRPr>
          </a:p>
          <a:p>
            <a:pPr lvl="1" algn="l" eaLnBrk="0" fontAlgn="base" hangingPunct="0">
              <a:lnSpc>
                <a:spcPct val="150000"/>
              </a:lnSpc>
              <a:spcBef>
                <a:spcPct val="0"/>
              </a:spcBef>
              <a:spcAft>
                <a:spcPct val="0"/>
              </a:spcAft>
              <a:buFontTx/>
              <a:buChar char="•"/>
            </a:pPr>
            <a:r>
              <a:rPr lang="en-US" altLang="zh-CN" sz="1800" dirty="0">
                <a:ln>
                  <a:noFill/>
                </a:ln>
                <a:effectLst/>
                <a:latin typeface="Times New Roman" panose="02020603050405020304" pitchFamily="18" charset="0"/>
                <a:cs typeface="Times New Roman" panose="02020603050405020304" pitchFamily="18" charset="0"/>
                <a:sym typeface="+mn-ea"/>
              </a:rPr>
              <a:t>For each event, the system identifies its domain and country, retrieves corresponding population data through LLM and RAG, and integrates this information into a hierarchical knowledge graph.</a:t>
            </a:r>
            <a:endParaRPr lang="en-US" altLang="zh-CN" sz="1800" dirty="0">
              <a:ln>
                <a:noFill/>
              </a:ln>
              <a:effectLst/>
              <a:latin typeface="Times New Roman" panose="02020603050405020304" pitchFamily="18" charset="0"/>
              <a:cs typeface="Times New Roman" panose="02020603050405020304" pitchFamily="18" charset="0"/>
              <a:sym typeface="+mn-ea"/>
            </a:endParaRPr>
          </a:p>
          <a:p>
            <a:pPr lvl="0" algn="l" eaLnBrk="0" fontAlgn="base" hangingPunct="0">
              <a:lnSpc>
                <a:spcPct val="150000"/>
              </a:lnSpc>
              <a:spcBef>
                <a:spcPct val="0"/>
              </a:spcBef>
              <a:spcAft>
                <a:spcPct val="0"/>
              </a:spcAft>
              <a:buFontTx/>
              <a:buChar char="•"/>
            </a:pPr>
            <a:endParaRPr kumimoji="0" lang="en-US"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578485" y="3429000"/>
            <a:ext cx="4175125" cy="2959100"/>
          </a:xfrm>
          <a:prstGeom prst="rect">
            <a:avLst/>
          </a:prstGeom>
        </p:spPr>
      </p:pic>
      <p:pic>
        <p:nvPicPr>
          <p:cNvPr id="5" name="图片 4"/>
          <p:cNvPicPr>
            <a:picLocks noChangeAspect="1"/>
          </p:cNvPicPr>
          <p:nvPr/>
        </p:nvPicPr>
        <p:blipFill>
          <a:blip r:embed="rId2"/>
          <a:stretch>
            <a:fillRect/>
          </a:stretch>
        </p:blipFill>
        <p:spPr>
          <a:xfrm>
            <a:off x="5271135" y="3429000"/>
            <a:ext cx="5588635" cy="2956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78196" y="374334"/>
            <a:ext cx="11032837" cy="771382"/>
          </a:xfrm>
        </p:spPr>
        <p:txBody>
          <a:bodyPr>
            <a:noAutofit/>
          </a:bodyPr>
          <a:lstStyle/>
          <a:p>
            <a:pPr algn="l"/>
            <a:r>
              <a:rPr lang="en-US" altLang="zh-CN" sz="4400" b="1" dirty="0">
                <a:sym typeface="+mn-ea"/>
              </a:rPr>
              <a:t>Hierarchical Generation</a:t>
            </a:r>
            <a:endParaRPr lang="zh-CN" altLang="en-US" sz="4400" b="1" dirty="0"/>
          </a:p>
        </p:txBody>
      </p:sp>
      <p:sp>
        <p:nvSpPr>
          <p:cNvPr id="2" name="Rectangle 2"/>
          <p:cNvSpPr>
            <a:spLocks noGrp="1" noChangeArrowheads="1"/>
          </p:cNvSpPr>
          <p:nvPr>
            <p:ph type="subTitle" idx="1"/>
          </p:nvPr>
        </p:nvSpPr>
        <p:spPr bwMode="auto">
          <a:xfrm>
            <a:off x="578485" y="1512570"/>
            <a:ext cx="10602595" cy="3833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l" eaLnBrk="0" fontAlgn="base" hangingPunct="0">
              <a:lnSpc>
                <a:spcPct val="150000"/>
              </a:lnSpc>
              <a:spcBef>
                <a:spcPct val="0"/>
              </a:spcBef>
              <a:spcAft>
                <a:spcPct val="0"/>
              </a:spcAft>
              <a:buFontTx/>
              <a:buChar char="•"/>
            </a:pPr>
            <a:r>
              <a:rPr kumimoji="0" lang="en-US" altLang="zh-C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Attributes</a:t>
            </a:r>
            <a:endParaRPr kumimoji="0" lang="en-US" altLang="zh-C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generated group agents include an ID, population, country, characteristics, emotions, and attitudes.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Agent characteristics (susceptible, ordinary, calm) capture different levels of responsiveness, while emotions (e.g., happy, sad, angry) and attitudes (positive or negative) quantify reactions to events.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attributes, stored in the agents’ states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 with perception to shape reasoning and interactions, which are continuously updated.</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450850"/>
            <a:ext cx="8210550" cy="768350"/>
          </a:xfrm>
          <a:prstGeom prst="rect">
            <a:avLst/>
          </a:prstGeom>
          <a:noFill/>
        </p:spPr>
        <p:txBody>
          <a:bodyPr wrap="square" rtlCol="0" anchor="t">
            <a:spAutoFit/>
          </a:bodyPr>
          <a:p>
            <a:pPr algn="l"/>
            <a:r>
              <a:rPr lang="en-US" altLang="zh-CN" sz="4400" b="1" dirty="0">
                <a:sym typeface="+mn-ea"/>
              </a:rPr>
              <a:t>Decision-Reasoning</a:t>
            </a:r>
            <a:endParaRPr lang="en-US" altLang="zh-CN" sz="4400" b="1" dirty="0">
              <a:sym typeface="+mn-ea"/>
            </a:endParaRPr>
          </a:p>
        </p:txBody>
      </p:sp>
      <p:sp>
        <p:nvSpPr>
          <p:cNvPr id="2" name="Rectangle 2"/>
          <p:cNvSpPr>
            <a:spLocks noGrp="1" noChangeArrowheads="1"/>
          </p:cNvSpPr>
          <p:nvPr>
            <p:ph type="subTitle" idx="1"/>
          </p:nvPr>
        </p:nvSpPr>
        <p:spPr bwMode="auto">
          <a:xfrm>
            <a:off x="578485" y="1512570"/>
            <a:ext cx="10602595" cy="3833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decision-reasoning consists of two components: storage and thought.</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employ a state and memory updating strategy in the storage, which can be propagated and updated in reasoning, assisting in the decisionmaking process.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apply a Markov Network-based approach in the thought process to expand the information horizon.</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additionally incorporate fine-grained factors that closely mirror real-world effects, ensuring alignment with practical scenarios.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450850"/>
            <a:ext cx="8210550" cy="768350"/>
          </a:xfrm>
          <a:prstGeom prst="rect">
            <a:avLst/>
          </a:prstGeom>
          <a:noFill/>
        </p:spPr>
        <p:txBody>
          <a:bodyPr wrap="square" rtlCol="0" anchor="t">
            <a:spAutoFit/>
          </a:bodyPr>
          <a:p>
            <a:pPr algn="l"/>
            <a:r>
              <a:rPr lang="en-US" altLang="zh-CN" sz="4400" b="1" dirty="0">
                <a:sym typeface="+mn-ea"/>
              </a:rPr>
              <a:t>Decision-Reasoning</a:t>
            </a:r>
            <a:endParaRPr lang="en-US" altLang="zh-CN" sz="4400" b="1" dirty="0">
              <a:sym typeface="+mn-ea"/>
            </a:endParaRPr>
          </a:p>
        </p:txBody>
      </p:sp>
      <mc:AlternateContent xmlns:mc="http://schemas.openxmlformats.org/markup-compatibility/2006">
        <mc:Choice xmlns:a14="http://schemas.microsoft.com/office/drawing/2010/main" Requires="a14">
          <p:sp>
            <p:nvSpPr>
              <p:cNvPr id="2" name="Rectangle 2"/>
              <p:cNvSpPr>
                <a:spLocks noGrp="1" noChangeArrowheads="1"/>
              </p:cNvSpPr>
              <p:nvPr>
                <p:ph type="subTitle" idx="1"/>
              </p:nvPr>
            </p:nvSpPr>
            <p:spPr bwMode="auto">
              <a:xfrm>
                <a:off x="578485" y="1299845"/>
                <a:ext cx="10602595" cy="4853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l" eaLnBrk="0" fontAlgn="base" hangingPunct="0">
                  <a:lnSpc>
                    <a:spcPct val="150000"/>
                  </a:lnSpc>
                  <a:spcBef>
                    <a:spcPct val="0"/>
                  </a:spcBef>
                  <a:spcAft>
                    <a:spcPct val="0"/>
                  </a:spcAft>
                  <a:buFontTx/>
                  <a:buChar char="•"/>
                </a:pP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and Memory of Storage</a:t>
                </a:r>
                <a:endPar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storage system comprises two core components: States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Memory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State S encapsulates the attributes of group agents.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Here, </a:t>
                </a:r>
                <a14:m>
                  <m:oMath xmlns:m="http://schemas.openxmlformats.org/officeDocument/2006/math">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𝜖</m:t>
                    </m:r>
                  </m:oMath>
                </a14:m>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specifically represents the combination of emotions and attitudes within the agents’ attributes, simulating the emotional and attitudinal patterns observed in real human groups.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Memory M is based on a queue updating mechanism, reflecting the fact that people’s attention to specific online events is short-lived and diminishes over time. </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Specifically, the agent’s 1) perception, 2) decisions, and 3) actions are stored in a queue structure, where newer information replaces older data as the social network evolves, leading to gradual forgetting.</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p:sp>
            <p:nvSpPr>
              <p:cNvPr id="2" name="Rectangle 2"/>
              <p:cNvSpPr>
                <a:spLocks noRot="1" noChangeAspect="1" noMove="1" noResize="1" noEditPoints="1" noAdjustHandles="1" noChangeArrowheads="1" noChangeShapeType="1" noTextEdit="1"/>
              </p:cNvSpPr>
              <p:nvPr>
                <p:ph type="subTitle" idx="1"/>
              </p:nvPr>
            </p:nvSpPr>
            <p:spPr bwMode="auto">
              <a:xfrm>
                <a:off x="578485" y="1299845"/>
                <a:ext cx="10602595" cy="4853305"/>
              </a:xfrm>
              <a:prstGeom prst="rect">
                <a:avLst/>
              </a:prstGeom>
              <a:blipFill rotWithShape="1">
                <a:blip r:embed="rId1"/>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227965"/>
            <a:ext cx="8210550" cy="768350"/>
          </a:xfrm>
          <a:prstGeom prst="rect">
            <a:avLst/>
          </a:prstGeom>
          <a:noFill/>
        </p:spPr>
        <p:txBody>
          <a:bodyPr wrap="square" rtlCol="0" anchor="t">
            <a:spAutoFit/>
          </a:bodyPr>
          <a:p>
            <a:pPr algn="l"/>
            <a:r>
              <a:rPr lang="en-US" altLang="zh-CN" sz="4400" b="1" dirty="0">
                <a:sym typeface="+mn-ea"/>
              </a:rPr>
              <a:t>Decision-Reasoning</a:t>
            </a:r>
            <a:endParaRPr lang="en-US" altLang="zh-CN" sz="4400" b="1" dirty="0">
              <a:sym typeface="+mn-ea"/>
            </a:endParaRPr>
          </a:p>
        </p:txBody>
      </p:sp>
      <mc:AlternateContent xmlns:mc="http://schemas.openxmlformats.org/markup-compatibility/2006">
        <mc:Choice xmlns:a14="http://schemas.microsoft.com/office/drawing/2010/main" Requires="a14">
          <p:sp>
            <p:nvSpPr>
              <p:cNvPr id="2" name="Rectangle 2"/>
              <p:cNvSpPr>
                <a:spLocks noGrp="1" noChangeArrowheads="1"/>
              </p:cNvSpPr>
              <p:nvPr>
                <p:ph type="subTitle" idx="1"/>
              </p:nvPr>
            </p:nvSpPr>
            <p:spPr bwMode="auto">
              <a:xfrm>
                <a:off x="578485" y="1299845"/>
                <a:ext cx="10602595" cy="497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l" eaLnBrk="0" fontAlgn="base" hangingPunct="0">
                  <a:lnSpc>
                    <a:spcPct val="150000"/>
                  </a:lnSpc>
                  <a:spcBef>
                    <a:spcPct val="0"/>
                  </a:spcBef>
                  <a:spcAft>
                    <a:spcPct val="0"/>
                  </a:spcAft>
                  <a:buFontTx/>
                  <a:buChar char="•"/>
                </a:pP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Markov Network-based Reasoning</a:t>
                </a:r>
                <a:endPar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capture the evolution of an agent’s state and memory in decision-making, we employed a Markov Network framework. The state transition is defined as follows: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each time step, the emotional response </a:t>
                </a:r>
                <a14:m>
                  <m:oMath xmlns:m="http://schemas.openxmlformats.org/officeDocument/2006/math">
                    <m:sSubSup>
                      <m:sSubSupPr>
                        <m:ctrlP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ctrlPr>
                      </m:sSubSupPr>
                      <m:e>
                        <m:r>
                          <m:rPr>
                            <m:sty m:val="p"/>
                          </m:rPr>
                          <a:rPr kumimoji="0" lang="en-US" altLang="zh-CN" u="none" strike="noStrike" cap="none" normalizeH="0" baseline="0" dirty="0">
                            <a:ln>
                              <a:noFill/>
                            </a:ln>
                            <a:solidFill>
                              <a:schemeClr val="tx1"/>
                            </a:solidFill>
                            <a:effectLst/>
                            <a:latin typeface="Cambria Math" panose="02040503050406030204" charset="0"/>
                            <a:cs typeface="Cambria Math" panose="02040503050406030204" charset="0"/>
                          </a:rPr>
                          <m:t>ε</m:t>
                        </m:r>
                      </m:e>
                      <m:sub>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𝑖</m:t>
                        </m:r>
                      </m:sub>
                      <m:sup>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𝑡</m:t>
                        </m:r>
                      </m:sup>
                    </m:sSubSup>
                  </m:oMath>
                </a14:m>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updated based on the agent’s perception Oit, and its  prior state </a:t>
                </a:r>
                <a14:m>
                  <m:oMath xmlns:m="http://schemas.openxmlformats.org/officeDocument/2006/math">
                    <m:sSubSup>
                      <m:sSubSupPr>
                        <m:ctrlP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ctrlPr>
                      </m:sSubSupPr>
                      <m:e>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𝑆</m:t>
                        </m:r>
                      </m:e>
                      <m:sub>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𝑖</m:t>
                        </m:r>
                      </m:sub>
                      <m:sup>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𝑡</m:t>
                        </m:r>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m:t>
                        </m:r>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1</m:t>
                        </m:r>
                      </m:sup>
                    </m:sSubSup>
                  </m:oMath>
                </a14:m>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follows: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decision-making process is refined by an LLM policy π, which determines the subsequent action Ait based on the updated state Sit:</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Finally, the memory </a:t>
                </a:r>
                <a14:m>
                  <m:oMath xmlns:m="http://schemas.openxmlformats.org/officeDocument/2006/math">
                    <m:sSubSup>
                      <m:sSubSupPr>
                        <m:ctrlP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ctrlPr>
                      </m:sSubSupPr>
                      <m:e>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𝑀</m:t>
                        </m:r>
                      </m:e>
                      <m:sub>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𝑖</m:t>
                        </m:r>
                      </m:sub>
                      <m:sup>
                        <m:r>
                          <a:rPr kumimoji="0" lang="en-US" altLang="zh-CN" i="1" u="none" strike="noStrike" cap="none" normalizeH="0" baseline="0" dirty="0">
                            <a:ln>
                              <a:noFill/>
                            </a:ln>
                            <a:solidFill>
                              <a:schemeClr val="tx1"/>
                            </a:solidFill>
                            <a:effectLst/>
                            <a:latin typeface="Cambria Math" panose="02040503050406030204" charset="0"/>
                            <a:cs typeface="Cambria Math" panose="02040503050406030204" charset="0"/>
                          </a:rPr>
                          <m:t>𝑡</m:t>
                        </m:r>
                      </m:sup>
                    </m:sSubSup>
                  </m:oMath>
                </a14:m>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updated to reflect its  accumulation of prior perception and actions: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p:sp>
            <p:nvSpPr>
              <p:cNvPr id="2" name="Rectangle 2"/>
              <p:cNvSpPr>
                <a:spLocks noRot="1" noChangeAspect="1" noMove="1" noResize="1" noEditPoints="1" noAdjustHandles="1" noChangeArrowheads="1" noChangeShapeType="1" noTextEdit="1"/>
              </p:cNvSpPr>
              <p:nvPr>
                <p:ph type="subTitle" idx="1"/>
              </p:nvPr>
            </p:nvSpPr>
            <p:spPr bwMode="auto">
              <a:xfrm>
                <a:off x="578485" y="1299845"/>
                <a:ext cx="10602595" cy="4970145"/>
              </a:xfrm>
              <a:prstGeom prst="rect">
                <a:avLst/>
              </a:prstGeom>
              <a:blipFill rotWithShape="1">
                <a:blip r:embed="rId1"/>
                <a:stretch>
                  <a:fillRect t="-2990" b="-300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8573135" y="2175510"/>
            <a:ext cx="2974340" cy="797560"/>
          </a:xfrm>
          <a:prstGeom prst="rect">
            <a:avLst/>
          </a:prstGeom>
        </p:spPr>
      </p:pic>
      <p:pic>
        <p:nvPicPr>
          <p:cNvPr id="5" name="图片 4"/>
          <p:cNvPicPr>
            <a:picLocks noChangeAspect="1"/>
          </p:cNvPicPr>
          <p:nvPr/>
        </p:nvPicPr>
        <p:blipFill>
          <a:blip r:embed="rId3"/>
          <a:stretch>
            <a:fillRect/>
          </a:stretch>
        </p:blipFill>
        <p:spPr>
          <a:xfrm>
            <a:off x="4452620" y="3630295"/>
            <a:ext cx="3343275" cy="428625"/>
          </a:xfrm>
          <a:prstGeom prst="rect">
            <a:avLst/>
          </a:prstGeom>
        </p:spPr>
      </p:pic>
      <p:pic>
        <p:nvPicPr>
          <p:cNvPr id="6" name="图片 5"/>
          <p:cNvPicPr>
            <a:picLocks noChangeAspect="1"/>
          </p:cNvPicPr>
          <p:nvPr/>
        </p:nvPicPr>
        <p:blipFill>
          <a:blip r:embed="rId4"/>
          <a:stretch>
            <a:fillRect/>
          </a:stretch>
        </p:blipFill>
        <p:spPr>
          <a:xfrm>
            <a:off x="5600065" y="4601210"/>
            <a:ext cx="2076450" cy="438150"/>
          </a:xfrm>
          <a:prstGeom prst="rect">
            <a:avLst/>
          </a:prstGeom>
        </p:spPr>
      </p:pic>
      <p:pic>
        <p:nvPicPr>
          <p:cNvPr id="7" name="图片 6"/>
          <p:cNvPicPr>
            <a:picLocks noChangeAspect="1"/>
          </p:cNvPicPr>
          <p:nvPr/>
        </p:nvPicPr>
        <p:blipFill>
          <a:blip r:embed="rId5"/>
          <a:stretch>
            <a:fillRect/>
          </a:stretch>
        </p:blipFill>
        <p:spPr>
          <a:xfrm>
            <a:off x="4881245" y="5711825"/>
            <a:ext cx="3971925" cy="5048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227965"/>
            <a:ext cx="8210550" cy="768350"/>
          </a:xfrm>
          <a:prstGeom prst="rect">
            <a:avLst/>
          </a:prstGeom>
          <a:noFill/>
        </p:spPr>
        <p:txBody>
          <a:bodyPr wrap="square" rtlCol="0" anchor="t">
            <a:spAutoFit/>
          </a:bodyPr>
          <a:p>
            <a:pPr algn="l"/>
            <a:r>
              <a:rPr lang="en-US" altLang="zh-CN" sz="4400" b="1" dirty="0">
                <a:sym typeface="+mn-ea"/>
              </a:rPr>
              <a:t>Decision-Reasoning</a:t>
            </a:r>
            <a:endParaRPr lang="en-US" altLang="zh-CN" sz="4400" b="1" dirty="0">
              <a:sym typeface="+mn-ea"/>
            </a:endParaRPr>
          </a:p>
        </p:txBody>
      </p:sp>
      <p:sp>
        <p:nvSpPr>
          <p:cNvPr id="2" name="Rectangle 2"/>
          <p:cNvSpPr>
            <a:spLocks noGrp="1" noChangeArrowheads="1"/>
          </p:cNvSpPr>
          <p:nvPr>
            <p:ph type="subTitle" idx="1"/>
          </p:nvPr>
        </p:nvSpPr>
        <p:spPr bwMode="auto">
          <a:xfrm>
            <a:off x="578485" y="1299845"/>
            <a:ext cx="10602595" cy="497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l" eaLnBrk="0" fontAlgn="base" hangingPunct="0">
              <a:lnSpc>
                <a:spcPct val="150000"/>
              </a:lnSpc>
              <a:spcBef>
                <a:spcPct val="0"/>
              </a:spcBef>
              <a:spcAft>
                <a:spcPct val="0"/>
              </a:spcAft>
              <a:buFontTx/>
              <a:buChar char="•"/>
            </a:pP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Fine-grain factors for real-world effect</a:t>
            </a:r>
            <a:endPar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introduced four fine-grain factors: 1) population weight, 2) group characteristics, 3) emotion fading, and 4) forgetting probability.</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Population weight, derived from real data, influences the activity levels and interaction frequencies of groups.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 characteristics determine the amplitude of emotional and attitudinal fluctuations.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emotion fading represents the gradual decline of emotions and attitudes over time.</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forgetting probability affects short-term memory, leading to the gradual fading of memories related to past perception and events.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l" eaLnBrk="0" fontAlgn="base" hangingPunct="0">
              <a:lnSpc>
                <a:spcPct val="150000"/>
              </a:lnSpc>
              <a:spcBef>
                <a:spcPct val="0"/>
              </a:spcBef>
              <a:spcAft>
                <a:spcPct val="0"/>
              </a:spcAft>
              <a:buFontTx/>
              <a:buChar char="•"/>
            </a:pP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Action</a:t>
            </a:r>
            <a:endParaRPr lang="en-US" altLang="zh-CN" sz="4400" b="1" dirty="0">
              <a:sym typeface="+mn-ea"/>
            </a:endParaRPr>
          </a:p>
        </p:txBody>
      </p:sp>
      <p:sp>
        <p:nvSpPr>
          <p:cNvPr id="2" name="Rectangle 2"/>
          <p:cNvSpPr>
            <a:spLocks noGrp="1" noChangeArrowheads="1"/>
          </p:cNvSpPr>
          <p:nvPr>
            <p:ph type="subTitle" idx="1"/>
          </p:nvPr>
        </p:nvSpPr>
        <p:spPr bwMode="auto">
          <a:xfrm>
            <a:off x="578485" y="1299845"/>
            <a:ext cx="10602595" cy="497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Actions enable agents to simulate human behavior online and facilitate interactions between multiple groups.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perform the following actions on a event item: view, like, comment, share and predict.</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hypothesize that viewing is the primary action, with views significantly outnumbering other actions.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 user groups first view the event and its related information, which generates emotions and attitudes, driving further interactions and new content creation.</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Experiment</a:t>
            </a:r>
            <a:endParaRPr lang="en-US" altLang="zh-CN" sz="4400" b="1" dirty="0">
              <a:sym typeface="+mn-ea"/>
            </a:endParaRPr>
          </a:p>
        </p:txBody>
      </p:sp>
      <p:sp>
        <p:nvSpPr>
          <p:cNvPr id="2" name="Rectangle 2"/>
          <p:cNvSpPr>
            <a:spLocks noGrp="1" noChangeArrowheads="1"/>
          </p:cNvSpPr>
          <p:nvPr>
            <p:ph type="subTitle" idx="1"/>
          </p:nvPr>
        </p:nvSpPr>
        <p:spPr bwMode="auto">
          <a:xfrm>
            <a:off x="578485" y="1299845"/>
            <a:ext cx="10602595" cy="497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have developed a Social Network Benchmark (SNB), which incorporates detailed information on fine-grained network traffic variations.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datasets in our SNB have  been collected on the 2024 popular online events from three major platforms: Twitter , Reddit, and Weibo.</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SNB dataset consists of 30 online  events, each containing a title, content, metadata, and network traffic variations over a 7-day period.</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selected multiple metrics from various perspectives: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t-test,Mean Absolute Percentage Error  (MAPE),Dynamic Time Warping (DTW),Z-score</a:t>
            </a:r>
            <a:endPar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4739005" y="5705475"/>
            <a:ext cx="2840990" cy="635000"/>
          </a:xfrm>
          <a:prstGeom prst="rect">
            <a:avLst/>
          </a:prstGeom>
        </p:spPr>
      </p:pic>
      <p:pic>
        <p:nvPicPr>
          <p:cNvPr id="4" name="图片 3"/>
          <p:cNvPicPr>
            <a:picLocks noChangeAspect="1"/>
          </p:cNvPicPr>
          <p:nvPr/>
        </p:nvPicPr>
        <p:blipFill>
          <a:blip r:embed="rId2"/>
          <a:stretch>
            <a:fillRect/>
          </a:stretch>
        </p:blipFill>
        <p:spPr>
          <a:xfrm>
            <a:off x="7835900" y="5684520"/>
            <a:ext cx="2839720" cy="5854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Performance</a:t>
            </a:r>
            <a:endParaRPr lang="en-US" altLang="zh-CN" sz="4400" b="1" dirty="0">
              <a:sym typeface="+mn-ea"/>
            </a:endParaRPr>
          </a:p>
        </p:txBody>
      </p:sp>
      <p:sp>
        <p:nvSpPr>
          <p:cNvPr id="2" name="Rectangle 2"/>
          <p:cNvSpPr>
            <a:spLocks noGrp="1" noChangeArrowheads="1"/>
          </p:cNvSpPr>
          <p:nvPr>
            <p:ph type="subTitle" idx="1"/>
          </p:nvPr>
        </p:nvSpPr>
        <p:spPr bwMode="auto">
          <a:xfrm>
            <a:off x="578485" y="1299845"/>
            <a:ext cx="10602595" cy="497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comparative evaluation, we selected and re-implemented the PSP and the  S3 on our SNB benchmark.</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308860" y="2701925"/>
            <a:ext cx="7142480" cy="36569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Ablation Study</a:t>
            </a:r>
            <a:endParaRPr lang="en-US" altLang="zh-CN" sz="4400" b="1" dirty="0">
              <a:sym typeface="+mn-ea"/>
            </a:endParaRPr>
          </a:p>
        </p:txBody>
      </p:sp>
      <p:pic>
        <p:nvPicPr>
          <p:cNvPr id="4" name="图片 3"/>
          <p:cNvPicPr>
            <a:picLocks noChangeAspect="1"/>
          </p:cNvPicPr>
          <p:nvPr/>
        </p:nvPicPr>
        <p:blipFill>
          <a:blip r:embed="rId1"/>
          <a:stretch>
            <a:fillRect/>
          </a:stretch>
        </p:blipFill>
        <p:spPr>
          <a:xfrm>
            <a:off x="686435" y="1452880"/>
            <a:ext cx="10053955" cy="3483610"/>
          </a:xfrm>
          <a:prstGeom prst="rect">
            <a:avLst/>
          </a:prstGeom>
        </p:spPr>
      </p:pic>
      <p:pic>
        <p:nvPicPr>
          <p:cNvPr id="2" name="图片 1"/>
          <p:cNvPicPr>
            <a:picLocks noChangeAspect="1"/>
          </p:cNvPicPr>
          <p:nvPr/>
        </p:nvPicPr>
        <p:blipFill>
          <a:blip r:embed="rId2"/>
          <a:stretch>
            <a:fillRect/>
          </a:stretch>
        </p:blipFill>
        <p:spPr>
          <a:xfrm>
            <a:off x="3399155" y="4905375"/>
            <a:ext cx="4495800" cy="19526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Ablation Study</a:t>
            </a:r>
            <a:endParaRPr lang="en-US" altLang="zh-CN" sz="4400" b="1" dirty="0">
              <a:sym typeface="+mn-ea"/>
            </a:endParaRPr>
          </a:p>
        </p:txBody>
      </p:sp>
      <p:pic>
        <p:nvPicPr>
          <p:cNvPr id="2" name="图片 1"/>
          <p:cNvPicPr>
            <a:picLocks noChangeAspect="1"/>
          </p:cNvPicPr>
          <p:nvPr/>
        </p:nvPicPr>
        <p:blipFill>
          <a:blip r:embed="rId1"/>
          <a:stretch>
            <a:fillRect/>
          </a:stretch>
        </p:blipFill>
        <p:spPr>
          <a:xfrm>
            <a:off x="74295" y="1905635"/>
            <a:ext cx="7546975" cy="3511550"/>
          </a:xfrm>
          <a:prstGeom prst="rect">
            <a:avLst/>
          </a:prstGeom>
        </p:spPr>
      </p:pic>
      <p:pic>
        <p:nvPicPr>
          <p:cNvPr id="6" name="图片 5"/>
          <p:cNvPicPr>
            <a:picLocks noChangeAspect="1"/>
          </p:cNvPicPr>
          <p:nvPr/>
        </p:nvPicPr>
        <p:blipFill>
          <a:blip r:embed="rId2"/>
          <a:stretch>
            <a:fillRect/>
          </a:stretch>
        </p:blipFill>
        <p:spPr>
          <a:xfrm>
            <a:off x="7474585" y="1299845"/>
            <a:ext cx="4524375" cy="47339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Analysis</a:t>
            </a:r>
            <a:endParaRPr lang="en-US" altLang="zh-CN" sz="4400" b="1" dirty="0">
              <a:sym typeface="+mn-ea"/>
            </a:endParaRPr>
          </a:p>
        </p:txBody>
      </p:sp>
      <p:pic>
        <p:nvPicPr>
          <p:cNvPr id="3" name="图片 2"/>
          <p:cNvPicPr>
            <a:picLocks noChangeAspect="1"/>
          </p:cNvPicPr>
          <p:nvPr/>
        </p:nvPicPr>
        <p:blipFill>
          <a:blip r:embed="rId1"/>
          <a:stretch>
            <a:fillRect/>
          </a:stretch>
        </p:blipFill>
        <p:spPr>
          <a:xfrm>
            <a:off x="514985" y="1768475"/>
            <a:ext cx="5441315" cy="3884295"/>
          </a:xfrm>
          <a:prstGeom prst="rect">
            <a:avLst/>
          </a:prstGeom>
        </p:spPr>
      </p:pic>
      <p:pic>
        <p:nvPicPr>
          <p:cNvPr id="7" name="图片 6"/>
          <p:cNvPicPr>
            <a:picLocks noChangeAspect="1"/>
          </p:cNvPicPr>
          <p:nvPr/>
        </p:nvPicPr>
        <p:blipFill>
          <a:blip r:embed="rId2"/>
          <a:stretch>
            <a:fillRect/>
          </a:stretch>
        </p:blipFill>
        <p:spPr>
          <a:xfrm>
            <a:off x="6327140" y="1599565"/>
            <a:ext cx="5313045" cy="4221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Analysis</a:t>
            </a:r>
            <a:endParaRPr lang="en-US" altLang="zh-CN" sz="4400" b="1" dirty="0">
              <a:sym typeface="+mn-ea"/>
            </a:endParaRPr>
          </a:p>
        </p:txBody>
      </p:sp>
      <p:pic>
        <p:nvPicPr>
          <p:cNvPr id="6" name="图片 5"/>
          <p:cNvPicPr>
            <a:picLocks noChangeAspect="1"/>
          </p:cNvPicPr>
          <p:nvPr/>
        </p:nvPicPr>
        <p:blipFill>
          <a:blip r:embed="rId1"/>
          <a:stretch>
            <a:fillRect/>
          </a:stretch>
        </p:blipFill>
        <p:spPr>
          <a:xfrm>
            <a:off x="6073775" y="1299845"/>
            <a:ext cx="4524375" cy="4733925"/>
          </a:xfrm>
          <a:prstGeom prst="rect">
            <a:avLst/>
          </a:prstGeom>
        </p:spPr>
      </p:pic>
      <p:pic>
        <p:nvPicPr>
          <p:cNvPr id="2" name="图片 1"/>
          <p:cNvPicPr>
            <a:picLocks noChangeAspect="1"/>
          </p:cNvPicPr>
          <p:nvPr/>
        </p:nvPicPr>
        <p:blipFill>
          <a:blip r:embed="rId2"/>
          <a:stretch>
            <a:fillRect/>
          </a:stretch>
        </p:blipFill>
        <p:spPr>
          <a:xfrm>
            <a:off x="605155" y="1599565"/>
            <a:ext cx="5313045" cy="42214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339090"/>
            <a:ext cx="8210550" cy="768350"/>
          </a:xfrm>
          <a:prstGeom prst="rect">
            <a:avLst/>
          </a:prstGeom>
          <a:noFill/>
        </p:spPr>
        <p:txBody>
          <a:bodyPr wrap="square" rtlCol="0" anchor="t">
            <a:spAutoFit/>
          </a:bodyPr>
          <a:p>
            <a:pPr algn="l"/>
            <a:r>
              <a:rPr lang="en-US" altLang="zh-CN" sz="4400" b="1" dirty="0">
                <a:sym typeface="+mn-ea"/>
              </a:rPr>
              <a:t>Additional Experiments</a:t>
            </a:r>
            <a:endParaRPr lang="en-US" altLang="zh-CN" sz="4400" b="1" dirty="0">
              <a:sym typeface="+mn-ea"/>
            </a:endParaRPr>
          </a:p>
        </p:txBody>
      </p:sp>
      <p:pic>
        <p:nvPicPr>
          <p:cNvPr id="3" name="图片 2"/>
          <p:cNvPicPr>
            <a:picLocks noChangeAspect="1"/>
          </p:cNvPicPr>
          <p:nvPr/>
        </p:nvPicPr>
        <p:blipFill>
          <a:blip r:embed="rId1"/>
          <a:stretch>
            <a:fillRect/>
          </a:stretch>
        </p:blipFill>
        <p:spPr>
          <a:xfrm>
            <a:off x="999490" y="1913255"/>
            <a:ext cx="8874125" cy="3404870"/>
          </a:xfrm>
          <a:prstGeom prst="rect">
            <a:avLst/>
          </a:prstGeom>
        </p:spPr>
      </p:pic>
      <p:sp>
        <p:nvSpPr>
          <p:cNvPr id="4" name="文本框 3"/>
          <p:cNvSpPr txBox="1"/>
          <p:nvPr/>
        </p:nvSpPr>
        <p:spPr>
          <a:xfrm>
            <a:off x="915670" y="1280160"/>
            <a:ext cx="6402070" cy="460375"/>
          </a:xfrm>
          <a:prstGeom prst="rect">
            <a:avLst/>
          </a:prstGeom>
          <a:noFill/>
        </p:spPr>
        <p:txBody>
          <a:bodyPr wrap="square" rtlCol="0">
            <a:spAutoFit/>
          </a:bodyPr>
          <a:p>
            <a:r>
              <a:rPr lang="en-US" altLang="zh-CN" sz="2400" b="1"/>
              <a:t>Visual Analysis of Metric</a:t>
            </a:r>
            <a:endParaRPr lang="en-US" altLang="zh-CN" sz="24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339090"/>
            <a:ext cx="8210550" cy="768350"/>
          </a:xfrm>
          <a:prstGeom prst="rect">
            <a:avLst/>
          </a:prstGeom>
          <a:noFill/>
        </p:spPr>
        <p:txBody>
          <a:bodyPr wrap="square" rtlCol="0" anchor="t">
            <a:spAutoFit/>
          </a:bodyPr>
          <a:p>
            <a:pPr algn="l"/>
            <a:r>
              <a:rPr lang="en-US" altLang="zh-CN" sz="4400" b="1" dirty="0">
                <a:sym typeface="+mn-ea"/>
              </a:rPr>
              <a:t>Additional Experiments</a:t>
            </a:r>
            <a:endParaRPr lang="en-US" altLang="zh-CN" sz="4400" b="1" dirty="0">
              <a:sym typeface="+mn-ea"/>
            </a:endParaRPr>
          </a:p>
        </p:txBody>
      </p:sp>
      <p:sp>
        <p:nvSpPr>
          <p:cNvPr id="4" name="文本框 3"/>
          <p:cNvSpPr txBox="1"/>
          <p:nvPr/>
        </p:nvSpPr>
        <p:spPr>
          <a:xfrm>
            <a:off x="915670" y="1280160"/>
            <a:ext cx="8389620" cy="460375"/>
          </a:xfrm>
          <a:prstGeom prst="rect">
            <a:avLst/>
          </a:prstGeom>
          <a:noFill/>
        </p:spPr>
        <p:txBody>
          <a:bodyPr wrap="square" rtlCol="0">
            <a:spAutoFit/>
          </a:bodyPr>
          <a:p>
            <a:r>
              <a:rPr lang="en-US" altLang="zh-CN" sz="2400" b="1"/>
              <a:t>Demographic Influence on Model Generalization</a:t>
            </a:r>
            <a:endParaRPr lang="en-US" altLang="zh-CN" sz="2400" b="1"/>
          </a:p>
        </p:txBody>
      </p:sp>
      <p:pic>
        <p:nvPicPr>
          <p:cNvPr id="2" name="图片 1"/>
          <p:cNvPicPr>
            <a:picLocks noChangeAspect="1"/>
          </p:cNvPicPr>
          <p:nvPr/>
        </p:nvPicPr>
        <p:blipFill>
          <a:blip r:embed="rId1"/>
          <a:stretch>
            <a:fillRect/>
          </a:stretch>
        </p:blipFill>
        <p:spPr>
          <a:xfrm>
            <a:off x="741680" y="2769235"/>
            <a:ext cx="4901565" cy="2082165"/>
          </a:xfrm>
          <a:prstGeom prst="rect">
            <a:avLst/>
          </a:prstGeom>
        </p:spPr>
      </p:pic>
      <p:pic>
        <p:nvPicPr>
          <p:cNvPr id="6" name="图片 5"/>
          <p:cNvPicPr>
            <a:picLocks noChangeAspect="1"/>
          </p:cNvPicPr>
          <p:nvPr/>
        </p:nvPicPr>
        <p:blipFill>
          <a:blip r:embed="rId2"/>
          <a:stretch>
            <a:fillRect/>
          </a:stretch>
        </p:blipFill>
        <p:spPr>
          <a:xfrm>
            <a:off x="6109970" y="2698750"/>
            <a:ext cx="4641850" cy="21526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14985" y="531495"/>
            <a:ext cx="8210550" cy="768350"/>
          </a:xfrm>
          <a:prstGeom prst="rect">
            <a:avLst/>
          </a:prstGeom>
          <a:noFill/>
        </p:spPr>
        <p:txBody>
          <a:bodyPr wrap="square" rtlCol="0" anchor="t">
            <a:spAutoFit/>
          </a:bodyPr>
          <a:p>
            <a:pPr algn="l"/>
            <a:r>
              <a:rPr lang="en-US" altLang="zh-CN" sz="4400" b="1" dirty="0">
                <a:sym typeface="+mn-ea"/>
              </a:rPr>
              <a:t>Conclusion</a:t>
            </a:r>
            <a:endParaRPr lang="en-US" altLang="zh-CN" sz="4400" b="1" dirty="0">
              <a:sym typeface="+mn-ea"/>
            </a:endParaRPr>
          </a:p>
        </p:txBody>
      </p:sp>
      <p:sp>
        <p:nvSpPr>
          <p:cNvPr id="3" name="Rectangle 2"/>
          <p:cNvSpPr>
            <a:spLocks noGrp="1" noChangeArrowheads="1"/>
          </p:cNvSpPr>
          <p:nvPr>
            <p:ph type="subTitle" idx="1"/>
          </p:nvPr>
        </p:nvSpPr>
        <p:spPr bwMode="auto">
          <a:xfrm>
            <a:off x="578485" y="1299845"/>
            <a:ext cx="10602595" cy="497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introduce a comprehensive social network simulation framework based on group agents.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have designed group agents capable of modeling a collective of individuals and engaging in social network interactions.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50000"/>
              </a:lnSpc>
              <a:spcBef>
                <a:spcPct val="0"/>
              </a:spcBef>
              <a:spcAft>
                <a:spcPct val="0"/>
              </a:spcAft>
              <a:buFontTx/>
              <a:buChar char="•"/>
            </a:pP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Experiments conducted on our BNS benchmark demonstrate that  our GA-S3 system delivers accurate and realistic predictive outcomes.</a:t>
            </a:r>
            <a:endPar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7848</Words>
  <Application>WPS 演示</Application>
  <PresentationFormat>宽屏</PresentationFormat>
  <Paragraphs>136</Paragraphs>
  <Slides>24</Slides>
  <Notes>8</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Arial</vt:lpstr>
      <vt:lpstr>宋体</vt:lpstr>
      <vt:lpstr>Wingdings</vt:lpstr>
      <vt:lpstr>Times New Roman</vt:lpstr>
      <vt:lpstr>等线</vt:lpstr>
      <vt:lpstr>微软雅黑</vt:lpstr>
      <vt:lpstr>Arial Unicode MS</vt:lpstr>
      <vt:lpstr>等线 Light</vt:lpstr>
      <vt:lpstr>Cambria Math</vt:lpstr>
      <vt:lpstr>Office 主题​​</vt:lpstr>
      <vt:lpstr>1_Office 主题​​</vt:lpstr>
      <vt:lpstr>GA-S3 Comprehensive Social Network Simulation with Group Agents</vt:lpstr>
      <vt:lpstr>Background</vt:lpstr>
      <vt:lpstr>Challenge</vt:lpstr>
      <vt:lpstr>Contribution</vt:lpstr>
      <vt:lpstr>Related Work</vt:lpstr>
      <vt:lpstr>Methodology</vt:lpstr>
      <vt:lpstr>PowerPoint 演示文稿</vt:lpstr>
      <vt:lpstr>Hierarchical Generation</vt:lpstr>
      <vt:lpstr>Hierarchical Generation</vt:lpstr>
      <vt:lpstr>Hierarchical Generation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志鹏 段</dc:creator>
  <cp:lastModifiedBy>段志鹏</cp:lastModifiedBy>
  <cp:revision>35</cp:revision>
  <dcterms:created xsi:type="dcterms:W3CDTF">2026-03-24T06:46:00Z</dcterms:created>
  <dcterms:modified xsi:type="dcterms:W3CDTF">2026-03-29T11:38:15Z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5869FEF5E4BE40919AE7CFFD0A9ACA5F_12</vt:lpwstr>
  </property>
</Properties>
</file>