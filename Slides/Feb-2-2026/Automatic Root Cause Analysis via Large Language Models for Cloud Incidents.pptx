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5" r:id="rId4"/>
    <p:sldId id="260" r:id="rId5"/>
    <p:sldId id="276" r:id="rId6"/>
    <p:sldId id="263" r:id="rId7"/>
    <p:sldId id="278" r:id="rId8"/>
    <p:sldId id="277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72" r:id="rId25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127" d="100"/>
          <a:sy n="127" d="100"/>
        </p:scale>
        <p:origin x="101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0" y="0"/>
            <a:ext cx="12192002" cy="6858000"/>
            <a:chOff x="0" y="0"/>
            <a:chExt cx="12192002" cy="6858000"/>
          </a:xfrm>
        </p:grpSpPr>
        <p:sp>
          <p:nvSpPr>
            <p:cNvPr id="10" name="任意多边形: 形状 9"/>
            <p:cNvSpPr/>
            <p:nvPr/>
          </p:nvSpPr>
          <p:spPr>
            <a:xfrm>
              <a:off x="0" y="4986000"/>
              <a:ext cx="12192002" cy="1872000"/>
            </a:xfrm>
            <a:custGeom>
              <a:avLst/>
              <a:gdLst>
                <a:gd name="connsiteX0" fmla="*/ 12192002 w 12192002"/>
                <a:gd name="connsiteY0" fmla="*/ 0 h 1942911"/>
                <a:gd name="connsiteX1" fmla="*/ 12192002 w 12192002"/>
                <a:gd name="connsiteY1" fmla="*/ 1942911 h 1942911"/>
                <a:gd name="connsiteX2" fmla="*/ 0 w 12192002"/>
                <a:gd name="connsiteY2" fmla="*/ 1942911 h 1942911"/>
                <a:gd name="connsiteX3" fmla="*/ 0 w 12192002"/>
                <a:gd name="connsiteY3" fmla="*/ 0 h 1942911"/>
                <a:gd name="connsiteX4" fmla="*/ 6096000 w 12192002"/>
                <a:gd name="connsiteY4" fmla="*/ 1455517 h 194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2" h="1942911">
                  <a:moveTo>
                    <a:pt x="12192002" y="0"/>
                  </a:moveTo>
                  <a:lnTo>
                    <a:pt x="12192002" y="1942911"/>
                  </a:lnTo>
                  <a:lnTo>
                    <a:pt x="0" y="1942911"/>
                  </a:lnTo>
                  <a:lnTo>
                    <a:pt x="0" y="0"/>
                  </a:lnTo>
                  <a:lnTo>
                    <a:pt x="6096000" y="14555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0"/>
              <a:ext cx="12192002" cy="21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5080264" y="706022"/>
              <a:ext cx="2018771" cy="1494742"/>
            </a:xfrm>
            <a:custGeom>
              <a:avLst/>
              <a:gdLst>
                <a:gd name="connsiteX0" fmla="*/ 105213 w 607850"/>
                <a:gd name="connsiteY0" fmla="*/ 237029 h 450066"/>
                <a:gd name="connsiteX1" fmla="*/ 303784 w 607850"/>
                <a:gd name="connsiteY1" fmla="*/ 332583 h 450066"/>
                <a:gd name="connsiteX2" fmla="*/ 502355 w 607850"/>
                <a:gd name="connsiteY2" fmla="*/ 237029 h 450066"/>
                <a:gd name="connsiteX3" fmla="*/ 502355 w 607850"/>
                <a:gd name="connsiteY3" fmla="*/ 323554 h 450066"/>
                <a:gd name="connsiteX4" fmla="*/ 501884 w 607850"/>
                <a:gd name="connsiteY4" fmla="*/ 324683 h 450066"/>
                <a:gd name="connsiteX5" fmla="*/ 319233 w 607850"/>
                <a:gd name="connsiteY5" fmla="*/ 412525 h 450066"/>
                <a:gd name="connsiteX6" fmla="*/ 288430 w 607850"/>
                <a:gd name="connsiteY6" fmla="*/ 412525 h 450066"/>
                <a:gd name="connsiteX7" fmla="*/ 105213 w 607850"/>
                <a:gd name="connsiteY7" fmla="*/ 324495 h 450066"/>
                <a:gd name="connsiteX8" fmla="*/ 575837 w 607850"/>
                <a:gd name="connsiteY8" fmla="*/ 200688 h 450066"/>
                <a:gd name="connsiteX9" fmla="*/ 575837 w 607850"/>
                <a:gd name="connsiteY9" fmla="*/ 370765 h 450066"/>
                <a:gd name="connsiteX10" fmla="*/ 591549 w 607850"/>
                <a:gd name="connsiteY10" fmla="*/ 418459 h 450066"/>
                <a:gd name="connsiteX11" fmla="*/ 567839 w 607850"/>
                <a:gd name="connsiteY11" fmla="*/ 450066 h 450066"/>
                <a:gd name="connsiteX12" fmla="*/ 559842 w 607850"/>
                <a:gd name="connsiteY12" fmla="*/ 450066 h 450066"/>
                <a:gd name="connsiteX13" fmla="*/ 536226 w 607850"/>
                <a:gd name="connsiteY13" fmla="*/ 418459 h 450066"/>
                <a:gd name="connsiteX14" fmla="*/ 551844 w 607850"/>
                <a:gd name="connsiteY14" fmla="*/ 370765 h 450066"/>
                <a:gd name="connsiteX15" fmla="*/ 551844 w 607850"/>
                <a:gd name="connsiteY15" fmla="*/ 212823 h 450066"/>
                <a:gd name="connsiteX16" fmla="*/ 303784 w 607850"/>
                <a:gd name="connsiteY16" fmla="*/ 0 h 450066"/>
                <a:gd name="connsiteX17" fmla="*/ 607850 w 607850"/>
                <a:gd name="connsiteY17" fmla="*/ 146272 h 450066"/>
                <a:gd name="connsiteX18" fmla="*/ 607850 w 607850"/>
                <a:gd name="connsiteY18" fmla="*/ 159629 h 450066"/>
                <a:gd name="connsiteX19" fmla="*/ 303784 w 607850"/>
                <a:gd name="connsiteY19" fmla="*/ 305901 h 450066"/>
                <a:gd name="connsiteX20" fmla="*/ 0 w 607850"/>
                <a:gd name="connsiteY20" fmla="*/ 159817 h 450066"/>
                <a:gd name="connsiteX21" fmla="*/ 0 w 607850"/>
                <a:gd name="connsiteY21" fmla="*/ 146178 h 45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7850" h="450066">
                  <a:moveTo>
                    <a:pt x="105213" y="237029"/>
                  </a:moveTo>
                  <a:lnTo>
                    <a:pt x="303784" y="332583"/>
                  </a:lnTo>
                  <a:lnTo>
                    <a:pt x="502355" y="237029"/>
                  </a:lnTo>
                  <a:lnTo>
                    <a:pt x="502355" y="323554"/>
                  </a:lnTo>
                  <a:cubicBezTo>
                    <a:pt x="502167" y="323931"/>
                    <a:pt x="502072" y="324307"/>
                    <a:pt x="501884" y="324683"/>
                  </a:cubicBezTo>
                  <a:lnTo>
                    <a:pt x="319233" y="412525"/>
                  </a:lnTo>
                  <a:lnTo>
                    <a:pt x="288430" y="412525"/>
                  </a:lnTo>
                  <a:lnTo>
                    <a:pt x="105213" y="324495"/>
                  </a:lnTo>
                  <a:close/>
                  <a:moveTo>
                    <a:pt x="575837" y="200688"/>
                  </a:moveTo>
                  <a:lnTo>
                    <a:pt x="575837" y="370765"/>
                  </a:lnTo>
                  <a:lnTo>
                    <a:pt x="591549" y="418459"/>
                  </a:lnTo>
                  <a:lnTo>
                    <a:pt x="567839" y="450066"/>
                  </a:lnTo>
                  <a:lnTo>
                    <a:pt x="559842" y="450066"/>
                  </a:lnTo>
                  <a:lnTo>
                    <a:pt x="536226" y="418459"/>
                  </a:lnTo>
                  <a:lnTo>
                    <a:pt x="551844" y="370765"/>
                  </a:lnTo>
                  <a:lnTo>
                    <a:pt x="551844" y="212823"/>
                  </a:lnTo>
                  <a:close/>
                  <a:moveTo>
                    <a:pt x="303784" y="0"/>
                  </a:moveTo>
                  <a:lnTo>
                    <a:pt x="607850" y="146272"/>
                  </a:lnTo>
                  <a:lnTo>
                    <a:pt x="607850" y="159629"/>
                  </a:lnTo>
                  <a:lnTo>
                    <a:pt x="303784" y="305901"/>
                  </a:lnTo>
                  <a:lnTo>
                    <a:pt x="0" y="159817"/>
                  </a:lnTo>
                  <a:lnTo>
                    <a:pt x="0" y="146178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1319650" y="4217400"/>
              <a:ext cx="954000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1229649" y="1028700"/>
            <a:ext cx="9720000" cy="2376000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1229652" y="3492703"/>
            <a:ext cx="9720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4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674922" y="4561558"/>
            <a:ext cx="2340000" cy="432000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896452" y="4561558"/>
            <a:ext cx="2340000" cy="432000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  <p:grpSp>
        <p:nvGrpSpPr>
          <p:cNvPr id="36" name="组合 35"/>
          <p:cNvGrpSpPr/>
          <p:nvPr/>
        </p:nvGrpSpPr>
        <p:grpSpPr>
          <a:xfrm>
            <a:off x="3118380" y="4543558"/>
            <a:ext cx="468000" cy="468000"/>
            <a:chOff x="3118380" y="4543558"/>
            <a:chExt cx="468000" cy="468000"/>
          </a:xfrm>
        </p:grpSpPr>
        <p:sp>
          <p:nvSpPr>
            <p:cNvPr id="14" name="椭圆 13"/>
            <p:cNvSpPr>
              <a:spLocks noChangeAspect="1"/>
            </p:cNvSpPr>
            <p:nvPr/>
          </p:nvSpPr>
          <p:spPr>
            <a:xfrm>
              <a:off x="3118380" y="4543558"/>
              <a:ext cx="468000" cy="46800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: 形状 26"/>
            <p:cNvSpPr>
              <a:spLocks noChangeAspect="1"/>
            </p:cNvSpPr>
            <p:nvPr/>
          </p:nvSpPr>
          <p:spPr>
            <a:xfrm>
              <a:off x="3232712" y="4651558"/>
              <a:ext cx="239337" cy="252000"/>
            </a:xfrm>
            <a:custGeom>
              <a:avLst/>
              <a:gdLst>
                <a:gd name="T0" fmla="*/ 6150 w 6474"/>
                <a:gd name="T1" fmla="*/ 5849 h 6827"/>
                <a:gd name="T2" fmla="*/ 4672 w 6474"/>
                <a:gd name="T3" fmla="*/ 4081 h 6827"/>
                <a:gd name="T4" fmla="*/ 3237 w 6474"/>
                <a:gd name="T5" fmla="*/ 0 h 6827"/>
                <a:gd name="T6" fmla="*/ 1802 w 6474"/>
                <a:gd name="T7" fmla="*/ 4081 h 6827"/>
                <a:gd name="T8" fmla="*/ 325 w 6474"/>
                <a:gd name="T9" fmla="*/ 5849 h 6827"/>
                <a:gd name="T10" fmla="*/ 782 w 6474"/>
                <a:gd name="T11" fmla="*/ 6827 h 6827"/>
                <a:gd name="T12" fmla="*/ 5693 w 6474"/>
                <a:gd name="T13" fmla="*/ 6827 h 6827"/>
                <a:gd name="T14" fmla="*/ 6150 w 6474"/>
                <a:gd name="T15" fmla="*/ 5849 h 6827"/>
                <a:gd name="T16" fmla="*/ 1509 w 6474"/>
                <a:gd name="T17" fmla="*/ 2427 h 6827"/>
                <a:gd name="T18" fmla="*/ 3237 w 6474"/>
                <a:gd name="T19" fmla="*/ 557 h 6827"/>
                <a:gd name="T20" fmla="*/ 4913 w 6474"/>
                <a:gd name="T21" fmla="*/ 1866 h 6827"/>
                <a:gd name="T22" fmla="*/ 2472 w 6474"/>
                <a:gd name="T23" fmla="*/ 1687 h 6827"/>
                <a:gd name="T24" fmla="*/ 2006 w 6474"/>
                <a:gd name="T25" fmla="*/ 1762 h 6827"/>
                <a:gd name="T26" fmla="*/ 1509 w 6474"/>
                <a:gd name="T27" fmla="*/ 2427 h 6827"/>
                <a:gd name="T28" fmla="*/ 1651 w 6474"/>
                <a:gd name="T29" fmla="*/ 3012 h 6827"/>
                <a:gd name="T30" fmla="*/ 2335 w 6474"/>
                <a:gd name="T31" fmla="*/ 2326 h 6827"/>
                <a:gd name="T32" fmla="*/ 4958 w 6474"/>
                <a:gd name="T33" fmla="*/ 2517 h 6827"/>
                <a:gd name="T34" fmla="*/ 1651 w 6474"/>
                <a:gd name="T35" fmla="*/ 3012 h 6827"/>
                <a:gd name="T36" fmla="*/ 4053 w 6474"/>
                <a:gd name="T37" fmla="*/ 4435 h 6827"/>
                <a:gd name="T38" fmla="*/ 2422 w 6474"/>
                <a:gd name="T39" fmla="*/ 4435 h 6827"/>
                <a:gd name="T40" fmla="*/ 4053 w 6474"/>
                <a:gd name="T41" fmla="*/ 4435 h 6827"/>
                <a:gd name="T42" fmla="*/ 5693 w 6474"/>
                <a:gd name="T43" fmla="*/ 6270 h 6827"/>
                <a:gd name="T44" fmla="*/ 782 w 6474"/>
                <a:gd name="T45" fmla="*/ 6270 h 6827"/>
                <a:gd name="T46" fmla="*/ 752 w 6474"/>
                <a:gd name="T47" fmla="*/ 6206 h 6827"/>
                <a:gd name="T48" fmla="*/ 1965 w 6474"/>
                <a:gd name="T49" fmla="*/ 4754 h 6827"/>
                <a:gd name="T50" fmla="*/ 4510 w 6474"/>
                <a:gd name="T51" fmla="*/ 4755 h 6827"/>
                <a:gd name="T52" fmla="*/ 5723 w 6474"/>
                <a:gd name="T53" fmla="*/ 6206 h 6827"/>
                <a:gd name="T54" fmla="*/ 5693 w 6474"/>
                <a:gd name="T55" fmla="*/ 6270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474" h="6827">
                  <a:moveTo>
                    <a:pt x="6150" y="5849"/>
                  </a:moveTo>
                  <a:lnTo>
                    <a:pt x="4672" y="4081"/>
                  </a:lnTo>
                  <a:cubicBezTo>
                    <a:pt x="6334" y="2771"/>
                    <a:pt x="5433" y="0"/>
                    <a:pt x="3237" y="0"/>
                  </a:cubicBezTo>
                  <a:cubicBezTo>
                    <a:pt x="1047" y="0"/>
                    <a:pt x="134" y="2766"/>
                    <a:pt x="1802" y="4081"/>
                  </a:cubicBezTo>
                  <a:lnTo>
                    <a:pt x="325" y="5849"/>
                  </a:lnTo>
                  <a:cubicBezTo>
                    <a:pt x="0" y="6237"/>
                    <a:pt x="276" y="6827"/>
                    <a:pt x="782" y="6827"/>
                  </a:cubicBezTo>
                  <a:lnTo>
                    <a:pt x="5693" y="6827"/>
                  </a:lnTo>
                  <a:cubicBezTo>
                    <a:pt x="6199" y="6827"/>
                    <a:pt x="6474" y="6236"/>
                    <a:pt x="6150" y="5849"/>
                  </a:cubicBezTo>
                  <a:close/>
                  <a:moveTo>
                    <a:pt x="1509" y="2427"/>
                  </a:moveTo>
                  <a:cubicBezTo>
                    <a:pt x="1446" y="1415"/>
                    <a:pt x="2213" y="557"/>
                    <a:pt x="3237" y="557"/>
                  </a:cubicBezTo>
                  <a:cubicBezTo>
                    <a:pt x="3991" y="557"/>
                    <a:pt x="4706" y="1049"/>
                    <a:pt x="4913" y="1866"/>
                  </a:cubicBezTo>
                  <a:cubicBezTo>
                    <a:pt x="4202" y="2480"/>
                    <a:pt x="3109" y="2420"/>
                    <a:pt x="2472" y="1687"/>
                  </a:cubicBezTo>
                  <a:cubicBezTo>
                    <a:pt x="2337" y="1532"/>
                    <a:pt x="2086" y="1572"/>
                    <a:pt x="2006" y="1762"/>
                  </a:cubicBezTo>
                  <a:cubicBezTo>
                    <a:pt x="1896" y="2022"/>
                    <a:pt x="1725" y="2250"/>
                    <a:pt x="1509" y="2427"/>
                  </a:cubicBezTo>
                  <a:close/>
                  <a:moveTo>
                    <a:pt x="1651" y="3012"/>
                  </a:moveTo>
                  <a:cubicBezTo>
                    <a:pt x="1926" y="2834"/>
                    <a:pt x="2159" y="2600"/>
                    <a:pt x="2335" y="2326"/>
                  </a:cubicBezTo>
                  <a:cubicBezTo>
                    <a:pt x="3080" y="2932"/>
                    <a:pt x="4124" y="3014"/>
                    <a:pt x="4958" y="2517"/>
                  </a:cubicBezTo>
                  <a:cubicBezTo>
                    <a:pt x="4763" y="4234"/>
                    <a:pt x="2357" y="4593"/>
                    <a:pt x="1651" y="3012"/>
                  </a:cubicBezTo>
                  <a:close/>
                  <a:moveTo>
                    <a:pt x="4053" y="4435"/>
                  </a:moveTo>
                  <a:cubicBezTo>
                    <a:pt x="3614" y="5198"/>
                    <a:pt x="2860" y="5197"/>
                    <a:pt x="2422" y="4435"/>
                  </a:cubicBezTo>
                  <a:cubicBezTo>
                    <a:pt x="2946" y="4634"/>
                    <a:pt x="3528" y="4634"/>
                    <a:pt x="4053" y="4435"/>
                  </a:cubicBezTo>
                  <a:close/>
                  <a:moveTo>
                    <a:pt x="5693" y="6270"/>
                  </a:moveTo>
                  <a:lnTo>
                    <a:pt x="782" y="6270"/>
                  </a:lnTo>
                  <a:cubicBezTo>
                    <a:pt x="748" y="6270"/>
                    <a:pt x="730" y="6232"/>
                    <a:pt x="752" y="6206"/>
                  </a:cubicBezTo>
                  <a:lnTo>
                    <a:pt x="1965" y="4754"/>
                  </a:lnTo>
                  <a:cubicBezTo>
                    <a:pt x="2617" y="5833"/>
                    <a:pt x="3858" y="5837"/>
                    <a:pt x="4510" y="4755"/>
                  </a:cubicBezTo>
                  <a:lnTo>
                    <a:pt x="5723" y="6206"/>
                  </a:lnTo>
                  <a:cubicBezTo>
                    <a:pt x="5745" y="6232"/>
                    <a:pt x="5727" y="6270"/>
                    <a:pt x="5693" y="627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338279" y="4543558"/>
            <a:ext cx="468000" cy="468000"/>
            <a:chOff x="6338279" y="4543558"/>
            <a:chExt cx="468000" cy="468000"/>
          </a:xfrm>
        </p:grpSpPr>
        <p:sp>
          <p:nvSpPr>
            <p:cNvPr id="20" name="椭圆 19"/>
            <p:cNvSpPr>
              <a:spLocks noChangeAspect="1"/>
            </p:cNvSpPr>
            <p:nvPr/>
          </p:nvSpPr>
          <p:spPr>
            <a:xfrm>
              <a:off x="6338279" y="4543558"/>
              <a:ext cx="468000" cy="46800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: 形状 27"/>
            <p:cNvSpPr>
              <a:spLocks noChangeAspect="1"/>
            </p:cNvSpPr>
            <p:nvPr/>
          </p:nvSpPr>
          <p:spPr>
            <a:xfrm>
              <a:off x="6460771" y="4651558"/>
              <a:ext cx="223017" cy="252000"/>
            </a:xfrm>
            <a:custGeom>
              <a:avLst/>
              <a:gdLst>
                <a:gd name="T0" fmla="*/ 4674 w 6479"/>
                <a:gd name="T1" fmla="*/ 4582 h 7332"/>
                <a:gd name="T2" fmla="*/ 5533 w 6479"/>
                <a:gd name="T3" fmla="*/ 3453 h 7332"/>
                <a:gd name="T4" fmla="*/ 5396 w 6479"/>
                <a:gd name="T5" fmla="*/ 2009 h 7332"/>
                <a:gd name="T6" fmla="*/ 946 w 6479"/>
                <a:gd name="T7" fmla="*/ 2249 h 7332"/>
                <a:gd name="T8" fmla="*/ 1140 w 6479"/>
                <a:gd name="T9" fmla="*/ 3719 h 7332"/>
                <a:gd name="T10" fmla="*/ 324 w 6479"/>
                <a:gd name="T11" fmla="*/ 6353 h 7332"/>
                <a:gd name="T12" fmla="*/ 5697 w 6479"/>
                <a:gd name="T13" fmla="*/ 7332 h 7332"/>
                <a:gd name="T14" fmla="*/ 4976 w 6479"/>
                <a:gd name="T15" fmla="*/ 2528 h 7332"/>
                <a:gd name="T16" fmla="*/ 4038 w 6479"/>
                <a:gd name="T17" fmla="*/ 3174 h 7332"/>
                <a:gd name="T18" fmla="*/ 4976 w 6479"/>
                <a:gd name="T19" fmla="*/ 2528 h 7332"/>
                <a:gd name="T20" fmla="*/ 3759 w 6479"/>
                <a:gd name="T21" fmla="*/ 1971 h 7332"/>
                <a:gd name="T22" fmla="*/ 3481 w 6479"/>
                <a:gd name="T23" fmla="*/ 2572 h 7332"/>
                <a:gd name="T24" fmla="*/ 2998 w 6479"/>
                <a:gd name="T25" fmla="*/ 2249 h 7332"/>
                <a:gd name="T26" fmla="*/ 1706 w 6479"/>
                <a:gd name="T27" fmla="*/ 1971 h 7332"/>
                <a:gd name="T28" fmla="*/ 1503 w 6479"/>
                <a:gd name="T29" fmla="*/ 3174 h 7332"/>
                <a:gd name="T30" fmla="*/ 2441 w 6479"/>
                <a:gd name="T31" fmla="*/ 2528 h 7332"/>
                <a:gd name="T32" fmla="*/ 1503 w 6479"/>
                <a:gd name="T33" fmla="*/ 3174 h 7332"/>
                <a:gd name="T34" fmla="*/ 2719 w 6479"/>
                <a:gd name="T35" fmla="*/ 3731 h 7332"/>
                <a:gd name="T36" fmla="*/ 2998 w 6479"/>
                <a:gd name="T37" fmla="*/ 3130 h 7332"/>
                <a:gd name="T38" fmla="*/ 3481 w 6479"/>
                <a:gd name="T39" fmla="*/ 3453 h 7332"/>
                <a:gd name="T40" fmla="*/ 4701 w 6479"/>
                <a:gd name="T41" fmla="*/ 3731 h 7332"/>
                <a:gd name="T42" fmla="*/ 3703 w 6479"/>
                <a:gd name="T43" fmla="*/ 5617 h 7332"/>
                <a:gd name="T44" fmla="*/ 2914 w 6479"/>
                <a:gd name="T45" fmla="*/ 5065 h 7332"/>
                <a:gd name="T46" fmla="*/ 3703 w 6479"/>
                <a:gd name="T47" fmla="*/ 5617 h 7332"/>
                <a:gd name="T48" fmla="*/ 782 w 6479"/>
                <a:gd name="T49" fmla="*/ 6774 h 7332"/>
                <a:gd name="T50" fmla="*/ 2283 w 6479"/>
                <a:gd name="T51" fmla="*/ 4879 h 7332"/>
                <a:gd name="T52" fmla="*/ 1914 w 6479"/>
                <a:gd name="T53" fmla="*/ 6774 h 7332"/>
                <a:gd name="T54" fmla="*/ 2637 w 6479"/>
                <a:gd name="T55" fmla="*/ 6174 h 7332"/>
                <a:gd name="T56" fmla="*/ 3992 w 6479"/>
                <a:gd name="T57" fmla="*/ 6774 h 7332"/>
                <a:gd name="T58" fmla="*/ 5697 w 6479"/>
                <a:gd name="T59" fmla="*/ 6774 h 7332"/>
                <a:gd name="T60" fmla="*/ 4103 w 6479"/>
                <a:gd name="T61" fmla="*/ 4919 h 7332"/>
                <a:gd name="T62" fmla="*/ 5727 w 6479"/>
                <a:gd name="T63" fmla="*/ 6710 h 7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79" h="7332">
                  <a:moveTo>
                    <a:pt x="6154" y="6353"/>
                  </a:moveTo>
                  <a:lnTo>
                    <a:pt x="4674" y="4582"/>
                  </a:lnTo>
                  <a:cubicBezTo>
                    <a:pt x="4961" y="4352"/>
                    <a:pt x="5190" y="4055"/>
                    <a:pt x="5338" y="3719"/>
                  </a:cubicBezTo>
                  <a:cubicBezTo>
                    <a:pt x="5451" y="3683"/>
                    <a:pt x="5533" y="3577"/>
                    <a:pt x="5533" y="3453"/>
                  </a:cubicBezTo>
                  <a:lnTo>
                    <a:pt x="5533" y="2249"/>
                  </a:lnTo>
                  <a:cubicBezTo>
                    <a:pt x="5533" y="2147"/>
                    <a:pt x="5478" y="2058"/>
                    <a:pt x="5396" y="2009"/>
                  </a:cubicBezTo>
                  <a:cubicBezTo>
                    <a:pt x="4680" y="0"/>
                    <a:pt x="1797" y="7"/>
                    <a:pt x="1083" y="2009"/>
                  </a:cubicBezTo>
                  <a:cubicBezTo>
                    <a:pt x="1001" y="2058"/>
                    <a:pt x="946" y="2147"/>
                    <a:pt x="946" y="2249"/>
                  </a:cubicBezTo>
                  <a:lnTo>
                    <a:pt x="946" y="3453"/>
                  </a:lnTo>
                  <a:cubicBezTo>
                    <a:pt x="946" y="3577"/>
                    <a:pt x="1028" y="3683"/>
                    <a:pt x="1140" y="3719"/>
                  </a:cubicBezTo>
                  <a:cubicBezTo>
                    <a:pt x="1289" y="4055"/>
                    <a:pt x="1517" y="4352"/>
                    <a:pt x="1805" y="4582"/>
                  </a:cubicBezTo>
                  <a:lnTo>
                    <a:pt x="324" y="6353"/>
                  </a:lnTo>
                  <a:cubicBezTo>
                    <a:pt x="0" y="6741"/>
                    <a:pt x="276" y="7332"/>
                    <a:pt x="782" y="7332"/>
                  </a:cubicBezTo>
                  <a:lnTo>
                    <a:pt x="5697" y="7332"/>
                  </a:lnTo>
                  <a:cubicBezTo>
                    <a:pt x="6203" y="7332"/>
                    <a:pt x="6479" y="6741"/>
                    <a:pt x="6154" y="6353"/>
                  </a:cubicBezTo>
                  <a:close/>
                  <a:moveTo>
                    <a:pt x="4976" y="2528"/>
                  </a:moveTo>
                  <a:lnTo>
                    <a:pt x="4976" y="3174"/>
                  </a:lnTo>
                  <a:lnTo>
                    <a:pt x="4038" y="3174"/>
                  </a:lnTo>
                  <a:lnTo>
                    <a:pt x="4038" y="2528"/>
                  </a:lnTo>
                  <a:lnTo>
                    <a:pt x="4976" y="2528"/>
                  </a:lnTo>
                  <a:close/>
                  <a:moveTo>
                    <a:pt x="4773" y="1971"/>
                  </a:moveTo>
                  <a:lnTo>
                    <a:pt x="3759" y="1971"/>
                  </a:lnTo>
                  <a:cubicBezTo>
                    <a:pt x="3606" y="1971"/>
                    <a:pt x="3481" y="2095"/>
                    <a:pt x="3481" y="2249"/>
                  </a:cubicBezTo>
                  <a:lnTo>
                    <a:pt x="3481" y="2572"/>
                  </a:lnTo>
                  <a:lnTo>
                    <a:pt x="2998" y="2572"/>
                  </a:lnTo>
                  <a:lnTo>
                    <a:pt x="2998" y="2249"/>
                  </a:lnTo>
                  <a:cubicBezTo>
                    <a:pt x="2998" y="2095"/>
                    <a:pt x="2873" y="1971"/>
                    <a:pt x="2719" y="1971"/>
                  </a:cubicBezTo>
                  <a:lnTo>
                    <a:pt x="1706" y="1971"/>
                  </a:lnTo>
                  <a:cubicBezTo>
                    <a:pt x="2333" y="759"/>
                    <a:pt x="4145" y="758"/>
                    <a:pt x="4773" y="1971"/>
                  </a:cubicBezTo>
                  <a:close/>
                  <a:moveTo>
                    <a:pt x="1503" y="3174"/>
                  </a:moveTo>
                  <a:lnTo>
                    <a:pt x="1503" y="2528"/>
                  </a:lnTo>
                  <a:lnTo>
                    <a:pt x="2441" y="2528"/>
                  </a:lnTo>
                  <a:lnTo>
                    <a:pt x="2441" y="3174"/>
                  </a:lnTo>
                  <a:lnTo>
                    <a:pt x="1503" y="3174"/>
                  </a:lnTo>
                  <a:close/>
                  <a:moveTo>
                    <a:pt x="1778" y="3731"/>
                  </a:moveTo>
                  <a:lnTo>
                    <a:pt x="2719" y="3731"/>
                  </a:lnTo>
                  <a:cubicBezTo>
                    <a:pt x="2873" y="3731"/>
                    <a:pt x="2998" y="3607"/>
                    <a:pt x="2998" y="3453"/>
                  </a:cubicBezTo>
                  <a:lnTo>
                    <a:pt x="2998" y="3130"/>
                  </a:lnTo>
                  <a:lnTo>
                    <a:pt x="3481" y="3130"/>
                  </a:lnTo>
                  <a:lnTo>
                    <a:pt x="3481" y="3453"/>
                  </a:lnTo>
                  <a:cubicBezTo>
                    <a:pt x="3481" y="3607"/>
                    <a:pt x="3606" y="3731"/>
                    <a:pt x="3759" y="3731"/>
                  </a:cubicBezTo>
                  <a:lnTo>
                    <a:pt x="4701" y="3731"/>
                  </a:lnTo>
                  <a:cubicBezTo>
                    <a:pt x="4022" y="4786"/>
                    <a:pt x="2466" y="4802"/>
                    <a:pt x="1778" y="3731"/>
                  </a:cubicBezTo>
                  <a:close/>
                  <a:moveTo>
                    <a:pt x="3703" y="5617"/>
                  </a:moveTo>
                  <a:lnTo>
                    <a:pt x="2776" y="5617"/>
                  </a:lnTo>
                  <a:cubicBezTo>
                    <a:pt x="2817" y="5453"/>
                    <a:pt x="2863" y="5270"/>
                    <a:pt x="2914" y="5065"/>
                  </a:cubicBezTo>
                  <a:cubicBezTo>
                    <a:pt x="3126" y="5095"/>
                    <a:pt x="3347" y="5096"/>
                    <a:pt x="3565" y="5065"/>
                  </a:cubicBezTo>
                  <a:cubicBezTo>
                    <a:pt x="3616" y="5269"/>
                    <a:pt x="3662" y="5453"/>
                    <a:pt x="3703" y="5617"/>
                  </a:cubicBezTo>
                  <a:close/>
                  <a:moveTo>
                    <a:pt x="1914" y="6774"/>
                  </a:moveTo>
                  <a:lnTo>
                    <a:pt x="782" y="6774"/>
                  </a:lnTo>
                  <a:cubicBezTo>
                    <a:pt x="748" y="6774"/>
                    <a:pt x="730" y="6736"/>
                    <a:pt x="752" y="6710"/>
                  </a:cubicBezTo>
                  <a:lnTo>
                    <a:pt x="2283" y="4879"/>
                  </a:lnTo>
                  <a:cubicBezTo>
                    <a:pt x="2318" y="4895"/>
                    <a:pt x="2345" y="4906"/>
                    <a:pt x="2376" y="4919"/>
                  </a:cubicBezTo>
                  <a:cubicBezTo>
                    <a:pt x="2077" y="6116"/>
                    <a:pt x="1965" y="6558"/>
                    <a:pt x="1914" y="6774"/>
                  </a:cubicBezTo>
                  <a:close/>
                  <a:moveTo>
                    <a:pt x="2487" y="6774"/>
                  </a:moveTo>
                  <a:cubicBezTo>
                    <a:pt x="2518" y="6649"/>
                    <a:pt x="2565" y="6460"/>
                    <a:pt x="2637" y="6174"/>
                  </a:cubicBezTo>
                  <a:lnTo>
                    <a:pt x="3842" y="6174"/>
                  </a:lnTo>
                  <a:cubicBezTo>
                    <a:pt x="3914" y="6460"/>
                    <a:pt x="3961" y="6649"/>
                    <a:pt x="3992" y="6774"/>
                  </a:cubicBezTo>
                  <a:lnTo>
                    <a:pt x="2487" y="6774"/>
                  </a:lnTo>
                  <a:close/>
                  <a:moveTo>
                    <a:pt x="5697" y="6774"/>
                  </a:moveTo>
                  <a:lnTo>
                    <a:pt x="4565" y="6774"/>
                  </a:lnTo>
                  <a:cubicBezTo>
                    <a:pt x="4513" y="6557"/>
                    <a:pt x="4400" y="6108"/>
                    <a:pt x="4103" y="4919"/>
                  </a:cubicBezTo>
                  <a:cubicBezTo>
                    <a:pt x="4133" y="4906"/>
                    <a:pt x="4158" y="4896"/>
                    <a:pt x="4196" y="4879"/>
                  </a:cubicBezTo>
                  <a:lnTo>
                    <a:pt x="5727" y="6710"/>
                  </a:lnTo>
                  <a:cubicBezTo>
                    <a:pt x="5748" y="6736"/>
                    <a:pt x="5731" y="6774"/>
                    <a:pt x="5697" y="677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sp>
          <p:nvSpPr>
            <p:cNvPr id="8" name="箭头: 五边形 7"/>
            <p:cNvSpPr/>
            <p:nvPr/>
          </p:nvSpPr>
          <p:spPr>
            <a:xfrm>
              <a:off x="-1" y="0"/>
              <a:ext cx="4320000" cy="6858000"/>
            </a:xfrm>
            <a:prstGeom prst="homePlate">
              <a:avLst>
                <a:gd name="adj" fmla="val 299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1976000" y="0"/>
              <a:ext cx="216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2910914"/>
            <a:ext cx="3092734" cy="1036172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5038900" y="1089000"/>
            <a:ext cx="6480000" cy="4680000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0" y="0"/>
            <a:ext cx="12192002" cy="6858000"/>
            <a:chOff x="0" y="0"/>
            <a:chExt cx="12192002" cy="6858000"/>
          </a:xfrm>
        </p:grpSpPr>
        <p:sp>
          <p:nvSpPr>
            <p:cNvPr id="13" name="任意多边形: 形状 12"/>
            <p:cNvSpPr/>
            <p:nvPr/>
          </p:nvSpPr>
          <p:spPr>
            <a:xfrm flipV="1">
              <a:off x="0" y="0"/>
              <a:ext cx="12192002" cy="1872000"/>
            </a:xfrm>
            <a:custGeom>
              <a:avLst/>
              <a:gdLst>
                <a:gd name="connsiteX0" fmla="*/ 12192002 w 12192002"/>
                <a:gd name="connsiteY0" fmla="*/ 0 h 1942911"/>
                <a:gd name="connsiteX1" fmla="*/ 12192002 w 12192002"/>
                <a:gd name="connsiteY1" fmla="*/ 1942911 h 1942911"/>
                <a:gd name="connsiteX2" fmla="*/ 0 w 12192002"/>
                <a:gd name="connsiteY2" fmla="*/ 1942911 h 1942911"/>
                <a:gd name="connsiteX3" fmla="*/ 0 w 12192002"/>
                <a:gd name="connsiteY3" fmla="*/ 0 h 1942911"/>
                <a:gd name="connsiteX4" fmla="*/ 6096000 w 12192002"/>
                <a:gd name="connsiteY4" fmla="*/ 1455517 h 194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2" h="1942911">
                  <a:moveTo>
                    <a:pt x="12192002" y="0"/>
                  </a:moveTo>
                  <a:lnTo>
                    <a:pt x="12192002" y="1942911"/>
                  </a:lnTo>
                  <a:lnTo>
                    <a:pt x="0" y="1942911"/>
                  </a:lnTo>
                  <a:lnTo>
                    <a:pt x="0" y="0"/>
                  </a:lnTo>
                  <a:lnTo>
                    <a:pt x="6096000" y="14555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0" y="6642000"/>
              <a:ext cx="12192002" cy="21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5080264" y="1356939"/>
              <a:ext cx="2018771" cy="1494742"/>
            </a:xfrm>
            <a:custGeom>
              <a:avLst/>
              <a:gdLst>
                <a:gd name="connsiteX0" fmla="*/ 105213 w 607850"/>
                <a:gd name="connsiteY0" fmla="*/ 237029 h 450066"/>
                <a:gd name="connsiteX1" fmla="*/ 303784 w 607850"/>
                <a:gd name="connsiteY1" fmla="*/ 332583 h 450066"/>
                <a:gd name="connsiteX2" fmla="*/ 502355 w 607850"/>
                <a:gd name="connsiteY2" fmla="*/ 237029 h 450066"/>
                <a:gd name="connsiteX3" fmla="*/ 502355 w 607850"/>
                <a:gd name="connsiteY3" fmla="*/ 323554 h 450066"/>
                <a:gd name="connsiteX4" fmla="*/ 501884 w 607850"/>
                <a:gd name="connsiteY4" fmla="*/ 324683 h 450066"/>
                <a:gd name="connsiteX5" fmla="*/ 319233 w 607850"/>
                <a:gd name="connsiteY5" fmla="*/ 412525 h 450066"/>
                <a:gd name="connsiteX6" fmla="*/ 288430 w 607850"/>
                <a:gd name="connsiteY6" fmla="*/ 412525 h 450066"/>
                <a:gd name="connsiteX7" fmla="*/ 105213 w 607850"/>
                <a:gd name="connsiteY7" fmla="*/ 324495 h 450066"/>
                <a:gd name="connsiteX8" fmla="*/ 575837 w 607850"/>
                <a:gd name="connsiteY8" fmla="*/ 200688 h 450066"/>
                <a:gd name="connsiteX9" fmla="*/ 575837 w 607850"/>
                <a:gd name="connsiteY9" fmla="*/ 370765 h 450066"/>
                <a:gd name="connsiteX10" fmla="*/ 591549 w 607850"/>
                <a:gd name="connsiteY10" fmla="*/ 418459 h 450066"/>
                <a:gd name="connsiteX11" fmla="*/ 567839 w 607850"/>
                <a:gd name="connsiteY11" fmla="*/ 450066 h 450066"/>
                <a:gd name="connsiteX12" fmla="*/ 559842 w 607850"/>
                <a:gd name="connsiteY12" fmla="*/ 450066 h 450066"/>
                <a:gd name="connsiteX13" fmla="*/ 536226 w 607850"/>
                <a:gd name="connsiteY13" fmla="*/ 418459 h 450066"/>
                <a:gd name="connsiteX14" fmla="*/ 551844 w 607850"/>
                <a:gd name="connsiteY14" fmla="*/ 370765 h 450066"/>
                <a:gd name="connsiteX15" fmla="*/ 551844 w 607850"/>
                <a:gd name="connsiteY15" fmla="*/ 212823 h 450066"/>
                <a:gd name="connsiteX16" fmla="*/ 303784 w 607850"/>
                <a:gd name="connsiteY16" fmla="*/ 0 h 450066"/>
                <a:gd name="connsiteX17" fmla="*/ 607850 w 607850"/>
                <a:gd name="connsiteY17" fmla="*/ 146272 h 450066"/>
                <a:gd name="connsiteX18" fmla="*/ 607850 w 607850"/>
                <a:gd name="connsiteY18" fmla="*/ 159629 h 450066"/>
                <a:gd name="connsiteX19" fmla="*/ 303784 w 607850"/>
                <a:gd name="connsiteY19" fmla="*/ 305901 h 450066"/>
                <a:gd name="connsiteX20" fmla="*/ 0 w 607850"/>
                <a:gd name="connsiteY20" fmla="*/ 159817 h 450066"/>
                <a:gd name="connsiteX21" fmla="*/ 0 w 607850"/>
                <a:gd name="connsiteY21" fmla="*/ 146178 h 45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7850" h="450066">
                  <a:moveTo>
                    <a:pt x="105213" y="237029"/>
                  </a:moveTo>
                  <a:lnTo>
                    <a:pt x="303784" y="332583"/>
                  </a:lnTo>
                  <a:lnTo>
                    <a:pt x="502355" y="237029"/>
                  </a:lnTo>
                  <a:lnTo>
                    <a:pt x="502355" y="323554"/>
                  </a:lnTo>
                  <a:cubicBezTo>
                    <a:pt x="502167" y="323931"/>
                    <a:pt x="502072" y="324307"/>
                    <a:pt x="501884" y="324683"/>
                  </a:cubicBezTo>
                  <a:lnTo>
                    <a:pt x="319233" y="412525"/>
                  </a:lnTo>
                  <a:lnTo>
                    <a:pt x="288430" y="412525"/>
                  </a:lnTo>
                  <a:lnTo>
                    <a:pt x="105213" y="324495"/>
                  </a:lnTo>
                  <a:close/>
                  <a:moveTo>
                    <a:pt x="575837" y="200688"/>
                  </a:moveTo>
                  <a:lnTo>
                    <a:pt x="575837" y="370765"/>
                  </a:lnTo>
                  <a:lnTo>
                    <a:pt x="591549" y="418459"/>
                  </a:lnTo>
                  <a:lnTo>
                    <a:pt x="567839" y="450066"/>
                  </a:lnTo>
                  <a:lnTo>
                    <a:pt x="559842" y="450066"/>
                  </a:lnTo>
                  <a:lnTo>
                    <a:pt x="536226" y="418459"/>
                  </a:lnTo>
                  <a:lnTo>
                    <a:pt x="551844" y="370765"/>
                  </a:lnTo>
                  <a:lnTo>
                    <a:pt x="551844" y="212823"/>
                  </a:lnTo>
                  <a:close/>
                  <a:moveTo>
                    <a:pt x="303784" y="0"/>
                  </a:moveTo>
                  <a:lnTo>
                    <a:pt x="607850" y="146272"/>
                  </a:lnTo>
                  <a:lnTo>
                    <a:pt x="607850" y="159629"/>
                  </a:lnTo>
                  <a:lnTo>
                    <a:pt x="303784" y="305901"/>
                  </a:lnTo>
                  <a:lnTo>
                    <a:pt x="0" y="159817"/>
                  </a:lnTo>
                  <a:lnTo>
                    <a:pt x="0" y="146178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1319650" y="4913476"/>
              <a:ext cx="954000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229650" y="2960865"/>
            <a:ext cx="9720000" cy="108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1229650" y="4103197"/>
            <a:ext cx="9720000" cy="612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27A813-B2FD-42E1-9222-83B574E99074}" type="datetime1">
              <a:rPr lang="en-US" altLang="zh-CN" smtClean="0"/>
              <a:pPr/>
              <a:t>2/1/2026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af-ZA" altLang="zh-CN"/>
              <a:t>iSlide</a:t>
            </a:r>
            <a:endParaRPr lang="af-ZA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Pr>
        <a:gradFill>
          <a:gsLst>
            <a:gs pos="100000">
              <a:schemeClr val="accent1">
                <a:lumMod val="10000"/>
                <a:lumOff val="90000"/>
              </a:schemeClr>
            </a:gs>
            <a:gs pos="0">
              <a:schemeClr val="bg1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0"/>
            <a:ext cx="12192002" cy="6858000"/>
            <a:chOff x="0" y="0"/>
            <a:chExt cx="12192002" cy="6858000"/>
          </a:xfrm>
        </p:grpSpPr>
        <p:sp>
          <p:nvSpPr>
            <p:cNvPr id="6" name="任意多边形: 形状 5"/>
            <p:cNvSpPr/>
            <p:nvPr/>
          </p:nvSpPr>
          <p:spPr>
            <a:xfrm>
              <a:off x="0" y="4986000"/>
              <a:ext cx="12192002" cy="1872000"/>
            </a:xfrm>
            <a:custGeom>
              <a:avLst/>
              <a:gdLst>
                <a:gd name="connsiteX0" fmla="*/ 12192002 w 12192002"/>
                <a:gd name="connsiteY0" fmla="*/ 0 h 1942911"/>
                <a:gd name="connsiteX1" fmla="*/ 12192002 w 12192002"/>
                <a:gd name="connsiteY1" fmla="*/ 1942911 h 1942911"/>
                <a:gd name="connsiteX2" fmla="*/ 0 w 12192002"/>
                <a:gd name="connsiteY2" fmla="*/ 1942911 h 1942911"/>
                <a:gd name="connsiteX3" fmla="*/ 0 w 12192002"/>
                <a:gd name="connsiteY3" fmla="*/ 0 h 1942911"/>
                <a:gd name="connsiteX4" fmla="*/ 6096000 w 12192002"/>
                <a:gd name="connsiteY4" fmla="*/ 1455517 h 194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2" h="1942911">
                  <a:moveTo>
                    <a:pt x="12192002" y="0"/>
                  </a:moveTo>
                  <a:lnTo>
                    <a:pt x="12192002" y="1942911"/>
                  </a:lnTo>
                  <a:lnTo>
                    <a:pt x="0" y="1942911"/>
                  </a:lnTo>
                  <a:lnTo>
                    <a:pt x="0" y="0"/>
                  </a:lnTo>
                  <a:lnTo>
                    <a:pt x="6096000" y="14555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0"/>
              <a:ext cx="12192002" cy="21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080264" y="706022"/>
              <a:ext cx="2018771" cy="1494742"/>
            </a:xfrm>
            <a:custGeom>
              <a:avLst/>
              <a:gdLst>
                <a:gd name="connsiteX0" fmla="*/ 105213 w 607850"/>
                <a:gd name="connsiteY0" fmla="*/ 237029 h 450066"/>
                <a:gd name="connsiteX1" fmla="*/ 303784 w 607850"/>
                <a:gd name="connsiteY1" fmla="*/ 332583 h 450066"/>
                <a:gd name="connsiteX2" fmla="*/ 502355 w 607850"/>
                <a:gd name="connsiteY2" fmla="*/ 237029 h 450066"/>
                <a:gd name="connsiteX3" fmla="*/ 502355 w 607850"/>
                <a:gd name="connsiteY3" fmla="*/ 323554 h 450066"/>
                <a:gd name="connsiteX4" fmla="*/ 501884 w 607850"/>
                <a:gd name="connsiteY4" fmla="*/ 324683 h 450066"/>
                <a:gd name="connsiteX5" fmla="*/ 319233 w 607850"/>
                <a:gd name="connsiteY5" fmla="*/ 412525 h 450066"/>
                <a:gd name="connsiteX6" fmla="*/ 288430 w 607850"/>
                <a:gd name="connsiteY6" fmla="*/ 412525 h 450066"/>
                <a:gd name="connsiteX7" fmla="*/ 105213 w 607850"/>
                <a:gd name="connsiteY7" fmla="*/ 324495 h 450066"/>
                <a:gd name="connsiteX8" fmla="*/ 575837 w 607850"/>
                <a:gd name="connsiteY8" fmla="*/ 200688 h 450066"/>
                <a:gd name="connsiteX9" fmla="*/ 575837 w 607850"/>
                <a:gd name="connsiteY9" fmla="*/ 370765 h 450066"/>
                <a:gd name="connsiteX10" fmla="*/ 591549 w 607850"/>
                <a:gd name="connsiteY10" fmla="*/ 418459 h 450066"/>
                <a:gd name="connsiteX11" fmla="*/ 567839 w 607850"/>
                <a:gd name="connsiteY11" fmla="*/ 450066 h 450066"/>
                <a:gd name="connsiteX12" fmla="*/ 559842 w 607850"/>
                <a:gd name="connsiteY12" fmla="*/ 450066 h 450066"/>
                <a:gd name="connsiteX13" fmla="*/ 536226 w 607850"/>
                <a:gd name="connsiteY13" fmla="*/ 418459 h 450066"/>
                <a:gd name="connsiteX14" fmla="*/ 551844 w 607850"/>
                <a:gd name="connsiteY14" fmla="*/ 370765 h 450066"/>
                <a:gd name="connsiteX15" fmla="*/ 551844 w 607850"/>
                <a:gd name="connsiteY15" fmla="*/ 212823 h 450066"/>
                <a:gd name="connsiteX16" fmla="*/ 303784 w 607850"/>
                <a:gd name="connsiteY16" fmla="*/ 0 h 450066"/>
                <a:gd name="connsiteX17" fmla="*/ 607850 w 607850"/>
                <a:gd name="connsiteY17" fmla="*/ 146272 h 450066"/>
                <a:gd name="connsiteX18" fmla="*/ 607850 w 607850"/>
                <a:gd name="connsiteY18" fmla="*/ 159629 h 450066"/>
                <a:gd name="connsiteX19" fmla="*/ 303784 w 607850"/>
                <a:gd name="connsiteY19" fmla="*/ 305901 h 450066"/>
                <a:gd name="connsiteX20" fmla="*/ 0 w 607850"/>
                <a:gd name="connsiteY20" fmla="*/ 159817 h 450066"/>
                <a:gd name="connsiteX21" fmla="*/ 0 w 607850"/>
                <a:gd name="connsiteY21" fmla="*/ 146178 h 45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7850" h="450066">
                  <a:moveTo>
                    <a:pt x="105213" y="237029"/>
                  </a:moveTo>
                  <a:lnTo>
                    <a:pt x="303784" y="332583"/>
                  </a:lnTo>
                  <a:lnTo>
                    <a:pt x="502355" y="237029"/>
                  </a:lnTo>
                  <a:lnTo>
                    <a:pt x="502355" y="323554"/>
                  </a:lnTo>
                  <a:cubicBezTo>
                    <a:pt x="502167" y="323931"/>
                    <a:pt x="502072" y="324307"/>
                    <a:pt x="501884" y="324683"/>
                  </a:cubicBezTo>
                  <a:lnTo>
                    <a:pt x="319233" y="412525"/>
                  </a:lnTo>
                  <a:lnTo>
                    <a:pt x="288430" y="412525"/>
                  </a:lnTo>
                  <a:lnTo>
                    <a:pt x="105213" y="324495"/>
                  </a:lnTo>
                  <a:close/>
                  <a:moveTo>
                    <a:pt x="575837" y="200688"/>
                  </a:moveTo>
                  <a:lnTo>
                    <a:pt x="575837" y="370765"/>
                  </a:lnTo>
                  <a:lnTo>
                    <a:pt x="591549" y="418459"/>
                  </a:lnTo>
                  <a:lnTo>
                    <a:pt x="567839" y="450066"/>
                  </a:lnTo>
                  <a:lnTo>
                    <a:pt x="559842" y="450066"/>
                  </a:lnTo>
                  <a:lnTo>
                    <a:pt x="536226" y="418459"/>
                  </a:lnTo>
                  <a:lnTo>
                    <a:pt x="551844" y="370765"/>
                  </a:lnTo>
                  <a:lnTo>
                    <a:pt x="551844" y="212823"/>
                  </a:lnTo>
                  <a:close/>
                  <a:moveTo>
                    <a:pt x="303784" y="0"/>
                  </a:moveTo>
                  <a:lnTo>
                    <a:pt x="607850" y="146272"/>
                  </a:lnTo>
                  <a:lnTo>
                    <a:pt x="607850" y="159629"/>
                  </a:lnTo>
                  <a:lnTo>
                    <a:pt x="303784" y="305901"/>
                  </a:lnTo>
                  <a:lnTo>
                    <a:pt x="0" y="159817"/>
                  </a:lnTo>
                  <a:lnTo>
                    <a:pt x="0" y="146178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1319650" y="3862557"/>
              <a:ext cx="954000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1229649" y="1028700"/>
            <a:ext cx="9720000" cy="2628000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ctr">
              <a:lnSpc>
                <a:spcPct val="100000"/>
              </a:lnSpc>
              <a:defRPr sz="8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674922" y="4561558"/>
            <a:ext cx="2340000" cy="432000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</p:nvPr>
        </p:nvSpPr>
        <p:spPr>
          <a:xfrm>
            <a:off x="6896452" y="4561558"/>
            <a:ext cx="2340000" cy="432000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3118380" y="4543558"/>
            <a:ext cx="468000" cy="468000"/>
            <a:chOff x="3118380" y="4543558"/>
            <a:chExt cx="468000" cy="468000"/>
          </a:xfrm>
        </p:grpSpPr>
        <p:sp>
          <p:nvSpPr>
            <p:cNvPr id="17" name="椭圆 16"/>
            <p:cNvSpPr>
              <a:spLocks noChangeAspect="1"/>
            </p:cNvSpPr>
            <p:nvPr/>
          </p:nvSpPr>
          <p:spPr>
            <a:xfrm>
              <a:off x="3118380" y="4543558"/>
              <a:ext cx="468000" cy="46800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: 形状 17"/>
            <p:cNvSpPr>
              <a:spLocks noChangeAspect="1"/>
            </p:cNvSpPr>
            <p:nvPr/>
          </p:nvSpPr>
          <p:spPr>
            <a:xfrm>
              <a:off x="3232712" y="4651558"/>
              <a:ext cx="239337" cy="252000"/>
            </a:xfrm>
            <a:custGeom>
              <a:avLst/>
              <a:gdLst>
                <a:gd name="T0" fmla="*/ 6150 w 6474"/>
                <a:gd name="T1" fmla="*/ 5849 h 6827"/>
                <a:gd name="T2" fmla="*/ 4672 w 6474"/>
                <a:gd name="T3" fmla="*/ 4081 h 6827"/>
                <a:gd name="T4" fmla="*/ 3237 w 6474"/>
                <a:gd name="T5" fmla="*/ 0 h 6827"/>
                <a:gd name="T6" fmla="*/ 1802 w 6474"/>
                <a:gd name="T7" fmla="*/ 4081 h 6827"/>
                <a:gd name="T8" fmla="*/ 325 w 6474"/>
                <a:gd name="T9" fmla="*/ 5849 h 6827"/>
                <a:gd name="T10" fmla="*/ 782 w 6474"/>
                <a:gd name="T11" fmla="*/ 6827 h 6827"/>
                <a:gd name="T12" fmla="*/ 5693 w 6474"/>
                <a:gd name="T13" fmla="*/ 6827 h 6827"/>
                <a:gd name="T14" fmla="*/ 6150 w 6474"/>
                <a:gd name="T15" fmla="*/ 5849 h 6827"/>
                <a:gd name="T16" fmla="*/ 1509 w 6474"/>
                <a:gd name="T17" fmla="*/ 2427 h 6827"/>
                <a:gd name="T18" fmla="*/ 3237 w 6474"/>
                <a:gd name="T19" fmla="*/ 557 h 6827"/>
                <a:gd name="T20" fmla="*/ 4913 w 6474"/>
                <a:gd name="T21" fmla="*/ 1866 h 6827"/>
                <a:gd name="T22" fmla="*/ 2472 w 6474"/>
                <a:gd name="T23" fmla="*/ 1687 h 6827"/>
                <a:gd name="T24" fmla="*/ 2006 w 6474"/>
                <a:gd name="T25" fmla="*/ 1762 h 6827"/>
                <a:gd name="T26" fmla="*/ 1509 w 6474"/>
                <a:gd name="T27" fmla="*/ 2427 h 6827"/>
                <a:gd name="T28" fmla="*/ 1651 w 6474"/>
                <a:gd name="T29" fmla="*/ 3012 h 6827"/>
                <a:gd name="T30" fmla="*/ 2335 w 6474"/>
                <a:gd name="T31" fmla="*/ 2326 h 6827"/>
                <a:gd name="T32" fmla="*/ 4958 w 6474"/>
                <a:gd name="T33" fmla="*/ 2517 h 6827"/>
                <a:gd name="T34" fmla="*/ 1651 w 6474"/>
                <a:gd name="T35" fmla="*/ 3012 h 6827"/>
                <a:gd name="T36" fmla="*/ 4053 w 6474"/>
                <a:gd name="T37" fmla="*/ 4435 h 6827"/>
                <a:gd name="T38" fmla="*/ 2422 w 6474"/>
                <a:gd name="T39" fmla="*/ 4435 h 6827"/>
                <a:gd name="T40" fmla="*/ 4053 w 6474"/>
                <a:gd name="T41" fmla="*/ 4435 h 6827"/>
                <a:gd name="T42" fmla="*/ 5693 w 6474"/>
                <a:gd name="T43" fmla="*/ 6270 h 6827"/>
                <a:gd name="T44" fmla="*/ 782 w 6474"/>
                <a:gd name="T45" fmla="*/ 6270 h 6827"/>
                <a:gd name="T46" fmla="*/ 752 w 6474"/>
                <a:gd name="T47" fmla="*/ 6206 h 6827"/>
                <a:gd name="T48" fmla="*/ 1965 w 6474"/>
                <a:gd name="T49" fmla="*/ 4754 h 6827"/>
                <a:gd name="T50" fmla="*/ 4510 w 6474"/>
                <a:gd name="T51" fmla="*/ 4755 h 6827"/>
                <a:gd name="T52" fmla="*/ 5723 w 6474"/>
                <a:gd name="T53" fmla="*/ 6206 h 6827"/>
                <a:gd name="T54" fmla="*/ 5693 w 6474"/>
                <a:gd name="T55" fmla="*/ 6270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474" h="6827">
                  <a:moveTo>
                    <a:pt x="6150" y="5849"/>
                  </a:moveTo>
                  <a:lnTo>
                    <a:pt x="4672" y="4081"/>
                  </a:lnTo>
                  <a:cubicBezTo>
                    <a:pt x="6334" y="2771"/>
                    <a:pt x="5433" y="0"/>
                    <a:pt x="3237" y="0"/>
                  </a:cubicBezTo>
                  <a:cubicBezTo>
                    <a:pt x="1047" y="0"/>
                    <a:pt x="134" y="2766"/>
                    <a:pt x="1802" y="4081"/>
                  </a:cubicBezTo>
                  <a:lnTo>
                    <a:pt x="325" y="5849"/>
                  </a:lnTo>
                  <a:cubicBezTo>
                    <a:pt x="0" y="6237"/>
                    <a:pt x="276" y="6827"/>
                    <a:pt x="782" y="6827"/>
                  </a:cubicBezTo>
                  <a:lnTo>
                    <a:pt x="5693" y="6827"/>
                  </a:lnTo>
                  <a:cubicBezTo>
                    <a:pt x="6199" y="6827"/>
                    <a:pt x="6474" y="6236"/>
                    <a:pt x="6150" y="5849"/>
                  </a:cubicBezTo>
                  <a:close/>
                  <a:moveTo>
                    <a:pt x="1509" y="2427"/>
                  </a:moveTo>
                  <a:cubicBezTo>
                    <a:pt x="1446" y="1415"/>
                    <a:pt x="2213" y="557"/>
                    <a:pt x="3237" y="557"/>
                  </a:cubicBezTo>
                  <a:cubicBezTo>
                    <a:pt x="3991" y="557"/>
                    <a:pt x="4706" y="1049"/>
                    <a:pt x="4913" y="1866"/>
                  </a:cubicBezTo>
                  <a:cubicBezTo>
                    <a:pt x="4202" y="2480"/>
                    <a:pt x="3109" y="2420"/>
                    <a:pt x="2472" y="1687"/>
                  </a:cubicBezTo>
                  <a:cubicBezTo>
                    <a:pt x="2337" y="1532"/>
                    <a:pt x="2086" y="1572"/>
                    <a:pt x="2006" y="1762"/>
                  </a:cubicBezTo>
                  <a:cubicBezTo>
                    <a:pt x="1896" y="2022"/>
                    <a:pt x="1725" y="2250"/>
                    <a:pt x="1509" y="2427"/>
                  </a:cubicBezTo>
                  <a:close/>
                  <a:moveTo>
                    <a:pt x="1651" y="3012"/>
                  </a:moveTo>
                  <a:cubicBezTo>
                    <a:pt x="1926" y="2834"/>
                    <a:pt x="2159" y="2600"/>
                    <a:pt x="2335" y="2326"/>
                  </a:cubicBezTo>
                  <a:cubicBezTo>
                    <a:pt x="3080" y="2932"/>
                    <a:pt x="4124" y="3014"/>
                    <a:pt x="4958" y="2517"/>
                  </a:cubicBezTo>
                  <a:cubicBezTo>
                    <a:pt x="4763" y="4234"/>
                    <a:pt x="2357" y="4593"/>
                    <a:pt x="1651" y="3012"/>
                  </a:cubicBezTo>
                  <a:close/>
                  <a:moveTo>
                    <a:pt x="4053" y="4435"/>
                  </a:moveTo>
                  <a:cubicBezTo>
                    <a:pt x="3614" y="5198"/>
                    <a:pt x="2860" y="5197"/>
                    <a:pt x="2422" y="4435"/>
                  </a:cubicBezTo>
                  <a:cubicBezTo>
                    <a:pt x="2946" y="4634"/>
                    <a:pt x="3528" y="4634"/>
                    <a:pt x="4053" y="4435"/>
                  </a:cubicBezTo>
                  <a:close/>
                  <a:moveTo>
                    <a:pt x="5693" y="6270"/>
                  </a:moveTo>
                  <a:lnTo>
                    <a:pt x="782" y="6270"/>
                  </a:lnTo>
                  <a:cubicBezTo>
                    <a:pt x="748" y="6270"/>
                    <a:pt x="730" y="6232"/>
                    <a:pt x="752" y="6206"/>
                  </a:cubicBezTo>
                  <a:lnTo>
                    <a:pt x="1965" y="4754"/>
                  </a:lnTo>
                  <a:cubicBezTo>
                    <a:pt x="2617" y="5833"/>
                    <a:pt x="3858" y="5837"/>
                    <a:pt x="4510" y="4755"/>
                  </a:cubicBezTo>
                  <a:lnTo>
                    <a:pt x="5723" y="6206"/>
                  </a:lnTo>
                  <a:cubicBezTo>
                    <a:pt x="5745" y="6232"/>
                    <a:pt x="5727" y="6270"/>
                    <a:pt x="5693" y="627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338279" y="4543558"/>
            <a:ext cx="468000" cy="468000"/>
            <a:chOff x="6338279" y="4543558"/>
            <a:chExt cx="468000" cy="468000"/>
          </a:xfrm>
        </p:grpSpPr>
        <p:sp>
          <p:nvSpPr>
            <p:cNvPr id="20" name="椭圆 19"/>
            <p:cNvSpPr>
              <a:spLocks noChangeAspect="1"/>
            </p:cNvSpPr>
            <p:nvPr/>
          </p:nvSpPr>
          <p:spPr>
            <a:xfrm>
              <a:off x="6338279" y="4543558"/>
              <a:ext cx="468000" cy="46800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/>
            <p:cNvSpPr>
              <a:spLocks noChangeAspect="1"/>
            </p:cNvSpPr>
            <p:nvPr/>
          </p:nvSpPr>
          <p:spPr>
            <a:xfrm>
              <a:off x="6460771" y="4651558"/>
              <a:ext cx="223017" cy="252000"/>
            </a:xfrm>
            <a:custGeom>
              <a:avLst/>
              <a:gdLst>
                <a:gd name="T0" fmla="*/ 4674 w 6479"/>
                <a:gd name="T1" fmla="*/ 4582 h 7332"/>
                <a:gd name="T2" fmla="*/ 5533 w 6479"/>
                <a:gd name="T3" fmla="*/ 3453 h 7332"/>
                <a:gd name="T4" fmla="*/ 5396 w 6479"/>
                <a:gd name="T5" fmla="*/ 2009 h 7332"/>
                <a:gd name="T6" fmla="*/ 946 w 6479"/>
                <a:gd name="T7" fmla="*/ 2249 h 7332"/>
                <a:gd name="T8" fmla="*/ 1140 w 6479"/>
                <a:gd name="T9" fmla="*/ 3719 h 7332"/>
                <a:gd name="T10" fmla="*/ 324 w 6479"/>
                <a:gd name="T11" fmla="*/ 6353 h 7332"/>
                <a:gd name="T12" fmla="*/ 5697 w 6479"/>
                <a:gd name="T13" fmla="*/ 7332 h 7332"/>
                <a:gd name="T14" fmla="*/ 4976 w 6479"/>
                <a:gd name="T15" fmla="*/ 2528 h 7332"/>
                <a:gd name="T16" fmla="*/ 4038 w 6479"/>
                <a:gd name="T17" fmla="*/ 3174 h 7332"/>
                <a:gd name="T18" fmla="*/ 4976 w 6479"/>
                <a:gd name="T19" fmla="*/ 2528 h 7332"/>
                <a:gd name="T20" fmla="*/ 3759 w 6479"/>
                <a:gd name="T21" fmla="*/ 1971 h 7332"/>
                <a:gd name="T22" fmla="*/ 3481 w 6479"/>
                <a:gd name="T23" fmla="*/ 2572 h 7332"/>
                <a:gd name="T24" fmla="*/ 2998 w 6479"/>
                <a:gd name="T25" fmla="*/ 2249 h 7332"/>
                <a:gd name="T26" fmla="*/ 1706 w 6479"/>
                <a:gd name="T27" fmla="*/ 1971 h 7332"/>
                <a:gd name="T28" fmla="*/ 1503 w 6479"/>
                <a:gd name="T29" fmla="*/ 3174 h 7332"/>
                <a:gd name="T30" fmla="*/ 2441 w 6479"/>
                <a:gd name="T31" fmla="*/ 2528 h 7332"/>
                <a:gd name="T32" fmla="*/ 1503 w 6479"/>
                <a:gd name="T33" fmla="*/ 3174 h 7332"/>
                <a:gd name="T34" fmla="*/ 2719 w 6479"/>
                <a:gd name="T35" fmla="*/ 3731 h 7332"/>
                <a:gd name="T36" fmla="*/ 2998 w 6479"/>
                <a:gd name="T37" fmla="*/ 3130 h 7332"/>
                <a:gd name="T38" fmla="*/ 3481 w 6479"/>
                <a:gd name="T39" fmla="*/ 3453 h 7332"/>
                <a:gd name="T40" fmla="*/ 4701 w 6479"/>
                <a:gd name="T41" fmla="*/ 3731 h 7332"/>
                <a:gd name="T42" fmla="*/ 3703 w 6479"/>
                <a:gd name="T43" fmla="*/ 5617 h 7332"/>
                <a:gd name="T44" fmla="*/ 2914 w 6479"/>
                <a:gd name="T45" fmla="*/ 5065 h 7332"/>
                <a:gd name="T46" fmla="*/ 3703 w 6479"/>
                <a:gd name="T47" fmla="*/ 5617 h 7332"/>
                <a:gd name="T48" fmla="*/ 782 w 6479"/>
                <a:gd name="T49" fmla="*/ 6774 h 7332"/>
                <a:gd name="T50" fmla="*/ 2283 w 6479"/>
                <a:gd name="T51" fmla="*/ 4879 h 7332"/>
                <a:gd name="T52" fmla="*/ 1914 w 6479"/>
                <a:gd name="T53" fmla="*/ 6774 h 7332"/>
                <a:gd name="T54" fmla="*/ 2637 w 6479"/>
                <a:gd name="T55" fmla="*/ 6174 h 7332"/>
                <a:gd name="T56" fmla="*/ 3992 w 6479"/>
                <a:gd name="T57" fmla="*/ 6774 h 7332"/>
                <a:gd name="T58" fmla="*/ 5697 w 6479"/>
                <a:gd name="T59" fmla="*/ 6774 h 7332"/>
                <a:gd name="T60" fmla="*/ 4103 w 6479"/>
                <a:gd name="T61" fmla="*/ 4919 h 7332"/>
                <a:gd name="T62" fmla="*/ 5727 w 6479"/>
                <a:gd name="T63" fmla="*/ 6710 h 7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79" h="7332">
                  <a:moveTo>
                    <a:pt x="6154" y="6353"/>
                  </a:moveTo>
                  <a:lnTo>
                    <a:pt x="4674" y="4582"/>
                  </a:lnTo>
                  <a:cubicBezTo>
                    <a:pt x="4961" y="4352"/>
                    <a:pt x="5190" y="4055"/>
                    <a:pt x="5338" y="3719"/>
                  </a:cubicBezTo>
                  <a:cubicBezTo>
                    <a:pt x="5451" y="3683"/>
                    <a:pt x="5533" y="3577"/>
                    <a:pt x="5533" y="3453"/>
                  </a:cubicBezTo>
                  <a:lnTo>
                    <a:pt x="5533" y="2249"/>
                  </a:lnTo>
                  <a:cubicBezTo>
                    <a:pt x="5533" y="2147"/>
                    <a:pt x="5478" y="2058"/>
                    <a:pt x="5396" y="2009"/>
                  </a:cubicBezTo>
                  <a:cubicBezTo>
                    <a:pt x="4680" y="0"/>
                    <a:pt x="1797" y="7"/>
                    <a:pt x="1083" y="2009"/>
                  </a:cubicBezTo>
                  <a:cubicBezTo>
                    <a:pt x="1001" y="2058"/>
                    <a:pt x="946" y="2147"/>
                    <a:pt x="946" y="2249"/>
                  </a:cubicBezTo>
                  <a:lnTo>
                    <a:pt x="946" y="3453"/>
                  </a:lnTo>
                  <a:cubicBezTo>
                    <a:pt x="946" y="3577"/>
                    <a:pt x="1028" y="3683"/>
                    <a:pt x="1140" y="3719"/>
                  </a:cubicBezTo>
                  <a:cubicBezTo>
                    <a:pt x="1289" y="4055"/>
                    <a:pt x="1517" y="4352"/>
                    <a:pt x="1805" y="4582"/>
                  </a:cubicBezTo>
                  <a:lnTo>
                    <a:pt x="324" y="6353"/>
                  </a:lnTo>
                  <a:cubicBezTo>
                    <a:pt x="0" y="6741"/>
                    <a:pt x="276" y="7332"/>
                    <a:pt x="782" y="7332"/>
                  </a:cubicBezTo>
                  <a:lnTo>
                    <a:pt x="5697" y="7332"/>
                  </a:lnTo>
                  <a:cubicBezTo>
                    <a:pt x="6203" y="7332"/>
                    <a:pt x="6479" y="6741"/>
                    <a:pt x="6154" y="6353"/>
                  </a:cubicBezTo>
                  <a:close/>
                  <a:moveTo>
                    <a:pt x="4976" y="2528"/>
                  </a:moveTo>
                  <a:lnTo>
                    <a:pt x="4976" y="3174"/>
                  </a:lnTo>
                  <a:lnTo>
                    <a:pt x="4038" y="3174"/>
                  </a:lnTo>
                  <a:lnTo>
                    <a:pt x="4038" y="2528"/>
                  </a:lnTo>
                  <a:lnTo>
                    <a:pt x="4976" y="2528"/>
                  </a:lnTo>
                  <a:close/>
                  <a:moveTo>
                    <a:pt x="4773" y="1971"/>
                  </a:moveTo>
                  <a:lnTo>
                    <a:pt x="3759" y="1971"/>
                  </a:lnTo>
                  <a:cubicBezTo>
                    <a:pt x="3606" y="1971"/>
                    <a:pt x="3481" y="2095"/>
                    <a:pt x="3481" y="2249"/>
                  </a:cubicBezTo>
                  <a:lnTo>
                    <a:pt x="3481" y="2572"/>
                  </a:lnTo>
                  <a:lnTo>
                    <a:pt x="2998" y="2572"/>
                  </a:lnTo>
                  <a:lnTo>
                    <a:pt x="2998" y="2249"/>
                  </a:lnTo>
                  <a:cubicBezTo>
                    <a:pt x="2998" y="2095"/>
                    <a:pt x="2873" y="1971"/>
                    <a:pt x="2719" y="1971"/>
                  </a:cubicBezTo>
                  <a:lnTo>
                    <a:pt x="1706" y="1971"/>
                  </a:lnTo>
                  <a:cubicBezTo>
                    <a:pt x="2333" y="759"/>
                    <a:pt x="4145" y="758"/>
                    <a:pt x="4773" y="1971"/>
                  </a:cubicBezTo>
                  <a:close/>
                  <a:moveTo>
                    <a:pt x="1503" y="3174"/>
                  </a:moveTo>
                  <a:lnTo>
                    <a:pt x="1503" y="2528"/>
                  </a:lnTo>
                  <a:lnTo>
                    <a:pt x="2441" y="2528"/>
                  </a:lnTo>
                  <a:lnTo>
                    <a:pt x="2441" y="3174"/>
                  </a:lnTo>
                  <a:lnTo>
                    <a:pt x="1503" y="3174"/>
                  </a:lnTo>
                  <a:close/>
                  <a:moveTo>
                    <a:pt x="1778" y="3731"/>
                  </a:moveTo>
                  <a:lnTo>
                    <a:pt x="2719" y="3731"/>
                  </a:lnTo>
                  <a:cubicBezTo>
                    <a:pt x="2873" y="3731"/>
                    <a:pt x="2998" y="3607"/>
                    <a:pt x="2998" y="3453"/>
                  </a:cubicBezTo>
                  <a:lnTo>
                    <a:pt x="2998" y="3130"/>
                  </a:lnTo>
                  <a:lnTo>
                    <a:pt x="3481" y="3130"/>
                  </a:lnTo>
                  <a:lnTo>
                    <a:pt x="3481" y="3453"/>
                  </a:lnTo>
                  <a:cubicBezTo>
                    <a:pt x="3481" y="3607"/>
                    <a:pt x="3606" y="3731"/>
                    <a:pt x="3759" y="3731"/>
                  </a:cubicBezTo>
                  <a:lnTo>
                    <a:pt x="4701" y="3731"/>
                  </a:lnTo>
                  <a:cubicBezTo>
                    <a:pt x="4022" y="4786"/>
                    <a:pt x="2466" y="4802"/>
                    <a:pt x="1778" y="3731"/>
                  </a:cubicBezTo>
                  <a:close/>
                  <a:moveTo>
                    <a:pt x="3703" y="5617"/>
                  </a:moveTo>
                  <a:lnTo>
                    <a:pt x="2776" y="5617"/>
                  </a:lnTo>
                  <a:cubicBezTo>
                    <a:pt x="2817" y="5453"/>
                    <a:pt x="2863" y="5270"/>
                    <a:pt x="2914" y="5065"/>
                  </a:cubicBezTo>
                  <a:cubicBezTo>
                    <a:pt x="3126" y="5095"/>
                    <a:pt x="3347" y="5096"/>
                    <a:pt x="3565" y="5065"/>
                  </a:cubicBezTo>
                  <a:cubicBezTo>
                    <a:pt x="3616" y="5269"/>
                    <a:pt x="3662" y="5453"/>
                    <a:pt x="3703" y="5617"/>
                  </a:cubicBezTo>
                  <a:close/>
                  <a:moveTo>
                    <a:pt x="1914" y="6774"/>
                  </a:moveTo>
                  <a:lnTo>
                    <a:pt x="782" y="6774"/>
                  </a:lnTo>
                  <a:cubicBezTo>
                    <a:pt x="748" y="6774"/>
                    <a:pt x="730" y="6736"/>
                    <a:pt x="752" y="6710"/>
                  </a:cubicBezTo>
                  <a:lnTo>
                    <a:pt x="2283" y="4879"/>
                  </a:lnTo>
                  <a:cubicBezTo>
                    <a:pt x="2318" y="4895"/>
                    <a:pt x="2345" y="4906"/>
                    <a:pt x="2376" y="4919"/>
                  </a:cubicBezTo>
                  <a:cubicBezTo>
                    <a:pt x="2077" y="6116"/>
                    <a:pt x="1965" y="6558"/>
                    <a:pt x="1914" y="6774"/>
                  </a:cubicBezTo>
                  <a:close/>
                  <a:moveTo>
                    <a:pt x="2487" y="6774"/>
                  </a:moveTo>
                  <a:cubicBezTo>
                    <a:pt x="2518" y="6649"/>
                    <a:pt x="2565" y="6460"/>
                    <a:pt x="2637" y="6174"/>
                  </a:cubicBezTo>
                  <a:lnTo>
                    <a:pt x="3842" y="6174"/>
                  </a:lnTo>
                  <a:cubicBezTo>
                    <a:pt x="3914" y="6460"/>
                    <a:pt x="3961" y="6649"/>
                    <a:pt x="3992" y="6774"/>
                  </a:cubicBezTo>
                  <a:lnTo>
                    <a:pt x="2487" y="6774"/>
                  </a:lnTo>
                  <a:close/>
                  <a:moveTo>
                    <a:pt x="5697" y="6774"/>
                  </a:moveTo>
                  <a:lnTo>
                    <a:pt x="4565" y="6774"/>
                  </a:lnTo>
                  <a:cubicBezTo>
                    <a:pt x="4513" y="6557"/>
                    <a:pt x="4400" y="6108"/>
                    <a:pt x="4103" y="4919"/>
                  </a:cubicBezTo>
                  <a:cubicBezTo>
                    <a:pt x="4133" y="4906"/>
                    <a:pt x="4158" y="4896"/>
                    <a:pt x="4196" y="4879"/>
                  </a:cubicBezTo>
                  <a:lnTo>
                    <a:pt x="5727" y="6710"/>
                  </a:lnTo>
                  <a:cubicBezTo>
                    <a:pt x="5748" y="6736"/>
                    <a:pt x="5731" y="6774"/>
                    <a:pt x="5697" y="677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308700"/>
            <a:ext cx="12192000" cy="720000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380700"/>
            <a:ext cx="10858500" cy="57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箭头: 五边形 7"/>
          <p:cNvSpPr/>
          <p:nvPr/>
        </p:nvSpPr>
        <p:spPr>
          <a:xfrm>
            <a:off x="-1" y="308700"/>
            <a:ext cx="648000" cy="720000"/>
          </a:xfrm>
          <a:prstGeom prst="homePlate">
            <a:avLst>
              <a:gd name="adj" fmla="val 5389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kumimoji="1"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pPr marL="0" marR="0" lvl="0" indent="0" algn="ctr">
              <a:lnSpc>
                <a:spcPct val="10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Automatic Root Cause Analysis via Large Language Models for Cloud Incidents</a:t>
            </a:r>
            <a:endParaRPr lang="zh-CN" alt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1229652" y="3733190"/>
            <a:ext cx="9720000" cy="407513"/>
          </a:xfrm>
        </p:spPr>
        <p:txBody>
          <a:bodyPr>
            <a:normAutofit fontScale="92500" lnSpcReduction="10000"/>
          </a:bodyPr>
          <a:lstStyle/>
          <a:p>
            <a:pPr marL="0" marR="0" lvl="0" indent="0" algn="ctr">
              <a:lnSpc>
                <a:spcPct val="10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EuroSys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刘军辉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904745" y="4561558"/>
            <a:ext cx="2340000" cy="432000"/>
          </a:xfrm>
        </p:spPr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2026/2/1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de34f5b-f0c6-4ff7-854c-8d3507c4af79.source.3.zh-Hans.pptx">
            <a:extLst>
              <a:ext uri="{FF2B5EF4-FFF2-40B4-BE49-F238E27FC236}">
                <a16:creationId xmlns:a16="http://schemas.microsoft.com/office/drawing/2014/main" id="{CA4C1B11-1095-DF0D-4D95-36C3BAC2BC0D}"/>
              </a:ext>
            </a:extLst>
          </p:cNvPr>
          <p:cNvGrpSpPr/>
          <p:nvPr/>
        </p:nvGrpSpPr>
        <p:grpSpPr>
          <a:xfrm>
            <a:off x="660398" y="1132500"/>
            <a:ext cx="11531207" cy="5001600"/>
            <a:chOff x="660398" y="952098"/>
            <a:chExt cx="11531207" cy="5182002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2688EDA3-6749-E38E-30A1-5779903FC94A}"/>
                </a:ext>
              </a:extLst>
            </p:cNvPr>
            <p:cNvGrpSpPr/>
            <p:nvPr/>
          </p:nvGrpSpPr>
          <p:grpSpPr>
            <a:xfrm>
              <a:off x="5911455" y="952098"/>
              <a:ext cx="6280150" cy="2235602"/>
              <a:chOff x="5911850" y="-324346"/>
              <a:chExt cx="6280150" cy="4069032"/>
            </a:xfrm>
          </p:grpSpPr>
          <p:sp>
            <p:nvSpPr>
              <p:cNvPr id="20" name="PictureMisc1">
                <a:extLst>
                  <a:ext uri="{FF2B5EF4-FFF2-40B4-BE49-F238E27FC236}">
                    <a16:creationId xmlns:a16="http://schemas.microsoft.com/office/drawing/2014/main" id="{7AFE3D93-6806-77C5-1A34-FE6FFE051A37}"/>
                  </a:ext>
                </a:extLst>
              </p:cNvPr>
              <p:cNvSpPr/>
              <p:nvPr/>
            </p:nvSpPr>
            <p:spPr>
              <a:xfrm>
                <a:off x="5911850" y="0"/>
                <a:ext cx="6280150" cy="3744686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-3002" r="-3002"/>
                </a:stretch>
              </a:blipFill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E045FB3-FBF4-C53E-50A2-EDF3CFD1A7BE}"/>
                  </a:ext>
                </a:extLst>
              </p:cNvPr>
              <p:cNvSpPr/>
              <p:nvPr/>
            </p:nvSpPr>
            <p:spPr>
              <a:xfrm>
                <a:off x="11340821" y="-324346"/>
                <a:ext cx="356948" cy="64869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6" name="标题 4294967294"/>
          <p:cNvSpPr>
            <a:spLocks noGrp="1"/>
          </p:cNvSpPr>
          <p:nvPr>
            <p:ph type="title" hasCustomPrompt="1"/>
          </p:nvPr>
        </p:nvSpPr>
        <p:spPr>
          <a:xfrm>
            <a:off x="660400" y="380700"/>
            <a:ext cx="10858500" cy="576000"/>
          </a:xfrm>
        </p:spPr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  <a:latin typeface="微软雅黑"/>
                <a:ea typeface="微软雅黑"/>
              </a:rPr>
              <a:t>Background and Motivation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32" name="组合"/>
          <p:cNvGrpSpPr/>
          <p:nvPr/>
        </p:nvGrpSpPr>
        <p:grpSpPr>
          <a:xfrm>
            <a:off x="783153" y="1185402"/>
            <a:ext cx="4484533" cy="2176111"/>
            <a:chOff x="783153" y="1185402"/>
            <a:chExt cx="4484533" cy="2176111"/>
          </a:xfrm>
        </p:grpSpPr>
        <p:grpSp>
          <p:nvGrpSpPr>
            <p:cNvPr id="7" name="组合 13">
              <a:extLst>
                <a:ext uri="{FF2B5EF4-FFF2-40B4-BE49-F238E27FC236}">
                  <a16:creationId xmlns:a16="http://schemas.microsoft.com/office/drawing/2014/main" id="{190A68E3-FF26-E8D2-8157-7D246757055C}"/>
                </a:ext>
              </a:extLst>
            </p:cNvPr>
            <p:cNvGrpSpPr>
              <a:grpSpLocks/>
            </p:cNvGrpSpPr>
            <p:nvPr/>
          </p:nvGrpSpPr>
          <p:grpSpPr>
            <a:xfrm>
              <a:off x="783153" y="1286090"/>
              <a:ext cx="4484533" cy="2075423"/>
              <a:chOff x="660401" y="2903682"/>
              <a:chExt cx="3612252" cy="2591705"/>
            </a:xfrm>
          </p:grpSpPr>
          <p:sp>
            <p:nvSpPr>
              <p:cNvPr id="8" name="ComponentBackground1">
                <a:extLst>
                  <a:ext uri="{FF2B5EF4-FFF2-40B4-BE49-F238E27FC236}">
                    <a16:creationId xmlns:a16="http://schemas.microsoft.com/office/drawing/2014/main" id="{80BF98F3-5845-9D68-A2ED-1D12F90D9A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0401" y="2903682"/>
                <a:ext cx="3612251" cy="2448098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 fontScale="77500" lnSpcReduction="20000"/>
              </a:bodyPr>
              <a:lstStyle/>
              <a:p>
                <a:pPr marL="0" marR="0" lvl="0" indent="0" algn="ctr">
                  <a:lnSpc>
                    <a:spcPct val="120000"/>
                  </a:lnSpc>
                </a:pPr>
                <a:endParaRPr lang="zh-CN" altLang="en-US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100" dirty="0">
                    <a:solidFill>
                      <a:schemeClr val="tx1"/>
                    </a:solidFill>
                    <a:latin typeface="Arial"/>
                    <a:ea typeface="Arial"/>
                  </a:rPr>
                  <a:t>Cloud computing is critical infrastructure for modern services</a:t>
                </a:r>
                <a:endParaRPr lang="zh-CN" altLang="en-US" sz="2100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100" dirty="0">
                    <a:solidFill>
                      <a:schemeClr val="tx1"/>
                    </a:solidFill>
                    <a:latin typeface="Arial"/>
                    <a:ea typeface="Arial"/>
                  </a:rPr>
                  <a:t>Reliability, availability, and security are increasingly important</a:t>
                </a:r>
                <a:endParaRPr lang="zh-CN" altLang="en-US" sz="2100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100" dirty="0">
                    <a:solidFill>
                      <a:schemeClr val="tx1"/>
                    </a:solidFill>
                    <a:latin typeface="Arial"/>
                    <a:ea typeface="Arial"/>
                  </a:rPr>
                  <a:t>Cloud systems are complex and incident-prone</a:t>
                </a:r>
                <a:endParaRPr lang="zh-CN" altLang="en-US" sz="2100" dirty="0"/>
              </a:p>
            </p:txBody>
          </p:sp>
          <p:sp>
            <p:nvSpPr>
              <p:cNvPr id="9" name="Number1">
                <a:extLst>
                  <a:ext uri="{FF2B5EF4-FFF2-40B4-BE49-F238E27FC236}">
                    <a16:creationId xmlns:a16="http://schemas.microsoft.com/office/drawing/2014/main" id="{8233733C-9650-573B-F9EC-8FB1713B98A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64566" y="5216715"/>
                <a:ext cx="2308087" cy="278672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anchor="ctr" anchorCtr="1">
                <a:normAutofit fontScale="62500" lnSpcReduction="20000"/>
              </a:bodyPr>
              <a:lstStyle/>
              <a:p>
                <a:pPr algn="ctr" defTabSz="913765">
                  <a:buSzPct val="25000"/>
                </a:pPr>
                <a:r>
                  <a:rPr lang="en-US" altLang="zh-CN" sz="1600" b="1">
                    <a:solidFill>
                      <a:srgbClr val="FFFFFF"/>
                    </a:solidFill>
                    <a:cs typeface="+mn-ea"/>
                    <a:sym typeface="+mn-lt"/>
                  </a:rPr>
                  <a:t>1</a:t>
                </a:r>
                <a:endParaRPr lang="en-US" altLang="zh-CN" sz="16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0" name="文本框"/>
            <p:cNvSpPr txBox="1"/>
            <p:nvPr/>
          </p:nvSpPr>
          <p:spPr>
            <a:xfrm>
              <a:off x="1090819" y="1185402"/>
              <a:ext cx="2949321" cy="379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</a:rPr>
                <a:t>Cloud Incident Background</a:t>
              </a:r>
              <a:endParaRPr lang="zh-CN" altLang="en-US" dirty="0"/>
            </a:p>
          </p:txBody>
        </p:sp>
      </p:grpSp>
      <p:grpSp>
        <p:nvGrpSpPr>
          <p:cNvPr id="33" name="组合"/>
          <p:cNvGrpSpPr/>
          <p:nvPr/>
        </p:nvGrpSpPr>
        <p:grpSpPr>
          <a:xfrm>
            <a:off x="783153" y="3530851"/>
            <a:ext cx="4571486" cy="2257840"/>
            <a:chOff x="825407" y="767013"/>
            <a:chExt cx="4571486" cy="2257840"/>
          </a:xfrm>
        </p:grpSpPr>
        <p:grpSp>
          <p:nvGrpSpPr>
            <p:cNvPr id="11" name="组合 13">
              <a:extLst>
                <a:ext uri="{FF2B5EF4-FFF2-40B4-BE49-F238E27FC236}">
                  <a16:creationId xmlns:a16="http://schemas.microsoft.com/office/drawing/2014/main" id="{190A68E3-FF26-E8D2-8157-7D246757055C}"/>
                </a:ext>
              </a:extLst>
            </p:cNvPr>
            <p:cNvGrpSpPr>
              <a:grpSpLocks/>
            </p:cNvGrpSpPr>
            <p:nvPr/>
          </p:nvGrpSpPr>
          <p:grpSpPr>
            <a:xfrm>
              <a:off x="825407" y="909019"/>
              <a:ext cx="4571486" cy="2115834"/>
              <a:chOff x="694436" y="2432810"/>
              <a:chExt cx="3682292" cy="2642168"/>
            </a:xfrm>
          </p:grpSpPr>
          <p:sp>
            <p:nvSpPr>
              <p:cNvPr id="12" name="ComponentBackground1">
                <a:extLst>
                  <a:ext uri="{FF2B5EF4-FFF2-40B4-BE49-F238E27FC236}">
                    <a16:creationId xmlns:a16="http://schemas.microsoft.com/office/drawing/2014/main" id="{80BF98F3-5845-9D68-A2ED-1D12F90D9A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4436" y="2432810"/>
                <a:ext cx="3612251" cy="2448098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 fontScale="77500" lnSpcReduction="20000"/>
              </a:bodyPr>
              <a:lstStyle/>
              <a:p>
                <a:pPr marL="0" marR="0" lvl="0" indent="0" algn="ctr">
                  <a:lnSpc>
                    <a:spcPct val="120000"/>
                  </a:lnSpc>
                </a:pPr>
                <a:endParaRPr lang="zh-CN" altLang="en-US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100" dirty="0">
                    <a:latin typeface="Arial"/>
                  </a:rPr>
                  <a:t>Manual</a:t>
                </a:r>
                <a:r>
                  <a:rPr lang="zh-CN" altLang="en-US" sz="2100" dirty="0">
                    <a:solidFill>
                      <a:schemeClr val="tx1"/>
                    </a:solidFill>
                    <a:latin typeface="Arial"/>
                    <a:ea typeface="Arial"/>
                  </a:rPr>
                  <a:t> analysis of logs, metrics, traces, tickets</a:t>
                </a:r>
                <a:endParaRPr lang="zh-CN" altLang="en-US" sz="2100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zh-CN" altLang="en-US" sz="2100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100" dirty="0">
                    <a:solidFill>
                      <a:schemeClr val="tx1"/>
                    </a:solidFill>
                    <a:latin typeface="Arial"/>
                    <a:ea typeface="Arial"/>
                  </a:rPr>
                  <a:t>Labor-</a:t>
                </a:r>
                <a:r>
                  <a:rPr lang="zh-CN" altLang="en-US" sz="2100" dirty="0">
                    <a:latin typeface="Arial"/>
                  </a:rPr>
                  <a:t>intensive</a:t>
                </a:r>
                <a:r>
                  <a:rPr lang="zh-CN" altLang="en-US" sz="2100" dirty="0">
                    <a:solidFill>
                      <a:schemeClr val="tx1"/>
                    </a:solidFill>
                    <a:latin typeface="Arial"/>
                    <a:ea typeface="Arial"/>
                  </a:rPr>
                  <a:t> and error-prone</a:t>
                </a:r>
                <a:endParaRPr lang="zh-CN" altLang="en-US" sz="2100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zh-CN" altLang="en-US" sz="2100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100" dirty="0">
                    <a:solidFill>
                      <a:schemeClr val="tx1"/>
                    </a:solidFill>
                    <a:latin typeface="Arial"/>
                    <a:ea typeface="Arial"/>
                  </a:rPr>
                  <a:t>Heavy reliance on human expertise</a:t>
                </a:r>
                <a:endParaRPr lang="zh-CN" altLang="en-US" sz="2100" dirty="0"/>
              </a:p>
            </p:txBody>
          </p:sp>
          <p:sp>
            <p:nvSpPr>
              <p:cNvPr id="13" name="Number1">
                <a:extLst>
                  <a:ext uri="{FF2B5EF4-FFF2-40B4-BE49-F238E27FC236}">
                    <a16:creationId xmlns:a16="http://schemas.microsoft.com/office/drawing/2014/main" id="{8233733C-9650-573B-F9EC-8FB1713B98A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68641" y="4796306"/>
                <a:ext cx="2308087" cy="278672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anchor="ctr" anchorCtr="1">
                <a:normAutofit fontScale="61250" lnSpcReduction="20000"/>
              </a:bodyPr>
              <a:lstStyle/>
              <a:p>
                <a:pPr marL="0" marR="0" lvl="0" indent="0" algn="ctr"/>
                <a:r>
                  <a:rPr lang="zh-CN" altLang="en-US" sz="1600" b="1" dirty="0">
                    <a:solidFill>
                      <a:srgbClr val="FFFFFF"/>
                    </a:solidFill>
                    <a:latin typeface="Arial"/>
                    <a:ea typeface="Arial"/>
                  </a:rPr>
                  <a:t>2</a:t>
                </a:r>
                <a:endParaRPr lang="zh-CN" altLang="en-US" dirty="0"/>
              </a:p>
            </p:txBody>
          </p:sp>
        </p:grpSp>
        <p:sp>
          <p:nvSpPr>
            <p:cNvPr id="14" name="文本框"/>
            <p:cNvSpPr txBox="1"/>
            <p:nvPr/>
          </p:nvSpPr>
          <p:spPr>
            <a:xfrm>
              <a:off x="1067373" y="767013"/>
              <a:ext cx="1911096" cy="379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</a:rPr>
                <a:t>Why RCA is Hard</a:t>
              </a:r>
              <a:endParaRPr lang="zh-CN" altLang="en-US" dirty="0"/>
            </a:p>
          </p:txBody>
        </p:sp>
      </p:grpSp>
      <p:grpSp>
        <p:nvGrpSpPr>
          <p:cNvPr id="34" name="组合"/>
          <p:cNvGrpSpPr/>
          <p:nvPr/>
        </p:nvGrpSpPr>
        <p:grpSpPr>
          <a:xfrm>
            <a:off x="6096000" y="3544049"/>
            <a:ext cx="5179110" cy="2388571"/>
            <a:chOff x="653032" y="1109649"/>
            <a:chExt cx="4681495" cy="2014804"/>
          </a:xfrm>
        </p:grpSpPr>
        <p:grpSp>
          <p:nvGrpSpPr>
            <p:cNvPr id="22" name="组合 13">
              <a:extLst>
                <a:ext uri="{FF2B5EF4-FFF2-40B4-BE49-F238E27FC236}">
                  <a16:creationId xmlns:a16="http://schemas.microsoft.com/office/drawing/2014/main" id="{190A68E3-FF26-E8D2-8157-7D246757055C}"/>
                </a:ext>
              </a:extLst>
            </p:cNvPr>
            <p:cNvGrpSpPr>
              <a:grpSpLocks/>
            </p:cNvGrpSpPr>
            <p:nvPr/>
          </p:nvGrpSpPr>
          <p:grpSpPr>
            <a:xfrm>
              <a:off x="653032" y="1130976"/>
              <a:ext cx="4681495" cy="1993477"/>
              <a:chOff x="555590" y="2709982"/>
              <a:chExt cx="3770903" cy="2489374"/>
            </a:xfrm>
          </p:grpSpPr>
          <p:sp>
            <p:nvSpPr>
              <p:cNvPr id="28" name="ComponentBackground1">
                <a:extLst>
                  <a:ext uri="{FF2B5EF4-FFF2-40B4-BE49-F238E27FC236}">
                    <a16:creationId xmlns:a16="http://schemas.microsoft.com/office/drawing/2014/main" id="{80BF98F3-5845-9D68-A2ED-1D12F90D9A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5590" y="2709982"/>
                <a:ext cx="3612251" cy="2448098"/>
              </a:xfrm>
              <a:prstGeom prst="rect">
                <a:avLst/>
              </a:prstGeom>
              <a:solidFill>
                <a:schemeClr val="tx1">
                  <a:alpha val="5000"/>
                </a:schemeClr>
              </a:solidFill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 fontScale="66670" lnSpcReduction="20000"/>
              </a:bodyPr>
              <a:lstStyle/>
              <a:p>
                <a:pPr marL="0" marR="0" lvl="0" indent="0" algn="ctr">
                  <a:lnSpc>
                    <a:spcPct val="120000"/>
                  </a:lnSpc>
                </a:pPr>
                <a:endParaRPr lang="zh-CN" altLang="en-US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Arial"/>
                    <a:ea typeface="Arial"/>
                  </a:rPr>
                  <a:t>Too little information → insufficient for diagnosis</a:t>
                </a:r>
                <a:endParaRPr lang="zh-CN" altLang="en-US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zh-CN" altLang="en-US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Arial"/>
                    <a:ea typeface="Arial"/>
                  </a:rPr>
                  <a:t>Too much information → information overload</a:t>
                </a:r>
                <a:endParaRPr lang="zh-CN" altLang="en-US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zh-CN" altLang="en-US" dirty="0"/>
              </a:p>
              <a:p>
                <a:pPr marL="285750" marR="0" lvl="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Arial"/>
                    <a:ea typeface="Arial"/>
                  </a:rPr>
                  <a:t>Relevant signals buried in noisy, inconsistent data</a:t>
                </a:r>
                <a:endParaRPr lang="zh-CN" altLang="en-US" dirty="0"/>
              </a:p>
            </p:txBody>
          </p:sp>
          <p:sp>
            <p:nvSpPr>
              <p:cNvPr id="29" name="Number1">
                <a:extLst>
                  <a:ext uri="{FF2B5EF4-FFF2-40B4-BE49-F238E27FC236}">
                    <a16:creationId xmlns:a16="http://schemas.microsoft.com/office/drawing/2014/main" id="{8233733C-9650-573B-F9EC-8FB1713B98A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18406" y="4920684"/>
                <a:ext cx="2308087" cy="278672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anchor="ctr" anchorCtr="1">
                <a:normAutofit fontScale="87500" lnSpcReduction="20000"/>
              </a:bodyPr>
              <a:lstStyle/>
              <a:p>
                <a:pPr marL="0" marR="0" lvl="0" indent="0" algn="ctr"/>
                <a:r>
                  <a:rPr lang="zh-CN" altLang="en-US" sz="1600" b="1" dirty="0">
                    <a:solidFill>
                      <a:srgbClr val="FFFFFF"/>
                    </a:solidFill>
                    <a:latin typeface="Arial"/>
                    <a:ea typeface="Arial"/>
                  </a:rPr>
                  <a:t>3</a:t>
                </a:r>
                <a:endParaRPr lang="zh-CN" altLang="en-US" dirty="0"/>
              </a:p>
            </p:txBody>
          </p:sp>
        </p:grpSp>
        <p:sp>
          <p:nvSpPr>
            <p:cNvPr id="31" name="文本框"/>
            <p:cNvSpPr txBox="1"/>
            <p:nvPr/>
          </p:nvSpPr>
          <p:spPr>
            <a:xfrm>
              <a:off x="1107321" y="1109649"/>
              <a:ext cx="2294277" cy="3528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</a:rPr>
                <a:t>Information Spectrum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b503a4c8-eae9-41ce-bf1b-b8d4bf0114a4.source.3.zh-Hans.pptx">
            <a:extLst>
              <a:ext uri="{FF2B5EF4-FFF2-40B4-BE49-F238E27FC236}">
                <a16:creationId xmlns:a16="http://schemas.microsoft.com/office/drawing/2014/main" id="{ECA2219B-08D6-2A40-7CEE-CBBCCDF2CFE4}"/>
              </a:ext>
            </a:extLst>
          </p:cNvPr>
          <p:cNvGrpSpPr/>
          <p:nvPr/>
        </p:nvGrpSpPr>
        <p:grpSpPr>
          <a:xfrm>
            <a:off x="660400" y="1130299"/>
            <a:ext cx="7182566" cy="5003801"/>
            <a:chOff x="660400" y="1130299"/>
            <a:chExt cx="10858500" cy="5003801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5F4E7CF-0F5E-371F-4E0B-CE80EB05305B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1130299"/>
              <a:ext cx="0" cy="5003800"/>
            </a:xfrm>
            <a:prstGeom prst="line">
              <a:avLst/>
            </a:prstGeom>
            <a:noFill/>
            <a:ln w="444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Title">
              <a:extLst>
                <a:ext uri="{FF2B5EF4-FFF2-40B4-BE49-F238E27FC236}">
                  <a16:creationId xmlns:a16="http://schemas.microsoft.com/office/drawing/2014/main" id="{D7588D68-088A-DDE2-2D40-57F6B83F42E5}"/>
                </a:ext>
              </a:extLst>
            </p:cNvPr>
            <p:cNvSpPr>
              <a:spLocks/>
            </p:cNvSpPr>
            <p:nvPr/>
          </p:nvSpPr>
          <p:spPr>
            <a:xfrm>
              <a:off x="850900" y="1130300"/>
              <a:ext cx="10045700" cy="1181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lang="en-US" altLang="zh-CN" sz="20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troubleshooting guides (TSG)</a:t>
              </a:r>
              <a:endParaRPr lang="en-US" dirty="0"/>
            </a:p>
          </p:txBody>
        </p:sp>
        <p:sp>
          <p:nvSpPr>
            <p:cNvPr id="12" name="IconMisc">
              <a:extLst>
                <a:ext uri="{FF2B5EF4-FFF2-40B4-BE49-F238E27FC236}">
                  <a16:creationId xmlns:a16="http://schemas.microsoft.com/office/drawing/2014/main" id="{DAEF5BC4-DD9B-43B8-0D16-3D6C5728337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947234" y="1782414"/>
              <a:ext cx="517485" cy="407055"/>
            </a:xfrm>
            <a:custGeom>
              <a:avLst/>
              <a:gdLst>
                <a:gd name="T0" fmla="*/ 6792 w 11226"/>
                <a:gd name="T1" fmla="*/ 6401 h 8831"/>
                <a:gd name="T2" fmla="*/ 800 w 11226"/>
                <a:gd name="T3" fmla="*/ 6401 h 8831"/>
                <a:gd name="T4" fmla="*/ 800 w 11226"/>
                <a:gd name="T5" fmla="*/ 913 h 8831"/>
                <a:gd name="T6" fmla="*/ 912 w 11226"/>
                <a:gd name="T7" fmla="*/ 801 h 8831"/>
                <a:gd name="T8" fmla="*/ 10262 w 11226"/>
                <a:gd name="T9" fmla="*/ 801 h 8831"/>
                <a:gd name="T10" fmla="*/ 10375 w 11226"/>
                <a:gd name="T11" fmla="*/ 913 h 8831"/>
                <a:gd name="T12" fmla="*/ 10375 w 11226"/>
                <a:gd name="T13" fmla="*/ 4384 h 8831"/>
                <a:gd name="T14" fmla="*/ 10775 w 11226"/>
                <a:gd name="T15" fmla="*/ 4784 h 8831"/>
                <a:gd name="T16" fmla="*/ 11175 w 11226"/>
                <a:gd name="T17" fmla="*/ 4384 h 8831"/>
                <a:gd name="T18" fmla="*/ 11175 w 11226"/>
                <a:gd name="T19" fmla="*/ 913 h 8831"/>
                <a:gd name="T20" fmla="*/ 10262 w 11226"/>
                <a:gd name="T21" fmla="*/ 0 h 8831"/>
                <a:gd name="T22" fmla="*/ 912 w 11226"/>
                <a:gd name="T23" fmla="*/ 0 h 8831"/>
                <a:gd name="T24" fmla="*/ 0 w 11226"/>
                <a:gd name="T25" fmla="*/ 913 h 8831"/>
                <a:gd name="T26" fmla="*/ 0 w 11226"/>
                <a:gd name="T27" fmla="*/ 7882 h 8831"/>
                <a:gd name="T28" fmla="*/ 912 w 11226"/>
                <a:gd name="T29" fmla="*/ 8794 h 8831"/>
                <a:gd name="T30" fmla="*/ 6792 w 11226"/>
                <a:gd name="T31" fmla="*/ 8794 h 8831"/>
                <a:gd name="T32" fmla="*/ 7192 w 11226"/>
                <a:gd name="T33" fmla="*/ 8394 h 8831"/>
                <a:gd name="T34" fmla="*/ 7192 w 11226"/>
                <a:gd name="T35" fmla="*/ 8393 h 8831"/>
                <a:gd name="T36" fmla="*/ 6792 w 11226"/>
                <a:gd name="T37" fmla="*/ 7993 h 8831"/>
                <a:gd name="T38" fmla="*/ 912 w 11226"/>
                <a:gd name="T39" fmla="*/ 7993 h 8831"/>
                <a:gd name="T40" fmla="*/ 800 w 11226"/>
                <a:gd name="T41" fmla="*/ 7881 h 8831"/>
                <a:gd name="T42" fmla="*/ 800 w 11226"/>
                <a:gd name="T43" fmla="*/ 7201 h 8831"/>
                <a:gd name="T44" fmla="*/ 6792 w 11226"/>
                <a:gd name="T45" fmla="*/ 7201 h 8831"/>
                <a:gd name="T46" fmla="*/ 7192 w 11226"/>
                <a:gd name="T47" fmla="*/ 6801 h 8831"/>
                <a:gd name="T48" fmla="*/ 6792 w 11226"/>
                <a:gd name="T49" fmla="*/ 6401 h 8831"/>
                <a:gd name="T50" fmla="*/ 11189 w 11226"/>
                <a:gd name="T51" fmla="*/ 6004 h 8831"/>
                <a:gd name="T52" fmla="*/ 10784 w 11226"/>
                <a:gd name="T53" fmla="*/ 5599 h 8831"/>
                <a:gd name="T54" fmla="*/ 8395 w 11226"/>
                <a:gd name="T55" fmla="*/ 5599 h 8831"/>
                <a:gd name="T56" fmla="*/ 8109 w 11226"/>
                <a:gd name="T57" fmla="*/ 5716 h 8831"/>
                <a:gd name="T58" fmla="*/ 7992 w 11226"/>
                <a:gd name="T59" fmla="*/ 6002 h 8831"/>
                <a:gd name="T60" fmla="*/ 7992 w 11226"/>
                <a:gd name="T61" fmla="*/ 8391 h 8831"/>
                <a:gd name="T62" fmla="*/ 8397 w 11226"/>
                <a:gd name="T63" fmla="*/ 8796 h 8831"/>
                <a:gd name="T64" fmla="*/ 8802 w 11226"/>
                <a:gd name="T65" fmla="*/ 8391 h 8831"/>
                <a:gd name="T66" fmla="*/ 8802 w 11226"/>
                <a:gd name="T67" fmla="*/ 6974 h 8831"/>
                <a:gd name="T68" fmla="*/ 10504 w 11226"/>
                <a:gd name="T69" fmla="*/ 8676 h 8831"/>
                <a:gd name="T70" fmla="*/ 11070 w 11226"/>
                <a:gd name="T71" fmla="*/ 8676 h 8831"/>
                <a:gd name="T72" fmla="*/ 11070 w 11226"/>
                <a:gd name="T73" fmla="*/ 8109 h 8831"/>
                <a:gd name="T74" fmla="*/ 9369 w 11226"/>
                <a:gd name="T75" fmla="*/ 6409 h 8831"/>
                <a:gd name="T76" fmla="*/ 10784 w 11226"/>
                <a:gd name="T77" fmla="*/ 6409 h 8831"/>
                <a:gd name="T78" fmla="*/ 11189 w 11226"/>
                <a:gd name="T79" fmla="*/ 6004 h 8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26" h="8831">
                  <a:moveTo>
                    <a:pt x="6792" y="6401"/>
                  </a:moveTo>
                  <a:lnTo>
                    <a:pt x="800" y="6401"/>
                  </a:lnTo>
                  <a:lnTo>
                    <a:pt x="800" y="913"/>
                  </a:lnTo>
                  <a:cubicBezTo>
                    <a:pt x="800" y="851"/>
                    <a:pt x="850" y="801"/>
                    <a:pt x="912" y="801"/>
                  </a:cubicBezTo>
                  <a:lnTo>
                    <a:pt x="10262" y="801"/>
                  </a:lnTo>
                  <a:cubicBezTo>
                    <a:pt x="10325" y="801"/>
                    <a:pt x="10375" y="851"/>
                    <a:pt x="10375" y="913"/>
                  </a:cubicBezTo>
                  <a:lnTo>
                    <a:pt x="10375" y="4384"/>
                  </a:lnTo>
                  <a:cubicBezTo>
                    <a:pt x="10375" y="4606"/>
                    <a:pt x="10554" y="4784"/>
                    <a:pt x="10775" y="4784"/>
                  </a:cubicBezTo>
                  <a:cubicBezTo>
                    <a:pt x="10996" y="4784"/>
                    <a:pt x="11175" y="4606"/>
                    <a:pt x="11175" y="4384"/>
                  </a:cubicBezTo>
                  <a:lnTo>
                    <a:pt x="11175" y="913"/>
                  </a:lnTo>
                  <a:cubicBezTo>
                    <a:pt x="11175" y="409"/>
                    <a:pt x="10766" y="0"/>
                    <a:pt x="10262" y="0"/>
                  </a:cubicBezTo>
                  <a:lnTo>
                    <a:pt x="912" y="0"/>
                  </a:lnTo>
                  <a:cubicBezTo>
                    <a:pt x="410" y="0"/>
                    <a:pt x="0" y="409"/>
                    <a:pt x="0" y="913"/>
                  </a:cubicBezTo>
                  <a:lnTo>
                    <a:pt x="0" y="7882"/>
                  </a:lnTo>
                  <a:cubicBezTo>
                    <a:pt x="0" y="8384"/>
                    <a:pt x="408" y="8794"/>
                    <a:pt x="912" y="8794"/>
                  </a:cubicBezTo>
                  <a:lnTo>
                    <a:pt x="6792" y="8794"/>
                  </a:lnTo>
                  <a:cubicBezTo>
                    <a:pt x="7014" y="8794"/>
                    <a:pt x="7192" y="8616"/>
                    <a:pt x="7192" y="8394"/>
                  </a:cubicBezTo>
                  <a:lnTo>
                    <a:pt x="7192" y="8393"/>
                  </a:lnTo>
                  <a:cubicBezTo>
                    <a:pt x="7192" y="8172"/>
                    <a:pt x="7014" y="7993"/>
                    <a:pt x="6792" y="7993"/>
                  </a:cubicBezTo>
                  <a:lnTo>
                    <a:pt x="912" y="7993"/>
                  </a:lnTo>
                  <a:cubicBezTo>
                    <a:pt x="850" y="7993"/>
                    <a:pt x="800" y="7943"/>
                    <a:pt x="800" y="7881"/>
                  </a:cubicBezTo>
                  <a:lnTo>
                    <a:pt x="800" y="7201"/>
                  </a:lnTo>
                  <a:lnTo>
                    <a:pt x="6792" y="7201"/>
                  </a:lnTo>
                  <a:cubicBezTo>
                    <a:pt x="7014" y="7201"/>
                    <a:pt x="7192" y="7022"/>
                    <a:pt x="7192" y="6801"/>
                  </a:cubicBezTo>
                  <a:cubicBezTo>
                    <a:pt x="7192" y="6579"/>
                    <a:pt x="7012" y="6401"/>
                    <a:pt x="6792" y="6401"/>
                  </a:cubicBezTo>
                  <a:close/>
                  <a:moveTo>
                    <a:pt x="11189" y="6004"/>
                  </a:moveTo>
                  <a:cubicBezTo>
                    <a:pt x="11189" y="5782"/>
                    <a:pt x="11006" y="5599"/>
                    <a:pt x="10784" y="5599"/>
                  </a:cubicBezTo>
                  <a:lnTo>
                    <a:pt x="8395" y="5599"/>
                  </a:lnTo>
                  <a:cubicBezTo>
                    <a:pt x="8291" y="5598"/>
                    <a:pt x="8187" y="5637"/>
                    <a:pt x="8109" y="5716"/>
                  </a:cubicBezTo>
                  <a:cubicBezTo>
                    <a:pt x="8030" y="5794"/>
                    <a:pt x="7991" y="5898"/>
                    <a:pt x="7992" y="6002"/>
                  </a:cubicBezTo>
                  <a:lnTo>
                    <a:pt x="7992" y="8391"/>
                  </a:lnTo>
                  <a:cubicBezTo>
                    <a:pt x="7992" y="8613"/>
                    <a:pt x="8175" y="8796"/>
                    <a:pt x="8397" y="8796"/>
                  </a:cubicBezTo>
                  <a:cubicBezTo>
                    <a:pt x="8620" y="8796"/>
                    <a:pt x="8802" y="8613"/>
                    <a:pt x="8802" y="8391"/>
                  </a:cubicBezTo>
                  <a:lnTo>
                    <a:pt x="8802" y="6974"/>
                  </a:lnTo>
                  <a:lnTo>
                    <a:pt x="10504" y="8676"/>
                  </a:lnTo>
                  <a:cubicBezTo>
                    <a:pt x="10659" y="8831"/>
                    <a:pt x="10914" y="8831"/>
                    <a:pt x="11070" y="8676"/>
                  </a:cubicBezTo>
                  <a:cubicBezTo>
                    <a:pt x="11226" y="8521"/>
                    <a:pt x="11225" y="8266"/>
                    <a:pt x="11070" y="8109"/>
                  </a:cubicBezTo>
                  <a:lnTo>
                    <a:pt x="9369" y="6409"/>
                  </a:lnTo>
                  <a:lnTo>
                    <a:pt x="10784" y="6409"/>
                  </a:lnTo>
                  <a:cubicBezTo>
                    <a:pt x="11006" y="6409"/>
                    <a:pt x="11189" y="6227"/>
                    <a:pt x="11189" y="6004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rgbClr val="000000"/>
                </a:solidFill>
              </a:endParaRPr>
            </a:p>
          </p:txBody>
        </p:sp>
        <p:grpSp>
          <p:nvGrpSpPr>
            <p:cNvPr id="6" name="组合 1">
              <a:extLst>
                <a:ext uri="{FF2B5EF4-FFF2-40B4-BE49-F238E27FC236}">
                  <a16:creationId xmlns:a16="http://schemas.microsoft.com/office/drawing/2014/main" id="{9A5D6073-B42C-4374-7A33-828702383A10}"/>
                </a:ext>
              </a:extLst>
            </p:cNvPr>
            <p:cNvGrpSpPr/>
            <p:nvPr/>
          </p:nvGrpSpPr>
          <p:grpSpPr>
            <a:xfrm>
              <a:off x="850901" y="2576945"/>
              <a:ext cx="3335586" cy="3557155"/>
              <a:chOff x="850901" y="2576945"/>
              <a:chExt cx="1583542" cy="3557155"/>
            </a:xfrm>
          </p:grpSpPr>
          <p:sp>
            <p:nvSpPr>
              <p:cNvPr id="10" name="Text1">
                <a:extLst>
                  <a:ext uri="{FF2B5EF4-FFF2-40B4-BE49-F238E27FC236}">
                    <a16:creationId xmlns:a16="http://schemas.microsoft.com/office/drawing/2014/main" id="{CB389E1C-13D6-1BBA-6828-494B0935D0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0901" y="3192672"/>
                <a:ext cx="1583542" cy="29414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Manual data collection from multiple sources. Time-consuming and error-prone. High cognitive load on OCEs. Causes stress and burnout. Even with TSG recommendation systems.</a:t>
                </a:r>
                <a:endParaRPr lang="en-US" dirty="0"/>
              </a:p>
            </p:txBody>
          </p:sp>
          <p:sp>
            <p:nvSpPr>
              <p:cNvPr id="11" name="Bullet1">
                <a:extLst>
                  <a:ext uri="{FF2B5EF4-FFF2-40B4-BE49-F238E27FC236}">
                    <a16:creationId xmlns:a16="http://schemas.microsoft.com/office/drawing/2014/main" id="{5D388E0F-A202-4768-02DB-6814863A57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0901" y="2576945"/>
                <a:ext cx="1583542" cy="615727"/>
              </a:xfrm>
              <a:prstGeom prst="rect">
                <a:avLst/>
              </a:prstGeom>
              <a:noFill/>
            </p:spPr>
            <p:txBody>
              <a:bodyPr wrap="square" rtlCol="0" anchor="t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Manual Data Integration</a:t>
                </a:r>
                <a:endParaRPr lang="en-US" dirty="0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E005FE9-543B-BF07-1B24-39E76ECF406A}"/>
                </a:ext>
              </a:extLst>
            </p:cNvPr>
            <p:cNvCxnSpPr>
              <a:cxnSpLocks/>
            </p:cNvCxnSpPr>
            <p:nvPr/>
          </p:nvCxnSpPr>
          <p:spPr>
            <a:xfrm>
              <a:off x="731640" y="2388821"/>
              <a:ext cx="10787260" cy="0"/>
            </a:xfrm>
            <a:prstGeom prst="line">
              <a:avLst/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0B48D12E-C648-4FC4-BD1E-057F93E28128}"/>
                </a:ext>
              </a:extLst>
            </p:cNvPr>
            <p:cNvGrpSpPr/>
            <p:nvPr/>
          </p:nvGrpSpPr>
          <p:grpSpPr>
            <a:xfrm>
              <a:off x="4517107" y="2576945"/>
              <a:ext cx="3335586" cy="3557155"/>
              <a:chOff x="850901" y="2576945"/>
              <a:chExt cx="1583542" cy="3557155"/>
            </a:xfrm>
          </p:grpSpPr>
          <p:sp>
            <p:nvSpPr>
              <p:cNvPr id="27" name="Text2">
                <a:extLst>
                  <a:ext uri="{FF2B5EF4-FFF2-40B4-BE49-F238E27FC236}">
                    <a16:creationId xmlns:a16="http://schemas.microsoft.com/office/drawing/2014/main" id="{64C7F442-7A84-305E-56DF-458D3EDDDC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0901" y="3192672"/>
                <a:ext cx="1583542" cy="29414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Static documents. Hard to keep up with system evolution. New features and root causes not covered. May lead to outdated or suboptimal actions. “Exception Table not immediately added to TSG”.</a:t>
                </a:r>
                <a:endParaRPr lang="en-US" dirty="0"/>
              </a:p>
            </p:txBody>
          </p:sp>
          <p:sp>
            <p:nvSpPr>
              <p:cNvPr id="28" name="Bullet2">
                <a:extLst>
                  <a:ext uri="{FF2B5EF4-FFF2-40B4-BE49-F238E27FC236}">
                    <a16:creationId xmlns:a16="http://schemas.microsoft.com/office/drawing/2014/main" id="{5A305F4E-4BB2-D0EE-5A5D-D8E4A23232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0901" y="2576945"/>
                <a:ext cx="1583542" cy="615727"/>
              </a:xfrm>
              <a:prstGeom prst="rect">
                <a:avLst/>
              </a:prstGeom>
              <a:noFill/>
            </p:spPr>
            <p:txBody>
              <a:bodyPr wrap="square" rtlCol="0" anchor="t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Outdated Information</a:t>
                </a:r>
                <a:endParaRPr lang="en-US" dirty="0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60B69EAD-AA3B-39E9-E807-1635F6A7B670}"/>
                </a:ext>
              </a:extLst>
            </p:cNvPr>
            <p:cNvGrpSpPr/>
            <p:nvPr/>
          </p:nvGrpSpPr>
          <p:grpSpPr>
            <a:xfrm>
              <a:off x="8183314" y="2576945"/>
              <a:ext cx="3335586" cy="3557155"/>
              <a:chOff x="850901" y="2576945"/>
              <a:chExt cx="1583542" cy="3557155"/>
            </a:xfrm>
          </p:grpSpPr>
          <p:sp>
            <p:nvSpPr>
              <p:cNvPr id="30" name="Text3">
                <a:extLst>
                  <a:ext uri="{FF2B5EF4-FFF2-40B4-BE49-F238E27FC236}">
                    <a16:creationId xmlns:a16="http://schemas.microsoft.com/office/drawing/2014/main" id="{D92D4BFC-821B-E224-EC84-1E558B099A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0901" y="3192672"/>
                <a:ext cx="1583542" cy="29414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High-level instructions only. Lack of concrete and actionable guidance. Confusing for less experienced OCEs. Missing common checks .</a:t>
                </a:r>
                <a:endParaRPr lang="zh-CN" altLang="en-US" dirty="0"/>
              </a:p>
            </p:txBody>
          </p:sp>
          <p:sp>
            <p:nvSpPr>
              <p:cNvPr id="31" name="Bullet3">
                <a:extLst>
                  <a:ext uri="{FF2B5EF4-FFF2-40B4-BE49-F238E27FC236}">
                    <a16:creationId xmlns:a16="http://schemas.microsoft.com/office/drawing/2014/main" id="{77BABACE-3B42-1ED0-FFA9-FF262B6890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0901" y="2576945"/>
                <a:ext cx="1583542" cy="615727"/>
              </a:xfrm>
              <a:prstGeom prst="rect">
                <a:avLst/>
              </a:prstGeom>
              <a:noFill/>
            </p:spPr>
            <p:txBody>
              <a:bodyPr wrap="square" rtlCol="0" anchor="t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0" lang="zh-CN" altLang="en-US" sz="1600" b="1" i="0" u="none" strike="noStrike" kern="1200" cap="none" spc="0" normalizeH="0" baseline="0" noProof="0" dirty="0"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Insufficient Details &amp; Coverage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Traditional Approaches to Cloud Incident RCA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C6B705-10C9-9735-5499-1B2A4AC52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323" y="2388821"/>
            <a:ext cx="3437266" cy="2769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LLMs for RCA</a:t>
            </a:r>
            <a:endParaRPr lang="zh-CN" altLang="en-US" dirty="0"/>
          </a:p>
        </p:txBody>
      </p:sp>
      <p:sp>
        <p:nvSpPr>
          <p:cNvPr id="3" name="文本框"/>
          <p:cNvSpPr txBox="1"/>
          <p:nvPr/>
        </p:nvSpPr>
        <p:spPr>
          <a:xfrm>
            <a:off x="707228" y="1372030"/>
            <a:ext cx="4035171" cy="1836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Process high-volume textual data</a:t>
            </a: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Identify relevant information</a:t>
            </a: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Generate concise and insightful summaries</a:t>
            </a: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Reduce manual effort for OCEs</a:t>
            </a: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Adapt to evolving incident types</a:t>
            </a:r>
            <a:endParaRPr lang="zh-CN" altLang="en-US" dirty="0"/>
          </a:p>
        </p:txBody>
      </p:sp>
      <p:sp>
        <p:nvSpPr>
          <p:cNvPr id="4" name="文本框"/>
          <p:cNvSpPr txBox="1"/>
          <p:nvPr/>
        </p:nvSpPr>
        <p:spPr>
          <a:xfrm>
            <a:off x="996329" y="1454675"/>
            <a:ext cx="1730121" cy="341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400" b="1" dirty="0">
                <a:solidFill>
                  <a:schemeClr val="tx1"/>
                </a:solidFill>
              </a:rPr>
              <a:t>LLMs’ Strengths</a:t>
            </a:r>
            <a:endParaRPr lang="zh-CN" altLang="en-US" dirty="0"/>
          </a:p>
        </p:txBody>
      </p:sp>
      <p:cxnSp>
        <p:nvCxnSpPr>
          <p:cNvPr id="5" name="箭头"/>
          <p:cNvCxnSpPr/>
          <p:nvPr/>
        </p:nvCxnSpPr>
        <p:spPr>
          <a:xfrm>
            <a:off x="5069768" y="2293830"/>
            <a:ext cx="10800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框"/>
          <p:cNvSpPr txBox="1"/>
          <p:nvPr/>
        </p:nvSpPr>
        <p:spPr>
          <a:xfrm>
            <a:off x="6577636" y="1531448"/>
            <a:ext cx="4482846" cy="15890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Lack of domain-specific knowledge</a:t>
            </a: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Limited understanding of cloud incident context</a:t>
            </a: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Inaccurate root cause prediction</a:t>
            </a: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Weak explanations without guidance</a:t>
            </a:r>
            <a:endParaRPr lang="zh-CN" altLang="en-US" dirty="0"/>
          </a:p>
        </p:txBody>
      </p:sp>
      <p:sp>
        <p:nvSpPr>
          <p:cNvPr id="7" name="文本框"/>
          <p:cNvSpPr txBox="1"/>
          <p:nvPr/>
        </p:nvSpPr>
        <p:spPr>
          <a:xfrm>
            <a:off x="6780333" y="1611602"/>
            <a:ext cx="3025521" cy="341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400" b="1" dirty="0">
                <a:solidFill>
                  <a:schemeClr val="tx1"/>
                </a:solidFill>
              </a:rPr>
              <a:t>Limitations of Direct LLM Usage</a:t>
            </a:r>
            <a:endParaRPr lang="zh-CN" altLang="en-US" dirty="0"/>
          </a:p>
        </p:txBody>
      </p:sp>
      <p:sp>
        <p:nvSpPr>
          <p:cNvPr id="8" name="文本框"/>
          <p:cNvSpPr txBox="1"/>
          <p:nvPr/>
        </p:nvSpPr>
        <p:spPr>
          <a:xfrm>
            <a:off x="5373319" y="1952781"/>
            <a:ext cx="472821" cy="341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400" b="1" dirty="0">
                <a:solidFill>
                  <a:schemeClr val="tx1"/>
                </a:solidFill>
              </a:rPr>
              <a:t>but</a:t>
            </a:r>
            <a:endParaRPr lang="zh-CN" altLang="en-US" dirty="0"/>
          </a:p>
        </p:txBody>
      </p:sp>
      <p:sp>
        <p:nvSpPr>
          <p:cNvPr id="12" name="文本框"/>
          <p:cNvSpPr txBox="1"/>
          <p:nvPr/>
        </p:nvSpPr>
        <p:spPr>
          <a:xfrm>
            <a:off x="386685" y="4609973"/>
            <a:ext cx="2339721" cy="5222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0">
                <a:solidFill>
                  <a:schemeClr val="tx1"/>
                </a:solidFill>
              </a:rPr>
              <a:t>finetune a LLMs
with domain-specific datasets</a:t>
            </a:r>
          </a:p>
        </p:txBody>
      </p:sp>
      <p:grpSp>
        <p:nvGrpSpPr>
          <p:cNvPr id="15" name="组合"/>
          <p:cNvGrpSpPr/>
          <p:nvPr/>
        </p:nvGrpSpPr>
        <p:grpSpPr>
          <a:xfrm>
            <a:off x="2875861" y="4252151"/>
            <a:ext cx="3061942" cy="1431271"/>
            <a:chOff x="3572443" y="4207578"/>
            <a:chExt cx="3061942" cy="1431271"/>
          </a:xfrm>
        </p:grpSpPr>
        <p:sp>
          <p:nvSpPr>
            <p:cNvPr id="14" name="圆角矩形"/>
            <p:cNvSpPr/>
            <p:nvPr/>
          </p:nvSpPr>
          <p:spPr>
            <a:xfrm>
              <a:off x="3572443" y="4207578"/>
              <a:ext cx="3061942" cy="143127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"/>
            <p:cNvSpPr txBox="1"/>
            <p:nvPr/>
          </p:nvSpPr>
          <p:spPr>
            <a:xfrm>
              <a:off x="3672257" y="4320507"/>
              <a:ext cx="2654046" cy="3031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b="0">
                  <a:solidFill>
                    <a:schemeClr val="tx1"/>
                  </a:solidFill>
                </a:rPr>
                <a:t>Use only incident title &amp; summary</a:t>
              </a:r>
            </a:p>
          </p:txBody>
        </p:sp>
        <p:cxnSp>
          <p:nvCxnSpPr>
            <p:cNvPr id="11" name="箭头"/>
            <p:cNvCxnSpPr/>
            <p:nvPr/>
          </p:nvCxnSpPr>
          <p:spPr>
            <a:xfrm flipH="1">
              <a:off x="4996199" y="4680181"/>
              <a:ext cx="3161" cy="345441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" name="文本框"/>
            <p:cNvSpPr txBox="1"/>
            <p:nvPr/>
          </p:nvSpPr>
          <p:spPr>
            <a:xfrm>
              <a:off x="4496209" y="5191559"/>
              <a:ext cx="1006221" cy="3031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b="0">
                  <a:solidFill>
                    <a:schemeClr val="tx1"/>
                  </a:solidFill>
                </a:rPr>
                <a:t>root causes</a:t>
              </a:r>
            </a:p>
          </p:txBody>
        </p:sp>
      </p:grpSp>
      <p:sp>
        <p:nvSpPr>
          <p:cNvPr id="17" name="文本框"/>
          <p:cNvSpPr txBox="1"/>
          <p:nvPr/>
        </p:nvSpPr>
        <p:spPr>
          <a:xfrm>
            <a:off x="6721896" y="4021848"/>
            <a:ext cx="3111246" cy="1836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Miss rich diagnostic signals</a:t>
            </a: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High cost of fine-tuning</a:t>
            </a: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Require large labeled datasets</a:t>
            </a: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Hard to continuously update</a:t>
            </a:r>
            <a:endParaRPr lang="zh-CN" altLang="en-US" dirty="0"/>
          </a:p>
          <a:p>
            <a:pPr marL="171450" marR="0" lvl="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chemeClr val="tx1"/>
                </a:solidFill>
              </a:rPr>
              <a:t>Prone to hallucination over time</a:t>
            </a:r>
            <a:endParaRPr lang="zh-CN" altLang="en-US" dirty="0"/>
          </a:p>
        </p:txBody>
      </p:sp>
      <p:sp>
        <p:nvSpPr>
          <p:cNvPr id="18" name="文本框"/>
          <p:cNvSpPr txBox="1"/>
          <p:nvPr/>
        </p:nvSpPr>
        <p:spPr>
          <a:xfrm>
            <a:off x="6663873" y="4071615"/>
            <a:ext cx="3196971" cy="341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400" b="1" dirty="0">
                <a:solidFill>
                  <a:schemeClr val="tx1"/>
                </a:solidFill>
              </a:rPr>
              <a:t> finetuning has several limitations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RCACopilot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E4FCE2-863B-AE57-B93E-84DC7EFF5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93" y="1843902"/>
            <a:ext cx="10775614" cy="31701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577bdb9-2bd5-4c64-b898-4543927eb66e.source.1.zh-Hans.pptx">
            <a:extLst>
              <a:ext uri="{FF2B5EF4-FFF2-40B4-BE49-F238E27FC236}">
                <a16:creationId xmlns:a16="http://schemas.microsoft.com/office/drawing/2014/main" id="{655E2777-D4EE-4E89-8E7E-54061500952D}"/>
              </a:ext>
            </a:extLst>
          </p:cNvPr>
          <p:cNvGrpSpPr/>
          <p:nvPr/>
        </p:nvGrpSpPr>
        <p:grpSpPr>
          <a:xfrm>
            <a:off x="458528" y="1409085"/>
            <a:ext cx="10971981" cy="4392038"/>
            <a:chOff x="461379" y="1520600"/>
            <a:chExt cx="10971981" cy="4392038"/>
          </a:xfrm>
        </p:grpSpPr>
        <p:sp>
          <p:nvSpPr>
            <p:cNvPr id="10" name="PictureMisc">
              <a:extLst>
                <a:ext uri="{FF2B5EF4-FFF2-40B4-BE49-F238E27FC236}">
                  <a16:creationId xmlns:a16="http://schemas.microsoft.com/office/drawing/2014/main" id="{43F230B6-9EA1-F358-E919-1A7B76F8D99B}"/>
                </a:ext>
              </a:extLst>
            </p:cNvPr>
            <p:cNvSpPr/>
            <p:nvPr/>
          </p:nvSpPr>
          <p:spPr>
            <a:xfrm>
              <a:off x="7142574" y="1520600"/>
              <a:ext cx="4290786" cy="4392038"/>
            </a:xfrm>
            <a:prstGeom prst="round2SameRect">
              <a:avLst>
                <a:gd name="adj1" fmla="val 4489"/>
                <a:gd name="adj2" fmla="val 0"/>
              </a:avLst>
            </a:prstGeom>
            <a:blipFill>
              <a:blip r:embed="rId2"/>
              <a:srcRect/>
              <a:stretch>
                <a:fillRect l="-26441" r="-26441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sz="1600">
                <a:cs typeface="+mn-ea"/>
                <a:sym typeface="+mn-lt"/>
              </a:endParaRP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470A5012-4233-E9D4-8454-FDF174AFC94E}"/>
                </a:ext>
              </a:extLst>
            </p:cNvPr>
            <p:cNvGrpSpPr/>
            <p:nvPr/>
          </p:nvGrpSpPr>
          <p:grpSpPr>
            <a:xfrm>
              <a:off x="461379" y="2200598"/>
              <a:ext cx="6454383" cy="3225799"/>
              <a:chOff x="955160" y="2402681"/>
              <a:chExt cx="6111518" cy="2337491"/>
            </a:xfrm>
          </p:grpSpPr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B372DC21-DF7D-1F4D-FCF7-2495856B7EE9}"/>
                  </a:ext>
                </a:extLst>
              </p:cNvPr>
              <p:cNvGrpSpPr/>
              <p:nvPr/>
            </p:nvGrpSpPr>
            <p:grpSpPr>
              <a:xfrm>
                <a:off x="1393458" y="2402681"/>
                <a:ext cx="5673220" cy="2337491"/>
                <a:chOff x="1393458" y="2402681"/>
                <a:chExt cx="5673220" cy="2337491"/>
              </a:xfrm>
            </p:grpSpPr>
            <p:sp>
              <p:nvSpPr>
                <p:cNvPr id="79" name="Bullet1">
                  <a:extLst>
                    <a:ext uri="{FF2B5EF4-FFF2-40B4-BE49-F238E27FC236}">
                      <a16:creationId xmlns:a16="http://schemas.microsoft.com/office/drawing/2014/main" id="{8845E041-3772-16BE-4944-6F02532563B9}"/>
                    </a:ext>
                  </a:extLst>
                </p:cNvPr>
                <p:cNvSpPr/>
                <p:nvPr/>
              </p:nvSpPr>
              <p:spPr>
                <a:xfrm>
                  <a:off x="1393458" y="2402681"/>
                  <a:ext cx="5673219" cy="38310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 fontScale="92500" lnSpcReduction="10000"/>
                </a:bodyPr>
                <a:lstStyle/>
                <a:p>
                  <a:pPr marL="0" marR="0" lvl="0" indent="0" algn="l"/>
                  <a:r>
                    <a:rPr lang="zh-CN" altLang="en-US" sz="1600" b="1" dirty="0">
                      <a:solidFill>
                        <a:schemeClr val="tx1"/>
                      </a:solidFill>
                    </a:rPr>
                    <a:t>a comprehensive study of the one-year incidents from an email service from Microsoft</a:t>
                  </a:r>
                  <a:endParaRPr lang="zh-CN" altLang="en-US" dirty="0"/>
                </a:p>
              </p:txBody>
            </p:sp>
            <p:sp>
              <p:nvSpPr>
                <p:cNvPr id="80" name="Text1">
                  <a:extLst>
                    <a:ext uri="{FF2B5EF4-FFF2-40B4-BE49-F238E27FC236}">
                      <a16:creationId xmlns:a16="http://schemas.microsoft.com/office/drawing/2014/main" id="{C1DDC651-EC04-DFDC-64F7-827EC854DA97}"/>
                    </a:ext>
                  </a:extLst>
                </p:cNvPr>
                <p:cNvSpPr/>
                <p:nvPr/>
              </p:nvSpPr>
              <p:spPr>
                <a:xfrm>
                  <a:off x="1393460" y="2819726"/>
                  <a:ext cx="5673218" cy="192044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Autofit/>
                </a:bodyPr>
                <a:lstStyle/>
                <a:p>
                  <a:pPr marL="0" marR="0" lvl="0" indent="0" algn="l">
                    <a:lnSpc>
                      <a:spcPct val="120000"/>
                    </a:lnSpc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Dataset &amp; Method：</a:t>
                  </a:r>
                  <a:endParaRPr lang="zh-CN" altLang="en-US" dirty="0"/>
                </a:p>
                <a:p>
                  <a:pPr marL="0" marR="0" lvl="0" indent="0" algn="l">
                    <a:lnSpc>
                      <a:spcPct val="120000"/>
                    </a:lnSpc>
                  </a:pPr>
                  <a:endParaRPr lang="zh-CN" altLang="en-US" dirty="0"/>
                </a:p>
                <a:p>
                  <a:pPr marL="171450" marR="0" lvl="0" indent="-171450" algn="l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One-year incident data from a Microsoft email service</a:t>
                  </a:r>
                  <a:endParaRPr lang="zh-CN" altLang="en-US" dirty="0"/>
                </a:p>
                <a:p>
                  <a:pPr marL="171450" marR="0" lvl="0" indent="-171450" algn="l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Incidents reviewed and categorized by experienced OCEs</a:t>
                  </a:r>
                  <a:endParaRPr lang="zh-CN" altLang="en-US" dirty="0"/>
                </a:p>
                <a:p>
                  <a:pPr marL="171450" marR="0" lvl="0" indent="-171450" algn="l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Qualitative analysis based on real production cases</a:t>
                  </a:r>
                  <a:endParaRPr lang="zh-CN" altLang="en-US" dirty="0"/>
                </a:p>
                <a:p>
                  <a:pPr marL="171450" marR="0" lvl="0" indent="-171450" algn="l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endParaRPr lang="zh-CN" altLang="en-US" dirty="0"/>
                </a:p>
                <a:p>
                  <a:pPr marL="0" marR="0" lvl="0" indent="0" algn="l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tx1"/>
                      </a:solidFill>
                    </a:rPr>
                    <a:t>Incident characteristics &amp; impact ：</a:t>
                  </a:r>
                  <a:endParaRPr lang="zh-CN" altLang="en-US" dirty="0"/>
                </a:p>
                <a:p>
                  <a:pPr marL="0" marR="0" lvl="0" indent="0" algn="l">
                    <a:lnSpc>
                      <a:spcPct val="120000"/>
                    </a:lnSpc>
                  </a:pPr>
                  <a:endParaRPr lang="zh-CN" altLang="en-US" dirty="0"/>
                </a:p>
                <a:p>
                  <a:pPr marL="171450" marR="0" lvl="0" indent="-171450" algn="l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Root cause types and sources</a:t>
                  </a:r>
                  <a:endParaRPr lang="zh-CN" altLang="en-US" dirty="0"/>
                </a:p>
                <a:p>
                  <a:pPr marL="171450" marR="0" lvl="0" indent="-171450" algn="l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Response effectiveness</a:t>
                  </a:r>
                  <a:endParaRPr lang="zh-CN" altLang="en-US" dirty="0"/>
                </a:p>
                <a:p>
                  <a:pPr marL="171450" marR="0" lvl="0" indent="-171450" algn="l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Recurrence of similar incidents</a:t>
                  </a:r>
                  <a:endParaRPr lang="zh-CN" altLang="en-US" dirty="0"/>
                </a:p>
              </p:txBody>
            </p:sp>
          </p:grpSp>
          <p:sp>
            <p:nvSpPr>
              <p:cNvPr id="78" name="Number1">
                <a:extLst>
                  <a:ext uri="{FF2B5EF4-FFF2-40B4-BE49-F238E27FC236}">
                    <a16:creationId xmlns:a16="http://schemas.microsoft.com/office/drawing/2014/main" id="{140B483A-0C59-911A-692B-83D0E4F482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5160" y="2493675"/>
                <a:ext cx="425396" cy="326081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algn="ctr">
                  <a:defRPr kumimoji="1" sz="2800" b="1">
                    <a:solidFill>
                      <a:schemeClr val="bg1"/>
                    </a:solidFill>
                    <a:cs typeface="+mn-ea"/>
                  </a:defRPr>
                </a:lvl1pPr>
              </a:lstStyle>
              <a:p>
                <a:pPr marL="0" marR="0" lvl="0" indent="0" algn="ctr"/>
                <a:endParaRPr lang="zh-CN" altLang="en-US" dirty="0"/>
              </a:p>
            </p:txBody>
          </p:sp>
        </p:grpSp>
      </p:grpSp>
      <p:sp>
        <p:nvSpPr>
          <p:cNvPr id="3" name="标题 4294967294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 Insights from Incidents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 Insights from Incidents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B3D267-5E7B-5809-577B-F3E1C6B26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105" y="1248017"/>
            <a:ext cx="6161459" cy="48703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 fontScale="90000"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Insight 1: determining the root cause based on a single</a:t>
            </a:r>
            <a:endParaRPr lang="zh-CN" altLang="en-US" dirty="0"/>
          </a:p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data source can be challenging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1" name="image"/>
          <p:cNvSpPr/>
          <p:nvPr/>
        </p:nvSpPr>
        <p:spPr>
          <a:xfrm>
            <a:off x="894675" y="1669961"/>
            <a:ext cx="8937297" cy="550884"/>
          </a:xfrm>
          <a:prstGeom prst="roundRect">
            <a:avLst>
              <a:gd name="adj" fmla="val 1000"/>
            </a:avLst>
          </a:prstGeom>
          <a:blipFill>
            <a:blip r:embed="rId2"/>
            <a:stretch>
              <a:fillRect l="-1" t="-763" r="-1" b="-76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"/>
          <p:cNvSpPr txBox="1"/>
          <p:nvPr/>
        </p:nvSpPr>
        <p:spPr>
          <a:xfrm>
            <a:off x="2489199" y="2795894"/>
            <a:ext cx="3911346" cy="329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[UDP Hub Ports Exhausted]
              ↓
      [DNS Resolution Failure]
              </a:t>
            </a:r>
            <a:endParaRPr lang="zh-CN" altLang="en-US" dirty="0"/>
          </a:p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==========================</a:t>
            </a:r>
            <a:endParaRPr lang="zh-CN" altLang="en-US" dirty="0"/>
          </a:p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
[Mailbox Server cannot resolve Front-door address]
              ↓
[SMTP Proxy Connection Request Fails]
              ↓
-----------------------------------------------
|  [Monitor Alert: Connection failure]        |
|  (Observable symptom only)                  |
-----------------------------------------------
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 fontScale="90000"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Insight 2: incidents stemming from similar or identical root causes often recur within a short period.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image"/>
          <p:cNvSpPr/>
          <p:nvPr/>
        </p:nvSpPr>
        <p:spPr>
          <a:xfrm>
            <a:off x="206562" y="1054253"/>
            <a:ext cx="5061369" cy="3181914"/>
          </a:xfrm>
          <a:prstGeom prst="roundRect">
            <a:avLst>
              <a:gd name="adj" fmla="val 1000"/>
            </a:avLst>
          </a:prstGeom>
          <a:blipFill>
            <a:blip r:embed="rId2"/>
            <a:stretch>
              <a:fillRect l="-1" t="-356" r="-1" b="-35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AF0C84-87A2-86EF-0099-8421D1E6A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78" y="4236167"/>
            <a:ext cx="9906859" cy="9525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AD1C555-EC00-C58D-9B39-D9552FA90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151" y="5188750"/>
            <a:ext cx="9990686" cy="9144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 fontScale="90000"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Insight 3: incidents with new root causes occur frequently and pose a greater challenge to analyze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image"/>
          <p:cNvSpPr/>
          <p:nvPr/>
        </p:nvSpPr>
        <p:spPr>
          <a:xfrm>
            <a:off x="2859697" y="1503108"/>
            <a:ext cx="6472606" cy="4261084"/>
          </a:xfrm>
          <a:prstGeom prst="roundRect">
            <a:avLst>
              <a:gd name="adj" fmla="val 1000"/>
            </a:avLst>
          </a:prstGeom>
          <a:blipFill>
            <a:blip r:embed="rId2"/>
            <a:stretch>
              <a:fillRect l="-1" t="-1" r="-1" b="-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RCACopilot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FA39C79-FBED-9CE6-C645-E8EE93A23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29" y="1843902"/>
            <a:ext cx="10775614" cy="3170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Diagnostic Information Collection Stage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文本框"/>
          <p:cNvSpPr txBox="1"/>
          <p:nvPr/>
        </p:nvSpPr>
        <p:spPr>
          <a:xfrm>
            <a:off x="1582510" y="1491291"/>
            <a:ext cx="8711946" cy="303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Insight-1 ：determining the root cause based on a single data source can be challenging        →        Incident Handler</a:t>
            </a:r>
            <a:endParaRPr lang="zh-CN" altLang="en-US" dirty="0"/>
          </a:p>
        </p:txBody>
      </p:sp>
      <p:sp>
        <p:nvSpPr>
          <p:cNvPr id="8" name="文本框"/>
          <p:cNvSpPr txBox="1"/>
          <p:nvPr/>
        </p:nvSpPr>
        <p:spPr>
          <a:xfrm>
            <a:off x="3012298" y="1938278"/>
            <a:ext cx="4111371" cy="1369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  ┌────────────┐          ┌────────────┐
  │  Alert Type │───&gt;──┐ │  Multiple Data Sources │
  └────────────┘          └────────────┘
        ↑
    Symptoms / Issues
</a:t>
            </a:r>
          </a:p>
        </p:txBody>
      </p:sp>
      <p:sp>
        <p:nvSpPr>
          <p:cNvPr id="9" name="文本框"/>
          <p:cNvSpPr txBox="1"/>
          <p:nvPr/>
        </p:nvSpPr>
        <p:spPr>
          <a:xfrm>
            <a:off x="4987697" y="3627084"/>
            <a:ext cx="1901571" cy="136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| three distinct actions:| 
| ------------------- | 
| **Scope Switching** | 
| **Query**           | 
| **Mitigation**      | 
</a:t>
            </a:r>
            <a:endParaRPr lang="zh-CN" altLang="en-US" dirty="0"/>
          </a:p>
        </p:txBody>
      </p:sp>
      <p:sp>
        <p:nvSpPr>
          <p:cNvPr id="10" name="文本框"/>
          <p:cNvSpPr txBox="1"/>
          <p:nvPr/>
        </p:nvSpPr>
        <p:spPr>
          <a:xfrm>
            <a:off x="1631406" y="5492272"/>
            <a:ext cx="4387596" cy="731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 Human Expertise (OCEs) ───&gt;           Reusable Actions </a:t>
            </a:r>
            <a:endParaRPr lang="zh-CN" altLang="en-US" dirty="0"/>
          </a:p>
          <a:p>
            <a:pPr marL="2286000" marR="0" lvl="5" indent="45720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 System Automation
</a:t>
            </a:r>
            <a:endParaRPr lang="zh-CN" altLang="en-US" dirty="0"/>
          </a:p>
        </p:txBody>
      </p:sp>
      <p:sp>
        <p:nvSpPr>
          <p:cNvPr id="11" name="文本框"/>
          <p:cNvSpPr txBox="1"/>
          <p:nvPr/>
        </p:nvSpPr>
        <p:spPr>
          <a:xfrm>
            <a:off x="1095459" y="3251864"/>
            <a:ext cx="2092071" cy="2227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                Alert Type
                      │
            ┌───────┐
            │                 │
        Action A       Action B
            │                 │
        Action C       Action D
            │
        Mitigation
</a:t>
            </a:r>
            <a:endParaRPr lang="zh-CN" altLang="en-US" dirty="0"/>
          </a:p>
        </p:txBody>
      </p:sp>
      <p:sp>
        <p:nvSpPr>
          <p:cNvPr id="12" name="文本框"/>
          <p:cNvSpPr txBox="1"/>
          <p:nvPr/>
        </p:nvSpPr>
        <p:spPr>
          <a:xfrm>
            <a:off x="6604250" y="5003654"/>
            <a:ext cx="3387471" cy="950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Handler v1 ──&gt; Handler v2 ──&gt; Handler v3
        ↑           ↑
     New Metric   New Root Cause
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7B9F44-4FB2-5C13-7F9E-A654F5B7E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986" y="1830582"/>
            <a:ext cx="2799722" cy="23551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Handler action——Scope switching action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EB48BA1-E408-BD3D-F109-6408F4DD8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064" y="1698354"/>
            <a:ext cx="9137172" cy="33149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Handler action——Query action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4CD353-F919-2065-7F14-5730A865A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414" y="1771506"/>
            <a:ext cx="9137172" cy="33149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Handler action——Mitigation action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ED57BD-18A4-E673-79BC-ABFBFC117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414" y="1771506"/>
            <a:ext cx="9137172" cy="33149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Root cause prediction stage: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文本框"/>
          <p:cNvSpPr txBox="1"/>
          <p:nvPr/>
        </p:nvSpPr>
        <p:spPr>
          <a:xfrm>
            <a:off x="729295" y="3867953"/>
            <a:ext cx="11550396" cy="836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400" b="1" dirty="0">
                <a:solidFill>
                  <a:schemeClr val="tx1"/>
                </a:solidFill>
              </a:rPr>
              <a:t>Chain-of-Thoughts </a:t>
            </a:r>
            <a:r>
              <a:rPr lang="zh-CN" altLang="en-US" sz="1400" b="0" dirty="0">
                <a:solidFill>
                  <a:schemeClr val="tx1"/>
                </a:solidFill>
              </a:rPr>
              <a:t>(CoT) prompting is a gradient-free technique that
 elicits LLMs to generate intermediate reasoning steps that
 </a:t>
            </a:r>
            <a:endParaRPr lang="zh-CN" altLang="en-US" dirty="0"/>
          </a:p>
          <a:p>
            <a:pPr marL="0" marR="0" lvl="0" indent="0" algn="l">
              <a:lnSpc>
                <a:spcPct val="120000"/>
              </a:lnSpc>
            </a:pPr>
            <a:r>
              <a:rPr lang="zh-CN" altLang="en-US" sz="1400" b="0" dirty="0">
                <a:solidFill>
                  <a:schemeClr val="tx1"/>
                </a:solidFill>
              </a:rPr>
              <a:t>lead to the final answer. In few-shots CoT prompting, a few
 manual demonstrations that are composed of a question and
 a reasoning </a:t>
            </a:r>
            <a:endParaRPr lang="zh-CN" altLang="en-US" dirty="0"/>
          </a:p>
          <a:p>
            <a:pPr marL="0" marR="0" lvl="0" indent="0" algn="l">
              <a:lnSpc>
                <a:spcPct val="120000"/>
              </a:lnSpc>
            </a:pPr>
            <a:r>
              <a:rPr lang="zh-CN" altLang="en-US" sz="1400" b="0" dirty="0">
                <a:solidFill>
                  <a:schemeClr val="tx1"/>
                </a:solidFill>
              </a:rPr>
              <a:t>chain that leads to an answer for each of them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0DBFFFB-A9FE-FFA2-C295-D2843AE82E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49" t="-17964" r="113" b="17964"/>
          <a:stretch>
            <a:fillRect/>
          </a:stretch>
        </p:blipFill>
        <p:spPr>
          <a:xfrm>
            <a:off x="5943346" y="577699"/>
            <a:ext cx="5284175" cy="31701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 Embedding model And Nearest neighbor search. 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文本框"/>
          <p:cNvSpPr txBox="1"/>
          <p:nvPr/>
        </p:nvSpPr>
        <p:spPr>
          <a:xfrm>
            <a:off x="670600" y="1328742"/>
            <a:ext cx="1428211" cy="494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2400" b="1" dirty="0">
                <a:solidFill>
                  <a:schemeClr val="tx1"/>
                </a:solidFill>
              </a:rPr>
              <a:t>FastText</a:t>
            </a:r>
            <a:endParaRPr lang="zh-CN" altLang="en-US" sz="2400" dirty="0"/>
          </a:p>
        </p:txBody>
      </p:sp>
      <p:sp>
        <p:nvSpPr>
          <p:cNvPr id="7" name="文本框"/>
          <p:cNvSpPr txBox="1"/>
          <p:nvPr/>
        </p:nvSpPr>
        <p:spPr>
          <a:xfrm>
            <a:off x="736660" y="1802524"/>
            <a:ext cx="6392052" cy="139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0" dirty="0">
                <a:solidFill>
                  <a:schemeClr val="tx1"/>
                </a:solidFill>
              </a:rPr>
              <a:t>which is
efficient, insensitive to text input length, and generates dense
matrices, making it easy to calculate the Euclidean distance
between similar vectors.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CA0602F-2BA6-4A5D-AFFB-41721B69E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344" y="2498227"/>
            <a:ext cx="4930567" cy="9221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9EEB578-D62F-ECD7-9E38-317811AA64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95" b="5534"/>
          <a:stretch>
            <a:fillRect/>
          </a:stretch>
        </p:blipFill>
        <p:spPr>
          <a:xfrm>
            <a:off x="549695" y="3365020"/>
            <a:ext cx="7110076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Diagnostic information summary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文本框"/>
          <p:cNvSpPr txBox="1"/>
          <p:nvPr/>
        </p:nvSpPr>
        <p:spPr>
          <a:xfrm>
            <a:off x="538079" y="1505516"/>
            <a:ext cx="5330571" cy="2017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- RCACopilot typically collects &gt; 2000 tokens of diagnostic information
- Low log readability
- Direct processing by LLM will:
• Be difficult to understand
• Introduce noise</a:t>
            </a:r>
          </a:p>
        </p:txBody>
      </p:sp>
      <p:sp>
        <p:nvSpPr>
          <p:cNvPr id="7" name="文本框"/>
          <p:cNvSpPr txBox="1"/>
          <p:nvPr/>
        </p:nvSpPr>
        <p:spPr>
          <a:xfrm>
            <a:off x="6471407" y="1605872"/>
            <a:ext cx="4806696" cy="15890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- Utilize LLM's automatic summarization capabilities
- Compress raw diagnostic information to 120-140 words
- Remove irrelevant information to improve readability
- Use the summary text as input for subsequent CoT prompting</a:t>
            </a:r>
          </a:p>
        </p:txBody>
      </p:sp>
      <p:cxnSp>
        <p:nvCxnSpPr>
          <p:cNvPr id="8" name="箭头"/>
          <p:cNvCxnSpPr/>
          <p:nvPr/>
        </p:nvCxnSpPr>
        <p:spPr>
          <a:xfrm>
            <a:off x="5016075" y="2623886"/>
            <a:ext cx="10800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78673CC2-3AC5-8DE4-3813-8A6E64F26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637" y="3523197"/>
            <a:ext cx="5060118" cy="24386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Prediction prompt construction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文本框"/>
          <p:cNvSpPr txBox="1"/>
          <p:nvPr/>
        </p:nvSpPr>
        <p:spPr>
          <a:xfrm>
            <a:off x="377101" y="1196708"/>
            <a:ext cx="8407146" cy="2436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The final prompt is designed to perform three key steps:
</a:t>
            </a:r>
            <a:r>
              <a:rPr lang="zh-CN" altLang="en-US" sz="1200" b="1" dirty="0">
                <a:solidFill>
                  <a:schemeClr val="tx1"/>
                </a:solidFill>
              </a:rPr>
              <a:t>·  </a:t>
            </a:r>
            <a:r>
              <a:rPr lang="zh-CN" altLang="en-US" sz="1200" b="0" dirty="0">
                <a:solidFill>
                  <a:schemeClr val="tx1"/>
                </a:solidFill>
              </a:rPr>
              <a:t>Provide the LLM with several summaries of similar historical incidents, along with their known root cause labels
</a:t>
            </a:r>
            <a:endParaRPr lang="zh-CN" altLang="en-US" dirty="0"/>
          </a:p>
          <a:p>
            <a:pPr marL="0" marR="0" lvl="0" indent="0"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/>
                </a:solidFill>
              </a:rPr>
              <a:t>·</a:t>
            </a:r>
            <a:r>
              <a:rPr lang="zh-CN" altLang="en-US" sz="1200" b="0" dirty="0">
                <a:solidFill>
                  <a:schemeClr val="tx1"/>
                </a:solidFill>
              </a:rPr>
              <a:t>  Present the summary of the current incident to be diagnosed
</a:t>
            </a:r>
            <a:r>
              <a:rPr lang="zh-CN" altLang="en-US" sz="1200" b="1" dirty="0">
                <a:solidFill>
                  <a:schemeClr val="tx1"/>
                </a:solidFill>
              </a:rPr>
              <a:t>·</a:t>
            </a:r>
            <a:r>
              <a:rPr lang="zh-CN" altLang="en-US" sz="1200" b="0" dirty="0">
                <a:solidFill>
                  <a:schemeClr val="tx1"/>
                </a:solidFill>
              </a:rPr>
              <a:t>  Explicitly instruct the LLM to:
            Select the historical incident that is most likely to share the same root cause, and
            Explain the reasoning behind its decision (“give your explanation”)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ACF92E-54E9-6801-9182-5844893E0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182" y="1938349"/>
            <a:ext cx="5029636" cy="41151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 Evaluation-Target System and Dataset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文本框"/>
          <p:cNvSpPr txBox="1"/>
          <p:nvPr/>
        </p:nvSpPr>
        <p:spPr>
          <a:xfrm>
            <a:off x="3121152" y="1249680"/>
            <a:ext cx="6150864" cy="494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System &amp; Dataset
	- Evaluated on Microsoft Global Email Service (Transport)
	- 653 real-world incidents collected over one year
Ground Truth
	- Root cause categories manually labeled
	- Annotated by experienced On-Call Engineers (OCEs)
Data Split
	- Training set: 75%
	- Testing set: 25%
LLMs Used
	- GPT-3.5-turbo
	- GPT-4 (8K tokens)
Default Model
	- GPT-4, selected for its best overall performance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 Evaluation-Compared Approaches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8ADCB2-BFAF-FF3C-C5C6-0E5F2C157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373" y="1711544"/>
            <a:ext cx="5636358" cy="3768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 Evaluation-ablation study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image"/>
          <p:cNvSpPr/>
          <p:nvPr/>
        </p:nvSpPr>
        <p:spPr>
          <a:xfrm>
            <a:off x="3852863" y="1900238"/>
            <a:ext cx="4486275" cy="3057525"/>
          </a:xfrm>
          <a:prstGeom prst="roundRect">
            <a:avLst>
              <a:gd name="adj" fmla="val 1000"/>
            </a:avLst>
          </a:prstGeom>
          <a:blipFill>
            <a:blip r:embed="rId2"/>
            <a:stretch>
              <a:fillRect l="-1" t="-1" r="-1" b="-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accent1"/>
                </a:solidFill>
              </a:rPr>
              <a:t> Evaluation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文本框"/>
          <p:cNvSpPr txBox="1"/>
          <p:nvPr/>
        </p:nvSpPr>
        <p:spPr>
          <a:xfrm>
            <a:off x="920136" y="2602168"/>
            <a:ext cx="9897261" cy="3026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400" b="1" dirty="0">
                <a:solidFill>
                  <a:schemeClr val="tx1"/>
                </a:solidFill>
              </a:rPr>
              <a:t>
(2) How do different components of RCACopilot facilitate
 its diagnosis and prediction?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pPr marL="0" marR="0" lvl="0" indent="0" algn="l">
              <a:lnSpc>
                <a:spcPct val="120000"/>
              </a:lnSpc>
            </a:pPr>
            <a:endParaRPr lang="zh-CN" altLang="en-US" dirty="0"/>
          </a:p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RCACopilot has proven that the diagnostic information collection component, GPT summarization, and chain-of-thoughts </a:t>
            </a:r>
            <a:endParaRPr lang="zh-CN" altLang="en-US" dirty="0"/>
          </a:p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prompting all contribute to RCACopilot’s prediction effectiveness.</a:t>
            </a:r>
            <a:endParaRPr lang="zh-CN" altLang="en-US" dirty="0"/>
          </a:p>
          <a:p>
            <a:pPr marL="0" marR="0" lvl="0" indent="0" algn="l">
              <a:lnSpc>
                <a:spcPct val="120000"/>
              </a:lnSpc>
            </a:pPr>
            <a:r>
              <a:rPr lang="zh-CN" altLang="en-US" sz="1400" b="1" dirty="0">
                <a:solidFill>
                  <a:schemeClr val="tx1"/>
                </a:solidFill>
              </a:rPr>
              <a:t>
(3) Is RCACopilot suitable for deployment in real production services, and are RCACopilot’s results trustworthy?</a:t>
            </a:r>
            <a:endParaRPr lang="zh-CN" altLang="en-US" dirty="0"/>
          </a:p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
RCACopilot’s diagnostic information collection module has been deployed across 30 teams within Microsoft</a:t>
            </a:r>
            <a:r>
              <a:rPr lang="zh-CN" altLang="en-US" sz="1200" dirty="0"/>
              <a:t> </a:t>
            </a:r>
            <a:r>
              <a:rPr lang="zh-CN" altLang="en-US" sz="1200" b="0" dirty="0">
                <a:solidFill>
                  <a:schemeClr val="tx1"/>
                </a:solidFill>
              </a:rPr>
              <a:t>for over four years. </a:t>
            </a:r>
            <a:endParaRPr lang="zh-CN" altLang="en-US" dirty="0"/>
          </a:p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To evaluate the trustworthiness of RCACopilot, each experiment was conducted over three
 rounds, and RCACopilot can consistently achieve a high</a:t>
            </a:r>
            <a:r>
              <a:rPr lang="zh-CN" altLang="en-US" sz="1200" dirty="0"/>
              <a:t> </a:t>
            </a:r>
            <a:r>
              <a:rPr lang="zh-CN" altLang="en-US" sz="1200" b="0" dirty="0">
                <a:solidFill>
                  <a:schemeClr val="tx1"/>
                </a:solidFill>
              </a:rPr>
              <a:t>Micro-F1 score of over 0.70 and a Macro-F1 score exceeding 0.50.</a:t>
            </a:r>
            <a:endParaRPr lang="zh-CN" altLang="en-US" dirty="0"/>
          </a:p>
        </p:txBody>
      </p:sp>
      <p:sp>
        <p:nvSpPr>
          <p:cNvPr id="7" name="文本框"/>
          <p:cNvSpPr txBox="1"/>
          <p:nvPr/>
        </p:nvSpPr>
        <p:spPr>
          <a:xfrm>
            <a:off x="920136" y="1199406"/>
            <a:ext cx="11407521" cy="341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400" b="1" dirty="0">
                <a:solidFill>
                  <a:schemeClr val="tx1"/>
                </a:solidFill>
              </a:rPr>
              <a:t>(1) How effective and efficient is RCACopilot as an on-call
  system when predicting root cause categories and assisting OCEs? </a:t>
            </a:r>
            <a:endParaRPr lang="zh-CN" altLang="en-US" dirty="0"/>
          </a:p>
        </p:txBody>
      </p:sp>
      <p:sp>
        <p:nvSpPr>
          <p:cNvPr id="8" name="文本框"/>
          <p:cNvSpPr txBox="1"/>
          <p:nvPr/>
        </p:nvSpPr>
        <p:spPr>
          <a:xfrm>
            <a:off x="920136" y="1834644"/>
            <a:ext cx="8230138" cy="847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RCACopilot achieves 0.766 and 0.533 for</a:t>
            </a:r>
            <a:r>
              <a:rPr lang="zh-CN" altLang="en-US" sz="1200" dirty="0"/>
              <a:t> </a:t>
            </a:r>
            <a:r>
              <a:rPr lang="zh-CN" altLang="en-US" sz="1200" b="0" dirty="0">
                <a:solidFill>
                  <a:schemeClr val="tx1"/>
                </a:solidFill>
              </a:rPr>
              <a:t>Micro-F1 and Macro-F1 separately when predicting the
 root cause category of cloud </a:t>
            </a:r>
            <a:r>
              <a:rPr lang="zh-CN" altLang="en-US" dirty="0"/>
              <a:t> </a:t>
            </a:r>
            <a:r>
              <a:rPr lang="zh-CN" altLang="en-US" sz="1200" b="0" dirty="0">
                <a:solidFill>
                  <a:schemeClr val="tx1"/>
                </a:solidFill>
              </a:rPr>
              <a:t>incidents, outperforming all our baselines with a low running overhead (4.205 seconds). </a:t>
            </a:r>
            <a:endParaRPr lang="en-US" altLang="zh-CN" sz="1200" b="0" dirty="0">
              <a:solidFill>
                <a:schemeClr val="tx1"/>
              </a:solidFill>
            </a:endParaRPr>
          </a:p>
          <a:p>
            <a:pPr marL="0" marR="0" lvl="0" indent="0" algn="l">
              <a:lnSpc>
                <a:spcPct val="120000"/>
              </a:lnSpc>
            </a:pPr>
            <a:r>
              <a:rPr lang="zh-CN" altLang="en-US" sz="1200" b="0" dirty="0">
                <a:solidFill>
                  <a:schemeClr val="tx1"/>
                </a:solidFill>
              </a:rPr>
              <a:t>RCACopilot is also able to generate new root</a:t>
            </a:r>
            <a:r>
              <a:rPr lang="zh-CN" altLang="en-US" sz="1200" dirty="0"/>
              <a:t> </a:t>
            </a:r>
            <a:r>
              <a:rPr lang="zh-CN" altLang="en-US" sz="1200" b="0" dirty="0">
                <a:solidFill>
                  <a:schemeClr val="tx1"/>
                </a:solidFill>
              </a:rPr>
              <a:t>cause category labels for unseen incidents with explanations.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Thank You</a:t>
            </a:r>
            <a:endParaRPr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/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刘军辉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</p:nvPr>
        </p:nvSpPr>
        <p:spPr>
          <a:xfrm>
            <a:off x="6896452" y="4561558"/>
            <a:ext cx="2340000" cy="432000"/>
          </a:xfrm>
        </p:spPr>
        <p:txBody>
          <a:bodyPr>
            <a:normAutofit/>
          </a:bodyPr>
          <a:lstStyle/>
          <a:p>
            <a:pPr marL="0" marR="0" lvl="0"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2026/2/1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" val="{&quot;Label&quot;:&quot;1&quot;,&quot;ContentProducer&quot;:&quot;\u6210\u90fd\u8292\u610f\u8f6f\u4ef6\u6280\u672f\u6709\u9650\u516c\u53f8&quot;,&quot;ProduceID&quot;:&quot;f1455aace59aad29dee42ad563de357e&quot;,&quot;ReservedCode1&quot;:&quot;44d81581e66773ca27618b38384f00ac49cf8ea02addffdd3e796966c31e29c7&quot;,&quot;ContentPropagator&quot;:&quot;\u6210\u90fd\u8292\u610f\u8f6f\u4ef6\u6280\u672f\u6709\u9650\u516c\u53f8&quot;,&quot;PropagateID&quot;:&quot;f1455aace59aad29dee42ad563de357e&quot;,&quot;ReservedCode2&quot;:&quot;44d81581e66773ca27618b38384f00ac49cf8ea02addffdd3e796966c31e29c7&quot;}"/>
  <p:tag name="TASKID" val="7505ba42081d2a95fed7189d47a14955"/>
  <p:tag name="THEMEID" val="2d85f150-6c8c-4aa7-8553-7d91be1a9841-theme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05497"/>
      </a:accent1>
      <a:accent2>
        <a:srgbClr val="178AA1"/>
      </a:accent2>
      <a:accent3>
        <a:srgbClr val="40A693"/>
      </a:accent3>
      <a:accent4>
        <a:srgbClr val="5268A5"/>
      </a:accent4>
      <a:accent5>
        <a:srgbClr val="5E5CA2"/>
      </a:accent5>
      <a:accent6>
        <a:srgbClr val="778495"/>
      </a:accent6>
      <a:hlink>
        <a:srgbClr val="4276AA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Cappt Presentation Template</Template>
  <TotalTime>195</TotalTime>
  <Words>1347</Words>
  <Application>Microsoft Office PowerPoint</Application>
  <PresentationFormat>宽屏</PresentationFormat>
  <Paragraphs>148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7" baseType="lpstr">
      <vt:lpstr>微软雅黑</vt:lpstr>
      <vt:lpstr>Arial</vt:lpstr>
      <vt:lpstr>Designed by iSlide</vt:lpstr>
      <vt:lpstr>Automatic Root Cause Analysis via Large Language Models for Cloud Incidents</vt:lpstr>
      <vt:lpstr>Background and Motivation</vt:lpstr>
      <vt:lpstr>Traditional Approaches to Cloud Incident RCA</vt:lpstr>
      <vt:lpstr>LLMs for RCA</vt:lpstr>
      <vt:lpstr>RCACopilot</vt:lpstr>
      <vt:lpstr> Insights from Incidents</vt:lpstr>
      <vt:lpstr> Insights from Incidents</vt:lpstr>
      <vt:lpstr>Insight 1: determining the root cause based on a single data source can be challenging</vt:lpstr>
      <vt:lpstr>Insight 2: incidents stemming from similar or identical root causes often recur within a short period.</vt:lpstr>
      <vt:lpstr>Insight 3: incidents with new root causes occur frequently and pose a greater challenge to analyze</vt:lpstr>
      <vt:lpstr>RCACopilot</vt:lpstr>
      <vt:lpstr>Diagnostic Information Collection Stage</vt:lpstr>
      <vt:lpstr>Handler action——Scope switching action</vt:lpstr>
      <vt:lpstr>Handler action——Query action</vt:lpstr>
      <vt:lpstr>Handler action——Mitigation action</vt:lpstr>
      <vt:lpstr>Root cause prediction stage:</vt:lpstr>
      <vt:lpstr> Embedding model And Nearest neighbor search. </vt:lpstr>
      <vt:lpstr>Diagnostic information summary</vt:lpstr>
      <vt:lpstr>Prediction prompt construction</vt:lpstr>
      <vt:lpstr> Evaluation-Target System and Dataset</vt:lpstr>
      <vt:lpstr> Evaluation-Compared Approaches</vt:lpstr>
      <vt:lpstr> Evaluation-ablation study</vt:lpstr>
      <vt:lpstr> Evaluation</vt:lpstr>
      <vt:lpstr>Thank You</vt:lpstr>
    </vt:vector>
  </TitlesOfParts>
  <Manager>cappt</Manager>
  <Company>cappt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cappt</dc:creator>
  <cp:lastModifiedBy>金hui 牛</cp:lastModifiedBy>
  <cp:revision>5</cp:revision>
  <dcterms:modified xsi:type="dcterms:W3CDTF">2026-02-01T12:15:13Z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2d85f150-6c8c-4aa7-8553-7d91be1a9841</vt:lpwstr>
  </property>
</Properties>
</file>