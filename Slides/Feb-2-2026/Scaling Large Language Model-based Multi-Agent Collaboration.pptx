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3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38"/>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今天我讲的论文是</a:t>
            </a:r>
            <a:r>
              <a:rPr lang="en-US" altLang="zh-CN"/>
              <a:t>“</a:t>
            </a:r>
            <a:r>
              <a:rPr lang="zh-CN" altLang="en-US"/>
              <a:t>基于大型语言模型的多智能体协作扩展</a:t>
            </a:r>
            <a:r>
              <a:rPr lang="en-US" altLang="zh-CN"/>
              <a:t>”,</a:t>
            </a:r>
            <a:r>
              <a:rPr lang="zh-CN" altLang="en-US"/>
              <a:t>他是发表在</a:t>
            </a:r>
            <a:r>
              <a:rPr lang="en-US" altLang="zh-CN"/>
              <a:t>ICLR</a:t>
            </a:r>
            <a:r>
              <a:rPr lang="zh-CN" altLang="en-US"/>
              <a:t>上</a:t>
            </a: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神经网络有尺度法则</a:t>
            </a:r>
            <a:endParaRPr lang="zh-CN" altLang="en-US"/>
          </a:p>
          <a:p>
            <a:pPr lvl="1"/>
            <a:r>
              <a:rPr lang="zh-CN" altLang="en-US"/>
              <a:t>模型越大（参数</a:t>
            </a:r>
            <a:r>
              <a:rPr lang="en-US" altLang="zh-CN"/>
              <a:t>/</a:t>
            </a:r>
            <a:r>
              <a:rPr lang="zh-CN" altLang="en-US"/>
              <a:t>数据</a:t>
            </a:r>
            <a:r>
              <a:rPr lang="en-US" altLang="zh-CN"/>
              <a:t>/</a:t>
            </a:r>
            <a:r>
              <a:rPr lang="zh-CN" altLang="en-US"/>
              <a:t>算力），性能往往越好，而且有规律（</a:t>
            </a:r>
            <a:r>
              <a:rPr lang="en-US" altLang="zh-CN"/>
              <a:t>Scaling Law</a:t>
            </a:r>
            <a:r>
              <a:rPr lang="zh-CN" altLang="en-US"/>
              <a:t>）</a:t>
            </a:r>
            <a:endParaRPr lang="zh-CN" altLang="en-US"/>
          </a:p>
          <a:p>
            <a:pPr lvl="1"/>
            <a:r>
              <a:rPr lang="zh-CN" altLang="en-US"/>
              <a:t>公式：𝐿</a:t>
            </a:r>
            <a:endParaRPr lang="zh-CN" altLang="en-US"/>
          </a:p>
          <a:p>
            <a:pPr lvl="1"/>
            <a:r>
              <a:rPr lang="en-US" altLang="zh-CN"/>
              <a:t>L</a:t>
            </a:r>
            <a:r>
              <a:rPr lang="zh-CN" altLang="en-US"/>
              <a:t>：模型损失（</a:t>
            </a:r>
            <a:r>
              <a:rPr lang="en-US" altLang="zh-CN"/>
              <a:t>loss</a:t>
            </a:r>
            <a:r>
              <a:rPr lang="zh-CN" altLang="en-US"/>
              <a:t>，越小越好）</a:t>
            </a:r>
            <a:endParaRPr lang="zh-CN" altLang="en-US"/>
          </a:p>
          <a:p>
            <a:pPr lvl="1"/>
            <a:r>
              <a:rPr lang="en-US" altLang="zh-CN"/>
              <a:t>N</a:t>
            </a:r>
            <a:r>
              <a:rPr lang="zh-CN" altLang="en-US"/>
              <a:t>：模型参数量（</a:t>
            </a:r>
            <a:r>
              <a:rPr lang="en-US" altLang="zh-CN"/>
              <a:t>Model Size</a:t>
            </a:r>
            <a:r>
              <a:rPr lang="zh-CN" altLang="en-US"/>
              <a:t>）</a:t>
            </a:r>
            <a:endParaRPr lang="zh-CN" altLang="en-US"/>
          </a:p>
          <a:p>
            <a:pPr lvl="1"/>
            <a:r>
              <a:rPr lang="en-US" altLang="zh-CN"/>
              <a:t>D</a:t>
            </a:r>
            <a:r>
              <a:rPr lang="zh-CN" altLang="en-US"/>
              <a:t>：训练数据量（</a:t>
            </a:r>
            <a:r>
              <a:rPr lang="en-US" altLang="zh-CN"/>
              <a:t>Dataset Size</a:t>
            </a:r>
            <a:r>
              <a:rPr lang="zh-CN" altLang="en-US"/>
              <a:t>）</a:t>
            </a:r>
            <a:endParaRPr lang="zh-CN" altLang="en-US"/>
          </a:p>
          <a:p>
            <a:pPr lvl="1"/>
            <a:r>
              <a:rPr lang="en-US" altLang="zh-CN"/>
              <a:t>C</a:t>
            </a:r>
            <a:r>
              <a:rPr lang="zh-CN" altLang="en-US"/>
              <a:t>：计算量（</a:t>
            </a:r>
            <a:r>
              <a:rPr lang="en-US" altLang="zh-CN"/>
              <a:t>Compute</a:t>
            </a:r>
            <a:r>
              <a:rPr lang="zh-CN" altLang="en-US"/>
              <a:t>）</a:t>
            </a:r>
            <a:endParaRPr lang="zh-CN" altLang="en-US"/>
          </a:p>
          <a:p>
            <a:r>
              <a:rPr lang="en-US" altLang="zh-CN"/>
              <a:t>LLM </a:t>
            </a:r>
            <a:r>
              <a:rPr lang="zh-CN" altLang="en-US"/>
              <a:t>在「推理阶段」有硬伤</a:t>
            </a:r>
            <a:endParaRPr lang="zh-CN" altLang="en-US"/>
          </a:p>
          <a:p>
            <a:pPr lvl="1"/>
            <a:r>
              <a:rPr lang="zh-CN" altLang="en-US"/>
              <a:t>即使模型很大，单个</a:t>
            </a:r>
            <a:r>
              <a:rPr lang="en-US" altLang="zh-CN"/>
              <a:t> LLM </a:t>
            </a:r>
            <a:r>
              <a:rPr lang="zh-CN" altLang="en-US"/>
              <a:t>在复杂任务上仍然有问题</a:t>
            </a:r>
            <a:endParaRPr lang="zh-CN" altLang="en-US"/>
          </a:p>
          <a:p>
            <a:pPr lvl="1"/>
            <a:r>
              <a:rPr lang="zh-CN" altLang="en-US"/>
              <a:t>把</a:t>
            </a:r>
            <a:r>
              <a:rPr lang="en-US" altLang="zh-CN"/>
              <a:t> LLM </a:t>
            </a:r>
            <a:r>
              <a:rPr lang="zh-CN" altLang="en-US"/>
              <a:t>变成</a:t>
            </a:r>
            <a:r>
              <a:rPr lang="en-US" altLang="zh-CN"/>
              <a:t> Agent</a:t>
            </a:r>
            <a:r>
              <a:rPr lang="zh-CN" altLang="en-US"/>
              <a:t>，再让多个</a:t>
            </a:r>
            <a:r>
              <a:rPr lang="en-US" altLang="zh-CN"/>
              <a:t> Agent </a:t>
            </a:r>
            <a:r>
              <a:rPr lang="zh-CN" altLang="en-US"/>
              <a:t>协作</a:t>
            </a:r>
            <a:endParaRPr lang="zh-CN" altLang="en-US"/>
          </a:p>
          <a:p>
            <a:r>
              <a:rPr lang="zh-CN" altLang="en-US"/>
              <a:t>一个关键问题</a:t>
            </a:r>
            <a:endParaRPr lang="zh-CN" altLang="en-US"/>
          </a:p>
          <a:p>
            <a:pPr lvl="1"/>
            <a:r>
              <a:rPr lang="en-US" altLang="zh-CN"/>
              <a:t>Agent </a:t>
            </a:r>
            <a:r>
              <a:rPr lang="zh-CN" altLang="en-US"/>
              <a:t>能不能像神经元一样，通过</a:t>
            </a:r>
            <a:r>
              <a:rPr lang="en-US" altLang="zh-CN"/>
              <a:t>“</a:t>
            </a:r>
            <a:r>
              <a:rPr lang="zh-CN" altLang="en-US"/>
              <a:t>数量增加</a:t>
            </a:r>
            <a:r>
              <a:rPr lang="en-US" altLang="zh-CN"/>
              <a:t>”</a:t>
            </a:r>
            <a:r>
              <a:rPr lang="zh-CN" altLang="en-US"/>
              <a:t>系统性变强？</a:t>
            </a:r>
            <a:endParaRPr lang="zh-CN" altLang="en-US"/>
          </a:p>
          <a:p>
            <a:pPr lvl="1"/>
            <a:r>
              <a:rPr lang="zh-CN" altLang="en-US"/>
              <a:t>是否像神经元存在协作</a:t>
            </a:r>
            <a:r>
              <a:rPr lang="en-US" altLang="zh-CN"/>
              <a:t> Scaling Law</a:t>
            </a:r>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1</a:t>
            </a:r>
            <a:r>
              <a:rPr lang="en-US" altLang="en-US"/>
              <a:t>️</a:t>
            </a:r>
            <a:r>
              <a:rPr lang="en-US" altLang="en-US"/>
              <a:t>⃣</a:t>
            </a:r>
            <a:r>
              <a:rPr lang="en-US" altLang="zh-CN"/>
              <a:t> </a:t>
            </a:r>
            <a:r>
              <a:rPr lang="zh-CN" altLang="en-US"/>
              <a:t>设计一种</a:t>
            </a:r>
            <a:r>
              <a:rPr lang="en-US" altLang="zh-CN"/>
              <a:t>“</a:t>
            </a:r>
            <a:r>
              <a:rPr lang="zh-CN" altLang="en-US"/>
              <a:t>能扩展到上千</a:t>
            </a:r>
            <a:r>
              <a:rPr lang="en-US" altLang="zh-CN"/>
              <a:t> Agent”</a:t>
            </a:r>
            <a:r>
              <a:rPr lang="zh-CN" altLang="en-US"/>
              <a:t>的多智能体结构</a:t>
            </a:r>
            <a:endParaRPr lang="zh-CN" altLang="en-US"/>
          </a:p>
          <a:p>
            <a:r>
              <a:rPr lang="en-US" altLang="zh-CN"/>
              <a:t>2</a:t>
            </a:r>
            <a:r>
              <a:rPr lang="en-US" altLang="en-US"/>
              <a:t>️</a:t>
            </a:r>
            <a:r>
              <a:rPr lang="en-US" altLang="en-US"/>
              <a:t>⃣</a:t>
            </a:r>
            <a:r>
              <a:rPr lang="en-US" altLang="zh-CN"/>
              <a:t> </a:t>
            </a:r>
            <a:r>
              <a:rPr lang="zh-CN" altLang="en-US"/>
              <a:t>系统研究</a:t>
            </a:r>
            <a:r>
              <a:rPr lang="en-US" altLang="zh-CN"/>
              <a:t> Agent </a:t>
            </a:r>
            <a:r>
              <a:rPr lang="zh-CN" altLang="en-US"/>
              <a:t>数量</a:t>
            </a:r>
            <a:r>
              <a:rPr lang="en-US" altLang="zh-CN"/>
              <a:t> </a:t>
            </a:r>
            <a:r>
              <a:rPr lang="en-US" altLang="en-US"/>
              <a:t>↑</a:t>
            </a:r>
            <a:r>
              <a:rPr lang="en-US" altLang="zh-CN"/>
              <a:t> </a:t>
            </a:r>
            <a:r>
              <a:rPr lang="zh-CN" altLang="en-US"/>
              <a:t>时，性能怎么变化</a:t>
            </a:r>
            <a:endParaRPr lang="zh-CN" altLang="en-US"/>
          </a:p>
          <a:p>
            <a:r>
              <a:rPr lang="en-US" altLang="zh-CN"/>
              <a:t>3</a:t>
            </a:r>
            <a:r>
              <a:rPr lang="en-US" altLang="en-US"/>
              <a:t>️</a:t>
            </a:r>
            <a:r>
              <a:rPr lang="en-US" altLang="en-US"/>
              <a:t>⃣</a:t>
            </a:r>
            <a:r>
              <a:rPr lang="en-US" altLang="zh-CN"/>
              <a:t> </a:t>
            </a:r>
            <a:r>
              <a:rPr lang="zh-CN" altLang="en-US"/>
              <a:t>找出</a:t>
            </a:r>
            <a:r>
              <a:rPr lang="en-US" altLang="zh-CN"/>
              <a:t>“</a:t>
            </a:r>
            <a:r>
              <a:rPr lang="zh-CN" altLang="en-US"/>
              <a:t>什么样的协作结构最好</a:t>
            </a:r>
            <a:r>
              <a:rPr lang="en-US" altLang="zh-CN"/>
              <a:t>”</a:t>
            </a:r>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受神经尺度定律的启发，出现了一个发人深省的问题：协作代理的持续添加如何影响性能？，本图展示了将多个智能体组织成一个多智能体协作网络（</a:t>
            </a:r>
            <a:r>
              <a:rPr lang="en-US" altLang="zh-CN"/>
              <a:t>MACNET</a:t>
            </a:r>
            <a:r>
              <a:rPr lang="zh-CN" altLang="en-US"/>
              <a:t>），使用有向无环图来安排智能体进行协作交互，通过集体推理促进自主任务解决。对于网络构建，其中每条边由一个发出定向命令的监督导师管理，每个节点都有一个提供定制解决方案的执行助手支持。对于交互式推理，智能体按照拓扑顺序进行交互，其中每一轮都涉及两个相邻智能体精炼先前的工件，并且只有精炼后的信息（而不是整个对话）传播到下一轮。这可以防止全局广播并抑制上下文爆炸，从而增强更大网络的协作可扩展性。其中</a:t>
            </a:r>
            <a:r>
              <a:rPr lang="en-US" altLang="zh-CN"/>
              <a:t>V</a:t>
            </a:r>
            <a:r>
              <a:rPr lang="zh-CN" altLang="en-US"/>
              <a:t>表示由索引集</a:t>
            </a:r>
            <a:r>
              <a:rPr lang="en-US" altLang="zh-CN"/>
              <a:t>I</a:t>
            </a:r>
            <a:r>
              <a:rPr lang="zh-CN" altLang="en-US"/>
              <a:t>索引的节点集，</a:t>
            </a:r>
            <a:r>
              <a:rPr lang="en-US" altLang="zh-CN"/>
              <a:t>E</a:t>
            </a:r>
            <a:r>
              <a:rPr lang="zh-CN" altLang="en-US"/>
              <a:t>表示边集，每条边从一个节点指向另一个节点</a:t>
            </a:r>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多智能体网络</a:t>
            </a:r>
            <a:r>
              <a:rPr lang="zh-CN" altLang="en-US"/>
              <a:t>建设</a:t>
            </a:r>
            <a:endParaRPr lang="zh-CN" altLang="en-US"/>
          </a:p>
          <a:p>
            <a:r>
              <a:rPr lang="zh-CN" altLang="en-US"/>
              <a:t>考虑到枚举所有可能的拓扑是不切实际的，我们关注三种流行的类型</a:t>
            </a:r>
            <a:r>
              <a:rPr lang="en-US" altLang="zh-CN"/>
              <a:t>——</a:t>
            </a:r>
            <a:r>
              <a:rPr lang="zh-CN" altLang="en-US"/>
              <a:t>链、树和图</a:t>
            </a:r>
            <a:r>
              <a:rPr lang="en-US" altLang="zh-CN"/>
              <a:t>——</a:t>
            </a:r>
            <a:r>
              <a:rPr lang="zh-CN" altLang="en-US"/>
              <a:t>进一步分为六个有代表性的子拓扑。链状结构，在独立方向上互相依赖；树状则分为更宽的星形结构和更深的树状结构；图拓扑支持任何交互依赖，节点具有多个子节点和父节点。图</a:t>
            </a:r>
            <a:r>
              <a:rPr lang="en-US" altLang="zh-CN"/>
              <a:t>3</a:t>
            </a:r>
            <a:r>
              <a:rPr lang="zh-CN" altLang="en-US"/>
              <a:t>表示，我们策略性的为每个边分配一个</a:t>
            </a:r>
            <a:r>
              <a:rPr lang="en-US" altLang="zh-CN"/>
              <a:t>critic</a:t>
            </a:r>
            <a:r>
              <a:rPr lang="zh-CN" altLang="en-US"/>
              <a:t>，这个是对前一个</a:t>
            </a:r>
            <a:r>
              <a:rPr lang="en-US" altLang="zh-CN"/>
              <a:t>agent</a:t>
            </a:r>
            <a:r>
              <a:rPr lang="zh-CN" altLang="en-US"/>
              <a:t>的输出进行评定，给出建议，为每个节点分配一个</a:t>
            </a:r>
            <a:r>
              <a:rPr lang="en-US" altLang="zh-CN"/>
              <a:t>actor</a:t>
            </a:r>
            <a:r>
              <a:rPr lang="zh-CN" altLang="en-US"/>
              <a:t>，</a:t>
            </a:r>
            <a:r>
              <a:rPr lang="en-US" altLang="zh-CN"/>
              <a:t>actor</a:t>
            </a:r>
            <a:r>
              <a:rPr lang="zh-CN" altLang="en-US"/>
              <a:t>则是听取</a:t>
            </a:r>
            <a:r>
              <a:rPr lang="en-US" altLang="zh-CN"/>
              <a:t>critic</a:t>
            </a:r>
            <a:r>
              <a:rPr lang="zh-CN" altLang="en-US"/>
              <a:t>的指导进行修正。那么这个公式，</a:t>
            </a:r>
            <a:r>
              <a:rPr lang="en-US" altLang="zh-CN"/>
              <a:t>p(x)</a:t>
            </a:r>
            <a:r>
              <a:rPr lang="zh-CN" altLang="en-US"/>
              <a:t>是表示对</a:t>
            </a:r>
            <a:r>
              <a:rPr lang="en-US" altLang="zh-CN"/>
              <a:t>x</a:t>
            </a:r>
            <a:r>
              <a:rPr lang="zh-CN" altLang="en-US"/>
              <a:t>的代理化操作，其实就是为基础模型配备上下文感知内存、外部工具和专业角色来实现</a:t>
            </a:r>
            <a:r>
              <a:rPr lang="en-US" altLang="zh-CN"/>
              <a:t>. ai </a:t>
            </a:r>
            <a:r>
              <a:rPr lang="zh-CN" altLang="en-US"/>
              <a:t>和</a:t>
            </a:r>
            <a:r>
              <a:rPr lang="en-US" altLang="zh-CN"/>
              <a:t> aij </a:t>
            </a:r>
            <a:r>
              <a:rPr lang="zh-CN" altLang="en-US"/>
              <a:t>分别表示分配给节点</a:t>
            </a:r>
            <a:r>
              <a:rPr lang="en-US" altLang="zh-CN"/>
              <a:t> vi </a:t>
            </a:r>
            <a:r>
              <a:rPr lang="zh-CN" altLang="en-US"/>
              <a:t>的参与者和分配给边</a:t>
            </a:r>
            <a:r>
              <a:rPr lang="en-US" altLang="zh-CN"/>
              <a:t> vij </a:t>
            </a:r>
            <a:r>
              <a:rPr lang="zh-CN" altLang="en-US"/>
              <a:t>的评论家。</a:t>
            </a:r>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智能体之间的</a:t>
            </a:r>
            <a:r>
              <a:rPr lang="zh-CN" altLang="en-US"/>
              <a:t>交互</a:t>
            </a:r>
            <a:endParaRPr lang="zh-CN" altLang="en-US"/>
          </a:p>
          <a:p>
            <a:r>
              <a:rPr lang="zh-CN" altLang="en-US"/>
              <a:t>建立全局顺序后，如图所示，是一个拓扑结构，总共需要</a:t>
            </a:r>
            <a:r>
              <a:rPr lang="en-US" altLang="zh-CN"/>
              <a:t>V+E</a:t>
            </a:r>
            <a:r>
              <a:rPr lang="zh-CN" altLang="en-US"/>
              <a:t>个智能体，并且至少需要</a:t>
            </a:r>
            <a:r>
              <a:rPr lang="en-US" altLang="zh-CN"/>
              <a:t>2*E</a:t>
            </a:r>
            <a:r>
              <a:rPr lang="zh-CN" altLang="en-US"/>
              <a:t>轮</a:t>
            </a:r>
            <a:r>
              <a:rPr lang="zh-CN" altLang="en-US"/>
              <a:t>交互</a:t>
            </a:r>
            <a:endParaRPr lang="zh-CN" altLang="en-US"/>
          </a:p>
          <a:p>
            <a:r>
              <a:rPr lang="zh-CN" altLang="en-US"/>
              <a:t>交互、拓扑排序、信息</a:t>
            </a:r>
            <a:r>
              <a:rPr lang="zh-CN" altLang="en-US"/>
              <a:t>传播</a:t>
            </a:r>
            <a:endParaRPr lang="zh-CN" altLang="en-US"/>
          </a:p>
          <a:p>
            <a:r>
              <a:rPr lang="zh-CN" altLang="en-US"/>
              <a:t>解释一下整个工作</a:t>
            </a:r>
            <a:r>
              <a:rPr lang="zh-CN" altLang="en-US"/>
              <a:t>流程</a:t>
            </a:r>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那么在成百上千个</a:t>
            </a:r>
            <a:r>
              <a:rPr lang="en-US" altLang="zh-CN"/>
              <a:t>agent</a:t>
            </a:r>
            <a:r>
              <a:rPr lang="zh-CN" altLang="en-US"/>
              <a:t>的时候，我们要考虑的一个问题，他们之间的信息怎么流动，</a:t>
            </a:r>
            <a:r>
              <a:rPr lang="en-US" altLang="zh-CN"/>
              <a:t>agent</a:t>
            </a:r>
            <a:r>
              <a:rPr lang="zh-CN" altLang="en-US"/>
              <a:t>之间不受限制的信息交换不可避免地会导致上下文爆炸。</a:t>
            </a:r>
            <a:endParaRPr lang="zh-CN" altLang="en-US"/>
          </a:p>
          <a:p>
            <a:r>
              <a:rPr lang="zh-CN" altLang="en-US"/>
              <a:t>我们采用短期和长期记忆来管理每个</a:t>
            </a:r>
            <a:r>
              <a:rPr lang="en-US" altLang="zh-CN"/>
              <a:t>agent</a:t>
            </a:r>
            <a:r>
              <a:rPr lang="zh-CN" altLang="en-US"/>
              <a:t>的上下文可见性，短期记忆捕获每次交互中的工作记忆，确保基于情境的决策；长期记忆通过仅保留从当前对话中得出的最终工件来保持上下文连续性。整个</a:t>
            </a:r>
            <a:r>
              <a:rPr lang="en-US" altLang="zh-CN"/>
              <a:t>token</a:t>
            </a:r>
            <a:r>
              <a:rPr lang="zh-CN" altLang="en-US"/>
              <a:t>消耗如下，其中</a:t>
            </a:r>
            <a:r>
              <a:rPr lang="en-US" altLang="zh-CN"/>
              <a:t> n </a:t>
            </a:r>
            <a:r>
              <a:rPr lang="zh-CN" altLang="en-US"/>
              <a:t>是网络规模（即</a:t>
            </a:r>
            <a:r>
              <a:rPr lang="en-US" altLang="zh-CN"/>
              <a:t> |V|</a:t>
            </a:r>
            <a:r>
              <a:rPr lang="zh-CN" altLang="en-US"/>
              <a:t>），</a:t>
            </a:r>
            <a:r>
              <a:rPr lang="en-US" altLang="zh-CN"/>
              <a:t>t </a:t>
            </a:r>
            <a:r>
              <a:rPr lang="zh-CN" altLang="en-US"/>
              <a:t>是任务长度，</a:t>
            </a:r>
            <a:r>
              <a:rPr lang="en-US" altLang="zh-CN"/>
              <a:t>p </a:t>
            </a:r>
            <a:r>
              <a:rPr lang="zh-CN" altLang="en-US"/>
              <a:t>是配置文件长度，</a:t>
            </a:r>
            <a:r>
              <a:rPr lang="en-US" altLang="zh-CN"/>
              <a:t>i </a:t>
            </a:r>
            <a:r>
              <a:rPr lang="zh-CN" altLang="en-US"/>
              <a:t>是平均指令长度，</a:t>
            </a:r>
            <a:r>
              <a:rPr lang="en-US" altLang="zh-CN"/>
              <a:t>s </a:t>
            </a:r>
            <a:r>
              <a:rPr lang="zh-CN" altLang="en-US"/>
              <a:t>是平均工件长度，</a:t>
            </a:r>
            <a:r>
              <a:rPr lang="en-US" altLang="zh-CN"/>
              <a:t>m </a:t>
            </a:r>
            <a:r>
              <a:rPr lang="zh-CN" altLang="en-US"/>
              <a:t>是相邻代理之间的最大交互轮次。显然，在没有内存控制的条件下，</a:t>
            </a:r>
            <a:r>
              <a:rPr lang="en-US" altLang="zh-CN"/>
              <a:t>token</a:t>
            </a:r>
            <a:r>
              <a:rPr lang="zh-CN" altLang="en-US"/>
              <a:t>消耗</a:t>
            </a:r>
            <a:r>
              <a:rPr lang="zh-CN" altLang="en-US"/>
              <a:t>巨大。</a:t>
            </a:r>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我们的方法能否提高性能。</a:t>
            </a:r>
            <a:endParaRPr lang="zh-CN" altLang="en-US"/>
          </a:p>
          <a:p>
            <a:r>
              <a:rPr lang="en-US" altLang="zh-CN"/>
              <a:t>LLM </a:t>
            </a:r>
            <a:r>
              <a:rPr lang="zh-CN" altLang="en-US"/>
              <a:t>驱动方法在各种数据集上的整体性能，包括单智能体</a:t>
            </a:r>
            <a:r>
              <a:rPr lang="en-US" altLang="zh-CN"/>
              <a:t> ( ) </a:t>
            </a:r>
            <a:r>
              <a:rPr lang="zh-CN" altLang="en-US"/>
              <a:t>和多智能体</a:t>
            </a:r>
            <a:r>
              <a:rPr lang="en-US" altLang="zh-CN"/>
              <a:t> ( ) </a:t>
            </a:r>
            <a:r>
              <a:rPr lang="zh-CN" altLang="en-US"/>
              <a:t>范式。上面表示的是其他方法，下面表示的是本文提出的方法，他们在四个数据集上进行性能评估。</a:t>
            </a:r>
            <a:r>
              <a:rPr lang="en-US" altLang="zh-CN"/>
              <a:t>macnet-chain</a:t>
            </a:r>
            <a:r>
              <a:rPr lang="zh-CN" altLang="en-US"/>
              <a:t>作为我们的</a:t>
            </a:r>
            <a:r>
              <a:rPr lang="en-US" altLang="zh-CN"/>
              <a:t>baseline</a:t>
            </a:r>
            <a:r>
              <a:rPr lang="zh-CN" altLang="en-US"/>
              <a:t>。这里表明了本文所提出的多智能体协同网络大部分情况处在最优状态（保持大概四个节点，最多三轮迭代），只是说拓扑结构不同。表</a:t>
            </a:r>
            <a:r>
              <a:rPr lang="en-US" altLang="zh-CN"/>
              <a:t> 1 </a:t>
            </a:r>
            <a:r>
              <a:rPr lang="zh-CN" altLang="en-US"/>
              <a:t>说明了不同类型的拓扑对于特定任务的有效性存在显着差异；没有一种拓扑能够在所有任务中始终表现出色。例如，链形拓扑更适合软件开发，而树形拓扑则更适合创意写作。这种现象可能是由于软件工程固有地适合线性过程而产生的，线性过程是通过分析、编码、审查和测试等连续步骤来完成的；相比之下，需要高度创造力的任务需要更多样化的结构，以促进各个方面的代理互动。</a:t>
            </a:r>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不同拓扑的性能如何？</a:t>
            </a:r>
            <a:endParaRPr lang="zh-CN" altLang="en-US"/>
          </a:p>
          <a:p>
            <a:r>
              <a:rPr lang="zh-CN" altLang="en-US"/>
              <a:t>为了更深入地了解多代理协作中对组织结构的影响，我们检查了六种代表性拓扑中的</a:t>
            </a:r>
            <a:r>
              <a:rPr lang="en-US" altLang="zh-CN"/>
              <a:t> MACNET </a:t>
            </a:r>
            <a:r>
              <a:rPr lang="zh-CN" altLang="en-US"/>
              <a:t>拓扑。分析重点关注三个关键视角：密度、形状和方向。具体来说，密集连接的网状拓扑优于中等密集的树形拓扑，而中等密集的树形拓扑又优于稀疏连接的链式拓扑，这是因为密度的增加自然会延长集体代理之间的推理过程，从而可能增加从各个方面优化的机会。那么在形状方面，论文中提到，最密集的拓扑结构不一定产生最高的性能，相比之下，不规则的拓扑展示了更显著的优势，我们假设这种现象是因为过于密集的交互可能会导致智能体因信息过载而不堪重负，从而阻碍有效的反思和改进，而这种随机拓扑，可以通过直接捷径链接</a:t>
            </a:r>
            <a:r>
              <a:rPr lang="en-US" altLang="zh-CN"/>
              <a:t>“</a:t>
            </a:r>
            <a:r>
              <a:rPr lang="zh-CN" altLang="en-US"/>
              <a:t>不熟悉</a:t>
            </a:r>
            <a:r>
              <a:rPr lang="en-US" altLang="zh-CN"/>
              <a:t>”</a:t>
            </a:r>
            <a:r>
              <a:rPr lang="zh-CN" altLang="en-US"/>
              <a:t>的智能体，将它们转变为</a:t>
            </a:r>
            <a:r>
              <a:rPr lang="en-US" altLang="zh-CN"/>
              <a:t>“</a:t>
            </a:r>
            <a:r>
              <a:rPr lang="zh-CN" altLang="en-US"/>
              <a:t>熟人</a:t>
            </a:r>
            <a:r>
              <a:rPr lang="en-US" altLang="zh-CN"/>
              <a:t>”</a:t>
            </a:r>
            <a:r>
              <a:rPr lang="zh-CN" altLang="en-US"/>
              <a:t>，并隐式地减少平均路径长度。与现实世界中完善的常规组织结构相比，这种现象似乎违反直觉，表明代理世界中的协作模式不需要精确反映人类社会中的协作模式。那么在方向角度下，本文讨论了发散（</a:t>
            </a:r>
            <a:r>
              <a:rPr lang="en-US" altLang="zh-CN"/>
              <a:t>Divergent</a:t>
            </a:r>
            <a:r>
              <a:rPr lang="zh-CN" altLang="en-US"/>
              <a:t>）</a:t>
            </a:r>
            <a:r>
              <a:rPr lang="en-US" altLang="zh-CN"/>
              <a:t> vs </a:t>
            </a:r>
            <a:r>
              <a:rPr lang="zh-CN" altLang="en-US"/>
              <a:t>汇聚（</a:t>
            </a:r>
            <a:r>
              <a:rPr lang="en-US" altLang="zh-CN"/>
              <a:t>Convergent</a:t>
            </a:r>
            <a:r>
              <a:rPr lang="zh-CN" altLang="en-US"/>
              <a:t>）拓扑的质量对比，</a:t>
            </a:r>
            <a:r>
              <a:rPr lang="en-US" altLang="zh-CN"/>
              <a:t>Divergent</a:t>
            </a:r>
            <a:r>
              <a:rPr lang="zh-CN" altLang="en-US"/>
              <a:t>（发散）表示一个</a:t>
            </a:r>
            <a:r>
              <a:rPr lang="en-US" altLang="zh-CN"/>
              <a:t> Agent </a:t>
            </a:r>
            <a:r>
              <a:rPr lang="zh-CN" altLang="en-US"/>
              <a:t>的输出，被</a:t>
            </a:r>
            <a:r>
              <a:rPr lang="en-US" altLang="zh-CN"/>
              <a:t> </a:t>
            </a:r>
            <a:r>
              <a:rPr lang="zh-CN" altLang="en-US"/>
              <a:t>分发给多个下游</a:t>
            </a:r>
            <a:r>
              <a:rPr lang="en-US" altLang="zh-CN"/>
              <a:t> Agent;Convergent</a:t>
            </a:r>
            <a:r>
              <a:rPr lang="zh-CN" altLang="en-US"/>
              <a:t>（汇聚）表示多个</a:t>
            </a:r>
            <a:r>
              <a:rPr lang="en-US" altLang="zh-CN"/>
              <a:t> Agent </a:t>
            </a:r>
            <a:r>
              <a:rPr lang="zh-CN" altLang="en-US"/>
              <a:t>的输出被</a:t>
            </a:r>
            <a:r>
              <a:rPr lang="en-US" altLang="zh-CN"/>
              <a:t> </a:t>
            </a:r>
            <a:r>
              <a:rPr lang="zh-CN" altLang="en-US"/>
              <a:t>合并到一个</a:t>
            </a:r>
            <a:r>
              <a:rPr lang="en-US" altLang="zh-CN"/>
              <a:t> Agent</a:t>
            </a:r>
            <a:r>
              <a:rPr lang="zh-CN" altLang="en-US"/>
              <a:t>。图中表示了在相同拓扑结构下，发散式（</a:t>
            </a:r>
            <a:r>
              <a:rPr lang="en-US" altLang="zh-CN"/>
              <a:t>Divergent</a:t>
            </a:r>
            <a:r>
              <a:rPr lang="zh-CN" altLang="en-US"/>
              <a:t>）协作通常比汇聚式（</a:t>
            </a:r>
            <a:r>
              <a:rPr lang="en-US" altLang="zh-CN"/>
              <a:t>Convergent</a:t>
            </a:r>
            <a:r>
              <a:rPr lang="zh-CN" altLang="en-US"/>
              <a:t>）产生更高质量的结果。</a:t>
            </a:r>
            <a:endParaRPr lang="zh-CN" altLang="en-US"/>
          </a:p>
          <a:p>
            <a:r>
              <a:rPr lang="zh-CN" altLang="en-US"/>
              <a:t>使每个代理能够讨论不同的结果，相反，汇聚本身就很难，你需要把不同的</a:t>
            </a:r>
            <a:r>
              <a:rPr lang="en-US" altLang="zh-CN"/>
              <a:t>agent</a:t>
            </a:r>
            <a:r>
              <a:rPr lang="zh-CN" altLang="en-US"/>
              <a:t>结果合并输出，那么这可能出现冗余冲突，从而导致输出质量的退化，。</a:t>
            </a:r>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可以遵守协作扩展法则吗？</a:t>
            </a:r>
            <a:endParaRPr lang="zh-CN" altLang="en-US"/>
          </a:p>
          <a:p>
            <a:r>
              <a:rPr lang="zh-CN" altLang="en-US"/>
              <a:t>回想一下神经缩放定律，该定律假设增加神经元会导致性能持续提高（</a:t>
            </a:r>
            <a:r>
              <a:rPr lang="en-US" altLang="zh-CN"/>
              <a:t>Kaplan </a:t>
            </a:r>
            <a:r>
              <a:rPr lang="zh-CN" altLang="en-US"/>
              <a:t>等人，</a:t>
            </a:r>
            <a:r>
              <a:rPr lang="en-US" altLang="zh-CN"/>
              <a:t>2020</a:t>
            </a:r>
            <a:r>
              <a:rPr lang="zh-CN" altLang="en-US"/>
              <a:t>）。为了研究协作缩放定律（挖掘智能体规模与性能之间的关系），我们尝试将节点数量</a:t>
            </a:r>
            <a:r>
              <a:rPr lang="en-US" altLang="zh-CN"/>
              <a:t> (|V|) </a:t>
            </a:r>
            <a:r>
              <a:rPr lang="zh-CN" altLang="en-US"/>
              <a:t>从</a:t>
            </a:r>
            <a:r>
              <a:rPr lang="en-US" altLang="zh-CN"/>
              <a:t> 20</a:t>
            </a:r>
            <a:r>
              <a:rPr lang="zh-CN" altLang="en-US"/>
              <a:t>（回归到单智能体变体）指数级增加到</a:t>
            </a:r>
            <a:r>
              <a:rPr lang="en-US" altLang="zh-CN"/>
              <a:t> 26</a:t>
            </a:r>
            <a:r>
              <a:rPr lang="zh-CN" altLang="en-US"/>
              <a:t>（相当于网状网络中的一千多个智能体）如图</a:t>
            </a:r>
            <a:r>
              <a:rPr lang="en-US" altLang="zh-CN"/>
              <a:t> 7 </a:t>
            </a:r>
            <a:r>
              <a:rPr lang="zh-CN" altLang="en-US"/>
              <a:t>所示，扩展我们的网络最初会导致各种多智能体系统生成的工件质量缓慢增长，然后在达到饱和点之前快速提高。该模式类似于</a:t>
            </a:r>
            <a:r>
              <a:rPr lang="en-US" altLang="zh-CN"/>
              <a:t> sigmoid </a:t>
            </a:r>
            <a:r>
              <a:rPr lang="zh-CN" altLang="en-US"/>
              <a:t>变体函数：其中</a:t>
            </a:r>
            <a:r>
              <a:rPr lang="en-US" altLang="zh-CN"/>
              <a:t> {α, β, γ, δ} </a:t>
            </a:r>
            <a:r>
              <a:rPr lang="zh-CN" altLang="en-US"/>
              <a:t>是特定于特定拓扑的实数。然而，考虑到稀疏拓扑的效率和密集拓扑的优越性能，我们主张在将此趋势应用于各种下游应用时通过多维权衡来平衡形状和规模。神经缩放定律要求模型至少具有</a:t>
            </a:r>
            <a:r>
              <a:rPr lang="en-US" altLang="zh-CN"/>
              <a:t> 10 </a:t>
            </a:r>
            <a:r>
              <a:rPr lang="zh-CN" altLang="en-US"/>
              <a:t>亿个参数和超过</a:t>
            </a:r>
            <a:r>
              <a:rPr lang="en-US" altLang="zh-CN"/>
              <a:t> 10</a:t>
            </a:r>
            <a:r>
              <a:rPr lang="zh-CN" altLang="en-US"/>
              <a:t>的</a:t>
            </a:r>
            <a:r>
              <a:rPr lang="en-US" altLang="zh-CN"/>
              <a:t>22</a:t>
            </a:r>
            <a:r>
              <a:rPr lang="zh-CN" altLang="en-US"/>
              <a:t>次方的训练</a:t>
            </a:r>
            <a:r>
              <a:rPr lang="en-US" altLang="zh-CN"/>
              <a:t> FLOP </a:t>
            </a:r>
            <a:r>
              <a:rPr lang="zh-CN" altLang="en-US"/>
              <a:t>才能显示新兴趋势（</a:t>
            </a:r>
            <a:r>
              <a:rPr lang="en-US" altLang="zh-CN"/>
              <a:t>Schaeffer </a:t>
            </a:r>
            <a:r>
              <a:rPr lang="zh-CN" altLang="en-US"/>
              <a:t>等人，</a:t>
            </a:r>
            <a:r>
              <a:rPr lang="en-US" altLang="zh-CN"/>
              <a:t>2024</a:t>
            </a:r>
            <a:r>
              <a:rPr lang="zh-CN" altLang="en-US"/>
              <a:t>）。相比之下，</a:t>
            </a:r>
            <a:r>
              <a:rPr lang="en-US" altLang="zh-CN"/>
              <a:t>MACNET </a:t>
            </a:r>
            <a:r>
              <a:rPr lang="zh-CN" altLang="en-US"/>
              <a:t>中的协作出现规模要小得多，大多数达到</a:t>
            </a:r>
            <a:r>
              <a:rPr lang="en-US" altLang="zh-CN"/>
              <a:t>100</a:t>
            </a:r>
            <a:r>
              <a:rPr lang="zh-CN" altLang="en-US"/>
              <a:t>个</a:t>
            </a:r>
            <a:r>
              <a:rPr lang="en-US" altLang="zh-CN"/>
              <a:t>agent</a:t>
            </a:r>
            <a:r>
              <a:rPr lang="zh-CN" altLang="en-US"/>
              <a:t>就能达到</a:t>
            </a:r>
            <a:r>
              <a:rPr lang="zh-CN" altLang="en-US"/>
              <a:t>饱和。</a:t>
            </a:r>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MACNET </a:t>
            </a:r>
            <a:r>
              <a:rPr lang="zh-CN" altLang="en-US"/>
              <a:t>提出了一种基于图结构的多智能体协作框架，能够支持超过千级规模的智能体协同完成自主任务</a:t>
            </a:r>
            <a:endParaRPr lang="zh-CN" altLang="en-US"/>
          </a:p>
          <a:p>
            <a:r>
              <a:rPr lang="zh-CN" altLang="en-US"/>
              <a:t>实验结果表明，在大规模多智能体协作中，不规则拓扑结构在整体性能上显著优于规则拓扑结构。</a:t>
            </a:r>
            <a:endParaRPr lang="zh-CN" altLang="en-US"/>
          </a:p>
          <a:p>
            <a:r>
              <a:rPr lang="zh-CN" altLang="en-US"/>
              <a:t>研究发现了多智能体协作的规模定律：系统性能随智能体数量呈逻辑斯谛增长，并且协作涌现早于神经网络层面的涌现。</a:t>
            </a:r>
            <a:endParaRPr lang="zh-CN" altLang="en-US"/>
          </a:p>
          <a:p>
            <a:r>
              <a:rPr lang="zh-CN" altLang="en-US"/>
              <a:t>作者提出，多智能体在推理阶段的协作可作为高成本模型再训练的有效替代方案，通过程序化与反思式推理提升系统性能。</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tags" Target="../tags/tag63.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2.xml"/><Relationship Id="rId4" Type="http://schemas.openxmlformats.org/officeDocument/2006/relationships/tags" Target="../tags/tag66.xml"/><Relationship Id="rId3" Type="http://schemas.openxmlformats.org/officeDocument/2006/relationships/image" Target="../media/image2.png"/><Relationship Id="rId2" Type="http://schemas.openxmlformats.org/officeDocument/2006/relationships/tags" Target="../tags/tag65.xml"/><Relationship Id="rId1" Type="http://schemas.openxmlformats.org/officeDocument/2006/relationships/tags" Target="../tags/tag64.xml"/></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2.xml"/><Relationship Id="rId3" Type="http://schemas.openxmlformats.org/officeDocument/2006/relationships/tags" Target="../tags/tag69.xml"/><Relationship Id="rId2" Type="http://schemas.openxmlformats.org/officeDocument/2006/relationships/tags" Target="../tags/tag68.xml"/><Relationship Id="rId1" Type="http://schemas.openxmlformats.org/officeDocument/2006/relationships/tags" Target="../tags/tag67.xml"/></Relationships>
</file>

<file path=ppt/slides/_rels/slide4.xml.rels><?xml version="1.0" encoding="UTF-8" standalone="yes"?>
<Relationships xmlns="http://schemas.openxmlformats.org/package/2006/relationships"><Relationship Id="rId7" Type="http://schemas.openxmlformats.org/officeDocument/2006/relationships/notesSlide" Target="../notesSlides/notesSlide4.xml"/><Relationship Id="rId6" Type="http://schemas.openxmlformats.org/officeDocument/2006/relationships/slideLayout" Target="../slideLayouts/slideLayout2.xml"/><Relationship Id="rId5" Type="http://schemas.openxmlformats.org/officeDocument/2006/relationships/tags" Target="../tags/tag72.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tags" Target="../tags/tag71.xml"/><Relationship Id="rId1" Type="http://schemas.openxmlformats.org/officeDocument/2006/relationships/tags" Target="../tags/tag70.xml"/></Relationships>
</file>

<file path=ppt/slides/_rels/slide5.xml.rels><?xml version="1.0" encoding="UTF-8" standalone="yes"?>
<Relationships xmlns="http://schemas.openxmlformats.org/package/2006/relationships"><Relationship Id="rId7" Type="http://schemas.openxmlformats.org/officeDocument/2006/relationships/notesSlide" Target="../notesSlides/notesSlide5.xml"/><Relationship Id="rId6" Type="http://schemas.openxmlformats.org/officeDocument/2006/relationships/slideLayout" Target="../slideLayouts/slideLayout2.xml"/><Relationship Id="rId5" Type="http://schemas.openxmlformats.org/officeDocument/2006/relationships/tags" Target="../tags/tag75.xml"/><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tags" Target="../tags/tag74.xml"/><Relationship Id="rId1" Type="http://schemas.openxmlformats.org/officeDocument/2006/relationships/tags" Target="../tags/tag73.xml"/></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2.xml"/><Relationship Id="rId4" Type="http://schemas.openxmlformats.org/officeDocument/2006/relationships/tags" Target="../tags/tag78.xml"/><Relationship Id="rId3" Type="http://schemas.openxmlformats.org/officeDocument/2006/relationships/image" Target="../media/image7.png"/><Relationship Id="rId2" Type="http://schemas.openxmlformats.org/officeDocument/2006/relationships/tags" Target="../tags/tag77.xml"/><Relationship Id="rId1" Type="http://schemas.openxmlformats.org/officeDocument/2006/relationships/tags" Target="../tags/tag76.xml"/></Relationships>
</file>

<file path=ppt/slides/_rels/slide7.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2.xml"/><Relationship Id="rId4" Type="http://schemas.openxmlformats.org/officeDocument/2006/relationships/tags" Target="../tags/tag81.xml"/><Relationship Id="rId3" Type="http://schemas.openxmlformats.org/officeDocument/2006/relationships/image" Target="../media/image8.png"/><Relationship Id="rId2" Type="http://schemas.openxmlformats.org/officeDocument/2006/relationships/tags" Target="../tags/tag80.xml"/><Relationship Id="rId1" Type="http://schemas.openxmlformats.org/officeDocument/2006/relationships/tags" Target="../tags/tag79.xml"/></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2.xml"/><Relationship Id="rId4" Type="http://schemas.openxmlformats.org/officeDocument/2006/relationships/tags" Target="../tags/tag84.xml"/><Relationship Id="rId3" Type="http://schemas.openxmlformats.org/officeDocument/2006/relationships/image" Target="../media/image9.png"/><Relationship Id="rId2" Type="http://schemas.openxmlformats.org/officeDocument/2006/relationships/tags" Target="../tags/tag83.xml"/><Relationship Id="rId1" Type="http://schemas.openxmlformats.org/officeDocument/2006/relationships/tags" Target="../tags/tag82.xml"/></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2.xml"/><Relationship Id="rId4" Type="http://schemas.openxmlformats.org/officeDocument/2006/relationships/tags" Target="../tags/tag87.xml"/><Relationship Id="rId3" Type="http://schemas.openxmlformats.org/officeDocument/2006/relationships/image" Target="../media/image10.png"/><Relationship Id="rId2" Type="http://schemas.openxmlformats.org/officeDocument/2006/relationships/tags" Target="../tags/tag86.xml"/><Relationship Id="rId1" Type="http://schemas.openxmlformats.org/officeDocument/2006/relationships/tags" Target="../tags/tag85.xml"/></Relationships>
</file>

<file path=ppt/slides/_rels/slide10.xml.rels><?xml version="1.0" encoding="UTF-8" standalone="yes"?>
<Relationships xmlns="http://schemas.openxmlformats.org/package/2006/relationships"><Relationship Id="rId7" Type="http://schemas.openxmlformats.org/officeDocument/2006/relationships/notesSlide" Target="../notesSlides/notesSlide10.xml"/><Relationship Id="rId6" Type="http://schemas.openxmlformats.org/officeDocument/2006/relationships/slideLayout" Target="../slideLayouts/slideLayout2.xml"/><Relationship Id="rId5" Type="http://schemas.openxmlformats.org/officeDocument/2006/relationships/tags" Target="../tags/tag90.xml"/><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tags" Target="../tags/tag89.xml"/><Relationship Id="rId1" Type="http://schemas.openxmlformats.org/officeDocument/2006/relationships/tags" Target="../tags/tag88.xml"/></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2.xml"/><Relationship Id="rId3" Type="http://schemas.openxmlformats.org/officeDocument/2006/relationships/tags" Target="../tags/tag93.xml"/><Relationship Id="rId2" Type="http://schemas.openxmlformats.org/officeDocument/2006/relationships/tags" Target="../tags/tag92.xml"/><Relationship Id="rId1" Type="http://schemas.openxmlformats.org/officeDocument/2006/relationships/tags" Target="../tags/tag9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957580" y="862330"/>
            <a:ext cx="10046970" cy="4641215"/>
          </a:xfrm>
          <a:prstGeom prst="rect">
            <a:avLst/>
          </a:prstGeom>
        </p:spPr>
      </p:pic>
    </p:spTree>
    <p:custDataLst>
      <p:tags r:id="rId2"/>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a:xfrm>
            <a:off x="608400" y="254070"/>
            <a:ext cx="10969200" cy="705600"/>
          </a:xfrm>
        </p:spPr>
        <p:txBody>
          <a:bodyPr/>
          <a:p>
            <a:r>
              <a:rPr lang="en-US" altLang="zh-CN">
                <a:latin typeface="Times New Roman" panose="02020603050405020304" charset="0"/>
                <a:cs typeface="Times New Roman" panose="02020603050405020304" charset="0"/>
              </a:rPr>
              <a:t>Research ground</a:t>
            </a:r>
            <a:endParaRPr lang="en-US" altLang="zh-CN">
              <a:latin typeface="Times New Roman" panose="02020603050405020304" charset="0"/>
              <a:cs typeface="Times New Roman" panose="02020603050405020304" charset="0"/>
            </a:endParaRPr>
          </a:p>
        </p:txBody>
      </p:sp>
      <p:sp>
        <p:nvSpPr>
          <p:cNvPr id="3" name="内容占位符 2"/>
          <p:cNvSpPr>
            <a:spLocks noGrp="1"/>
          </p:cNvSpPr>
          <p:nvPr>
            <p:ph idx="1"/>
            <p:custDataLst>
              <p:tags r:id="rId2"/>
            </p:custDataLst>
          </p:nvPr>
        </p:nvSpPr>
        <p:spPr>
          <a:xfrm>
            <a:off x="608330" y="959485"/>
            <a:ext cx="10968990" cy="5612130"/>
          </a:xfrm>
        </p:spPr>
        <p:txBody>
          <a:bodyPr/>
          <a:p>
            <a:r>
              <a:rPr lang="en-US" altLang="zh-CN" sz="2000">
                <a:latin typeface="Times New Roman" panose="02020603050405020304" charset="0"/>
                <a:cs typeface="Times New Roman" panose="02020603050405020304" charset="0"/>
              </a:rPr>
              <a:t>Neural networks have a scaling rule</a:t>
            </a:r>
            <a:endParaRPr lang="en-US" altLang="zh-CN" sz="2000">
              <a:latin typeface="Times New Roman" panose="02020603050405020304" charset="0"/>
              <a:cs typeface="Times New Roman" panose="02020603050405020304" charset="0"/>
            </a:endParaRPr>
          </a:p>
          <a:p>
            <a:pPr lvl="1"/>
            <a:r>
              <a:rPr lang="en-US" altLang="zh-CN" sz="2000">
                <a:latin typeface="Times New Roman" panose="02020603050405020304" charset="0"/>
                <a:cs typeface="Times New Roman" panose="02020603050405020304" charset="0"/>
              </a:rPr>
              <a:t>Larger models (in terms of parameters, data, and computing power) tend to have better performance, and this follows a general scaling law.</a:t>
            </a:r>
            <a:endParaRPr lang="en-US" altLang="zh-CN" sz="2000">
              <a:latin typeface="Times New Roman" panose="02020603050405020304" charset="0"/>
              <a:cs typeface="Times New Roman" panose="02020603050405020304" charset="0"/>
            </a:endParaRPr>
          </a:p>
          <a:p>
            <a:pPr lvl="1"/>
            <a:r>
              <a:rPr lang="en-US" altLang="zh-CN" sz="2000">
                <a:latin typeface="Times New Roman" panose="02020603050405020304" charset="0"/>
                <a:cs typeface="Times New Roman" panose="02020603050405020304" charset="0"/>
              </a:rPr>
              <a:t>formula</a:t>
            </a:r>
            <a:r>
              <a:rPr lang="zh-CN" altLang="en-US" sz="2000">
                <a:latin typeface="Times New Roman" panose="02020603050405020304" charset="0"/>
                <a:cs typeface="Times New Roman" panose="02020603050405020304" charset="0"/>
              </a:rPr>
              <a:t>：</a:t>
            </a:r>
            <a:endParaRPr lang="zh-CN" altLang="en-US" sz="2000">
              <a:latin typeface="Times New Roman" panose="02020603050405020304" charset="0"/>
              <a:cs typeface="Times New Roman" panose="02020603050405020304" charset="0"/>
            </a:endParaRPr>
          </a:p>
          <a:p>
            <a:pPr marL="228600" lvl="0" indent="-228600">
              <a:buFont typeface="Arial" panose="020B0604020202020204" pitchFamily="34" charset="0"/>
              <a:buChar char="●"/>
            </a:pPr>
            <a:r>
              <a:rPr lang="en-US" altLang="zh-CN" sz="2000">
                <a:solidFill>
                  <a:schemeClr val="tx1">
                    <a:lumMod val="65000"/>
                    <a:lumOff val="35000"/>
                  </a:schemeClr>
                </a:solidFill>
                <a:latin typeface="Times New Roman" panose="02020603050405020304" charset="0"/>
                <a:cs typeface="Times New Roman" panose="02020603050405020304" charset="0"/>
              </a:rPr>
              <a:t>LLM has a major flaw in the reasoning phase.</a:t>
            </a:r>
            <a:endParaRPr lang="en-US" altLang="zh-CN" sz="2000">
              <a:solidFill>
                <a:schemeClr val="tx1">
                  <a:lumMod val="65000"/>
                  <a:lumOff val="35000"/>
                </a:schemeClr>
              </a:solidFill>
              <a:latin typeface="Times New Roman" panose="02020603050405020304" charset="0"/>
              <a:cs typeface="Times New Roman" panose="02020603050405020304" charset="0"/>
            </a:endParaRPr>
          </a:p>
          <a:p>
            <a:pPr marL="685800" lvl="1" indent="-228600">
              <a:buFont typeface="Arial" panose="020B0604020202020204" pitchFamily="34" charset="0"/>
              <a:buChar char="●"/>
            </a:pPr>
            <a:r>
              <a:rPr lang="en-US" altLang="zh-CN" sz="2000">
                <a:solidFill>
                  <a:schemeClr val="tx1">
                    <a:lumMod val="65000"/>
                    <a:lumOff val="35000"/>
                  </a:schemeClr>
                </a:solidFill>
                <a:latin typeface="Times New Roman" panose="02020603050405020304" charset="0"/>
                <a:cs typeface="Times New Roman" panose="02020603050405020304" charset="0"/>
              </a:rPr>
              <a:t>Even with large models, a single LLM still has problems with complex tasks.</a:t>
            </a:r>
            <a:endParaRPr lang="en-US" altLang="zh-CN" sz="2000">
              <a:solidFill>
                <a:schemeClr val="tx1">
                  <a:lumMod val="65000"/>
                  <a:lumOff val="35000"/>
                </a:schemeClr>
              </a:solidFill>
              <a:latin typeface="Times New Roman" panose="02020603050405020304" charset="0"/>
              <a:cs typeface="Times New Roman" panose="02020603050405020304" charset="0"/>
            </a:endParaRPr>
          </a:p>
          <a:p>
            <a:pPr marL="685800" lvl="1" indent="-228600">
              <a:buFont typeface="Arial" panose="020B0604020202020204" pitchFamily="34" charset="0"/>
              <a:buChar char="●"/>
            </a:pPr>
            <a:r>
              <a:rPr lang="en-US" altLang="zh-CN" sz="2000">
                <a:solidFill>
                  <a:schemeClr val="tx1">
                    <a:lumMod val="65000"/>
                    <a:lumOff val="35000"/>
                  </a:schemeClr>
                </a:solidFill>
                <a:latin typeface="Times New Roman" panose="02020603050405020304" charset="0"/>
                <a:cs typeface="Times New Roman" panose="02020603050405020304" charset="0"/>
              </a:rPr>
              <a:t>Turn an LLM into an Agent, and then have multiple Agents collaborate.</a:t>
            </a:r>
            <a:endParaRPr lang="en-US" altLang="zh-CN" sz="2000">
              <a:solidFill>
                <a:schemeClr val="tx1">
                  <a:lumMod val="65000"/>
                  <a:lumOff val="35000"/>
                </a:schemeClr>
              </a:solidFill>
              <a:latin typeface="Times New Roman" panose="02020603050405020304" charset="0"/>
              <a:cs typeface="Times New Roman" panose="02020603050405020304" charset="0"/>
            </a:endParaRPr>
          </a:p>
          <a:p>
            <a:pPr marL="228600" lvl="0" indent="-228600">
              <a:buFont typeface="Arial" panose="020B0604020202020204" pitchFamily="34" charset="0"/>
              <a:buChar char="●"/>
            </a:pPr>
            <a:r>
              <a:rPr lang="en-US" altLang="zh-CN" sz="2000">
                <a:solidFill>
                  <a:schemeClr val="tx1">
                    <a:lumMod val="65000"/>
                    <a:lumOff val="35000"/>
                  </a:schemeClr>
                </a:solidFill>
                <a:latin typeface="Times New Roman" panose="02020603050405020304" charset="0"/>
                <a:cs typeface="Times New Roman" panose="02020603050405020304" charset="0"/>
              </a:rPr>
              <a:t>A key issue that no one has systematically studied</a:t>
            </a:r>
            <a:endParaRPr lang="en-US" altLang="zh-CN" sz="2000">
              <a:solidFill>
                <a:schemeClr val="tx1">
                  <a:lumMod val="65000"/>
                  <a:lumOff val="35000"/>
                </a:schemeClr>
              </a:solidFill>
              <a:latin typeface="Times New Roman" panose="02020603050405020304" charset="0"/>
              <a:cs typeface="Times New Roman" panose="02020603050405020304" charset="0"/>
            </a:endParaRPr>
          </a:p>
          <a:p>
            <a:pPr marL="685800" lvl="1" indent="-228600">
              <a:buFont typeface="Arial" panose="020B0604020202020204" pitchFamily="34" charset="0"/>
              <a:buChar char="●"/>
            </a:pPr>
            <a:r>
              <a:rPr lang="en-US" altLang="zh-CN" sz="2000">
                <a:solidFill>
                  <a:schemeClr val="tx1">
                    <a:lumMod val="65000"/>
                    <a:lumOff val="35000"/>
                  </a:schemeClr>
                </a:solidFill>
                <a:latin typeface="Times New Roman" panose="02020603050405020304" charset="0"/>
                <a:cs typeface="Times New Roman" panose="02020603050405020304" charset="0"/>
              </a:rPr>
              <a:t>Can an agent, like a neuron, systematically become stronger by increasing its numbers?</a:t>
            </a:r>
            <a:endParaRPr lang="en-US" altLang="zh-CN" sz="2000">
              <a:solidFill>
                <a:schemeClr val="tx1">
                  <a:lumMod val="65000"/>
                  <a:lumOff val="35000"/>
                </a:schemeClr>
              </a:solidFill>
              <a:latin typeface="Times New Roman" panose="02020603050405020304" charset="0"/>
              <a:cs typeface="Times New Roman" panose="02020603050405020304" charset="0"/>
            </a:endParaRPr>
          </a:p>
          <a:p>
            <a:pPr marL="685800" lvl="1" indent="-228600">
              <a:buFont typeface="Arial" panose="020B0604020202020204" pitchFamily="34" charset="0"/>
              <a:buChar char="●"/>
            </a:pPr>
            <a:r>
              <a:rPr lang="en-US" altLang="zh-CN" sz="2000">
                <a:solidFill>
                  <a:schemeClr val="tx1">
                    <a:lumMod val="65000"/>
                    <a:lumOff val="35000"/>
                  </a:schemeClr>
                </a:solidFill>
                <a:latin typeface="Times New Roman" panose="02020603050405020304" charset="0"/>
                <a:cs typeface="Times New Roman" panose="02020603050405020304" charset="0"/>
              </a:rPr>
              <a:t>Does it exhibit a collaborative scaling law similar to that of neurons?</a:t>
            </a:r>
            <a:endParaRPr lang="en-US" altLang="zh-CN" sz="2000">
              <a:solidFill>
                <a:schemeClr val="tx1">
                  <a:lumMod val="65000"/>
                  <a:lumOff val="35000"/>
                </a:schemeClr>
              </a:solidFill>
              <a:latin typeface="Times New Roman" panose="02020603050405020304" charset="0"/>
              <a:cs typeface="Times New Roman" panose="02020603050405020304" charset="0"/>
            </a:endParaRPr>
          </a:p>
        </p:txBody>
      </p:sp>
      <p:pic>
        <p:nvPicPr>
          <p:cNvPr id="4" name="图片 3"/>
          <p:cNvPicPr>
            <a:picLocks noChangeAspect="1"/>
          </p:cNvPicPr>
          <p:nvPr/>
        </p:nvPicPr>
        <p:blipFill>
          <a:blip r:embed="rId3"/>
          <a:stretch>
            <a:fillRect/>
          </a:stretch>
        </p:blipFill>
        <p:spPr>
          <a:xfrm>
            <a:off x="2509520" y="2425700"/>
            <a:ext cx="3395980" cy="267335"/>
          </a:xfrm>
          <a:prstGeom prst="rect">
            <a:avLst/>
          </a:prstGeom>
        </p:spPr>
      </p:pic>
    </p:spTree>
    <p:custDataLst>
      <p:tags r:id="rId4"/>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latin typeface="Times New Roman" panose="02020603050405020304" charset="0"/>
                <a:cs typeface="Times New Roman" panose="02020603050405020304" charset="0"/>
              </a:rPr>
              <a:t>Research purpose</a:t>
            </a:r>
            <a:endParaRPr lang="en-US" altLang="zh-CN">
              <a:latin typeface="Times New Roman" panose="02020603050405020304" charset="0"/>
              <a:cs typeface="Times New Roman" panose="02020603050405020304" charset="0"/>
            </a:endParaRPr>
          </a:p>
        </p:txBody>
      </p:sp>
      <p:sp>
        <p:nvSpPr>
          <p:cNvPr id="3" name="内容占位符 2"/>
          <p:cNvSpPr>
            <a:spLocks noGrp="1"/>
          </p:cNvSpPr>
          <p:nvPr>
            <p:ph idx="1"/>
            <p:custDataLst>
              <p:tags r:id="rId2"/>
            </p:custDataLst>
          </p:nvPr>
        </p:nvSpPr>
        <p:spPr/>
        <p:txBody>
          <a:bodyPr/>
          <a:p>
            <a:r>
              <a:rPr lang="en-US" altLang="zh-CN" sz="2400">
                <a:latin typeface="Times New Roman" panose="02020603050405020304" charset="0"/>
                <a:cs typeface="Times New Roman" panose="02020603050405020304" charset="0"/>
              </a:rPr>
              <a:t>Design a multi-agent architecture that can scale to thousands of agents.</a:t>
            </a:r>
            <a:endParaRPr lang="en-US" altLang="zh-CN" sz="2400">
              <a:latin typeface="Times New Roman" panose="02020603050405020304" charset="0"/>
              <a:cs typeface="Times New Roman" panose="02020603050405020304" charset="0"/>
            </a:endParaRPr>
          </a:p>
          <a:p>
            <a:r>
              <a:rPr lang="en-US" altLang="zh-CN" sz="2400">
                <a:latin typeface="Times New Roman" panose="02020603050405020304" charset="0"/>
                <a:cs typeface="Times New Roman" panose="02020603050405020304" charset="0"/>
              </a:rPr>
              <a:t>The system investigates how performance changes as the number of agents increases.</a:t>
            </a:r>
            <a:endParaRPr lang="en-US" altLang="zh-CN" sz="2400">
              <a:latin typeface="Times New Roman" panose="02020603050405020304" charset="0"/>
              <a:cs typeface="Times New Roman" panose="02020603050405020304" charset="0"/>
            </a:endParaRPr>
          </a:p>
          <a:p>
            <a:r>
              <a:rPr lang="en-US" altLang="zh-CN" sz="2400">
                <a:latin typeface="Times New Roman" panose="02020603050405020304" charset="0"/>
                <a:cs typeface="Times New Roman" panose="02020603050405020304" charset="0"/>
              </a:rPr>
              <a:t>Find out "what kind of collaborative structure is best".</a:t>
            </a:r>
            <a:endParaRPr lang="en-US" altLang="zh-CN" sz="2400">
              <a:latin typeface="Times New Roman" panose="02020603050405020304" charset="0"/>
              <a:cs typeface="Times New Roman" panose="02020603050405020304" charset="0"/>
            </a:endParaRPr>
          </a:p>
        </p:txBody>
      </p:sp>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a:xfrm>
            <a:off x="608400" y="163900"/>
            <a:ext cx="10969200" cy="705600"/>
          </a:xfrm>
        </p:spPr>
        <p:txBody>
          <a:bodyPr/>
          <a:p>
            <a:r>
              <a:rPr lang="en-US" altLang="zh-CN">
                <a:latin typeface="Times New Roman" panose="02020603050405020304" charset="0"/>
                <a:cs typeface="Times New Roman" panose="02020603050405020304" charset="0"/>
                <a:sym typeface="+mn-ea"/>
              </a:rPr>
              <a:t>MACNET  </a:t>
            </a:r>
            <a:endParaRPr lang="zh-CN" altLang="en-US">
              <a:latin typeface="Times New Roman" panose="02020603050405020304" charset="0"/>
              <a:cs typeface="Times New Roman" panose="02020603050405020304" charset="0"/>
            </a:endParaRPr>
          </a:p>
        </p:txBody>
      </p:sp>
      <p:pic>
        <p:nvPicPr>
          <p:cNvPr id="4" name="内容占位符 3"/>
          <p:cNvPicPr>
            <a:picLocks noChangeAspect="1"/>
          </p:cNvPicPr>
          <p:nvPr>
            <p:ph idx="1"/>
            <p:custDataLst>
              <p:tags r:id="rId2"/>
            </p:custDataLst>
          </p:nvPr>
        </p:nvPicPr>
        <p:blipFill>
          <a:blip r:embed="rId3"/>
          <a:stretch>
            <a:fillRect/>
          </a:stretch>
        </p:blipFill>
        <p:spPr>
          <a:xfrm>
            <a:off x="608330" y="869315"/>
            <a:ext cx="10956290" cy="5285105"/>
          </a:xfrm>
          <a:prstGeom prst="rect">
            <a:avLst/>
          </a:prstGeom>
        </p:spPr>
      </p:pic>
      <p:pic>
        <p:nvPicPr>
          <p:cNvPr id="5" name="图片 4"/>
          <p:cNvPicPr>
            <a:picLocks noChangeAspect="1"/>
          </p:cNvPicPr>
          <p:nvPr/>
        </p:nvPicPr>
        <p:blipFill>
          <a:blip r:embed="rId4"/>
          <a:stretch>
            <a:fillRect/>
          </a:stretch>
        </p:blipFill>
        <p:spPr>
          <a:xfrm>
            <a:off x="2459355" y="5988685"/>
            <a:ext cx="5600700" cy="419100"/>
          </a:xfrm>
          <a:prstGeom prst="rect">
            <a:avLst/>
          </a:prstGeom>
        </p:spPr>
      </p:pic>
    </p:spTree>
    <p:custDataLst>
      <p:tags r:id="rId5"/>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a:xfrm>
            <a:off x="608400" y="301695"/>
            <a:ext cx="10969200" cy="705600"/>
          </a:xfrm>
        </p:spPr>
        <p:txBody>
          <a:bodyPr/>
          <a:p>
            <a:r>
              <a:rPr lang="en-US" altLang="zh-CN">
                <a:latin typeface="Times New Roman" panose="02020603050405020304" charset="0"/>
                <a:cs typeface="Times New Roman" panose="02020603050405020304" charset="0"/>
              </a:rPr>
              <a:t>NETWORK CONSTRUCTION</a:t>
            </a:r>
            <a:endParaRPr lang="en-US" altLang="zh-CN">
              <a:latin typeface="Times New Roman" panose="02020603050405020304" charset="0"/>
              <a:cs typeface="Times New Roman" panose="02020603050405020304" charset="0"/>
            </a:endParaRPr>
          </a:p>
        </p:txBody>
      </p:sp>
      <p:pic>
        <p:nvPicPr>
          <p:cNvPr id="4" name="内容占位符 3"/>
          <p:cNvPicPr>
            <a:picLocks noChangeAspect="1"/>
          </p:cNvPicPr>
          <p:nvPr>
            <p:ph idx="1"/>
            <p:custDataLst>
              <p:tags r:id="rId2"/>
            </p:custDataLst>
          </p:nvPr>
        </p:nvPicPr>
        <p:blipFill>
          <a:blip r:embed="rId3"/>
          <a:stretch>
            <a:fillRect/>
          </a:stretch>
        </p:blipFill>
        <p:spPr>
          <a:xfrm>
            <a:off x="538480" y="1514475"/>
            <a:ext cx="11256010" cy="4203065"/>
          </a:xfrm>
          <a:prstGeom prst="rect">
            <a:avLst/>
          </a:prstGeom>
        </p:spPr>
      </p:pic>
      <p:pic>
        <p:nvPicPr>
          <p:cNvPr id="5" name="图片 4"/>
          <p:cNvPicPr>
            <a:picLocks noChangeAspect="1"/>
          </p:cNvPicPr>
          <p:nvPr/>
        </p:nvPicPr>
        <p:blipFill>
          <a:blip r:embed="rId4"/>
          <a:stretch>
            <a:fillRect/>
          </a:stretch>
        </p:blipFill>
        <p:spPr>
          <a:xfrm>
            <a:off x="6155690" y="5850890"/>
            <a:ext cx="5172075" cy="266700"/>
          </a:xfrm>
          <a:prstGeom prst="rect">
            <a:avLst/>
          </a:prstGeom>
        </p:spPr>
      </p:pic>
    </p:spTree>
    <p:custDataLst>
      <p:tags r:id="rId5"/>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latin typeface="Times New Roman" panose="02020603050405020304" charset="0"/>
                <a:cs typeface="Times New Roman" panose="02020603050405020304" charset="0"/>
              </a:rPr>
              <a:t>NETWORK CONSTRUCTION</a:t>
            </a:r>
            <a:endParaRPr lang="en-US" altLang="zh-CN">
              <a:latin typeface="Times New Roman" panose="02020603050405020304" charset="0"/>
              <a:cs typeface="Times New Roman" panose="02020603050405020304" charset="0"/>
            </a:endParaRPr>
          </a:p>
        </p:txBody>
      </p:sp>
      <p:pic>
        <p:nvPicPr>
          <p:cNvPr id="4" name="内容占位符 3"/>
          <p:cNvPicPr>
            <a:picLocks noChangeAspect="1"/>
          </p:cNvPicPr>
          <p:nvPr>
            <p:ph idx="1"/>
            <p:custDataLst>
              <p:tags r:id="rId2"/>
            </p:custDataLst>
          </p:nvPr>
        </p:nvPicPr>
        <p:blipFill>
          <a:blip r:embed="rId3"/>
          <a:stretch>
            <a:fillRect/>
          </a:stretch>
        </p:blipFill>
        <p:spPr>
          <a:xfrm>
            <a:off x="530860" y="1694815"/>
            <a:ext cx="11130280" cy="4217670"/>
          </a:xfrm>
          <a:prstGeom prst="rect">
            <a:avLst/>
          </a:prstGeom>
        </p:spPr>
      </p:pic>
    </p:spTree>
    <p:custDataLst>
      <p:tags r:id="rId4"/>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latin typeface="Times New Roman" panose="02020603050405020304" charset="0"/>
                <a:cs typeface="Times New Roman" panose="02020603050405020304" charset="0"/>
              </a:rPr>
              <a:t>MEMORY CONTROL</a:t>
            </a:r>
            <a:endParaRPr lang="en-US" altLang="zh-CN">
              <a:latin typeface="Times New Roman" panose="02020603050405020304" charset="0"/>
              <a:cs typeface="Times New Roman" panose="02020603050405020304" charset="0"/>
            </a:endParaRPr>
          </a:p>
        </p:txBody>
      </p:sp>
      <p:sp>
        <p:nvSpPr>
          <p:cNvPr id="3" name="内容占位符 2"/>
          <p:cNvSpPr>
            <a:spLocks noGrp="1"/>
          </p:cNvSpPr>
          <p:nvPr>
            <p:ph idx="1"/>
            <p:custDataLst>
              <p:tags r:id="rId2"/>
            </p:custDataLst>
          </p:nvPr>
        </p:nvSpPr>
        <p:spPr/>
        <p:txBody>
          <a:bodyPr>
            <a:noAutofit/>
          </a:bodyPr>
          <a:p>
            <a:r>
              <a:rPr lang="en-US" altLang="zh-CN" sz="2000">
                <a:latin typeface="Times New Roman" panose="02020603050405020304" charset="0"/>
                <a:cs typeface="Times New Roman" panose="02020603050405020304" charset="0"/>
              </a:rPr>
              <a:t>we adopt both short- and long-term memory to manage the context visibility for each agent</a:t>
            </a:r>
            <a:endParaRPr lang="en-US" altLang="zh-CN" sz="2000">
              <a:latin typeface="Times New Roman" panose="02020603050405020304" charset="0"/>
              <a:cs typeface="Times New Roman" panose="02020603050405020304" charset="0"/>
            </a:endParaRPr>
          </a:p>
          <a:p>
            <a:pPr lvl="1"/>
            <a:r>
              <a:rPr lang="en-US" altLang="zh-CN" sz="2000">
                <a:latin typeface="Times New Roman" panose="02020603050405020304" charset="0"/>
                <a:cs typeface="Times New Roman" panose="02020603050405020304" charset="0"/>
              </a:rPr>
              <a:t>Short-term memory captures the working memory within each interaction</a:t>
            </a:r>
            <a:endParaRPr lang="en-US" altLang="zh-CN" sz="2000">
              <a:latin typeface="Times New Roman" panose="02020603050405020304" charset="0"/>
              <a:cs typeface="Times New Roman" panose="02020603050405020304" charset="0"/>
            </a:endParaRPr>
          </a:p>
          <a:p>
            <a:pPr lvl="1"/>
            <a:r>
              <a:rPr lang="en-US" altLang="zh-CN" sz="2000">
                <a:latin typeface="Times New Roman" panose="02020603050405020304" charset="0"/>
                <a:cs typeface="Times New Roman" panose="02020603050405020304" charset="0"/>
              </a:rPr>
              <a:t>Long-term memory maintains context continuity by retaining only the final artifact derived from current dialogue,rather than the entire conversational history.</a:t>
            </a:r>
            <a:endParaRPr lang="en-US" altLang="zh-CN" sz="2000">
              <a:latin typeface="Times New Roman" panose="02020603050405020304" charset="0"/>
              <a:cs typeface="Times New Roman" panose="02020603050405020304" charset="0"/>
            </a:endParaRPr>
          </a:p>
          <a:p>
            <a:pPr marL="228600" lvl="0" indent="-228600">
              <a:buFont typeface="Arial" panose="020B0604020202020204" pitchFamily="34" charset="0"/>
              <a:buChar char="●"/>
            </a:pPr>
            <a:r>
              <a:rPr lang="en-US" altLang="zh-CN" sz="2000">
                <a:solidFill>
                  <a:schemeClr val="tx1">
                    <a:lumMod val="65000"/>
                    <a:lumOff val="35000"/>
                  </a:schemeClr>
                </a:solidFill>
                <a:latin typeface="Times New Roman" panose="02020603050405020304" charset="0"/>
                <a:cs typeface="Times New Roman" panose="02020603050405020304" charset="0"/>
              </a:rPr>
              <a:t>the total token consumption</a:t>
            </a:r>
            <a:endParaRPr lang="en-US" altLang="zh-CN" sz="2000">
              <a:solidFill>
                <a:schemeClr val="tx1">
                  <a:lumMod val="65000"/>
                  <a:lumOff val="35000"/>
                </a:schemeClr>
              </a:solidFill>
              <a:latin typeface="Times New Roman" panose="02020603050405020304" charset="0"/>
              <a:cs typeface="Times New Roman" panose="02020603050405020304" charset="0"/>
            </a:endParaRPr>
          </a:p>
          <a:p>
            <a:pPr marL="228600" lvl="0" indent="-228600">
              <a:buFont typeface="Arial" panose="020B0604020202020204" pitchFamily="34" charset="0"/>
              <a:buChar char="●"/>
            </a:pPr>
            <a:endParaRPr lang="en-US" altLang="zh-CN" sz="2000">
              <a:solidFill>
                <a:schemeClr val="tx1">
                  <a:lumMod val="65000"/>
                  <a:lumOff val="35000"/>
                </a:schemeClr>
              </a:solidFill>
              <a:latin typeface="Times New Roman" panose="02020603050405020304" charset="0"/>
              <a:cs typeface="Times New Roman" panose="02020603050405020304" charset="0"/>
            </a:endParaRPr>
          </a:p>
          <a:p>
            <a:pPr marL="228600" lvl="0" indent="-228600">
              <a:buFont typeface="Arial" panose="020B0604020202020204" pitchFamily="34" charset="0"/>
              <a:buChar char="●"/>
            </a:pPr>
            <a:endParaRPr lang="en-US" altLang="zh-CN" sz="2000">
              <a:solidFill>
                <a:schemeClr val="tx1">
                  <a:lumMod val="65000"/>
                  <a:lumOff val="35000"/>
                </a:schemeClr>
              </a:solidFill>
              <a:latin typeface="Times New Roman" panose="02020603050405020304" charset="0"/>
              <a:cs typeface="Times New Roman" panose="02020603050405020304" charset="0"/>
            </a:endParaRPr>
          </a:p>
          <a:p>
            <a:pPr marL="685800" lvl="1" indent="-228600">
              <a:buFont typeface="Arial" panose="020B0604020202020204" pitchFamily="34" charset="0"/>
              <a:buChar char="●"/>
            </a:pPr>
            <a:r>
              <a:rPr lang="en-US" altLang="zh-CN" sz="2000">
                <a:solidFill>
                  <a:schemeClr val="tx1">
                    <a:lumMod val="65000"/>
                    <a:lumOff val="35000"/>
                  </a:schemeClr>
                </a:solidFill>
                <a:latin typeface="Times New Roman" panose="02020603050405020304" charset="0"/>
                <a:cs typeface="Times New Roman" panose="02020603050405020304" charset="0"/>
              </a:rPr>
              <a:t>where n is the network scale (i.e., |V|), t the task length, p the profile length, i the average instruction length, s the average artifact length, and m the maximum interaction rounds between adjacent agents.</a:t>
            </a:r>
            <a:endParaRPr lang="en-US" altLang="zh-CN" sz="2000">
              <a:solidFill>
                <a:schemeClr val="tx1">
                  <a:lumMod val="65000"/>
                  <a:lumOff val="35000"/>
                </a:schemeClr>
              </a:solidFill>
              <a:latin typeface="Times New Roman" panose="02020603050405020304" charset="0"/>
              <a:cs typeface="Times New Roman" panose="02020603050405020304" charset="0"/>
            </a:endParaRPr>
          </a:p>
        </p:txBody>
      </p:sp>
      <p:pic>
        <p:nvPicPr>
          <p:cNvPr id="4" name="图片 3"/>
          <p:cNvPicPr>
            <a:picLocks noChangeAspect="1"/>
          </p:cNvPicPr>
          <p:nvPr/>
        </p:nvPicPr>
        <p:blipFill>
          <a:blip r:embed="rId3"/>
          <a:stretch>
            <a:fillRect/>
          </a:stretch>
        </p:blipFill>
        <p:spPr>
          <a:xfrm>
            <a:off x="1511300" y="4249420"/>
            <a:ext cx="7781925" cy="895350"/>
          </a:xfrm>
          <a:prstGeom prst="rect">
            <a:avLst/>
          </a:prstGeom>
        </p:spPr>
      </p:pic>
    </p:spTree>
    <p:custDataLst>
      <p:tags r:id="rId4"/>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a:xfrm>
            <a:off x="608330" y="297815"/>
            <a:ext cx="11309985" cy="705485"/>
          </a:xfrm>
        </p:spPr>
        <p:txBody>
          <a:bodyPr>
            <a:normAutofit fontScale="90000"/>
          </a:bodyPr>
          <a:p>
            <a:r>
              <a:rPr lang="en-US" altLang="zh-CN">
                <a:latin typeface="Times New Roman" panose="02020603050405020304" charset="0"/>
                <a:cs typeface="Times New Roman" panose="02020603050405020304" charset="0"/>
              </a:rPr>
              <a:t>DOES OUR METHOD LEAD TO IMPROVED PERFORMANCE</a:t>
            </a:r>
            <a:r>
              <a:rPr lang="zh-CN" altLang="en-US">
                <a:latin typeface="Times New Roman" panose="02020603050405020304" charset="0"/>
                <a:cs typeface="Times New Roman" panose="02020603050405020304" charset="0"/>
              </a:rPr>
              <a:t>？</a:t>
            </a:r>
            <a:endParaRPr lang="zh-CN" altLang="en-US">
              <a:latin typeface="Times New Roman" panose="02020603050405020304" charset="0"/>
              <a:cs typeface="Times New Roman" panose="02020603050405020304" charset="0"/>
            </a:endParaRPr>
          </a:p>
        </p:txBody>
      </p:sp>
      <p:pic>
        <p:nvPicPr>
          <p:cNvPr id="4" name="内容占位符 3"/>
          <p:cNvPicPr>
            <a:picLocks noChangeAspect="1"/>
          </p:cNvPicPr>
          <p:nvPr>
            <p:ph idx="1"/>
            <p:custDataLst>
              <p:tags r:id="rId2"/>
            </p:custDataLst>
          </p:nvPr>
        </p:nvPicPr>
        <p:blipFill>
          <a:blip r:embed="rId3"/>
          <a:stretch>
            <a:fillRect/>
          </a:stretch>
        </p:blipFill>
        <p:spPr>
          <a:xfrm>
            <a:off x="1285240" y="1149350"/>
            <a:ext cx="9389110" cy="5597525"/>
          </a:xfrm>
          <a:prstGeom prst="rect">
            <a:avLst/>
          </a:prstGeom>
        </p:spPr>
      </p:pic>
    </p:spTree>
    <p:custDataLst>
      <p:tags r:id="rId4"/>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normAutofit fontScale="90000"/>
          </a:bodyPr>
          <a:p>
            <a:r>
              <a:rPr lang="en-US" altLang="zh-CN">
                <a:latin typeface="Times New Roman" panose="02020603050405020304" charset="0"/>
                <a:cs typeface="Times New Roman" panose="02020603050405020304" charset="0"/>
              </a:rPr>
              <a:t>HOW DO DIFFERENT TOPOLOGIES PERFORM AGAINST EACH OTHER?</a:t>
            </a:r>
            <a:endParaRPr lang="en-US" altLang="zh-CN">
              <a:latin typeface="Times New Roman" panose="02020603050405020304" charset="0"/>
              <a:cs typeface="Times New Roman" panose="02020603050405020304" charset="0"/>
            </a:endParaRPr>
          </a:p>
        </p:txBody>
      </p:sp>
      <p:pic>
        <p:nvPicPr>
          <p:cNvPr id="4" name="内容占位符 3"/>
          <p:cNvPicPr>
            <a:picLocks noChangeAspect="1"/>
          </p:cNvPicPr>
          <p:nvPr>
            <p:ph idx="1"/>
            <p:custDataLst>
              <p:tags r:id="rId2"/>
            </p:custDataLst>
          </p:nvPr>
        </p:nvPicPr>
        <p:blipFill>
          <a:blip r:embed="rId3"/>
          <a:stretch>
            <a:fillRect/>
          </a:stretch>
        </p:blipFill>
        <p:spPr>
          <a:xfrm>
            <a:off x="471805" y="1412240"/>
            <a:ext cx="11054080" cy="4832985"/>
          </a:xfrm>
          <a:prstGeom prst="rect">
            <a:avLst/>
          </a:prstGeom>
        </p:spPr>
      </p:pic>
    </p:spTree>
    <p:custDataLst>
      <p:tags r:id="rId4"/>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a:xfrm>
            <a:off x="608400" y="214700"/>
            <a:ext cx="10969200" cy="705600"/>
          </a:xfrm>
        </p:spPr>
        <p:txBody>
          <a:bodyPr>
            <a:normAutofit fontScale="90000"/>
          </a:bodyPr>
          <a:p>
            <a:r>
              <a:rPr lang="en-US" altLang="zh-CN">
                <a:latin typeface="Times New Roman" panose="02020603050405020304" charset="0"/>
                <a:cs typeface="Times New Roman" panose="02020603050405020304" charset="0"/>
              </a:rPr>
              <a:t>COULD A COLLABORATIVE SCALING LAW BE OBSERVED?</a:t>
            </a:r>
            <a:endParaRPr lang="en-US" altLang="zh-CN">
              <a:latin typeface="Times New Roman" panose="02020603050405020304" charset="0"/>
              <a:cs typeface="Times New Roman" panose="02020603050405020304" charset="0"/>
            </a:endParaRPr>
          </a:p>
        </p:txBody>
      </p:sp>
      <p:pic>
        <p:nvPicPr>
          <p:cNvPr id="4" name="内容占位符 3"/>
          <p:cNvPicPr>
            <a:picLocks noChangeAspect="1"/>
          </p:cNvPicPr>
          <p:nvPr>
            <p:ph idx="1"/>
            <p:custDataLst>
              <p:tags r:id="rId2"/>
            </p:custDataLst>
          </p:nvPr>
        </p:nvPicPr>
        <p:blipFill>
          <a:blip r:embed="rId3"/>
          <a:stretch>
            <a:fillRect/>
          </a:stretch>
        </p:blipFill>
        <p:spPr>
          <a:xfrm>
            <a:off x="1028065" y="1018540"/>
            <a:ext cx="10187305" cy="4870450"/>
          </a:xfrm>
          <a:prstGeom prst="rect">
            <a:avLst/>
          </a:prstGeom>
        </p:spPr>
      </p:pic>
      <p:pic>
        <p:nvPicPr>
          <p:cNvPr id="5" name="图片 4"/>
          <p:cNvPicPr>
            <a:picLocks noChangeAspect="1"/>
          </p:cNvPicPr>
          <p:nvPr/>
        </p:nvPicPr>
        <p:blipFill>
          <a:blip r:embed="rId4"/>
          <a:stretch>
            <a:fillRect/>
          </a:stretch>
        </p:blipFill>
        <p:spPr>
          <a:xfrm>
            <a:off x="3947160" y="5771515"/>
            <a:ext cx="3571875" cy="714375"/>
          </a:xfrm>
          <a:prstGeom prst="rect">
            <a:avLst/>
          </a:prstGeom>
        </p:spPr>
      </p:pic>
    </p:spTree>
    <p:custDataLst>
      <p:tags r:id="rId5"/>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latin typeface="Times New Roman" panose="02020603050405020304" charset="0"/>
                <a:cs typeface="Times New Roman" panose="02020603050405020304" charset="0"/>
              </a:rPr>
              <a:t>CONCLUSION</a:t>
            </a:r>
            <a:endParaRPr lang="en-US" altLang="zh-CN">
              <a:latin typeface="Times New Roman" panose="02020603050405020304" charset="0"/>
              <a:cs typeface="Times New Roman" panose="02020603050405020304" charset="0"/>
            </a:endParaRPr>
          </a:p>
        </p:txBody>
      </p:sp>
      <p:sp>
        <p:nvSpPr>
          <p:cNvPr id="3" name="内容占位符 2"/>
          <p:cNvSpPr>
            <a:spLocks noGrp="1"/>
          </p:cNvSpPr>
          <p:nvPr>
            <p:ph idx="1"/>
            <p:custDataLst>
              <p:tags r:id="rId2"/>
            </p:custDataLst>
          </p:nvPr>
        </p:nvSpPr>
        <p:spPr/>
        <p:txBody>
          <a:bodyPr/>
          <a:p>
            <a:r>
              <a:rPr lang="en-US" altLang="zh-CN">
                <a:latin typeface="Times New Roman" panose="02020603050405020304" charset="0"/>
                <a:cs typeface="Times New Roman" panose="02020603050405020304" charset="0"/>
              </a:rPr>
              <a:t>MACNET introduces a graph-based framework that enables scalable multi-agent collaboration, supporting autonomous task solving with over a thousand agents.</a:t>
            </a:r>
            <a:endParaRPr lang="en-US" altLang="zh-CN">
              <a:latin typeface="Times New Roman" panose="02020603050405020304" charset="0"/>
              <a:cs typeface="Times New Roman" panose="02020603050405020304" charset="0"/>
            </a:endParaRPr>
          </a:p>
          <a:p>
            <a:r>
              <a:rPr lang="en-US" altLang="zh-CN">
                <a:latin typeface="Times New Roman" panose="02020603050405020304" charset="0"/>
                <a:cs typeface="Times New Roman" panose="02020603050405020304" charset="0"/>
              </a:rPr>
              <a:t>Experimental results demonstrate that irregular agent topologies consistently outperform regular structures in large-scale multi-agent collaboration.</a:t>
            </a:r>
            <a:endParaRPr lang="en-US" altLang="zh-CN">
              <a:latin typeface="Times New Roman" panose="02020603050405020304" charset="0"/>
              <a:cs typeface="Times New Roman" panose="02020603050405020304" charset="0"/>
            </a:endParaRPr>
          </a:p>
          <a:p>
            <a:r>
              <a:rPr lang="en-US" altLang="zh-CN">
                <a:latin typeface="Times New Roman" panose="02020603050405020304" charset="0"/>
                <a:cs typeface="Times New Roman" panose="02020603050405020304" charset="0"/>
              </a:rPr>
              <a:t>The study identifies a collaborative scaling law, where system performance follows a logistic growth pattern as the number of agents increases, with collaborative emergence occurring earlier than neural emergence.</a:t>
            </a:r>
            <a:endParaRPr lang="en-US" altLang="zh-CN">
              <a:latin typeface="Times New Roman" panose="02020603050405020304" charset="0"/>
              <a:cs typeface="Times New Roman" panose="02020603050405020304" charset="0"/>
            </a:endParaRPr>
          </a:p>
          <a:p>
            <a:r>
              <a:rPr lang="en-US" altLang="zh-CN">
                <a:latin typeface="Times New Roman" panose="02020603050405020304" charset="0"/>
                <a:cs typeface="Times New Roman" panose="02020603050405020304" charset="0"/>
              </a:rPr>
              <a:t>Multi-agent collaboration at inference time is proposed as an efficient alternative to resource-intensive retraining, leveraging procedural and reflective reasoning to enhance performance.</a:t>
            </a:r>
            <a:endParaRPr lang="en-US" altLang="zh-CN">
              <a:latin typeface="Times New Roman" panose="02020603050405020304" charset="0"/>
              <a:cs typeface="Times New Roman" panose="02020603050405020304" charset="0"/>
            </a:endParaRPr>
          </a:p>
        </p:txBody>
      </p:sp>
    </p:spTree>
    <p:custDataLst>
      <p:tags r:id="rId3"/>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6.xml><?xml version="1.0" encoding="utf-8"?>
<p:tagLst xmlns:p="http://schemas.openxmlformats.org/presentationml/2006/main">
  <p:tag name="KSO_WM_BEAUTIFY_FLAG" val="#wm#"/>
  <p:tag name="KSO_WM_TEMPLATE_CATEGORY" val="custom"/>
  <p:tag name="KSO_WM_TEMPLATE_INDEX" val="20205081"/>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9.xml><?xml version="1.0" encoding="utf-8"?>
<p:tagLst xmlns:p="http://schemas.openxmlformats.org/presentationml/2006/main">
  <p:tag name="KSO_WM_BEAUTIFY_FLAG" val="#wm#"/>
  <p:tag name="KSO_WM_TEMPLATE_CATEGORY" val="custom"/>
  <p:tag name="KSO_WM_TEMPLATE_INDEX" val="20205081"/>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2.xml><?xml version="1.0" encoding="utf-8"?>
<p:tagLst xmlns:p="http://schemas.openxmlformats.org/presentationml/2006/main">
  <p:tag name="KSO_WM_BEAUTIFY_FLAG" val="#wm#"/>
  <p:tag name="KSO_WM_TEMPLATE_CATEGORY" val="custom"/>
  <p:tag name="KSO_WM_TEMPLATE_INDEX" val="20205081"/>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5.xml><?xml version="1.0" encoding="utf-8"?>
<p:tagLst xmlns:p="http://schemas.openxmlformats.org/presentationml/2006/main">
  <p:tag name="KSO_WM_BEAUTIFY_FLAG" val="#wm#"/>
  <p:tag name="KSO_WM_TEMPLATE_CATEGORY" val="custom"/>
  <p:tag name="KSO_WM_TEMPLATE_INDEX" val="20205081"/>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8.xml><?xml version="1.0" encoding="utf-8"?>
<p:tagLst xmlns:p="http://schemas.openxmlformats.org/presentationml/2006/main">
  <p:tag name="KSO_WM_BEAUTIFY_FLAG" val="#wm#"/>
  <p:tag name="KSO_WM_TEMPLATE_CATEGORY" val="custom"/>
  <p:tag name="KSO_WM_TEMPLATE_INDEX" val="20205081"/>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1.xml><?xml version="1.0" encoding="utf-8"?>
<p:tagLst xmlns:p="http://schemas.openxmlformats.org/presentationml/2006/main">
  <p:tag name="KSO_WM_BEAUTIFY_FLAG" val="#wm#"/>
  <p:tag name="KSO_WM_TEMPLATE_CATEGORY" val="custom"/>
  <p:tag name="KSO_WM_TEMPLATE_INDEX" val="20205081"/>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4.xml><?xml version="1.0" encoding="utf-8"?>
<p:tagLst xmlns:p="http://schemas.openxmlformats.org/presentationml/2006/main">
  <p:tag name="KSO_WM_BEAUTIFY_FLAG" val="#wm#"/>
  <p:tag name="KSO_WM_TEMPLATE_CATEGORY" val="custom"/>
  <p:tag name="KSO_WM_TEMPLATE_INDEX" val="20205081"/>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7.xml><?xml version="1.0" encoding="utf-8"?>
<p:tagLst xmlns:p="http://schemas.openxmlformats.org/presentationml/2006/main">
  <p:tag name="KSO_WM_BEAUTIFY_FLAG" val="#wm#"/>
  <p:tag name="KSO_WM_TEMPLATE_CATEGORY" val="custom"/>
  <p:tag name="KSO_WM_TEMPLATE_INDEX" val="20205081"/>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0.xml><?xml version="1.0" encoding="utf-8"?>
<p:tagLst xmlns:p="http://schemas.openxmlformats.org/presentationml/2006/main">
  <p:tag name="KSO_WM_BEAUTIFY_FLAG" val="#wm#"/>
  <p:tag name="KSO_WM_TEMPLATE_CATEGORY" val="custom"/>
  <p:tag name="KSO_WM_TEMPLATE_INDEX" val="20205081"/>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3.xml><?xml version="1.0" encoding="utf-8"?>
<p:tagLst xmlns:p="http://schemas.openxmlformats.org/presentationml/2006/main">
  <p:tag name="KSO_WM_BEAUTIFY_FLAG" val="#wm#"/>
  <p:tag name="KSO_WM_TEMPLATE_CATEGORY" val="custom"/>
  <p:tag name="KSO_WM_TEMPLATE_INDEX" val="2020508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2292</Words>
  <Application>WPS 演示</Application>
  <PresentationFormat>宽屏</PresentationFormat>
  <Paragraphs>47</Paragraphs>
  <Slides>11</Slides>
  <Notes>4</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11</vt:i4>
      </vt:variant>
    </vt:vector>
  </HeadingPairs>
  <TitlesOfParts>
    <vt:vector size="22" baseType="lpstr">
      <vt:lpstr>Arial</vt:lpstr>
      <vt:lpstr>宋体</vt:lpstr>
      <vt:lpstr>Wingdings</vt:lpstr>
      <vt:lpstr>Wingdings</vt:lpstr>
      <vt:lpstr>Times New Roman</vt:lpstr>
      <vt:lpstr>微软雅黑</vt:lpstr>
      <vt:lpstr>Arial Unicode MS</vt:lpstr>
      <vt:lpstr>Calibri</vt:lpstr>
      <vt:lpstr>BatangChe</vt:lpstr>
      <vt:lpstr>Segoe Print</vt:lpstr>
      <vt:lpstr>WPS</vt:lpstr>
      <vt:lpstr>PowerPoint 演示文稿</vt:lpstr>
      <vt:lpstr>Research ground</vt:lpstr>
      <vt:lpstr>Research purpose</vt:lpstr>
      <vt:lpstr>MACNET  </vt:lpstr>
      <vt:lpstr>NETWORK CONSTRUCTION</vt:lpstr>
      <vt:lpstr>NETWORK CONSTRUCTION</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龟子</cp:lastModifiedBy>
  <cp:revision>158</cp:revision>
  <dcterms:created xsi:type="dcterms:W3CDTF">2019-06-19T02:08:00Z</dcterms:created>
  <dcterms:modified xsi:type="dcterms:W3CDTF">2026-01-31T10:04:31Z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2052-12.1.0.24657</vt:lpwstr>
  </property>
  <property fmtid="{D5CDD505-2E9C-101B-9397-08002B2CF9AE}" pid="3" name="ICV">
    <vt:lpwstr>22C6E8FF135A4323B564C985954E1CF8_11</vt:lpwstr>
  </property>
</Properties>
</file>