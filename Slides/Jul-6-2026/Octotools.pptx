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8" r:id="rId5"/>
    <p:sldId id="257" r:id="rId6"/>
    <p:sldId id="259" r:id="rId7"/>
    <p:sldId id="26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今天讲的一篇文章是</a:t>
            </a:r>
            <a:r>
              <a:rPr lang="en-US" altLang="zh-CN"/>
              <a:t>：Octotools：</a:t>
            </a:r>
            <a:r>
              <a:rPr lang="zh-CN" altLang="en-US"/>
              <a:t>具有可扩展工具的</a:t>
            </a:r>
            <a:r>
              <a:rPr lang="en-US" altLang="zh-CN"/>
              <a:t>agent</a:t>
            </a:r>
            <a:r>
              <a:rPr lang="zh-CN" altLang="en-US"/>
              <a:t>框架，用于复杂推理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Foundation Models / LLMs </a:t>
            </a:r>
            <a:r>
              <a:rPr lang="zh-CN" altLang="en-US"/>
              <a:t>已经在摘要、翻译、代码生成、数学解题等任务中取得很大进展，但面对 复杂推理任务 时仍然存在明显困难。复杂任务通常不是“一问一答”可以解决的，而是需要：</a:t>
            </a:r>
            <a:endParaRPr lang="zh-CN" altLang="en-US"/>
          </a:p>
          <a:p>
            <a:pPr lvl="1"/>
            <a:r>
              <a:rPr lang="zh-CN" altLang="en-US"/>
              <a:t>对问题进行拆解；</a:t>
            </a:r>
            <a:endParaRPr lang="zh-CN" altLang="en-US"/>
          </a:p>
          <a:p>
            <a:pPr lvl="1"/>
            <a:r>
              <a:rPr lang="zh-CN" altLang="en-US"/>
              <a:t>根据不同子任务选择合适工具；</a:t>
            </a:r>
            <a:endParaRPr lang="zh-CN" altLang="en-US"/>
          </a:p>
          <a:p>
            <a:pPr lvl="1"/>
            <a:r>
              <a:rPr lang="zh-CN" altLang="en-US"/>
              <a:t>调用外部工具获得中间结果；</a:t>
            </a:r>
            <a:endParaRPr lang="zh-CN" altLang="en-US"/>
          </a:p>
          <a:p>
            <a:pPr lvl="1"/>
            <a:r>
              <a:rPr lang="zh-CN" altLang="en-US"/>
              <a:t>对中间结果进行验证；</a:t>
            </a:r>
            <a:endParaRPr lang="zh-CN" altLang="en-US"/>
          </a:p>
          <a:p>
            <a:pPr lvl="1"/>
            <a:r>
              <a:rPr lang="zh-CN" altLang="en-US"/>
              <a:t>最后综合形成答案。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构建一个无需训练、容易扩展、可以跨领域使用的 </a:t>
            </a:r>
            <a:r>
              <a:rPr lang="en-US" altLang="zh-CN"/>
              <a:t>LLM </a:t>
            </a:r>
            <a:r>
              <a:rPr lang="zh-CN" altLang="en-US"/>
              <a:t>工具智能体框架。这个框架要解决的不只是“如何调用工具”，而是完整解决：如何让 </a:t>
            </a:r>
            <a:r>
              <a:rPr lang="en-US" altLang="zh-CN"/>
              <a:t>LLM </a:t>
            </a:r>
            <a:r>
              <a:rPr lang="zh-CN" altLang="en-US"/>
              <a:t>根据复杂任务自动规划、选择工具、生成可执行命令、验证中间结果，并最终给出可靠答案。</a:t>
            </a:r>
            <a:endParaRPr lang="zh-CN" altLang="en-US"/>
          </a:p>
          <a:p>
            <a:r>
              <a:rPr lang="zh-CN" altLang="en-US"/>
              <a:t>拟解决的关键痛点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痛点一：工具接入不统一</a:t>
            </a:r>
            <a:r>
              <a:rPr lang="en-US" altLang="zh-CN"/>
              <a:t>（</a:t>
            </a:r>
            <a:r>
              <a:rPr lang="zh-CN" altLang="en-US"/>
              <a:t>不同工具有不同输入、输出、限制和调用方式。如果每加一个工具都要重新改 </a:t>
            </a:r>
            <a:r>
              <a:rPr lang="en-US" altLang="zh-CN"/>
              <a:t>agent </a:t>
            </a:r>
            <a:r>
              <a:rPr lang="zh-CN" altLang="en-US"/>
              <a:t>框架，系统就很难扩展。</a:t>
            </a:r>
            <a:r>
              <a:rPr lang="en-US" altLang="zh-CN"/>
              <a:t>）</a:t>
            </a:r>
            <a:endParaRPr lang="zh-CN" altLang="en-US"/>
          </a:p>
          <a:p>
            <a:r>
              <a:rPr lang="zh-CN" altLang="en-US"/>
              <a:t>痛点二：规划和执行混在一起容易出错</a:t>
            </a:r>
            <a:r>
              <a:rPr lang="en-US" altLang="zh-CN"/>
              <a:t>（</a:t>
            </a:r>
            <a:r>
              <a:rPr lang="zh-CN" altLang="en-US"/>
              <a:t>已有方法经常让一个 </a:t>
            </a:r>
            <a:r>
              <a:rPr lang="en-US" altLang="zh-CN"/>
              <a:t>LLM </a:t>
            </a:r>
            <a:r>
              <a:rPr lang="zh-CN" altLang="en-US"/>
              <a:t>同时决定“下一步做什么”和“具体代码怎么写”。论文认为这会增加模型负担，尤其在涉及环境依赖、文件路径、代码执行时容易出错。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痛点三：工具集选择困难</a:t>
            </a:r>
            <a:r>
              <a:rPr lang="en-US" altLang="zh-CN"/>
              <a:t>（</a:t>
            </a:r>
            <a:r>
              <a:rPr lang="zh-CN" altLang="en-US"/>
              <a:t>工具太少会能力不足，工具太多又可能引入噪声和额外开销。</a:t>
            </a:r>
            <a:r>
              <a:rPr lang="en-US" altLang="zh-CN"/>
              <a:t>）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这是本文所提出的</a:t>
            </a:r>
            <a:r>
              <a:rPr lang="zh-CN" altLang="en-US"/>
              <a:t>框架</a:t>
            </a:r>
            <a:endParaRPr lang="zh-CN" altLang="en-US"/>
          </a:p>
          <a:p>
            <a:r>
              <a:rPr lang="zh-CN" altLang="en-US"/>
              <a:t>给定一个复杂问题，例如“图片里有多少个棒球”，系统不会让大模型直接回答，而是先从左侧的 </a:t>
            </a:r>
            <a:r>
              <a:rPr lang="en-US" altLang="zh-CN"/>
              <a:t>Tool Cards </a:t>
            </a:r>
            <a:r>
              <a:rPr lang="zh-CN" altLang="en-US"/>
              <a:t>工具卡 中了解有哪些可用工具及其输入输出、功能和局限；然后进入 </a:t>
            </a:r>
            <a:r>
              <a:rPr lang="en-US" altLang="zh-CN"/>
              <a:t>Planner </a:t>
            </a:r>
            <a:r>
              <a:rPr lang="zh-CN" altLang="en-US"/>
              <a:t>规划器，由 </a:t>
            </a:r>
            <a:r>
              <a:rPr lang="en-US" altLang="zh-CN"/>
              <a:t>Query Analyzer </a:t>
            </a:r>
            <a:r>
              <a:rPr lang="zh-CN" altLang="en-US"/>
              <a:t>分析问题目标，</a:t>
            </a:r>
            <a:r>
              <a:rPr lang="en-US" altLang="zh-CN"/>
              <a:t>Action Predictor </a:t>
            </a:r>
            <a:r>
              <a:rPr lang="zh-CN" altLang="en-US"/>
              <a:t>决定下一步要做什么、调用哪个工具；接着由 </a:t>
            </a:r>
            <a:r>
              <a:rPr lang="en-US" altLang="zh-CN"/>
              <a:t>Executor </a:t>
            </a:r>
            <a:r>
              <a:rPr lang="zh-CN" altLang="en-US"/>
              <a:t>执行器 把这个“文本动作”转换成可执行命令，真正调用工具并得到结果；结果会被写入 </a:t>
            </a:r>
            <a:r>
              <a:rPr lang="en-US" altLang="zh-CN"/>
              <a:t>Context，</a:t>
            </a:r>
            <a:r>
              <a:rPr lang="zh-CN" altLang="en-US"/>
              <a:t>上方的 </a:t>
            </a:r>
            <a:r>
              <a:rPr lang="en-US" altLang="zh-CN"/>
              <a:t>Context Verifier </a:t>
            </a:r>
            <a:r>
              <a:rPr lang="zh-CN" altLang="en-US"/>
              <a:t>会判断当前信息是否足够、是否存在矛盾，如果不够就继续循环调用工具，如果足够就交给 </a:t>
            </a:r>
            <a:r>
              <a:rPr lang="en-US" altLang="zh-CN"/>
              <a:t>Solution Summarizer </a:t>
            </a:r>
            <a:r>
              <a:rPr lang="zh-CN" altLang="en-US"/>
              <a:t>汇总所有中间过程并输出最终答案。论文中明确说明，</a:t>
            </a:r>
            <a:r>
              <a:rPr lang="en-US" altLang="zh-CN"/>
              <a:t>OctoTools </a:t>
            </a:r>
            <a:r>
              <a:rPr lang="zh-CN" altLang="en-US"/>
              <a:t>的核心不是简单“</a:t>
            </a:r>
            <a:r>
              <a:rPr lang="en-US" altLang="zh-CN"/>
              <a:t>LLM + </a:t>
            </a:r>
            <a:r>
              <a:rPr lang="zh-CN" altLang="en-US"/>
              <a:t>工具调用”，而是通过 工具卡标准化、多步规划、命令执行和上下文验证 形成一个闭环式的复杂推理框架。</a:t>
            </a:r>
            <a:endParaRPr lang="zh-CN" altLang="en-US"/>
          </a:p>
          <a:p>
            <a:r>
              <a:rPr lang="en-US" altLang="zh-CN"/>
              <a:t>Task-specific Toolset Optimization：</a:t>
            </a:r>
            <a:r>
              <a:rPr lang="zh-CN" altLang="en-US"/>
              <a:t>特定于任务的工具集优化</a:t>
            </a:r>
            <a:r>
              <a:rPr lang="en-US" altLang="zh-CN"/>
              <a:t>，</a:t>
            </a:r>
            <a:r>
              <a:rPr lang="zh-CN" altLang="en-US"/>
              <a:t>在正式推理前，利用少量验证集样本为每个任务提前筛选一组最合适的工具。具体做法是先用基础工具集得到 </a:t>
            </a:r>
            <a:r>
              <a:rPr lang="en-US" altLang="zh-CN"/>
              <a:t>baseline </a:t>
            </a:r>
            <a:r>
              <a:rPr lang="zh-CN" altLang="en-US"/>
              <a:t>准确率，再逐个加入候选工具，观察验证集准确率是否提升；如果某个工具带来正向增益，就把它保留到最终工具集中。这个过程不训练模型参数，而是做任务级别的工具配置优化，目的是减少无关工具干扰，提高工具调用效率和复杂推理准确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</a:t>
            </a:r>
            <a:r>
              <a:rPr lang="zh-CN" altLang="en-US" dirty="0"/>
              <a:t>框架的核心模块</a:t>
            </a:r>
            <a:endParaRPr lang="en-US" dirty="0"/>
          </a:p>
          <a:p>
            <a:r>
              <a:rPr lang="en-US" dirty="0"/>
              <a:t>tool Cards：</a:t>
            </a:r>
            <a:r>
              <a:rPr lang="zh-CN" altLang="en-US" dirty="0"/>
              <a:t>统一工具描述、输入参数、输出结果、演示内容及使用限制。</a:t>
            </a:r>
            <a:endParaRPr lang="zh-CN" altLang="en-US" dirty="0"/>
          </a:p>
          <a:p>
            <a:r>
              <a:rPr lang="en-US" altLang="zh-CN" dirty="0"/>
              <a:t>Planner ：</a:t>
            </a:r>
            <a:r>
              <a:rPr lang="zh-CN" altLang="en-US" dirty="0"/>
              <a:t>分析查询请求，分解任务，并确定应使用哪种工具。</a:t>
            </a:r>
            <a:endParaRPr lang="zh-CN" altLang="en-US" dirty="0"/>
          </a:p>
          <a:p>
            <a:r>
              <a:rPr lang="en-US" altLang="zh-CN" dirty="0"/>
              <a:t>Executor：</a:t>
            </a:r>
            <a:r>
              <a:rPr lang="zh-CN" altLang="en-US" dirty="0"/>
              <a:t>将规划好的操作步骤转化为可执行命令并运行相关工具。</a:t>
            </a:r>
            <a:endParaRPr lang="zh-CN" altLang="en-US" dirty="0"/>
          </a:p>
          <a:p>
            <a:r>
              <a:rPr lang="en-US" altLang="zh-CN" dirty="0"/>
              <a:t>Context Verifier：</a:t>
            </a:r>
            <a:r>
              <a:rPr lang="zh-CN" altLang="en-US" dirty="0"/>
              <a:t>检查中间结果是否完整、一致且充分。</a:t>
            </a:r>
            <a:endParaRPr lang="zh-CN" altLang="en-US" dirty="0"/>
          </a:p>
          <a:p>
            <a:r>
              <a:rPr lang="en-US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Solution Summarizer：</a:t>
            </a:r>
            <a:r>
              <a:rPr lang="zh-CN" altLang="en-US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整合完整的推理过程并生成最终答案。</a:t>
            </a:r>
            <a:endParaRPr lang="zh-CN" altLang="en-US" b="1" dirty="0">
              <a:solidFill>
                <a:srgbClr val="222222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r>
              <a:rPr lang="en-US" altLang="zh-CN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OctoTools</a:t>
            </a:r>
            <a:r>
              <a:rPr lang="zh-CN" altLang="en-US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将大语言模型（</a:t>
            </a:r>
            <a:r>
              <a:rPr lang="en-US" altLang="zh-CN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LLM）</a:t>
            </a:r>
            <a:r>
              <a:rPr lang="zh-CN" altLang="en-US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的推理过程从直接回答转变为一个包含规划、工具执行、验证和总结的闭环流程。</a:t>
            </a:r>
            <a:endParaRPr lang="zh-CN" altLang="en-US" b="1" dirty="0">
              <a:solidFill>
                <a:srgbClr val="222222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这张图具体展示了 **</a:t>
            </a:r>
            <a:r>
              <a:rPr lang="en-US" altLang="zh-CN"/>
              <a:t>OctoTools </a:t>
            </a:r>
            <a:r>
              <a:rPr lang="zh-CN" altLang="en-US"/>
              <a:t>在一个图像计数任务中的两轮工具调用过程**：左侧首先给出两个标准化工具卡，分别是 **</a:t>
            </a:r>
            <a:r>
              <a:rPr lang="en-US" altLang="zh-CN"/>
              <a:t>Image Captioner Tool** </a:t>
            </a:r>
            <a:r>
              <a:rPr lang="zh-CN" altLang="en-US"/>
              <a:t>和 **</a:t>
            </a:r>
            <a:r>
              <a:rPr lang="en-US" altLang="zh-CN"/>
              <a:t>Object Detector Tool**，</a:t>
            </a:r>
            <a:r>
              <a:rPr lang="zh-CN" altLang="en-US"/>
              <a:t>工具卡中写明了工具功能、输入输出格式、调用示例以及局限性；随后系统进入 **</a:t>
            </a:r>
            <a:r>
              <a:rPr lang="en-US" altLang="zh-CN"/>
              <a:t>Step 0: Query Analyzer**，</a:t>
            </a:r>
            <a:r>
              <a:rPr lang="zh-CN" altLang="en-US"/>
              <a:t>分析用户问题“图片中有多少个棒球”，判断该任务需要视觉理解、工具调用和结果验证能力，并选出可能相关的图像描述工具和目标检测工具；在 **</a:t>
            </a:r>
            <a:r>
              <a:rPr lang="en-US" altLang="zh-CN"/>
              <a:t>Step 1** </a:t>
            </a:r>
            <a:r>
              <a:rPr lang="zh-CN" altLang="en-US"/>
              <a:t>中，</a:t>
            </a:r>
            <a:r>
              <a:rPr lang="en-US" altLang="zh-CN"/>
              <a:t>Action Predictor </a:t>
            </a:r>
            <a:r>
              <a:rPr lang="zh-CN" altLang="en-US"/>
              <a:t>先决定调用 </a:t>
            </a:r>
            <a:r>
              <a:rPr lang="en-US" altLang="zh-CN"/>
              <a:t>Image Captioner Tool </a:t>
            </a:r>
            <a:r>
              <a:rPr lang="zh-CN" altLang="en-US"/>
              <a:t>来描述图片，</a:t>
            </a:r>
            <a:r>
              <a:rPr lang="en-US" altLang="zh-CN"/>
              <a:t>Command Generator </a:t>
            </a:r>
            <a:r>
              <a:rPr lang="zh-CN" altLang="en-US"/>
              <a:t>生成具体调用命令，</a:t>
            </a:r>
            <a:r>
              <a:rPr lang="en-US" altLang="zh-CN"/>
              <a:t>Command Executor </a:t>
            </a:r>
            <a:r>
              <a:rPr lang="zh-CN" altLang="en-US"/>
              <a:t>得到“有四个桶，每个桶有五个棒球”的描述结果，但 </a:t>
            </a:r>
            <a:r>
              <a:rPr lang="en-US" altLang="zh-CN"/>
              <a:t>Context Verifier </a:t>
            </a:r>
            <a:r>
              <a:rPr lang="zh-CN" altLang="en-US"/>
              <a:t>发现图像描述工具在精确计数上可能不可靠，因此结论是 **</a:t>
            </a:r>
            <a:r>
              <a:rPr lang="en-US" altLang="zh-CN"/>
              <a:t>CONTINUE**，</a:t>
            </a:r>
            <a:r>
              <a:rPr lang="zh-CN" altLang="en-US"/>
              <a:t>继续验证；在 **</a:t>
            </a:r>
            <a:r>
              <a:rPr lang="en-US" altLang="zh-CN"/>
              <a:t>Step 2** </a:t>
            </a:r>
            <a:r>
              <a:rPr lang="zh-CN" altLang="en-US"/>
              <a:t>中，系统进一步调用 </a:t>
            </a:r>
            <a:r>
              <a:rPr lang="en-US" altLang="zh-CN"/>
              <a:t>Object Detector Tool </a:t>
            </a:r>
            <a:r>
              <a:rPr lang="zh-CN" altLang="en-US"/>
              <a:t>检测 </a:t>
            </a:r>
            <a:r>
              <a:rPr lang="en-US" altLang="zh-CN"/>
              <a:t>baseball，</a:t>
            </a:r>
            <a:r>
              <a:rPr lang="zh-CN" altLang="en-US"/>
              <a:t>执行后得到结构化的目标检测结果，包括标签、置信度、边界框和保存路径，</a:t>
            </a:r>
            <a:r>
              <a:rPr lang="en-US" altLang="zh-CN"/>
              <a:t>Context Verifier </a:t>
            </a:r>
            <a:r>
              <a:rPr lang="zh-CN" altLang="en-US"/>
              <a:t>判断当前信息已经完整、一致且无歧义，因此结论变为 **</a:t>
            </a:r>
            <a:r>
              <a:rPr lang="en-US" altLang="zh-CN"/>
              <a:t>STOP**。</a:t>
            </a:r>
            <a:r>
              <a:rPr lang="zh-CN" altLang="en-US"/>
              <a:t>所以，这张图的核心意思是：**</a:t>
            </a:r>
            <a:r>
              <a:rPr lang="en-US" altLang="zh-CN"/>
              <a:t>OctoTools </a:t>
            </a:r>
            <a:r>
              <a:rPr lang="zh-CN" altLang="en-US"/>
              <a:t>不是让大模型直接给答案，而是通过“问题分析—工具选择—命令生成—工具执行—结果验证”的多步闭环流程，把复杂任务拆解成可执行、可检查的工具调用过程，从而提高答案的可靠性。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这张图比较了不同方法在 **16 个复杂推理任务上的平均准确率**。可以看到，普通 **</a:t>
            </a:r>
            <a:r>
              <a:rPr lang="en-US" altLang="zh-CN"/>
              <a:t>GPT-4o** </a:t>
            </a:r>
            <a:r>
              <a:rPr lang="zh-CN" altLang="en-US"/>
              <a:t>的平均准确率为 **49.2%**，加入 </a:t>
            </a:r>
            <a:r>
              <a:rPr lang="en-US" altLang="zh-CN"/>
              <a:t>CoT </a:t>
            </a:r>
            <a:r>
              <a:rPr lang="zh-CN" altLang="en-US"/>
              <a:t>思维链提示后提升到 **50.8%**，说明单纯让模型“逐步思考”只能带来有限提升；几个通用 </a:t>
            </a:r>
            <a:r>
              <a:rPr lang="en-US" altLang="zh-CN"/>
              <a:t>Agent </a:t>
            </a:r>
            <a:r>
              <a:rPr lang="zh-CN" altLang="en-US"/>
              <a:t>框架中，**</a:t>
            </a:r>
            <a:r>
              <a:rPr lang="en-US" altLang="zh-CN"/>
              <a:t>AutoGen** </a:t>
            </a:r>
            <a:r>
              <a:rPr lang="zh-CN" altLang="en-US"/>
              <a:t>为 **47.9%**，**</a:t>
            </a:r>
            <a:r>
              <a:rPr lang="en-US" altLang="zh-CN"/>
              <a:t>GPT-Functions** </a:t>
            </a:r>
            <a:r>
              <a:rPr lang="zh-CN" altLang="en-US"/>
              <a:t>为 **51.0%**，**</a:t>
            </a:r>
            <a:r>
              <a:rPr lang="en-US" altLang="zh-CN"/>
              <a:t>LangChain** </a:t>
            </a:r>
            <a:r>
              <a:rPr lang="zh-CN" altLang="en-US"/>
              <a:t>为 **51.2%**，整体提升也不明显；而 **</a:t>
            </a:r>
            <a:r>
              <a:rPr lang="en-US" altLang="zh-CN"/>
              <a:t>OctoTools** </a:t>
            </a:r>
            <a:r>
              <a:rPr lang="zh-CN" altLang="en-US"/>
              <a:t>达到 **58.5%**，明显高于所有 </a:t>
            </a:r>
            <a:r>
              <a:rPr lang="en-US" altLang="zh-CN"/>
              <a:t>baseline。</a:t>
            </a:r>
            <a:r>
              <a:rPr lang="zh-CN" altLang="en-US"/>
              <a:t>这个结果说明，</a:t>
            </a:r>
            <a:r>
              <a:rPr lang="en-US" altLang="zh-CN"/>
              <a:t>OctoTools </a:t>
            </a:r>
            <a:r>
              <a:rPr lang="zh-CN" altLang="en-US"/>
              <a:t>的优势并不是简单来自“大模型本身”或“普通工具调用”，而是来自它更系统的 **</a:t>
            </a:r>
            <a:r>
              <a:rPr lang="en-US" altLang="zh-CN"/>
              <a:t>Tool Cards </a:t>
            </a:r>
            <a:r>
              <a:rPr lang="zh-CN" altLang="en-US"/>
              <a:t>标准化工具管理、</a:t>
            </a:r>
            <a:r>
              <a:rPr lang="en-US" altLang="zh-CN"/>
              <a:t>Planner-Executor </a:t>
            </a:r>
            <a:r>
              <a:rPr lang="zh-CN" altLang="en-US"/>
              <a:t>分离、多步推理和上下文验证机制**。因此，这张图想表达的核心结论是：**在跨视觉、数学、科学、医学和 </a:t>
            </a:r>
            <a:r>
              <a:rPr lang="en-US" altLang="zh-CN"/>
              <a:t>agentic </a:t>
            </a:r>
            <a:r>
              <a:rPr lang="zh-CN" altLang="en-US"/>
              <a:t>等多类复杂任务中，</a:t>
            </a:r>
            <a:r>
              <a:rPr lang="en-US" altLang="zh-CN"/>
              <a:t>OctoTools </a:t>
            </a:r>
            <a:r>
              <a:rPr lang="zh-CN" altLang="en-US"/>
              <a:t>能比 </a:t>
            </a:r>
            <a:r>
              <a:rPr lang="en-US" altLang="zh-CN"/>
              <a:t>GPT-4o、CoT </a:t>
            </a:r>
            <a:r>
              <a:rPr lang="zh-CN" altLang="en-US"/>
              <a:t>以及现有通用 </a:t>
            </a:r>
            <a:r>
              <a:rPr lang="en-US" altLang="zh-CN"/>
              <a:t>Agent </a:t>
            </a:r>
            <a:r>
              <a:rPr lang="zh-CN" altLang="en-US"/>
              <a:t>框架更有效地组织工具调用和多步推理，从而取得更高的平均准确率。**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这张表是论文的 **主实验结果表**，展示了 </a:t>
            </a:r>
            <a:r>
              <a:rPr lang="en-US" altLang="zh-CN"/>
              <a:t>OctoTools </a:t>
            </a:r>
            <a:r>
              <a:rPr lang="zh-CN" altLang="en-US"/>
              <a:t>在 **16 个不同 </a:t>
            </a:r>
            <a:r>
              <a:rPr lang="en-US" altLang="zh-CN"/>
              <a:t>benchmark** </a:t>
            </a:r>
            <a:r>
              <a:rPr lang="zh-CN" altLang="en-US"/>
              <a:t>上与 </a:t>
            </a:r>
            <a:r>
              <a:rPr lang="en-US" altLang="zh-CN"/>
              <a:t>GPT-4o、GPT-4o(CoT) </a:t>
            </a:r>
            <a:r>
              <a:rPr lang="zh-CN" altLang="en-US"/>
              <a:t>以及 </a:t>
            </a:r>
            <a:r>
              <a:rPr lang="en-US" altLang="zh-CN"/>
              <a:t>OctoToolsbase </a:t>
            </a:r>
            <a:r>
              <a:rPr lang="zh-CN" altLang="en-US"/>
              <a:t>的性能对比。实验覆盖了视觉、文本两种模态，以及通用推理、数学推理、科学推理、医学推理和 </a:t>
            </a:r>
            <a:r>
              <a:rPr lang="en-US" altLang="zh-CN"/>
              <a:t>Agentic </a:t>
            </a:r>
            <a:r>
              <a:rPr lang="zh-CN" altLang="en-US"/>
              <a:t>任务等多个领域；表中绿色对勾表示该数据集涉及的能力类型，例如视觉理解、数值计算、知识检索和多步推理。可以看到，</a:t>
            </a:r>
            <a:r>
              <a:rPr lang="en-US" altLang="zh-CN"/>
              <a:t>OctoTools </a:t>
            </a:r>
            <a:r>
              <a:rPr lang="zh-CN" altLang="en-US"/>
              <a:t>在大多数任务上都取得了最高或接近最高的准确率，整体平均准确率达到 **58.5%**，相比普通 </a:t>
            </a:r>
            <a:r>
              <a:rPr lang="en-US" altLang="zh-CN"/>
              <a:t>GPT-4o </a:t>
            </a:r>
            <a:r>
              <a:rPr lang="zh-CN" altLang="en-US"/>
              <a:t>的 **49.2%** 提升 **9.3%**，相比 </a:t>
            </a:r>
            <a:r>
              <a:rPr lang="en-US" altLang="zh-CN"/>
              <a:t>CoT </a:t>
            </a:r>
            <a:r>
              <a:rPr lang="zh-CN" altLang="en-US"/>
              <a:t>的 **50.8%** 提升 **7.7%**，也高于只使用基础工具的 </a:t>
            </a:r>
            <a:r>
              <a:rPr lang="en-US" altLang="zh-CN"/>
              <a:t>OctoToolsbase **53.4%**。</a:t>
            </a:r>
            <a:r>
              <a:rPr lang="zh-CN" altLang="en-US"/>
              <a:t>尤其在 **</a:t>
            </a:r>
            <a:r>
              <a:rPr lang="en-US" altLang="zh-CN"/>
              <a:t>Game of 24、PathCLS、PathVQA、GAIA-Text** </a:t>
            </a:r>
            <a:r>
              <a:rPr lang="zh-CN" altLang="en-US"/>
              <a:t>等需要计算、专业工具或多步决策的任务上提升非常明显。这说明 </a:t>
            </a:r>
            <a:r>
              <a:rPr lang="en-US" altLang="zh-CN"/>
              <a:t>OctoTools </a:t>
            </a:r>
            <a:r>
              <a:rPr lang="zh-CN" altLang="en-US"/>
              <a:t>的性能提升不仅来自大模型本身，也不仅是简单的思维链提示，而是来自其 **工具调用、多步规划、上下文验证和任务特定工具选择机制** 对复杂推理过程的系统增强。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这张表比较了 **</a:t>
            </a:r>
            <a:r>
              <a:rPr lang="en-US" altLang="zh-CN"/>
              <a:t>OctoTools </a:t>
            </a:r>
            <a:r>
              <a:rPr lang="zh-CN" altLang="en-US"/>
              <a:t>与三个通用 </a:t>
            </a:r>
            <a:r>
              <a:rPr lang="en-US" altLang="zh-CN"/>
              <a:t>Agent </a:t>
            </a:r>
            <a:r>
              <a:rPr lang="zh-CN" altLang="en-US"/>
              <a:t>框架 </a:t>
            </a:r>
            <a:r>
              <a:rPr lang="en-US" altLang="zh-CN"/>
              <a:t>AutoGen、GPT-Functions、LangChain** </a:t>
            </a:r>
            <a:r>
              <a:rPr lang="zh-CN" altLang="en-US"/>
              <a:t>在 16 个 </a:t>
            </a:r>
            <a:r>
              <a:rPr lang="en-US" altLang="zh-CN"/>
              <a:t>benchmark </a:t>
            </a:r>
            <a:r>
              <a:rPr lang="zh-CN" altLang="en-US"/>
              <a:t>上的表现，重点验证的是：在相同复杂推理任务下，</a:t>
            </a:r>
            <a:r>
              <a:rPr lang="en-US" altLang="zh-CN"/>
              <a:t>OctoTools </a:t>
            </a:r>
            <a:r>
              <a:rPr lang="zh-CN" altLang="en-US"/>
              <a:t>的 </a:t>
            </a:r>
            <a:r>
              <a:rPr lang="en-US" altLang="zh-CN"/>
              <a:t>agent </a:t>
            </a:r>
            <a:r>
              <a:rPr lang="zh-CN" altLang="en-US"/>
              <a:t>框架设计是否比已有工具调用框架更有效。可以看到，</a:t>
            </a:r>
            <a:r>
              <a:rPr lang="en-US" altLang="zh-CN"/>
              <a:t>OctoTools </a:t>
            </a:r>
            <a:r>
              <a:rPr lang="zh-CN" altLang="en-US"/>
              <a:t>在绝大多数数据集上都取得了最高准确率，平均准确率达到 **58.5%**，明显高于 **</a:t>
            </a:r>
            <a:r>
              <a:rPr lang="en-US" altLang="zh-CN"/>
              <a:t>AutoGen </a:t>
            </a:r>
            <a:r>
              <a:rPr lang="zh-CN" altLang="en-US"/>
              <a:t>的 47.9%**、**</a:t>
            </a:r>
            <a:r>
              <a:rPr lang="en-US" altLang="zh-CN"/>
              <a:t>GPT-Functions </a:t>
            </a:r>
            <a:r>
              <a:rPr lang="zh-CN" altLang="en-US"/>
              <a:t>的 51.0%** 和 **</a:t>
            </a:r>
            <a:r>
              <a:rPr lang="en-US" altLang="zh-CN"/>
              <a:t>LangChain </a:t>
            </a:r>
            <a:r>
              <a:rPr lang="zh-CN" altLang="en-US"/>
              <a:t>的 51.2%**。尤其是在 **</a:t>
            </a:r>
            <a:r>
              <a:rPr lang="en-US" altLang="zh-CN"/>
              <a:t>Game of 24、MathVista、MedQA、GAIA-Text** </a:t>
            </a:r>
            <a:r>
              <a:rPr lang="zh-CN" altLang="en-US"/>
              <a:t>等需要多步推理、计算、知识检索或工具协同的任务上，</a:t>
            </a:r>
            <a:r>
              <a:rPr lang="en-US" altLang="zh-CN"/>
              <a:t>OctoTools </a:t>
            </a:r>
            <a:r>
              <a:rPr lang="zh-CN" altLang="en-US"/>
              <a:t>的优势更明显。这个结果说明，</a:t>
            </a:r>
            <a:r>
              <a:rPr lang="en-US" altLang="zh-CN"/>
              <a:t>OctoTools </a:t>
            </a:r>
            <a:r>
              <a:rPr lang="zh-CN" altLang="en-US"/>
              <a:t>的提升不是因为单纯“有工具可用”，因为这些框架也都能调用工具，而是因为它采用了更明确的 **</a:t>
            </a:r>
            <a:r>
              <a:rPr lang="en-US" altLang="zh-CN"/>
              <a:t>Planner-Executor </a:t>
            </a:r>
            <a:r>
              <a:rPr lang="zh-CN" altLang="en-US"/>
              <a:t>分离机制、标准化 </a:t>
            </a:r>
            <a:r>
              <a:rPr lang="en-US" altLang="zh-CN"/>
              <a:t>Tool Cards、</a:t>
            </a:r>
            <a:r>
              <a:rPr lang="zh-CN" altLang="en-US"/>
              <a:t>逐步上下文验证和多步任务规划**，使模型能够更稳定地决定“什么时候用工具、用什么工具、如何执行以及何时停止”。因此，这张表主要支撑论文的一个核心结论：**相比现有通用 </a:t>
            </a:r>
            <a:r>
              <a:rPr lang="en-US" altLang="zh-CN"/>
              <a:t>Agent </a:t>
            </a:r>
            <a:r>
              <a:rPr lang="zh-CN" altLang="en-US"/>
              <a:t>框架，</a:t>
            </a:r>
            <a:r>
              <a:rPr lang="en-US" altLang="zh-CN"/>
              <a:t>OctoTools </a:t>
            </a:r>
            <a:r>
              <a:rPr lang="zh-CN" altLang="en-US"/>
              <a:t>在复杂推理任务中具有更强的工具组织能力和多步决策能力。**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这张图主要分析 **</a:t>
            </a:r>
            <a:r>
              <a:rPr lang="en-US" altLang="zh-CN"/>
              <a:t>OctoTools </a:t>
            </a:r>
            <a:r>
              <a:rPr lang="zh-CN" altLang="en-US"/>
              <a:t>的工具使用分布**，用来说明它为什么比其他 </a:t>
            </a:r>
            <a:r>
              <a:rPr lang="en-US" altLang="zh-CN"/>
              <a:t>Agent </a:t>
            </a:r>
            <a:r>
              <a:rPr lang="zh-CN" altLang="en-US"/>
              <a:t>框架更适合复杂推理任务。左侧 **</a:t>
            </a:r>
            <a:r>
              <a:rPr lang="en-US" altLang="zh-CN"/>
              <a:t>Figure 5a** </a:t>
            </a:r>
            <a:r>
              <a:rPr lang="zh-CN" altLang="en-US"/>
              <a:t>比较了 </a:t>
            </a:r>
            <a:r>
              <a:rPr lang="en-US" altLang="zh-CN"/>
              <a:t>OctoTools、AutoGen、GPT-Functions </a:t>
            </a:r>
            <a:r>
              <a:rPr lang="zh-CN" altLang="en-US"/>
              <a:t>和 </a:t>
            </a:r>
            <a:r>
              <a:rPr lang="en-US" altLang="zh-CN"/>
              <a:t>LangChain </a:t>
            </a:r>
            <a:r>
              <a:rPr lang="zh-CN" altLang="en-US"/>
              <a:t>在 16 个任务中的平均工具调用比例：可以看到，</a:t>
            </a:r>
            <a:r>
              <a:rPr lang="en-US" altLang="zh-CN"/>
              <a:t>OctoTools </a:t>
            </a:r>
            <a:r>
              <a:rPr lang="zh-CN" altLang="en-US"/>
              <a:t>不只是依赖通用解题工具，而是较均衡地使用了多种外部工具，例如 **</a:t>
            </a:r>
            <a:r>
              <a:rPr lang="en-US" altLang="zh-CN"/>
              <a:t>Generalist Solution Generator </a:t>
            </a:r>
            <a:r>
              <a:rPr lang="zh-CN" altLang="en-US"/>
              <a:t>占 32.2%**，图像描述工具、局部放大工具、目标检测、搜索、代码生成等外部工具合计占比较高；相比之下，</a:t>
            </a:r>
            <a:r>
              <a:rPr lang="en-US" altLang="zh-CN"/>
              <a:t>AutoGen、GPT-Functions </a:t>
            </a:r>
            <a:r>
              <a:rPr lang="zh-CN" altLang="en-US"/>
              <a:t>和 </a:t>
            </a:r>
            <a:r>
              <a:rPr lang="en-US" altLang="zh-CN"/>
              <a:t>LangChain </a:t>
            </a:r>
            <a:r>
              <a:rPr lang="zh-CN" altLang="en-US"/>
              <a:t>大部分调用都集中在通用工具上，外部专用工具使用比例较低，说明它们虽然具备工具调用能力，但不太会主动、充分地利用多样化工具。右侧 **</a:t>
            </a:r>
            <a:r>
              <a:rPr lang="en-US" altLang="zh-CN"/>
              <a:t>Figure 5b** </a:t>
            </a:r>
            <a:r>
              <a:rPr lang="zh-CN" altLang="en-US"/>
              <a:t>展示了 </a:t>
            </a:r>
            <a:r>
              <a:rPr lang="en-US" altLang="zh-CN"/>
              <a:t>OctoTools </a:t>
            </a:r>
            <a:r>
              <a:rPr lang="zh-CN" altLang="en-US"/>
              <a:t>在不同数据集上的工具使用差异，不同任务会调用不同工具组合：例如医学图像任务更多使用病理分类工具，数学任务更多使用 </a:t>
            </a:r>
            <a:r>
              <a:rPr lang="en-US" altLang="zh-CN"/>
              <a:t>Python Code Generator，</a:t>
            </a:r>
            <a:r>
              <a:rPr lang="zh-CN" altLang="en-US"/>
              <a:t>视觉任务更多使用 </a:t>
            </a:r>
            <a:r>
              <a:rPr lang="en-US" altLang="zh-CN"/>
              <a:t>Image Captioner、Object Detector </a:t>
            </a:r>
            <a:r>
              <a:rPr lang="zh-CN" altLang="en-US"/>
              <a:t>或 </a:t>
            </a:r>
            <a:r>
              <a:rPr lang="en-US" altLang="zh-CN"/>
              <a:t>Relevant Patch Zoomer，GAIA-Text </a:t>
            </a:r>
            <a:r>
              <a:rPr lang="zh-CN" altLang="en-US"/>
              <a:t>这类 </a:t>
            </a:r>
            <a:r>
              <a:rPr lang="en-US" altLang="zh-CN"/>
              <a:t>agentic </a:t>
            </a:r>
            <a:r>
              <a:rPr lang="zh-CN" altLang="en-US"/>
              <a:t>任务则会混合使用搜索、网页、代码等多种工具。整体来看，这张图想表达的核心结论是：**</a:t>
            </a:r>
            <a:r>
              <a:rPr lang="en-US" altLang="zh-CN"/>
              <a:t>OctoTools </a:t>
            </a:r>
            <a:r>
              <a:rPr lang="zh-CN" altLang="en-US"/>
              <a:t>的优势不只是“有工具”，而是能够根据任务类型动态选择合适工具，并在多步推理过程中组合使用这些工具，从而更好地解决不同领域、不同模态的复杂问题。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这张图说明：**</a:t>
            </a:r>
            <a:r>
              <a:rPr lang="en-US" altLang="zh-CN"/>
              <a:t>OctoTools </a:t>
            </a:r>
            <a:r>
              <a:rPr lang="zh-CN" altLang="en-US"/>
              <a:t>允许的最大推理步数越多，整体准确率越高**。当步数从 1 增加到 10 时，16 个任务上的平均准确率从约 **56%** 提升到约 **59%**。其中 **4 步到 6 步**提升最明显，说明复杂任务往往需要多轮“规划—调用工具—验证结果”。但 6 步以后提升变慢，说明步数增加会带来收益，但也存在边际递减。总体结论是：**多步推理机制是 </a:t>
            </a:r>
            <a:r>
              <a:rPr lang="en-US" altLang="zh-CN"/>
              <a:t>OctoTools </a:t>
            </a:r>
            <a:r>
              <a:rPr lang="zh-CN" altLang="en-US"/>
              <a:t>性能提升的重要来源。**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这两张图是论文的 **消融实验（</a:t>
            </a:r>
            <a:r>
              <a:rPr lang="en-US" altLang="zh-CN"/>
              <a:t>Ablation Study）**，</a:t>
            </a:r>
            <a:r>
              <a:rPr lang="zh-CN" altLang="en-US"/>
              <a:t>主要验证 </a:t>
            </a:r>
            <a:r>
              <a:rPr lang="en-US" altLang="zh-CN"/>
              <a:t>OctoTools </a:t>
            </a:r>
            <a:r>
              <a:rPr lang="zh-CN" altLang="en-US"/>
              <a:t>中不同设计是否真的有效。**左图**比较了三种工具集策略：只使用基础工具集、使用全部工具、使用优化后的工具集。结果显示，无论是在全部 16 个任务上，还是在视觉、计算、知识检索、多步推理等不同类别中，**优化工具集的效果普遍最好**，说明并不是工具越多越好，而是需要根据具体任务选择真正有帮助的工具。**右图**则使用较弱的基础模型 </a:t>
            </a:r>
            <a:r>
              <a:rPr lang="en-US" altLang="zh-CN"/>
              <a:t>GPT-4o-mini </a:t>
            </a:r>
            <a:r>
              <a:rPr lang="zh-CN" altLang="en-US"/>
              <a:t>进行实验，结果显示 </a:t>
            </a:r>
            <a:r>
              <a:rPr lang="en-US" altLang="zh-CN"/>
              <a:t>OctoTools </a:t>
            </a:r>
            <a:r>
              <a:rPr lang="zh-CN" altLang="en-US"/>
              <a:t>仍然明显优于 </a:t>
            </a:r>
            <a:r>
              <a:rPr lang="en-US" altLang="zh-CN"/>
              <a:t>GPT-4o-mini </a:t>
            </a:r>
            <a:r>
              <a:rPr lang="zh-CN" altLang="en-US"/>
              <a:t>的 </a:t>
            </a:r>
            <a:r>
              <a:rPr lang="en-US" altLang="zh-CN"/>
              <a:t>zero-shot、CoT </a:t>
            </a:r>
            <a:r>
              <a:rPr lang="zh-CN" altLang="en-US"/>
              <a:t>以及 </a:t>
            </a:r>
            <a:r>
              <a:rPr lang="en-US" altLang="zh-CN"/>
              <a:t>OctoTools_base，</a:t>
            </a:r>
            <a:r>
              <a:rPr lang="zh-CN" altLang="en-US"/>
              <a:t>在全部任务上提升约 **7.1%**，在视觉、计算、知识和多步任务上也都有稳定提升。总体来看，这两张图说明：**</a:t>
            </a:r>
            <a:r>
              <a:rPr lang="en-US" altLang="zh-CN"/>
              <a:t>OctoTools </a:t>
            </a:r>
            <a:r>
              <a:rPr lang="zh-CN" altLang="en-US"/>
              <a:t>的性能提升不是偶然的，而是来自任务特定工具选择、多步规划和工具调用机制；即使换成较弱的大模型，</a:t>
            </a:r>
            <a:r>
              <a:rPr lang="en-US" altLang="zh-CN"/>
              <a:t>OctoTools </a:t>
            </a:r>
            <a:r>
              <a:rPr lang="zh-CN" altLang="en-US"/>
              <a:t>依然能够带来稳定增益，说明该框架具有一定泛化性和鲁棒性。**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三个局限：第一，工具集优化采用贪心策略，不能保证找到全局最优工具组合；第二，当前工具选择主要是任务级别的，还不能针对每个具体 </a:t>
            </a:r>
            <a:r>
              <a:rPr lang="en-US" altLang="zh-CN"/>
              <a:t>query </a:t>
            </a:r>
            <a:r>
              <a:rPr lang="zh-CN" altLang="en-US"/>
              <a:t>动态选择工具；第三，框架依赖多步推理和工具调用，但推理过程受到最大步数和时间预算限制，复杂任务可能在信息尚未充分时就被迫停止。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6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7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8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9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" y="753110"/>
            <a:ext cx="12089765" cy="53517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Research background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Foundation Models have made significant progress in tasks such as summarizing, translation, code generation, and mathematical problem-solving, but they still face considerable challenges when dealing with complex reasoning tasks. Complex tasks typically cannot be solved with a simple question-and-answer approach; rather, they require:</a:t>
            </a:r>
            <a:endParaRPr lang="en-US" altLang="zh-CN"/>
          </a:p>
          <a:p>
            <a:pPr lvl="1"/>
            <a:r>
              <a:rPr lang="en-US" altLang="zh-CN"/>
              <a:t>Break down the problem; </a:t>
            </a:r>
            <a:endParaRPr lang="en-US" altLang="zh-CN"/>
          </a:p>
          <a:p>
            <a:pPr lvl="1"/>
            <a:r>
              <a:rPr lang="en-US" altLang="zh-CN"/>
              <a:t>select appropriate tools for different subtasks;</a:t>
            </a:r>
            <a:endParaRPr lang="en-US" altLang="zh-CN"/>
          </a:p>
          <a:p>
            <a:pPr lvl="1"/>
            <a:r>
              <a:rPr lang="en-US" altLang="zh-CN"/>
              <a:t> use external tools to obtain intermediate results;</a:t>
            </a:r>
            <a:endParaRPr lang="en-US" altLang="zh-CN"/>
          </a:p>
          <a:p>
            <a:pPr lvl="1"/>
            <a:r>
              <a:rPr lang="en-US" altLang="zh-CN"/>
              <a:t> verify the intermediate results;</a:t>
            </a:r>
            <a:endParaRPr lang="en-US" altLang="zh-CN"/>
          </a:p>
          <a:p>
            <a:pPr lvl="1"/>
            <a:r>
              <a:rPr lang="en-US" altLang="zh-CN"/>
              <a:t> and finally synthesize the results to form the answer.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Research purpose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Build a training-free, easily scalable, and cross-domain-compatible LLM tool agent framework. This framework aims to solve not just "how to call the tool," but a complete solution:How can LLM automatically plan, select tools, generate executable commands, verify intermediate results, and ultimately provide a reliable answer for complex tasks?</a:t>
            </a:r>
            <a:endParaRPr lang="en-US" altLang="zh-CN"/>
          </a:p>
          <a:p>
            <a:r>
              <a:rPr lang="en-US" altLang="zh-CN"/>
              <a:t>Key pain points to be addressed：</a:t>
            </a:r>
            <a:endParaRPr lang="en-US" altLang="zh-CN"/>
          </a:p>
          <a:p>
            <a:pPr lvl="1"/>
            <a:r>
              <a:rPr lang="en-US" altLang="zh-CN"/>
              <a:t>Pain Point 1: Inconsistent Tool Access</a:t>
            </a:r>
            <a:endParaRPr lang="en-US" altLang="zh-CN"/>
          </a:p>
          <a:p>
            <a:pPr lvl="1"/>
            <a:r>
              <a:rPr lang="en-US" altLang="zh-CN"/>
              <a:t>Pain Point 2: Mixing planning and execution can easily lead to errors.</a:t>
            </a:r>
            <a:endParaRPr lang="en-US" altLang="zh-CN"/>
          </a:p>
          <a:p>
            <a:pPr lvl="1"/>
            <a:r>
              <a:rPr lang="en-US" altLang="zh-CN"/>
              <a:t>Pain Point 3: Difficulty in Selecting Toolsets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The overall framework of Octo</a:t>
            </a:r>
            <a:r>
              <a:rPr lang="en-US" altLang="zh-CN"/>
              <a:t>Tools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50365"/>
            <a:ext cx="10968990" cy="33547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Core Modules of OctoTools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A657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From direct answering to a closed-loop tool reasoning process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738360" y="402336"/>
            <a:ext cx="1691640" cy="320040"/>
          </a:xfrm>
          <a:prstGeom prst="rect">
            <a:avLst/>
          </a:prstGeom>
          <a:solidFill>
            <a:srgbClr val="263241"/>
          </a:solidFill>
          <a:ln>
            <a:solidFill>
              <a:srgbClr val="263241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Method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11475720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2263140"/>
            <a:ext cx="182880" cy="192024"/>
          </a:xfrm>
          <a:prstGeom prst="rightArrow">
            <a:avLst/>
          </a:prstGeom>
          <a:solidFill>
            <a:srgbClr val="B7C2CF"/>
          </a:solidFill>
          <a:ln w="12700">
            <a:solidFill>
              <a:srgbClr val="B7C2C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2263140"/>
            <a:ext cx="182880" cy="192024"/>
          </a:xfrm>
          <a:prstGeom prst="rightArrow">
            <a:avLst/>
          </a:prstGeom>
          <a:solidFill>
            <a:srgbClr val="B7C2CF"/>
          </a:solidFill>
          <a:ln w="12700">
            <a:solidFill>
              <a:srgbClr val="B7C2C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263140"/>
            <a:ext cx="182880" cy="192024"/>
          </a:xfrm>
          <a:prstGeom prst="rightArrow">
            <a:avLst/>
          </a:prstGeom>
          <a:solidFill>
            <a:srgbClr val="B7C2CF"/>
          </a:solidFill>
          <a:ln w="12700">
            <a:solidFill>
              <a:srgbClr val="B7C2C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2263140"/>
            <a:ext cx="182880" cy="192024"/>
          </a:xfrm>
          <a:prstGeom prst="rightArrow">
            <a:avLst/>
          </a:prstGeom>
          <a:solidFill>
            <a:srgbClr val="B7C2CF"/>
          </a:solidFill>
          <a:ln w="12700">
            <a:solidFill>
              <a:srgbClr val="B7C2C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2029968" cy="1755648"/>
          </a:xfrm>
          <a:prstGeom prst="rect">
            <a:avLst/>
          </a:prstGeom>
          <a:solidFill>
            <a:srgbClr val="FFF0DF"/>
          </a:solidFill>
          <a:ln w="25400">
            <a:solidFill>
              <a:srgbClr val="F7A35C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7A35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
</a:t>
            </a:r>
            <a:endParaRPr lang="en-US" sz="1200" dirty="0"/>
          </a:p>
          <a:p>
            <a:pPr marL="0" indent="0">
              <a:buNone/>
            </a:pPr>
            <a:r>
              <a:rPr lang="en-US" sz="173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Tool Cards
</a:t>
            </a:r>
            <a:endParaRPr lang="en-US" sz="1200" dirty="0"/>
          </a:p>
          <a:p>
            <a:pPr marL="0" indent="0">
              <a:buNone/>
            </a:pPr>
            <a:r>
              <a:rPr lang="en-US" sz="1060" dirty="0">
                <a:solidFill>
                  <a:srgbClr val="3D47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Standardize tool descriptions, inputs, outputs, demos, and limitations.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481328"/>
            <a:ext cx="2029968" cy="1755648"/>
          </a:xfrm>
          <a:prstGeom prst="rect">
            <a:avLst/>
          </a:prstGeom>
          <a:solidFill>
            <a:srgbClr val="FDE2E9"/>
          </a:solidFill>
          <a:ln w="25400">
            <a:solidFill>
              <a:srgbClr val="F79AB3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79AB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
</a:t>
            </a:r>
            <a:endParaRPr lang="en-US" sz="1200" dirty="0"/>
          </a:p>
          <a:p>
            <a:pPr marL="0" indent="0">
              <a:buNone/>
            </a:pPr>
            <a:r>
              <a:rPr lang="en-US" sz="173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Planner
</a:t>
            </a:r>
            <a:endParaRPr lang="en-US" sz="1200" dirty="0"/>
          </a:p>
          <a:p>
            <a:pPr marL="0" indent="0">
              <a:buNone/>
            </a:pPr>
            <a:r>
              <a:rPr lang="en-US" sz="1060" dirty="0">
                <a:solidFill>
                  <a:srgbClr val="3D47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Analyze the query, decompose the task, and decide which tool to use.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481328"/>
            <a:ext cx="2029968" cy="1755648"/>
          </a:xfrm>
          <a:prstGeom prst="rect">
            <a:avLst/>
          </a:prstGeom>
          <a:solidFill>
            <a:srgbClr val="E3F3FD"/>
          </a:solidFill>
          <a:ln w="25400">
            <a:solidFill>
              <a:srgbClr val="84C7F4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4C7F4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
</a:t>
            </a:r>
            <a:endParaRPr lang="en-US" sz="1200" dirty="0"/>
          </a:p>
          <a:p>
            <a:pPr marL="0" indent="0">
              <a:buNone/>
            </a:pPr>
            <a:r>
              <a:rPr lang="en-US" sz="173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Executor
</a:t>
            </a:r>
            <a:endParaRPr lang="en-US" sz="1200" dirty="0"/>
          </a:p>
          <a:p>
            <a:pPr marL="0" indent="0">
              <a:buNone/>
            </a:pPr>
            <a:r>
              <a:rPr lang="en-US" sz="1060" dirty="0">
                <a:solidFill>
                  <a:srgbClr val="3D47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Convert planned actions into executable commands and run tools.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1481328"/>
            <a:ext cx="2029968" cy="1755648"/>
          </a:xfrm>
          <a:prstGeom prst="rect">
            <a:avLst/>
          </a:prstGeom>
          <a:solidFill>
            <a:srgbClr val="EAF2DC"/>
          </a:solidFill>
          <a:ln w="25400">
            <a:solidFill>
              <a:srgbClr val="7EA045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EA04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04
</a:t>
            </a:r>
            <a:endParaRPr lang="en-US" sz="1200" dirty="0"/>
          </a:p>
          <a:p>
            <a:pPr marL="0" indent="0">
              <a:buNone/>
            </a:pPr>
            <a:r>
              <a:rPr lang="en-US" sz="173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Context Verifier
</a:t>
            </a:r>
            <a:endParaRPr lang="en-US" sz="1200" dirty="0"/>
          </a:p>
          <a:p>
            <a:pPr marL="0" indent="0">
              <a:buNone/>
            </a:pPr>
            <a:r>
              <a:rPr lang="en-US" sz="1060" dirty="0">
                <a:solidFill>
                  <a:srgbClr val="3D47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Check whether intermediate results are complete, consistent, and sufficient.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46920" y="1481328"/>
            <a:ext cx="2029968" cy="1755648"/>
          </a:xfrm>
          <a:prstGeom prst="rect">
            <a:avLst/>
          </a:prstGeom>
          <a:solidFill>
            <a:srgbClr val="ECE9FB"/>
          </a:solidFill>
          <a:ln w="25400">
            <a:solidFill>
              <a:srgbClr val="8F80D8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8F80D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05
</a:t>
            </a:r>
            <a:endParaRPr lang="en-US" sz="1200" dirty="0"/>
          </a:p>
          <a:p>
            <a:pPr marL="0" indent="0">
              <a:buNone/>
            </a:pPr>
            <a:r>
              <a:rPr lang="en-US" sz="173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Solution Summarizer
</a:t>
            </a:r>
            <a:endParaRPr lang="en-US" sz="1200" dirty="0"/>
          </a:p>
          <a:p>
            <a:pPr marL="0" indent="0">
              <a:buNone/>
            </a:pPr>
            <a:r>
              <a:rPr lang="en-US" sz="1060" dirty="0">
                <a:solidFill>
                  <a:srgbClr val="3D4755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Integrate the full reasoning trajectory and generate the final answer.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406908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6324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Key idea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" y="4462272"/>
            <a:ext cx="10972800" cy="0"/>
          </a:xfrm>
          <a:prstGeom prst="line">
            <a:avLst/>
          </a:prstGeom>
          <a:noFill/>
          <a:ln w="15240">
            <a:solidFill>
              <a:srgbClr val="D6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365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Planning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685800" y="50749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57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decide what to 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83864" y="47365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Execution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3483864" y="50749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57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turn actions into commands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81928" y="47365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Verification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6281928" y="50749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57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judge whether the context is enough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79992" y="473659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22222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Summarization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9079992" y="50749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A6573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produce the final answer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927080" cy="420624"/>
          </a:xfrm>
          <a:prstGeom prst="rect">
            <a:avLst/>
          </a:prstGeom>
          <a:solidFill>
            <a:srgbClr val="263241"/>
          </a:solidFill>
          <a:ln>
            <a:solidFill>
              <a:srgbClr val="263241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OctoTools transforms </a:t>
            </a:r>
            <a:r>
              <a:rPr lang="en-US" sz="132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LLM reasoning from direct answering into a closed-loop process of planning, tool execution, verification, and summarization.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Sample demonstration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5420" y="1729740"/>
            <a:ext cx="11633835" cy="4539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48660"/>
            <a:ext cx="10969200" cy="705600"/>
          </a:xfrm>
        </p:spPr>
        <p:txBody>
          <a:bodyPr/>
          <a:p>
            <a:r>
              <a:rPr lang="en-US" altLang="zh-CN"/>
              <a:t>Accuracy scores across 16 benchmarks.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34920" y="989330"/>
            <a:ext cx="6650990" cy="5553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79245"/>
            <a:ext cx="10968990" cy="45808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96615"/>
            <a:ext cx="10969200" cy="705600"/>
          </a:xfrm>
        </p:spPr>
        <p:txBody>
          <a:bodyPr>
            <a:normAutofit fontScale="90000"/>
          </a:bodyPr>
          <a:p>
            <a:r>
              <a:rPr lang="en-US" altLang="zh-CN"/>
              <a:t>Comparison with agent frameworks using the same toolbox.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88565" y="1141095"/>
            <a:ext cx="7005955" cy="56197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Tool usage distribution.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5785" y="1490345"/>
            <a:ext cx="11011535" cy="5114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Average accuracy across 16 benchmarks w.r.t. maximum allowed reasoning steps.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6870" y="1490345"/>
            <a:ext cx="6621145" cy="5166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ABLATION STUDY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8600"/>
            <a:ext cx="10968990" cy="42221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Limitations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Greedy toolset optimization does not guarantee global optima.</a:t>
            </a:r>
            <a:endParaRPr lang="en-US" altLang="zh-CN"/>
          </a:p>
          <a:p>
            <a:r>
              <a:rPr lang="en-US" altLang="zh-CN"/>
              <a:t>Tool selection is task-level rather than query-level.</a:t>
            </a:r>
            <a:endParaRPr lang="en-US" altLang="zh-CN"/>
          </a:p>
          <a:p>
            <a:r>
              <a:rPr lang="en-US" altLang="zh-CN"/>
              <a:t>Inference is constrained by time or step limits.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2384</Words>
  <Application>WPS 演示</Application>
  <PresentationFormat>宽屏</PresentationFormat>
  <Paragraphs>85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Arial</vt:lpstr>
      <vt:lpstr>Arial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  <vt:lpstr>Research background</vt:lpstr>
      <vt:lpstr>Research purpose</vt:lpstr>
      <vt:lpstr>The overall framework of OctoTools</vt:lpstr>
      <vt:lpstr>PowerPoint 演示文稿</vt:lpstr>
      <vt:lpstr>Sample demonstration</vt:lpstr>
      <vt:lpstr>Accuracy scores across 16 benchmarks.</vt:lpstr>
      <vt:lpstr>EXPERIMENTS</vt:lpstr>
      <vt:lpstr>Comparison with agent frameworks using the same toolbox.</vt:lpstr>
      <vt:lpstr>Tool usage distribution.</vt:lpstr>
      <vt:lpstr>Average accuracy across 16 benchmarks w.r.t. maximum allowed reasoning steps.</vt:lpstr>
      <vt:lpstr>ABLATION STUDY</vt:lpstr>
      <vt:lpstr>Limitations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龟子</cp:lastModifiedBy>
  <cp:revision>172</cp:revision>
  <dcterms:created xsi:type="dcterms:W3CDTF">2026-07-07T02:49:03Z</dcterms:created>
  <dcterms:modified xsi:type="dcterms:W3CDTF">2026-07-07T02:49:03Z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D67D440F8156C093D66C446AB5731103_41</vt:lpwstr>
  </property>
</Properties>
</file>