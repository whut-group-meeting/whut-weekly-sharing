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86" r:id="rId4"/>
    <p:sldId id="287" r:id="rId5"/>
    <p:sldId id="288" r:id="rId6"/>
    <p:sldId id="289" r:id="rId7"/>
    <p:sldId id="290" r:id="rId8"/>
    <p:sldId id="291" r:id="rId9"/>
    <p:sldId id="292" r:id="rId10"/>
    <p:sldId id="294" r:id="rId11"/>
    <p:sldId id="295" r:id="rId12"/>
    <p:sldId id="297" r:id="rId13"/>
    <p:sldId id="298" r:id="rId14"/>
    <p:sldId id="299" r:id="rId15"/>
    <p:sldId id="300" r:id="rId16"/>
    <p:sldId id="301" r:id="rId17"/>
    <p:sldId id="302" r:id="rId18"/>
    <p:sldId id="303" r:id="rId19"/>
    <p:sldId id="304" r:id="rId20"/>
    <p:sldId id="305" r:id="rId21"/>
    <p:sldId id="306" r:id="rId22"/>
    <p:sldId id="307" r:id="rId23"/>
    <p:sldId id="308" r:id="rId24"/>
    <p:sldId id="309" r:id="rId25"/>
    <p:sldId id="310" r:id="rId26"/>
    <p:sldId id="293" r:id="rId27"/>
    <p:sldId id="311" r:id="rId28"/>
    <p:sldId id="312" r:id="rId29"/>
    <p:sldId id="313" r:id="rId30"/>
    <p:sldId id="285" r:id="rId31"/>
  </p:sldIdLst>
  <p:sldSz cx="12192000" cy="6858000"/>
  <p:notesSz cx="6858000" cy="9144000"/>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86483" autoAdjust="0"/>
  </p:normalViewPr>
  <p:slideViewPr>
    <p:cSldViewPr snapToGrid="0">
      <p:cViewPr>
        <p:scale>
          <a:sx n="60" d="100"/>
          <a:sy n="60" d="100"/>
        </p:scale>
        <p:origin x="678" y="3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p:cViewPr>
        <p:scale>
          <a:sx n="1" d="100"/>
          <a:sy n="1" d="100"/>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gs" Target="tags/tag138.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matchingName="Title Slide">
  <p:cSld name="Title Slide">
    <p:spTree>
      <p:nvGrpSpPr>
        <p:cNvPr id="1" name=""/>
        <p:cNvGrpSpPr/>
        <p:nvPr/>
      </p:nvGrpSpPr>
      <p:grpSpPr>
        <a:xfrm>
          <a:off x="0" y="0"/>
          <a:ext cx="0" cy="0"/>
          <a:chOff x="0" y="0"/>
          <a:chExt cx="0" cy="0"/>
        </a:xfrm>
      </p:grpSpPr>
      <p:grpSp>
        <p:nvGrpSpPr>
          <p:cNvPr id="40" name="组合 39"/>
          <p:cNvGrpSpPr/>
          <p:nvPr/>
        </p:nvGrpSpPr>
        <p:grpSpPr>
          <a:xfrm>
            <a:off x="0" y="0"/>
            <a:ext cx="12192002" cy="6858000"/>
            <a:chOff x="0" y="0"/>
            <a:chExt cx="12192002" cy="6858000"/>
          </a:xfrm>
        </p:grpSpPr>
        <p:sp>
          <p:nvSpPr>
            <p:cNvPr id="10" name="任意多边形 9"/>
            <p:cNvSpPr/>
            <p:nvPr/>
          </p:nvSpPr>
          <p:spPr>
            <a:xfrm>
              <a:off x="0" y="4986000"/>
              <a:ext cx="12192002" cy="1872000"/>
            </a:xfrm>
            <a:custGeom>
              <a:avLst/>
              <a:gdLst>
                <a:gd name="connsiteX0" fmla="*/ 12192002 w 12192002"/>
                <a:gd name="connsiteY0" fmla="*/ 0 h 1942911"/>
                <a:gd name="connsiteX1" fmla="*/ 12192002 w 12192002"/>
                <a:gd name="connsiteY1" fmla="*/ 1942911 h 1942911"/>
                <a:gd name="connsiteX2" fmla="*/ 0 w 12192002"/>
                <a:gd name="connsiteY2" fmla="*/ 1942911 h 1942911"/>
                <a:gd name="connsiteX3" fmla="*/ 0 w 12192002"/>
                <a:gd name="connsiteY3" fmla="*/ 0 h 1942911"/>
                <a:gd name="connsiteX4" fmla="*/ 6096000 w 12192002"/>
                <a:gd name="connsiteY4" fmla="*/ 1455517 h 1942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2" h="1942911">
                  <a:moveTo>
                    <a:pt x="12192002" y="0"/>
                  </a:moveTo>
                  <a:lnTo>
                    <a:pt x="12192002" y="1942911"/>
                  </a:lnTo>
                  <a:lnTo>
                    <a:pt x="0" y="1942911"/>
                  </a:lnTo>
                  <a:lnTo>
                    <a:pt x="0" y="0"/>
                  </a:lnTo>
                  <a:lnTo>
                    <a:pt x="6096000" y="145551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6" name="矩形 5"/>
            <p:cNvSpPr/>
            <p:nvPr/>
          </p:nvSpPr>
          <p:spPr>
            <a:xfrm>
              <a:off x="0" y="0"/>
              <a:ext cx="12192002" cy="216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35" name="任意多边形 34"/>
            <p:cNvSpPr/>
            <p:nvPr/>
          </p:nvSpPr>
          <p:spPr>
            <a:xfrm>
              <a:off x="5080264" y="706022"/>
              <a:ext cx="2018771" cy="1494742"/>
            </a:xfrm>
            <a:custGeom>
              <a:avLst/>
              <a:gdLst>
                <a:gd name="connsiteX0" fmla="*/ 105213 w 607850"/>
                <a:gd name="connsiteY0" fmla="*/ 237029 h 450066"/>
                <a:gd name="connsiteX1" fmla="*/ 303784 w 607850"/>
                <a:gd name="connsiteY1" fmla="*/ 332583 h 450066"/>
                <a:gd name="connsiteX2" fmla="*/ 502355 w 607850"/>
                <a:gd name="connsiteY2" fmla="*/ 237029 h 450066"/>
                <a:gd name="connsiteX3" fmla="*/ 502355 w 607850"/>
                <a:gd name="connsiteY3" fmla="*/ 323554 h 450066"/>
                <a:gd name="connsiteX4" fmla="*/ 501884 w 607850"/>
                <a:gd name="connsiteY4" fmla="*/ 324683 h 450066"/>
                <a:gd name="connsiteX5" fmla="*/ 319233 w 607850"/>
                <a:gd name="connsiteY5" fmla="*/ 412525 h 450066"/>
                <a:gd name="connsiteX6" fmla="*/ 288430 w 607850"/>
                <a:gd name="connsiteY6" fmla="*/ 412525 h 450066"/>
                <a:gd name="connsiteX7" fmla="*/ 105213 w 607850"/>
                <a:gd name="connsiteY7" fmla="*/ 324495 h 450066"/>
                <a:gd name="connsiteX8" fmla="*/ 575837 w 607850"/>
                <a:gd name="connsiteY8" fmla="*/ 200688 h 450066"/>
                <a:gd name="connsiteX9" fmla="*/ 575837 w 607850"/>
                <a:gd name="connsiteY9" fmla="*/ 370765 h 450066"/>
                <a:gd name="connsiteX10" fmla="*/ 591549 w 607850"/>
                <a:gd name="connsiteY10" fmla="*/ 418459 h 450066"/>
                <a:gd name="connsiteX11" fmla="*/ 567839 w 607850"/>
                <a:gd name="connsiteY11" fmla="*/ 450066 h 450066"/>
                <a:gd name="connsiteX12" fmla="*/ 559842 w 607850"/>
                <a:gd name="connsiteY12" fmla="*/ 450066 h 450066"/>
                <a:gd name="connsiteX13" fmla="*/ 536226 w 607850"/>
                <a:gd name="connsiteY13" fmla="*/ 418459 h 450066"/>
                <a:gd name="connsiteX14" fmla="*/ 551844 w 607850"/>
                <a:gd name="connsiteY14" fmla="*/ 370765 h 450066"/>
                <a:gd name="connsiteX15" fmla="*/ 551844 w 607850"/>
                <a:gd name="connsiteY15" fmla="*/ 212823 h 450066"/>
                <a:gd name="connsiteX16" fmla="*/ 303784 w 607850"/>
                <a:gd name="connsiteY16" fmla="*/ 0 h 450066"/>
                <a:gd name="connsiteX17" fmla="*/ 607850 w 607850"/>
                <a:gd name="connsiteY17" fmla="*/ 146272 h 450066"/>
                <a:gd name="connsiteX18" fmla="*/ 607850 w 607850"/>
                <a:gd name="connsiteY18" fmla="*/ 159629 h 450066"/>
                <a:gd name="connsiteX19" fmla="*/ 303784 w 607850"/>
                <a:gd name="connsiteY19" fmla="*/ 305901 h 450066"/>
                <a:gd name="connsiteX20" fmla="*/ 0 w 607850"/>
                <a:gd name="connsiteY20" fmla="*/ 159817 h 450066"/>
                <a:gd name="connsiteX21" fmla="*/ 0 w 607850"/>
                <a:gd name="connsiteY21" fmla="*/ 146178 h 45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850" h="450066">
                  <a:moveTo>
                    <a:pt x="105213" y="237029"/>
                  </a:moveTo>
                  <a:lnTo>
                    <a:pt x="303784" y="332583"/>
                  </a:lnTo>
                  <a:lnTo>
                    <a:pt x="502355" y="237029"/>
                  </a:lnTo>
                  <a:lnTo>
                    <a:pt x="502355" y="323554"/>
                  </a:lnTo>
                  <a:cubicBezTo>
                    <a:pt x="502167" y="323931"/>
                    <a:pt x="502072" y="324307"/>
                    <a:pt x="501884" y="324683"/>
                  </a:cubicBezTo>
                  <a:lnTo>
                    <a:pt x="319233" y="412525"/>
                  </a:lnTo>
                  <a:lnTo>
                    <a:pt x="288430" y="412525"/>
                  </a:lnTo>
                  <a:lnTo>
                    <a:pt x="105213" y="324495"/>
                  </a:lnTo>
                  <a:close/>
                  <a:moveTo>
                    <a:pt x="575837" y="200688"/>
                  </a:moveTo>
                  <a:lnTo>
                    <a:pt x="575837" y="370765"/>
                  </a:lnTo>
                  <a:lnTo>
                    <a:pt x="591549" y="418459"/>
                  </a:lnTo>
                  <a:lnTo>
                    <a:pt x="567839" y="450066"/>
                  </a:lnTo>
                  <a:lnTo>
                    <a:pt x="559842" y="450066"/>
                  </a:lnTo>
                  <a:lnTo>
                    <a:pt x="536226" y="418459"/>
                  </a:lnTo>
                  <a:lnTo>
                    <a:pt x="551844" y="370765"/>
                  </a:lnTo>
                  <a:lnTo>
                    <a:pt x="551844" y="212823"/>
                  </a:lnTo>
                  <a:close/>
                  <a:moveTo>
                    <a:pt x="303784" y="0"/>
                  </a:moveTo>
                  <a:lnTo>
                    <a:pt x="607850" y="146272"/>
                  </a:lnTo>
                  <a:lnTo>
                    <a:pt x="607850" y="159629"/>
                  </a:lnTo>
                  <a:lnTo>
                    <a:pt x="303784" y="305901"/>
                  </a:lnTo>
                  <a:lnTo>
                    <a:pt x="0" y="159817"/>
                  </a:lnTo>
                  <a:lnTo>
                    <a:pt x="0" y="146178"/>
                  </a:ln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直接连接符 38"/>
            <p:cNvCxnSpPr/>
            <p:nvPr/>
          </p:nvCxnSpPr>
          <p:spPr>
            <a:xfrm>
              <a:off x="1319650" y="4217400"/>
              <a:ext cx="954000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 name="标题 4"/>
          <p:cNvSpPr>
            <a:spLocks noGrp="1"/>
          </p:cNvSpPr>
          <p:nvPr>
            <p:ph type="ctrTitle" hasCustomPrompt="1"/>
          </p:nvPr>
        </p:nvSpPr>
        <p:spPr>
          <a:xfrm>
            <a:off x="1229649" y="1028700"/>
            <a:ext cx="9720000" cy="2376000"/>
          </a:xfrm>
          <a:prstGeom prst="rect">
            <a:avLst/>
          </a:prstGeom>
        </p:spPr>
        <p:txBody>
          <a:bodyPr wrap="square" anchor="b">
            <a:noAutofit/>
          </a:bodyPr>
          <a:lstStyle>
            <a:lvl1pPr algn="ctr">
              <a:lnSpc>
                <a:spcPct val="100000"/>
              </a:lnSpc>
              <a:defRPr sz="5400">
                <a:ln w="19050">
                  <a:noFill/>
                </a:ln>
                <a:solidFill>
                  <a:schemeClr val="tx1"/>
                </a:solidFill>
              </a:defRPr>
            </a:lvl1pPr>
          </a:lstStyle>
          <a:p>
            <a:pPr lvl="0"/>
            <a:r>
              <a:rPr lang="zh-CN" altLang="en-US"/>
              <a:t>Click to add title</a:t>
            </a:r>
            <a:endParaRPr lang="en-US"/>
          </a:p>
        </p:txBody>
      </p:sp>
      <p:sp>
        <p:nvSpPr>
          <p:cNvPr id="9" name="副标题 8"/>
          <p:cNvSpPr>
            <a:spLocks noGrp="1"/>
          </p:cNvSpPr>
          <p:nvPr>
            <p:ph type="subTitle" sz="quarter" idx="1" hasCustomPrompt="1"/>
          </p:nvPr>
        </p:nvSpPr>
        <p:spPr>
          <a:xfrm>
            <a:off x="1229652" y="3492703"/>
            <a:ext cx="9720000" cy="648000"/>
          </a:xfrm>
          <a:prstGeom prst="rect">
            <a:avLst/>
          </a:prstGeom>
          <a:noFill/>
          <a:ln>
            <a:noFill/>
          </a:ln>
        </p:spPr>
        <p:txBody>
          <a:bodyPr vert="horz" wrap="square" lIns="91440" tIns="45720" rIns="91440" bIns="45720" rtlCol="0" anchor="t" anchorCtr="0">
            <a:normAutofit/>
          </a:bodyPr>
          <a:lstStyle>
            <a:lvl1pPr marL="0" indent="0" algn="ctr">
              <a:lnSpc>
                <a:spcPct val="100000"/>
              </a:lnSpc>
              <a:buNone/>
              <a:defRPr lang="en-US" sz="2400">
                <a:solidFill>
                  <a:schemeClr val="tx1"/>
                </a:solidFill>
                <a:latin typeface="+mj-lt"/>
              </a:defRPr>
            </a:lvl1pPr>
          </a:lstStyle>
          <a:p>
            <a:pPr lvl="0"/>
            <a:r>
              <a:rPr lang="zh-CN" altLang="en-US"/>
              <a:t>Click to add subtitle</a:t>
            </a:r>
            <a:endParaRPr lang="en-US"/>
          </a:p>
        </p:txBody>
      </p:sp>
      <p:sp>
        <p:nvSpPr>
          <p:cNvPr id="4" name="文本占位符 3"/>
          <p:cNvSpPr>
            <a:spLocks noGrp="1"/>
          </p:cNvSpPr>
          <p:nvPr>
            <p:ph type="body" sz="quarter" idx="13" hasCustomPrompt="1"/>
          </p:nvPr>
        </p:nvSpPr>
        <p:spPr>
          <a:xfrm>
            <a:off x="3674922" y="4561558"/>
            <a:ext cx="2340000" cy="432000"/>
          </a:xfrm>
          <a:prstGeom prst="rect">
            <a:avLst/>
          </a:prstGeom>
        </p:spPr>
        <p:txBody>
          <a:bodyPr wrap="square" lIns="90000" anchor="ctr">
            <a:normAutofit/>
          </a:bodyPr>
          <a:lstStyle>
            <a:lvl1pPr marL="0" indent="0" algn="l">
              <a:lnSpc>
                <a:spcPct val="100000"/>
              </a:lnSpc>
              <a:buNone/>
              <a:defRPr sz="1400"/>
            </a:lvl1pPr>
          </a:lstStyle>
          <a:p>
            <a:pPr lvl="0"/>
            <a:r>
              <a:rPr lang="zh-CN" altLang="en-US"/>
              <a:t>Presenter name</a:t>
            </a:r>
            <a:endParaRPr lang="en-US"/>
          </a:p>
        </p:txBody>
      </p:sp>
      <p:sp>
        <p:nvSpPr>
          <p:cNvPr id="7" name="文本占位符 6"/>
          <p:cNvSpPr>
            <a:spLocks noGrp="1"/>
          </p:cNvSpPr>
          <p:nvPr>
            <p:ph type="body" sz="quarter" idx="14" hasCustomPrompt="1"/>
          </p:nvPr>
        </p:nvSpPr>
        <p:spPr>
          <a:xfrm>
            <a:off x="6896452" y="4561558"/>
            <a:ext cx="2340000" cy="432000"/>
          </a:xfrm>
          <a:prstGeom prst="rect">
            <a:avLst/>
          </a:prstGeom>
        </p:spPr>
        <p:txBody>
          <a:bodyPr wrap="none" anchor="ctr">
            <a:normAutofit/>
          </a:bodyPr>
          <a:lstStyle>
            <a:lvl1pPr marL="0" indent="0" algn="l">
              <a:lnSpc>
                <a:spcPct val="100000"/>
              </a:lnSpc>
              <a:buNone/>
              <a:defRPr sz="1400"/>
            </a:lvl1pPr>
          </a:lstStyle>
          <a:p>
            <a:pPr lvl="0"/>
            <a:r>
              <a:rPr lang="zh-CN" altLang="en-US"/>
              <a:t>20XX.XX.XX</a:t>
            </a:r>
            <a:endParaRPr lang="en-US"/>
          </a:p>
        </p:txBody>
      </p:sp>
      <p:grpSp>
        <p:nvGrpSpPr>
          <p:cNvPr id="36" name="组合 35"/>
          <p:cNvGrpSpPr/>
          <p:nvPr/>
        </p:nvGrpSpPr>
        <p:grpSpPr>
          <a:xfrm>
            <a:off x="3118380" y="4543558"/>
            <a:ext cx="468000" cy="468000"/>
            <a:chOff x="3118380" y="4543558"/>
            <a:chExt cx="468000" cy="468000"/>
          </a:xfrm>
        </p:grpSpPr>
        <p:sp>
          <p:nvSpPr>
            <p:cNvPr id="14" name="椭圆 13"/>
            <p:cNvSpPr>
              <a:spLocks noChangeAspect="1"/>
            </p:cNvSpPr>
            <p:nvPr/>
          </p:nvSpPr>
          <p:spPr>
            <a:xfrm>
              <a:off x="3118380" y="4543558"/>
              <a:ext cx="468000" cy="468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26"/>
            <p:cNvSpPr>
              <a:spLocks noChangeAspect="1"/>
            </p:cNvSpPr>
            <p:nvPr/>
          </p:nvSpPr>
          <p:spPr>
            <a:xfrm>
              <a:off x="3232712" y="4651558"/>
              <a:ext cx="239337" cy="252000"/>
            </a:xfrm>
            <a:custGeom>
              <a:avLst/>
              <a:gdLst>
                <a:gd name="T0" fmla="*/ 6150 w 6474"/>
                <a:gd name="T1" fmla="*/ 5849 h 6827"/>
                <a:gd name="T2" fmla="*/ 4672 w 6474"/>
                <a:gd name="T3" fmla="*/ 4081 h 6827"/>
                <a:gd name="T4" fmla="*/ 3237 w 6474"/>
                <a:gd name="T5" fmla="*/ 0 h 6827"/>
                <a:gd name="T6" fmla="*/ 1802 w 6474"/>
                <a:gd name="T7" fmla="*/ 4081 h 6827"/>
                <a:gd name="T8" fmla="*/ 325 w 6474"/>
                <a:gd name="T9" fmla="*/ 5849 h 6827"/>
                <a:gd name="T10" fmla="*/ 782 w 6474"/>
                <a:gd name="T11" fmla="*/ 6827 h 6827"/>
                <a:gd name="T12" fmla="*/ 5693 w 6474"/>
                <a:gd name="T13" fmla="*/ 6827 h 6827"/>
                <a:gd name="T14" fmla="*/ 6150 w 6474"/>
                <a:gd name="T15" fmla="*/ 5849 h 6827"/>
                <a:gd name="T16" fmla="*/ 1509 w 6474"/>
                <a:gd name="T17" fmla="*/ 2427 h 6827"/>
                <a:gd name="T18" fmla="*/ 3237 w 6474"/>
                <a:gd name="T19" fmla="*/ 557 h 6827"/>
                <a:gd name="T20" fmla="*/ 4913 w 6474"/>
                <a:gd name="T21" fmla="*/ 1866 h 6827"/>
                <a:gd name="T22" fmla="*/ 2472 w 6474"/>
                <a:gd name="T23" fmla="*/ 1687 h 6827"/>
                <a:gd name="T24" fmla="*/ 2006 w 6474"/>
                <a:gd name="T25" fmla="*/ 1762 h 6827"/>
                <a:gd name="T26" fmla="*/ 1509 w 6474"/>
                <a:gd name="T27" fmla="*/ 2427 h 6827"/>
                <a:gd name="T28" fmla="*/ 1651 w 6474"/>
                <a:gd name="T29" fmla="*/ 3012 h 6827"/>
                <a:gd name="T30" fmla="*/ 2335 w 6474"/>
                <a:gd name="T31" fmla="*/ 2326 h 6827"/>
                <a:gd name="T32" fmla="*/ 4958 w 6474"/>
                <a:gd name="T33" fmla="*/ 2517 h 6827"/>
                <a:gd name="T34" fmla="*/ 1651 w 6474"/>
                <a:gd name="T35" fmla="*/ 3012 h 6827"/>
                <a:gd name="T36" fmla="*/ 4053 w 6474"/>
                <a:gd name="T37" fmla="*/ 4435 h 6827"/>
                <a:gd name="T38" fmla="*/ 2422 w 6474"/>
                <a:gd name="T39" fmla="*/ 4435 h 6827"/>
                <a:gd name="T40" fmla="*/ 4053 w 6474"/>
                <a:gd name="T41" fmla="*/ 4435 h 6827"/>
                <a:gd name="T42" fmla="*/ 5693 w 6474"/>
                <a:gd name="T43" fmla="*/ 6270 h 6827"/>
                <a:gd name="T44" fmla="*/ 782 w 6474"/>
                <a:gd name="T45" fmla="*/ 6270 h 6827"/>
                <a:gd name="T46" fmla="*/ 752 w 6474"/>
                <a:gd name="T47" fmla="*/ 6206 h 6827"/>
                <a:gd name="T48" fmla="*/ 1965 w 6474"/>
                <a:gd name="T49" fmla="*/ 4754 h 6827"/>
                <a:gd name="T50" fmla="*/ 4510 w 6474"/>
                <a:gd name="T51" fmla="*/ 4755 h 6827"/>
                <a:gd name="T52" fmla="*/ 5723 w 6474"/>
                <a:gd name="T53" fmla="*/ 6206 h 6827"/>
                <a:gd name="T54" fmla="*/ 5693 w 6474"/>
                <a:gd name="T55" fmla="*/ 6270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474" h="6826">
                  <a:moveTo>
                    <a:pt x="6150" y="5849"/>
                  </a:moveTo>
                  <a:lnTo>
                    <a:pt x="4672" y="4081"/>
                  </a:lnTo>
                  <a:cubicBezTo>
                    <a:pt x="6334" y="2771"/>
                    <a:pt x="5433" y="0"/>
                    <a:pt x="3237" y="0"/>
                  </a:cubicBezTo>
                  <a:cubicBezTo>
                    <a:pt x="1047" y="0"/>
                    <a:pt x="134" y="2766"/>
                    <a:pt x="1802" y="4081"/>
                  </a:cubicBezTo>
                  <a:lnTo>
                    <a:pt x="325" y="5849"/>
                  </a:lnTo>
                  <a:cubicBezTo>
                    <a:pt x="0" y="6237"/>
                    <a:pt x="276" y="6827"/>
                    <a:pt x="782" y="6827"/>
                  </a:cubicBezTo>
                  <a:lnTo>
                    <a:pt x="5693" y="6827"/>
                  </a:lnTo>
                  <a:cubicBezTo>
                    <a:pt x="6199" y="6827"/>
                    <a:pt x="6474" y="6236"/>
                    <a:pt x="6150" y="5849"/>
                  </a:cubicBezTo>
                  <a:close/>
                  <a:moveTo>
                    <a:pt x="1509" y="2427"/>
                  </a:moveTo>
                  <a:cubicBezTo>
                    <a:pt x="1446" y="1415"/>
                    <a:pt x="2213" y="557"/>
                    <a:pt x="3237" y="557"/>
                  </a:cubicBezTo>
                  <a:cubicBezTo>
                    <a:pt x="3991" y="557"/>
                    <a:pt x="4706" y="1049"/>
                    <a:pt x="4913" y="1866"/>
                  </a:cubicBezTo>
                  <a:cubicBezTo>
                    <a:pt x="4202" y="2480"/>
                    <a:pt x="3109" y="2420"/>
                    <a:pt x="2472" y="1687"/>
                  </a:cubicBezTo>
                  <a:cubicBezTo>
                    <a:pt x="2337" y="1532"/>
                    <a:pt x="2086" y="1572"/>
                    <a:pt x="2006" y="1762"/>
                  </a:cubicBezTo>
                  <a:cubicBezTo>
                    <a:pt x="1896" y="2022"/>
                    <a:pt x="1725" y="2250"/>
                    <a:pt x="1509" y="2427"/>
                  </a:cubicBezTo>
                  <a:close/>
                  <a:moveTo>
                    <a:pt x="1651" y="3012"/>
                  </a:moveTo>
                  <a:cubicBezTo>
                    <a:pt x="1926" y="2834"/>
                    <a:pt x="2159" y="2600"/>
                    <a:pt x="2335" y="2326"/>
                  </a:cubicBezTo>
                  <a:cubicBezTo>
                    <a:pt x="3080" y="2932"/>
                    <a:pt x="4124" y="3014"/>
                    <a:pt x="4958" y="2517"/>
                  </a:cubicBezTo>
                  <a:cubicBezTo>
                    <a:pt x="4763" y="4234"/>
                    <a:pt x="2357" y="4593"/>
                    <a:pt x="1651" y="3012"/>
                  </a:cubicBezTo>
                  <a:close/>
                  <a:moveTo>
                    <a:pt x="4053" y="4435"/>
                  </a:moveTo>
                  <a:cubicBezTo>
                    <a:pt x="3614" y="5198"/>
                    <a:pt x="2860" y="5197"/>
                    <a:pt x="2422" y="4435"/>
                  </a:cubicBezTo>
                  <a:cubicBezTo>
                    <a:pt x="2946" y="4634"/>
                    <a:pt x="3528" y="4634"/>
                    <a:pt x="4053" y="4435"/>
                  </a:cubicBezTo>
                  <a:close/>
                  <a:moveTo>
                    <a:pt x="5693" y="6270"/>
                  </a:moveTo>
                  <a:lnTo>
                    <a:pt x="782" y="6270"/>
                  </a:lnTo>
                  <a:cubicBezTo>
                    <a:pt x="748" y="6270"/>
                    <a:pt x="730" y="6232"/>
                    <a:pt x="752" y="6206"/>
                  </a:cubicBezTo>
                  <a:lnTo>
                    <a:pt x="1965" y="4754"/>
                  </a:lnTo>
                  <a:cubicBezTo>
                    <a:pt x="2617" y="5833"/>
                    <a:pt x="3858" y="5837"/>
                    <a:pt x="4510" y="4755"/>
                  </a:cubicBezTo>
                  <a:lnTo>
                    <a:pt x="5723" y="6206"/>
                  </a:lnTo>
                  <a:cubicBezTo>
                    <a:pt x="5745" y="6232"/>
                    <a:pt x="5727" y="6270"/>
                    <a:pt x="5693" y="6270"/>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37" name="组合 36"/>
          <p:cNvGrpSpPr/>
          <p:nvPr/>
        </p:nvGrpSpPr>
        <p:grpSpPr>
          <a:xfrm>
            <a:off x="6338279" y="4543558"/>
            <a:ext cx="468000" cy="468000"/>
            <a:chOff x="6338279" y="4543558"/>
            <a:chExt cx="468000" cy="468000"/>
          </a:xfrm>
        </p:grpSpPr>
        <p:sp>
          <p:nvSpPr>
            <p:cNvPr id="20" name="椭圆 19"/>
            <p:cNvSpPr>
              <a:spLocks noChangeAspect="1"/>
            </p:cNvSpPr>
            <p:nvPr/>
          </p:nvSpPr>
          <p:spPr>
            <a:xfrm>
              <a:off x="6338279" y="4543558"/>
              <a:ext cx="468000" cy="468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a:spLocks noChangeAspect="1"/>
            </p:cNvSpPr>
            <p:nvPr/>
          </p:nvSpPr>
          <p:spPr>
            <a:xfrm>
              <a:off x="6460771" y="4651558"/>
              <a:ext cx="223017" cy="252000"/>
            </a:xfrm>
            <a:custGeom>
              <a:avLst/>
              <a:gdLst>
                <a:gd name="T0" fmla="*/ 4674 w 6479"/>
                <a:gd name="T1" fmla="*/ 4582 h 7332"/>
                <a:gd name="T2" fmla="*/ 5533 w 6479"/>
                <a:gd name="T3" fmla="*/ 3453 h 7332"/>
                <a:gd name="T4" fmla="*/ 5396 w 6479"/>
                <a:gd name="T5" fmla="*/ 2009 h 7332"/>
                <a:gd name="T6" fmla="*/ 946 w 6479"/>
                <a:gd name="T7" fmla="*/ 2249 h 7332"/>
                <a:gd name="T8" fmla="*/ 1140 w 6479"/>
                <a:gd name="T9" fmla="*/ 3719 h 7332"/>
                <a:gd name="T10" fmla="*/ 324 w 6479"/>
                <a:gd name="T11" fmla="*/ 6353 h 7332"/>
                <a:gd name="T12" fmla="*/ 5697 w 6479"/>
                <a:gd name="T13" fmla="*/ 7332 h 7332"/>
                <a:gd name="T14" fmla="*/ 4976 w 6479"/>
                <a:gd name="T15" fmla="*/ 2528 h 7332"/>
                <a:gd name="T16" fmla="*/ 4038 w 6479"/>
                <a:gd name="T17" fmla="*/ 3174 h 7332"/>
                <a:gd name="T18" fmla="*/ 4976 w 6479"/>
                <a:gd name="T19" fmla="*/ 2528 h 7332"/>
                <a:gd name="T20" fmla="*/ 3759 w 6479"/>
                <a:gd name="T21" fmla="*/ 1971 h 7332"/>
                <a:gd name="T22" fmla="*/ 3481 w 6479"/>
                <a:gd name="T23" fmla="*/ 2572 h 7332"/>
                <a:gd name="T24" fmla="*/ 2998 w 6479"/>
                <a:gd name="T25" fmla="*/ 2249 h 7332"/>
                <a:gd name="T26" fmla="*/ 1706 w 6479"/>
                <a:gd name="T27" fmla="*/ 1971 h 7332"/>
                <a:gd name="T28" fmla="*/ 1503 w 6479"/>
                <a:gd name="T29" fmla="*/ 3174 h 7332"/>
                <a:gd name="T30" fmla="*/ 2441 w 6479"/>
                <a:gd name="T31" fmla="*/ 2528 h 7332"/>
                <a:gd name="T32" fmla="*/ 1503 w 6479"/>
                <a:gd name="T33" fmla="*/ 3174 h 7332"/>
                <a:gd name="T34" fmla="*/ 2719 w 6479"/>
                <a:gd name="T35" fmla="*/ 3731 h 7332"/>
                <a:gd name="T36" fmla="*/ 2998 w 6479"/>
                <a:gd name="T37" fmla="*/ 3130 h 7332"/>
                <a:gd name="T38" fmla="*/ 3481 w 6479"/>
                <a:gd name="T39" fmla="*/ 3453 h 7332"/>
                <a:gd name="T40" fmla="*/ 4701 w 6479"/>
                <a:gd name="T41" fmla="*/ 3731 h 7332"/>
                <a:gd name="T42" fmla="*/ 3703 w 6479"/>
                <a:gd name="T43" fmla="*/ 5617 h 7332"/>
                <a:gd name="T44" fmla="*/ 2914 w 6479"/>
                <a:gd name="T45" fmla="*/ 5065 h 7332"/>
                <a:gd name="T46" fmla="*/ 3703 w 6479"/>
                <a:gd name="T47" fmla="*/ 5617 h 7332"/>
                <a:gd name="T48" fmla="*/ 782 w 6479"/>
                <a:gd name="T49" fmla="*/ 6774 h 7332"/>
                <a:gd name="T50" fmla="*/ 2283 w 6479"/>
                <a:gd name="T51" fmla="*/ 4879 h 7332"/>
                <a:gd name="T52" fmla="*/ 1914 w 6479"/>
                <a:gd name="T53" fmla="*/ 6774 h 7332"/>
                <a:gd name="T54" fmla="*/ 2637 w 6479"/>
                <a:gd name="T55" fmla="*/ 6174 h 7332"/>
                <a:gd name="T56" fmla="*/ 3992 w 6479"/>
                <a:gd name="T57" fmla="*/ 6774 h 7332"/>
                <a:gd name="T58" fmla="*/ 5697 w 6479"/>
                <a:gd name="T59" fmla="*/ 6774 h 7332"/>
                <a:gd name="T60" fmla="*/ 4103 w 6479"/>
                <a:gd name="T61" fmla="*/ 4919 h 7332"/>
                <a:gd name="T62" fmla="*/ 5727 w 6479"/>
                <a:gd name="T63" fmla="*/ 6710 h 7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479" h="7331">
                  <a:moveTo>
                    <a:pt x="6154" y="6353"/>
                  </a:moveTo>
                  <a:lnTo>
                    <a:pt x="4674" y="4582"/>
                  </a:lnTo>
                  <a:cubicBezTo>
                    <a:pt x="4961" y="4352"/>
                    <a:pt x="5190" y="4055"/>
                    <a:pt x="5338" y="3719"/>
                  </a:cubicBezTo>
                  <a:cubicBezTo>
                    <a:pt x="5451" y="3683"/>
                    <a:pt x="5533" y="3577"/>
                    <a:pt x="5533" y="3453"/>
                  </a:cubicBezTo>
                  <a:lnTo>
                    <a:pt x="5533" y="2249"/>
                  </a:lnTo>
                  <a:cubicBezTo>
                    <a:pt x="5533" y="2147"/>
                    <a:pt x="5478" y="2058"/>
                    <a:pt x="5396" y="2009"/>
                  </a:cubicBezTo>
                  <a:cubicBezTo>
                    <a:pt x="4680" y="0"/>
                    <a:pt x="1797" y="7"/>
                    <a:pt x="1083" y="2009"/>
                  </a:cubicBezTo>
                  <a:cubicBezTo>
                    <a:pt x="1001" y="2058"/>
                    <a:pt x="946" y="2147"/>
                    <a:pt x="946" y="2249"/>
                  </a:cubicBezTo>
                  <a:lnTo>
                    <a:pt x="946" y="3453"/>
                  </a:lnTo>
                  <a:cubicBezTo>
                    <a:pt x="946" y="3577"/>
                    <a:pt x="1028" y="3683"/>
                    <a:pt x="1140" y="3719"/>
                  </a:cubicBezTo>
                  <a:cubicBezTo>
                    <a:pt x="1289" y="4055"/>
                    <a:pt x="1517" y="4352"/>
                    <a:pt x="1805" y="4582"/>
                  </a:cubicBezTo>
                  <a:lnTo>
                    <a:pt x="324" y="6353"/>
                  </a:lnTo>
                  <a:cubicBezTo>
                    <a:pt x="0" y="6741"/>
                    <a:pt x="276" y="7332"/>
                    <a:pt x="782" y="7332"/>
                  </a:cubicBezTo>
                  <a:lnTo>
                    <a:pt x="5697" y="7332"/>
                  </a:lnTo>
                  <a:cubicBezTo>
                    <a:pt x="6203" y="7332"/>
                    <a:pt x="6479" y="6741"/>
                    <a:pt x="6154" y="6353"/>
                  </a:cubicBezTo>
                  <a:close/>
                  <a:moveTo>
                    <a:pt x="4976" y="2528"/>
                  </a:moveTo>
                  <a:lnTo>
                    <a:pt x="4976" y="3174"/>
                  </a:lnTo>
                  <a:lnTo>
                    <a:pt x="4038" y="3174"/>
                  </a:lnTo>
                  <a:lnTo>
                    <a:pt x="4038" y="2528"/>
                  </a:lnTo>
                  <a:lnTo>
                    <a:pt x="4976" y="2528"/>
                  </a:lnTo>
                  <a:close/>
                  <a:moveTo>
                    <a:pt x="4773" y="1971"/>
                  </a:moveTo>
                  <a:lnTo>
                    <a:pt x="3759" y="1971"/>
                  </a:lnTo>
                  <a:cubicBezTo>
                    <a:pt x="3606" y="1971"/>
                    <a:pt x="3481" y="2095"/>
                    <a:pt x="3481" y="2249"/>
                  </a:cubicBezTo>
                  <a:lnTo>
                    <a:pt x="3481" y="2572"/>
                  </a:lnTo>
                  <a:lnTo>
                    <a:pt x="2998" y="2572"/>
                  </a:lnTo>
                  <a:lnTo>
                    <a:pt x="2998" y="2249"/>
                  </a:lnTo>
                  <a:cubicBezTo>
                    <a:pt x="2998" y="2095"/>
                    <a:pt x="2873" y="1971"/>
                    <a:pt x="2719" y="1971"/>
                  </a:cubicBezTo>
                  <a:lnTo>
                    <a:pt x="1706" y="1971"/>
                  </a:lnTo>
                  <a:cubicBezTo>
                    <a:pt x="2333" y="759"/>
                    <a:pt x="4145" y="758"/>
                    <a:pt x="4773" y="1971"/>
                  </a:cubicBezTo>
                  <a:close/>
                  <a:moveTo>
                    <a:pt x="1503" y="3174"/>
                  </a:moveTo>
                  <a:lnTo>
                    <a:pt x="1503" y="2528"/>
                  </a:lnTo>
                  <a:lnTo>
                    <a:pt x="2441" y="2528"/>
                  </a:lnTo>
                  <a:lnTo>
                    <a:pt x="2441" y="3174"/>
                  </a:lnTo>
                  <a:lnTo>
                    <a:pt x="1503" y="3174"/>
                  </a:lnTo>
                  <a:close/>
                  <a:moveTo>
                    <a:pt x="1778" y="3731"/>
                  </a:moveTo>
                  <a:lnTo>
                    <a:pt x="2719" y="3731"/>
                  </a:lnTo>
                  <a:cubicBezTo>
                    <a:pt x="2873" y="3731"/>
                    <a:pt x="2998" y="3607"/>
                    <a:pt x="2998" y="3453"/>
                  </a:cubicBezTo>
                  <a:lnTo>
                    <a:pt x="2998" y="3130"/>
                  </a:lnTo>
                  <a:lnTo>
                    <a:pt x="3481" y="3130"/>
                  </a:lnTo>
                  <a:lnTo>
                    <a:pt x="3481" y="3453"/>
                  </a:lnTo>
                  <a:cubicBezTo>
                    <a:pt x="3481" y="3607"/>
                    <a:pt x="3606" y="3731"/>
                    <a:pt x="3759" y="3731"/>
                  </a:cubicBezTo>
                  <a:lnTo>
                    <a:pt x="4701" y="3731"/>
                  </a:lnTo>
                  <a:cubicBezTo>
                    <a:pt x="4022" y="4786"/>
                    <a:pt x="2466" y="4802"/>
                    <a:pt x="1778" y="3731"/>
                  </a:cubicBezTo>
                  <a:close/>
                  <a:moveTo>
                    <a:pt x="3703" y="5617"/>
                  </a:moveTo>
                  <a:lnTo>
                    <a:pt x="2776" y="5617"/>
                  </a:lnTo>
                  <a:cubicBezTo>
                    <a:pt x="2817" y="5453"/>
                    <a:pt x="2863" y="5270"/>
                    <a:pt x="2914" y="5065"/>
                  </a:cubicBezTo>
                  <a:cubicBezTo>
                    <a:pt x="3126" y="5095"/>
                    <a:pt x="3347" y="5096"/>
                    <a:pt x="3565" y="5065"/>
                  </a:cubicBezTo>
                  <a:cubicBezTo>
                    <a:pt x="3616" y="5269"/>
                    <a:pt x="3662" y="5453"/>
                    <a:pt x="3703" y="5617"/>
                  </a:cubicBezTo>
                  <a:close/>
                  <a:moveTo>
                    <a:pt x="1914" y="6774"/>
                  </a:moveTo>
                  <a:lnTo>
                    <a:pt x="782" y="6774"/>
                  </a:lnTo>
                  <a:cubicBezTo>
                    <a:pt x="748" y="6774"/>
                    <a:pt x="730" y="6736"/>
                    <a:pt x="752" y="6710"/>
                  </a:cubicBezTo>
                  <a:lnTo>
                    <a:pt x="2283" y="4879"/>
                  </a:lnTo>
                  <a:cubicBezTo>
                    <a:pt x="2318" y="4895"/>
                    <a:pt x="2345" y="4906"/>
                    <a:pt x="2376" y="4919"/>
                  </a:cubicBezTo>
                  <a:cubicBezTo>
                    <a:pt x="2077" y="6116"/>
                    <a:pt x="1965" y="6558"/>
                    <a:pt x="1914" y="6774"/>
                  </a:cubicBezTo>
                  <a:close/>
                  <a:moveTo>
                    <a:pt x="2487" y="6774"/>
                  </a:moveTo>
                  <a:cubicBezTo>
                    <a:pt x="2518" y="6649"/>
                    <a:pt x="2565" y="6460"/>
                    <a:pt x="2637" y="6174"/>
                  </a:cubicBezTo>
                  <a:lnTo>
                    <a:pt x="3842" y="6174"/>
                  </a:lnTo>
                  <a:cubicBezTo>
                    <a:pt x="3914" y="6460"/>
                    <a:pt x="3961" y="6649"/>
                    <a:pt x="3992" y="6774"/>
                  </a:cubicBezTo>
                  <a:lnTo>
                    <a:pt x="2487" y="6774"/>
                  </a:lnTo>
                  <a:close/>
                  <a:moveTo>
                    <a:pt x="5697" y="6774"/>
                  </a:moveTo>
                  <a:lnTo>
                    <a:pt x="4565" y="6774"/>
                  </a:lnTo>
                  <a:cubicBezTo>
                    <a:pt x="4513" y="6557"/>
                    <a:pt x="4400" y="6108"/>
                    <a:pt x="4103" y="4919"/>
                  </a:cubicBezTo>
                  <a:cubicBezTo>
                    <a:pt x="4133" y="4906"/>
                    <a:pt x="4158" y="4896"/>
                    <a:pt x="4196" y="4879"/>
                  </a:cubicBezTo>
                  <a:lnTo>
                    <a:pt x="5727" y="6710"/>
                  </a:lnTo>
                  <a:cubicBezTo>
                    <a:pt x="5748" y="6736"/>
                    <a:pt x="5731" y="6774"/>
                    <a:pt x="5697" y="6774"/>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Tree>
  </p:cSld>
  <p:clrMapOvr>
    <a:overrideClrMapping bg1="lt1" tx1="dk1" bg2="lt2" tx2="dk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zh-CN" altLang="en-US"/>
              <a:t>Click to add title</a:t>
            </a:r>
            <a:endParaRPr lang="en-US"/>
          </a:p>
        </p:txBody>
      </p:sp>
      <p:sp>
        <p:nvSpPr>
          <p:cNvPr id="3" name="内容占位符 2"/>
          <p:cNvSpPr>
            <a:spLocks noGrp="1"/>
          </p:cNvSpPr>
          <p:nvPr>
            <p:ph idx="1" hasCustomPrompt="1"/>
          </p:nvPr>
        </p:nvSpPr>
        <p:spPr/>
        <p:txBody>
          <a:bodyPr/>
          <a:lstStyle>
            <a:lvl1pPr>
              <a:defRPr/>
            </a:lvl1pPr>
          </a:lstStyle>
          <a:p>
            <a:pPr lvl="0"/>
            <a:r>
              <a:rPr lang="zh-CN" altLang="en-US"/>
              <a:t>Click to add text</a:t>
            </a:r>
            <a:endParaRPr lang="en-US"/>
          </a:p>
          <a:p>
            <a:pPr lvl="1"/>
            <a:r>
              <a:rPr lang="zh-CN" altLang="en-US"/>
              <a:t>Second level</a:t>
            </a:r>
            <a:endParaRPr lang="en-US"/>
          </a:p>
          <a:p>
            <a:pPr lvl="2"/>
            <a:r>
              <a:rPr lang="zh-CN" altLang="en-US"/>
              <a:t>Third level</a:t>
            </a:r>
            <a:endParaRPr lang="en-US"/>
          </a:p>
          <a:p>
            <a:pPr lvl="3"/>
            <a:r>
              <a:rPr lang="zh-CN" altLang="en-US"/>
              <a:t>Fourth level</a:t>
            </a:r>
            <a:endParaRPr lang="en-US"/>
          </a:p>
          <a:p>
            <a:pPr lvl="4"/>
            <a:r>
              <a:rPr lang="zh-CN" altLang="en-US"/>
              <a:t>Fifth level</a:t>
            </a:r>
            <a:endParaRPr lang="en-US"/>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C8BB1146-E542-4D4E-B8E9-6919A11DDD48}" type="slidenum">
              <a:rPr lang="en-US" smtClean="0"/>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matchingName="Agenda">
  <p:cSld name="Agenda">
    <p:spTree>
      <p:nvGrpSpPr>
        <p:cNvPr id="1" name=""/>
        <p:cNvGrpSpPr/>
        <p:nvPr/>
      </p:nvGrpSpPr>
      <p:grpSpPr>
        <a:xfrm>
          <a:off x="0" y="0"/>
          <a:ext cx="0" cy="0"/>
          <a:chOff x="0" y="0"/>
          <a:chExt cx="0" cy="0"/>
        </a:xfrm>
      </p:grpSpPr>
      <p:grpSp>
        <p:nvGrpSpPr>
          <p:cNvPr id="11" name="组合 10"/>
          <p:cNvGrpSpPr/>
          <p:nvPr/>
        </p:nvGrpSpPr>
        <p:grpSpPr>
          <a:xfrm>
            <a:off x="-1" y="0"/>
            <a:ext cx="12192001" cy="6858000"/>
            <a:chOff x="-1" y="0"/>
            <a:chExt cx="12192001" cy="6858000"/>
          </a:xfrm>
        </p:grpSpPr>
        <p:sp>
          <p:nvSpPr>
            <p:cNvPr id="8" name="五边形 7"/>
            <p:cNvSpPr/>
            <p:nvPr/>
          </p:nvSpPr>
          <p:spPr>
            <a:xfrm>
              <a:off x="-1" y="0"/>
              <a:ext cx="4320000" cy="6858000"/>
            </a:xfrm>
            <a:prstGeom prst="homePlate">
              <a:avLst>
                <a:gd name="adj" fmla="val 29962"/>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9" name="矩形 8"/>
            <p:cNvSpPr/>
            <p:nvPr/>
          </p:nvSpPr>
          <p:spPr>
            <a:xfrm>
              <a:off x="11976000" y="0"/>
              <a:ext cx="216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grpSp>
      <p:sp>
        <p:nvSpPr>
          <p:cNvPr id="2" name="标题 1"/>
          <p:cNvSpPr>
            <a:spLocks noGrp="1"/>
          </p:cNvSpPr>
          <p:nvPr>
            <p:ph type="title" hasCustomPrompt="1"/>
          </p:nvPr>
        </p:nvSpPr>
        <p:spPr>
          <a:xfrm>
            <a:off x="660400" y="2910914"/>
            <a:ext cx="3092734" cy="1036172"/>
          </a:xfrm>
          <a:prstGeom prst="rect">
            <a:avLst/>
          </a:prstGeom>
          <a:noFill/>
        </p:spPr>
        <p:txBody>
          <a:bodyPr anchor="t" anchorCtr="0">
            <a:normAutofit/>
          </a:bodyPr>
          <a:lstStyle>
            <a:lvl1pPr algn="ctr">
              <a:defRPr sz="4800">
                <a:solidFill>
                  <a:schemeClr val="bg1"/>
                </a:solidFill>
              </a:defRPr>
            </a:lvl1pPr>
          </a:lstStyle>
          <a:p>
            <a:pPr lvl="0"/>
            <a:r>
              <a:rPr lang="zh-CN" altLang="en-US"/>
              <a:t>Agenda</a:t>
            </a:r>
            <a:endParaRPr lang="en-US"/>
          </a:p>
        </p:txBody>
      </p:sp>
      <p:sp>
        <p:nvSpPr>
          <p:cNvPr id="3" name="内容占位符 2"/>
          <p:cNvSpPr>
            <a:spLocks noGrp="1"/>
          </p:cNvSpPr>
          <p:nvPr>
            <p:ph sz="quarter" idx="1" hasCustomPrompt="1"/>
          </p:nvPr>
        </p:nvSpPr>
        <p:spPr>
          <a:xfrm>
            <a:off x="5038900" y="1089000"/>
            <a:ext cx="6480000" cy="4680000"/>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a:t>Click to add text</a:t>
            </a:r>
            <a:endParaRPr lang="en-US"/>
          </a:p>
          <a:p>
            <a:pPr lvl="1"/>
            <a:r>
              <a:rPr lang="zh-CN" altLang="en-US"/>
              <a:t>Second level</a:t>
            </a:r>
            <a:endParaRPr lang="en-US"/>
          </a:p>
          <a:p>
            <a:pPr lvl="2"/>
            <a:r>
              <a:rPr lang="zh-CN" altLang="en-US"/>
              <a:t>Third level</a:t>
            </a:r>
            <a:endParaRPr lang="en-US"/>
          </a:p>
          <a:p>
            <a:pPr lvl="3"/>
            <a:r>
              <a:rPr lang="zh-CN" altLang="en-US"/>
              <a:t>Fourth level</a:t>
            </a:r>
            <a:endParaRPr lang="en-US"/>
          </a:p>
          <a:p>
            <a:pPr lvl="4"/>
            <a:r>
              <a:rPr lang="zh-CN" altLang="en-US"/>
              <a:t>Fifth level</a:t>
            </a:r>
            <a:endParaRPr lang="en-US"/>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C8BB1146-E542-4D4E-B8E9-6919A11DDD48}" type="slidenum">
              <a:rPr lang="en-US" smtClean="0"/>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matchingName="Section Header">
  <p:cSld name="Section Header">
    <p:bg>
      <p:bgPr>
        <a:solidFill>
          <a:schemeClr val="bg1"/>
        </a:solidFill>
        <a:effectLst/>
      </p:bgPr>
    </p:bg>
    <p:spTree>
      <p:nvGrpSpPr>
        <p:cNvPr id="1" name=""/>
        <p:cNvGrpSpPr/>
        <p:nvPr/>
      </p:nvGrpSpPr>
      <p:grpSpPr>
        <a:xfrm>
          <a:off x="0" y="0"/>
          <a:ext cx="0" cy="0"/>
          <a:chOff x="0" y="0"/>
          <a:chExt cx="0" cy="0"/>
        </a:xfrm>
      </p:grpSpPr>
      <p:grpSp>
        <p:nvGrpSpPr>
          <p:cNvPr id="18" name="组合 17"/>
          <p:cNvGrpSpPr/>
          <p:nvPr/>
        </p:nvGrpSpPr>
        <p:grpSpPr>
          <a:xfrm>
            <a:off x="0" y="0"/>
            <a:ext cx="12192002" cy="6858000"/>
            <a:chOff x="0" y="0"/>
            <a:chExt cx="12192002" cy="6858000"/>
          </a:xfrm>
        </p:grpSpPr>
        <p:sp>
          <p:nvSpPr>
            <p:cNvPr id="13" name="任意多边形 12"/>
            <p:cNvSpPr/>
            <p:nvPr/>
          </p:nvSpPr>
          <p:spPr>
            <a:xfrm flipV="1">
              <a:off x="0" y="0"/>
              <a:ext cx="12192002" cy="1872000"/>
            </a:xfrm>
            <a:custGeom>
              <a:avLst/>
              <a:gdLst>
                <a:gd name="connsiteX0" fmla="*/ 12192002 w 12192002"/>
                <a:gd name="connsiteY0" fmla="*/ 0 h 1942911"/>
                <a:gd name="connsiteX1" fmla="*/ 12192002 w 12192002"/>
                <a:gd name="connsiteY1" fmla="*/ 1942911 h 1942911"/>
                <a:gd name="connsiteX2" fmla="*/ 0 w 12192002"/>
                <a:gd name="connsiteY2" fmla="*/ 1942911 h 1942911"/>
                <a:gd name="connsiteX3" fmla="*/ 0 w 12192002"/>
                <a:gd name="connsiteY3" fmla="*/ 0 h 1942911"/>
                <a:gd name="connsiteX4" fmla="*/ 6096000 w 12192002"/>
                <a:gd name="connsiteY4" fmla="*/ 1455517 h 1942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2" h="1942911">
                  <a:moveTo>
                    <a:pt x="12192002" y="0"/>
                  </a:moveTo>
                  <a:lnTo>
                    <a:pt x="12192002" y="1942911"/>
                  </a:lnTo>
                  <a:lnTo>
                    <a:pt x="0" y="1942911"/>
                  </a:lnTo>
                  <a:lnTo>
                    <a:pt x="0" y="0"/>
                  </a:lnTo>
                  <a:lnTo>
                    <a:pt x="6096000" y="145551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14" name="矩形 13"/>
            <p:cNvSpPr/>
            <p:nvPr/>
          </p:nvSpPr>
          <p:spPr>
            <a:xfrm>
              <a:off x="0" y="6642000"/>
              <a:ext cx="12192002" cy="216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15" name="任意多边形 14"/>
            <p:cNvSpPr/>
            <p:nvPr/>
          </p:nvSpPr>
          <p:spPr>
            <a:xfrm>
              <a:off x="5080264" y="1356939"/>
              <a:ext cx="2018771" cy="1494742"/>
            </a:xfrm>
            <a:custGeom>
              <a:avLst/>
              <a:gdLst>
                <a:gd name="connsiteX0" fmla="*/ 105213 w 607850"/>
                <a:gd name="connsiteY0" fmla="*/ 237029 h 450066"/>
                <a:gd name="connsiteX1" fmla="*/ 303784 w 607850"/>
                <a:gd name="connsiteY1" fmla="*/ 332583 h 450066"/>
                <a:gd name="connsiteX2" fmla="*/ 502355 w 607850"/>
                <a:gd name="connsiteY2" fmla="*/ 237029 h 450066"/>
                <a:gd name="connsiteX3" fmla="*/ 502355 w 607850"/>
                <a:gd name="connsiteY3" fmla="*/ 323554 h 450066"/>
                <a:gd name="connsiteX4" fmla="*/ 501884 w 607850"/>
                <a:gd name="connsiteY4" fmla="*/ 324683 h 450066"/>
                <a:gd name="connsiteX5" fmla="*/ 319233 w 607850"/>
                <a:gd name="connsiteY5" fmla="*/ 412525 h 450066"/>
                <a:gd name="connsiteX6" fmla="*/ 288430 w 607850"/>
                <a:gd name="connsiteY6" fmla="*/ 412525 h 450066"/>
                <a:gd name="connsiteX7" fmla="*/ 105213 w 607850"/>
                <a:gd name="connsiteY7" fmla="*/ 324495 h 450066"/>
                <a:gd name="connsiteX8" fmla="*/ 575837 w 607850"/>
                <a:gd name="connsiteY8" fmla="*/ 200688 h 450066"/>
                <a:gd name="connsiteX9" fmla="*/ 575837 w 607850"/>
                <a:gd name="connsiteY9" fmla="*/ 370765 h 450066"/>
                <a:gd name="connsiteX10" fmla="*/ 591549 w 607850"/>
                <a:gd name="connsiteY10" fmla="*/ 418459 h 450066"/>
                <a:gd name="connsiteX11" fmla="*/ 567839 w 607850"/>
                <a:gd name="connsiteY11" fmla="*/ 450066 h 450066"/>
                <a:gd name="connsiteX12" fmla="*/ 559842 w 607850"/>
                <a:gd name="connsiteY12" fmla="*/ 450066 h 450066"/>
                <a:gd name="connsiteX13" fmla="*/ 536226 w 607850"/>
                <a:gd name="connsiteY13" fmla="*/ 418459 h 450066"/>
                <a:gd name="connsiteX14" fmla="*/ 551844 w 607850"/>
                <a:gd name="connsiteY14" fmla="*/ 370765 h 450066"/>
                <a:gd name="connsiteX15" fmla="*/ 551844 w 607850"/>
                <a:gd name="connsiteY15" fmla="*/ 212823 h 450066"/>
                <a:gd name="connsiteX16" fmla="*/ 303784 w 607850"/>
                <a:gd name="connsiteY16" fmla="*/ 0 h 450066"/>
                <a:gd name="connsiteX17" fmla="*/ 607850 w 607850"/>
                <a:gd name="connsiteY17" fmla="*/ 146272 h 450066"/>
                <a:gd name="connsiteX18" fmla="*/ 607850 w 607850"/>
                <a:gd name="connsiteY18" fmla="*/ 159629 h 450066"/>
                <a:gd name="connsiteX19" fmla="*/ 303784 w 607850"/>
                <a:gd name="connsiteY19" fmla="*/ 305901 h 450066"/>
                <a:gd name="connsiteX20" fmla="*/ 0 w 607850"/>
                <a:gd name="connsiteY20" fmla="*/ 159817 h 450066"/>
                <a:gd name="connsiteX21" fmla="*/ 0 w 607850"/>
                <a:gd name="connsiteY21" fmla="*/ 146178 h 45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850" h="450066">
                  <a:moveTo>
                    <a:pt x="105213" y="237029"/>
                  </a:moveTo>
                  <a:lnTo>
                    <a:pt x="303784" y="332583"/>
                  </a:lnTo>
                  <a:lnTo>
                    <a:pt x="502355" y="237029"/>
                  </a:lnTo>
                  <a:lnTo>
                    <a:pt x="502355" y="323554"/>
                  </a:lnTo>
                  <a:cubicBezTo>
                    <a:pt x="502167" y="323931"/>
                    <a:pt x="502072" y="324307"/>
                    <a:pt x="501884" y="324683"/>
                  </a:cubicBezTo>
                  <a:lnTo>
                    <a:pt x="319233" y="412525"/>
                  </a:lnTo>
                  <a:lnTo>
                    <a:pt x="288430" y="412525"/>
                  </a:lnTo>
                  <a:lnTo>
                    <a:pt x="105213" y="324495"/>
                  </a:lnTo>
                  <a:close/>
                  <a:moveTo>
                    <a:pt x="575837" y="200688"/>
                  </a:moveTo>
                  <a:lnTo>
                    <a:pt x="575837" y="370765"/>
                  </a:lnTo>
                  <a:lnTo>
                    <a:pt x="591549" y="418459"/>
                  </a:lnTo>
                  <a:lnTo>
                    <a:pt x="567839" y="450066"/>
                  </a:lnTo>
                  <a:lnTo>
                    <a:pt x="559842" y="450066"/>
                  </a:lnTo>
                  <a:lnTo>
                    <a:pt x="536226" y="418459"/>
                  </a:lnTo>
                  <a:lnTo>
                    <a:pt x="551844" y="370765"/>
                  </a:lnTo>
                  <a:lnTo>
                    <a:pt x="551844" y="212823"/>
                  </a:lnTo>
                  <a:close/>
                  <a:moveTo>
                    <a:pt x="303784" y="0"/>
                  </a:moveTo>
                  <a:lnTo>
                    <a:pt x="607850" y="146272"/>
                  </a:lnTo>
                  <a:lnTo>
                    <a:pt x="607850" y="159629"/>
                  </a:lnTo>
                  <a:lnTo>
                    <a:pt x="303784" y="305901"/>
                  </a:lnTo>
                  <a:lnTo>
                    <a:pt x="0" y="159817"/>
                  </a:lnTo>
                  <a:lnTo>
                    <a:pt x="0" y="146178"/>
                  </a:lnTo>
                  <a:close/>
                </a:path>
              </a:pathLst>
            </a:cu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直接连接符 15"/>
            <p:cNvCxnSpPr/>
            <p:nvPr/>
          </p:nvCxnSpPr>
          <p:spPr>
            <a:xfrm>
              <a:off x="1319650" y="4913476"/>
              <a:ext cx="954000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 name="标题 4"/>
          <p:cNvSpPr>
            <a:spLocks noGrp="1"/>
          </p:cNvSpPr>
          <p:nvPr>
            <p:ph type="title" hasCustomPrompt="1"/>
          </p:nvPr>
        </p:nvSpPr>
        <p:spPr>
          <a:xfrm>
            <a:off x="1229650" y="2960865"/>
            <a:ext cx="9720000" cy="1080000"/>
          </a:xfrm>
          <a:prstGeom prst="rect">
            <a:avLst/>
          </a:prstGeom>
        </p:spPr>
        <p:txBody>
          <a:bodyPr anchor="b">
            <a:normAutofit/>
          </a:bodyPr>
          <a:lstStyle>
            <a:lvl1pPr algn="ctr">
              <a:lnSpc>
                <a:spcPct val="100000"/>
              </a:lnSpc>
              <a:defRPr sz="4800">
                <a:solidFill>
                  <a:schemeClr val="tx1"/>
                </a:solidFill>
              </a:defRPr>
            </a:lvl1pPr>
          </a:lstStyle>
          <a:p>
            <a:pPr lvl="0"/>
            <a:r>
              <a:rPr lang="zh-CN" altLang="en-US"/>
              <a:t>Click to add title</a:t>
            </a:r>
            <a:endParaRPr lang="en-US"/>
          </a:p>
        </p:txBody>
      </p:sp>
      <p:sp>
        <p:nvSpPr>
          <p:cNvPr id="25" name="文本占位符 24"/>
          <p:cNvSpPr>
            <a:spLocks noGrp="1"/>
          </p:cNvSpPr>
          <p:nvPr>
            <p:ph type="body" sz="quarter" idx="1" hasCustomPrompt="1"/>
          </p:nvPr>
        </p:nvSpPr>
        <p:spPr>
          <a:xfrm>
            <a:off x="1229650" y="4103197"/>
            <a:ext cx="9720000" cy="612000"/>
          </a:xfrm>
          <a:prstGeom prst="rect">
            <a:avLst/>
          </a:prstGeom>
        </p:spPr>
        <p:txBody>
          <a:bodyPr anchor="t">
            <a:normAutofit/>
          </a:bodyPr>
          <a:lstStyle>
            <a:lvl1pPr marL="0" indent="0" algn="ctr">
              <a:lnSpc>
                <a:spcPct val="120000"/>
              </a:lnSpc>
              <a:buFont typeface="+mj-lt"/>
              <a:buNone/>
              <a:defRPr sz="2000" b="0">
                <a:solidFill>
                  <a:schemeClr val="tx1"/>
                </a:solidFill>
                <a:latin typeface="+mn-lt"/>
              </a:defRPr>
            </a:lvl1pPr>
          </a:lstStyle>
          <a:p>
            <a:pPr lvl="0"/>
            <a:r>
              <a:rPr lang="zh-CN" altLang="en-US"/>
              <a:t>Click to add text</a:t>
            </a:r>
            <a:endParaRPr lang="en-US"/>
          </a:p>
        </p:txBody>
      </p:sp>
      <p:sp>
        <p:nvSpPr>
          <p:cNvPr id="4" name="日期占位符 3"/>
          <p:cNvSpPr>
            <a:spLocks noGrp="1"/>
          </p:cNvSpPr>
          <p:nvPr>
            <p:ph type="dt" sz="half" idx="10"/>
          </p:nvPr>
        </p:nvSpPr>
        <p:spPr/>
        <p:txBody>
          <a:bodyPr/>
          <a:lstStyle>
            <a:lvl1pPr>
              <a:defRPr>
                <a:solidFill>
                  <a:schemeClr val="tx1"/>
                </a:solidFill>
              </a:defRPr>
            </a:lvl1pPr>
          </a:lstStyle>
          <a:p>
            <a:fld id="{2A27A813-B2FD-42E1-9222-83B574E99074}" type="datetime1">
              <a:rPr lang="en-US" altLang="zh-CN" smtClean="0"/>
            </a:fld>
            <a:endParaRPr lang="en-US"/>
          </a:p>
        </p:txBody>
      </p:sp>
      <p:sp>
        <p:nvSpPr>
          <p:cNvPr id="6" name="页脚占位符 5"/>
          <p:cNvSpPr>
            <a:spLocks noGrp="1"/>
          </p:cNvSpPr>
          <p:nvPr>
            <p:ph type="ftr" sz="quarter" idx="11"/>
          </p:nvPr>
        </p:nvSpPr>
        <p:spPr/>
        <p:txBody>
          <a:bodyPr/>
          <a:lstStyle>
            <a:lvl1pPr>
              <a:defRPr>
                <a:solidFill>
                  <a:schemeClr val="tx1"/>
                </a:solidFill>
              </a:defRPr>
            </a:lvl1pPr>
          </a:lstStyle>
          <a:p>
            <a:r>
              <a:rPr lang="en-US" altLang="zh-CN"/>
              <a:t>iSlide</a:t>
            </a:r>
            <a:endParaRPr lang="en-US"/>
          </a:p>
        </p:txBody>
      </p:sp>
      <p:sp>
        <p:nvSpPr>
          <p:cNvPr id="8" name="灯片编号占位符 7"/>
          <p:cNvSpPr>
            <a:spLocks noGrp="1"/>
          </p:cNvSpPr>
          <p:nvPr>
            <p:ph type="sldNum" sz="quarter" idx="12"/>
          </p:nvPr>
        </p:nvSpPr>
        <p:spPr/>
        <p:txBody>
          <a:bodyPr/>
          <a:lstStyle>
            <a:lvl1pPr>
              <a:defRPr>
                <a:solidFill>
                  <a:schemeClr val="tx1"/>
                </a:solidFill>
              </a:defRPr>
            </a:lvl1pPr>
          </a:lstStyle>
          <a:p>
            <a:fld id="{7F65B630-C7FF-41C0-9923-C5E5E29EED81}" type="slidenum">
              <a:rPr lang="en-US" altLang="zh-CN" smtClean="0"/>
            </a:fld>
            <a:endParaRPr lang="en-US" altLang="zh-CN"/>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zh-CN" altLang="en-US"/>
              <a:t>Click to add title</a:t>
            </a:r>
            <a:endParaRPr lang="en-US"/>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C8BB1146-E542-4D4E-B8E9-6919A11DDD48}" type="slidenum">
              <a:rPr lang="en-US" smtClean="0"/>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a:p>
        </p:txBody>
      </p:sp>
      <p:sp>
        <p:nvSpPr>
          <p:cNvPr id="4" name="灯片编号占位符 3"/>
          <p:cNvSpPr>
            <a:spLocks noGrp="1"/>
          </p:cNvSpPr>
          <p:nvPr>
            <p:ph type="sldNum" sz="quarter" idx="12"/>
          </p:nvPr>
        </p:nvSpPr>
        <p:spPr/>
        <p:txBody>
          <a:bodyPr/>
          <a:lstStyle/>
          <a:p>
            <a:fld id="{C8BB1146-E542-4D4E-B8E9-6919A11DDD48}" type="slidenum">
              <a:rPr lang="en-US" smtClean="0"/>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matchingName="Closing">
  <p:cSld name="Closing">
    <p:bg>
      <p:bgPr>
        <a:gradFill>
          <a:gsLst>
            <a:gs pos="100000">
              <a:schemeClr val="accent1">
                <a:lumMod val="10000"/>
                <a:lumOff val="90000"/>
              </a:schemeClr>
            </a:gs>
            <a:gs pos="0">
              <a:schemeClr val="bg1"/>
            </a:gs>
          </a:gsLst>
          <a:lin ang="8100000" scaled="1"/>
        </a:gradFill>
        <a:effectLst/>
      </p:bgPr>
    </p:bg>
    <p:spTree>
      <p:nvGrpSpPr>
        <p:cNvPr id="1" name=""/>
        <p:cNvGrpSpPr/>
        <p:nvPr/>
      </p:nvGrpSpPr>
      <p:grpSpPr>
        <a:xfrm>
          <a:off x="0" y="0"/>
          <a:ext cx="0" cy="0"/>
          <a:chOff x="0" y="0"/>
          <a:chExt cx="0" cy="0"/>
        </a:xfrm>
      </p:grpSpPr>
      <p:grpSp>
        <p:nvGrpSpPr>
          <p:cNvPr id="3" name="组合 2"/>
          <p:cNvGrpSpPr/>
          <p:nvPr/>
        </p:nvGrpSpPr>
        <p:grpSpPr>
          <a:xfrm>
            <a:off x="0" y="0"/>
            <a:ext cx="12192002" cy="6858000"/>
            <a:chOff x="0" y="0"/>
            <a:chExt cx="12192002" cy="6858000"/>
          </a:xfrm>
        </p:grpSpPr>
        <p:sp>
          <p:nvSpPr>
            <p:cNvPr id="6" name="任意多边形 5"/>
            <p:cNvSpPr/>
            <p:nvPr/>
          </p:nvSpPr>
          <p:spPr>
            <a:xfrm>
              <a:off x="0" y="4986000"/>
              <a:ext cx="12192002" cy="1872000"/>
            </a:xfrm>
            <a:custGeom>
              <a:avLst/>
              <a:gdLst>
                <a:gd name="connsiteX0" fmla="*/ 12192002 w 12192002"/>
                <a:gd name="connsiteY0" fmla="*/ 0 h 1942911"/>
                <a:gd name="connsiteX1" fmla="*/ 12192002 w 12192002"/>
                <a:gd name="connsiteY1" fmla="*/ 1942911 h 1942911"/>
                <a:gd name="connsiteX2" fmla="*/ 0 w 12192002"/>
                <a:gd name="connsiteY2" fmla="*/ 1942911 h 1942911"/>
                <a:gd name="connsiteX3" fmla="*/ 0 w 12192002"/>
                <a:gd name="connsiteY3" fmla="*/ 0 h 1942911"/>
                <a:gd name="connsiteX4" fmla="*/ 6096000 w 12192002"/>
                <a:gd name="connsiteY4" fmla="*/ 1455517 h 1942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2" h="1942911">
                  <a:moveTo>
                    <a:pt x="12192002" y="0"/>
                  </a:moveTo>
                  <a:lnTo>
                    <a:pt x="12192002" y="1942911"/>
                  </a:lnTo>
                  <a:lnTo>
                    <a:pt x="0" y="1942911"/>
                  </a:lnTo>
                  <a:lnTo>
                    <a:pt x="0" y="0"/>
                  </a:lnTo>
                  <a:lnTo>
                    <a:pt x="6096000" y="145551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8" name="矩形 7"/>
            <p:cNvSpPr/>
            <p:nvPr/>
          </p:nvSpPr>
          <p:spPr>
            <a:xfrm>
              <a:off x="0" y="0"/>
              <a:ext cx="12192002" cy="216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9" name="任意多边形 8"/>
            <p:cNvSpPr/>
            <p:nvPr/>
          </p:nvSpPr>
          <p:spPr>
            <a:xfrm>
              <a:off x="5080264" y="706022"/>
              <a:ext cx="2018771" cy="1494742"/>
            </a:xfrm>
            <a:custGeom>
              <a:avLst/>
              <a:gdLst>
                <a:gd name="connsiteX0" fmla="*/ 105213 w 607850"/>
                <a:gd name="connsiteY0" fmla="*/ 237029 h 450066"/>
                <a:gd name="connsiteX1" fmla="*/ 303784 w 607850"/>
                <a:gd name="connsiteY1" fmla="*/ 332583 h 450066"/>
                <a:gd name="connsiteX2" fmla="*/ 502355 w 607850"/>
                <a:gd name="connsiteY2" fmla="*/ 237029 h 450066"/>
                <a:gd name="connsiteX3" fmla="*/ 502355 w 607850"/>
                <a:gd name="connsiteY3" fmla="*/ 323554 h 450066"/>
                <a:gd name="connsiteX4" fmla="*/ 501884 w 607850"/>
                <a:gd name="connsiteY4" fmla="*/ 324683 h 450066"/>
                <a:gd name="connsiteX5" fmla="*/ 319233 w 607850"/>
                <a:gd name="connsiteY5" fmla="*/ 412525 h 450066"/>
                <a:gd name="connsiteX6" fmla="*/ 288430 w 607850"/>
                <a:gd name="connsiteY6" fmla="*/ 412525 h 450066"/>
                <a:gd name="connsiteX7" fmla="*/ 105213 w 607850"/>
                <a:gd name="connsiteY7" fmla="*/ 324495 h 450066"/>
                <a:gd name="connsiteX8" fmla="*/ 575837 w 607850"/>
                <a:gd name="connsiteY8" fmla="*/ 200688 h 450066"/>
                <a:gd name="connsiteX9" fmla="*/ 575837 w 607850"/>
                <a:gd name="connsiteY9" fmla="*/ 370765 h 450066"/>
                <a:gd name="connsiteX10" fmla="*/ 591549 w 607850"/>
                <a:gd name="connsiteY10" fmla="*/ 418459 h 450066"/>
                <a:gd name="connsiteX11" fmla="*/ 567839 w 607850"/>
                <a:gd name="connsiteY11" fmla="*/ 450066 h 450066"/>
                <a:gd name="connsiteX12" fmla="*/ 559842 w 607850"/>
                <a:gd name="connsiteY12" fmla="*/ 450066 h 450066"/>
                <a:gd name="connsiteX13" fmla="*/ 536226 w 607850"/>
                <a:gd name="connsiteY13" fmla="*/ 418459 h 450066"/>
                <a:gd name="connsiteX14" fmla="*/ 551844 w 607850"/>
                <a:gd name="connsiteY14" fmla="*/ 370765 h 450066"/>
                <a:gd name="connsiteX15" fmla="*/ 551844 w 607850"/>
                <a:gd name="connsiteY15" fmla="*/ 212823 h 450066"/>
                <a:gd name="connsiteX16" fmla="*/ 303784 w 607850"/>
                <a:gd name="connsiteY16" fmla="*/ 0 h 450066"/>
                <a:gd name="connsiteX17" fmla="*/ 607850 w 607850"/>
                <a:gd name="connsiteY17" fmla="*/ 146272 h 450066"/>
                <a:gd name="connsiteX18" fmla="*/ 607850 w 607850"/>
                <a:gd name="connsiteY18" fmla="*/ 159629 h 450066"/>
                <a:gd name="connsiteX19" fmla="*/ 303784 w 607850"/>
                <a:gd name="connsiteY19" fmla="*/ 305901 h 450066"/>
                <a:gd name="connsiteX20" fmla="*/ 0 w 607850"/>
                <a:gd name="connsiteY20" fmla="*/ 159817 h 450066"/>
                <a:gd name="connsiteX21" fmla="*/ 0 w 607850"/>
                <a:gd name="connsiteY21" fmla="*/ 146178 h 45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850" h="450066">
                  <a:moveTo>
                    <a:pt x="105213" y="237029"/>
                  </a:moveTo>
                  <a:lnTo>
                    <a:pt x="303784" y="332583"/>
                  </a:lnTo>
                  <a:lnTo>
                    <a:pt x="502355" y="237029"/>
                  </a:lnTo>
                  <a:lnTo>
                    <a:pt x="502355" y="323554"/>
                  </a:lnTo>
                  <a:cubicBezTo>
                    <a:pt x="502167" y="323931"/>
                    <a:pt x="502072" y="324307"/>
                    <a:pt x="501884" y="324683"/>
                  </a:cubicBezTo>
                  <a:lnTo>
                    <a:pt x="319233" y="412525"/>
                  </a:lnTo>
                  <a:lnTo>
                    <a:pt x="288430" y="412525"/>
                  </a:lnTo>
                  <a:lnTo>
                    <a:pt x="105213" y="324495"/>
                  </a:lnTo>
                  <a:close/>
                  <a:moveTo>
                    <a:pt x="575837" y="200688"/>
                  </a:moveTo>
                  <a:lnTo>
                    <a:pt x="575837" y="370765"/>
                  </a:lnTo>
                  <a:lnTo>
                    <a:pt x="591549" y="418459"/>
                  </a:lnTo>
                  <a:lnTo>
                    <a:pt x="567839" y="450066"/>
                  </a:lnTo>
                  <a:lnTo>
                    <a:pt x="559842" y="450066"/>
                  </a:lnTo>
                  <a:lnTo>
                    <a:pt x="536226" y="418459"/>
                  </a:lnTo>
                  <a:lnTo>
                    <a:pt x="551844" y="370765"/>
                  </a:lnTo>
                  <a:lnTo>
                    <a:pt x="551844" y="212823"/>
                  </a:lnTo>
                  <a:close/>
                  <a:moveTo>
                    <a:pt x="303784" y="0"/>
                  </a:moveTo>
                  <a:lnTo>
                    <a:pt x="607850" y="146272"/>
                  </a:lnTo>
                  <a:lnTo>
                    <a:pt x="607850" y="159629"/>
                  </a:lnTo>
                  <a:lnTo>
                    <a:pt x="303784" y="305901"/>
                  </a:lnTo>
                  <a:lnTo>
                    <a:pt x="0" y="159817"/>
                  </a:lnTo>
                  <a:lnTo>
                    <a:pt x="0" y="146178"/>
                  </a:ln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直接连接符 9"/>
            <p:cNvCxnSpPr/>
            <p:nvPr/>
          </p:nvCxnSpPr>
          <p:spPr>
            <a:xfrm>
              <a:off x="1319650" y="3862557"/>
              <a:ext cx="954000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12" name="标题 11"/>
          <p:cNvSpPr>
            <a:spLocks noGrp="1"/>
          </p:cNvSpPr>
          <p:nvPr>
            <p:ph type="title" hasCustomPrompt="1"/>
          </p:nvPr>
        </p:nvSpPr>
        <p:spPr>
          <a:xfrm>
            <a:off x="1229649" y="1028700"/>
            <a:ext cx="9720000" cy="2628000"/>
          </a:xfrm>
          <a:prstGeom prst="rect">
            <a:avLst/>
          </a:prstGeom>
        </p:spPr>
        <p:txBody>
          <a:bodyPr wrap="square" anchor="b">
            <a:noAutofit/>
          </a:bodyPr>
          <a:lstStyle>
            <a:lvl1pPr algn="ctr">
              <a:lnSpc>
                <a:spcPct val="100000"/>
              </a:lnSpc>
              <a:defRPr sz="8000">
                <a:ln w="19050">
                  <a:noFill/>
                </a:ln>
                <a:solidFill>
                  <a:schemeClr val="tx1"/>
                </a:solidFill>
              </a:defRPr>
            </a:lvl1pPr>
          </a:lstStyle>
          <a:p>
            <a:pPr lvl="0"/>
            <a:r>
              <a:rPr lang="zh-CN" altLang="en-US"/>
              <a:t>Click to add title</a:t>
            </a:r>
            <a:endParaRPr lang="en-US"/>
          </a:p>
        </p:txBody>
      </p:sp>
      <p:sp>
        <p:nvSpPr>
          <p:cNvPr id="13" name="文本占位符 12"/>
          <p:cNvSpPr>
            <a:spLocks noGrp="1"/>
          </p:cNvSpPr>
          <p:nvPr>
            <p:ph type="body" sz="quarter" idx="13" hasCustomPrompt="1"/>
          </p:nvPr>
        </p:nvSpPr>
        <p:spPr>
          <a:xfrm>
            <a:off x="3674922" y="4561558"/>
            <a:ext cx="2340000" cy="432000"/>
          </a:xfrm>
          <a:prstGeom prst="rect">
            <a:avLst/>
          </a:prstGeom>
        </p:spPr>
        <p:txBody>
          <a:bodyPr wrap="square" lIns="90000" anchor="ctr">
            <a:normAutofit/>
          </a:bodyPr>
          <a:lstStyle>
            <a:lvl1pPr marL="0" indent="0" algn="l">
              <a:lnSpc>
                <a:spcPct val="100000"/>
              </a:lnSpc>
              <a:buNone/>
              <a:defRPr sz="1400"/>
            </a:lvl1pPr>
          </a:lstStyle>
          <a:p>
            <a:pPr lvl="0"/>
            <a:r>
              <a:rPr lang="zh-CN" altLang="en-US"/>
              <a:t>Presenter name</a:t>
            </a:r>
            <a:endParaRPr lang="en-US"/>
          </a:p>
        </p:txBody>
      </p:sp>
      <p:sp>
        <p:nvSpPr>
          <p:cNvPr id="15" name="文本占位符 14"/>
          <p:cNvSpPr>
            <a:spLocks noGrp="1"/>
          </p:cNvSpPr>
          <p:nvPr>
            <p:ph type="body" sz="quarter" idx="14" hasCustomPrompt="1"/>
          </p:nvPr>
        </p:nvSpPr>
        <p:spPr>
          <a:xfrm>
            <a:off x="6896452" y="4561558"/>
            <a:ext cx="2340000" cy="432000"/>
          </a:xfrm>
          <a:prstGeom prst="rect">
            <a:avLst/>
          </a:prstGeom>
        </p:spPr>
        <p:txBody>
          <a:bodyPr wrap="none" anchor="ctr">
            <a:normAutofit/>
          </a:bodyPr>
          <a:lstStyle>
            <a:lvl1pPr marL="0" indent="0" algn="l">
              <a:lnSpc>
                <a:spcPct val="100000"/>
              </a:lnSpc>
              <a:buNone/>
              <a:defRPr sz="1400"/>
            </a:lvl1pPr>
          </a:lstStyle>
          <a:p>
            <a:pPr lvl="0"/>
            <a:r>
              <a:rPr lang="zh-CN" altLang="en-US"/>
              <a:t>20XX.XX.XX</a:t>
            </a:r>
            <a:endParaRPr lang="en-US"/>
          </a:p>
        </p:txBody>
      </p:sp>
      <p:grpSp>
        <p:nvGrpSpPr>
          <p:cNvPr id="16" name="组合 15"/>
          <p:cNvGrpSpPr/>
          <p:nvPr/>
        </p:nvGrpSpPr>
        <p:grpSpPr>
          <a:xfrm>
            <a:off x="3118380" y="4543558"/>
            <a:ext cx="468000" cy="468000"/>
            <a:chOff x="3118380" y="4543558"/>
            <a:chExt cx="468000" cy="468000"/>
          </a:xfrm>
        </p:grpSpPr>
        <p:sp>
          <p:nvSpPr>
            <p:cNvPr id="17" name="椭圆 16"/>
            <p:cNvSpPr>
              <a:spLocks noChangeAspect="1"/>
            </p:cNvSpPr>
            <p:nvPr/>
          </p:nvSpPr>
          <p:spPr>
            <a:xfrm>
              <a:off x="3118380" y="4543558"/>
              <a:ext cx="468000" cy="468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7"/>
            <p:cNvSpPr>
              <a:spLocks noChangeAspect="1"/>
            </p:cNvSpPr>
            <p:nvPr/>
          </p:nvSpPr>
          <p:spPr>
            <a:xfrm>
              <a:off x="3232712" y="4651558"/>
              <a:ext cx="239337" cy="252000"/>
            </a:xfrm>
            <a:custGeom>
              <a:avLst/>
              <a:gdLst>
                <a:gd name="T0" fmla="*/ 6150 w 6474"/>
                <a:gd name="T1" fmla="*/ 5849 h 6827"/>
                <a:gd name="T2" fmla="*/ 4672 w 6474"/>
                <a:gd name="T3" fmla="*/ 4081 h 6827"/>
                <a:gd name="T4" fmla="*/ 3237 w 6474"/>
                <a:gd name="T5" fmla="*/ 0 h 6827"/>
                <a:gd name="T6" fmla="*/ 1802 w 6474"/>
                <a:gd name="T7" fmla="*/ 4081 h 6827"/>
                <a:gd name="T8" fmla="*/ 325 w 6474"/>
                <a:gd name="T9" fmla="*/ 5849 h 6827"/>
                <a:gd name="T10" fmla="*/ 782 w 6474"/>
                <a:gd name="T11" fmla="*/ 6827 h 6827"/>
                <a:gd name="T12" fmla="*/ 5693 w 6474"/>
                <a:gd name="T13" fmla="*/ 6827 h 6827"/>
                <a:gd name="T14" fmla="*/ 6150 w 6474"/>
                <a:gd name="T15" fmla="*/ 5849 h 6827"/>
                <a:gd name="T16" fmla="*/ 1509 w 6474"/>
                <a:gd name="T17" fmla="*/ 2427 h 6827"/>
                <a:gd name="T18" fmla="*/ 3237 w 6474"/>
                <a:gd name="T19" fmla="*/ 557 h 6827"/>
                <a:gd name="T20" fmla="*/ 4913 w 6474"/>
                <a:gd name="T21" fmla="*/ 1866 h 6827"/>
                <a:gd name="T22" fmla="*/ 2472 w 6474"/>
                <a:gd name="T23" fmla="*/ 1687 h 6827"/>
                <a:gd name="T24" fmla="*/ 2006 w 6474"/>
                <a:gd name="T25" fmla="*/ 1762 h 6827"/>
                <a:gd name="T26" fmla="*/ 1509 w 6474"/>
                <a:gd name="T27" fmla="*/ 2427 h 6827"/>
                <a:gd name="T28" fmla="*/ 1651 w 6474"/>
                <a:gd name="T29" fmla="*/ 3012 h 6827"/>
                <a:gd name="T30" fmla="*/ 2335 w 6474"/>
                <a:gd name="T31" fmla="*/ 2326 h 6827"/>
                <a:gd name="T32" fmla="*/ 4958 w 6474"/>
                <a:gd name="T33" fmla="*/ 2517 h 6827"/>
                <a:gd name="T34" fmla="*/ 1651 w 6474"/>
                <a:gd name="T35" fmla="*/ 3012 h 6827"/>
                <a:gd name="T36" fmla="*/ 4053 w 6474"/>
                <a:gd name="T37" fmla="*/ 4435 h 6827"/>
                <a:gd name="T38" fmla="*/ 2422 w 6474"/>
                <a:gd name="T39" fmla="*/ 4435 h 6827"/>
                <a:gd name="T40" fmla="*/ 4053 w 6474"/>
                <a:gd name="T41" fmla="*/ 4435 h 6827"/>
                <a:gd name="T42" fmla="*/ 5693 w 6474"/>
                <a:gd name="T43" fmla="*/ 6270 h 6827"/>
                <a:gd name="T44" fmla="*/ 782 w 6474"/>
                <a:gd name="T45" fmla="*/ 6270 h 6827"/>
                <a:gd name="T46" fmla="*/ 752 w 6474"/>
                <a:gd name="T47" fmla="*/ 6206 h 6827"/>
                <a:gd name="T48" fmla="*/ 1965 w 6474"/>
                <a:gd name="T49" fmla="*/ 4754 h 6827"/>
                <a:gd name="T50" fmla="*/ 4510 w 6474"/>
                <a:gd name="T51" fmla="*/ 4755 h 6827"/>
                <a:gd name="T52" fmla="*/ 5723 w 6474"/>
                <a:gd name="T53" fmla="*/ 6206 h 6827"/>
                <a:gd name="T54" fmla="*/ 5693 w 6474"/>
                <a:gd name="T55" fmla="*/ 6270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474" h="6826">
                  <a:moveTo>
                    <a:pt x="6150" y="5849"/>
                  </a:moveTo>
                  <a:lnTo>
                    <a:pt x="4672" y="4081"/>
                  </a:lnTo>
                  <a:cubicBezTo>
                    <a:pt x="6334" y="2771"/>
                    <a:pt x="5433" y="0"/>
                    <a:pt x="3237" y="0"/>
                  </a:cubicBezTo>
                  <a:cubicBezTo>
                    <a:pt x="1047" y="0"/>
                    <a:pt x="134" y="2766"/>
                    <a:pt x="1802" y="4081"/>
                  </a:cubicBezTo>
                  <a:lnTo>
                    <a:pt x="325" y="5849"/>
                  </a:lnTo>
                  <a:cubicBezTo>
                    <a:pt x="0" y="6237"/>
                    <a:pt x="276" y="6827"/>
                    <a:pt x="782" y="6827"/>
                  </a:cubicBezTo>
                  <a:lnTo>
                    <a:pt x="5693" y="6827"/>
                  </a:lnTo>
                  <a:cubicBezTo>
                    <a:pt x="6199" y="6827"/>
                    <a:pt x="6474" y="6236"/>
                    <a:pt x="6150" y="5849"/>
                  </a:cubicBezTo>
                  <a:close/>
                  <a:moveTo>
                    <a:pt x="1509" y="2427"/>
                  </a:moveTo>
                  <a:cubicBezTo>
                    <a:pt x="1446" y="1415"/>
                    <a:pt x="2213" y="557"/>
                    <a:pt x="3237" y="557"/>
                  </a:cubicBezTo>
                  <a:cubicBezTo>
                    <a:pt x="3991" y="557"/>
                    <a:pt x="4706" y="1049"/>
                    <a:pt x="4913" y="1866"/>
                  </a:cubicBezTo>
                  <a:cubicBezTo>
                    <a:pt x="4202" y="2480"/>
                    <a:pt x="3109" y="2420"/>
                    <a:pt x="2472" y="1687"/>
                  </a:cubicBezTo>
                  <a:cubicBezTo>
                    <a:pt x="2337" y="1532"/>
                    <a:pt x="2086" y="1572"/>
                    <a:pt x="2006" y="1762"/>
                  </a:cubicBezTo>
                  <a:cubicBezTo>
                    <a:pt x="1896" y="2022"/>
                    <a:pt x="1725" y="2250"/>
                    <a:pt x="1509" y="2427"/>
                  </a:cubicBezTo>
                  <a:close/>
                  <a:moveTo>
                    <a:pt x="1651" y="3012"/>
                  </a:moveTo>
                  <a:cubicBezTo>
                    <a:pt x="1926" y="2834"/>
                    <a:pt x="2159" y="2600"/>
                    <a:pt x="2335" y="2326"/>
                  </a:cubicBezTo>
                  <a:cubicBezTo>
                    <a:pt x="3080" y="2932"/>
                    <a:pt x="4124" y="3014"/>
                    <a:pt x="4958" y="2517"/>
                  </a:cubicBezTo>
                  <a:cubicBezTo>
                    <a:pt x="4763" y="4234"/>
                    <a:pt x="2357" y="4593"/>
                    <a:pt x="1651" y="3012"/>
                  </a:cubicBezTo>
                  <a:close/>
                  <a:moveTo>
                    <a:pt x="4053" y="4435"/>
                  </a:moveTo>
                  <a:cubicBezTo>
                    <a:pt x="3614" y="5198"/>
                    <a:pt x="2860" y="5197"/>
                    <a:pt x="2422" y="4435"/>
                  </a:cubicBezTo>
                  <a:cubicBezTo>
                    <a:pt x="2946" y="4634"/>
                    <a:pt x="3528" y="4634"/>
                    <a:pt x="4053" y="4435"/>
                  </a:cubicBezTo>
                  <a:close/>
                  <a:moveTo>
                    <a:pt x="5693" y="6270"/>
                  </a:moveTo>
                  <a:lnTo>
                    <a:pt x="782" y="6270"/>
                  </a:lnTo>
                  <a:cubicBezTo>
                    <a:pt x="748" y="6270"/>
                    <a:pt x="730" y="6232"/>
                    <a:pt x="752" y="6206"/>
                  </a:cubicBezTo>
                  <a:lnTo>
                    <a:pt x="1965" y="4754"/>
                  </a:lnTo>
                  <a:cubicBezTo>
                    <a:pt x="2617" y="5833"/>
                    <a:pt x="3858" y="5837"/>
                    <a:pt x="4510" y="4755"/>
                  </a:cubicBezTo>
                  <a:lnTo>
                    <a:pt x="5723" y="6206"/>
                  </a:lnTo>
                  <a:cubicBezTo>
                    <a:pt x="5745" y="6232"/>
                    <a:pt x="5727" y="6270"/>
                    <a:pt x="5693" y="6270"/>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19" name="组合 18"/>
          <p:cNvGrpSpPr/>
          <p:nvPr/>
        </p:nvGrpSpPr>
        <p:grpSpPr>
          <a:xfrm>
            <a:off x="6338279" y="4543558"/>
            <a:ext cx="468000" cy="468000"/>
            <a:chOff x="6338279" y="4543558"/>
            <a:chExt cx="468000" cy="468000"/>
          </a:xfrm>
        </p:grpSpPr>
        <p:sp>
          <p:nvSpPr>
            <p:cNvPr id="20" name="椭圆 19"/>
            <p:cNvSpPr>
              <a:spLocks noChangeAspect="1"/>
            </p:cNvSpPr>
            <p:nvPr/>
          </p:nvSpPr>
          <p:spPr>
            <a:xfrm>
              <a:off x="6338279" y="4543558"/>
              <a:ext cx="468000" cy="468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20"/>
            <p:cNvSpPr>
              <a:spLocks noChangeAspect="1"/>
            </p:cNvSpPr>
            <p:nvPr/>
          </p:nvSpPr>
          <p:spPr>
            <a:xfrm>
              <a:off x="6460771" y="4651558"/>
              <a:ext cx="223017" cy="252000"/>
            </a:xfrm>
            <a:custGeom>
              <a:avLst/>
              <a:gdLst>
                <a:gd name="T0" fmla="*/ 4674 w 6479"/>
                <a:gd name="T1" fmla="*/ 4582 h 7332"/>
                <a:gd name="T2" fmla="*/ 5533 w 6479"/>
                <a:gd name="T3" fmla="*/ 3453 h 7332"/>
                <a:gd name="T4" fmla="*/ 5396 w 6479"/>
                <a:gd name="T5" fmla="*/ 2009 h 7332"/>
                <a:gd name="T6" fmla="*/ 946 w 6479"/>
                <a:gd name="T7" fmla="*/ 2249 h 7332"/>
                <a:gd name="T8" fmla="*/ 1140 w 6479"/>
                <a:gd name="T9" fmla="*/ 3719 h 7332"/>
                <a:gd name="T10" fmla="*/ 324 w 6479"/>
                <a:gd name="T11" fmla="*/ 6353 h 7332"/>
                <a:gd name="T12" fmla="*/ 5697 w 6479"/>
                <a:gd name="T13" fmla="*/ 7332 h 7332"/>
                <a:gd name="T14" fmla="*/ 4976 w 6479"/>
                <a:gd name="T15" fmla="*/ 2528 h 7332"/>
                <a:gd name="T16" fmla="*/ 4038 w 6479"/>
                <a:gd name="T17" fmla="*/ 3174 h 7332"/>
                <a:gd name="T18" fmla="*/ 4976 w 6479"/>
                <a:gd name="T19" fmla="*/ 2528 h 7332"/>
                <a:gd name="T20" fmla="*/ 3759 w 6479"/>
                <a:gd name="T21" fmla="*/ 1971 h 7332"/>
                <a:gd name="T22" fmla="*/ 3481 w 6479"/>
                <a:gd name="T23" fmla="*/ 2572 h 7332"/>
                <a:gd name="T24" fmla="*/ 2998 w 6479"/>
                <a:gd name="T25" fmla="*/ 2249 h 7332"/>
                <a:gd name="T26" fmla="*/ 1706 w 6479"/>
                <a:gd name="T27" fmla="*/ 1971 h 7332"/>
                <a:gd name="T28" fmla="*/ 1503 w 6479"/>
                <a:gd name="T29" fmla="*/ 3174 h 7332"/>
                <a:gd name="T30" fmla="*/ 2441 w 6479"/>
                <a:gd name="T31" fmla="*/ 2528 h 7332"/>
                <a:gd name="T32" fmla="*/ 1503 w 6479"/>
                <a:gd name="T33" fmla="*/ 3174 h 7332"/>
                <a:gd name="T34" fmla="*/ 2719 w 6479"/>
                <a:gd name="T35" fmla="*/ 3731 h 7332"/>
                <a:gd name="T36" fmla="*/ 2998 w 6479"/>
                <a:gd name="T37" fmla="*/ 3130 h 7332"/>
                <a:gd name="T38" fmla="*/ 3481 w 6479"/>
                <a:gd name="T39" fmla="*/ 3453 h 7332"/>
                <a:gd name="T40" fmla="*/ 4701 w 6479"/>
                <a:gd name="T41" fmla="*/ 3731 h 7332"/>
                <a:gd name="T42" fmla="*/ 3703 w 6479"/>
                <a:gd name="T43" fmla="*/ 5617 h 7332"/>
                <a:gd name="T44" fmla="*/ 2914 w 6479"/>
                <a:gd name="T45" fmla="*/ 5065 h 7332"/>
                <a:gd name="T46" fmla="*/ 3703 w 6479"/>
                <a:gd name="T47" fmla="*/ 5617 h 7332"/>
                <a:gd name="T48" fmla="*/ 782 w 6479"/>
                <a:gd name="T49" fmla="*/ 6774 h 7332"/>
                <a:gd name="T50" fmla="*/ 2283 w 6479"/>
                <a:gd name="T51" fmla="*/ 4879 h 7332"/>
                <a:gd name="T52" fmla="*/ 1914 w 6479"/>
                <a:gd name="T53" fmla="*/ 6774 h 7332"/>
                <a:gd name="T54" fmla="*/ 2637 w 6479"/>
                <a:gd name="T55" fmla="*/ 6174 h 7332"/>
                <a:gd name="T56" fmla="*/ 3992 w 6479"/>
                <a:gd name="T57" fmla="*/ 6774 h 7332"/>
                <a:gd name="T58" fmla="*/ 5697 w 6479"/>
                <a:gd name="T59" fmla="*/ 6774 h 7332"/>
                <a:gd name="T60" fmla="*/ 4103 w 6479"/>
                <a:gd name="T61" fmla="*/ 4919 h 7332"/>
                <a:gd name="T62" fmla="*/ 5727 w 6479"/>
                <a:gd name="T63" fmla="*/ 6710 h 7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479" h="7331">
                  <a:moveTo>
                    <a:pt x="6154" y="6353"/>
                  </a:moveTo>
                  <a:lnTo>
                    <a:pt x="4674" y="4582"/>
                  </a:lnTo>
                  <a:cubicBezTo>
                    <a:pt x="4961" y="4352"/>
                    <a:pt x="5190" y="4055"/>
                    <a:pt x="5338" y="3719"/>
                  </a:cubicBezTo>
                  <a:cubicBezTo>
                    <a:pt x="5451" y="3683"/>
                    <a:pt x="5533" y="3577"/>
                    <a:pt x="5533" y="3453"/>
                  </a:cubicBezTo>
                  <a:lnTo>
                    <a:pt x="5533" y="2249"/>
                  </a:lnTo>
                  <a:cubicBezTo>
                    <a:pt x="5533" y="2147"/>
                    <a:pt x="5478" y="2058"/>
                    <a:pt x="5396" y="2009"/>
                  </a:cubicBezTo>
                  <a:cubicBezTo>
                    <a:pt x="4680" y="0"/>
                    <a:pt x="1797" y="7"/>
                    <a:pt x="1083" y="2009"/>
                  </a:cubicBezTo>
                  <a:cubicBezTo>
                    <a:pt x="1001" y="2058"/>
                    <a:pt x="946" y="2147"/>
                    <a:pt x="946" y="2249"/>
                  </a:cubicBezTo>
                  <a:lnTo>
                    <a:pt x="946" y="3453"/>
                  </a:lnTo>
                  <a:cubicBezTo>
                    <a:pt x="946" y="3577"/>
                    <a:pt x="1028" y="3683"/>
                    <a:pt x="1140" y="3719"/>
                  </a:cubicBezTo>
                  <a:cubicBezTo>
                    <a:pt x="1289" y="4055"/>
                    <a:pt x="1517" y="4352"/>
                    <a:pt x="1805" y="4582"/>
                  </a:cubicBezTo>
                  <a:lnTo>
                    <a:pt x="324" y="6353"/>
                  </a:lnTo>
                  <a:cubicBezTo>
                    <a:pt x="0" y="6741"/>
                    <a:pt x="276" y="7332"/>
                    <a:pt x="782" y="7332"/>
                  </a:cubicBezTo>
                  <a:lnTo>
                    <a:pt x="5697" y="7332"/>
                  </a:lnTo>
                  <a:cubicBezTo>
                    <a:pt x="6203" y="7332"/>
                    <a:pt x="6479" y="6741"/>
                    <a:pt x="6154" y="6353"/>
                  </a:cubicBezTo>
                  <a:close/>
                  <a:moveTo>
                    <a:pt x="4976" y="2528"/>
                  </a:moveTo>
                  <a:lnTo>
                    <a:pt x="4976" y="3174"/>
                  </a:lnTo>
                  <a:lnTo>
                    <a:pt x="4038" y="3174"/>
                  </a:lnTo>
                  <a:lnTo>
                    <a:pt x="4038" y="2528"/>
                  </a:lnTo>
                  <a:lnTo>
                    <a:pt x="4976" y="2528"/>
                  </a:lnTo>
                  <a:close/>
                  <a:moveTo>
                    <a:pt x="4773" y="1971"/>
                  </a:moveTo>
                  <a:lnTo>
                    <a:pt x="3759" y="1971"/>
                  </a:lnTo>
                  <a:cubicBezTo>
                    <a:pt x="3606" y="1971"/>
                    <a:pt x="3481" y="2095"/>
                    <a:pt x="3481" y="2249"/>
                  </a:cubicBezTo>
                  <a:lnTo>
                    <a:pt x="3481" y="2572"/>
                  </a:lnTo>
                  <a:lnTo>
                    <a:pt x="2998" y="2572"/>
                  </a:lnTo>
                  <a:lnTo>
                    <a:pt x="2998" y="2249"/>
                  </a:lnTo>
                  <a:cubicBezTo>
                    <a:pt x="2998" y="2095"/>
                    <a:pt x="2873" y="1971"/>
                    <a:pt x="2719" y="1971"/>
                  </a:cubicBezTo>
                  <a:lnTo>
                    <a:pt x="1706" y="1971"/>
                  </a:lnTo>
                  <a:cubicBezTo>
                    <a:pt x="2333" y="759"/>
                    <a:pt x="4145" y="758"/>
                    <a:pt x="4773" y="1971"/>
                  </a:cubicBezTo>
                  <a:close/>
                  <a:moveTo>
                    <a:pt x="1503" y="3174"/>
                  </a:moveTo>
                  <a:lnTo>
                    <a:pt x="1503" y="2528"/>
                  </a:lnTo>
                  <a:lnTo>
                    <a:pt x="2441" y="2528"/>
                  </a:lnTo>
                  <a:lnTo>
                    <a:pt x="2441" y="3174"/>
                  </a:lnTo>
                  <a:lnTo>
                    <a:pt x="1503" y="3174"/>
                  </a:lnTo>
                  <a:close/>
                  <a:moveTo>
                    <a:pt x="1778" y="3731"/>
                  </a:moveTo>
                  <a:lnTo>
                    <a:pt x="2719" y="3731"/>
                  </a:lnTo>
                  <a:cubicBezTo>
                    <a:pt x="2873" y="3731"/>
                    <a:pt x="2998" y="3607"/>
                    <a:pt x="2998" y="3453"/>
                  </a:cubicBezTo>
                  <a:lnTo>
                    <a:pt x="2998" y="3130"/>
                  </a:lnTo>
                  <a:lnTo>
                    <a:pt x="3481" y="3130"/>
                  </a:lnTo>
                  <a:lnTo>
                    <a:pt x="3481" y="3453"/>
                  </a:lnTo>
                  <a:cubicBezTo>
                    <a:pt x="3481" y="3607"/>
                    <a:pt x="3606" y="3731"/>
                    <a:pt x="3759" y="3731"/>
                  </a:cubicBezTo>
                  <a:lnTo>
                    <a:pt x="4701" y="3731"/>
                  </a:lnTo>
                  <a:cubicBezTo>
                    <a:pt x="4022" y="4786"/>
                    <a:pt x="2466" y="4802"/>
                    <a:pt x="1778" y="3731"/>
                  </a:cubicBezTo>
                  <a:close/>
                  <a:moveTo>
                    <a:pt x="3703" y="5617"/>
                  </a:moveTo>
                  <a:lnTo>
                    <a:pt x="2776" y="5617"/>
                  </a:lnTo>
                  <a:cubicBezTo>
                    <a:pt x="2817" y="5453"/>
                    <a:pt x="2863" y="5270"/>
                    <a:pt x="2914" y="5065"/>
                  </a:cubicBezTo>
                  <a:cubicBezTo>
                    <a:pt x="3126" y="5095"/>
                    <a:pt x="3347" y="5096"/>
                    <a:pt x="3565" y="5065"/>
                  </a:cubicBezTo>
                  <a:cubicBezTo>
                    <a:pt x="3616" y="5269"/>
                    <a:pt x="3662" y="5453"/>
                    <a:pt x="3703" y="5617"/>
                  </a:cubicBezTo>
                  <a:close/>
                  <a:moveTo>
                    <a:pt x="1914" y="6774"/>
                  </a:moveTo>
                  <a:lnTo>
                    <a:pt x="782" y="6774"/>
                  </a:lnTo>
                  <a:cubicBezTo>
                    <a:pt x="748" y="6774"/>
                    <a:pt x="730" y="6736"/>
                    <a:pt x="752" y="6710"/>
                  </a:cubicBezTo>
                  <a:lnTo>
                    <a:pt x="2283" y="4879"/>
                  </a:lnTo>
                  <a:cubicBezTo>
                    <a:pt x="2318" y="4895"/>
                    <a:pt x="2345" y="4906"/>
                    <a:pt x="2376" y="4919"/>
                  </a:cubicBezTo>
                  <a:cubicBezTo>
                    <a:pt x="2077" y="6116"/>
                    <a:pt x="1965" y="6558"/>
                    <a:pt x="1914" y="6774"/>
                  </a:cubicBezTo>
                  <a:close/>
                  <a:moveTo>
                    <a:pt x="2487" y="6774"/>
                  </a:moveTo>
                  <a:cubicBezTo>
                    <a:pt x="2518" y="6649"/>
                    <a:pt x="2565" y="6460"/>
                    <a:pt x="2637" y="6174"/>
                  </a:cubicBezTo>
                  <a:lnTo>
                    <a:pt x="3842" y="6174"/>
                  </a:lnTo>
                  <a:cubicBezTo>
                    <a:pt x="3914" y="6460"/>
                    <a:pt x="3961" y="6649"/>
                    <a:pt x="3992" y="6774"/>
                  </a:cubicBezTo>
                  <a:lnTo>
                    <a:pt x="2487" y="6774"/>
                  </a:lnTo>
                  <a:close/>
                  <a:moveTo>
                    <a:pt x="5697" y="6774"/>
                  </a:moveTo>
                  <a:lnTo>
                    <a:pt x="4565" y="6774"/>
                  </a:lnTo>
                  <a:cubicBezTo>
                    <a:pt x="4513" y="6557"/>
                    <a:pt x="4400" y="6108"/>
                    <a:pt x="4103" y="4919"/>
                  </a:cubicBezTo>
                  <a:cubicBezTo>
                    <a:pt x="4133" y="4906"/>
                    <a:pt x="4158" y="4896"/>
                    <a:pt x="4196" y="4879"/>
                  </a:cubicBezTo>
                  <a:lnTo>
                    <a:pt x="5727" y="6710"/>
                  </a:lnTo>
                  <a:cubicBezTo>
                    <a:pt x="5748" y="6736"/>
                    <a:pt x="5731" y="6774"/>
                    <a:pt x="5697" y="6774"/>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Tree>
  </p:cSld>
  <p:clrMapOvr>
    <a:overrideClrMapping bg1="lt1" tx1="dk1" bg2="lt2" tx2="dk2" accent1="accent1" accent2="accent2" accent3="accent3" accent4="accent4" accent5="accent5" accent6="accent6" hlink="hlink" folHlink="folHlink"/>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矩形 9"/>
          <p:cNvSpPr/>
          <p:nvPr/>
        </p:nvSpPr>
        <p:spPr>
          <a:xfrm>
            <a:off x="0" y="308700"/>
            <a:ext cx="12192000" cy="720000"/>
          </a:xfrm>
          <a:prstGeom prst="rect">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2" name="标题 1"/>
          <p:cNvSpPr>
            <a:spLocks noGrp="1"/>
          </p:cNvSpPr>
          <p:nvPr>
            <p:ph type="title"/>
          </p:nvPr>
        </p:nvSpPr>
        <p:spPr>
          <a:xfrm>
            <a:off x="660400" y="380700"/>
            <a:ext cx="10858500" cy="576000"/>
          </a:xfrm>
          <a:prstGeom prst="rect">
            <a:avLst/>
          </a:prstGeom>
        </p:spPr>
        <p:txBody>
          <a:bodyPr vert="horz" lIns="91440" tIns="45720" rIns="91440" bIns="45720" rtlCol="0" anchor="ctr">
            <a:normAutofit/>
          </a:bodyPr>
          <a:lstStyle/>
          <a:p>
            <a:pPr lvl="0"/>
            <a:r>
              <a:rPr lang="zh-CN" altLang="en-US"/>
              <a:t>Click to add title</a:t>
            </a:r>
            <a:endParaRPr lang="en-US"/>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a:t>Click to add text</a:t>
            </a:r>
            <a:endParaRPr lang="en-US"/>
          </a:p>
          <a:p>
            <a:pPr lvl="1"/>
            <a:r>
              <a:rPr lang="zh-CN" altLang="en-US"/>
              <a:t>Second level</a:t>
            </a:r>
            <a:endParaRPr lang="en-US"/>
          </a:p>
          <a:p>
            <a:pPr lvl="2"/>
            <a:r>
              <a:rPr lang="zh-CN" altLang="en-US"/>
              <a:t>Third level</a:t>
            </a:r>
            <a:endParaRPr lang="en-US"/>
          </a:p>
          <a:p>
            <a:pPr lvl="3"/>
            <a:r>
              <a:rPr lang="zh-CN" altLang="en-US"/>
              <a:t>Fourth level</a:t>
            </a:r>
            <a:endParaRPr lang="en-US"/>
          </a:p>
          <a:p>
            <a:pPr lvl="4"/>
            <a:r>
              <a:rPr lang="zh-CN" altLang="en-US"/>
              <a:t>Fifth level</a:t>
            </a:r>
            <a:endParaRPr lang="en-US"/>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fld>
            <a:endParaRPr lang="en-US"/>
          </a:p>
        </p:txBody>
      </p:sp>
      <p:sp>
        <p:nvSpPr>
          <p:cNvPr id="8" name="五边形 7"/>
          <p:cNvSpPr/>
          <p:nvPr/>
        </p:nvSpPr>
        <p:spPr>
          <a:xfrm>
            <a:off x="-1" y="308700"/>
            <a:ext cx="648000" cy="720000"/>
          </a:xfrm>
          <a:prstGeom prst="homePlate">
            <a:avLst>
              <a:gd name="adj" fmla="val 5389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p:txStyles>
    <p:titleStyle>
      <a:lvl1pPr algn="l" defTabSz="914400" rtl="0" eaLnBrk="1" latinLnBrk="0" hangingPunct="1">
        <a:lnSpc>
          <a:spcPct val="100000"/>
        </a:lnSpc>
        <a:spcBef>
          <a:spcPct val="0"/>
        </a:spcBef>
        <a:buNone/>
        <a:defRPr sz="2800" b="1"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0" Type="http://schemas.openxmlformats.org/officeDocument/2006/relationships/slideLayout" Target="../slideLayouts/slideLayout5.xml"/><Relationship Id="rId2" Type="http://schemas.openxmlformats.org/officeDocument/2006/relationships/tags" Target="../tags/tag3.xml"/><Relationship Id="rId19" Type="http://schemas.openxmlformats.org/officeDocument/2006/relationships/tags" Target="../tags/tag20.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2.xml"/></Relationships>
</file>

<file path=ppt/slides/_rels/slide6.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8" Type="http://schemas.openxmlformats.org/officeDocument/2006/relationships/slideLayout" Target="../slideLayouts/slideLayout5.xml"/><Relationship Id="rId17" Type="http://schemas.openxmlformats.org/officeDocument/2006/relationships/tags" Target="../tags/tag39.xml"/><Relationship Id="rId16" Type="http://schemas.openxmlformats.org/officeDocument/2006/relationships/tags" Target="../tags/tag38.xml"/><Relationship Id="rId15" Type="http://schemas.openxmlformats.org/officeDocument/2006/relationships/tags" Target="../tags/tag37.xml"/><Relationship Id="rId14" Type="http://schemas.openxmlformats.org/officeDocument/2006/relationships/tags" Target="../tags/tag36.xml"/><Relationship Id="rId13" Type="http://schemas.openxmlformats.org/officeDocument/2006/relationships/tags" Target="../tags/tag35.xml"/><Relationship Id="rId12" Type="http://schemas.openxmlformats.org/officeDocument/2006/relationships/tags" Target="../tags/tag34.xml"/><Relationship Id="rId11" Type="http://schemas.openxmlformats.org/officeDocument/2006/relationships/tags" Target="../tags/tag33.xml"/><Relationship Id="rId10" Type="http://schemas.openxmlformats.org/officeDocument/2006/relationships/tags" Target="../tags/tag32.xml"/><Relationship Id="rId1" Type="http://schemas.openxmlformats.org/officeDocument/2006/relationships/tags" Target="../tags/tag23.xml"/></Relationships>
</file>

<file path=ppt/slides/_rels/slide7.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0" Type="http://schemas.openxmlformats.org/officeDocument/2006/relationships/slideLayout" Target="../slideLayouts/slideLayout5.xml"/><Relationship Id="rId2" Type="http://schemas.openxmlformats.org/officeDocument/2006/relationships/tags" Target="../tags/tag41.xml"/><Relationship Id="rId19" Type="http://schemas.openxmlformats.org/officeDocument/2006/relationships/tags" Target="../tags/tag57.xml"/><Relationship Id="rId18" Type="http://schemas.openxmlformats.org/officeDocument/2006/relationships/image" Target="../media/image1.png"/><Relationship Id="rId17" Type="http://schemas.openxmlformats.org/officeDocument/2006/relationships/tags" Target="../tags/tag56.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tags" Target="../tags/tag51.xml"/><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tags" Target="../tags/tag40.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58.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6" Type="http://schemas.openxmlformats.org/officeDocument/2006/relationships/slideLayout" Target="../slideLayouts/slideLayout5.xml"/><Relationship Id="rId15" Type="http://schemas.openxmlformats.org/officeDocument/2006/relationships/tags" Target="../tags/tag72.xml"/><Relationship Id="rId14" Type="http://schemas.openxmlformats.org/officeDocument/2006/relationships/image" Target="../media/image3.png"/><Relationship Id="rId13" Type="http://schemas.openxmlformats.org/officeDocument/2006/relationships/tags" Target="../tags/tag71.xml"/><Relationship Id="rId12" Type="http://schemas.openxmlformats.org/officeDocument/2006/relationships/tags" Target="../tags/tag70.xml"/><Relationship Id="rId11" Type="http://schemas.openxmlformats.org/officeDocument/2006/relationships/tags" Target="../tags/tag69.xml"/><Relationship Id="rId10" Type="http://schemas.openxmlformats.org/officeDocument/2006/relationships/tags" Target="../tags/tag68.xml"/><Relationship Id="rId1" Type="http://schemas.openxmlformats.org/officeDocument/2006/relationships/tags" Target="../tags/tag59.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73.xml"/><Relationship Id="rId2" Type="http://schemas.openxmlformats.org/officeDocument/2006/relationships/image" Target="../media/image5.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74.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75.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76.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ags" Target="../tags/tag77.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tags" Target="../tags/tag78.xml"/><Relationship Id="rId4" Type="http://schemas.openxmlformats.org/officeDocument/2006/relationships/image" Target="../media/image11.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tags" Target="../tags/tag86.xml"/><Relationship Id="rId7" Type="http://schemas.openxmlformats.org/officeDocument/2006/relationships/tags" Target="../tags/tag85.xml"/><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3" Type="http://schemas.openxmlformats.org/officeDocument/2006/relationships/slideLayout" Target="../slideLayouts/slideLayout5.xml"/><Relationship Id="rId12" Type="http://schemas.openxmlformats.org/officeDocument/2006/relationships/tags" Target="../tags/tag87.xml"/><Relationship Id="rId11" Type="http://schemas.openxmlformats.org/officeDocument/2006/relationships/image" Target="../media/image17.png"/><Relationship Id="rId10" Type="http://schemas.openxmlformats.org/officeDocument/2006/relationships/image" Target="../media/image16.png"/><Relationship Id="rId1" Type="http://schemas.openxmlformats.org/officeDocument/2006/relationships/tags" Target="../tags/tag79.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88.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tags" Target="../tags/tag89.xml"/><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90.xml"/><Relationship Id="rId2" Type="http://schemas.openxmlformats.org/officeDocument/2006/relationships/image" Target="../media/image24.png"/><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tags" Target="../tags/tag98.xml"/><Relationship Id="rId7" Type="http://schemas.openxmlformats.org/officeDocument/2006/relationships/tags" Target="../tags/tag97.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9" Type="http://schemas.openxmlformats.org/officeDocument/2006/relationships/slideLayout" Target="../slideLayouts/slideLayout5.xml"/><Relationship Id="rId18" Type="http://schemas.openxmlformats.org/officeDocument/2006/relationships/tags" Target="../tags/tag108.xml"/><Relationship Id="rId17" Type="http://schemas.openxmlformats.org/officeDocument/2006/relationships/tags" Target="../tags/tag107.xml"/><Relationship Id="rId16" Type="http://schemas.openxmlformats.org/officeDocument/2006/relationships/tags" Target="../tags/tag106.xml"/><Relationship Id="rId15" Type="http://schemas.openxmlformats.org/officeDocument/2006/relationships/tags" Target="../tags/tag105.xml"/><Relationship Id="rId14" Type="http://schemas.openxmlformats.org/officeDocument/2006/relationships/tags" Target="../tags/tag104.xml"/><Relationship Id="rId13" Type="http://schemas.openxmlformats.org/officeDocument/2006/relationships/tags" Target="../tags/tag103.xml"/><Relationship Id="rId12" Type="http://schemas.openxmlformats.org/officeDocument/2006/relationships/tags" Target="../tags/tag102.xml"/><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tags" Target="../tags/tag9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09.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10.xml"/></Relationships>
</file>

<file path=ppt/slides/_rels/slide23.xml.rels><?xml version="1.0" encoding="UTF-8" standalone="yes"?>
<Relationships xmlns="http://schemas.openxmlformats.org/package/2006/relationships"><Relationship Id="rId9" Type="http://schemas.openxmlformats.org/officeDocument/2006/relationships/tags" Target="../tags/tag119.xml"/><Relationship Id="rId8" Type="http://schemas.openxmlformats.org/officeDocument/2006/relationships/tags" Target="../tags/tag118.xml"/><Relationship Id="rId7" Type="http://schemas.openxmlformats.org/officeDocument/2006/relationships/tags" Target="../tags/tag117.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3" Type="http://schemas.openxmlformats.org/officeDocument/2006/relationships/slideLayout" Target="../slideLayouts/slideLayout5.xml"/><Relationship Id="rId22" Type="http://schemas.openxmlformats.org/officeDocument/2006/relationships/tags" Target="../tags/tag132.xml"/><Relationship Id="rId21" Type="http://schemas.openxmlformats.org/officeDocument/2006/relationships/tags" Target="../tags/tag131.xml"/><Relationship Id="rId20" Type="http://schemas.openxmlformats.org/officeDocument/2006/relationships/tags" Target="../tags/tag130.xml"/><Relationship Id="rId2" Type="http://schemas.openxmlformats.org/officeDocument/2006/relationships/tags" Target="../tags/tag112.xml"/><Relationship Id="rId19" Type="http://schemas.openxmlformats.org/officeDocument/2006/relationships/tags" Target="../tags/tag129.xml"/><Relationship Id="rId18" Type="http://schemas.openxmlformats.org/officeDocument/2006/relationships/tags" Target="../tags/tag128.xml"/><Relationship Id="rId17" Type="http://schemas.openxmlformats.org/officeDocument/2006/relationships/tags" Target="../tags/tag127.xml"/><Relationship Id="rId16" Type="http://schemas.openxmlformats.org/officeDocument/2006/relationships/tags" Target="../tags/tag126.xml"/><Relationship Id="rId15" Type="http://schemas.openxmlformats.org/officeDocument/2006/relationships/tags" Target="../tags/tag125.xml"/><Relationship Id="rId14" Type="http://schemas.openxmlformats.org/officeDocument/2006/relationships/tags" Target="../tags/tag124.xml"/><Relationship Id="rId13" Type="http://schemas.openxmlformats.org/officeDocument/2006/relationships/tags" Target="../tags/tag123.xml"/><Relationship Id="rId12" Type="http://schemas.openxmlformats.org/officeDocument/2006/relationships/tags" Target="../tags/tag122.xml"/><Relationship Id="rId11" Type="http://schemas.openxmlformats.org/officeDocument/2006/relationships/tags" Target="../tags/tag121.xml"/><Relationship Id="rId10" Type="http://schemas.openxmlformats.org/officeDocument/2006/relationships/tags" Target="../tags/tag120.xml"/><Relationship Id="rId1" Type="http://schemas.openxmlformats.org/officeDocument/2006/relationships/tags" Target="../tags/tag11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33.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34.xml"/><Relationship Id="rId1" Type="http://schemas.openxmlformats.org/officeDocument/2006/relationships/image" Target="../media/image25.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135.xml"/><Relationship Id="rId2" Type="http://schemas.openxmlformats.org/officeDocument/2006/relationships/image" Target="../media/image27.png"/><Relationship Id="rId1"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36.xml"/><Relationship Id="rId1"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37.xml"/><Relationship Id="rId1"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p:txBody>
          <a:bodyPr/>
          <a:lstStyle/>
          <a:p>
            <a:pPr marL="0" marR="0" lvl="0" indent="0" algn="ctr">
              <a:lnSpc>
                <a:spcPct val="100000"/>
              </a:lnSpc>
            </a:pPr>
            <a:r>
              <a:rPr lang="zh-CN" altLang="en-US" sz="2400" b="1" baseline="0" dirty="0">
                <a:solidFill>
                  <a:schemeClr val="tx1"/>
                </a:solidFill>
              </a:rPr>
              <a:t>MetaRCA: A Generalizable Root Cause Analysis Framework</a:t>
            </a:r>
            <a:endParaRPr lang="zh-CN" altLang="en-US" sz="2400" dirty="0"/>
          </a:p>
          <a:p>
            <a:pPr marL="0" marR="0" lvl="0" indent="0" algn="ctr">
              <a:lnSpc>
                <a:spcPct val="100000"/>
              </a:lnSpc>
            </a:pPr>
            <a:r>
              <a:rPr lang="zh-CN" altLang="en-US" sz="2400" b="1" baseline="0" dirty="0">
                <a:solidFill>
                  <a:schemeClr val="tx1"/>
                </a:solidFill>
              </a:rPr>
              <a:t>for Cloud-Native Systems Powered by Meta Causal</a:t>
            </a:r>
            <a:endParaRPr lang="zh-CN" altLang="en-US" sz="2400" dirty="0"/>
          </a:p>
          <a:p>
            <a:pPr marL="0" marR="0" lvl="0" indent="0" algn="ctr">
              <a:lnSpc>
                <a:spcPct val="100000"/>
              </a:lnSpc>
            </a:pPr>
            <a:r>
              <a:rPr lang="zh-CN" altLang="en-US" sz="2400" b="1" baseline="0" dirty="0">
                <a:solidFill>
                  <a:schemeClr val="tx1"/>
                </a:solidFill>
              </a:rPr>
              <a:t>Knowledge</a:t>
            </a:r>
            <a:endParaRPr lang="zh-CN" altLang="en-US" sz="2400" b="1" baseline="0" dirty="0">
              <a:solidFill>
                <a:schemeClr val="tx1"/>
              </a:solidFill>
            </a:endParaRPr>
          </a:p>
        </p:txBody>
      </p:sp>
      <p:sp>
        <p:nvSpPr>
          <p:cNvPr id="9" name="副标题 8"/>
          <p:cNvSpPr>
            <a:spLocks noGrp="1"/>
          </p:cNvSpPr>
          <p:nvPr>
            <p:ph type="subTitle" sz="quarter" idx="1" hasCustomPrompt="1"/>
          </p:nvPr>
        </p:nvSpPr>
        <p:spPr/>
        <p:txBody>
          <a:bodyPr/>
          <a:lstStyle/>
          <a:p>
            <a:r>
              <a:rPr lang="en-US" altLang="zh-CN"/>
              <a:t>FSE  2026</a:t>
            </a:r>
            <a:endParaRPr lang="en-US" altLang="zh-CN"/>
          </a:p>
        </p:txBody>
      </p:sp>
      <p:sp>
        <p:nvSpPr>
          <p:cNvPr id="4" name="文本占位符 3"/>
          <p:cNvSpPr>
            <a:spLocks noGrp="1"/>
          </p:cNvSpPr>
          <p:nvPr>
            <p:ph type="body" sz="quarter" idx="13" hasCustomPrompt="1"/>
          </p:nvPr>
        </p:nvSpPr>
        <p:spPr/>
        <p:txBody>
          <a:bodyPr/>
          <a:lstStyle/>
          <a:p>
            <a:r>
              <a:rPr lang="zh-CN" altLang="en-US"/>
              <a:t>刘军辉</a:t>
            </a:r>
            <a:endParaRPr lang="zh-CN" altLang="en-US"/>
          </a:p>
        </p:txBody>
      </p:sp>
      <p:sp>
        <p:nvSpPr>
          <p:cNvPr id="7" name="文本占位符 6"/>
          <p:cNvSpPr>
            <a:spLocks noGrp="1"/>
          </p:cNvSpPr>
          <p:nvPr>
            <p:ph type="body" sz="quarter" idx="14" hasCustomPrompt="1"/>
          </p:nvPr>
        </p:nvSpPr>
        <p:spPr/>
        <p:txBody>
          <a:bodyPr/>
          <a:lstStyle/>
          <a:p>
            <a:r>
              <a:rPr lang="zh-CN" altLang="en-US"/>
              <a:t>2026/07/05</a:t>
            </a:r>
            <a:endParaRPr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4c6b0ccb-ae93-4394-9740-c228d42eccfe.source.1.zh-Hans.pptx"/>
          <p:cNvGrpSpPr/>
          <p:nvPr/>
        </p:nvGrpSpPr>
        <p:grpSpPr>
          <a:xfrm>
            <a:off x="660398" y="1130301"/>
            <a:ext cx="10858502" cy="5003799"/>
            <a:chOff x="660398" y="1130301"/>
            <a:chExt cx="10858502" cy="5003799"/>
          </a:xfrm>
        </p:grpSpPr>
        <p:cxnSp>
          <p:nvCxnSpPr>
            <p:cNvPr id="8" name="直接连接符 7"/>
            <p:cNvCxnSpPr/>
            <p:nvPr/>
          </p:nvCxnSpPr>
          <p:spPr>
            <a:xfrm>
              <a:off x="660400" y="2892458"/>
              <a:ext cx="10858500" cy="0"/>
            </a:xfrm>
            <a:prstGeom prst="line">
              <a:avLst/>
            </a:prstGeom>
            <a:ln w="6350" cap="flat" cmpd="sng" algn="ctr">
              <a:solidFill>
                <a:schemeClr val="tx1">
                  <a:alpha val="5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Title"/>
            <p:cNvSpPr>
              <a:spLocks noChangeAspect="1"/>
            </p:cNvSpPr>
            <p:nvPr/>
          </p:nvSpPr>
          <p:spPr>
            <a:xfrm>
              <a:off x="660400" y="1130301"/>
              <a:ext cx="10858500" cy="721620"/>
            </a:xfrm>
            <a:prstGeom prst="rect">
              <a:avLst/>
            </a:prstGeom>
            <a:noFill/>
          </p:spPr>
          <p:txBody>
            <a:bodyPr wrap="square" lIns="90000" tIns="46800" rIns="90000" bIns="46800" rtlCol="0" anchor="ctr" anchorCtr="0">
              <a:normAutofit/>
            </a:bodyPr>
            <a:lstStyle/>
            <a:p>
              <a:r>
                <a:rPr lang="zh-CN" altLang="en-US" sz="2000" b="1" dirty="0">
                  <a:solidFill>
                    <a:schemeClr val="tx1"/>
                  </a:solidFill>
                  <a:cs typeface="+mn-ea"/>
                  <a:sym typeface="+mn-lt"/>
                </a:rPr>
                <a:t>Fast and accurate Root Cause Analysis is critical for ensuring the reliability of cloud-native systems</a:t>
              </a:r>
              <a:endParaRPr lang="en-US" dirty="0"/>
            </a:p>
          </p:txBody>
        </p:sp>
        <p:grpSp>
          <p:nvGrpSpPr>
            <p:cNvPr id="16" name="组合 15"/>
            <p:cNvGrpSpPr/>
            <p:nvPr/>
          </p:nvGrpSpPr>
          <p:grpSpPr>
            <a:xfrm>
              <a:off x="660398" y="2619378"/>
              <a:ext cx="10858501" cy="3514722"/>
              <a:chOff x="660397" y="1893664"/>
              <a:chExt cx="7824372" cy="3514722"/>
            </a:xfrm>
          </p:grpSpPr>
          <p:sp>
            <p:nvSpPr>
              <p:cNvPr id="33" name="Number1"/>
              <p:cNvSpPr/>
              <p:nvPr/>
            </p:nvSpPr>
            <p:spPr>
              <a:xfrm>
                <a:off x="735226" y="1893664"/>
                <a:ext cx="548378" cy="546160"/>
              </a:xfrm>
              <a:prstGeom prst="chevron">
                <a:avLst>
                  <a:gd name="adj" fmla="val 332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marL="0" marR="0" lvl="0" indent="0" algn="ctr"/>
                <a:endParaRPr lang="zh-CN" altLang="en-US" dirty="0"/>
              </a:p>
            </p:txBody>
          </p:sp>
          <p:sp>
            <p:nvSpPr>
              <p:cNvPr id="34" name="Bullet1"/>
              <p:cNvSpPr/>
              <p:nvPr/>
            </p:nvSpPr>
            <p:spPr>
              <a:xfrm flipH="1">
                <a:off x="660398" y="2735827"/>
                <a:ext cx="7824371" cy="564358"/>
              </a:xfrm>
              <a:prstGeom prst="roundRect">
                <a:avLst>
                  <a:gd name="adj" fmla="val 0"/>
                </a:avLst>
              </a:prstGeom>
              <a:no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1600" b="1" dirty="0">
                    <a:solidFill>
                      <a:schemeClr val="tx1"/>
                    </a:solidFill>
                    <a:cs typeface="+mn-ea"/>
                    <a:sym typeface="+mn-lt"/>
                  </a:rPr>
                  <a:t>Architecture Characteristics and Challenges</a:t>
                </a:r>
                <a:endParaRPr lang="en-US" dirty="0"/>
              </a:p>
            </p:txBody>
          </p:sp>
          <p:sp>
            <p:nvSpPr>
              <p:cNvPr id="35" name="Text1"/>
              <p:cNvSpPr txBox="1"/>
              <p:nvPr/>
            </p:nvSpPr>
            <p:spPr>
              <a:xfrm flipH="1">
                <a:off x="660397" y="3357799"/>
                <a:ext cx="7824370" cy="2050587"/>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a:lnSpc>
                    <a:spcPct val="120000"/>
                  </a:lnSpc>
                </a:pPr>
                <a:r>
                  <a:rPr lang="zh-CN" altLang="en-US" sz="1400" b="1" baseline="0" dirty="0">
                    <a:solidFill>
                      <a:schemeClr val="tx1"/>
                    </a:solidFill>
                  </a:rPr>
                  <a:t>Cloud-native systems</a:t>
                </a:r>
                <a:r>
                  <a:rPr lang="zh-CN" altLang="en-US" sz="1200" baseline="0" dirty="0">
                    <a:solidFill>
                      <a:schemeClr val="tx1"/>
                    </a:solidFill>
                  </a:rPr>
                  <a:t> are now widely adopted in modern production environments. </a:t>
                </a:r>
                <a:endParaRPr lang="zh-CN" altLang="en-US" sz="1200" baseline="0" dirty="0">
                  <a:solidFill>
                    <a:schemeClr val="tx1"/>
                  </a:solidFill>
                </a:endParaRPr>
              </a:p>
              <a:p>
                <a:pPr marL="0" marR="0" lvl="0" indent="0" algn="l">
                  <a:lnSpc>
                    <a:spcPct val="120000"/>
                  </a:lnSpc>
                </a:pPr>
                <a:r>
                  <a:rPr lang="zh-CN" altLang="en-US" sz="1200" baseline="0" dirty="0">
                    <a:solidFill>
                      <a:schemeClr val="tx1"/>
                    </a:solidFill>
                  </a:rPr>
                  <a:t>They are typically built upon: </a:t>
                </a:r>
                <a:r>
                  <a:rPr lang="zh-CN" altLang="en-US" sz="1200" b="1" baseline="0" dirty="0">
                    <a:solidFill>
                      <a:schemeClr val="tx1"/>
                    </a:solidFill>
                  </a:rPr>
                  <a:t>Microservices Containers Dynamic orchestration Large-scale service interactions </a:t>
                </a:r>
                <a:r>
                  <a:rPr lang="zh-CN" altLang="en-US" sz="1200" baseline="0" dirty="0">
                    <a:solidFill>
                      <a:schemeClr val="tx1"/>
                    </a:solidFill>
                  </a:rPr>
                  <a:t>While this architecture improves scalability and flexibility</a:t>
                </a:r>
                <a:endParaRPr lang="zh-CN" altLang="en-US" sz="1200" baseline="0" dirty="0">
                  <a:solidFill>
                    <a:schemeClr val="tx1"/>
                  </a:solidFill>
                </a:endParaRPr>
              </a:p>
              <a:p>
                <a:pPr marL="0" marR="0" lvl="0" indent="0" algn="l">
                  <a:lnSpc>
                    <a:spcPct val="120000"/>
                  </a:lnSpc>
                </a:pPr>
                <a:r>
                  <a:rPr lang="zh-CN" altLang="en-US" sz="1200" baseline="0" dirty="0">
                    <a:solidFill>
                      <a:schemeClr val="tx1"/>
                    </a:solidFill>
                  </a:rPr>
                  <a:t>it also makes failure propagation more </a:t>
                </a:r>
                <a:r>
                  <a:rPr lang="zh-CN" altLang="en-US" sz="1400" b="1" baseline="0" dirty="0">
                    <a:solidFill>
                      <a:schemeClr val="tx1"/>
                    </a:solidFill>
                  </a:rPr>
                  <a:t>complex</a:t>
                </a:r>
                <a:r>
                  <a:rPr lang="zh-CN" altLang="en-US" sz="1200" baseline="0" dirty="0">
                    <a:solidFill>
                      <a:schemeClr val="tx1"/>
                    </a:solidFill>
                  </a:rPr>
                  <a:t>. A single root cause may trigger cascading anomalies across multiple services, metrics, logs, and traces. </a:t>
                </a:r>
                <a:endParaRPr lang="zh-CN" altLang="en-US" dirty="0"/>
              </a:p>
              <a:p>
                <a:pPr marL="0" marR="0" lvl="0" indent="0" algn="l">
                  <a:lnSpc>
                    <a:spcPct val="120000"/>
                  </a:lnSpc>
                </a:pPr>
                <a:endParaRPr lang="zh-CN" altLang="en-US" dirty="0"/>
              </a:p>
              <a:p>
                <a:pPr marL="0" marR="0" lvl="0" indent="0" algn="l">
                  <a:lnSpc>
                    <a:spcPct val="120000"/>
                  </a:lnSpc>
                </a:pPr>
                <a:r>
                  <a:rPr lang="zh-CN" altLang="en-US" sz="1200" baseline="0" dirty="0">
                    <a:solidFill>
                      <a:schemeClr val="tx1"/>
                    </a:solidFill>
                  </a:rPr>
                  <a:t>Example:</a:t>
                </a:r>
                <a:endParaRPr lang="zh-CN" altLang="en-US" dirty="0"/>
              </a:p>
              <a:p>
                <a:pPr marL="0" marR="0" lvl="0" indent="0" algn="l">
                  <a:lnSpc>
                    <a:spcPct val="120000"/>
                  </a:lnSpc>
                </a:pPr>
                <a:r>
                  <a:rPr lang="zh-CN" altLang="en-US" sz="1200" baseline="0" dirty="0">
                    <a:solidFill>
                      <a:schemeClr val="tx1"/>
                    </a:solidFill>
                  </a:rPr>
                  <a:t> Database latency increases → Order service slows down → Payment service times out → Users experience service unavailability</a:t>
                </a:r>
                <a:endParaRPr lang="zh-CN" altLang="en-US" dirty="0"/>
              </a:p>
            </p:txBody>
          </p:sp>
        </p:grpSp>
      </p:grpSp>
      <p:sp>
        <p:nvSpPr>
          <p:cNvPr id="2" name="标题 1"/>
          <p:cNvSpPr>
            <a:spLocks noGrp="1"/>
          </p:cNvSpPr>
          <p:nvPr>
            <p:ph type="title" hasCustomPrompt="1"/>
          </p:nvPr>
        </p:nvSpPr>
        <p:spPr/>
        <p:txBody>
          <a:bodyPr/>
          <a:lstStyle/>
          <a:p>
            <a:r>
              <a:rPr lang="zh-CN" altLang="en-US" dirty="0"/>
              <a:t>Background: RCA in Cloud-Native Systems</a:t>
            </a:r>
            <a:endParaRPr lang="en-US" dirty="0"/>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C8BB1146-E542-4D4E-B8E9-6919A11DDD48}" type="slidenum">
              <a:rPr lang="en-US" smtClean="0"/>
            </a:fld>
            <a:endParaRPr lang="en-US"/>
          </a:p>
        </p:txBody>
      </p:sp>
    </p:spTree>
    <p:custDataLst>
      <p:tags r:id="rId1"/>
    </p:custData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79280926-6ad7-4929-baf7-f1c726fc62cf.source.4.zh-Hans.pptx"/>
          <p:cNvGrpSpPr/>
          <p:nvPr>
            <p:custDataLst>
              <p:tags r:id="rId1"/>
            </p:custDataLst>
          </p:nvPr>
        </p:nvGrpSpPr>
        <p:grpSpPr>
          <a:xfrm>
            <a:off x="650874" y="1130300"/>
            <a:ext cx="10858501" cy="5003800"/>
            <a:chOff x="660399" y="1130300"/>
            <a:chExt cx="10858501" cy="5003800"/>
          </a:xfrm>
        </p:grpSpPr>
        <p:sp>
          <p:nvSpPr>
            <p:cNvPr id="3" name="Title"/>
            <p:cNvSpPr/>
            <p:nvPr/>
          </p:nvSpPr>
          <p:spPr>
            <a:xfrm>
              <a:off x="660400" y="1130300"/>
              <a:ext cx="10858500" cy="530660"/>
            </a:xfrm>
            <a:prstGeom prst="roundRect">
              <a:avLst>
                <a:gd name="adj" fmla="val 0"/>
              </a:avLst>
            </a:prstGeom>
            <a:no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r>
                <a:rPr lang="zh-CN" altLang="en-US" sz="2000" b="1" dirty="0">
                  <a:solidFill>
                    <a:schemeClr val="tx1"/>
                  </a:solidFill>
                  <a:cs typeface="+mn-ea"/>
                  <a:sym typeface="+mn-lt"/>
                </a:rPr>
                <a:t>From early data-driven approaches to knowledge-enhanced causal analysis</a:t>
              </a:r>
              <a:endParaRPr lang="en-US" dirty="0"/>
            </a:p>
          </p:txBody>
        </p:sp>
        <p:grpSp>
          <p:nvGrpSpPr>
            <p:cNvPr id="4" name="组合 3"/>
            <p:cNvGrpSpPr/>
            <p:nvPr/>
          </p:nvGrpSpPr>
          <p:grpSpPr>
            <a:xfrm>
              <a:off x="660399" y="1755422"/>
              <a:ext cx="4230582" cy="2178173"/>
              <a:chOff x="1282938" y="1583758"/>
              <a:chExt cx="7396008" cy="2261631"/>
            </a:xfrm>
          </p:grpSpPr>
          <p:cxnSp>
            <p:nvCxnSpPr>
              <p:cNvPr id="36" name="直接连接符 35"/>
              <p:cNvCxnSpPr/>
              <p:nvPr>
                <p:custDataLst>
                  <p:tags r:id="rId2"/>
                </p:custDataLst>
              </p:nvPr>
            </p:nvCxnSpPr>
            <p:spPr>
              <a:xfrm flipV="1">
                <a:off x="1282938" y="1583758"/>
                <a:ext cx="0" cy="2261631"/>
              </a:xfrm>
              <a:prstGeom prst="line">
                <a:avLst/>
              </a:prstGeom>
              <a:ln>
                <a:gradFill flip="none" rotWithShape="1">
                  <a:gsLst>
                    <a:gs pos="0">
                      <a:schemeClr val="accent1"/>
                    </a:gs>
                    <a:gs pos="100000">
                      <a:schemeClr val="accent1">
                        <a:alpha val="0"/>
                      </a:schemeClr>
                    </a:gs>
                  </a:gsLst>
                  <a:lin ang="5400000" scaled="1"/>
                  <a:tileRect/>
                </a:gradFill>
                <a:headEnd type="oval"/>
              </a:ln>
            </p:spPr>
            <p:style>
              <a:lnRef idx="1">
                <a:schemeClr val="accent1"/>
              </a:lnRef>
              <a:fillRef idx="0">
                <a:schemeClr val="accent1"/>
              </a:fillRef>
              <a:effectRef idx="0">
                <a:schemeClr val="accent1"/>
              </a:effectRef>
              <a:fontRef idx="minor">
                <a:schemeClr val="tx1"/>
              </a:fontRef>
            </p:style>
          </p:cxnSp>
          <p:grpSp>
            <p:nvGrpSpPr>
              <p:cNvPr id="58" name="组合 57"/>
              <p:cNvGrpSpPr/>
              <p:nvPr/>
            </p:nvGrpSpPr>
            <p:grpSpPr>
              <a:xfrm>
                <a:off x="1344086" y="1620740"/>
                <a:ext cx="7334860" cy="1970526"/>
                <a:chOff x="725267" y="1563279"/>
                <a:chExt cx="7780957" cy="2147865"/>
              </a:xfrm>
            </p:grpSpPr>
            <p:sp>
              <p:nvSpPr>
                <p:cNvPr id="59" name="Bullet1"/>
                <p:cNvSpPr/>
                <p:nvPr>
                  <p:custDataLst>
                    <p:tags r:id="rId3"/>
                  </p:custDataLst>
                </p:nvPr>
              </p:nvSpPr>
              <p:spPr>
                <a:xfrm flipH="1">
                  <a:off x="725267" y="2074838"/>
                  <a:ext cx="7780947" cy="541562"/>
                </a:xfrm>
                <a:prstGeom prst="rect">
                  <a:avLst/>
                </a:prstGeom>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cs typeface="+mn-ea"/>
                      <a:sym typeface="+mn-lt"/>
                    </a:rPr>
                    <a:t>Early data-driven methods</a:t>
                  </a:r>
                  <a:endParaRPr lang="en-US" dirty="0"/>
                </a:p>
              </p:txBody>
            </p:sp>
            <p:sp>
              <p:nvSpPr>
                <p:cNvPr id="60" name="Text1"/>
                <p:cNvSpPr txBox="1"/>
                <p:nvPr>
                  <p:custDataLst>
                    <p:tags r:id="rId4"/>
                  </p:custDataLst>
                </p:nvPr>
              </p:nvSpPr>
              <p:spPr>
                <a:xfrm>
                  <a:off x="725279" y="2616400"/>
                  <a:ext cx="7780945" cy="1094744"/>
                </a:xfrm>
                <a:prstGeom prst="rect">
                  <a:avLst/>
                </a:prstGeom>
                <a:noFill/>
              </p:spPr>
              <p:txBody>
                <a:bodyPr wrap="square" rtlCol="0" anchor="t" anchorCtr="0">
                  <a:normAutofit lnSpcReduction="10000"/>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dirty="0">
                      <a:solidFill>
                        <a:schemeClr val="tx1"/>
                      </a:solidFill>
                      <a:cs typeface="+mn-ea"/>
                      <a:sym typeface="+mn-lt"/>
                    </a:rPr>
                    <a:t>Examples:</a:t>
                  </a:r>
                  <a:r>
                    <a:rPr lang="zh-CN" altLang="en-US" b="1" dirty="0">
                      <a:solidFill>
                        <a:schemeClr val="tx1"/>
                      </a:solidFill>
                      <a:cs typeface="+mn-ea"/>
                      <a:sym typeface="+mn-lt"/>
                    </a:rPr>
                    <a:t> CloudRanger, AutoMap </a:t>
                  </a:r>
                  <a:r>
                    <a:rPr lang="zh-CN" altLang="en-US" dirty="0">
                      <a:solidFill>
                        <a:schemeClr val="tx1"/>
                      </a:solidFill>
                      <a:cs typeface="+mn-ea"/>
                      <a:sym typeface="+mn-lt"/>
                    </a:rPr>
                    <a:t>Use causal discovery algorithms such as PC Construct causal graphs from system metrics Apply graph-ranking algorithms such as </a:t>
                  </a:r>
                  <a:r>
                    <a:rPr lang="zh-CN" altLang="en-US" b="1" dirty="0">
                      <a:solidFill>
                        <a:schemeClr val="tx1"/>
                      </a:solidFill>
                      <a:cs typeface="+mn-ea"/>
                      <a:sym typeface="+mn-lt"/>
                    </a:rPr>
                    <a:t>PageRank</a:t>
                  </a:r>
                  <a:endParaRPr lang="zh-CN" altLang="en-US" b="1" dirty="0">
                    <a:solidFill>
                      <a:schemeClr val="tx1"/>
                    </a:solidFill>
                    <a:cs typeface="+mn-ea"/>
                    <a:sym typeface="+mn-lt"/>
                  </a:endParaRPr>
                </a:p>
              </p:txBody>
            </p:sp>
            <p:sp>
              <p:nvSpPr>
                <p:cNvPr id="61" name="Number1"/>
                <p:cNvSpPr/>
                <p:nvPr>
                  <p:custDataLst>
                    <p:tags r:id="rId5"/>
                  </p:custDataLst>
                </p:nvPr>
              </p:nvSpPr>
              <p:spPr>
                <a:xfrm>
                  <a:off x="765174" y="1563279"/>
                  <a:ext cx="4476386" cy="427222"/>
                </a:xfrm>
                <a:prstGeom prst="round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0" tIns="45720" rIns="0" bIns="45720" rtlCol="0" anchor="ctr">
                  <a:normAutofit/>
                </a:bodyPr>
                <a:lstStyle/>
                <a:p>
                  <a:pPr algn="ctr"/>
                  <a:r>
                    <a:rPr lang="zh-CN" altLang="en-US" sz="1050" b="1" dirty="0">
                      <a:solidFill>
                        <a:srgbClr val="FFFFFF"/>
                      </a:solidFill>
                      <a:cs typeface="+mn-ea"/>
                      <a:sym typeface="+mn-lt"/>
                    </a:rPr>
                    <a:t>2015-01</a:t>
                  </a:r>
                  <a:endParaRPr lang="en-US" dirty="0"/>
                </a:p>
              </p:txBody>
            </p:sp>
          </p:grpSp>
        </p:grpSp>
        <p:grpSp>
          <p:nvGrpSpPr>
            <p:cNvPr id="5" name="组合 4"/>
            <p:cNvGrpSpPr/>
            <p:nvPr/>
          </p:nvGrpSpPr>
          <p:grpSpPr>
            <a:xfrm>
              <a:off x="2869701" y="3955927"/>
              <a:ext cx="4230588" cy="2178173"/>
              <a:chOff x="3088123" y="3766976"/>
              <a:chExt cx="7396018" cy="2261631"/>
            </a:xfrm>
          </p:grpSpPr>
          <p:cxnSp>
            <p:nvCxnSpPr>
              <p:cNvPr id="31" name="直接连接符 30"/>
              <p:cNvCxnSpPr/>
              <p:nvPr>
                <p:custDataLst>
                  <p:tags r:id="rId6"/>
                </p:custDataLst>
              </p:nvPr>
            </p:nvCxnSpPr>
            <p:spPr>
              <a:xfrm>
                <a:off x="3088123" y="3766976"/>
                <a:ext cx="0" cy="2261631"/>
              </a:xfrm>
              <a:prstGeom prst="line">
                <a:avLst/>
              </a:prstGeom>
              <a:ln>
                <a:gradFill flip="none" rotWithShape="1">
                  <a:gsLst>
                    <a:gs pos="0">
                      <a:schemeClr val="accent2"/>
                    </a:gs>
                    <a:gs pos="100000">
                      <a:schemeClr val="accent2">
                        <a:alpha val="0"/>
                      </a:schemeClr>
                    </a:gs>
                  </a:gsLst>
                  <a:lin ang="5400000" scaled="1"/>
                  <a:tileRect/>
                </a:gradFill>
                <a:headEnd type="oval"/>
              </a:ln>
            </p:spPr>
            <p:style>
              <a:lnRef idx="1">
                <a:schemeClr val="accent1"/>
              </a:lnRef>
              <a:fillRef idx="0">
                <a:schemeClr val="accent1"/>
              </a:fillRef>
              <a:effectRef idx="0">
                <a:schemeClr val="accent1"/>
              </a:effectRef>
              <a:fontRef idx="minor">
                <a:schemeClr val="tx1"/>
              </a:fontRef>
            </p:style>
          </p:cxnSp>
          <p:sp>
            <p:nvSpPr>
              <p:cNvPr id="32" name="Number2"/>
              <p:cNvSpPr/>
              <p:nvPr>
                <p:custDataLst>
                  <p:tags r:id="rId7"/>
                </p:custDataLst>
              </p:nvPr>
            </p:nvSpPr>
            <p:spPr>
              <a:xfrm>
                <a:off x="3186888" y="5636659"/>
                <a:ext cx="4219746" cy="391947"/>
              </a:xfrm>
              <a:prstGeom prst="round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0" tIns="45720" rIns="0" bIns="45720" rtlCol="0" anchor="ctr">
                <a:normAutofit/>
              </a:bodyPr>
              <a:lstStyle/>
              <a:p>
                <a:pPr algn="ctr"/>
                <a:r>
                  <a:rPr lang="zh-CN" altLang="en-US" sz="1050" b="1" dirty="0">
                    <a:solidFill>
                      <a:srgbClr val="FFFFFF"/>
                    </a:solidFill>
                    <a:cs typeface="+mn-ea"/>
                    <a:sym typeface="+mn-lt"/>
                  </a:rPr>
                  <a:t>2016-01</a:t>
                </a:r>
                <a:endParaRPr lang="en-US" dirty="0"/>
              </a:p>
            </p:txBody>
          </p:sp>
          <p:grpSp>
            <p:nvGrpSpPr>
              <p:cNvPr id="33" name="组合 32"/>
              <p:cNvGrpSpPr/>
              <p:nvPr/>
            </p:nvGrpSpPr>
            <p:grpSpPr>
              <a:xfrm>
                <a:off x="3149275" y="3947790"/>
                <a:ext cx="7334866" cy="1663240"/>
                <a:chOff x="3149275" y="3947790"/>
                <a:chExt cx="7334866" cy="1663240"/>
              </a:xfrm>
            </p:grpSpPr>
            <p:sp>
              <p:nvSpPr>
                <p:cNvPr id="34" name="Bullet2"/>
                <p:cNvSpPr/>
                <p:nvPr>
                  <p:custDataLst>
                    <p:tags r:id="rId8"/>
                  </p:custDataLst>
                </p:nvPr>
              </p:nvSpPr>
              <p:spPr>
                <a:xfrm flipH="1">
                  <a:off x="3149275" y="3947790"/>
                  <a:ext cx="7334859" cy="496846"/>
                </a:xfrm>
                <a:prstGeom prst="rect">
                  <a:avLst/>
                </a:prstGeom>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cs typeface="+mn-ea"/>
                      <a:sym typeface="+mn-lt"/>
                    </a:rPr>
                    <a:t>Main limitation</a:t>
                  </a:r>
                  <a:endParaRPr lang="en-US" dirty="0"/>
                </a:p>
              </p:txBody>
            </p:sp>
            <p:sp>
              <p:nvSpPr>
                <p:cNvPr id="35" name="Text2"/>
                <p:cNvSpPr txBox="1"/>
                <p:nvPr>
                  <p:custDataLst>
                    <p:tags r:id="rId9"/>
                  </p:custDataLst>
                </p:nvPr>
              </p:nvSpPr>
              <p:spPr>
                <a:xfrm>
                  <a:off x="3149282" y="4444637"/>
                  <a:ext cx="7334859" cy="1166393"/>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dirty="0">
                      <a:solidFill>
                        <a:schemeClr val="tx1"/>
                      </a:solidFill>
                      <a:cs typeface="+mn-ea"/>
                      <a:sym typeface="+mn-lt"/>
                    </a:rPr>
                    <a:t>Large-scale systems contain many services and metrics The causal search space grows rapidly Pure data-driven discovery becomes </a:t>
                  </a:r>
                  <a:r>
                    <a:rPr lang="zh-CN" altLang="en-US" b="1" dirty="0">
                      <a:solidFill>
                        <a:schemeClr val="tx1"/>
                      </a:solidFill>
                      <a:cs typeface="+mn-ea"/>
                      <a:sym typeface="+mn-lt"/>
                    </a:rPr>
                    <a:t>noisy and expensive</a:t>
                  </a:r>
                  <a:endParaRPr lang="en-US" b="1" dirty="0"/>
                </a:p>
              </p:txBody>
            </p:sp>
          </p:grpSp>
        </p:grpSp>
        <p:sp>
          <p:nvSpPr>
            <p:cNvPr id="6" name="箭头: 五边形 5"/>
            <p:cNvSpPr/>
            <p:nvPr>
              <p:custDataLst>
                <p:tags r:id="rId10"/>
              </p:custDataLst>
            </p:nvPr>
          </p:nvSpPr>
          <p:spPr>
            <a:xfrm>
              <a:off x="660400" y="3798810"/>
              <a:ext cx="10858500" cy="307785"/>
            </a:xfrm>
            <a:prstGeom prst="homePlate">
              <a:avLst>
                <a:gd name="adj" fmla="val 68229"/>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grpSp>
          <p:nvGrpSpPr>
            <p:cNvPr id="7" name="组合 6"/>
            <p:cNvGrpSpPr/>
            <p:nvPr/>
          </p:nvGrpSpPr>
          <p:grpSpPr>
            <a:xfrm>
              <a:off x="5079009" y="1755422"/>
              <a:ext cx="4230582" cy="2178173"/>
              <a:chOff x="1282938" y="1583758"/>
              <a:chExt cx="7396008" cy="2261631"/>
            </a:xfrm>
          </p:grpSpPr>
          <p:cxnSp>
            <p:nvCxnSpPr>
              <p:cNvPr id="25" name="直接连接符 24"/>
              <p:cNvCxnSpPr/>
              <p:nvPr>
                <p:custDataLst>
                  <p:tags r:id="rId11"/>
                </p:custDataLst>
              </p:nvPr>
            </p:nvCxnSpPr>
            <p:spPr>
              <a:xfrm flipV="1">
                <a:off x="1282938" y="1583758"/>
                <a:ext cx="0" cy="2261631"/>
              </a:xfrm>
              <a:prstGeom prst="line">
                <a:avLst/>
              </a:prstGeom>
              <a:ln>
                <a:gradFill flip="none" rotWithShape="1">
                  <a:gsLst>
                    <a:gs pos="0">
                      <a:schemeClr val="accent3"/>
                    </a:gs>
                    <a:gs pos="100000">
                      <a:schemeClr val="accent3">
                        <a:alpha val="0"/>
                      </a:schemeClr>
                    </a:gs>
                  </a:gsLst>
                  <a:lin ang="5400000" scaled="1"/>
                  <a:tileRect/>
                </a:gradFill>
                <a:headEnd type="oval"/>
              </a:ln>
            </p:spPr>
            <p:style>
              <a:lnRef idx="1">
                <a:schemeClr val="accent1"/>
              </a:lnRef>
              <a:fillRef idx="0">
                <a:schemeClr val="accent1"/>
              </a:fillRef>
              <a:effectRef idx="0">
                <a:schemeClr val="accent1"/>
              </a:effectRef>
              <a:fontRef idx="minor">
                <a:schemeClr val="tx1"/>
              </a:fontRef>
            </p:style>
          </p:cxnSp>
          <p:grpSp>
            <p:nvGrpSpPr>
              <p:cNvPr id="26" name="组合 25"/>
              <p:cNvGrpSpPr/>
              <p:nvPr/>
            </p:nvGrpSpPr>
            <p:grpSpPr>
              <a:xfrm>
                <a:off x="1344086" y="1620740"/>
                <a:ext cx="7334860" cy="1970526"/>
                <a:chOff x="725267" y="1563279"/>
                <a:chExt cx="7780957" cy="2147865"/>
              </a:xfrm>
            </p:grpSpPr>
            <p:sp>
              <p:nvSpPr>
                <p:cNvPr id="27" name="Bullet3"/>
                <p:cNvSpPr/>
                <p:nvPr>
                  <p:custDataLst>
                    <p:tags r:id="rId12"/>
                  </p:custDataLst>
                </p:nvPr>
              </p:nvSpPr>
              <p:spPr>
                <a:xfrm flipH="1">
                  <a:off x="725267" y="2074838"/>
                  <a:ext cx="7780947" cy="541562"/>
                </a:xfrm>
                <a:prstGeom prst="rect">
                  <a:avLst/>
                </a:prstGeom>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cs typeface="+mn-ea"/>
                      <a:sym typeface="+mn-lt"/>
                    </a:rPr>
                    <a:t>Dependency-aware methods</a:t>
                  </a:r>
                  <a:endParaRPr lang="en-US" dirty="0"/>
                </a:p>
              </p:txBody>
            </p:sp>
            <p:sp>
              <p:nvSpPr>
                <p:cNvPr id="28" name="Text3"/>
                <p:cNvSpPr txBox="1"/>
                <p:nvPr>
                  <p:custDataLst>
                    <p:tags r:id="rId13"/>
                  </p:custDataLst>
                </p:nvPr>
              </p:nvSpPr>
              <p:spPr>
                <a:xfrm>
                  <a:off x="725279" y="2616400"/>
                  <a:ext cx="7780945" cy="1094744"/>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dirty="0">
                      <a:solidFill>
                        <a:schemeClr val="tx1"/>
                      </a:solidFill>
                      <a:cs typeface="+mn-ea"/>
                      <a:sym typeface="+mn-lt"/>
                    </a:rPr>
                    <a:t>Examples: </a:t>
                  </a:r>
                  <a:r>
                    <a:rPr lang="zh-CN" altLang="en-US" b="1" dirty="0">
                      <a:solidFill>
                        <a:schemeClr val="tx1"/>
                      </a:solidFill>
                      <a:cs typeface="+mn-ea"/>
                      <a:sym typeface="+mn-lt"/>
                    </a:rPr>
                    <a:t>CauseInfer, CIRCA </a:t>
                  </a:r>
                  <a:r>
                    <a:rPr lang="zh-CN" altLang="en-US" dirty="0">
                      <a:solidFill>
                        <a:schemeClr val="tx1"/>
                      </a:solidFill>
                      <a:cs typeface="+mn-ea"/>
                      <a:sym typeface="+mn-lt"/>
                    </a:rPr>
                    <a:t>Incorporate service dependency graphs Use call dependencies to prune the causal search space</a:t>
                  </a:r>
                  <a:endParaRPr lang="en-US" dirty="0"/>
                </a:p>
              </p:txBody>
            </p:sp>
            <p:sp>
              <p:nvSpPr>
                <p:cNvPr id="29" name="Number3"/>
                <p:cNvSpPr/>
                <p:nvPr>
                  <p:custDataLst>
                    <p:tags r:id="rId14"/>
                  </p:custDataLst>
                </p:nvPr>
              </p:nvSpPr>
              <p:spPr>
                <a:xfrm>
                  <a:off x="765174" y="1563279"/>
                  <a:ext cx="4476386" cy="427222"/>
                </a:xfrm>
                <a:prstGeom prst="roundRect">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0" tIns="45720" rIns="0" bIns="45720" rtlCol="0" anchor="ctr">
                  <a:normAutofit/>
                </a:bodyPr>
                <a:lstStyle/>
                <a:p>
                  <a:pPr algn="ctr"/>
                  <a:r>
                    <a:rPr lang="zh-CN" altLang="en-US" sz="1050" b="1" dirty="0">
                      <a:solidFill>
                        <a:srgbClr val="FFFFFF"/>
                      </a:solidFill>
                      <a:cs typeface="+mn-ea"/>
                      <a:sym typeface="+mn-lt"/>
                    </a:rPr>
                    <a:t>2018-01</a:t>
                  </a:r>
                  <a:endParaRPr lang="en-US" dirty="0"/>
                </a:p>
              </p:txBody>
            </p:sp>
          </p:grpSp>
        </p:grpSp>
        <p:grpSp>
          <p:nvGrpSpPr>
            <p:cNvPr id="10" name="组合 9"/>
            <p:cNvGrpSpPr/>
            <p:nvPr/>
          </p:nvGrpSpPr>
          <p:grpSpPr>
            <a:xfrm>
              <a:off x="7288312" y="3955927"/>
              <a:ext cx="4230588" cy="2178173"/>
              <a:chOff x="3088123" y="3766976"/>
              <a:chExt cx="7396018" cy="2261631"/>
            </a:xfrm>
          </p:grpSpPr>
          <p:cxnSp>
            <p:nvCxnSpPr>
              <p:cNvPr id="20" name="直接连接符 19"/>
              <p:cNvCxnSpPr/>
              <p:nvPr>
                <p:custDataLst>
                  <p:tags r:id="rId15"/>
                </p:custDataLst>
              </p:nvPr>
            </p:nvCxnSpPr>
            <p:spPr>
              <a:xfrm>
                <a:off x="3088123" y="3766976"/>
                <a:ext cx="0" cy="2261631"/>
              </a:xfrm>
              <a:prstGeom prst="line">
                <a:avLst/>
              </a:prstGeom>
              <a:ln>
                <a:gradFill flip="none" rotWithShape="1">
                  <a:gsLst>
                    <a:gs pos="0">
                      <a:schemeClr val="accent4"/>
                    </a:gs>
                    <a:gs pos="100000">
                      <a:schemeClr val="accent4">
                        <a:alpha val="0"/>
                      </a:schemeClr>
                    </a:gs>
                  </a:gsLst>
                  <a:lin ang="5400000" scaled="1"/>
                  <a:tileRect/>
                </a:gradFill>
                <a:headEnd type="oval"/>
              </a:ln>
            </p:spPr>
            <p:style>
              <a:lnRef idx="1">
                <a:schemeClr val="accent1"/>
              </a:lnRef>
              <a:fillRef idx="0">
                <a:schemeClr val="accent1"/>
              </a:fillRef>
              <a:effectRef idx="0">
                <a:schemeClr val="accent1"/>
              </a:effectRef>
              <a:fontRef idx="minor">
                <a:schemeClr val="tx1"/>
              </a:fontRef>
            </p:style>
          </p:cxnSp>
          <p:sp>
            <p:nvSpPr>
              <p:cNvPr id="21" name="Number4"/>
              <p:cNvSpPr/>
              <p:nvPr>
                <p:custDataLst>
                  <p:tags r:id="rId16"/>
                </p:custDataLst>
              </p:nvPr>
            </p:nvSpPr>
            <p:spPr>
              <a:xfrm>
                <a:off x="3186888" y="5636659"/>
                <a:ext cx="4219746" cy="391947"/>
              </a:xfrm>
              <a:prstGeom prst="round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0" tIns="45720" rIns="0" bIns="45720" rtlCol="0" anchor="ctr">
                <a:normAutofit/>
              </a:bodyPr>
              <a:lstStyle/>
              <a:p>
                <a:pPr algn="ctr"/>
                <a:r>
                  <a:rPr lang="zh-CN" altLang="en-US" sz="1050" b="1" dirty="0">
                    <a:solidFill>
                      <a:srgbClr val="FFFFFF"/>
                    </a:solidFill>
                    <a:cs typeface="+mn-ea"/>
                    <a:sym typeface="+mn-lt"/>
                  </a:rPr>
                  <a:t>2023-01</a:t>
                </a:r>
                <a:endParaRPr lang="en-US" dirty="0"/>
              </a:p>
            </p:txBody>
          </p:sp>
          <p:grpSp>
            <p:nvGrpSpPr>
              <p:cNvPr id="22" name="组合 21"/>
              <p:cNvGrpSpPr/>
              <p:nvPr/>
            </p:nvGrpSpPr>
            <p:grpSpPr>
              <a:xfrm>
                <a:off x="3149275" y="3947790"/>
                <a:ext cx="7334866" cy="1663240"/>
                <a:chOff x="3149275" y="3947790"/>
                <a:chExt cx="7334866" cy="1663240"/>
              </a:xfrm>
            </p:grpSpPr>
            <p:sp>
              <p:nvSpPr>
                <p:cNvPr id="23" name="Bullet4"/>
                <p:cNvSpPr/>
                <p:nvPr>
                  <p:custDataLst>
                    <p:tags r:id="rId17"/>
                  </p:custDataLst>
                </p:nvPr>
              </p:nvSpPr>
              <p:spPr>
                <a:xfrm flipH="1">
                  <a:off x="3149275" y="3947790"/>
                  <a:ext cx="7334859" cy="496846"/>
                </a:xfrm>
                <a:prstGeom prst="rect">
                  <a:avLst/>
                </a:prstGeom>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cs typeface="+mn-ea"/>
                      <a:sym typeface="+mn-lt"/>
                    </a:rPr>
                    <a:t>Knowledge-enhanced methods</a:t>
                  </a:r>
                  <a:endParaRPr lang="en-US" dirty="0"/>
                </a:p>
              </p:txBody>
            </p:sp>
            <p:sp>
              <p:nvSpPr>
                <p:cNvPr id="24" name="Text4"/>
                <p:cNvSpPr txBox="1"/>
                <p:nvPr>
                  <p:custDataLst>
                    <p:tags r:id="rId18"/>
                  </p:custDataLst>
                </p:nvPr>
              </p:nvSpPr>
              <p:spPr>
                <a:xfrm>
                  <a:off x="3149282" y="4444637"/>
                  <a:ext cx="7334859" cy="1166393"/>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dirty="0">
                      <a:solidFill>
                        <a:schemeClr val="tx1"/>
                      </a:solidFill>
                      <a:cs typeface="+mn-ea"/>
                      <a:sym typeface="+mn-lt"/>
                    </a:rPr>
                    <a:t>Use </a:t>
                  </a:r>
                  <a:r>
                    <a:rPr lang="zh-CN" altLang="en-US" b="1" dirty="0">
                      <a:solidFill>
                        <a:schemeClr val="tx1"/>
                      </a:solidFill>
                      <a:cs typeface="+mn-ea"/>
                      <a:sym typeface="+mn-lt"/>
                    </a:rPr>
                    <a:t>historical incidents, expert knowledge, or LLMs Extract causal relations </a:t>
                  </a:r>
                  <a:r>
                    <a:rPr lang="zh-CN" altLang="en-US" dirty="0">
                      <a:solidFill>
                        <a:schemeClr val="tx1"/>
                      </a:solidFill>
                      <a:cs typeface="+mn-ea"/>
                      <a:sym typeface="+mn-lt"/>
                    </a:rPr>
                    <a:t>from external knowledge Examples: RCACopilot, OpenRCA</a:t>
                  </a:r>
                  <a:endParaRPr lang="en-US" dirty="0"/>
                </a:p>
              </p:txBody>
            </p:sp>
          </p:grpSp>
        </p:grpSp>
      </p:grpSp>
      <p:sp>
        <p:nvSpPr>
          <p:cNvPr id="2" name="标题 1"/>
          <p:cNvSpPr>
            <a:spLocks noGrp="1"/>
          </p:cNvSpPr>
          <p:nvPr>
            <p:ph type="title" hasCustomPrompt="1"/>
          </p:nvPr>
        </p:nvSpPr>
        <p:spPr/>
        <p:txBody>
          <a:bodyPr/>
          <a:lstStyle/>
          <a:p>
            <a:r>
              <a:rPr lang="zh-CN" altLang="en-US" dirty="0"/>
              <a:t>Evolution of Causal RCA Methods</a:t>
            </a:r>
            <a:endParaRPr lang="en-US" dirty="0"/>
          </a:p>
        </p:txBody>
      </p:sp>
      <p:sp>
        <p:nvSpPr>
          <p:cNvPr id="8" name="日期占位符 7"/>
          <p:cNvSpPr>
            <a:spLocks noGrp="1"/>
          </p:cNvSpPr>
          <p:nvPr>
            <p:ph type="dt" sz="half" idx="10"/>
          </p:nvPr>
        </p:nvSpPr>
        <p:spPr/>
        <p:txBody>
          <a:bodyPr/>
          <a:lstStyle/>
          <a:p>
            <a:endParaRPr lang="en-US"/>
          </a:p>
        </p:txBody>
      </p:sp>
      <p:sp>
        <p:nvSpPr>
          <p:cNvPr id="9" name="页脚占位符 8"/>
          <p:cNvSpPr>
            <a:spLocks noGrp="1"/>
          </p:cNvSpPr>
          <p:nvPr>
            <p:ph type="ftr" sz="quarter" idx="11"/>
          </p:nvPr>
        </p:nvSpPr>
        <p:spPr/>
        <p:txBody>
          <a:bodyPr/>
          <a:lstStyle/>
          <a:p>
            <a:endParaRPr lang="en-US"/>
          </a:p>
        </p:txBody>
      </p:sp>
      <p:sp>
        <p:nvSpPr>
          <p:cNvPr id="11" name="灯片编号占位符 10"/>
          <p:cNvSpPr>
            <a:spLocks noGrp="1"/>
          </p:cNvSpPr>
          <p:nvPr>
            <p:ph type="sldNum" sz="quarter" idx="12"/>
          </p:nvPr>
        </p:nvSpPr>
        <p:spPr/>
        <p:txBody>
          <a:bodyPr/>
          <a:lstStyle/>
          <a:p>
            <a:fld id="{C8BB1146-E542-4D4E-B8E9-6919A11DDD48}" type="slidenum">
              <a:rPr lang="en-US" smtClean="0"/>
            </a:fld>
            <a:endParaRPr lang="en-US"/>
          </a:p>
        </p:txBody>
      </p:sp>
    </p:spTree>
    <p:custDataLst>
      <p:tags r:id="rId19"/>
    </p:custData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4f2a26cf-8e24-4fe5-97e7-2e245b41b5d3.source.3.zh-Hans.pptx"/>
          <p:cNvGrpSpPr/>
          <p:nvPr/>
        </p:nvGrpSpPr>
        <p:grpSpPr>
          <a:xfrm>
            <a:off x="660399" y="1130300"/>
            <a:ext cx="10858501" cy="5003800"/>
            <a:chOff x="660399" y="1130300"/>
            <a:chExt cx="10858501" cy="5003800"/>
          </a:xfrm>
        </p:grpSpPr>
        <p:sp>
          <p:nvSpPr>
            <p:cNvPr id="11" name="Title"/>
            <p:cNvSpPr/>
            <p:nvPr/>
          </p:nvSpPr>
          <p:spPr>
            <a:xfrm>
              <a:off x="660400" y="1130300"/>
              <a:ext cx="10858500" cy="9023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buSzPct val="25000"/>
              </a:pPr>
              <a:r>
                <a:rPr lang="zh-CN" altLang="en-US" sz="20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Addressing scalability, generalization, and knowledge integration issues in real-world deployment</a:t>
              </a:r>
              <a:endParaRPr lang="en-US" dirty="0"/>
            </a:p>
          </p:txBody>
        </p:sp>
        <p:grpSp>
          <p:nvGrpSpPr>
            <p:cNvPr id="13" name="组合 12"/>
            <p:cNvGrpSpPr/>
            <p:nvPr/>
          </p:nvGrpSpPr>
          <p:grpSpPr>
            <a:xfrm>
              <a:off x="660400" y="2122962"/>
              <a:ext cx="5275323" cy="1905594"/>
              <a:chOff x="660400" y="2221657"/>
              <a:chExt cx="5726091" cy="1863563"/>
            </a:xfrm>
          </p:grpSpPr>
          <p:sp>
            <p:nvSpPr>
              <p:cNvPr id="5" name="矩形: 圆角 4"/>
              <p:cNvSpPr/>
              <p:nvPr/>
            </p:nvSpPr>
            <p:spPr>
              <a:xfrm>
                <a:off x="660400" y="2221657"/>
                <a:ext cx="5726091" cy="1863563"/>
              </a:xfrm>
              <a:prstGeom prst="roundRect">
                <a:avLst>
                  <a:gd name="adj" fmla="val 0"/>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p>
            </p:txBody>
          </p:sp>
          <p:grpSp>
            <p:nvGrpSpPr>
              <p:cNvPr id="12" name="组合 11"/>
              <p:cNvGrpSpPr/>
              <p:nvPr/>
            </p:nvGrpSpPr>
            <p:grpSpPr>
              <a:xfrm>
                <a:off x="1377048" y="2282504"/>
                <a:ext cx="4884857" cy="1725849"/>
                <a:chOff x="1377048" y="2276013"/>
                <a:chExt cx="4884857" cy="1725849"/>
              </a:xfrm>
            </p:grpSpPr>
            <p:sp>
              <p:nvSpPr>
                <p:cNvPr id="3" name="Text1"/>
                <p:cNvSpPr txBox="1"/>
                <p:nvPr/>
              </p:nvSpPr>
              <p:spPr>
                <a:xfrm>
                  <a:off x="1377049" y="2876323"/>
                  <a:ext cx="4884856" cy="1125539"/>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Modern cloud-native systems contain a large number of services and metrics. Constructing causal graphs over all components is computationally expensive. The overhead grows rapidly as the system scale increases. This makes real-time incident response difficult.</a:t>
                  </a:r>
                  <a:endParaRPr lang="en-US" dirty="0"/>
                </a:p>
              </p:txBody>
            </p:sp>
            <p:sp>
              <p:nvSpPr>
                <p:cNvPr id="4" name="Bullet1"/>
                <p:cNvSpPr txBox="1"/>
                <p:nvPr/>
              </p:nvSpPr>
              <p:spPr>
                <a:xfrm>
                  <a:off x="1377048" y="2276013"/>
                  <a:ext cx="4884856" cy="600311"/>
                </a:xfrm>
                <a:prstGeom prst="rect">
                  <a:avLst/>
                </a:prstGeom>
                <a:noFill/>
              </p:spPr>
              <p:txBody>
                <a:bodyPr wrap="square" rtlCol="0" anchor="ctr">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Scalability</a:t>
                  </a:r>
                  <a:endParaRPr lang="en-US" dirty="0"/>
                </a:p>
              </p:txBody>
            </p:sp>
          </p:grpSp>
          <p:sp>
            <p:nvSpPr>
              <p:cNvPr id="10" name="Number1"/>
              <p:cNvSpPr/>
              <p:nvPr/>
            </p:nvSpPr>
            <p:spPr>
              <a:xfrm>
                <a:off x="738067" y="2370580"/>
                <a:ext cx="561313" cy="15657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6000" dirty="0">
                    <a:solidFill>
                      <a:schemeClr val="accent1"/>
                    </a:solidFill>
                  </a:rPr>
                  <a:t>1</a:t>
                </a:r>
                <a:endParaRPr lang="zh-CN" altLang="en-US" sz="6000" dirty="0">
                  <a:solidFill>
                    <a:schemeClr val="accent1"/>
                  </a:solidFill>
                </a:endParaRPr>
              </a:p>
            </p:txBody>
          </p:sp>
        </p:grpSp>
        <p:grpSp>
          <p:nvGrpSpPr>
            <p:cNvPr id="16" name="组合 15"/>
            <p:cNvGrpSpPr/>
            <p:nvPr/>
          </p:nvGrpSpPr>
          <p:grpSpPr>
            <a:xfrm>
              <a:off x="660399" y="2122962"/>
              <a:ext cx="10858501" cy="4011138"/>
              <a:chOff x="660399" y="2122962"/>
              <a:chExt cx="10858501" cy="4011138"/>
            </a:xfrm>
          </p:grpSpPr>
          <p:grpSp>
            <p:nvGrpSpPr>
              <p:cNvPr id="2" name="组合 1"/>
              <p:cNvGrpSpPr/>
              <p:nvPr/>
            </p:nvGrpSpPr>
            <p:grpSpPr>
              <a:xfrm>
                <a:off x="660399" y="4228506"/>
                <a:ext cx="10858500" cy="1905594"/>
                <a:chOff x="660399" y="2221657"/>
                <a:chExt cx="11786342" cy="1863563"/>
              </a:xfrm>
            </p:grpSpPr>
            <p:sp>
              <p:nvSpPr>
                <p:cNvPr id="6" name="矩形: 圆角 5"/>
                <p:cNvSpPr/>
                <p:nvPr/>
              </p:nvSpPr>
              <p:spPr>
                <a:xfrm>
                  <a:off x="660399" y="2221657"/>
                  <a:ext cx="11786342" cy="1863563"/>
                </a:xfrm>
                <a:prstGeom prst="roundRect">
                  <a:avLst>
                    <a:gd name="adj" fmla="val 0"/>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p>
              </p:txBody>
            </p:sp>
            <p:grpSp>
              <p:nvGrpSpPr>
                <p:cNvPr id="7" name="组合 6"/>
                <p:cNvGrpSpPr/>
                <p:nvPr/>
              </p:nvGrpSpPr>
              <p:grpSpPr>
                <a:xfrm>
                  <a:off x="1377048" y="2282504"/>
                  <a:ext cx="10945108" cy="1725849"/>
                  <a:chOff x="1377048" y="2276013"/>
                  <a:chExt cx="10945108" cy="1725849"/>
                </a:xfrm>
              </p:grpSpPr>
              <p:sp>
                <p:nvSpPr>
                  <p:cNvPr id="9" name="Text2"/>
                  <p:cNvSpPr txBox="1"/>
                  <p:nvPr/>
                </p:nvSpPr>
                <p:spPr>
                  <a:xfrm>
                    <a:off x="1377048" y="2876323"/>
                    <a:ext cx="10945107" cy="1125539"/>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Many causal graphs are learned for a specific system, topology, or historical dataset. When the system changes, the learned causal relations may no longer hold. Existing methods often need to be retrained or rebuilt for each new system.</a:t>
                    </a:r>
                    <a:endParaRPr lang="en-US" dirty="0"/>
                  </a:p>
                </p:txBody>
              </p:sp>
              <p:sp>
                <p:nvSpPr>
                  <p:cNvPr id="14" name="Bullet2"/>
                  <p:cNvSpPr txBox="1"/>
                  <p:nvPr/>
                </p:nvSpPr>
                <p:spPr>
                  <a:xfrm>
                    <a:off x="1377048" y="2276013"/>
                    <a:ext cx="10945108" cy="600311"/>
                  </a:xfrm>
                  <a:prstGeom prst="rect">
                    <a:avLst/>
                  </a:prstGeom>
                  <a:noFill/>
                </p:spPr>
                <p:txBody>
                  <a:bodyPr wrap="square" rtlCol="0" anchor="ctr">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Generalization</a:t>
                    </a:r>
                    <a:endParaRPr lang="en-US" dirty="0"/>
                  </a:p>
                </p:txBody>
              </p:sp>
            </p:grpSp>
            <p:sp>
              <p:nvSpPr>
                <p:cNvPr id="8" name="Number2"/>
                <p:cNvSpPr/>
                <p:nvPr/>
              </p:nvSpPr>
              <p:spPr>
                <a:xfrm>
                  <a:off x="738067" y="2370580"/>
                  <a:ext cx="561313" cy="15657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6000" dirty="0">
                      <a:solidFill>
                        <a:schemeClr val="accent1"/>
                      </a:solidFill>
                    </a:rPr>
                    <a:t>2</a:t>
                  </a:r>
                  <a:endParaRPr lang="zh-CN" altLang="en-US" sz="6000" dirty="0">
                    <a:solidFill>
                      <a:schemeClr val="accent1"/>
                    </a:solidFill>
                  </a:endParaRPr>
                </a:p>
              </p:txBody>
            </p:sp>
          </p:grpSp>
          <p:grpSp>
            <p:nvGrpSpPr>
              <p:cNvPr id="30" name="组合 29"/>
              <p:cNvGrpSpPr/>
              <p:nvPr/>
            </p:nvGrpSpPr>
            <p:grpSpPr>
              <a:xfrm>
                <a:off x="6243577" y="2122962"/>
                <a:ext cx="5275323" cy="1905594"/>
                <a:chOff x="660400" y="2221657"/>
                <a:chExt cx="5726091" cy="1863563"/>
              </a:xfrm>
            </p:grpSpPr>
            <p:sp>
              <p:nvSpPr>
                <p:cNvPr id="31" name="矩形: 圆角 30"/>
                <p:cNvSpPr/>
                <p:nvPr/>
              </p:nvSpPr>
              <p:spPr>
                <a:xfrm>
                  <a:off x="660400" y="2221657"/>
                  <a:ext cx="5726091" cy="1863563"/>
                </a:xfrm>
                <a:prstGeom prst="roundRect">
                  <a:avLst>
                    <a:gd name="adj" fmla="val 0"/>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p>
              </p:txBody>
            </p:sp>
            <p:grpSp>
              <p:nvGrpSpPr>
                <p:cNvPr id="32" name="组合 31"/>
                <p:cNvGrpSpPr/>
                <p:nvPr/>
              </p:nvGrpSpPr>
              <p:grpSpPr>
                <a:xfrm>
                  <a:off x="1377048" y="2282504"/>
                  <a:ext cx="4884857" cy="1725849"/>
                  <a:chOff x="1377048" y="2276013"/>
                  <a:chExt cx="4884857" cy="1725849"/>
                </a:xfrm>
              </p:grpSpPr>
              <p:sp>
                <p:nvSpPr>
                  <p:cNvPr id="34" name="Text3"/>
                  <p:cNvSpPr txBox="1"/>
                  <p:nvPr/>
                </p:nvSpPr>
                <p:spPr>
                  <a:xfrm>
                    <a:off x="1377049" y="2876323"/>
                    <a:ext cx="4884856" cy="1125539"/>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Rule-based knowledge is often rigid and system-specific. LLM-based RCA can leverage richer knowledge, but may suffer from: Hallucination Slow inference High cost Unstable online behavior</a:t>
                    </a:r>
                    <a:endParaRPr lang="en-US" dirty="0"/>
                  </a:p>
                </p:txBody>
              </p:sp>
              <p:sp>
                <p:nvSpPr>
                  <p:cNvPr id="35" name="Bullet3"/>
                  <p:cNvSpPr txBox="1"/>
                  <p:nvPr/>
                </p:nvSpPr>
                <p:spPr>
                  <a:xfrm>
                    <a:off x="1377048" y="2276013"/>
                    <a:ext cx="4884856" cy="600311"/>
                  </a:xfrm>
                  <a:prstGeom prst="rect">
                    <a:avLst/>
                  </a:prstGeom>
                  <a:noFill/>
                </p:spPr>
                <p:txBody>
                  <a:bodyPr wrap="square" rtlCol="0" anchor="ctr">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Knowledge Integration</a:t>
                    </a:r>
                    <a:endParaRPr lang="en-US" dirty="0"/>
                  </a:p>
                </p:txBody>
              </p:sp>
            </p:grpSp>
            <p:sp>
              <p:nvSpPr>
                <p:cNvPr id="33" name="Number3"/>
                <p:cNvSpPr/>
                <p:nvPr/>
              </p:nvSpPr>
              <p:spPr>
                <a:xfrm>
                  <a:off x="738067" y="2370580"/>
                  <a:ext cx="561313" cy="15657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6000" dirty="0">
                      <a:solidFill>
                        <a:schemeClr val="accent1"/>
                      </a:solidFill>
                    </a:rPr>
                    <a:t>3</a:t>
                  </a:r>
                  <a:endParaRPr lang="zh-CN" altLang="en-US" sz="6000" dirty="0">
                    <a:solidFill>
                      <a:schemeClr val="accent1"/>
                    </a:solidFill>
                  </a:endParaRPr>
                </a:p>
              </p:txBody>
            </p:sp>
          </p:grpSp>
        </p:grpSp>
      </p:grpSp>
      <p:sp>
        <p:nvSpPr>
          <p:cNvPr id="17" name="标题 16"/>
          <p:cNvSpPr>
            <a:spLocks noGrp="1"/>
          </p:cNvSpPr>
          <p:nvPr>
            <p:ph type="title" hasCustomPrompt="1"/>
          </p:nvPr>
        </p:nvSpPr>
        <p:spPr/>
        <p:txBody>
          <a:bodyPr/>
          <a:lstStyle/>
          <a:p>
            <a:r>
              <a:rPr lang="zh-CN" altLang="en-US" dirty="0"/>
              <a:t>Three Key Challenges of Existing RCA Methods</a:t>
            </a:r>
            <a:endParaRPr lang="en-US" dirty="0"/>
          </a:p>
        </p:txBody>
      </p:sp>
      <p:sp>
        <p:nvSpPr>
          <p:cNvPr id="18" name="日期占位符 17"/>
          <p:cNvSpPr>
            <a:spLocks noGrp="1"/>
          </p:cNvSpPr>
          <p:nvPr>
            <p:ph type="dt" sz="half" idx="10"/>
          </p:nvPr>
        </p:nvSpPr>
        <p:spPr/>
        <p:txBody>
          <a:bodyPr/>
          <a:lstStyle/>
          <a:p>
            <a:endParaRPr lang="en-US"/>
          </a:p>
        </p:txBody>
      </p:sp>
      <p:sp>
        <p:nvSpPr>
          <p:cNvPr id="19" name="页脚占位符 18"/>
          <p:cNvSpPr>
            <a:spLocks noGrp="1"/>
          </p:cNvSpPr>
          <p:nvPr>
            <p:ph type="ftr" sz="quarter" idx="11"/>
          </p:nvPr>
        </p:nvSpPr>
        <p:spPr/>
        <p:txBody>
          <a:bodyPr/>
          <a:lstStyle/>
          <a:p>
            <a:endParaRPr lang="en-US"/>
          </a:p>
        </p:txBody>
      </p:sp>
      <p:sp>
        <p:nvSpPr>
          <p:cNvPr id="20" name="灯片编号占位符 19"/>
          <p:cNvSpPr>
            <a:spLocks noGrp="1"/>
          </p:cNvSpPr>
          <p:nvPr>
            <p:ph type="sldNum" sz="quarter" idx="12"/>
          </p:nvPr>
        </p:nvSpPr>
        <p:spPr/>
        <p:txBody>
          <a:bodyPr/>
          <a:lstStyle/>
          <a:p>
            <a:fld id="{C8BB1146-E542-4D4E-B8E9-6919A11DDD48}" type="slidenum">
              <a:rPr lang="en-US" smtClean="0"/>
            </a:fld>
            <a:endParaRPr lang="en-US"/>
          </a:p>
        </p:txBody>
      </p:sp>
    </p:spTree>
    <p:custDataLst>
      <p:tags r:id="rId1"/>
    </p:custData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807736e4-5fac-4b10-8c1a-b4dd114fd7b1.source.3.zh-Hans.pptx"/>
          <p:cNvGrpSpPr/>
          <p:nvPr/>
        </p:nvGrpSpPr>
        <p:grpSpPr>
          <a:xfrm>
            <a:off x="1847" y="1130300"/>
            <a:ext cx="12065002" cy="5726775"/>
            <a:chOff x="1847" y="1130300"/>
            <a:chExt cx="12065002" cy="5726775"/>
          </a:xfrm>
        </p:grpSpPr>
        <p:sp>
          <p:nvSpPr>
            <p:cNvPr id="8" name="任意多边形: 形状 7"/>
            <p:cNvSpPr/>
            <p:nvPr/>
          </p:nvSpPr>
          <p:spPr>
            <a:xfrm>
              <a:off x="1847" y="2946971"/>
              <a:ext cx="12065002" cy="3910104"/>
            </a:xfrm>
            <a:custGeom>
              <a:avLst/>
              <a:gdLst>
                <a:gd name="connsiteX0" fmla="*/ 12057510 w 12065002"/>
                <a:gd name="connsiteY0" fmla="*/ 0 h 3910104"/>
                <a:gd name="connsiteX1" fmla="*/ 12056921 w 12065002"/>
                <a:gd name="connsiteY1" fmla="*/ 16085 h 3910104"/>
                <a:gd name="connsiteX2" fmla="*/ 12060502 w 12065002"/>
                <a:gd name="connsiteY2" fmla="*/ 10793 h 3910104"/>
                <a:gd name="connsiteX3" fmla="*/ 12065002 w 12065002"/>
                <a:gd name="connsiteY3" fmla="*/ 3887 h 3910104"/>
                <a:gd name="connsiteX4" fmla="*/ 12037455 w 12065002"/>
                <a:gd name="connsiteY4" fmla="*/ 590554 h 3910104"/>
                <a:gd name="connsiteX5" fmla="*/ 11865291 w 12065002"/>
                <a:gd name="connsiteY5" fmla="*/ 501229 h 3910104"/>
                <a:gd name="connsiteX6" fmla="*/ 7253835 w 12065002"/>
                <a:gd name="connsiteY6" fmla="*/ 3090134 h 3910104"/>
                <a:gd name="connsiteX7" fmla="*/ 0 w 12065002"/>
                <a:gd name="connsiteY7" fmla="*/ 3910104 h 3910104"/>
                <a:gd name="connsiteX8" fmla="*/ 0 w 12065002"/>
                <a:gd name="connsiteY8" fmla="*/ 3372213 h 3910104"/>
                <a:gd name="connsiteX9" fmla="*/ 6179530 w 12065002"/>
                <a:gd name="connsiteY9" fmla="*/ 2894206 h 3910104"/>
                <a:gd name="connsiteX10" fmla="*/ 11674434 w 12065002"/>
                <a:gd name="connsiteY10" fmla="*/ 477845 h 3910104"/>
                <a:gd name="connsiteX11" fmla="*/ 11719998 w 12065002"/>
                <a:gd name="connsiteY11" fmla="*/ 428780 h 3910104"/>
                <a:gd name="connsiteX12" fmla="*/ 11545437 w 12065002"/>
                <a:gd name="connsiteY12" fmla="*/ 343528 h 3910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065002" h="3910104">
                  <a:moveTo>
                    <a:pt x="12057510" y="0"/>
                  </a:moveTo>
                  <a:lnTo>
                    <a:pt x="12056921" y="16085"/>
                  </a:lnTo>
                  <a:lnTo>
                    <a:pt x="12060502" y="10793"/>
                  </a:lnTo>
                  <a:cubicBezTo>
                    <a:pt x="12063516" y="6233"/>
                    <a:pt x="12065002" y="3887"/>
                    <a:pt x="12065002" y="3887"/>
                  </a:cubicBezTo>
                  <a:lnTo>
                    <a:pt x="12037455" y="590554"/>
                  </a:lnTo>
                  <a:lnTo>
                    <a:pt x="11865291" y="501229"/>
                  </a:lnTo>
                  <a:cubicBezTo>
                    <a:pt x="11865291" y="501229"/>
                    <a:pt x="10643750" y="2358665"/>
                    <a:pt x="7253835" y="3090134"/>
                  </a:cubicBezTo>
                  <a:cubicBezTo>
                    <a:pt x="3948899" y="3803208"/>
                    <a:pt x="0" y="3910104"/>
                    <a:pt x="0" y="3910104"/>
                  </a:cubicBezTo>
                  <a:lnTo>
                    <a:pt x="0" y="3372213"/>
                  </a:lnTo>
                  <a:cubicBezTo>
                    <a:pt x="0" y="3372213"/>
                    <a:pt x="2013151" y="3360695"/>
                    <a:pt x="6179530" y="2894206"/>
                  </a:cubicBezTo>
                  <a:cubicBezTo>
                    <a:pt x="9315625" y="2543077"/>
                    <a:pt x="10984028" y="1203553"/>
                    <a:pt x="11674434" y="477845"/>
                  </a:cubicBezTo>
                  <a:lnTo>
                    <a:pt x="11719998" y="428780"/>
                  </a:lnTo>
                  <a:lnTo>
                    <a:pt x="11545437" y="343528"/>
                  </a:lnTo>
                  <a:close/>
                </a:path>
              </a:pathLst>
            </a:cu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Title"/>
            <p:cNvSpPr txBox="1"/>
            <p:nvPr/>
          </p:nvSpPr>
          <p:spPr>
            <a:xfrm>
              <a:off x="660400" y="1130300"/>
              <a:ext cx="5168900" cy="1041400"/>
            </a:xfrm>
            <a:prstGeom prst="rect">
              <a:avLst/>
            </a:prstGeom>
            <a:noFill/>
          </p:spPr>
          <p:txBody>
            <a:bodyPr wrap="square" lIns="91440" tIns="45720" rIns="91440" bIns="45720" rtlCol="0" anchor="ctr" anchorCtr="0">
              <a:norm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spcBef>
                  <a:spcPts val="0"/>
                </a:spcBef>
                <a:spcAft>
                  <a:spcPts val="100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Separating offline knowledge construction from online inference to enable fast root cause analysis</a:t>
              </a:r>
              <a:endParaRPr lang="en-US" dirty="0"/>
            </a:p>
          </p:txBody>
        </p:sp>
        <p:grpSp>
          <p:nvGrpSpPr>
            <p:cNvPr id="6" name="组合 5"/>
            <p:cNvGrpSpPr/>
            <p:nvPr/>
          </p:nvGrpSpPr>
          <p:grpSpPr>
            <a:xfrm>
              <a:off x="660400" y="3220365"/>
              <a:ext cx="3662218" cy="3118323"/>
              <a:chOff x="1430410" y="3131288"/>
              <a:chExt cx="3986744" cy="3394653"/>
            </a:xfrm>
          </p:grpSpPr>
          <p:sp>
            <p:nvSpPr>
              <p:cNvPr id="3" name="Shape1"/>
              <p:cNvSpPr/>
              <p:nvPr/>
            </p:nvSpPr>
            <p:spPr>
              <a:xfrm>
                <a:off x="1689885" y="6370838"/>
                <a:ext cx="155103" cy="155103"/>
              </a:xfrm>
              <a:prstGeom prst="ellipse">
                <a:avLst/>
              </a:prstGeom>
              <a:solidFill>
                <a:schemeClr val="bg1"/>
              </a:solidFill>
              <a:ln w="19050">
                <a:solidFill>
                  <a:schemeClr val="accent1">
                    <a:lumMod val="60000"/>
                    <a:lumOff val="40000"/>
                  </a:schemeClr>
                </a:solidFill>
              </a:ln>
              <a:effectLst>
                <a:outerShdw blurRad="787400" sx="98000" sy="98000" algn="ctr"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7" name="Line1"/>
              <p:cNvCxnSpPr/>
              <p:nvPr/>
            </p:nvCxnSpPr>
            <p:spPr>
              <a:xfrm>
                <a:off x="1767435" y="3776389"/>
                <a:ext cx="0" cy="2412000"/>
              </a:xfrm>
              <a:prstGeom prst="line">
                <a:avLst/>
              </a:prstGeom>
              <a:ln w="6350" cap="rnd">
                <a:gradFill flip="none" rotWithShape="1">
                  <a:gsLst>
                    <a:gs pos="0">
                      <a:schemeClr val="accent1">
                        <a:alpha val="0"/>
                      </a:schemeClr>
                    </a:gs>
                    <a:gs pos="100000">
                      <a:schemeClr val="accent1"/>
                    </a:gs>
                  </a:gsLst>
                  <a:lin ang="16200000" scaled="1"/>
                  <a:tileRect/>
                </a:gradFill>
                <a:prstDash val="solid"/>
                <a:round/>
              </a:ln>
            </p:spPr>
            <p:style>
              <a:lnRef idx="1">
                <a:schemeClr val="accent1"/>
              </a:lnRef>
              <a:fillRef idx="0">
                <a:schemeClr val="accent1"/>
              </a:fillRef>
              <a:effectRef idx="0">
                <a:schemeClr val="accent1"/>
              </a:effectRef>
              <a:fontRef idx="minor">
                <a:schemeClr val="tx1"/>
              </a:fontRef>
            </p:style>
          </p:cxnSp>
          <p:sp>
            <p:nvSpPr>
              <p:cNvPr id="12" name="Number1"/>
              <p:cNvSpPr>
                <a:spLocks noChangeAspect="1"/>
              </p:cNvSpPr>
              <p:nvPr/>
            </p:nvSpPr>
            <p:spPr bwMode="auto">
              <a:xfrm>
                <a:off x="1430410" y="3131288"/>
                <a:ext cx="674053" cy="674471"/>
              </a:xfrm>
              <a:custGeom>
                <a:avLst/>
                <a:gdLst>
                  <a:gd name="T0" fmla="*/ 423 w 674"/>
                  <a:gd name="T1" fmla="*/ 48 h 674"/>
                  <a:gd name="T2" fmla="*/ 626 w 674"/>
                  <a:gd name="T3" fmla="*/ 250 h 674"/>
                  <a:gd name="T4" fmla="*/ 626 w 674"/>
                  <a:gd name="T5" fmla="*/ 424 h 674"/>
                  <a:gd name="T6" fmla="*/ 423 w 674"/>
                  <a:gd name="T7" fmla="*/ 626 h 674"/>
                  <a:gd name="T8" fmla="*/ 250 w 674"/>
                  <a:gd name="T9" fmla="*/ 626 h 674"/>
                  <a:gd name="T10" fmla="*/ 48 w 674"/>
                  <a:gd name="T11" fmla="*/ 424 h 674"/>
                  <a:gd name="T12" fmla="*/ 48 w 674"/>
                  <a:gd name="T13" fmla="*/ 250 h 674"/>
                  <a:gd name="T14" fmla="*/ 250 w 674"/>
                  <a:gd name="T15" fmla="*/ 48 h 674"/>
                  <a:gd name="T16" fmla="*/ 423 w 674"/>
                  <a:gd name="T17" fmla="*/ 48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4" h="674">
                    <a:moveTo>
                      <a:pt x="423" y="48"/>
                    </a:moveTo>
                    <a:cubicBezTo>
                      <a:pt x="626" y="250"/>
                      <a:pt x="626" y="250"/>
                      <a:pt x="626" y="250"/>
                    </a:cubicBezTo>
                    <a:cubicBezTo>
                      <a:pt x="674" y="298"/>
                      <a:pt x="674" y="376"/>
                      <a:pt x="626" y="424"/>
                    </a:cubicBezTo>
                    <a:cubicBezTo>
                      <a:pt x="423" y="626"/>
                      <a:pt x="423" y="626"/>
                      <a:pt x="423" y="626"/>
                    </a:cubicBezTo>
                    <a:cubicBezTo>
                      <a:pt x="375" y="674"/>
                      <a:pt x="298" y="674"/>
                      <a:pt x="250" y="626"/>
                    </a:cubicBezTo>
                    <a:cubicBezTo>
                      <a:pt x="48" y="424"/>
                      <a:pt x="48" y="424"/>
                      <a:pt x="48" y="424"/>
                    </a:cubicBezTo>
                    <a:cubicBezTo>
                      <a:pt x="0" y="376"/>
                      <a:pt x="0" y="298"/>
                      <a:pt x="48" y="250"/>
                    </a:cubicBezTo>
                    <a:cubicBezTo>
                      <a:pt x="250" y="48"/>
                      <a:pt x="250" y="48"/>
                      <a:pt x="250" y="48"/>
                    </a:cubicBezTo>
                    <a:cubicBezTo>
                      <a:pt x="298" y="0"/>
                      <a:pt x="375" y="0"/>
                      <a:pt x="423" y="48"/>
                    </a:cubicBezTo>
                    <a:close/>
                  </a:path>
                </a:pathLst>
              </a:cu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1</a:t>
                </a:r>
                <a:endParaRPr lang="zh-CN" altLang="en-US"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Bullet1"/>
              <p:cNvSpPr txBox="1"/>
              <p:nvPr/>
            </p:nvSpPr>
            <p:spPr>
              <a:xfrm>
                <a:off x="1815790" y="3852897"/>
                <a:ext cx="3601364" cy="590660"/>
              </a:xfrm>
              <a:prstGeom prst="rect">
                <a:avLst/>
              </a:prstGeom>
              <a:noFill/>
            </p:spPr>
            <p:txBody>
              <a:bodyPr wrap="square" lIns="91440" tIns="45720" rIns="91440" bIns="45720" rtlCol="0" anchor="ctr" anchorCtr="0">
                <a:normAutofit/>
              </a:bodyPr>
              <a:lstStyle/>
              <a:p>
                <a:pPr>
                  <a:lnSpc>
                    <a:spcPct val="120000"/>
                  </a:lnSpc>
                </a:pPr>
                <a:r>
                  <a:rPr lang="zh-CN" altLang="en-US" sz="1600" b="1" dirty="0">
                    <a:latin typeface="Arial" panose="020B0604020202020204" pitchFamily="34" charset="0"/>
                    <a:ea typeface="微软雅黑" panose="020B0503020204020204" pitchFamily="34" charset="-122"/>
                    <a:cs typeface="+mn-ea"/>
                    <a:sym typeface="Arial" panose="020B0604020202020204" pitchFamily="34" charset="0"/>
                  </a:rPr>
                  <a:t>Offline Stage: Build Reusable Knowledge</a:t>
                </a:r>
                <a:endParaRPr lang="en-US" dirty="0"/>
              </a:p>
            </p:txBody>
          </p:sp>
          <p:sp>
            <p:nvSpPr>
              <p:cNvPr id="16" name="Text1"/>
              <p:cNvSpPr txBox="1"/>
              <p:nvPr/>
            </p:nvSpPr>
            <p:spPr>
              <a:xfrm>
                <a:off x="1815789" y="4461173"/>
                <a:ext cx="3601359" cy="1587360"/>
              </a:xfrm>
              <a:prstGeom prst="rect">
                <a:avLst/>
              </a:prstGeom>
              <a:noFill/>
            </p:spPr>
            <p:txBody>
              <a:bodyPr wrap="square" lIns="91440" tIns="45720" rIns="91440" bIns="45720" rtlCol="0" anchor="t" anchorCtr="0">
                <a:noAutofit/>
              </a:bodyPr>
              <a:lstStyle/>
              <a:p>
                <a:pPr marL="0" marR="0" lvl="0" indent="0" algn="l">
                  <a:lnSpc>
                    <a:spcPct val="120000"/>
                  </a:lnSpc>
                </a:pPr>
                <a:r>
                  <a:rPr lang="zh-CN" altLang="en-US" sz="1000" baseline="0" dirty="0">
                    <a:solidFill>
                      <a:schemeClr val="tx1"/>
                    </a:solidFill>
                  </a:rPr>
                  <a:t>Construct a reusable causal knowledge base before failures occur. Integrate causal evidence from multiple sources. Avoid rebuilding causal graphs from scratch for every incident.</a:t>
                </a:r>
                <a:endParaRPr lang="zh-CN" altLang="en-US" dirty="0"/>
              </a:p>
              <a:p>
                <a:pPr marL="0" marR="0" lvl="0" indent="0" algn="l">
                  <a:lnSpc>
                    <a:spcPct val="120000"/>
                  </a:lnSpc>
                </a:pPr>
                <a:endParaRPr lang="zh-CN" altLang="en-US" dirty="0"/>
              </a:p>
              <a:p>
                <a:pPr marL="0" marR="0" lvl="0" indent="0" algn="l">
                  <a:lnSpc>
                    <a:spcPct val="120000"/>
                  </a:lnSpc>
                </a:pPr>
                <a:endParaRPr lang="zh-CN" altLang="en-US" dirty="0"/>
              </a:p>
              <a:p>
                <a:pPr marL="0" marR="0" lvl="0" indent="0" algn="l">
                  <a:lnSpc>
                    <a:spcPct val="120000"/>
                  </a:lnSpc>
                </a:pPr>
                <a:r>
                  <a:rPr lang="zh-CN" altLang="en-US" sz="1600" b="1" baseline="0" dirty="0">
                    <a:solidFill>
                      <a:schemeClr val="tx1"/>
                    </a:solidFill>
                  </a:rPr>
                  <a:t>Meta Causal Graph，MCG</a:t>
                </a:r>
                <a:endParaRPr lang="zh-CN" altLang="en-US" dirty="0"/>
              </a:p>
            </p:txBody>
          </p:sp>
        </p:grpSp>
        <p:grpSp>
          <p:nvGrpSpPr>
            <p:cNvPr id="21" name="组合 20"/>
            <p:cNvGrpSpPr/>
            <p:nvPr/>
          </p:nvGrpSpPr>
          <p:grpSpPr>
            <a:xfrm>
              <a:off x="4258541" y="2403956"/>
              <a:ext cx="3662218" cy="3676429"/>
              <a:chOff x="1430410" y="3131288"/>
              <a:chExt cx="3986744" cy="4002211"/>
            </a:xfrm>
          </p:grpSpPr>
          <p:sp>
            <p:nvSpPr>
              <p:cNvPr id="23" name="Shape2"/>
              <p:cNvSpPr/>
              <p:nvPr/>
            </p:nvSpPr>
            <p:spPr>
              <a:xfrm>
                <a:off x="1689885" y="6978397"/>
                <a:ext cx="155103" cy="155102"/>
              </a:xfrm>
              <a:prstGeom prst="ellipse">
                <a:avLst/>
              </a:prstGeom>
              <a:solidFill>
                <a:schemeClr val="bg1"/>
              </a:solidFill>
              <a:ln w="19050">
                <a:solidFill>
                  <a:schemeClr val="accent1">
                    <a:lumMod val="60000"/>
                    <a:lumOff val="40000"/>
                  </a:schemeClr>
                </a:solidFill>
              </a:ln>
              <a:effectLst>
                <a:outerShdw blurRad="787400" sx="98000" sy="98000" algn="ctr"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dirty="0">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25" name="Line1"/>
              <p:cNvCxnSpPr/>
              <p:nvPr/>
            </p:nvCxnSpPr>
            <p:spPr>
              <a:xfrm>
                <a:off x="1767435" y="3776389"/>
                <a:ext cx="0" cy="2412000"/>
              </a:xfrm>
              <a:prstGeom prst="line">
                <a:avLst/>
              </a:prstGeom>
              <a:ln w="6350" cap="rnd">
                <a:gradFill flip="none" rotWithShape="1">
                  <a:gsLst>
                    <a:gs pos="0">
                      <a:schemeClr val="accent1">
                        <a:alpha val="0"/>
                      </a:schemeClr>
                    </a:gs>
                    <a:gs pos="100000">
                      <a:schemeClr val="accent1"/>
                    </a:gs>
                  </a:gsLst>
                  <a:lin ang="16200000" scaled="1"/>
                  <a:tileRect/>
                </a:gradFill>
                <a:prstDash val="solid"/>
                <a:round/>
              </a:ln>
            </p:spPr>
            <p:style>
              <a:lnRef idx="1">
                <a:schemeClr val="accent1"/>
              </a:lnRef>
              <a:fillRef idx="0">
                <a:schemeClr val="accent1"/>
              </a:fillRef>
              <a:effectRef idx="0">
                <a:schemeClr val="accent1"/>
              </a:effectRef>
              <a:fontRef idx="minor">
                <a:schemeClr val="tx1"/>
              </a:fontRef>
            </p:style>
          </p:cxnSp>
          <p:sp>
            <p:nvSpPr>
              <p:cNvPr id="26" name="Number2"/>
              <p:cNvSpPr>
                <a:spLocks noChangeAspect="1"/>
              </p:cNvSpPr>
              <p:nvPr/>
            </p:nvSpPr>
            <p:spPr bwMode="auto">
              <a:xfrm>
                <a:off x="1430410" y="3131288"/>
                <a:ext cx="674053" cy="674471"/>
              </a:xfrm>
              <a:custGeom>
                <a:avLst/>
                <a:gdLst>
                  <a:gd name="T0" fmla="*/ 423 w 674"/>
                  <a:gd name="T1" fmla="*/ 48 h 674"/>
                  <a:gd name="T2" fmla="*/ 626 w 674"/>
                  <a:gd name="T3" fmla="*/ 250 h 674"/>
                  <a:gd name="T4" fmla="*/ 626 w 674"/>
                  <a:gd name="T5" fmla="*/ 424 h 674"/>
                  <a:gd name="T6" fmla="*/ 423 w 674"/>
                  <a:gd name="T7" fmla="*/ 626 h 674"/>
                  <a:gd name="T8" fmla="*/ 250 w 674"/>
                  <a:gd name="T9" fmla="*/ 626 h 674"/>
                  <a:gd name="T10" fmla="*/ 48 w 674"/>
                  <a:gd name="T11" fmla="*/ 424 h 674"/>
                  <a:gd name="T12" fmla="*/ 48 w 674"/>
                  <a:gd name="T13" fmla="*/ 250 h 674"/>
                  <a:gd name="T14" fmla="*/ 250 w 674"/>
                  <a:gd name="T15" fmla="*/ 48 h 674"/>
                  <a:gd name="T16" fmla="*/ 423 w 674"/>
                  <a:gd name="T17" fmla="*/ 48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4" h="674">
                    <a:moveTo>
                      <a:pt x="423" y="48"/>
                    </a:moveTo>
                    <a:cubicBezTo>
                      <a:pt x="626" y="250"/>
                      <a:pt x="626" y="250"/>
                      <a:pt x="626" y="250"/>
                    </a:cubicBezTo>
                    <a:cubicBezTo>
                      <a:pt x="674" y="298"/>
                      <a:pt x="674" y="376"/>
                      <a:pt x="626" y="424"/>
                    </a:cubicBezTo>
                    <a:cubicBezTo>
                      <a:pt x="423" y="626"/>
                      <a:pt x="423" y="626"/>
                      <a:pt x="423" y="626"/>
                    </a:cubicBezTo>
                    <a:cubicBezTo>
                      <a:pt x="375" y="674"/>
                      <a:pt x="298" y="674"/>
                      <a:pt x="250" y="626"/>
                    </a:cubicBezTo>
                    <a:cubicBezTo>
                      <a:pt x="48" y="424"/>
                      <a:pt x="48" y="424"/>
                      <a:pt x="48" y="424"/>
                    </a:cubicBezTo>
                    <a:cubicBezTo>
                      <a:pt x="0" y="376"/>
                      <a:pt x="0" y="298"/>
                      <a:pt x="48" y="250"/>
                    </a:cubicBezTo>
                    <a:cubicBezTo>
                      <a:pt x="250" y="48"/>
                      <a:pt x="250" y="48"/>
                      <a:pt x="250" y="48"/>
                    </a:cubicBezTo>
                    <a:cubicBezTo>
                      <a:pt x="298" y="0"/>
                      <a:pt x="375" y="0"/>
                      <a:pt x="423" y="48"/>
                    </a:cubicBezTo>
                    <a:close/>
                  </a:path>
                </a:pathLst>
              </a:cu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2</a:t>
                </a:r>
                <a:endParaRPr lang="zh-CN" altLang="en-US"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Bullet2"/>
              <p:cNvSpPr txBox="1"/>
              <p:nvPr/>
            </p:nvSpPr>
            <p:spPr>
              <a:xfrm>
                <a:off x="1815790" y="3852898"/>
                <a:ext cx="3601364" cy="590660"/>
              </a:xfrm>
              <a:prstGeom prst="rect">
                <a:avLst/>
              </a:prstGeom>
              <a:noFill/>
            </p:spPr>
            <p:txBody>
              <a:bodyPr wrap="square" lIns="91440" tIns="45720" rIns="91440" bIns="45720" rtlCol="0" anchor="ctr" anchorCtr="0">
                <a:normAutofit/>
              </a:bodyPr>
              <a:lstStyle/>
              <a:p>
                <a:pPr>
                  <a:lnSpc>
                    <a:spcPct val="120000"/>
                  </a:lnSpc>
                </a:pPr>
                <a:r>
                  <a:rPr lang="zh-CN" altLang="en-US" sz="1600" b="1" dirty="0">
                    <a:latin typeface="Arial" panose="020B0604020202020204" pitchFamily="34" charset="0"/>
                    <a:ea typeface="微软雅黑" panose="020B0503020204020204" pitchFamily="34" charset="-122"/>
                    <a:cs typeface="+mn-ea"/>
                    <a:sym typeface="Arial" panose="020B0604020202020204" pitchFamily="34" charset="0"/>
                  </a:rPr>
                  <a:t>Online Stage: Perform Fast RCA</a:t>
                </a:r>
                <a:endParaRPr lang="en-US" dirty="0"/>
              </a:p>
            </p:txBody>
          </p:sp>
          <p:sp>
            <p:nvSpPr>
              <p:cNvPr id="28" name="Text2"/>
              <p:cNvSpPr txBox="1"/>
              <p:nvPr/>
            </p:nvSpPr>
            <p:spPr>
              <a:xfrm>
                <a:off x="1815789" y="4461172"/>
                <a:ext cx="3601359" cy="1864172"/>
              </a:xfrm>
              <a:prstGeom prst="rect">
                <a:avLst/>
              </a:prstGeom>
              <a:noFill/>
            </p:spPr>
            <p:txBody>
              <a:bodyPr wrap="square" lIns="91440" tIns="45720" rIns="91440" bIns="45720" rtlCol="0" anchor="t" anchorCtr="0">
                <a:normAutofit/>
              </a:bodyPr>
              <a:lstStyle/>
              <a:p>
                <a:pPr>
                  <a:lnSpc>
                    <a:spcPct val="120000"/>
                  </a:lnSpc>
                </a:pPr>
                <a:r>
                  <a:rPr lang="zh-CN" altLang="en-US" sz="1000" dirty="0">
                    <a:latin typeface="Arial" panose="020B0604020202020204" pitchFamily="34" charset="0"/>
                    <a:ea typeface="微软雅黑" panose="020B0503020204020204" pitchFamily="34" charset="-122"/>
                    <a:cs typeface="+mn-ea"/>
                    <a:sym typeface="Arial" panose="020B0604020202020204" pitchFamily="34" charset="0"/>
                  </a:rPr>
                  <a:t>Instantiate the knowledge base according to the current system context. Weight and prune causal relations based on runtime evidence. Rank suspicious components for root cause localization.</a:t>
                </a:r>
                <a:endParaRPr lang="en-US" dirty="0"/>
              </a:p>
            </p:txBody>
          </p:sp>
        </p:grpSp>
        <p:grpSp>
          <p:nvGrpSpPr>
            <p:cNvPr id="29" name="组合 28"/>
            <p:cNvGrpSpPr/>
            <p:nvPr/>
          </p:nvGrpSpPr>
          <p:grpSpPr>
            <a:xfrm>
              <a:off x="7856682" y="1130300"/>
              <a:ext cx="3662218" cy="4379264"/>
              <a:chOff x="1430410" y="3131288"/>
              <a:chExt cx="3986744" cy="4767328"/>
            </a:xfrm>
          </p:grpSpPr>
          <p:sp>
            <p:nvSpPr>
              <p:cNvPr id="30" name="Shape3"/>
              <p:cNvSpPr/>
              <p:nvPr/>
            </p:nvSpPr>
            <p:spPr>
              <a:xfrm>
                <a:off x="1689885" y="7743514"/>
                <a:ext cx="155103" cy="155102"/>
              </a:xfrm>
              <a:prstGeom prst="ellipse">
                <a:avLst/>
              </a:prstGeom>
              <a:solidFill>
                <a:schemeClr val="bg1"/>
              </a:solidFill>
              <a:ln w="19050">
                <a:solidFill>
                  <a:schemeClr val="accent1">
                    <a:lumMod val="60000"/>
                    <a:lumOff val="40000"/>
                  </a:schemeClr>
                </a:solidFill>
              </a:ln>
              <a:effectLst>
                <a:outerShdw blurRad="787400" sx="98000" sy="98000" algn="ctr"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31" name="Line1"/>
              <p:cNvCxnSpPr/>
              <p:nvPr/>
            </p:nvCxnSpPr>
            <p:spPr>
              <a:xfrm>
                <a:off x="1767435" y="3776389"/>
                <a:ext cx="0" cy="3798382"/>
              </a:xfrm>
              <a:prstGeom prst="line">
                <a:avLst/>
              </a:prstGeom>
              <a:ln w="6350" cap="rnd">
                <a:gradFill flip="none" rotWithShape="1">
                  <a:gsLst>
                    <a:gs pos="0">
                      <a:schemeClr val="accent1">
                        <a:alpha val="0"/>
                      </a:schemeClr>
                    </a:gs>
                    <a:gs pos="100000">
                      <a:schemeClr val="accent1"/>
                    </a:gs>
                  </a:gsLst>
                  <a:lin ang="16200000" scaled="1"/>
                  <a:tileRect/>
                </a:gradFill>
                <a:prstDash val="solid"/>
                <a:round/>
              </a:ln>
            </p:spPr>
            <p:style>
              <a:lnRef idx="1">
                <a:schemeClr val="accent1"/>
              </a:lnRef>
              <a:fillRef idx="0">
                <a:schemeClr val="accent1"/>
              </a:fillRef>
              <a:effectRef idx="0">
                <a:schemeClr val="accent1"/>
              </a:effectRef>
              <a:fontRef idx="minor">
                <a:schemeClr val="tx1"/>
              </a:fontRef>
            </p:style>
          </p:cxnSp>
          <p:sp>
            <p:nvSpPr>
              <p:cNvPr id="33" name="Bullet3"/>
              <p:cNvSpPr txBox="1"/>
              <p:nvPr/>
            </p:nvSpPr>
            <p:spPr>
              <a:xfrm>
                <a:off x="1815790" y="3852897"/>
                <a:ext cx="3601364" cy="590659"/>
              </a:xfrm>
              <a:prstGeom prst="rect">
                <a:avLst/>
              </a:prstGeom>
              <a:noFill/>
            </p:spPr>
            <p:txBody>
              <a:bodyPr wrap="square" lIns="91440" tIns="45720" rIns="91440" bIns="45720" rtlCol="0" anchor="ctr" anchorCtr="0">
                <a:normAutofit/>
              </a:bodyPr>
              <a:lstStyle/>
              <a:p>
                <a:pPr>
                  <a:lnSpc>
                    <a:spcPct val="120000"/>
                  </a:lnSpc>
                </a:pPr>
                <a:r>
                  <a:rPr lang="zh-CN" altLang="en-US" sz="1600" b="1" dirty="0">
                    <a:latin typeface="Arial" panose="020B0604020202020204" pitchFamily="34" charset="0"/>
                    <a:ea typeface="微软雅黑" panose="020B0503020204020204" pitchFamily="34" charset="-122"/>
                    <a:cs typeface="+mn-ea"/>
                    <a:sym typeface="Arial" panose="020B0604020202020204" pitchFamily="34" charset="0"/>
                  </a:rPr>
                  <a:t>Key Idea</a:t>
                </a:r>
                <a:endParaRPr lang="en-US" dirty="0"/>
              </a:p>
            </p:txBody>
          </p:sp>
          <p:sp>
            <p:nvSpPr>
              <p:cNvPr id="34" name="Text3"/>
              <p:cNvSpPr txBox="1"/>
              <p:nvPr/>
            </p:nvSpPr>
            <p:spPr>
              <a:xfrm>
                <a:off x="1815789" y="4461173"/>
                <a:ext cx="3601359" cy="2088255"/>
              </a:xfrm>
              <a:prstGeom prst="rect">
                <a:avLst/>
              </a:prstGeom>
              <a:noFill/>
            </p:spPr>
            <p:txBody>
              <a:bodyPr wrap="square" lIns="91440" tIns="45720" rIns="91440" bIns="45720" rtlCol="0" anchor="t" anchorCtr="0">
                <a:normAutofit/>
              </a:bodyPr>
              <a:lstStyle/>
              <a:p>
                <a:pPr>
                  <a:lnSpc>
                    <a:spcPct val="120000"/>
                  </a:lnSpc>
                </a:pPr>
                <a:r>
                  <a:rPr lang="zh-CN" altLang="en-US" sz="1000" dirty="0">
                    <a:latin typeface="Arial" panose="020B0604020202020204" pitchFamily="34" charset="0"/>
                    <a:ea typeface="微软雅黑" panose="020B0503020204020204" pitchFamily="34" charset="-122"/>
                    <a:cs typeface="+mn-ea"/>
                    <a:sym typeface="Arial" panose="020B0604020202020204" pitchFamily="34" charset="0"/>
                  </a:rPr>
                  <a:t>Do not start RCA from scratch for every failure. Instead, reuse general causal knowledge and adapt it to the current incident.</a:t>
                </a:r>
                <a:endParaRPr lang="en-US" dirty="0"/>
              </a:p>
            </p:txBody>
          </p:sp>
        </p:grpSp>
      </p:grpSp>
      <p:sp>
        <p:nvSpPr>
          <p:cNvPr id="2" name="标题 1"/>
          <p:cNvSpPr>
            <a:spLocks noGrp="1"/>
          </p:cNvSpPr>
          <p:nvPr>
            <p:ph type="title" hasCustomPrompt="1"/>
          </p:nvPr>
        </p:nvSpPr>
        <p:spPr/>
        <p:txBody>
          <a:bodyPr/>
          <a:lstStyle/>
          <a:p>
            <a:r>
              <a:rPr lang="zh-CN" altLang="en-US" dirty="0"/>
              <a:t>MetaRCA: Decoupling Offline Knowledge and Online Inference</a:t>
            </a:r>
            <a:endParaRPr lang="en-US" dirty="0"/>
          </a:p>
        </p:txBody>
      </p:sp>
      <p:sp>
        <p:nvSpPr>
          <p:cNvPr id="5" name="日期占位符 4"/>
          <p:cNvSpPr>
            <a:spLocks noGrp="1"/>
          </p:cNvSpPr>
          <p:nvPr>
            <p:ph type="dt" sz="half" idx="10"/>
          </p:nvPr>
        </p:nvSpPr>
        <p:spPr/>
        <p:txBody>
          <a:bodyPr/>
          <a:lstStyle/>
          <a:p>
            <a:endParaRPr lang="en-US"/>
          </a:p>
        </p:txBody>
      </p:sp>
      <p:sp>
        <p:nvSpPr>
          <p:cNvPr id="10" name="页脚占位符 9"/>
          <p:cNvSpPr>
            <a:spLocks noGrp="1"/>
          </p:cNvSpPr>
          <p:nvPr>
            <p:ph type="ftr" sz="quarter" idx="11"/>
          </p:nvPr>
        </p:nvSpPr>
        <p:spPr/>
        <p:txBody>
          <a:bodyPr/>
          <a:lstStyle/>
          <a:p>
            <a:endParaRPr lang="en-US"/>
          </a:p>
        </p:txBody>
      </p:sp>
      <p:sp>
        <p:nvSpPr>
          <p:cNvPr id="11" name="灯片编号占位符 10"/>
          <p:cNvSpPr>
            <a:spLocks noGrp="1"/>
          </p:cNvSpPr>
          <p:nvPr>
            <p:ph type="sldNum" sz="quarter" idx="12"/>
          </p:nvPr>
        </p:nvSpPr>
        <p:spPr/>
        <p:txBody>
          <a:bodyPr/>
          <a:lstStyle/>
          <a:p>
            <a:fld id="{C8BB1146-E542-4D4E-B8E9-6919A11DDD48}" type="slidenum">
              <a:rPr lang="en-US" smtClean="0"/>
            </a:fld>
            <a:endParaRPr lang="en-US"/>
          </a:p>
        </p:txBody>
      </p:sp>
    </p:spTree>
    <p:custDataLst>
      <p:tags r:id="rId1"/>
    </p:custData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 name="506dc21b-7223-4111-bdc1-7d2b884b41ff.source.4.zh-Hans.pptx"/>
          <p:cNvGrpSpPr/>
          <p:nvPr>
            <p:custDataLst>
              <p:tags r:id="rId1"/>
            </p:custDataLst>
          </p:nvPr>
        </p:nvGrpSpPr>
        <p:grpSpPr>
          <a:xfrm>
            <a:off x="660400" y="1130301"/>
            <a:ext cx="10858500" cy="5003799"/>
            <a:chOff x="660400" y="1130301"/>
            <a:chExt cx="10858500" cy="5003799"/>
          </a:xfrm>
        </p:grpSpPr>
        <p:sp>
          <p:nvSpPr>
            <p:cNvPr id="3" name="Title"/>
            <p:cNvSpPr>
              <a:spLocks noChangeAspect="1"/>
            </p:cNvSpPr>
            <p:nvPr/>
          </p:nvSpPr>
          <p:spPr>
            <a:xfrm>
              <a:off x="660400" y="1130301"/>
              <a:ext cx="10858500" cy="736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buSzPct val="25000"/>
              </a:pPr>
              <a:r>
                <a:rPr lang="zh-CN" altLang="en-US" sz="2000" b="1" dirty="0">
                  <a:solidFill>
                    <a:schemeClr val="tx1"/>
                  </a:solidFill>
                  <a:latin typeface="Arial" panose="020B0604020202020204" pitchFamily="34" charset="0"/>
                  <a:ea typeface="微软雅黑" panose="020B0503020204020204" pitchFamily="34" charset="-122"/>
                  <a:sym typeface="Arial" panose="020B0604020202020204" pitchFamily="34" charset="0"/>
                </a:rPr>
                <a:t>Fusing LLM knowledge, historical experience, and monitoring evidence to build a reliable causal knowledge base</a:t>
              </a:r>
              <a:endParaRPr lang="en-US" dirty="0"/>
            </a:p>
          </p:txBody>
        </p:sp>
        <p:grpSp>
          <p:nvGrpSpPr>
            <p:cNvPr id="162" name="组合 161"/>
            <p:cNvGrpSpPr/>
            <p:nvPr/>
          </p:nvGrpSpPr>
          <p:grpSpPr>
            <a:xfrm>
              <a:off x="917575" y="2119973"/>
              <a:ext cx="2539682" cy="4014127"/>
              <a:chOff x="2869261" y="2119973"/>
              <a:chExt cx="2539682" cy="4014127"/>
            </a:xfrm>
          </p:grpSpPr>
          <p:sp>
            <p:nvSpPr>
              <p:cNvPr id="110" name="ComponentBackground1"/>
              <p:cNvSpPr/>
              <p:nvPr>
                <p:custDataLst>
                  <p:tags r:id="rId2"/>
                </p:custDataLst>
              </p:nvPr>
            </p:nvSpPr>
            <p:spPr>
              <a:xfrm>
                <a:off x="2869261" y="2562826"/>
                <a:ext cx="2539682" cy="3571274"/>
              </a:xfrm>
              <a:prstGeom prst="roundRect">
                <a:avLst>
                  <a:gd name="adj" fmla="val 4413"/>
                </a:avLst>
              </a:prstGeom>
              <a:noFill/>
              <a:ln w="6350">
                <a:solidFill>
                  <a:schemeClr val="tx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sz="160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111" name="Bullet1"/>
              <p:cNvSpPr/>
              <p:nvPr>
                <p:custDataLst>
                  <p:tags r:id="rId3"/>
                </p:custDataLst>
              </p:nvPr>
            </p:nvSpPr>
            <p:spPr>
              <a:xfrm>
                <a:off x="2985095" y="3087584"/>
                <a:ext cx="2308014" cy="575094"/>
              </a:xfrm>
              <a:prstGeom prst="roundRect">
                <a:avLst>
                  <a:gd name="adj" fmla="val 0"/>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t" anchorCtr="0">
                <a:normAutofit/>
              </a:bodyPr>
              <a:lstStyle/>
              <a:p>
                <a:pPr>
                  <a:lnSpc>
                    <a:spcPct val="120000"/>
                  </a:lnSpc>
                </a:pPr>
                <a:r>
                  <a:rPr lang="zh-CN" altLang="en-US" sz="1600" b="1" dirty="0">
                    <a:solidFill>
                      <a:srgbClr val="000000"/>
                    </a:solidFill>
                    <a:latin typeface="Arial" panose="020B0604020202020204" pitchFamily="34" charset="0"/>
                    <a:ea typeface="微软雅黑" panose="020B0503020204020204" pitchFamily="34" charset="-122"/>
                    <a:sym typeface="Arial" panose="020B0604020202020204" pitchFamily="34" charset="0"/>
                  </a:rPr>
                  <a:t>LLM-based Knowledge</a:t>
                </a:r>
                <a:endParaRPr lang="en-US" dirty="0"/>
              </a:p>
            </p:txBody>
          </p:sp>
          <p:sp>
            <p:nvSpPr>
              <p:cNvPr id="112" name="Text1"/>
              <p:cNvSpPr txBox="1"/>
              <p:nvPr>
                <p:custDataLst>
                  <p:tags r:id="rId4"/>
                </p:custDataLst>
              </p:nvPr>
            </p:nvSpPr>
            <p:spPr>
              <a:xfrm>
                <a:off x="2985095" y="3662677"/>
                <a:ext cx="2308014" cy="2334362"/>
              </a:xfrm>
              <a:prstGeom prst="rect">
                <a:avLst/>
              </a:prstGeom>
              <a:noFill/>
              <a:effectLst/>
            </p:spPr>
            <p:txBody>
              <a:bodyPr wrap="square" rtlCol="0" anchor="t" anchorCtr="0">
                <a:normAutofit/>
              </a:bodyPr>
              <a:lstStyle>
                <a:defPPr>
                  <a:defRPr lang="zh-CN"/>
                </a:defPPr>
                <a:lvl1pPr>
                  <a:lnSpc>
                    <a:spcPct val="150000"/>
                  </a:lnSpc>
                  <a:defRPr kumimoji="0" sz="1050" i="0" u="none" strike="noStrike" cap="none" spc="0" normalizeH="0" baseline="0">
                    <a:ln>
                      <a:noFill/>
                    </a:ln>
                    <a:effectLst/>
                    <a:uLnTx/>
                    <a:uFillTx/>
                  </a:defRPr>
                </a:lvl1p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Extracts general causal patterns from component types and metric semantics </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p>
                <a:pPr>
                  <a:lnSpc>
                    <a:spcPct val="120000"/>
                  </a:lnSpc>
                </a:pPr>
                <a:r>
                  <a:rPr lang="zh-CN" altLang="en-US" sz="1200" b="1" dirty="0">
                    <a:latin typeface="Arial" panose="020B0604020202020204" pitchFamily="34" charset="0"/>
                    <a:ea typeface="微软雅黑" panose="020B0503020204020204" pitchFamily="34" charset="-122"/>
                    <a:sym typeface="Arial" panose="020B0604020202020204" pitchFamily="34" charset="0"/>
                  </a:rPr>
                  <a:t>Example</a:t>
                </a:r>
                <a:r>
                  <a:rPr lang="zh-CN" altLang="en-US" sz="1200" dirty="0">
                    <a:latin typeface="Arial" panose="020B0604020202020204" pitchFamily="34" charset="0"/>
                    <a:ea typeface="微软雅黑" panose="020B0503020204020204" pitchFamily="34" charset="-122"/>
                    <a:sym typeface="Arial" panose="020B0604020202020204" pitchFamily="34" charset="0"/>
                  </a:rPr>
                  <a:t>: MySQL.query_latency ↑ → Microservice.api_latency ↑</a:t>
                </a:r>
                <a:endParaRPr lang="en-US" dirty="0"/>
              </a:p>
            </p:txBody>
          </p:sp>
          <p:sp>
            <p:nvSpPr>
              <p:cNvPr id="114" name="IconBackground1"/>
              <p:cNvSpPr/>
              <p:nvPr>
                <p:custDataLst>
                  <p:tags r:id="rId5"/>
                </p:custDataLst>
              </p:nvPr>
            </p:nvSpPr>
            <p:spPr>
              <a:xfrm>
                <a:off x="3689102" y="2119973"/>
                <a:ext cx="900000" cy="900000"/>
              </a:xfrm>
              <a:prstGeom prst="ellipse">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endParaRPr lang="zh-CN" altLang="en-US" sz="16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43" name="Icon1"/>
              <p:cNvSpPr/>
              <p:nvPr>
                <p:custDataLst>
                  <p:tags r:id="rId6"/>
                </p:custDataLst>
              </p:nvPr>
            </p:nvSpPr>
            <p:spPr>
              <a:xfrm>
                <a:off x="3958190" y="2382282"/>
                <a:ext cx="341896" cy="341838"/>
              </a:xfrm>
              <a:custGeom>
                <a:avLst/>
                <a:gdLst>
                  <a:gd name="connsiteX0" fmla="*/ 175554 w 488862"/>
                  <a:gd name="connsiteY0" fmla="*/ 224764 h 488782"/>
                  <a:gd name="connsiteX1" fmla="*/ 316096 w 488862"/>
                  <a:gd name="connsiteY1" fmla="*/ 224764 h 488782"/>
                  <a:gd name="connsiteX2" fmla="*/ 327664 w 488862"/>
                  <a:gd name="connsiteY2" fmla="*/ 236219 h 488782"/>
                  <a:gd name="connsiteX3" fmla="*/ 327664 w 488862"/>
                  <a:gd name="connsiteY3" fmla="*/ 240382 h 488782"/>
                  <a:gd name="connsiteX4" fmla="*/ 347938 w 488862"/>
                  <a:gd name="connsiteY4" fmla="*/ 261117 h 488782"/>
                  <a:gd name="connsiteX5" fmla="*/ 363707 w 488862"/>
                  <a:gd name="connsiteY5" fmla="*/ 261117 h 488782"/>
                  <a:gd name="connsiteX6" fmla="*/ 383980 w 488862"/>
                  <a:gd name="connsiteY6" fmla="*/ 240382 h 488782"/>
                  <a:gd name="connsiteX7" fmla="*/ 383980 w 488862"/>
                  <a:gd name="connsiteY7" fmla="*/ 235990 h 488782"/>
                  <a:gd name="connsiteX8" fmla="*/ 397878 w 488862"/>
                  <a:gd name="connsiteY8" fmla="*/ 224840 h 488782"/>
                  <a:gd name="connsiteX9" fmla="*/ 476301 w 488862"/>
                  <a:gd name="connsiteY9" fmla="*/ 224840 h 488782"/>
                  <a:gd name="connsiteX10" fmla="*/ 488786 w 488862"/>
                  <a:gd name="connsiteY10" fmla="*/ 237250 h 488782"/>
                  <a:gd name="connsiteX11" fmla="*/ 488786 w 488862"/>
                  <a:gd name="connsiteY11" fmla="*/ 447350 h 488782"/>
                  <a:gd name="connsiteX12" fmla="*/ 448276 w 488862"/>
                  <a:gd name="connsiteY12" fmla="*/ 488782 h 488782"/>
                  <a:gd name="connsiteX13" fmla="*/ 40548 w 488862"/>
                  <a:gd name="connsiteY13" fmla="*/ 488782 h 488782"/>
                  <a:gd name="connsiteX14" fmla="*/ 0 w 488862"/>
                  <a:gd name="connsiteY14" fmla="*/ 447350 h 488782"/>
                  <a:gd name="connsiteX15" fmla="*/ 0 w 488862"/>
                  <a:gd name="connsiteY15" fmla="*/ 240305 h 488782"/>
                  <a:gd name="connsiteX16" fmla="*/ 15578 w 488862"/>
                  <a:gd name="connsiteY16" fmla="*/ 224840 h 488782"/>
                  <a:gd name="connsiteX17" fmla="*/ 90144 w 488862"/>
                  <a:gd name="connsiteY17" fmla="*/ 224840 h 488782"/>
                  <a:gd name="connsiteX18" fmla="*/ 104194 w 488862"/>
                  <a:gd name="connsiteY18" fmla="*/ 238663 h 488782"/>
                  <a:gd name="connsiteX19" fmla="*/ 104194 w 488862"/>
                  <a:gd name="connsiteY19" fmla="*/ 240305 h 488782"/>
                  <a:gd name="connsiteX20" fmla="*/ 124468 w 488862"/>
                  <a:gd name="connsiteY20" fmla="*/ 261040 h 488782"/>
                  <a:gd name="connsiteX21" fmla="*/ 140733 w 488862"/>
                  <a:gd name="connsiteY21" fmla="*/ 261040 h 488782"/>
                  <a:gd name="connsiteX22" fmla="*/ 161007 w 488862"/>
                  <a:gd name="connsiteY22" fmla="*/ 240305 h 488782"/>
                  <a:gd name="connsiteX23" fmla="*/ 161007 w 488862"/>
                  <a:gd name="connsiteY23" fmla="*/ 237632 h 488782"/>
                  <a:gd name="connsiteX24" fmla="*/ 175554 w 488862"/>
                  <a:gd name="connsiteY24" fmla="*/ 224764 h 488782"/>
                  <a:gd name="connsiteX25" fmla="*/ 356061 w 488862"/>
                  <a:gd name="connsiteY25" fmla="*/ 177775 h 488782"/>
                  <a:gd name="connsiteX26" fmla="*/ 371220 w 488862"/>
                  <a:gd name="connsiteY26" fmla="*/ 198056 h 488782"/>
                  <a:gd name="connsiteX27" fmla="*/ 371220 w 488862"/>
                  <a:gd name="connsiteY27" fmla="*/ 222958 h 488782"/>
                  <a:gd name="connsiteX28" fmla="*/ 356061 w 488862"/>
                  <a:gd name="connsiteY28" fmla="*/ 243238 h 488782"/>
                  <a:gd name="connsiteX29" fmla="*/ 340864 w 488862"/>
                  <a:gd name="connsiteY29" fmla="*/ 222958 h 488782"/>
                  <a:gd name="connsiteX30" fmla="*/ 340864 w 488862"/>
                  <a:gd name="connsiteY30" fmla="*/ 198056 h 488782"/>
                  <a:gd name="connsiteX31" fmla="*/ 356061 w 488862"/>
                  <a:gd name="connsiteY31" fmla="*/ 177775 h 488782"/>
                  <a:gd name="connsiteX32" fmla="*/ 132801 w 488862"/>
                  <a:gd name="connsiteY32" fmla="*/ 177775 h 488782"/>
                  <a:gd name="connsiteX33" fmla="*/ 147960 w 488862"/>
                  <a:gd name="connsiteY33" fmla="*/ 198056 h 488782"/>
                  <a:gd name="connsiteX34" fmla="*/ 147960 w 488862"/>
                  <a:gd name="connsiteY34" fmla="*/ 222958 h 488782"/>
                  <a:gd name="connsiteX35" fmla="*/ 132801 w 488862"/>
                  <a:gd name="connsiteY35" fmla="*/ 243238 h 488782"/>
                  <a:gd name="connsiteX36" fmla="*/ 117642 w 488862"/>
                  <a:gd name="connsiteY36" fmla="*/ 222958 h 488782"/>
                  <a:gd name="connsiteX37" fmla="*/ 117642 w 488862"/>
                  <a:gd name="connsiteY37" fmla="*/ 198056 h 488782"/>
                  <a:gd name="connsiteX38" fmla="*/ 132801 w 488862"/>
                  <a:gd name="connsiteY38" fmla="*/ 177775 h 488782"/>
                  <a:gd name="connsiteX39" fmla="*/ 40624 w 488862"/>
                  <a:gd name="connsiteY39" fmla="*/ 115971 h 488782"/>
                  <a:gd name="connsiteX40" fmla="*/ 448353 w 488862"/>
                  <a:gd name="connsiteY40" fmla="*/ 115971 h 488782"/>
                  <a:gd name="connsiteX41" fmla="*/ 488862 w 488862"/>
                  <a:gd name="connsiteY41" fmla="*/ 157403 h 488782"/>
                  <a:gd name="connsiteX42" fmla="*/ 488862 w 488862"/>
                  <a:gd name="connsiteY42" fmla="*/ 180582 h 488782"/>
                  <a:gd name="connsiteX43" fmla="*/ 475270 w 488862"/>
                  <a:gd name="connsiteY43" fmla="*/ 193871 h 488782"/>
                  <a:gd name="connsiteX44" fmla="*/ 397267 w 488862"/>
                  <a:gd name="connsiteY44" fmla="*/ 193871 h 488782"/>
                  <a:gd name="connsiteX45" fmla="*/ 383980 w 488862"/>
                  <a:gd name="connsiteY45" fmla="*/ 181919 h 488782"/>
                  <a:gd name="connsiteX46" fmla="*/ 383980 w 488862"/>
                  <a:gd name="connsiteY46" fmla="*/ 178291 h 488782"/>
                  <a:gd name="connsiteX47" fmla="*/ 363707 w 488862"/>
                  <a:gd name="connsiteY47" fmla="*/ 157556 h 488782"/>
                  <a:gd name="connsiteX48" fmla="*/ 347938 w 488862"/>
                  <a:gd name="connsiteY48" fmla="*/ 157556 h 488782"/>
                  <a:gd name="connsiteX49" fmla="*/ 327664 w 488862"/>
                  <a:gd name="connsiteY49" fmla="*/ 178291 h 488782"/>
                  <a:gd name="connsiteX50" fmla="*/ 327664 w 488862"/>
                  <a:gd name="connsiteY50" fmla="*/ 182950 h 488782"/>
                  <a:gd name="connsiteX51" fmla="*/ 316248 w 488862"/>
                  <a:gd name="connsiteY51" fmla="*/ 193871 h 488782"/>
                  <a:gd name="connsiteX52" fmla="*/ 174981 w 488862"/>
                  <a:gd name="connsiteY52" fmla="*/ 193871 h 488782"/>
                  <a:gd name="connsiteX53" fmla="*/ 160930 w 488862"/>
                  <a:gd name="connsiteY53" fmla="*/ 181308 h 488782"/>
                  <a:gd name="connsiteX54" fmla="*/ 160930 w 488862"/>
                  <a:gd name="connsiteY54" fmla="*/ 178291 h 488782"/>
                  <a:gd name="connsiteX55" fmla="*/ 140657 w 488862"/>
                  <a:gd name="connsiteY55" fmla="*/ 157556 h 488782"/>
                  <a:gd name="connsiteX56" fmla="*/ 124468 w 488862"/>
                  <a:gd name="connsiteY56" fmla="*/ 157556 h 488782"/>
                  <a:gd name="connsiteX57" fmla="*/ 104194 w 488862"/>
                  <a:gd name="connsiteY57" fmla="*/ 178291 h 488782"/>
                  <a:gd name="connsiteX58" fmla="*/ 104194 w 488862"/>
                  <a:gd name="connsiteY58" fmla="*/ 181117 h 488782"/>
                  <a:gd name="connsiteX59" fmla="*/ 89724 w 488862"/>
                  <a:gd name="connsiteY59" fmla="*/ 193795 h 488782"/>
                  <a:gd name="connsiteX60" fmla="*/ 16036 w 488862"/>
                  <a:gd name="connsiteY60" fmla="*/ 193795 h 488782"/>
                  <a:gd name="connsiteX61" fmla="*/ 76 w 488862"/>
                  <a:gd name="connsiteY61" fmla="*/ 179093 h 488782"/>
                  <a:gd name="connsiteX62" fmla="*/ 76 w 488862"/>
                  <a:gd name="connsiteY62" fmla="*/ 157403 h 488782"/>
                  <a:gd name="connsiteX63" fmla="*/ 40624 w 488862"/>
                  <a:gd name="connsiteY63" fmla="*/ 115971 h 488782"/>
                  <a:gd name="connsiteX64" fmla="*/ 244698 w 488862"/>
                  <a:gd name="connsiteY64" fmla="*/ 0 h 488782"/>
                  <a:gd name="connsiteX65" fmla="*/ 364967 w 488862"/>
                  <a:gd name="connsiteY65" fmla="*/ 94282 h 488782"/>
                  <a:gd name="connsiteX66" fmla="*/ 348931 w 488862"/>
                  <a:gd name="connsiteY66" fmla="*/ 105928 h 488782"/>
                  <a:gd name="connsiteX67" fmla="*/ 330070 w 488862"/>
                  <a:gd name="connsiteY67" fmla="*/ 94282 h 488782"/>
                  <a:gd name="connsiteX68" fmla="*/ 244698 w 488862"/>
                  <a:gd name="connsiteY68" fmla="*/ 34024 h 488782"/>
                  <a:gd name="connsiteX69" fmla="*/ 159289 w 488862"/>
                  <a:gd name="connsiteY69" fmla="*/ 94282 h 488782"/>
                  <a:gd name="connsiteX70" fmla="*/ 140122 w 488862"/>
                  <a:gd name="connsiteY70" fmla="*/ 104439 h 488782"/>
                  <a:gd name="connsiteX71" fmla="*/ 124392 w 488862"/>
                  <a:gd name="connsiteY71" fmla="*/ 94282 h 488782"/>
                  <a:gd name="connsiteX72" fmla="*/ 244698 w 488862"/>
                  <a:gd name="connsiteY72" fmla="*/ 0 h 488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488862" h="488782">
                    <a:moveTo>
                      <a:pt x="175554" y="224764"/>
                    </a:moveTo>
                    <a:lnTo>
                      <a:pt x="316096" y="224764"/>
                    </a:lnTo>
                    <a:cubicBezTo>
                      <a:pt x="325221" y="224764"/>
                      <a:pt x="327664" y="227246"/>
                      <a:pt x="327664" y="236219"/>
                    </a:cubicBezTo>
                    <a:lnTo>
                      <a:pt x="327664" y="240382"/>
                    </a:lnTo>
                    <a:cubicBezTo>
                      <a:pt x="327664" y="251838"/>
                      <a:pt x="336751" y="261117"/>
                      <a:pt x="347938" y="261117"/>
                    </a:cubicBezTo>
                    <a:lnTo>
                      <a:pt x="363707" y="261117"/>
                    </a:lnTo>
                    <a:cubicBezTo>
                      <a:pt x="374855" y="261117"/>
                      <a:pt x="383980" y="251761"/>
                      <a:pt x="383980" y="240382"/>
                    </a:cubicBezTo>
                    <a:lnTo>
                      <a:pt x="383980" y="235990"/>
                    </a:lnTo>
                    <a:cubicBezTo>
                      <a:pt x="383980" y="226711"/>
                      <a:pt x="386882" y="224840"/>
                      <a:pt x="397878" y="224840"/>
                    </a:cubicBezTo>
                    <a:lnTo>
                      <a:pt x="476301" y="224840"/>
                    </a:lnTo>
                    <a:cubicBezTo>
                      <a:pt x="484968" y="224840"/>
                      <a:pt x="488786" y="227971"/>
                      <a:pt x="488786" y="237250"/>
                    </a:cubicBezTo>
                    <a:lnTo>
                      <a:pt x="488786" y="447350"/>
                    </a:lnTo>
                    <a:cubicBezTo>
                      <a:pt x="488786" y="470147"/>
                      <a:pt x="470574" y="488782"/>
                      <a:pt x="448276" y="488782"/>
                    </a:cubicBezTo>
                    <a:lnTo>
                      <a:pt x="40548" y="488782"/>
                    </a:lnTo>
                    <a:cubicBezTo>
                      <a:pt x="18327" y="488782"/>
                      <a:pt x="0" y="470147"/>
                      <a:pt x="0" y="447350"/>
                    </a:cubicBezTo>
                    <a:lnTo>
                      <a:pt x="0" y="240305"/>
                    </a:lnTo>
                    <a:cubicBezTo>
                      <a:pt x="0" y="227971"/>
                      <a:pt x="3245" y="224840"/>
                      <a:pt x="15578" y="224840"/>
                    </a:cubicBezTo>
                    <a:lnTo>
                      <a:pt x="90144" y="224840"/>
                    </a:lnTo>
                    <a:cubicBezTo>
                      <a:pt x="101216" y="224840"/>
                      <a:pt x="104194" y="226558"/>
                      <a:pt x="104194" y="238663"/>
                    </a:cubicBezTo>
                    <a:lnTo>
                      <a:pt x="104194" y="240305"/>
                    </a:lnTo>
                    <a:cubicBezTo>
                      <a:pt x="104194" y="251685"/>
                      <a:pt x="113319" y="261040"/>
                      <a:pt x="124468" y="261040"/>
                    </a:cubicBezTo>
                    <a:lnTo>
                      <a:pt x="140733" y="261040"/>
                    </a:lnTo>
                    <a:cubicBezTo>
                      <a:pt x="151882" y="261040"/>
                      <a:pt x="161007" y="251685"/>
                      <a:pt x="161007" y="240305"/>
                    </a:cubicBezTo>
                    <a:lnTo>
                      <a:pt x="161007" y="237632"/>
                    </a:lnTo>
                    <a:cubicBezTo>
                      <a:pt x="161007" y="227246"/>
                      <a:pt x="163985" y="224764"/>
                      <a:pt x="175554" y="224764"/>
                    </a:cubicBezTo>
                    <a:close/>
                    <a:moveTo>
                      <a:pt x="356061" y="177775"/>
                    </a:moveTo>
                    <a:cubicBezTo>
                      <a:pt x="364385" y="177775"/>
                      <a:pt x="371220" y="186903"/>
                      <a:pt x="371220" y="198056"/>
                    </a:cubicBezTo>
                    <a:lnTo>
                      <a:pt x="371220" y="222958"/>
                    </a:lnTo>
                    <a:cubicBezTo>
                      <a:pt x="371220" y="234110"/>
                      <a:pt x="364385" y="243238"/>
                      <a:pt x="356061" y="243238"/>
                    </a:cubicBezTo>
                    <a:cubicBezTo>
                      <a:pt x="347699" y="243238"/>
                      <a:pt x="340864" y="234110"/>
                      <a:pt x="340864" y="222958"/>
                    </a:cubicBezTo>
                    <a:lnTo>
                      <a:pt x="340864" y="198056"/>
                    </a:lnTo>
                    <a:cubicBezTo>
                      <a:pt x="340864" y="186903"/>
                      <a:pt x="347699" y="177775"/>
                      <a:pt x="356061" y="177775"/>
                    </a:cubicBezTo>
                    <a:close/>
                    <a:moveTo>
                      <a:pt x="132801" y="177775"/>
                    </a:moveTo>
                    <a:cubicBezTo>
                      <a:pt x="141125" y="177775"/>
                      <a:pt x="147960" y="186903"/>
                      <a:pt x="147960" y="198056"/>
                    </a:cubicBezTo>
                    <a:lnTo>
                      <a:pt x="147960" y="222958"/>
                    </a:lnTo>
                    <a:cubicBezTo>
                      <a:pt x="147960" y="234110"/>
                      <a:pt x="141125" y="243238"/>
                      <a:pt x="132801" y="243238"/>
                    </a:cubicBezTo>
                    <a:cubicBezTo>
                      <a:pt x="124477" y="243238"/>
                      <a:pt x="117642" y="234110"/>
                      <a:pt x="117642" y="222958"/>
                    </a:cubicBezTo>
                    <a:lnTo>
                      <a:pt x="117642" y="198056"/>
                    </a:lnTo>
                    <a:cubicBezTo>
                      <a:pt x="117642" y="186903"/>
                      <a:pt x="124477" y="177775"/>
                      <a:pt x="132801" y="177775"/>
                    </a:cubicBezTo>
                    <a:close/>
                    <a:moveTo>
                      <a:pt x="40624" y="115971"/>
                    </a:moveTo>
                    <a:lnTo>
                      <a:pt x="448353" y="115971"/>
                    </a:lnTo>
                    <a:cubicBezTo>
                      <a:pt x="470574" y="115971"/>
                      <a:pt x="488862" y="134606"/>
                      <a:pt x="488862" y="157403"/>
                    </a:cubicBezTo>
                    <a:lnTo>
                      <a:pt x="488862" y="180582"/>
                    </a:lnTo>
                    <a:cubicBezTo>
                      <a:pt x="488862" y="190969"/>
                      <a:pt x="485808" y="193871"/>
                      <a:pt x="475270" y="193871"/>
                    </a:cubicBezTo>
                    <a:lnTo>
                      <a:pt x="397267" y="193871"/>
                    </a:lnTo>
                    <a:cubicBezTo>
                      <a:pt x="387455" y="193871"/>
                      <a:pt x="383980" y="192229"/>
                      <a:pt x="383980" y="181919"/>
                    </a:cubicBezTo>
                    <a:lnTo>
                      <a:pt x="383980" y="178291"/>
                    </a:lnTo>
                    <a:cubicBezTo>
                      <a:pt x="383980" y="166835"/>
                      <a:pt x="374855" y="157556"/>
                      <a:pt x="363707" y="157556"/>
                    </a:cubicBezTo>
                    <a:lnTo>
                      <a:pt x="347938" y="157556"/>
                    </a:lnTo>
                    <a:cubicBezTo>
                      <a:pt x="336751" y="157556"/>
                      <a:pt x="327664" y="166912"/>
                      <a:pt x="327664" y="178291"/>
                    </a:cubicBezTo>
                    <a:lnTo>
                      <a:pt x="327664" y="182950"/>
                    </a:lnTo>
                    <a:cubicBezTo>
                      <a:pt x="327664" y="192458"/>
                      <a:pt x="326557" y="193871"/>
                      <a:pt x="316248" y="193871"/>
                    </a:cubicBezTo>
                    <a:lnTo>
                      <a:pt x="174981" y="193871"/>
                    </a:lnTo>
                    <a:cubicBezTo>
                      <a:pt x="163756" y="193871"/>
                      <a:pt x="160930" y="192764"/>
                      <a:pt x="160930" y="181308"/>
                    </a:cubicBezTo>
                    <a:lnTo>
                      <a:pt x="160930" y="178291"/>
                    </a:lnTo>
                    <a:cubicBezTo>
                      <a:pt x="160930" y="166835"/>
                      <a:pt x="151805" y="157556"/>
                      <a:pt x="140657" y="157556"/>
                    </a:cubicBezTo>
                    <a:lnTo>
                      <a:pt x="124468" y="157556"/>
                    </a:lnTo>
                    <a:cubicBezTo>
                      <a:pt x="113319" y="157556"/>
                      <a:pt x="104194" y="166912"/>
                      <a:pt x="104194" y="178291"/>
                    </a:cubicBezTo>
                    <a:lnTo>
                      <a:pt x="104194" y="181117"/>
                    </a:lnTo>
                    <a:cubicBezTo>
                      <a:pt x="104194" y="192458"/>
                      <a:pt x="101445" y="193795"/>
                      <a:pt x="89724" y="193795"/>
                    </a:cubicBezTo>
                    <a:lnTo>
                      <a:pt x="16036" y="193795"/>
                    </a:lnTo>
                    <a:cubicBezTo>
                      <a:pt x="3474" y="193795"/>
                      <a:pt x="76" y="190702"/>
                      <a:pt x="76" y="179093"/>
                    </a:cubicBezTo>
                    <a:lnTo>
                      <a:pt x="76" y="157403"/>
                    </a:lnTo>
                    <a:cubicBezTo>
                      <a:pt x="76" y="134606"/>
                      <a:pt x="18327" y="115971"/>
                      <a:pt x="40624" y="115971"/>
                    </a:cubicBezTo>
                    <a:close/>
                    <a:moveTo>
                      <a:pt x="244698" y="0"/>
                    </a:moveTo>
                    <a:cubicBezTo>
                      <a:pt x="302351" y="0"/>
                      <a:pt x="350763" y="39981"/>
                      <a:pt x="364967" y="94282"/>
                    </a:cubicBezTo>
                    <a:cubicBezTo>
                      <a:pt x="364967" y="94282"/>
                      <a:pt x="365043" y="105928"/>
                      <a:pt x="348931" y="105928"/>
                    </a:cubicBezTo>
                    <a:cubicBezTo>
                      <a:pt x="332819" y="105928"/>
                      <a:pt x="330070" y="94282"/>
                      <a:pt x="330070" y="94282"/>
                    </a:cubicBezTo>
                    <a:cubicBezTo>
                      <a:pt x="317050" y="59112"/>
                      <a:pt x="283719" y="34024"/>
                      <a:pt x="244698" y="34024"/>
                    </a:cubicBezTo>
                    <a:cubicBezTo>
                      <a:pt x="205563" y="34024"/>
                      <a:pt x="172308" y="58998"/>
                      <a:pt x="159289" y="94282"/>
                    </a:cubicBezTo>
                    <a:cubicBezTo>
                      <a:pt x="159289" y="94282"/>
                      <a:pt x="156769" y="104439"/>
                      <a:pt x="140122" y="104439"/>
                    </a:cubicBezTo>
                    <a:cubicBezTo>
                      <a:pt x="123514" y="104439"/>
                      <a:pt x="124392" y="94282"/>
                      <a:pt x="124392" y="94282"/>
                    </a:cubicBezTo>
                    <a:cubicBezTo>
                      <a:pt x="138595" y="39981"/>
                      <a:pt x="187084" y="0"/>
                      <a:pt x="244698" y="0"/>
                    </a:cubicBezTo>
                    <a:close/>
                  </a:path>
                </a:pathLst>
              </a:custGeom>
              <a:solidFill>
                <a:srgbClr val="FFFFFF"/>
              </a:solidFill>
              <a:ln>
                <a:no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endParaRPr sz="1600">
                  <a:solidFill>
                    <a:srgbClr val="000000"/>
                  </a:solidFill>
                </a:endParaRPr>
              </a:p>
            </p:txBody>
          </p:sp>
        </p:grpSp>
        <p:grpSp>
          <p:nvGrpSpPr>
            <p:cNvPr id="163" name="组合 162"/>
            <p:cNvGrpSpPr/>
            <p:nvPr/>
          </p:nvGrpSpPr>
          <p:grpSpPr>
            <a:xfrm>
              <a:off x="4633489" y="2119973"/>
              <a:ext cx="2539682" cy="4014127"/>
              <a:chOff x="5078122" y="2119973"/>
              <a:chExt cx="2539682" cy="4014127"/>
            </a:xfrm>
          </p:grpSpPr>
          <p:sp>
            <p:nvSpPr>
              <p:cNvPr id="117" name="ComponentBackground2"/>
              <p:cNvSpPr/>
              <p:nvPr>
                <p:custDataLst>
                  <p:tags r:id="rId7"/>
                </p:custDataLst>
              </p:nvPr>
            </p:nvSpPr>
            <p:spPr>
              <a:xfrm>
                <a:off x="5078122" y="2562826"/>
                <a:ext cx="2539682" cy="3571274"/>
              </a:xfrm>
              <a:prstGeom prst="roundRect">
                <a:avLst>
                  <a:gd name="adj" fmla="val 4413"/>
                </a:avLst>
              </a:prstGeom>
              <a:noFill/>
              <a:ln w="6350">
                <a:solidFill>
                  <a:schemeClr val="tx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sz="160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118" name="Bullet2"/>
              <p:cNvSpPr/>
              <p:nvPr>
                <p:custDataLst>
                  <p:tags r:id="rId8"/>
                </p:custDataLst>
              </p:nvPr>
            </p:nvSpPr>
            <p:spPr>
              <a:xfrm>
                <a:off x="5193956" y="3087584"/>
                <a:ext cx="2308014" cy="575094"/>
              </a:xfrm>
              <a:prstGeom prst="roundRect">
                <a:avLst>
                  <a:gd name="adj" fmla="val 0"/>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t" anchorCtr="0">
                <a:normAutofit/>
              </a:bodyPr>
              <a:lstStyle/>
              <a:p>
                <a:pPr>
                  <a:lnSpc>
                    <a:spcPct val="120000"/>
                  </a:lnSpc>
                </a:pPr>
                <a:r>
                  <a:rPr lang="zh-CN" altLang="en-US" sz="1600" b="1" dirty="0">
                    <a:solidFill>
                      <a:srgbClr val="000000"/>
                    </a:solidFill>
                    <a:latin typeface="Arial" panose="020B0604020202020204" pitchFamily="34" charset="0"/>
                    <a:ea typeface="微软雅黑" panose="020B0503020204020204" pitchFamily="34" charset="-122"/>
                    <a:sym typeface="Arial" panose="020B0604020202020204" pitchFamily="34" charset="0"/>
                  </a:rPr>
                  <a:t>Historical Incident Reports</a:t>
                </a:r>
                <a:endParaRPr lang="en-US" dirty="0"/>
              </a:p>
            </p:txBody>
          </p:sp>
          <p:sp>
            <p:nvSpPr>
              <p:cNvPr id="119" name="Text2"/>
              <p:cNvSpPr txBox="1"/>
              <p:nvPr>
                <p:custDataLst>
                  <p:tags r:id="rId9"/>
                </p:custDataLst>
              </p:nvPr>
            </p:nvSpPr>
            <p:spPr>
              <a:xfrm>
                <a:off x="5193956" y="3662677"/>
                <a:ext cx="2308014" cy="2334362"/>
              </a:xfrm>
              <a:prstGeom prst="rect">
                <a:avLst/>
              </a:prstGeom>
              <a:noFill/>
              <a:effectLst/>
            </p:spPr>
            <p:txBody>
              <a:bodyPr wrap="square" rtlCol="0" anchor="t" anchorCtr="0">
                <a:normAutofit/>
              </a:bodyPr>
              <a:lstStyle>
                <a:defPPr>
                  <a:defRPr lang="zh-CN"/>
                </a:defPPr>
                <a:lvl1pPr>
                  <a:lnSpc>
                    <a:spcPct val="150000"/>
                  </a:lnSpc>
                  <a:defRPr kumimoji="0" sz="1050" i="0" u="none" strike="noStrike" cap="none" spc="0" normalizeH="0" baseline="0">
                    <a:ln>
                      <a:noFill/>
                    </a:ln>
                    <a:effectLst/>
                    <a:uLnTx/>
                    <a:uFillTx/>
                  </a:defRPr>
                </a:lvl1pPr>
              </a:lstStyle>
              <a:p>
                <a:pPr marL="0" marR="0" lvl="0" indent="0" algn="l">
                  <a:lnSpc>
                    <a:spcPct val="120000"/>
                  </a:lnSpc>
                </a:pPr>
                <a:r>
                  <a:rPr lang="zh-CN" altLang="en-US" sz="1200" baseline="0" dirty="0">
                    <a:solidFill>
                      <a:schemeClr val="tx1"/>
                    </a:solidFill>
                  </a:rPr>
                  <a:t>Provide real-world SRE experience Capture failure patterns observed in past incidents</a:t>
                </a:r>
                <a:endParaRPr lang="zh-CN" altLang="en-US" dirty="0"/>
              </a:p>
              <a:p>
                <a:pPr marL="0" marR="0" lvl="0" indent="0" algn="l">
                  <a:lnSpc>
                    <a:spcPct val="120000"/>
                  </a:lnSpc>
                </a:pPr>
                <a:r>
                  <a:rPr lang="zh-CN" altLang="en-US" sz="1200" baseline="0" dirty="0">
                    <a:solidFill>
                      <a:schemeClr val="tx1"/>
                    </a:solidFill>
                  </a:rPr>
                  <a:t> Example: Redis connection pool exhaustion → Service API timeout</a:t>
                </a:r>
                <a:endParaRPr lang="zh-CN" altLang="en-US" dirty="0"/>
              </a:p>
            </p:txBody>
          </p:sp>
          <p:sp>
            <p:nvSpPr>
              <p:cNvPr id="121" name="IconBackground2"/>
              <p:cNvSpPr/>
              <p:nvPr>
                <p:custDataLst>
                  <p:tags r:id="rId10"/>
                </p:custDataLst>
              </p:nvPr>
            </p:nvSpPr>
            <p:spPr>
              <a:xfrm>
                <a:off x="5897963" y="2119973"/>
                <a:ext cx="900000" cy="900000"/>
              </a:xfrm>
              <a:prstGeom prst="ellipse">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endParaRPr lang="zh-CN" altLang="en-US" sz="16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45" name="Icon2"/>
              <p:cNvSpPr/>
              <p:nvPr>
                <p:custDataLst>
                  <p:tags r:id="rId11"/>
                </p:custDataLst>
              </p:nvPr>
            </p:nvSpPr>
            <p:spPr>
              <a:xfrm flipH="1">
                <a:off x="6208528" y="2405839"/>
                <a:ext cx="308067" cy="341896"/>
              </a:xfrm>
              <a:custGeom>
                <a:avLst/>
                <a:gdLst>
                  <a:gd name="T0" fmla="*/ 10558 w 11535"/>
                  <a:gd name="T1" fmla="*/ 0 h 12800"/>
                  <a:gd name="T2" fmla="*/ 977 w 11535"/>
                  <a:gd name="T3" fmla="*/ 0 h 12800"/>
                  <a:gd name="T4" fmla="*/ 0 w 11535"/>
                  <a:gd name="T5" fmla="*/ 977 h 12800"/>
                  <a:gd name="T6" fmla="*/ 0 w 11535"/>
                  <a:gd name="T7" fmla="*/ 11823 h 12800"/>
                  <a:gd name="T8" fmla="*/ 977 w 11535"/>
                  <a:gd name="T9" fmla="*/ 12800 h 12800"/>
                  <a:gd name="T10" fmla="*/ 10558 w 11535"/>
                  <a:gd name="T11" fmla="*/ 12800 h 12800"/>
                  <a:gd name="T12" fmla="*/ 11535 w 11535"/>
                  <a:gd name="T13" fmla="*/ 11823 h 12800"/>
                  <a:gd name="T14" fmla="*/ 11535 w 11535"/>
                  <a:gd name="T15" fmla="*/ 977 h 12800"/>
                  <a:gd name="T16" fmla="*/ 10558 w 11535"/>
                  <a:gd name="T17" fmla="*/ 0 h 12800"/>
                  <a:gd name="T18" fmla="*/ 6591 w 11535"/>
                  <a:gd name="T19" fmla="*/ 10544 h 12800"/>
                  <a:gd name="T20" fmla="*/ 1463 w 11535"/>
                  <a:gd name="T21" fmla="*/ 10544 h 12800"/>
                  <a:gd name="T22" fmla="*/ 1197 w 11535"/>
                  <a:gd name="T23" fmla="*/ 10278 h 12800"/>
                  <a:gd name="T24" fmla="*/ 1463 w 11535"/>
                  <a:gd name="T25" fmla="*/ 10012 h 12800"/>
                  <a:gd name="T26" fmla="*/ 6591 w 11535"/>
                  <a:gd name="T27" fmla="*/ 10012 h 12800"/>
                  <a:gd name="T28" fmla="*/ 6857 w 11535"/>
                  <a:gd name="T29" fmla="*/ 10278 h 12800"/>
                  <a:gd name="T30" fmla="*/ 6591 w 11535"/>
                  <a:gd name="T31" fmla="*/ 10544 h 12800"/>
                  <a:gd name="T32" fmla="*/ 6591 w 11535"/>
                  <a:gd name="T33" fmla="*/ 7859 h 12800"/>
                  <a:gd name="T34" fmla="*/ 1463 w 11535"/>
                  <a:gd name="T35" fmla="*/ 7859 h 12800"/>
                  <a:gd name="T36" fmla="*/ 1197 w 11535"/>
                  <a:gd name="T37" fmla="*/ 7593 h 12800"/>
                  <a:gd name="T38" fmla="*/ 1463 w 11535"/>
                  <a:gd name="T39" fmla="*/ 7327 h 12800"/>
                  <a:gd name="T40" fmla="*/ 6591 w 11535"/>
                  <a:gd name="T41" fmla="*/ 7327 h 12800"/>
                  <a:gd name="T42" fmla="*/ 6857 w 11535"/>
                  <a:gd name="T43" fmla="*/ 7593 h 12800"/>
                  <a:gd name="T44" fmla="*/ 6591 w 11535"/>
                  <a:gd name="T45" fmla="*/ 7859 h 12800"/>
                  <a:gd name="T46" fmla="*/ 6591 w 11535"/>
                  <a:gd name="T47" fmla="*/ 5175 h 12800"/>
                  <a:gd name="T48" fmla="*/ 1463 w 11535"/>
                  <a:gd name="T49" fmla="*/ 5175 h 12800"/>
                  <a:gd name="T50" fmla="*/ 1197 w 11535"/>
                  <a:gd name="T51" fmla="*/ 4909 h 12800"/>
                  <a:gd name="T52" fmla="*/ 1463 w 11535"/>
                  <a:gd name="T53" fmla="*/ 4642 h 12800"/>
                  <a:gd name="T54" fmla="*/ 6591 w 11535"/>
                  <a:gd name="T55" fmla="*/ 4642 h 12800"/>
                  <a:gd name="T56" fmla="*/ 6857 w 11535"/>
                  <a:gd name="T57" fmla="*/ 4909 h 12800"/>
                  <a:gd name="T58" fmla="*/ 6591 w 11535"/>
                  <a:gd name="T59" fmla="*/ 5175 h 12800"/>
                  <a:gd name="T60" fmla="*/ 6591 w 11535"/>
                  <a:gd name="T61" fmla="*/ 2490 h 12800"/>
                  <a:gd name="T62" fmla="*/ 1463 w 11535"/>
                  <a:gd name="T63" fmla="*/ 2490 h 12800"/>
                  <a:gd name="T64" fmla="*/ 1197 w 11535"/>
                  <a:gd name="T65" fmla="*/ 2222 h 12800"/>
                  <a:gd name="T66" fmla="*/ 1463 w 11535"/>
                  <a:gd name="T67" fmla="*/ 1956 h 12800"/>
                  <a:gd name="T68" fmla="*/ 6591 w 11535"/>
                  <a:gd name="T69" fmla="*/ 1956 h 12800"/>
                  <a:gd name="T70" fmla="*/ 6857 w 11535"/>
                  <a:gd name="T71" fmla="*/ 2222 h 12800"/>
                  <a:gd name="T72" fmla="*/ 6591 w 11535"/>
                  <a:gd name="T73" fmla="*/ 2490 h 12800"/>
                  <a:gd name="T74" fmla="*/ 9620 w 11535"/>
                  <a:gd name="T75" fmla="*/ 8931 h 12800"/>
                  <a:gd name="T76" fmla="*/ 9611 w 11535"/>
                  <a:gd name="T77" fmla="*/ 8978 h 12800"/>
                  <a:gd name="T78" fmla="*/ 8945 w 11535"/>
                  <a:gd name="T79" fmla="*/ 10435 h 12800"/>
                  <a:gd name="T80" fmla="*/ 8865 w 11535"/>
                  <a:gd name="T81" fmla="*/ 10528 h 12800"/>
                  <a:gd name="T82" fmla="*/ 8742 w 11535"/>
                  <a:gd name="T83" fmla="*/ 10562 h 12800"/>
                  <a:gd name="T84" fmla="*/ 8543 w 11535"/>
                  <a:gd name="T85" fmla="*/ 10424 h 12800"/>
                  <a:gd name="T86" fmla="*/ 7959 w 11535"/>
                  <a:gd name="T87" fmla="*/ 8967 h 12800"/>
                  <a:gd name="T88" fmla="*/ 9620 w 11535"/>
                  <a:gd name="T89" fmla="*/ 8931 h 12800"/>
                  <a:gd name="T90" fmla="*/ 9620 w 11535"/>
                  <a:gd name="T91" fmla="*/ 8931 h 12800"/>
                  <a:gd name="T92" fmla="*/ 9638 w 11535"/>
                  <a:gd name="T93" fmla="*/ 8492 h 12800"/>
                  <a:gd name="T94" fmla="*/ 7924 w 11535"/>
                  <a:gd name="T95" fmla="*/ 8529 h 12800"/>
                  <a:gd name="T96" fmla="*/ 7895 w 11535"/>
                  <a:gd name="T97" fmla="*/ 4044 h 12800"/>
                  <a:gd name="T98" fmla="*/ 9712 w 11535"/>
                  <a:gd name="T99" fmla="*/ 4003 h 12800"/>
                  <a:gd name="T100" fmla="*/ 9638 w 11535"/>
                  <a:gd name="T101" fmla="*/ 8492 h 12800"/>
                  <a:gd name="T102" fmla="*/ 9722 w 11535"/>
                  <a:gd name="T103" fmla="*/ 3567 h 12800"/>
                  <a:gd name="T104" fmla="*/ 7902 w 11535"/>
                  <a:gd name="T105" fmla="*/ 3608 h 12800"/>
                  <a:gd name="T106" fmla="*/ 7918 w 11535"/>
                  <a:gd name="T107" fmla="*/ 3162 h 12800"/>
                  <a:gd name="T108" fmla="*/ 8188 w 11535"/>
                  <a:gd name="T109" fmla="*/ 2710 h 12800"/>
                  <a:gd name="T110" fmla="*/ 8479 w 11535"/>
                  <a:gd name="T111" fmla="*/ 2610 h 12800"/>
                  <a:gd name="T112" fmla="*/ 9242 w 11535"/>
                  <a:gd name="T113" fmla="*/ 2601 h 12800"/>
                  <a:gd name="T114" fmla="*/ 9306 w 11535"/>
                  <a:gd name="T115" fmla="*/ 2617 h 12800"/>
                  <a:gd name="T116" fmla="*/ 9726 w 11535"/>
                  <a:gd name="T117" fmla="*/ 3121 h 12800"/>
                  <a:gd name="T118" fmla="*/ 9722 w 11535"/>
                  <a:gd name="T119" fmla="*/ 3567 h 12800"/>
                  <a:gd name="T120" fmla="*/ 9722 w 11535"/>
                  <a:gd name="T121" fmla="*/ 3567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535" h="12800">
                    <a:moveTo>
                      <a:pt x="10558" y="0"/>
                    </a:moveTo>
                    <a:lnTo>
                      <a:pt x="977" y="0"/>
                    </a:lnTo>
                    <a:cubicBezTo>
                      <a:pt x="439" y="0"/>
                      <a:pt x="0" y="438"/>
                      <a:pt x="0" y="977"/>
                    </a:cubicBezTo>
                    <a:lnTo>
                      <a:pt x="0" y="11823"/>
                    </a:lnTo>
                    <a:cubicBezTo>
                      <a:pt x="0" y="12362"/>
                      <a:pt x="439" y="12800"/>
                      <a:pt x="977" y="12800"/>
                    </a:cubicBezTo>
                    <a:lnTo>
                      <a:pt x="10558" y="12800"/>
                    </a:lnTo>
                    <a:cubicBezTo>
                      <a:pt x="11098" y="12800"/>
                      <a:pt x="11535" y="12362"/>
                      <a:pt x="11535" y="11823"/>
                    </a:cubicBezTo>
                    <a:lnTo>
                      <a:pt x="11535" y="977"/>
                    </a:lnTo>
                    <a:cubicBezTo>
                      <a:pt x="11535" y="438"/>
                      <a:pt x="11096" y="0"/>
                      <a:pt x="10558" y="0"/>
                    </a:cubicBezTo>
                    <a:close/>
                    <a:moveTo>
                      <a:pt x="6591" y="10544"/>
                    </a:moveTo>
                    <a:lnTo>
                      <a:pt x="1463" y="10544"/>
                    </a:lnTo>
                    <a:cubicBezTo>
                      <a:pt x="1316" y="10544"/>
                      <a:pt x="1197" y="10424"/>
                      <a:pt x="1197" y="10278"/>
                    </a:cubicBezTo>
                    <a:cubicBezTo>
                      <a:pt x="1197" y="10131"/>
                      <a:pt x="1316" y="10012"/>
                      <a:pt x="1463" y="10012"/>
                    </a:cubicBezTo>
                    <a:lnTo>
                      <a:pt x="6591" y="10012"/>
                    </a:lnTo>
                    <a:cubicBezTo>
                      <a:pt x="6737" y="10012"/>
                      <a:pt x="6857" y="10131"/>
                      <a:pt x="6857" y="10278"/>
                    </a:cubicBezTo>
                    <a:cubicBezTo>
                      <a:pt x="6859" y="10424"/>
                      <a:pt x="6739" y="10544"/>
                      <a:pt x="6591" y="10544"/>
                    </a:cubicBezTo>
                    <a:close/>
                    <a:moveTo>
                      <a:pt x="6591" y="7859"/>
                    </a:moveTo>
                    <a:lnTo>
                      <a:pt x="1463" y="7859"/>
                    </a:lnTo>
                    <a:cubicBezTo>
                      <a:pt x="1316" y="7859"/>
                      <a:pt x="1197" y="7740"/>
                      <a:pt x="1197" y="7593"/>
                    </a:cubicBezTo>
                    <a:cubicBezTo>
                      <a:pt x="1197" y="7447"/>
                      <a:pt x="1316" y="7327"/>
                      <a:pt x="1463" y="7327"/>
                    </a:cubicBezTo>
                    <a:lnTo>
                      <a:pt x="6591" y="7327"/>
                    </a:lnTo>
                    <a:cubicBezTo>
                      <a:pt x="6737" y="7327"/>
                      <a:pt x="6857" y="7447"/>
                      <a:pt x="6857" y="7593"/>
                    </a:cubicBezTo>
                    <a:cubicBezTo>
                      <a:pt x="6859" y="7740"/>
                      <a:pt x="6739" y="7859"/>
                      <a:pt x="6591" y="7859"/>
                    </a:cubicBezTo>
                    <a:close/>
                    <a:moveTo>
                      <a:pt x="6591" y="5175"/>
                    </a:moveTo>
                    <a:lnTo>
                      <a:pt x="1463" y="5175"/>
                    </a:lnTo>
                    <a:cubicBezTo>
                      <a:pt x="1316" y="5175"/>
                      <a:pt x="1197" y="5055"/>
                      <a:pt x="1197" y="4909"/>
                    </a:cubicBezTo>
                    <a:cubicBezTo>
                      <a:pt x="1197" y="4762"/>
                      <a:pt x="1316" y="4642"/>
                      <a:pt x="1463" y="4642"/>
                    </a:cubicBezTo>
                    <a:lnTo>
                      <a:pt x="6591" y="4642"/>
                    </a:lnTo>
                    <a:cubicBezTo>
                      <a:pt x="6737" y="4642"/>
                      <a:pt x="6857" y="4762"/>
                      <a:pt x="6857" y="4909"/>
                    </a:cubicBezTo>
                    <a:cubicBezTo>
                      <a:pt x="6859" y="5055"/>
                      <a:pt x="6739" y="5175"/>
                      <a:pt x="6591" y="5175"/>
                    </a:cubicBezTo>
                    <a:close/>
                    <a:moveTo>
                      <a:pt x="6591" y="2490"/>
                    </a:moveTo>
                    <a:lnTo>
                      <a:pt x="1463" y="2490"/>
                    </a:lnTo>
                    <a:cubicBezTo>
                      <a:pt x="1316" y="2490"/>
                      <a:pt x="1197" y="2370"/>
                      <a:pt x="1197" y="2222"/>
                    </a:cubicBezTo>
                    <a:cubicBezTo>
                      <a:pt x="1197" y="2076"/>
                      <a:pt x="1316" y="1956"/>
                      <a:pt x="1463" y="1956"/>
                    </a:cubicBezTo>
                    <a:lnTo>
                      <a:pt x="6591" y="1956"/>
                    </a:lnTo>
                    <a:cubicBezTo>
                      <a:pt x="6737" y="1956"/>
                      <a:pt x="6857" y="2076"/>
                      <a:pt x="6857" y="2222"/>
                    </a:cubicBezTo>
                    <a:cubicBezTo>
                      <a:pt x="6859" y="2370"/>
                      <a:pt x="6739" y="2490"/>
                      <a:pt x="6591" y="2490"/>
                    </a:cubicBezTo>
                    <a:close/>
                    <a:moveTo>
                      <a:pt x="9620" y="8931"/>
                    </a:moveTo>
                    <a:cubicBezTo>
                      <a:pt x="9617" y="8947"/>
                      <a:pt x="9619" y="8963"/>
                      <a:pt x="9611" y="8978"/>
                    </a:cubicBezTo>
                    <a:lnTo>
                      <a:pt x="8945" y="10435"/>
                    </a:lnTo>
                    <a:cubicBezTo>
                      <a:pt x="8927" y="10474"/>
                      <a:pt x="8899" y="10507"/>
                      <a:pt x="8865" y="10528"/>
                    </a:cubicBezTo>
                    <a:cubicBezTo>
                      <a:pt x="8829" y="10551"/>
                      <a:pt x="8786" y="10564"/>
                      <a:pt x="8742" y="10562"/>
                    </a:cubicBezTo>
                    <a:cubicBezTo>
                      <a:pt x="8654" y="10560"/>
                      <a:pt x="8577" y="10507"/>
                      <a:pt x="8543" y="10424"/>
                    </a:cubicBezTo>
                    <a:lnTo>
                      <a:pt x="7959" y="8967"/>
                    </a:lnTo>
                    <a:lnTo>
                      <a:pt x="9620" y="8931"/>
                    </a:lnTo>
                    <a:cubicBezTo>
                      <a:pt x="9620" y="8929"/>
                      <a:pt x="9620" y="8931"/>
                      <a:pt x="9620" y="8931"/>
                    </a:cubicBezTo>
                    <a:close/>
                    <a:moveTo>
                      <a:pt x="9638" y="8492"/>
                    </a:moveTo>
                    <a:lnTo>
                      <a:pt x="7924" y="8529"/>
                    </a:lnTo>
                    <a:lnTo>
                      <a:pt x="7895" y="4044"/>
                    </a:lnTo>
                    <a:lnTo>
                      <a:pt x="9712" y="4003"/>
                    </a:lnTo>
                    <a:lnTo>
                      <a:pt x="9638" y="8492"/>
                    </a:lnTo>
                    <a:close/>
                    <a:moveTo>
                      <a:pt x="9722" y="3567"/>
                    </a:moveTo>
                    <a:lnTo>
                      <a:pt x="7902" y="3608"/>
                    </a:lnTo>
                    <a:lnTo>
                      <a:pt x="7918" y="3162"/>
                    </a:lnTo>
                    <a:cubicBezTo>
                      <a:pt x="7920" y="3128"/>
                      <a:pt x="7943" y="2867"/>
                      <a:pt x="8188" y="2710"/>
                    </a:cubicBezTo>
                    <a:cubicBezTo>
                      <a:pt x="8272" y="2656"/>
                      <a:pt x="8368" y="2622"/>
                      <a:pt x="8479" y="2610"/>
                    </a:cubicBezTo>
                    <a:cubicBezTo>
                      <a:pt x="8847" y="2567"/>
                      <a:pt x="9226" y="2599"/>
                      <a:pt x="9242" y="2601"/>
                    </a:cubicBezTo>
                    <a:cubicBezTo>
                      <a:pt x="9263" y="2603"/>
                      <a:pt x="9285" y="2608"/>
                      <a:pt x="9306" y="2617"/>
                    </a:cubicBezTo>
                    <a:cubicBezTo>
                      <a:pt x="9349" y="2635"/>
                      <a:pt x="9719" y="2794"/>
                      <a:pt x="9726" y="3121"/>
                    </a:cubicBezTo>
                    <a:cubicBezTo>
                      <a:pt x="9729" y="3213"/>
                      <a:pt x="9726" y="3399"/>
                      <a:pt x="9722" y="3567"/>
                    </a:cubicBezTo>
                    <a:close/>
                    <a:moveTo>
                      <a:pt x="9722" y="3567"/>
                    </a:moveTo>
                    <a:close/>
                  </a:path>
                </a:pathLst>
              </a:custGeom>
              <a:solidFill>
                <a:srgbClr val="FFFFFF"/>
              </a:solidFill>
              <a:ln>
                <a:no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endParaRPr sz="1600">
                  <a:solidFill>
                    <a:srgbClr val="000000"/>
                  </a:solidFill>
                </a:endParaRPr>
              </a:p>
            </p:txBody>
          </p:sp>
        </p:grpSp>
        <p:grpSp>
          <p:nvGrpSpPr>
            <p:cNvPr id="164" name="组合 163"/>
            <p:cNvGrpSpPr/>
            <p:nvPr/>
          </p:nvGrpSpPr>
          <p:grpSpPr>
            <a:xfrm>
              <a:off x="8377978" y="2119973"/>
              <a:ext cx="2539682" cy="4014127"/>
              <a:chOff x="7286983" y="2119973"/>
              <a:chExt cx="2539682" cy="4014127"/>
            </a:xfrm>
          </p:grpSpPr>
          <p:sp>
            <p:nvSpPr>
              <p:cNvPr id="124" name="ComponentBackground3"/>
              <p:cNvSpPr/>
              <p:nvPr>
                <p:custDataLst>
                  <p:tags r:id="rId12"/>
                </p:custDataLst>
              </p:nvPr>
            </p:nvSpPr>
            <p:spPr>
              <a:xfrm>
                <a:off x="7286983" y="2562826"/>
                <a:ext cx="2539682" cy="3571274"/>
              </a:xfrm>
              <a:prstGeom prst="roundRect">
                <a:avLst>
                  <a:gd name="adj" fmla="val 4413"/>
                </a:avLst>
              </a:prstGeom>
              <a:noFill/>
              <a:ln w="6350">
                <a:solidFill>
                  <a:schemeClr val="tx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sz="160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125" name="Bullet3"/>
              <p:cNvSpPr/>
              <p:nvPr>
                <p:custDataLst>
                  <p:tags r:id="rId13"/>
                </p:custDataLst>
              </p:nvPr>
            </p:nvSpPr>
            <p:spPr>
              <a:xfrm>
                <a:off x="7402817" y="3087584"/>
                <a:ext cx="2308014" cy="575094"/>
              </a:xfrm>
              <a:prstGeom prst="roundRect">
                <a:avLst>
                  <a:gd name="adj" fmla="val 0"/>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nchor="t" anchorCtr="0">
                <a:normAutofit/>
              </a:bodyPr>
              <a:lstStyle/>
              <a:p>
                <a:pPr>
                  <a:lnSpc>
                    <a:spcPct val="120000"/>
                  </a:lnSpc>
                </a:pPr>
                <a:r>
                  <a:rPr lang="zh-CN" altLang="en-US" sz="1600" b="1" dirty="0">
                    <a:solidFill>
                      <a:srgbClr val="000000"/>
                    </a:solidFill>
                    <a:latin typeface="Arial" panose="020B0604020202020204" pitchFamily="34" charset="0"/>
                    <a:ea typeface="微软雅黑" panose="020B0503020204020204" pitchFamily="34" charset="-122"/>
                    <a:sym typeface="Arial" panose="020B0604020202020204" pitchFamily="34" charset="0"/>
                  </a:rPr>
                  <a:t>Monitoring / Observability Data</a:t>
                </a:r>
                <a:endParaRPr lang="en-US" dirty="0"/>
              </a:p>
            </p:txBody>
          </p:sp>
          <p:sp>
            <p:nvSpPr>
              <p:cNvPr id="126" name="Text3"/>
              <p:cNvSpPr txBox="1"/>
              <p:nvPr>
                <p:custDataLst>
                  <p:tags r:id="rId14"/>
                </p:custDataLst>
              </p:nvPr>
            </p:nvSpPr>
            <p:spPr>
              <a:xfrm>
                <a:off x="7402817" y="3662677"/>
                <a:ext cx="2308014" cy="2334362"/>
              </a:xfrm>
              <a:prstGeom prst="rect">
                <a:avLst/>
              </a:prstGeom>
              <a:noFill/>
              <a:effectLst/>
            </p:spPr>
            <p:txBody>
              <a:bodyPr wrap="square" rtlCol="0" anchor="t" anchorCtr="0">
                <a:normAutofit/>
              </a:bodyPr>
              <a:lstStyle>
                <a:defPPr>
                  <a:defRPr lang="zh-CN"/>
                </a:defPPr>
                <a:lvl1pPr>
                  <a:lnSpc>
                    <a:spcPct val="150000"/>
                  </a:lnSpc>
                  <a:defRPr kumimoji="0" sz="1050" i="0" u="none" strike="noStrike" cap="none" spc="0" normalizeH="0" baseline="0">
                    <a:ln>
                      <a:noFill/>
                    </a:ln>
                    <a:effectLst/>
                    <a:uLnTx/>
                    <a:uFillTx/>
                  </a:defRPr>
                </a:lvl1p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Provides statistical evidence from historical runtime data Verifies whether two metrics show temporal or causal correlation in real failures</a:t>
                </a:r>
                <a:endParaRPr lang="en-US" dirty="0"/>
              </a:p>
            </p:txBody>
          </p:sp>
          <p:sp>
            <p:nvSpPr>
              <p:cNvPr id="128" name="IconBackground3"/>
              <p:cNvSpPr/>
              <p:nvPr>
                <p:custDataLst>
                  <p:tags r:id="rId15"/>
                </p:custDataLst>
              </p:nvPr>
            </p:nvSpPr>
            <p:spPr>
              <a:xfrm>
                <a:off x="8106824" y="2119973"/>
                <a:ext cx="900000" cy="900000"/>
              </a:xfrm>
              <a:prstGeom prst="ellipse">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endParaRPr lang="zh-CN" altLang="en-US" sz="16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44" name="Icon3"/>
              <p:cNvSpPr/>
              <p:nvPr>
                <p:custDataLst>
                  <p:tags r:id="rId16"/>
                </p:custDataLst>
              </p:nvPr>
            </p:nvSpPr>
            <p:spPr>
              <a:xfrm flipH="1">
                <a:off x="8383271" y="2393824"/>
                <a:ext cx="341896" cy="307770"/>
              </a:xfrm>
              <a:custGeom>
                <a:avLst/>
                <a:gdLst>
                  <a:gd name="T0" fmla="*/ 12800 w 14221"/>
                  <a:gd name="T1" fmla="*/ 2845 h 12800"/>
                  <a:gd name="T2" fmla="*/ 1421 w 14221"/>
                  <a:gd name="T3" fmla="*/ 2845 h 12800"/>
                  <a:gd name="T4" fmla="*/ 0 w 14221"/>
                  <a:gd name="T5" fmla="*/ 4267 h 12800"/>
                  <a:gd name="T6" fmla="*/ 0 w 14221"/>
                  <a:gd name="T7" fmla="*/ 11378 h 12800"/>
                  <a:gd name="T8" fmla="*/ 1421 w 14221"/>
                  <a:gd name="T9" fmla="*/ 12800 h 12800"/>
                  <a:gd name="T10" fmla="*/ 12800 w 14221"/>
                  <a:gd name="T11" fmla="*/ 12800 h 12800"/>
                  <a:gd name="T12" fmla="*/ 14221 w 14221"/>
                  <a:gd name="T13" fmla="*/ 11378 h 12800"/>
                  <a:gd name="T14" fmla="*/ 14221 w 14221"/>
                  <a:gd name="T15" fmla="*/ 4267 h 12800"/>
                  <a:gd name="T16" fmla="*/ 12800 w 14221"/>
                  <a:gd name="T17" fmla="*/ 2845 h 12800"/>
                  <a:gd name="T18" fmla="*/ 12088 w 14221"/>
                  <a:gd name="T19" fmla="*/ 7112 h 12800"/>
                  <a:gd name="T20" fmla="*/ 11376 w 14221"/>
                  <a:gd name="T21" fmla="*/ 7112 h 12800"/>
                  <a:gd name="T22" fmla="*/ 11376 w 14221"/>
                  <a:gd name="T23" fmla="*/ 8533 h 12800"/>
                  <a:gd name="T24" fmla="*/ 10665 w 14221"/>
                  <a:gd name="T25" fmla="*/ 9245 h 12800"/>
                  <a:gd name="T26" fmla="*/ 9953 w 14221"/>
                  <a:gd name="T27" fmla="*/ 8533 h 12800"/>
                  <a:gd name="T28" fmla="*/ 9953 w 14221"/>
                  <a:gd name="T29" fmla="*/ 7112 h 12800"/>
                  <a:gd name="T30" fmla="*/ 4266 w 14221"/>
                  <a:gd name="T31" fmla="*/ 7112 h 12800"/>
                  <a:gd name="T32" fmla="*/ 4266 w 14221"/>
                  <a:gd name="T33" fmla="*/ 8533 h 12800"/>
                  <a:gd name="T34" fmla="*/ 3555 w 14221"/>
                  <a:gd name="T35" fmla="*/ 9245 h 12800"/>
                  <a:gd name="T36" fmla="*/ 2843 w 14221"/>
                  <a:gd name="T37" fmla="*/ 8533 h 12800"/>
                  <a:gd name="T38" fmla="*/ 2843 w 14221"/>
                  <a:gd name="T39" fmla="*/ 7112 h 12800"/>
                  <a:gd name="T40" fmla="*/ 2131 w 14221"/>
                  <a:gd name="T41" fmla="*/ 7112 h 12800"/>
                  <a:gd name="T42" fmla="*/ 1420 w 14221"/>
                  <a:gd name="T43" fmla="*/ 6400 h 12800"/>
                  <a:gd name="T44" fmla="*/ 2131 w 14221"/>
                  <a:gd name="T45" fmla="*/ 5688 h 12800"/>
                  <a:gd name="T46" fmla="*/ 12086 w 14221"/>
                  <a:gd name="T47" fmla="*/ 5688 h 12800"/>
                  <a:gd name="T48" fmla="*/ 12798 w 14221"/>
                  <a:gd name="T49" fmla="*/ 6400 h 12800"/>
                  <a:gd name="T50" fmla="*/ 12088 w 14221"/>
                  <a:gd name="T51" fmla="*/ 7112 h 12800"/>
                  <a:gd name="T52" fmla="*/ 4978 w 14221"/>
                  <a:gd name="T53" fmla="*/ 1778 h 12800"/>
                  <a:gd name="T54" fmla="*/ 5333 w 14221"/>
                  <a:gd name="T55" fmla="*/ 1423 h 12800"/>
                  <a:gd name="T56" fmla="*/ 8888 w 14221"/>
                  <a:gd name="T57" fmla="*/ 1423 h 12800"/>
                  <a:gd name="T58" fmla="*/ 9243 w 14221"/>
                  <a:gd name="T59" fmla="*/ 1778 h 12800"/>
                  <a:gd name="T60" fmla="*/ 9243 w 14221"/>
                  <a:gd name="T61" fmla="*/ 2845 h 12800"/>
                  <a:gd name="T62" fmla="*/ 10666 w 14221"/>
                  <a:gd name="T63" fmla="*/ 2845 h 12800"/>
                  <a:gd name="T64" fmla="*/ 10666 w 14221"/>
                  <a:gd name="T65" fmla="*/ 1778 h 12800"/>
                  <a:gd name="T66" fmla="*/ 8888 w 14221"/>
                  <a:gd name="T67" fmla="*/ 0 h 12800"/>
                  <a:gd name="T68" fmla="*/ 5333 w 14221"/>
                  <a:gd name="T69" fmla="*/ 0 h 12800"/>
                  <a:gd name="T70" fmla="*/ 3555 w 14221"/>
                  <a:gd name="T71" fmla="*/ 1778 h 12800"/>
                  <a:gd name="T72" fmla="*/ 3555 w 14221"/>
                  <a:gd name="T73" fmla="*/ 2845 h 12800"/>
                  <a:gd name="T74" fmla="*/ 4976 w 14221"/>
                  <a:gd name="T75" fmla="*/ 2845 h 12800"/>
                  <a:gd name="T76" fmla="*/ 4976 w 14221"/>
                  <a:gd name="T77" fmla="*/ 1778 h 12800"/>
                  <a:gd name="T78" fmla="*/ 4978 w 14221"/>
                  <a:gd name="T79" fmla="*/ 1778 h 12800"/>
                  <a:gd name="T80" fmla="*/ 4978 w 14221"/>
                  <a:gd name="T81" fmla="*/ 1778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221" h="12800">
                    <a:moveTo>
                      <a:pt x="12800" y="2845"/>
                    </a:moveTo>
                    <a:lnTo>
                      <a:pt x="1421" y="2845"/>
                    </a:lnTo>
                    <a:cubicBezTo>
                      <a:pt x="638" y="2845"/>
                      <a:pt x="0" y="3485"/>
                      <a:pt x="0" y="4267"/>
                    </a:cubicBezTo>
                    <a:lnTo>
                      <a:pt x="0" y="11378"/>
                    </a:lnTo>
                    <a:cubicBezTo>
                      <a:pt x="0" y="12161"/>
                      <a:pt x="640" y="12800"/>
                      <a:pt x="1421" y="12800"/>
                    </a:cubicBezTo>
                    <a:lnTo>
                      <a:pt x="12800" y="12800"/>
                    </a:lnTo>
                    <a:cubicBezTo>
                      <a:pt x="13583" y="12800"/>
                      <a:pt x="14221" y="12160"/>
                      <a:pt x="14221" y="11378"/>
                    </a:cubicBezTo>
                    <a:lnTo>
                      <a:pt x="14221" y="4267"/>
                    </a:lnTo>
                    <a:cubicBezTo>
                      <a:pt x="14221" y="3484"/>
                      <a:pt x="13583" y="2845"/>
                      <a:pt x="12800" y="2845"/>
                    </a:cubicBezTo>
                    <a:close/>
                    <a:moveTo>
                      <a:pt x="12088" y="7112"/>
                    </a:moveTo>
                    <a:lnTo>
                      <a:pt x="11376" y="7112"/>
                    </a:lnTo>
                    <a:lnTo>
                      <a:pt x="11376" y="8533"/>
                    </a:lnTo>
                    <a:cubicBezTo>
                      <a:pt x="11376" y="8960"/>
                      <a:pt x="11093" y="9245"/>
                      <a:pt x="10665" y="9245"/>
                    </a:cubicBezTo>
                    <a:cubicBezTo>
                      <a:pt x="10237" y="9245"/>
                      <a:pt x="9953" y="8961"/>
                      <a:pt x="9953" y="8533"/>
                    </a:cubicBezTo>
                    <a:lnTo>
                      <a:pt x="9953" y="7112"/>
                    </a:lnTo>
                    <a:lnTo>
                      <a:pt x="4266" y="7112"/>
                    </a:lnTo>
                    <a:lnTo>
                      <a:pt x="4266" y="8533"/>
                    </a:lnTo>
                    <a:cubicBezTo>
                      <a:pt x="4266" y="8960"/>
                      <a:pt x="3983" y="9245"/>
                      <a:pt x="3555" y="9245"/>
                    </a:cubicBezTo>
                    <a:cubicBezTo>
                      <a:pt x="3128" y="9245"/>
                      <a:pt x="2843" y="8961"/>
                      <a:pt x="2843" y="8533"/>
                    </a:cubicBezTo>
                    <a:lnTo>
                      <a:pt x="2843" y="7112"/>
                    </a:lnTo>
                    <a:lnTo>
                      <a:pt x="2131" y="7112"/>
                    </a:lnTo>
                    <a:cubicBezTo>
                      <a:pt x="1705" y="7112"/>
                      <a:pt x="1420" y="6828"/>
                      <a:pt x="1420" y="6400"/>
                    </a:cubicBezTo>
                    <a:cubicBezTo>
                      <a:pt x="1420" y="5974"/>
                      <a:pt x="1703" y="5688"/>
                      <a:pt x="2131" y="5688"/>
                    </a:cubicBezTo>
                    <a:lnTo>
                      <a:pt x="12086" y="5688"/>
                    </a:lnTo>
                    <a:cubicBezTo>
                      <a:pt x="12513" y="5688"/>
                      <a:pt x="12798" y="5972"/>
                      <a:pt x="12798" y="6400"/>
                    </a:cubicBezTo>
                    <a:cubicBezTo>
                      <a:pt x="12800" y="6826"/>
                      <a:pt x="12516" y="7112"/>
                      <a:pt x="12088" y="7112"/>
                    </a:cubicBezTo>
                    <a:close/>
                    <a:moveTo>
                      <a:pt x="4978" y="1778"/>
                    </a:moveTo>
                    <a:cubicBezTo>
                      <a:pt x="4978" y="1564"/>
                      <a:pt x="5121" y="1423"/>
                      <a:pt x="5333" y="1423"/>
                    </a:cubicBezTo>
                    <a:lnTo>
                      <a:pt x="8888" y="1423"/>
                    </a:lnTo>
                    <a:cubicBezTo>
                      <a:pt x="9102" y="1423"/>
                      <a:pt x="9243" y="1566"/>
                      <a:pt x="9243" y="1778"/>
                    </a:cubicBezTo>
                    <a:lnTo>
                      <a:pt x="9243" y="2845"/>
                    </a:lnTo>
                    <a:lnTo>
                      <a:pt x="10666" y="2845"/>
                    </a:lnTo>
                    <a:lnTo>
                      <a:pt x="10666" y="1778"/>
                    </a:lnTo>
                    <a:cubicBezTo>
                      <a:pt x="10666" y="783"/>
                      <a:pt x="9883" y="0"/>
                      <a:pt x="8888" y="0"/>
                    </a:cubicBezTo>
                    <a:lnTo>
                      <a:pt x="5333" y="0"/>
                    </a:lnTo>
                    <a:cubicBezTo>
                      <a:pt x="4338" y="0"/>
                      <a:pt x="3555" y="783"/>
                      <a:pt x="3555" y="1778"/>
                    </a:cubicBezTo>
                    <a:lnTo>
                      <a:pt x="3555" y="2845"/>
                    </a:lnTo>
                    <a:lnTo>
                      <a:pt x="4976" y="2845"/>
                    </a:lnTo>
                    <a:lnTo>
                      <a:pt x="4976" y="1778"/>
                    </a:lnTo>
                    <a:lnTo>
                      <a:pt x="4978" y="1778"/>
                    </a:lnTo>
                    <a:close/>
                    <a:moveTo>
                      <a:pt x="4978" y="1778"/>
                    </a:moveTo>
                    <a:close/>
                  </a:path>
                </a:pathLst>
              </a:custGeom>
              <a:solidFill>
                <a:srgbClr val="FFFFFF"/>
              </a:solidFill>
              <a:ln>
                <a:no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endParaRPr sz="1600">
                  <a:solidFill>
                    <a:srgbClr val="000000"/>
                  </a:solidFill>
                </a:endParaRPr>
              </a:p>
            </p:txBody>
          </p:sp>
        </p:grpSp>
      </p:grpSp>
      <p:sp>
        <p:nvSpPr>
          <p:cNvPr id="2" name="标题 1"/>
          <p:cNvSpPr>
            <a:spLocks noGrp="1"/>
          </p:cNvSpPr>
          <p:nvPr>
            <p:ph type="title" hasCustomPrompt="1"/>
          </p:nvPr>
        </p:nvSpPr>
        <p:spPr/>
        <p:txBody>
          <a:bodyPr/>
          <a:lstStyle/>
          <a:p>
            <a:r>
              <a:rPr lang="zh-CN" altLang="en-US" dirty="0"/>
              <a:t>How Is the Meta Causal Graph Constructed?</a:t>
            </a:r>
            <a:endParaRPr lang="en-US" dirty="0"/>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C8BB1146-E542-4D4E-B8E9-6919A11DDD48}" type="slidenum">
              <a:rPr lang="en-US" smtClean="0"/>
            </a:fld>
            <a:endParaRPr lang="en-US"/>
          </a:p>
        </p:txBody>
      </p:sp>
    </p:spTree>
    <p:custDataLst>
      <p:tags r:id="rId17"/>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7" name="2c2b8d33-ec3a-4902-b3bc-d845a734e9b4.source.3.zh-Hans.pptx"/>
          <p:cNvGrpSpPr/>
          <p:nvPr>
            <p:custDataLst>
              <p:tags r:id="rId1"/>
            </p:custDataLst>
          </p:nvPr>
        </p:nvGrpSpPr>
        <p:grpSpPr>
          <a:xfrm>
            <a:off x="660400" y="1130300"/>
            <a:ext cx="10858500" cy="5003801"/>
            <a:chOff x="660400" y="1130300"/>
            <a:chExt cx="10858500" cy="5003801"/>
          </a:xfrm>
        </p:grpSpPr>
        <p:sp>
          <p:nvSpPr>
            <p:cNvPr id="2" name="Title"/>
            <p:cNvSpPr/>
            <p:nvPr/>
          </p:nvSpPr>
          <p:spPr>
            <a:xfrm>
              <a:off x="660400" y="1130300"/>
              <a:ext cx="10858500" cy="6096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buSzPct val="25000"/>
              </a:pPr>
              <a:r>
                <a:rPr lang="zh-CN" altLang="en-US" sz="20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Exploring the feasibility of generalizable Root Cause Analysis through component abstraction, standardized stacks, and transferable experience</a:t>
              </a:r>
              <a:endParaRPr lang="en-US" dirty="0"/>
            </a:p>
          </p:txBody>
        </p:sp>
        <p:grpSp>
          <p:nvGrpSpPr>
            <p:cNvPr id="36" name="组合 35"/>
            <p:cNvGrpSpPr/>
            <p:nvPr/>
          </p:nvGrpSpPr>
          <p:grpSpPr>
            <a:xfrm>
              <a:off x="660400" y="1926336"/>
              <a:ext cx="3496599" cy="4207765"/>
              <a:chOff x="446010" y="1926336"/>
              <a:chExt cx="3496599" cy="4207765"/>
            </a:xfrm>
          </p:grpSpPr>
          <p:grpSp>
            <p:nvGrpSpPr>
              <p:cNvPr id="13" name="组合 12"/>
              <p:cNvGrpSpPr/>
              <p:nvPr/>
            </p:nvGrpSpPr>
            <p:grpSpPr>
              <a:xfrm>
                <a:off x="446010" y="1926336"/>
                <a:ext cx="3496599" cy="4207765"/>
                <a:chOff x="168085" y="1926336"/>
                <a:chExt cx="8029443" cy="4207765"/>
              </a:xfrm>
            </p:grpSpPr>
            <p:grpSp>
              <p:nvGrpSpPr>
                <p:cNvPr id="18" name="组合 17"/>
                <p:cNvGrpSpPr/>
                <p:nvPr/>
              </p:nvGrpSpPr>
              <p:grpSpPr>
                <a:xfrm>
                  <a:off x="293769" y="2032000"/>
                  <a:ext cx="7703941" cy="3629065"/>
                  <a:chOff x="2827645" y="3524891"/>
                  <a:chExt cx="8763937" cy="2421216"/>
                </a:xfrm>
              </p:grpSpPr>
              <p:sp>
                <p:nvSpPr>
                  <p:cNvPr id="3" name="Text1"/>
                  <p:cNvSpPr txBox="1"/>
                  <p:nvPr>
                    <p:custDataLst>
                      <p:tags r:id="rId2"/>
                    </p:custDataLst>
                  </p:nvPr>
                </p:nvSpPr>
                <p:spPr>
                  <a:xfrm>
                    <a:off x="2827645" y="3924656"/>
                    <a:ext cx="8763937" cy="2021451"/>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Cloud-native systems may have thousands of service instances, but they can be abstracted into a few component types: Microservice, Database, Cache, Message Queue, Host, Gateway / Proxy.</a:t>
                    </a:r>
                    <a:endParaRPr lang="en-US" dirty="0"/>
                  </a:p>
                </p:txBody>
              </p:sp>
              <p:sp>
                <p:nvSpPr>
                  <p:cNvPr id="4" name="Bullet1"/>
                  <p:cNvSpPr txBox="1"/>
                  <p:nvPr>
                    <p:custDataLst>
                      <p:tags r:id="rId3"/>
                    </p:custDataLst>
                  </p:nvPr>
                </p:nvSpPr>
                <p:spPr>
                  <a:xfrm>
                    <a:off x="2827645" y="3524891"/>
                    <a:ext cx="8763937" cy="399766"/>
                  </a:xfrm>
                  <a:prstGeom prst="rect">
                    <a:avLst/>
                  </a:prstGeom>
                  <a:noFill/>
                </p:spPr>
                <p:txBody>
                  <a:bodyPr wrap="square" rtlCol="0" anchor="t">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Limited Component Types in Cloud-Native Systems</a:t>
                    </a:r>
                    <a:endParaRPr lang="en-US" dirty="0"/>
                  </a:p>
                </p:txBody>
              </p:sp>
            </p:grpSp>
            <p:sp>
              <p:nvSpPr>
                <p:cNvPr id="19" name="ComponentBackground1"/>
                <p:cNvSpPr/>
                <p:nvPr>
                  <p:custDataLst>
                    <p:tags r:id="rId4"/>
                  </p:custDataLst>
                </p:nvPr>
              </p:nvSpPr>
              <p:spPr>
                <a:xfrm>
                  <a:off x="168085" y="1926336"/>
                  <a:ext cx="8029443" cy="4207765"/>
                </a:xfrm>
                <a:prstGeom prst="roundRect">
                  <a:avLst>
                    <a:gd name="adj" fmla="val 2791"/>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p>
              </p:txBody>
            </p:sp>
          </p:grpSp>
          <p:grpSp>
            <p:nvGrpSpPr>
              <p:cNvPr id="25" name="组合 24"/>
              <p:cNvGrpSpPr/>
              <p:nvPr/>
            </p:nvGrpSpPr>
            <p:grpSpPr>
              <a:xfrm>
                <a:off x="3585649" y="5910258"/>
                <a:ext cx="256471" cy="146776"/>
                <a:chOff x="6877521" y="5728762"/>
                <a:chExt cx="412712" cy="236191"/>
              </a:xfrm>
            </p:grpSpPr>
            <p:sp>
              <p:nvSpPr>
                <p:cNvPr id="12" name="椭圆 11"/>
                <p:cNvSpPr/>
                <p:nvPr>
                  <p:custDataLst>
                    <p:tags r:id="rId5"/>
                  </p:custDataLst>
                </p:nvPr>
              </p:nvSpPr>
              <p:spPr>
                <a:xfrm>
                  <a:off x="7054053" y="5728773"/>
                  <a:ext cx="236180" cy="236180"/>
                </a:xfrm>
                <a:prstGeom prst="ellipse">
                  <a:avLst/>
                </a:prstGeom>
                <a:solidFill>
                  <a:schemeClr val="accent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b="1"/>
                </a:p>
              </p:txBody>
            </p:sp>
            <p:sp>
              <p:nvSpPr>
                <p:cNvPr id="24" name="椭圆 23"/>
                <p:cNvSpPr/>
                <p:nvPr>
                  <p:custDataLst>
                    <p:tags r:id="rId6"/>
                  </p:custDataLst>
                </p:nvPr>
              </p:nvSpPr>
              <p:spPr>
                <a:xfrm>
                  <a:off x="6877521" y="5728762"/>
                  <a:ext cx="236180" cy="236179"/>
                </a:xfrm>
                <a:prstGeom prst="ellipse">
                  <a:avLst/>
                </a:prstGeom>
                <a:solidFill>
                  <a:schemeClr val="accent1">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b="1"/>
                </a:p>
              </p:txBody>
            </p:sp>
          </p:grpSp>
        </p:grpSp>
        <p:grpSp>
          <p:nvGrpSpPr>
            <p:cNvPr id="101" name="组合 100"/>
            <p:cNvGrpSpPr/>
            <p:nvPr/>
          </p:nvGrpSpPr>
          <p:grpSpPr>
            <a:xfrm>
              <a:off x="4341351" y="1926336"/>
              <a:ext cx="3496599" cy="4207765"/>
              <a:chOff x="446010" y="1926336"/>
              <a:chExt cx="3496599" cy="4207765"/>
            </a:xfrm>
          </p:grpSpPr>
          <p:grpSp>
            <p:nvGrpSpPr>
              <p:cNvPr id="102" name="组合 101"/>
              <p:cNvGrpSpPr/>
              <p:nvPr/>
            </p:nvGrpSpPr>
            <p:grpSpPr>
              <a:xfrm>
                <a:off x="446010" y="1926336"/>
                <a:ext cx="3496599" cy="4207765"/>
                <a:chOff x="168085" y="1926336"/>
                <a:chExt cx="8029443" cy="4207765"/>
              </a:xfrm>
            </p:grpSpPr>
            <p:grpSp>
              <p:nvGrpSpPr>
                <p:cNvPr id="106" name="组合 105"/>
                <p:cNvGrpSpPr/>
                <p:nvPr/>
              </p:nvGrpSpPr>
              <p:grpSpPr>
                <a:xfrm>
                  <a:off x="293769" y="2032000"/>
                  <a:ext cx="7703941" cy="3629065"/>
                  <a:chOff x="2827645" y="3524891"/>
                  <a:chExt cx="8763937" cy="2421216"/>
                </a:xfrm>
              </p:grpSpPr>
              <p:sp>
                <p:nvSpPr>
                  <p:cNvPr id="108" name="Text2"/>
                  <p:cNvSpPr txBox="1"/>
                  <p:nvPr>
                    <p:custDataLst>
                      <p:tags r:id="rId7"/>
                    </p:custDataLst>
                  </p:nvPr>
                </p:nvSpPr>
                <p:spPr>
                  <a:xfrm>
                    <a:off x="2827645" y="3924656"/>
                    <a:ext cx="8763937" cy="2021451"/>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Enterprises often use similar infrastructure across systems, such as Kubernetes, MySQL, Redis, Kafka, and Prometheus. This leads to recurring failure patterns: Redis slowdown → Microservice latency increases;MySQL query latency → Upstream service latency increases;High CPU usage → Service error rate increases.</a:t>
                    </a:r>
                    <a:endParaRPr lang="en-US" dirty="0"/>
                  </a:p>
                </p:txBody>
              </p:sp>
              <p:sp>
                <p:nvSpPr>
                  <p:cNvPr id="109" name="Bullet2"/>
                  <p:cNvSpPr txBox="1"/>
                  <p:nvPr>
                    <p:custDataLst>
                      <p:tags r:id="rId8"/>
                    </p:custDataLst>
                  </p:nvPr>
                </p:nvSpPr>
                <p:spPr>
                  <a:xfrm>
                    <a:off x="2827645" y="3524891"/>
                    <a:ext cx="8763937" cy="399766"/>
                  </a:xfrm>
                  <a:prstGeom prst="rect">
                    <a:avLst/>
                  </a:prstGeom>
                  <a:noFill/>
                </p:spPr>
                <p:txBody>
                  <a:bodyPr wrap="square" rtlCol="0" anchor="t">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Standardized Tech Stacks and Recurring Failure Patterns</a:t>
                    </a:r>
                    <a:endParaRPr lang="en-US" dirty="0"/>
                  </a:p>
                </p:txBody>
              </p:sp>
            </p:grpSp>
            <p:sp>
              <p:nvSpPr>
                <p:cNvPr id="107" name="ComponentBackground2"/>
                <p:cNvSpPr/>
                <p:nvPr>
                  <p:custDataLst>
                    <p:tags r:id="rId9"/>
                  </p:custDataLst>
                </p:nvPr>
              </p:nvSpPr>
              <p:spPr>
                <a:xfrm>
                  <a:off x="168085" y="1926336"/>
                  <a:ext cx="8029443" cy="4207765"/>
                </a:xfrm>
                <a:prstGeom prst="roundRect">
                  <a:avLst>
                    <a:gd name="adj" fmla="val 2791"/>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p>
              </p:txBody>
            </p:sp>
          </p:grpSp>
          <p:grpSp>
            <p:nvGrpSpPr>
              <p:cNvPr id="103" name="组合 102"/>
              <p:cNvGrpSpPr/>
              <p:nvPr/>
            </p:nvGrpSpPr>
            <p:grpSpPr>
              <a:xfrm>
                <a:off x="3585649" y="5910258"/>
                <a:ext cx="256471" cy="146776"/>
                <a:chOff x="6877521" y="5728762"/>
                <a:chExt cx="412712" cy="236191"/>
              </a:xfrm>
            </p:grpSpPr>
            <p:sp>
              <p:nvSpPr>
                <p:cNvPr id="104" name="椭圆 103"/>
                <p:cNvSpPr/>
                <p:nvPr>
                  <p:custDataLst>
                    <p:tags r:id="rId10"/>
                  </p:custDataLst>
                </p:nvPr>
              </p:nvSpPr>
              <p:spPr>
                <a:xfrm>
                  <a:off x="7054053" y="5728773"/>
                  <a:ext cx="236180" cy="236180"/>
                </a:xfrm>
                <a:prstGeom prst="ellipse">
                  <a:avLst/>
                </a:prstGeom>
                <a:solidFill>
                  <a:schemeClr val="accent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b="1"/>
                </a:p>
              </p:txBody>
            </p:sp>
            <p:sp>
              <p:nvSpPr>
                <p:cNvPr id="105" name="椭圆 104"/>
                <p:cNvSpPr/>
                <p:nvPr>
                  <p:custDataLst>
                    <p:tags r:id="rId11"/>
                  </p:custDataLst>
                </p:nvPr>
              </p:nvSpPr>
              <p:spPr>
                <a:xfrm>
                  <a:off x="6877521" y="5728762"/>
                  <a:ext cx="236180" cy="236179"/>
                </a:xfrm>
                <a:prstGeom prst="ellipse">
                  <a:avLst/>
                </a:prstGeom>
                <a:solidFill>
                  <a:schemeClr val="accent1">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b="1"/>
                </a:p>
              </p:txBody>
            </p:sp>
          </p:grpSp>
        </p:grpSp>
        <p:grpSp>
          <p:nvGrpSpPr>
            <p:cNvPr id="110" name="组合 109"/>
            <p:cNvGrpSpPr/>
            <p:nvPr/>
          </p:nvGrpSpPr>
          <p:grpSpPr>
            <a:xfrm>
              <a:off x="8022301" y="1926336"/>
              <a:ext cx="3496599" cy="4207765"/>
              <a:chOff x="446010" y="1926336"/>
              <a:chExt cx="3496599" cy="4207765"/>
            </a:xfrm>
          </p:grpSpPr>
          <p:grpSp>
            <p:nvGrpSpPr>
              <p:cNvPr id="111" name="组合 110"/>
              <p:cNvGrpSpPr/>
              <p:nvPr/>
            </p:nvGrpSpPr>
            <p:grpSpPr>
              <a:xfrm>
                <a:off x="446010" y="1926336"/>
                <a:ext cx="3496599" cy="4207765"/>
                <a:chOff x="168085" y="1926336"/>
                <a:chExt cx="8029443" cy="4207765"/>
              </a:xfrm>
            </p:grpSpPr>
            <p:grpSp>
              <p:nvGrpSpPr>
                <p:cNvPr id="115" name="组合 114"/>
                <p:cNvGrpSpPr/>
                <p:nvPr/>
              </p:nvGrpSpPr>
              <p:grpSpPr>
                <a:xfrm>
                  <a:off x="293769" y="2032000"/>
                  <a:ext cx="7703941" cy="3629065"/>
                  <a:chOff x="2827645" y="3524891"/>
                  <a:chExt cx="8763937" cy="2421216"/>
                </a:xfrm>
              </p:grpSpPr>
              <p:sp>
                <p:nvSpPr>
                  <p:cNvPr id="117" name="Text3"/>
                  <p:cNvSpPr txBox="1"/>
                  <p:nvPr>
                    <p:custDataLst>
                      <p:tags r:id="rId12"/>
                    </p:custDataLst>
                  </p:nvPr>
                </p:nvSpPr>
                <p:spPr>
                  <a:xfrm>
                    <a:off x="2827645" y="3924656"/>
                    <a:ext cx="8763937" cy="2021451"/>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SRE engineers rely on general causal experience rather than memorizing service names. Example: ProductDB.db_time ↑ → OrderService.api_latency ↑;UserProfileDB.db_time ↑ → NotificationService.api_latency ↑. Both can be abstracted as: Database.db_time ↑ → Microservice.api_latency ↑.</a:t>
                    </a:r>
                    <a:endParaRPr lang="en-US" dirty="0"/>
                  </a:p>
                </p:txBody>
              </p:sp>
              <p:sp>
                <p:nvSpPr>
                  <p:cNvPr id="118" name="Bullet3"/>
                  <p:cNvSpPr txBox="1"/>
                  <p:nvPr>
                    <p:custDataLst>
                      <p:tags r:id="rId13"/>
                    </p:custDataLst>
                  </p:nvPr>
                </p:nvSpPr>
                <p:spPr>
                  <a:xfrm>
                    <a:off x="2827645" y="3524891"/>
                    <a:ext cx="8763937" cy="399766"/>
                  </a:xfrm>
                  <a:prstGeom prst="rect">
                    <a:avLst/>
                  </a:prstGeom>
                  <a:noFill/>
                </p:spPr>
                <p:txBody>
                  <a:bodyPr wrap="square" rtlCol="0" anchor="t">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Transferable SRE Experience Based on Causal Abstraction</a:t>
                    </a:r>
                    <a:endParaRPr lang="en-US" dirty="0"/>
                  </a:p>
                </p:txBody>
              </p:sp>
            </p:grpSp>
            <p:sp>
              <p:nvSpPr>
                <p:cNvPr id="116" name="ComponentBackground3"/>
                <p:cNvSpPr/>
                <p:nvPr>
                  <p:custDataLst>
                    <p:tags r:id="rId14"/>
                  </p:custDataLst>
                </p:nvPr>
              </p:nvSpPr>
              <p:spPr>
                <a:xfrm>
                  <a:off x="168085" y="1926336"/>
                  <a:ext cx="8029443" cy="4207765"/>
                </a:xfrm>
                <a:prstGeom prst="roundRect">
                  <a:avLst>
                    <a:gd name="adj" fmla="val 2791"/>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p>
              </p:txBody>
            </p:sp>
          </p:grpSp>
          <p:grpSp>
            <p:nvGrpSpPr>
              <p:cNvPr id="112" name="组合 111"/>
              <p:cNvGrpSpPr/>
              <p:nvPr/>
            </p:nvGrpSpPr>
            <p:grpSpPr>
              <a:xfrm>
                <a:off x="3585649" y="5910258"/>
                <a:ext cx="256471" cy="146776"/>
                <a:chOff x="6877521" y="5728762"/>
                <a:chExt cx="412712" cy="236191"/>
              </a:xfrm>
            </p:grpSpPr>
            <p:sp>
              <p:nvSpPr>
                <p:cNvPr id="113" name="椭圆 112"/>
                <p:cNvSpPr/>
                <p:nvPr>
                  <p:custDataLst>
                    <p:tags r:id="rId15"/>
                  </p:custDataLst>
                </p:nvPr>
              </p:nvSpPr>
              <p:spPr>
                <a:xfrm>
                  <a:off x="7054053" y="5728773"/>
                  <a:ext cx="236180" cy="236180"/>
                </a:xfrm>
                <a:prstGeom prst="ellipse">
                  <a:avLst/>
                </a:prstGeom>
                <a:solidFill>
                  <a:schemeClr val="accent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b="1"/>
                </a:p>
              </p:txBody>
            </p:sp>
            <p:sp>
              <p:nvSpPr>
                <p:cNvPr id="114" name="椭圆 113"/>
                <p:cNvSpPr/>
                <p:nvPr>
                  <p:custDataLst>
                    <p:tags r:id="rId16"/>
                  </p:custDataLst>
                </p:nvPr>
              </p:nvSpPr>
              <p:spPr>
                <a:xfrm>
                  <a:off x="6877521" y="5728762"/>
                  <a:ext cx="236180" cy="236179"/>
                </a:xfrm>
                <a:prstGeom prst="ellipse">
                  <a:avLst/>
                </a:prstGeom>
                <a:solidFill>
                  <a:schemeClr val="accent1">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b="1"/>
                </a:p>
              </p:txBody>
            </p:sp>
          </p:grpSp>
        </p:grpSp>
      </p:grpSp>
      <p:sp>
        <p:nvSpPr>
          <p:cNvPr id="5" name="标题 4"/>
          <p:cNvSpPr>
            <a:spLocks noGrp="1"/>
          </p:cNvSpPr>
          <p:nvPr>
            <p:ph type="title" hasCustomPrompt="1"/>
          </p:nvPr>
        </p:nvSpPr>
        <p:spPr/>
        <p:txBody>
          <a:bodyPr/>
          <a:lstStyle/>
          <a:p>
            <a:r>
              <a:rPr lang="zh-CN" altLang="en-US" dirty="0"/>
              <a:t>Motivation: Why Is Generalizable RCA Possible?</a:t>
            </a:r>
            <a:endParaRPr lang="en-US" dirty="0"/>
          </a:p>
        </p:txBody>
      </p:sp>
      <p:sp>
        <p:nvSpPr>
          <p:cNvPr id="6" name="日期占位符 5"/>
          <p:cNvSpPr>
            <a:spLocks noGrp="1"/>
          </p:cNvSpPr>
          <p:nvPr>
            <p:ph type="dt" sz="half" idx="10"/>
          </p:nvPr>
        </p:nvSpPr>
        <p:spPr/>
        <p:txBody>
          <a:bodyPr/>
          <a:lstStyle/>
          <a:p>
            <a:endParaRPr lang="en-US"/>
          </a:p>
        </p:txBody>
      </p:sp>
      <p:sp>
        <p:nvSpPr>
          <p:cNvPr id="7" name="页脚占位符 6"/>
          <p:cNvSpPr>
            <a:spLocks noGrp="1"/>
          </p:cNvSpPr>
          <p:nvPr>
            <p:ph type="ftr" sz="quarter" idx="11"/>
          </p:nvPr>
        </p:nvSpPr>
        <p:spPr/>
        <p:txBody>
          <a:bodyPr/>
          <a:lstStyle/>
          <a:p>
            <a:endParaRPr lang="en-US"/>
          </a:p>
        </p:txBody>
      </p:sp>
      <p:sp>
        <p:nvSpPr>
          <p:cNvPr id="8" name="灯片编号占位符 7"/>
          <p:cNvSpPr>
            <a:spLocks noGrp="1"/>
          </p:cNvSpPr>
          <p:nvPr>
            <p:ph type="sldNum" sz="quarter" idx="12"/>
          </p:nvPr>
        </p:nvSpPr>
        <p:spPr/>
        <p:txBody>
          <a:bodyPr/>
          <a:lstStyle/>
          <a:p>
            <a:fld id="{C8BB1146-E542-4D4E-B8E9-6919A11DDD48}" type="slidenum">
              <a:rPr lang="en-US" smtClean="0"/>
            </a:fld>
            <a:endParaRPr lang="en-US"/>
          </a:p>
        </p:txBody>
      </p:sp>
      <p:sp>
        <p:nvSpPr>
          <p:cNvPr id="158" name="image"/>
          <p:cNvSpPr/>
          <p:nvPr>
            <p:custDataLst>
              <p:tags r:id="rId17"/>
            </p:custDataLst>
          </p:nvPr>
        </p:nvSpPr>
        <p:spPr>
          <a:xfrm>
            <a:off x="3691506" y="4651860"/>
            <a:ext cx="5126900" cy="1336839"/>
          </a:xfrm>
          <a:prstGeom prst="roundRect">
            <a:avLst>
              <a:gd name="adj" fmla="val 1000"/>
            </a:avLst>
          </a:prstGeom>
          <a:blipFill>
            <a:blip r:embed="rId18"/>
            <a:stretch>
              <a:fillRect t="-15697" b="-1569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9"/>
    </p:custData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normAutofit/>
          </a:bodyPr>
          <a:lstStyle/>
          <a:p>
            <a:pPr marL="0" marR="0" lvl="0" indent="0" algn="l">
              <a:lnSpc>
                <a:spcPct val="100000"/>
              </a:lnSpc>
            </a:pPr>
            <a:r>
              <a:rPr lang="zh-CN" altLang="en-US" sz="2800" b="1" baseline="0" dirty="0">
                <a:solidFill>
                  <a:schemeClr val="accent1"/>
                </a:solidFill>
              </a:rPr>
              <a:t>Detailed Design</a:t>
            </a:r>
            <a:endParaRPr lang="zh-CN" altLang="en-US" dirty="0"/>
          </a:p>
          <a:p>
            <a:pPr marL="0" marR="0" lvl="0" indent="0" algn="l">
              <a:lnSpc>
                <a:spcPct val="100000"/>
              </a:lnSpc>
            </a:pPr>
            <a:endParaRPr lang="zh-CN" alt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C8BB1146-E542-4D4E-B8E9-6919A11DDD48}" type="slidenum">
              <a:rPr lang="en-US" smtClean="0"/>
            </a:fld>
            <a:endParaRPr lang="en-US"/>
          </a:p>
        </p:txBody>
      </p:sp>
      <p:sp>
        <p:nvSpPr>
          <p:cNvPr id="6" name="image"/>
          <p:cNvSpPr/>
          <p:nvPr/>
        </p:nvSpPr>
        <p:spPr>
          <a:xfrm>
            <a:off x="0" y="1085175"/>
            <a:ext cx="12192000" cy="5991795"/>
          </a:xfrm>
          <a:prstGeom prst="roundRect">
            <a:avLst>
              <a:gd name="adj" fmla="val 1000"/>
            </a:avLst>
          </a:prstGeom>
          <a:blipFill>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2"/>
    </p:custData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d3fb0efb-92bf-4090-88ef-060858c61e43.source.3.zh-Hans.pptx"/>
          <p:cNvGrpSpPr/>
          <p:nvPr>
            <p:custDataLst>
              <p:tags r:id="rId1"/>
            </p:custDataLst>
          </p:nvPr>
        </p:nvGrpSpPr>
        <p:grpSpPr>
          <a:xfrm>
            <a:off x="660399" y="1130300"/>
            <a:ext cx="10858501" cy="5003800"/>
            <a:chOff x="660399" y="1130300"/>
            <a:chExt cx="10858501" cy="5003800"/>
          </a:xfrm>
        </p:grpSpPr>
        <p:grpSp>
          <p:nvGrpSpPr>
            <p:cNvPr id="13" name="组合 12"/>
            <p:cNvGrpSpPr/>
            <p:nvPr/>
          </p:nvGrpSpPr>
          <p:grpSpPr>
            <a:xfrm>
              <a:off x="660400" y="2041218"/>
              <a:ext cx="3568900" cy="4092882"/>
              <a:chOff x="660400" y="2041218"/>
              <a:chExt cx="3568900" cy="4092882"/>
            </a:xfrm>
          </p:grpSpPr>
          <p:grpSp>
            <p:nvGrpSpPr>
              <p:cNvPr id="12" name="组合 11"/>
              <p:cNvGrpSpPr/>
              <p:nvPr/>
            </p:nvGrpSpPr>
            <p:grpSpPr>
              <a:xfrm>
                <a:off x="998220" y="2779679"/>
                <a:ext cx="3231080" cy="3354421"/>
                <a:chOff x="998220" y="2779679"/>
                <a:chExt cx="3231080" cy="3354421"/>
              </a:xfrm>
            </p:grpSpPr>
            <p:sp>
              <p:nvSpPr>
                <p:cNvPr id="40" name="Text1"/>
                <p:cNvSpPr txBox="1"/>
                <p:nvPr>
                  <p:custDataLst>
                    <p:tags r:id="rId2"/>
                  </p:custDataLst>
                </p:nvPr>
              </p:nvSpPr>
              <p:spPr>
                <a:xfrm>
                  <a:off x="998220" y="3335964"/>
                  <a:ext cx="3231079" cy="2798136"/>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Map concrete service instances to abstract component types. </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 order-service → Microservice </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 product-db → MySQL * </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cache-redis → Redis </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 node-01 → Host</a:t>
                  </a:r>
                  <a:endParaRPr lang="en-US" dirty="0"/>
                </a:p>
              </p:txBody>
            </p:sp>
            <p:sp>
              <p:nvSpPr>
                <p:cNvPr id="41" name="Bullet1"/>
                <p:cNvSpPr txBox="1"/>
                <p:nvPr>
                  <p:custDataLst>
                    <p:tags r:id="rId3"/>
                  </p:custDataLst>
                </p:nvPr>
              </p:nvSpPr>
              <p:spPr>
                <a:xfrm>
                  <a:off x="998220" y="2779679"/>
                  <a:ext cx="3231080" cy="539955"/>
                </a:xfrm>
                <a:prstGeom prst="rect">
                  <a:avLst/>
                </a:prstGeom>
                <a:noFill/>
              </p:spPr>
              <p:txBody>
                <a:bodyPr wrap="square" rtlCol="0" anchor="ctr">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Component Types</a:t>
                  </a:r>
                  <a:endParaRPr lang="en-US" dirty="0"/>
                </a:p>
              </p:txBody>
            </p:sp>
          </p:grpSp>
          <p:grpSp>
            <p:nvGrpSpPr>
              <p:cNvPr id="45" name="组合 44"/>
              <p:cNvGrpSpPr/>
              <p:nvPr/>
            </p:nvGrpSpPr>
            <p:grpSpPr>
              <a:xfrm>
                <a:off x="660400" y="2041218"/>
                <a:ext cx="590550" cy="4092882"/>
                <a:chOff x="660400" y="2041218"/>
                <a:chExt cx="590550" cy="4092882"/>
              </a:xfrm>
            </p:grpSpPr>
            <p:sp>
              <p:nvSpPr>
                <p:cNvPr id="42" name="Number1"/>
                <p:cNvSpPr/>
                <p:nvPr>
                  <p:custDataLst>
                    <p:tags r:id="rId4"/>
                  </p:custDataLst>
                </p:nvPr>
              </p:nvSpPr>
              <p:spPr>
                <a:xfrm>
                  <a:off x="660400" y="2041218"/>
                  <a:ext cx="590550" cy="590548"/>
                </a:xfrm>
                <a:prstGeom prst="ellipse">
                  <a:avLst/>
                </a:prstGeom>
                <a:solidFill>
                  <a:schemeClr val="accent1">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dirty="0">
                      <a:solidFill>
                        <a:srgbClr val="FFFFFF"/>
                      </a:solidFill>
                    </a:rPr>
                    <a:t>1</a:t>
                  </a:r>
                  <a:endParaRPr lang="zh-CN" altLang="en-US" dirty="0">
                    <a:solidFill>
                      <a:srgbClr val="FFFFFF"/>
                    </a:solidFill>
                  </a:endParaRPr>
                </a:p>
              </p:txBody>
            </p:sp>
            <p:cxnSp>
              <p:nvCxnSpPr>
                <p:cNvPr id="44" name="直接连接符 43"/>
                <p:cNvCxnSpPr>
                  <a:stCxn id="42" idx="4"/>
                </p:cNvCxnSpPr>
                <p:nvPr>
                  <p:custDataLst>
                    <p:tags r:id="rId5"/>
                  </p:custDataLst>
                </p:nvPr>
              </p:nvCxnSpPr>
              <p:spPr>
                <a:xfrm>
                  <a:off x="955675" y="2631766"/>
                  <a:ext cx="0" cy="3502334"/>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14" name="组合 13"/>
            <p:cNvGrpSpPr/>
            <p:nvPr/>
          </p:nvGrpSpPr>
          <p:grpSpPr>
            <a:xfrm>
              <a:off x="4305200" y="2041218"/>
              <a:ext cx="3568900" cy="4092882"/>
              <a:chOff x="660400" y="2041218"/>
              <a:chExt cx="3568900" cy="4092882"/>
            </a:xfrm>
          </p:grpSpPr>
          <p:grpSp>
            <p:nvGrpSpPr>
              <p:cNvPr id="15" name="组合 14"/>
              <p:cNvGrpSpPr/>
              <p:nvPr/>
            </p:nvGrpSpPr>
            <p:grpSpPr>
              <a:xfrm>
                <a:off x="998220" y="2779679"/>
                <a:ext cx="3231080" cy="3354421"/>
                <a:chOff x="998220" y="2779679"/>
                <a:chExt cx="3231080" cy="3354421"/>
              </a:xfrm>
            </p:grpSpPr>
            <p:sp>
              <p:nvSpPr>
                <p:cNvPr id="19" name="Text2"/>
                <p:cNvSpPr txBox="1"/>
                <p:nvPr>
                  <p:custDataLst>
                    <p:tags r:id="rId6"/>
                  </p:custDataLst>
                </p:nvPr>
              </p:nvSpPr>
              <p:spPr>
                <a:xfrm>
                  <a:off x="998220" y="3335964"/>
                  <a:ext cx="3231079" cy="2798136"/>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Define standard metrics and their semantic meanings for each component type. * Microservice: api_latency, error_rate, request_count </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 MySQL: db_time, query_latency, slow_query_count Metric semantics help determine whether causal relations may exist between indicators.</a:t>
                  </a:r>
                  <a:endParaRPr lang="en-US" dirty="0"/>
                </a:p>
              </p:txBody>
            </p:sp>
            <p:sp>
              <p:nvSpPr>
                <p:cNvPr id="20" name="Bullet2"/>
                <p:cNvSpPr txBox="1"/>
                <p:nvPr>
                  <p:custDataLst>
                    <p:tags r:id="rId7"/>
                  </p:custDataLst>
                </p:nvPr>
              </p:nvSpPr>
              <p:spPr>
                <a:xfrm>
                  <a:off x="998220" y="2779679"/>
                  <a:ext cx="3231080" cy="539955"/>
                </a:xfrm>
                <a:prstGeom prst="rect">
                  <a:avLst/>
                </a:prstGeom>
                <a:noFill/>
              </p:spPr>
              <p:txBody>
                <a:bodyPr wrap="square" rtlCol="0" anchor="ctr">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Metrics</a:t>
                  </a:r>
                  <a:endParaRPr lang="en-US" dirty="0"/>
                </a:p>
              </p:txBody>
            </p:sp>
          </p:grpSp>
          <p:grpSp>
            <p:nvGrpSpPr>
              <p:cNvPr id="16" name="组合 15"/>
              <p:cNvGrpSpPr/>
              <p:nvPr/>
            </p:nvGrpSpPr>
            <p:grpSpPr>
              <a:xfrm>
                <a:off x="660400" y="2041218"/>
                <a:ext cx="590550" cy="4092882"/>
                <a:chOff x="660400" y="2041218"/>
                <a:chExt cx="590550" cy="4092882"/>
              </a:xfrm>
            </p:grpSpPr>
            <p:sp>
              <p:nvSpPr>
                <p:cNvPr id="17" name="Number2"/>
                <p:cNvSpPr/>
                <p:nvPr>
                  <p:custDataLst>
                    <p:tags r:id="rId8"/>
                  </p:custDataLst>
                </p:nvPr>
              </p:nvSpPr>
              <p:spPr>
                <a:xfrm>
                  <a:off x="660400" y="2041218"/>
                  <a:ext cx="590550" cy="590548"/>
                </a:xfrm>
                <a:prstGeom prst="ellipse">
                  <a:avLst/>
                </a:prstGeom>
                <a:solidFill>
                  <a:schemeClr val="accent1">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dirty="0">
                      <a:solidFill>
                        <a:srgbClr val="FFFFFF"/>
                      </a:solidFill>
                    </a:rPr>
                    <a:t>2</a:t>
                  </a:r>
                  <a:endParaRPr lang="zh-CN" altLang="en-US" dirty="0">
                    <a:solidFill>
                      <a:srgbClr val="FFFFFF"/>
                    </a:solidFill>
                  </a:endParaRPr>
                </a:p>
              </p:txBody>
            </p:sp>
            <p:cxnSp>
              <p:nvCxnSpPr>
                <p:cNvPr id="18" name="直接连接符 17"/>
                <p:cNvCxnSpPr>
                  <a:stCxn id="17" idx="4"/>
                </p:cNvCxnSpPr>
                <p:nvPr>
                  <p:custDataLst>
                    <p:tags r:id="rId9"/>
                  </p:custDataLst>
                </p:nvPr>
              </p:nvCxnSpPr>
              <p:spPr>
                <a:xfrm>
                  <a:off x="955675" y="2631766"/>
                  <a:ext cx="0" cy="3502334"/>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21" name="组合 20"/>
            <p:cNvGrpSpPr/>
            <p:nvPr/>
          </p:nvGrpSpPr>
          <p:grpSpPr>
            <a:xfrm>
              <a:off x="7950000" y="2041218"/>
              <a:ext cx="3568900" cy="4092882"/>
              <a:chOff x="660400" y="2041218"/>
              <a:chExt cx="3568900" cy="4092882"/>
            </a:xfrm>
          </p:grpSpPr>
          <p:grpSp>
            <p:nvGrpSpPr>
              <p:cNvPr id="22" name="组合 21"/>
              <p:cNvGrpSpPr/>
              <p:nvPr/>
            </p:nvGrpSpPr>
            <p:grpSpPr>
              <a:xfrm>
                <a:off x="998220" y="2779679"/>
                <a:ext cx="3231080" cy="3354421"/>
                <a:chOff x="998220" y="2779679"/>
                <a:chExt cx="3231080" cy="3354421"/>
              </a:xfrm>
            </p:grpSpPr>
            <p:sp>
              <p:nvSpPr>
                <p:cNvPr id="26" name="Text3"/>
                <p:cNvSpPr txBox="1"/>
                <p:nvPr>
                  <p:custDataLst>
                    <p:tags r:id="rId10"/>
                  </p:custDataLst>
                </p:nvPr>
              </p:nvSpPr>
              <p:spPr>
                <a:xfrm>
                  <a:off x="998220" y="3335964"/>
                  <a:ext cx="3231079" cy="2798136"/>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Define allowed relationships between component types. </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 Microservice → MySQL: Invoke </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 Microservice → Host: On These patterns capture two common failure propagation paths:</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p>
                  <a:pPr>
                    <a:lnSpc>
                      <a:spcPct val="120000"/>
                    </a:lnSpc>
                  </a:pPr>
                  <a:r>
                    <a:rPr lang="zh-CN" altLang="en-US" sz="1200" b="1" dirty="0">
                      <a:latin typeface="Arial" panose="020B0604020202020204" pitchFamily="34" charset="0"/>
                      <a:ea typeface="微软雅黑" panose="020B0503020204020204" pitchFamily="34" charset="-122"/>
                      <a:sym typeface="Arial" panose="020B0604020202020204" pitchFamily="34" charset="0"/>
                    </a:rPr>
                    <a:t> * Invocation propagation </a:t>
                  </a:r>
                  <a:endParaRPr lang="zh-CN" altLang="en-US" sz="1200" b="1" dirty="0">
                    <a:latin typeface="Arial" panose="020B0604020202020204" pitchFamily="34" charset="0"/>
                    <a:ea typeface="微软雅黑" panose="020B0503020204020204" pitchFamily="34" charset="-122"/>
                    <a:sym typeface="Arial" panose="020B0604020202020204" pitchFamily="34" charset="0"/>
                  </a:endParaRPr>
                </a:p>
                <a:p>
                  <a:pPr>
                    <a:lnSpc>
                      <a:spcPct val="120000"/>
                    </a:lnSpc>
                  </a:pPr>
                  <a:r>
                    <a:rPr lang="zh-CN" altLang="en-US" sz="1200" b="1" dirty="0">
                      <a:latin typeface="Arial" panose="020B0604020202020204" pitchFamily="34" charset="0"/>
                      <a:ea typeface="微软雅黑" panose="020B0503020204020204" pitchFamily="34" charset="-122"/>
                      <a:sym typeface="Arial" panose="020B0604020202020204" pitchFamily="34" charset="0"/>
                    </a:rPr>
                    <a:t>* Resource propagation</a:t>
                  </a:r>
                  <a:endParaRPr lang="en-US" b="1" dirty="0"/>
                </a:p>
              </p:txBody>
            </p:sp>
            <p:sp>
              <p:nvSpPr>
                <p:cNvPr id="27" name="Bullet3"/>
                <p:cNvSpPr txBox="1"/>
                <p:nvPr>
                  <p:custDataLst>
                    <p:tags r:id="rId11"/>
                  </p:custDataLst>
                </p:nvPr>
              </p:nvSpPr>
              <p:spPr>
                <a:xfrm>
                  <a:off x="998220" y="2779679"/>
                  <a:ext cx="3231080" cy="539955"/>
                </a:xfrm>
                <a:prstGeom prst="rect">
                  <a:avLst/>
                </a:prstGeom>
                <a:noFill/>
              </p:spPr>
              <p:txBody>
                <a:bodyPr wrap="square" rtlCol="0" anchor="ctr">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Connection Patterns</a:t>
                  </a:r>
                  <a:endParaRPr lang="en-US" dirty="0"/>
                </a:p>
              </p:txBody>
            </p:sp>
          </p:grpSp>
          <p:grpSp>
            <p:nvGrpSpPr>
              <p:cNvPr id="23" name="组合 22"/>
              <p:cNvGrpSpPr/>
              <p:nvPr/>
            </p:nvGrpSpPr>
            <p:grpSpPr>
              <a:xfrm>
                <a:off x="660400" y="2041218"/>
                <a:ext cx="590550" cy="4092882"/>
                <a:chOff x="660400" y="2041218"/>
                <a:chExt cx="590550" cy="4092882"/>
              </a:xfrm>
            </p:grpSpPr>
            <p:sp>
              <p:nvSpPr>
                <p:cNvPr id="24" name="Number3"/>
                <p:cNvSpPr/>
                <p:nvPr>
                  <p:custDataLst>
                    <p:tags r:id="rId12"/>
                  </p:custDataLst>
                </p:nvPr>
              </p:nvSpPr>
              <p:spPr>
                <a:xfrm>
                  <a:off x="660400" y="2041218"/>
                  <a:ext cx="590550" cy="590548"/>
                </a:xfrm>
                <a:prstGeom prst="ellipse">
                  <a:avLst/>
                </a:prstGeom>
                <a:solidFill>
                  <a:schemeClr val="accent1">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dirty="0">
                      <a:solidFill>
                        <a:srgbClr val="FFFFFF"/>
                      </a:solidFill>
                    </a:rPr>
                    <a:t>3</a:t>
                  </a:r>
                  <a:endParaRPr lang="zh-CN" altLang="en-US" dirty="0">
                    <a:solidFill>
                      <a:srgbClr val="FFFFFF"/>
                    </a:solidFill>
                  </a:endParaRPr>
                </a:p>
              </p:txBody>
            </p:sp>
            <p:cxnSp>
              <p:nvCxnSpPr>
                <p:cNvPr id="25" name="直接连接符 24"/>
                <p:cNvCxnSpPr>
                  <a:stCxn id="24" idx="4"/>
                </p:cNvCxnSpPr>
                <p:nvPr>
                  <p:custDataLst>
                    <p:tags r:id="rId13"/>
                  </p:custDataLst>
                </p:nvPr>
              </p:nvCxnSpPr>
              <p:spPr>
                <a:xfrm>
                  <a:off x="955675" y="2631766"/>
                  <a:ext cx="0" cy="3502334"/>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sp>
          <p:nvSpPr>
            <p:cNvPr id="39" name="Title"/>
            <p:cNvSpPr/>
            <p:nvPr/>
          </p:nvSpPr>
          <p:spPr>
            <a:xfrm>
              <a:off x="660399" y="1130300"/>
              <a:ext cx="10858500" cy="7323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buSzPct val="25000"/>
              </a:pPr>
              <a:r>
                <a:rPr lang="zh-CN" altLang="en-US" sz="20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MetaRCA defines three types of metadata to standardize system-level information</a:t>
              </a:r>
              <a:endParaRPr lang="en-US" dirty="0"/>
            </a:p>
          </p:txBody>
        </p:sp>
      </p:grpSp>
      <p:sp>
        <p:nvSpPr>
          <p:cNvPr id="2" name="标题 1"/>
          <p:cNvSpPr>
            <a:spLocks noGrp="1"/>
          </p:cNvSpPr>
          <p:nvPr>
            <p:ph type="title" hasCustomPrompt="1"/>
          </p:nvPr>
        </p:nvSpPr>
        <p:spPr/>
        <p:txBody>
          <a:bodyPr/>
          <a:lstStyle/>
          <a:p>
            <a:r>
              <a:rPr lang="zh-CN" altLang="en-US" dirty="0">
                <a:solidFill>
                  <a:schemeClr val="accent1"/>
                </a:solidFill>
              </a:rPr>
              <a:t>Metadata Ontology: Three Types of Metadata</a:t>
            </a:r>
            <a:endParaRPr lang="en-US" dirty="0"/>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C8BB1146-E542-4D4E-B8E9-6919A11DDD48}" type="slidenum">
              <a:rPr lang="en-US" smtClean="0"/>
            </a:fld>
            <a:endParaRPr lang="en-US"/>
          </a:p>
        </p:txBody>
      </p:sp>
      <p:sp>
        <p:nvSpPr>
          <p:cNvPr id="46" name="image"/>
          <p:cNvSpPr/>
          <p:nvPr/>
        </p:nvSpPr>
        <p:spPr>
          <a:xfrm>
            <a:off x="9692263" y="264930"/>
            <a:ext cx="1891498" cy="987287"/>
          </a:xfrm>
          <a:prstGeom prst="roundRect">
            <a:avLst>
              <a:gd name="adj" fmla="val 0"/>
            </a:avLst>
          </a:prstGeom>
          <a:blipFill>
            <a:blip r:embed="rId14"/>
            <a:stretch>
              <a:fillRect l="-4446" r="-444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5"/>
    </p:custData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ed070b6a-04b9-452c-9301-fc135afc25ee.source.4.zh-Hans.pptx"/>
          <p:cNvGrpSpPr/>
          <p:nvPr/>
        </p:nvGrpSpPr>
        <p:grpSpPr>
          <a:xfrm>
            <a:off x="0" y="1130299"/>
            <a:ext cx="12191996" cy="5727701"/>
            <a:chOff x="0" y="1130299"/>
            <a:chExt cx="12191996" cy="5727701"/>
          </a:xfrm>
        </p:grpSpPr>
        <p:sp>
          <p:nvSpPr>
            <p:cNvPr id="10" name="任意多边形: 形状 9"/>
            <p:cNvSpPr/>
            <p:nvPr/>
          </p:nvSpPr>
          <p:spPr>
            <a:xfrm>
              <a:off x="0" y="3257999"/>
              <a:ext cx="12191996" cy="3600001"/>
            </a:xfrm>
            <a:custGeom>
              <a:avLst/>
              <a:gdLst>
                <a:gd name="connsiteX0" fmla="*/ 2007589 w 12191996"/>
                <a:gd name="connsiteY0" fmla="*/ 2820682 h 3600001"/>
                <a:gd name="connsiteX1" fmla="*/ 2154062 w 12191996"/>
                <a:gd name="connsiteY1" fmla="*/ 2820682 h 3600001"/>
                <a:gd name="connsiteX2" fmla="*/ 2154062 w 12191996"/>
                <a:gd name="connsiteY2" fmla="*/ 3600000 h 3600001"/>
                <a:gd name="connsiteX3" fmla="*/ 2007589 w 12191996"/>
                <a:gd name="connsiteY3" fmla="*/ 3600000 h 3600001"/>
                <a:gd name="connsiteX4" fmla="*/ 0 w 12191996"/>
                <a:gd name="connsiteY4" fmla="*/ 2820682 h 3600001"/>
                <a:gd name="connsiteX5" fmla="*/ 146474 w 12191996"/>
                <a:gd name="connsiteY5" fmla="*/ 2820682 h 3600001"/>
                <a:gd name="connsiteX6" fmla="*/ 146474 w 12191996"/>
                <a:gd name="connsiteY6" fmla="*/ 3600000 h 3600001"/>
                <a:gd name="connsiteX7" fmla="*/ 0 w 12191996"/>
                <a:gd name="connsiteY7" fmla="*/ 3600000 h 3600001"/>
                <a:gd name="connsiteX8" fmla="*/ 1433992 w 12191996"/>
                <a:gd name="connsiteY8" fmla="*/ 2664818 h 3600001"/>
                <a:gd name="connsiteX9" fmla="*/ 1580466 w 12191996"/>
                <a:gd name="connsiteY9" fmla="*/ 2664818 h 3600001"/>
                <a:gd name="connsiteX10" fmla="*/ 1580466 w 12191996"/>
                <a:gd name="connsiteY10" fmla="*/ 3600000 h 3600001"/>
                <a:gd name="connsiteX11" fmla="*/ 1433992 w 12191996"/>
                <a:gd name="connsiteY11" fmla="*/ 3600000 h 3600001"/>
                <a:gd name="connsiteX12" fmla="*/ 4875570 w 12191996"/>
                <a:gd name="connsiteY12" fmla="*/ 2586886 h 3600001"/>
                <a:gd name="connsiteX13" fmla="*/ 5022045 w 12191996"/>
                <a:gd name="connsiteY13" fmla="*/ 2586886 h 3600001"/>
                <a:gd name="connsiteX14" fmla="*/ 5022045 w 12191996"/>
                <a:gd name="connsiteY14" fmla="*/ 3600000 h 3600001"/>
                <a:gd name="connsiteX15" fmla="*/ 4875570 w 12191996"/>
                <a:gd name="connsiteY15" fmla="*/ 3600000 h 3600001"/>
                <a:gd name="connsiteX16" fmla="*/ 2867985 w 12191996"/>
                <a:gd name="connsiteY16" fmla="*/ 2586886 h 3600001"/>
                <a:gd name="connsiteX17" fmla="*/ 3014458 w 12191996"/>
                <a:gd name="connsiteY17" fmla="*/ 2586886 h 3600001"/>
                <a:gd name="connsiteX18" fmla="*/ 3014458 w 12191996"/>
                <a:gd name="connsiteY18" fmla="*/ 3600000 h 3600001"/>
                <a:gd name="connsiteX19" fmla="*/ 2867985 w 12191996"/>
                <a:gd name="connsiteY19" fmla="*/ 3600000 h 3600001"/>
                <a:gd name="connsiteX20" fmla="*/ 2581185 w 12191996"/>
                <a:gd name="connsiteY20" fmla="*/ 2477782 h 3600001"/>
                <a:gd name="connsiteX21" fmla="*/ 2727660 w 12191996"/>
                <a:gd name="connsiteY21" fmla="*/ 2477782 h 3600001"/>
                <a:gd name="connsiteX22" fmla="*/ 2727660 w 12191996"/>
                <a:gd name="connsiteY22" fmla="*/ 3600000 h 3600001"/>
                <a:gd name="connsiteX23" fmla="*/ 2581185 w 12191996"/>
                <a:gd name="connsiteY23" fmla="*/ 3600000 h 3600001"/>
                <a:gd name="connsiteX24" fmla="*/ 1147194 w 12191996"/>
                <a:gd name="connsiteY24" fmla="*/ 2477782 h 3600001"/>
                <a:gd name="connsiteX25" fmla="*/ 1293668 w 12191996"/>
                <a:gd name="connsiteY25" fmla="*/ 2477782 h 3600001"/>
                <a:gd name="connsiteX26" fmla="*/ 1293668 w 12191996"/>
                <a:gd name="connsiteY26" fmla="*/ 3600000 h 3600001"/>
                <a:gd name="connsiteX27" fmla="*/ 1147194 w 12191996"/>
                <a:gd name="connsiteY27" fmla="*/ 3600000 h 3600001"/>
                <a:gd name="connsiteX28" fmla="*/ 286798 w 12191996"/>
                <a:gd name="connsiteY28" fmla="*/ 2477782 h 3600001"/>
                <a:gd name="connsiteX29" fmla="*/ 433272 w 12191996"/>
                <a:gd name="connsiteY29" fmla="*/ 2477782 h 3600001"/>
                <a:gd name="connsiteX30" fmla="*/ 433272 w 12191996"/>
                <a:gd name="connsiteY30" fmla="*/ 3600000 h 3600001"/>
                <a:gd name="connsiteX31" fmla="*/ 286798 w 12191996"/>
                <a:gd name="connsiteY31" fmla="*/ 3600000 h 3600001"/>
                <a:gd name="connsiteX32" fmla="*/ 4301973 w 12191996"/>
                <a:gd name="connsiteY32" fmla="*/ 2384264 h 3600001"/>
                <a:gd name="connsiteX33" fmla="*/ 4448447 w 12191996"/>
                <a:gd name="connsiteY33" fmla="*/ 2384264 h 3600001"/>
                <a:gd name="connsiteX34" fmla="*/ 4448447 w 12191996"/>
                <a:gd name="connsiteY34" fmla="*/ 3600001 h 3600001"/>
                <a:gd name="connsiteX35" fmla="*/ 4301973 w 12191996"/>
                <a:gd name="connsiteY35" fmla="*/ 3600001 h 3600001"/>
                <a:gd name="connsiteX36" fmla="*/ 1720791 w 12191996"/>
                <a:gd name="connsiteY36" fmla="*/ 2353091 h 3600001"/>
                <a:gd name="connsiteX37" fmla="*/ 1867265 w 12191996"/>
                <a:gd name="connsiteY37" fmla="*/ 2353091 h 3600001"/>
                <a:gd name="connsiteX38" fmla="*/ 1867265 w 12191996"/>
                <a:gd name="connsiteY38" fmla="*/ 3600000 h 3600001"/>
                <a:gd name="connsiteX39" fmla="*/ 1720791 w 12191996"/>
                <a:gd name="connsiteY39" fmla="*/ 3600000 h 3600001"/>
                <a:gd name="connsiteX40" fmla="*/ 7743555 w 12191996"/>
                <a:gd name="connsiteY40" fmla="*/ 2275159 h 3600001"/>
                <a:gd name="connsiteX41" fmla="*/ 7890029 w 12191996"/>
                <a:gd name="connsiteY41" fmla="*/ 2275159 h 3600001"/>
                <a:gd name="connsiteX42" fmla="*/ 7890029 w 12191996"/>
                <a:gd name="connsiteY42" fmla="*/ 3600000 h 3600001"/>
                <a:gd name="connsiteX43" fmla="*/ 7743555 w 12191996"/>
                <a:gd name="connsiteY43" fmla="*/ 3600000 h 3600001"/>
                <a:gd name="connsiteX44" fmla="*/ 5735966 w 12191996"/>
                <a:gd name="connsiteY44" fmla="*/ 2275159 h 3600001"/>
                <a:gd name="connsiteX45" fmla="*/ 5882439 w 12191996"/>
                <a:gd name="connsiteY45" fmla="*/ 2275159 h 3600001"/>
                <a:gd name="connsiteX46" fmla="*/ 5882439 w 12191996"/>
                <a:gd name="connsiteY46" fmla="*/ 3600000 h 3600001"/>
                <a:gd name="connsiteX47" fmla="*/ 5735966 w 12191996"/>
                <a:gd name="connsiteY47" fmla="*/ 3600000 h 3600001"/>
                <a:gd name="connsiteX48" fmla="*/ 2294388 w 12191996"/>
                <a:gd name="connsiteY48" fmla="*/ 2197227 h 3600001"/>
                <a:gd name="connsiteX49" fmla="*/ 2440862 w 12191996"/>
                <a:gd name="connsiteY49" fmla="*/ 2197227 h 3600001"/>
                <a:gd name="connsiteX50" fmla="*/ 2440862 w 12191996"/>
                <a:gd name="connsiteY50" fmla="*/ 3600000 h 3600001"/>
                <a:gd name="connsiteX51" fmla="*/ 2294388 w 12191996"/>
                <a:gd name="connsiteY51" fmla="*/ 3600000 h 3600001"/>
                <a:gd name="connsiteX52" fmla="*/ 860395 w 12191996"/>
                <a:gd name="connsiteY52" fmla="*/ 2197227 h 3600001"/>
                <a:gd name="connsiteX53" fmla="*/ 1006869 w 12191996"/>
                <a:gd name="connsiteY53" fmla="*/ 2197227 h 3600001"/>
                <a:gd name="connsiteX54" fmla="*/ 1006869 w 12191996"/>
                <a:gd name="connsiteY54" fmla="*/ 3600000 h 3600001"/>
                <a:gd name="connsiteX55" fmla="*/ 860395 w 12191996"/>
                <a:gd name="connsiteY55" fmla="*/ 3600000 h 3600001"/>
                <a:gd name="connsiteX56" fmla="*/ 5449168 w 12191996"/>
                <a:gd name="connsiteY56" fmla="*/ 2141116 h 3600001"/>
                <a:gd name="connsiteX57" fmla="*/ 5595641 w 12191996"/>
                <a:gd name="connsiteY57" fmla="*/ 2141116 h 3600001"/>
                <a:gd name="connsiteX58" fmla="*/ 5595641 w 12191996"/>
                <a:gd name="connsiteY58" fmla="*/ 3600000 h 3600001"/>
                <a:gd name="connsiteX59" fmla="*/ 5449168 w 12191996"/>
                <a:gd name="connsiteY59" fmla="*/ 3600000 h 3600001"/>
                <a:gd name="connsiteX60" fmla="*/ 4015178 w 12191996"/>
                <a:gd name="connsiteY60" fmla="*/ 2141116 h 3600001"/>
                <a:gd name="connsiteX61" fmla="*/ 4161652 w 12191996"/>
                <a:gd name="connsiteY61" fmla="*/ 2141116 h 3600001"/>
                <a:gd name="connsiteX62" fmla="*/ 4161652 w 12191996"/>
                <a:gd name="connsiteY62" fmla="*/ 3600000 h 3600001"/>
                <a:gd name="connsiteX63" fmla="*/ 4015178 w 12191996"/>
                <a:gd name="connsiteY63" fmla="*/ 3600000 h 3600001"/>
                <a:gd name="connsiteX64" fmla="*/ 3154782 w 12191996"/>
                <a:gd name="connsiteY64" fmla="*/ 2141116 h 3600001"/>
                <a:gd name="connsiteX65" fmla="*/ 3301256 w 12191996"/>
                <a:gd name="connsiteY65" fmla="*/ 2141116 h 3600001"/>
                <a:gd name="connsiteX66" fmla="*/ 3301256 w 12191996"/>
                <a:gd name="connsiteY66" fmla="*/ 3600000 h 3600001"/>
                <a:gd name="connsiteX67" fmla="*/ 3154782 w 12191996"/>
                <a:gd name="connsiteY67" fmla="*/ 3600000 h 3600001"/>
                <a:gd name="connsiteX68" fmla="*/ 8603950 w 12191996"/>
                <a:gd name="connsiteY68" fmla="*/ 2119295 h 3600001"/>
                <a:gd name="connsiteX69" fmla="*/ 8750424 w 12191996"/>
                <a:gd name="connsiteY69" fmla="*/ 2119295 h 3600001"/>
                <a:gd name="connsiteX70" fmla="*/ 8750424 w 12191996"/>
                <a:gd name="connsiteY70" fmla="*/ 3600000 h 3600001"/>
                <a:gd name="connsiteX71" fmla="*/ 8603950 w 12191996"/>
                <a:gd name="connsiteY71" fmla="*/ 3600000 h 3600001"/>
                <a:gd name="connsiteX72" fmla="*/ 573597 w 12191996"/>
                <a:gd name="connsiteY72" fmla="*/ 2041364 h 3600001"/>
                <a:gd name="connsiteX73" fmla="*/ 720071 w 12191996"/>
                <a:gd name="connsiteY73" fmla="*/ 2041364 h 3600001"/>
                <a:gd name="connsiteX74" fmla="*/ 720071 w 12191996"/>
                <a:gd name="connsiteY74" fmla="*/ 3600001 h 3600001"/>
                <a:gd name="connsiteX75" fmla="*/ 573597 w 12191996"/>
                <a:gd name="connsiteY75" fmla="*/ 3600001 h 3600001"/>
                <a:gd name="connsiteX76" fmla="*/ 7169958 w 12191996"/>
                <a:gd name="connsiteY76" fmla="*/ 2010191 h 3600001"/>
                <a:gd name="connsiteX77" fmla="*/ 7316432 w 12191996"/>
                <a:gd name="connsiteY77" fmla="*/ 2010191 h 3600001"/>
                <a:gd name="connsiteX78" fmla="*/ 7316432 w 12191996"/>
                <a:gd name="connsiteY78" fmla="*/ 3600000 h 3600001"/>
                <a:gd name="connsiteX79" fmla="*/ 7169958 w 12191996"/>
                <a:gd name="connsiteY79" fmla="*/ 3600000 h 3600001"/>
                <a:gd name="connsiteX80" fmla="*/ 4588771 w 12191996"/>
                <a:gd name="connsiteY80" fmla="*/ 1979018 h 3600001"/>
                <a:gd name="connsiteX81" fmla="*/ 4735245 w 12191996"/>
                <a:gd name="connsiteY81" fmla="*/ 1979018 h 3600001"/>
                <a:gd name="connsiteX82" fmla="*/ 4735245 w 12191996"/>
                <a:gd name="connsiteY82" fmla="*/ 3600000 h 3600001"/>
                <a:gd name="connsiteX83" fmla="*/ 4588771 w 12191996"/>
                <a:gd name="connsiteY83" fmla="*/ 3600000 h 3600001"/>
                <a:gd name="connsiteX84" fmla="*/ 10037942 w 12191996"/>
                <a:gd name="connsiteY84" fmla="*/ 1823155 h 3600001"/>
                <a:gd name="connsiteX85" fmla="*/ 10184416 w 12191996"/>
                <a:gd name="connsiteY85" fmla="*/ 1823155 h 3600001"/>
                <a:gd name="connsiteX86" fmla="*/ 10184416 w 12191996"/>
                <a:gd name="connsiteY86" fmla="*/ 3600001 h 3600001"/>
                <a:gd name="connsiteX87" fmla="*/ 10037942 w 12191996"/>
                <a:gd name="connsiteY87" fmla="*/ 3600001 h 3600001"/>
                <a:gd name="connsiteX88" fmla="*/ 10611539 w 12191996"/>
                <a:gd name="connsiteY88" fmla="*/ 1800001 h 3600001"/>
                <a:gd name="connsiteX89" fmla="*/ 10758013 w 12191996"/>
                <a:gd name="connsiteY89" fmla="*/ 1800001 h 3600001"/>
                <a:gd name="connsiteX90" fmla="*/ 10758013 w 12191996"/>
                <a:gd name="connsiteY90" fmla="*/ 3600001 h 3600001"/>
                <a:gd name="connsiteX91" fmla="*/ 10611539 w 12191996"/>
                <a:gd name="connsiteY91" fmla="*/ 3600001 h 3600001"/>
                <a:gd name="connsiteX92" fmla="*/ 5162368 w 12191996"/>
                <a:gd name="connsiteY92" fmla="*/ 1776395 h 3600001"/>
                <a:gd name="connsiteX93" fmla="*/ 5308842 w 12191996"/>
                <a:gd name="connsiteY93" fmla="*/ 1776395 h 3600001"/>
                <a:gd name="connsiteX94" fmla="*/ 5308842 w 12191996"/>
                <a:gd name="connsiteY94" fmla="*/ 3600000 h 3600001"/>
                <a:gd name="connsiteX95" fmla="*/ 5162368 w 12191996"/>
                <a:gd name="connsiteY95" fmla="*/ 3600000 h 3600001"/>
                <a:gd name="connsiteX96" fmla="*/ 3728379 w 12191996"/>
                <a:gd name="connsiteY96" fmla="*/ 1776395 h 3600001"/>
                <a:gd name="connsiteX97" fmla="*/ 3874853 w 12191996"/>
                <a:gd name="connsiteY97" fmla="*/ 1776395 h 3600001"/>
                <a:gd name="connsiteX98" fmla="*/ 3874853 w 12191996"/>
                <a:gd name="connsiteY98" fmla="*/ 3600000 h 3600001"/>
                <a:gd name="connsiteX99" fmla="*/ 3728379 w 12191996"/>
                <a:gd name="connsiteY99" fmla="*/ 3600000 h 3600001"/>
                <a:gd name="connsiteX100" fmla="*/ 8317151 w 12191996"/>
                <a:gd name="connsiteY100" fmla="*/ 1692229 h 3600001"/>
                <a:gd name="connsiteX101" fmla="*/ 8463625 w 12191996"/>
                <a:gd name="connsiteY101" fmla="*/ 1692229 h 3600001"/>
                <a:gd name="connsiteX102" fmla="*/ 8463625 w 12191996"/>
                <a:gd name="connsiteY102" fmla="*/ 3600000 h 3600001"/>
                <a:gd name="connsiteX103" fmla="*/ 8317151 w 12191996"/>
                <a:gd name="connsiteY103" fmla="*/ 3600000 h 3600001"/>
                <a:gd name="connsiteX104" fmla="*/ 6883159 w 12191996"/>
                <a:gd name="connsiteY104" fmla="*/ 1692229 h 3600001"/>
                <a:gd name="connsiteX105" fmla="*/ 7029633 w 12191996"/>
                <a:gd name="connsiteY105" fmla="*/ 1692229 h 3600001"/>
                <a:gd name="connsiteX106" fmla="*/ 7029633 w 12191996"/>
                <a:gd name="connsiteY106" fmla="*/ 3600000 h 3600001"/>
                <a:gd name="connsiteX107" fmla="*/ 6883159 w 12191996"/>
                <a:gd name="connsiteY107" fmla="*/ 3600000 h 3600001"/>
                <a:gd name="connsiteX108" fmla="*/ 6022764 w 12191996"/>
                <a:gd name="connsiteY108" fmla="*/ 1692229 h 3600001"/>
                <a:gd name="connsiteX109" fmla="*/ 6169238 w 12191996"/>
                <a:gd name="connsiteY109" fmla="*/ 1692229 h 3600001"/>
                <a:gd name="connsiteX110" fmla="*/ 6169238 w 12191996"/>
                <a:gd name="connsiteY110" fmla="*/ 3600000 h 3600001"/>
                <a:gd name="connsiteX111" fmla="*/ 6022764 w 12191996"/>
                <a:gd name="connsiteY111" fmla="*/ 3600000 h 3600001"/>
                <a:gd name="connsiteX112" fmla="*/ 3441581 w 12191996"/>
                <a:gd name="connsiteY112" fmla="*/ 1573773 h 3600001"/>
                <a:gd name="connsiteX113" fmla="*/ 3588056 w 12191996"/>
                <a:gd name="connsiteY113" fmla="*/ 1573773 h 3600001"/>
                <a:gd name="connsiteX114" fmla="*/ 3588056 w 12191996"/>
                <a:gd name="connsiteY114" fmla="*/ 3600001 h 3600001"/>
                <a:gd name="connsiteX115" fmla="*/ 3441581 w 12191996"/>
                <a:gd name="connsiteY115" fmla="*/ 3600001 h 3600001"/>
                <a:gd name="connsiteX116" fmla="*/ 7456756 w 12191996"/>
                <a:gd name="connsiteY116" fmla="*/ 1480254 h 3600001"/>
                <a:gd name="connsiteX117" fmla="*/ 7603230 w 12191996"/>
                <a:gd name="connsiteY117" fmla="*/ 1480254 h 3600001"/>
                <a:gd name="connsiteX118" fmla="*/ 7603230 w 12191996"/>
                <a:gd name="connsiteY118" fmla="*/ 3600000 h 3600001"/>
                <a:gd name="connsiteX119" fmla="*/ 7456756 w 12191996"/>
                <a:gd name="connsiteY119" fmla="*/ 3600000 h 3600001"/>
                <a:gd name="connsiteX120" fmla="*/ 9751144 w 12191996"/>
                <a:gd name="connsiteY120" fmla="*/ 1467786 h 3600001"/>
                <a:gd name="connsiteX121" fmla="*/ 9897618 w 12191996"/>
                <a:gd name="connsiteY121" fmla="*/ 1467786 h 3600001"/>
                <a:gd name="connsiteX122" fmla="*/ 9897618 w 12191996"/>
                <a:gd name="connsiteY122" fmla="*/ 3600001 h 3600001"/>
                <a:gd name="connsiteX123" fmla="*/ 9751144 w 12191996"/>
                <a:gd name="connsiteY123" fmla="*/ 3600001 h 3600001"/>
                <a:gd name="connsiteX124" fmla="*/ 8890748 w 12191996"/>
                <a:gd name="connsiteY124" fmla="*/ 1467785 h 3600001"/>
                <a:gd name="connsiteX125" fmla="*/ 9037222 w 12191996"/>
                <a:gd name="connsiteY125" fmla="*/ 1467785 h 3600001"/>
                <a:gd name="connsiteX126" fmla="*/ 9037222 w 12191996"/>
                <a:gd name="connsiteY126" fmla="*/ 3600000 h 3600001"/>
                <a:gd name="connsiteX127" fmla="*/ 8890748 w 12191996"/>
                <a:gd name="connsiteY127" fmla="*/ 3600000 h 3600001"/>
                <a:gd name="connsiteX128" fmla="*/ 6596361 w 12191996"/>
                <a:gd name="connsiteY128" fmla="*/ 1296000 h 3600001"/>
                <a:gd name="connsiteX129" fmla="*/ 6742835 w 12191996"/>
                <a:gd name="connsiteY129" fmla="*/ 1296000 h 3600001"/>
                <a:gd name="connsiteX130" fmla="*/ 6742835 w 12191996"/>
                <a:gd name="connsiteY130" fmla="*/ 3600000 h 3600001"/>
                <a:gd name="connsiteX131" fmla="*/ 6596361 w 12191996"/>
                <a:gd name="connsiteY131" fmla="*/ 3600000 h 3600001"/>
                <a:gd name="connsiteX132" fmla="*/ 10324741 w 12191996"/>
                <a:gd name="connsiteY132" fmla="*/ 1230873 h 3600001"/>
                <a:gd name="connsiteX133" fmla="*/ 10471215 w 12191996"/>
                <a:gd name="connsiteY133" fmla="*/ 1230873 h 3600001"/>
                <a:gd name="connsiteX134" fmla="*/ 10471215 w 12191996"/>
                <a:gd name="connsiteY134" fmla="*/ 3600001 h 3600001"/>
                <a:gd name="connsiteX135" fmla="*/ 10324741 w 12191996"/>
                <a:gd name="connsiteY135" fmla="*/ 3600001 h 3600001"/>
                <a:gd name="connsiteX136" fmla="*/ 8030353 w 12191996"/>
                <a:gd name="connsiteY136" fmla="*/ 1215286 h 3600001"/>
                <a:gd name="connsiteX137" fmla="*/ 8176827 w 12191996"/>
                <a:gd name="connsiteY137" fmla="*/ 1215286 h 3600001"/>
                <a:gd name="connsiteX138" fmla="*/ 8176827 w 12191996"/>
                <a:gd name="connsiteY138" fmla="*/ 3600000 h 3600001"/>
                <a:gd name="connsiteX139" fmla="*/ 8030353 w 12191996"/>
                <a:gd name="connsiteY139" fmla="*/ 3600000 h 3600001"/>
                <a:gd name="connsiteX140" fmla="*/ 11185136 w 12191996"/>
                <a:gd name="connsiteY140" fmla="*/ 1080001 h 3600001"/>
                <a:gd name="connsiteX141" fmla="*/ 11331610 w 12191996"/>
                <a:gd name="connsiteY141" fmla="*/ 1080001 h 3600001"/>
                <a:gd name="connsiteX142" fmla="*/ 11331610 w 12191996"/>
                <a:gd name="connsiteY142" fmla="*/ 3600001 h 3600001"/>
                <a:gd name="connsiteX143" fmla="*/ 11185136 w 12191996"/>
                <a:gd name="connsiteY143" fmla="*/ 3600001 h 3600001"/>
                <a:gd name="connsiteX144" fmla="*/ 6309562 w 12191996"/>
                <a:gd name="connsiteY144" fmla="*/ 1080000 h 3600001"/>
                <a:gd name="connsiteX145" fmla="*/ 6456036 w 12191996"/>
                <a:gd name="connsiteY145" fmla="*/ 1080000 h 3600001"/>
                <a:gd name="connsiteX146" fmla="*/ 6456036 w 12191996"/>
                <a:gd name="connsiteY146" fmla="*/ 3600000 h 3600001"/>
                <a:gd name="connsiteX147" fmla="*/ 6309562 w 12191996"/>
                <a:gd name="connsiteY147" fmla="*/ 3600000 h 3600001"/>
                <a:gd name="connsiteX148" fmla="*/ 10898338 w 12191996"/>
                <a:gd name="connsiteY148" fmla="*/ 934732 h 3600001"/>
                <a:gd name="connsiteX149" fmla="*/ 11044812 w 12191996"/>
                <a:gd name="connsiteY149" fmla="*/ 934732 h 3600001"/>
                <a:gd name="connsiteX150" fmla="*/ 11044812 w 12191996"/>
                <a:gd name="connsiteY150" fmla="*/ 3600000 h 3600001"/>
                <a:gd name="connsiteX151" fmla="*/ 10898338 w 12191996"/>
                <a:gd name="connsiteY151" fmla="*/ 3600000 h 3600001"/>
                <a:gd name="connsiteX152" fmla="*/ 9464345 w 12191996"/>
                <a:gd name="connsiteY152" fmla="*/ 934732 h 3600001"/>
                <a:gd name="connsiteX153" fmla="*/ 9610819 w 12191996"/>
                <a:gd name="connsiteY153" fmla="*/ 934732 h 3600001"/>
                <a:gd name="connsiteX154" fmla="*/ 9610819 w 12191996"/>
                <a:gd name="connsiteY154" fmla="*/ 3600000 h 3600001"/>
                <a:gd name="connsiteX155" fmla="*/ 9464345 w 12191996"/>
                <a:gd name="connsiteY155" fmla="*/ 3600000 h 3600001"/>
                <a:gd name="connsiteX156" fmla="*/ 9177547 w 12191996"/>
                <a:gd name="connsiteY156" fmla="*/ 638591 h 3600001"/>
                <a:gd name="connsiteX157" fmla="*/ 9324021 w 12191996"/>
                <a:gd name="connsiteY157" fmla="*/ 638591 h 3600001"/>
                <a:gd name="connsiteX158" fmla="*/ 9324021 w 12191996"/>
                <a:gd name="connsiteY158" fmla="*/ 3600000 h 3600001"/>
                <a:gd name="connsiteX159" fmla="*/ 9177547 w 12191996"/>
                <a:gd name="connsiteY159" fmla="*/ 3600000 h 3600001"/>
                <a:gd name="connsiteX160" fmla="*/ 11471935 w 12191996"/>
                <a:gd name="connsiteY160" fmla="*/ 576001 h 3600001"/>
                <a:gd name="connsiteX161" fmla="*/ 11618409 w 12191996"/>
                <a:gd name="connsiteY161" fmla="*/ 576001 h 3600001"/>
                <a:gd name="connsiteX162" fmla="*/ 11618409 w 12191996"/>
                <a:gd name="connsiteY162" fmla="*/ 3600001 h 3600001"/>
                <a:gd name="connsiteX163" fmla="*/ 11471935 w 12191996"/>
                <a:gd name="connsiteY163" fmla="*/ 3600001 h 3600001"/>
                <a:gd name="connsiteX164" fmla="*/ 12045522 w 12191996"/>
                <a:gd name="connsiteY164" fmla="*/ 360000 h 3600001"/>
                <a:gd name="connsiteX165" fmla="*/ 12191996 w 12191996"/>
                <a:gd name="connsiteY165" fmla="*/ 360000 h 3600001"/>
                <a:gd name="connsiteX166" fmla="*/ 12191996 w 12191996"/>
                <a:gd name="connsiteY166" fmla="*/ 3600000 h 3600001"/>
                <a:gd name="connsiteX167" fmla="*/ 12045522 w 12191996"/>
                <a:gd name="connsiteY167" fmla="*/ 3600000 h 3600001"/>
                <a:gd name="connsiteX168" fmla="*/ 11758733 w 12191996"/>
                <a:gd name="connsiteY168" fmla="*/ 0 h 3600001"/>
                <a:gd name="connsiteX169" fmla="*/ 11905207 w 12191996"/>
                <a:gd name="connsiteY169" fmla="*/ 0 h 3600001"/>
                <a:gd name="connsiteX170" fmla="*/ 11905207 w 12191996"/>
                <a:gd name="connsiteY170" fmla="*/ 3600000 h 3600001"/>
                <a:gd name="connsiteX171" fmla="*/ 11758733 w 12191996"/>
                <a:gd name="connsiteY171" fmla="*/ 3600000 h 360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12191996" h="3600001">
                  <a:moveTo>
                    <a:pt x="2007589" y="2820682"/>
                  </a:moveTo>
                  <a:lnTo>
                    <a:pt x="2154062" y="2820682"/>
                  </a:lnTo>
                  <a:lnTo>
                    <a:pt x="2154062" y="3600000"/>
                  </a:lnTo>
                  <a:lnTo>
                    <a:pt x="2007589" y="3600000"/>
                  </a:lnTo>
                  <a:close/>
                  <a:moveTo>
                    <a:pt x="0" y="2820682"/>
                  </a:moveTo>
                  <a:lnTo>
                    <a:pt x="146474" y="2820682"/>
                  </a:lnTo>
                  <a:lnTo>
                    <a:pt x="146474" y="3600000"/>
                  </a:lnTo>
                  <a:lnTo>
                    <a:pt x="0" y="3600000"/>
                  </a:lnTo>
                  <a:close/>
                  <a:moveTo>
                    <a:pt x="1433992" y="2664818"/>
                  </a:moveTo>
                  <a:lnTo>
                    <a:pt x="1580466" y="2664818"/>
                  </a:lnTo>
                  <a:lnTo>
                    <a:pt x="1580466" y="3600000"/>
                  </a:lnTo>
                  <a:lnTo>
                    <a:pt x="1433992" y="3600000"/>
                  </a:lnTo>
                  <a:close/>
                  <a:moveTo>
                    <a:pt x="4875570" y="2586886"/>
                  </a:moveTo>
                  <a:lnTo>
                    <a:pt x="5022045" y="2586886"/>
                  </a:lnTo>
                  <a:lnTo>
                    <a:pt x="5022045" y="3600000"/>
                  </a:lnTo>
                  <a:lnTo>
                    <a:pt x="4875570" y="3600000"/>
                  </a:lnTo>
                  <a:close/>
                  <a:moveTo>
                    <a:pt x="2867985" y="2586886"/>
                  </a:moveTo>
                  <a:lnTo>
                    <a:pt x="3014458" y="2586886"/>
                  </a:lnTo>
                  <a:lnTo>
                    <a:pt x="3014458" y="3600000"/>
                  </a:lnTo>
                  <a:lnTo>
                    <a:pt x="2867985" y="3600000"/>
                  </a:lnTo>
                  <a:close/>
                  <a:moveTo>
                    <a:pt x="2581185" y="2477782"/>
                  </a:moveTo>
                  <a:lnTo>
                    <a:pt x="2727660" y="2477782"/>
                  </a:lnTo>
                  <a:lnTo>
                    <a:pt x="2727660" y="3600000"/>
                  </a:lnTo>
                  <a:lnTo>
                    <a:pt x="2581185" y="3600000"/>
                  </a:lnTo>
                  <a:close/>
                  <a:moveTo>
                    <a:pt x="1147194" y="2477782"/>
                  </a:moveTo>
                  <a:lnTo>
                    <a:pt x="1293668" y="2477782"/>
                  </a:lnTo>
                  <a:lnTo>
                    <a:pt x="1293668" y="3600000"/>
                  </a:lnTo>
                  <a:lnTo>
                    <a:pt x="1147194" y="3600000"/>
                  </a:lnTo>
                  <a:close/>
                  <a:moveTo>
                    <a:pt x="286798" y="2477782"/>
                  </a:moveTo>
                  <a:lnTo>
                    <a:pt x="433272" y="2477782"/>
                  </a:lnTo>
                  <a:lnTo>
                    <a:pt x="433272" y="3600000"/>
                  </a:lnTo>
                  <a:lnTo>
                    <a:pt x="286798" y="3600000"/>
                  </a:lnTo>
                  <a:close/>
                  <a:moveTo>
                    <a:pt x="4301973" y="2384264"/>
                  </a:moveTo>
                  <a:lnTo>
                    <a:pt x="4448447" y="2384264"/>
                  </a:lnTo>
                  <a:lnTo>
                    <a:pt x="4448447" y="3600001"/>
                  </a:lnTo>
                  <a:lnTo>
                    <a:pt x="4301973" y="3600001"/>
                  </a:lnTo>
                  <a:close/>
                  <a:moveTo>
                    <a:pt x="1720791" y="2353091"/>
                  </a:moveTo>
                  <a:lnTo>
                    <a:pt x="1867265" y="2353091"/>
                  </a:lnTo>
                  <a:lnTo>
                    <a:pt x="1867265" y="3600000"/>
                  </a:lnTo>
                  <a:lnTo>
                    <a:pt x="1720791" y="3600000"/>
                  </a:lnTo>
                  <a:close/>
                  <a:moveTo>
                    <a:pt x="7743555" y="2275159"/>
                  </a:moveTo>
                  <a:lnTo>
                    <a:pt x="7890029" y="2275159"/>
                  </a:lnTo>
                  <a:lnTo>
                    <a:pt x="7890029" y="3600000"/>
                  </a:lnTo>
                  <a:lnTo>
                    <a:pt x="7743555" y="3600000"/>
                  </a:lnTo>
                  <a:close/>
                  <a:moveTo>
                    <a:pt x="5735966" y="2275159"/>
                  </a:moveTo>
                  <a:lnTo>
                    <a:pt x="5882439" y="2275159"/>
                  </a:lnTo>
                  <a:lnTo>
                    <a:pt x="5882439" y="3600000"/>
                  </a:lnTo>
                  <a:lnTo>
                    <a:pt x="5735966" y="3600000"/>
                  </a:lnTo>
                  <a:close/>
                  <a:moveTo>
                    <a:pt x="2294388" y="2197227"/>
                  </a:moveTo>
                  <a:lnTo>
                    <a:pt x="2440862" y="2197227"/>
                  </a:lnTo>
                  <a:lnTo>
                    <a:pt x="2440862" y="3600000"/>
                  </a:lnTo>
                  <a:lnTo>
                    <a:pt x="2294388" y="3600000"/>
                  </a:lnTo>
                  <a:close/>
                  <a:moveTo>
                    <a:pt x="860395" y="2197227"/>
                  </a:moveTo>
                  <a:lnTo>
                    <a:pt x="1006869" y="2197227"/>
                  </a:lnTo>
                  <a:lnTo>
                    <a:pt x="1006869" y="3600000"/>
                  </a:lnTo>
                  <a:lnTo>
                    <a:pt x="860395" y="3600000"/>
                  </a:lnTo>
                  <a:close/>
                  <a:moveTo>
                    <a:pt x="5449168" y="2141116"/>
                  </a:moveTo>
                  <a:lnTo>
                    <a:pt x="5595641" y="2141116"/>
                  </a:lnTo>
                  <a:lnTo>
                    <a:pt x="5595641" y="3600000"/>
                  </a:lnTo>
                  <a:lnTo>
                    <a:pt x="5449168" y="3600000"/>
                  </a:lnTo>
                  <a:close/>
                  <a:moveTo>
                    <a:pt x="4015178" y="2141116"/>
                  </a:moveTo>
                  <a:lnTo>
                    <a:pt x="4161652" y="2141116"/>
                  </a:lnTo>
                  <a:lnTo>
                    <a:pt x="4161652" y="3600000"/>
                  </a:lnTo>
                  <a:lnTo>
                    <a:pt x="4015178" y="3600000"/>
                  </a:lnTo>
                  <a:close/>
                  <a:moveTo>
                    <a:pt x="3154782" y="2141116"/>
                  </a:moveTo>
                  <a:lnTo>
                    <a:pt x="3301256" y="2141116"/>
                  </a:lnTo>
                  <a:lnTo>
                    <a:pt x="3301256" y="3600000"/>
                  </a:lnTo>
                  <a:lnTo>
                    <a:pt x="3154782" y="3600000"/>
                  </a:lnTo>
                  <a:close/>
                  <a:moveTo>
                    <a:pt x="8603950" y="2119295"/>
                  </a:moveTo>
                  <a:lnTo>
                    <a:pt x="8750424" y="2119295"/>
                  </a:lnTo>
                  <a:lnTo>
                    <a:pt x="8750424" y="3600000"/>
                  </a:lnTo>
                  <a:lnTo>
                    <a:pt x="8603950" y="3600000"/>
                  </a:lnTo>
                  <a:close/>
                  <a:moveTo>
                    <a:pt x="573597" y="2041364"/>
                  </a:moveTo>
                  <a:lnTo>
                    <a:pt x="720071" y="2041364"/>
                  </a:lnTo>
                  <a:lnTo>
                    <a:pt x="720071" y="3600001"/>
                  </a:lnTo>
                  <a:lnTo>
                    <a:pt x="573597" y="3600001"/>
                  </a:lnTo>
                  <a:close/>
                  <a:moveTo>
                    <a:pt x="7169958" y="2010191"/>
                  </a:moveTo>
                  <a:lnTo>
                    <a:pt x="7316432" y="2010191"/>
                  </a:lnTo>
                  <a:lnTo>
                    <a:pt x="7316432" y="3600000"/>
                  </a:lnTo>
                  <a:lnTo>
                    <a:pt x="7169958" y="3600000"/>
                  </a:lnTo>
                  <a:close/>
                  <a:moveTo>
                    <a:pt x="4588771" y="1979018"/>
                  </a:moveTo>
                  <a:lnTo>
                    <a:pt x="4735245" y="1979018"/>
                  </a:lnTo>
                  <a:lnTo>
                    <a:pt x="4735245" y="3600000"/>
                  </a:lnTo>
                  <a:lnTo>
                    <a:pt x="4588771" y="3600000"/>
                  </a:lnTo>
                  <a:close/>
                  <a:moveTo>
                    <a:pt x="10037942" y="1823155"/>
                  </a:moveTo>
                  <a:lnTo>
                    <a:pt x="10184416" y="1823155"/>
                  </a:lnTo>
                  <a:lnTo>
                    <a:pt x="10184416" y="3600001"/>
                  </a:lnTo>
                  <a:lnTo>
                    <a:pt x="10037942" y="3600001"/>
                  </a:lnTo>
                  <a:close/>
                  <a:moveTo>
                    <a:pt x="10611539" y="1800001"/>
                  </a:moveTo>
                  <a:lnTo>
                    <a:pt x="10758013" y="1800001"/>
                  </a:lnTo>
                  <a:lnTo>
                    <a:pt x="10758013" y="3600001"/>
                  </a:lnTo>
                  <a:lnTo>
                    <a:pt x="10611539" y="3600001"/>
                  </a:lnTo>
                  <a:close/>
                  <a:moveTo>
                    <a:pt x="5162368" y="1776395"/>
                  </a:moveTo>
                  <a:lnTo>
                    <a:pt x="5308842" y="1776395"/>
                  </a:lnTo>
                  <a:lnTo>
                    <a:pt x="5308842" y="3600000"/>
                  </a:lnTo>
                  <a:lnTo>
                    <a:pt x="5162368" y="3600000"/>
                  </a:lnTo>
                  <a:close/>
                  <a:moveTo>
                    <a:pt x="3728379" y="1776395"/>
                  </a:moveTo>
                  <a:lnTo>
                    <a:pt x="3874853" y="1776395"/>
                  </a:lnTo>
                  <a:lnTo>
                    <a:pt x="3874853" y="3600000"/>
                  </a:lnTo>
                  <a:lnTo>
                    <a:pt x="3728379" y="3600000"/>
                  </a:lnTo>
                  <a:close/>
                  <a:moveTo>
                    <a:pt x="8317151" y="1692229"/>
                  </a:moveTo>
                  <a:lnTo>
                    <a:pt x="8463625" y="1692229"/>
                  </a:lnTo>
                  <a:lnTo>
                    <a:pt x="8463625" y="3600000"/>
                  </a:lnTo>
                  <a:lnTo>
                    <a:pt x="8317151" y="3600000"/>
                  </a:lnTo>
                  <a:close/>
                  <a:moveTo>
                    <a:pt x="6883159" y="1692229"/>
                  </a:moveTo>
                  <a:lnTo>
                    <a:pt x="7029633" y="1692229"/>
                  </a:lnTo>
                  <a:lnTo>
                    <a:pt x="7029633" y="3600000"/>
                  </a:lnTo>
                  <a:lnTo>
                    <a:pt x="6883159" y="3600000"/>
                  </a:lnTo>
                  <a:close/>
                  <a:moveTo>
                    <a:pt x="6022764" y="1692229"/>
                  </a:moveTo>
                  <a:lnTo>
                    <a:pt x="6169238" y="1692229"/>
                  </a:lnTo>
                  <a:lnTo>
                    <a:pt x="6169238" y="3600000"/>
                  </a:lnTo>
                  <a:lnTo>
                    <a:pt x="6022764" y="3600000"/>
                  </a:lnTo>
                  <a:close/>
                  <a:moveTo>
                    <a:pt x="3441581" y="1573773"/>
                  </a:moveTo>
                  <a:lnTo>
                    <a:pt x="3588056" y="1573773"/>
                  </a:lnTo>
                  <a:lnTo>
                    <a:pt x="3588056" y="3600001"/>
                  </a:lnTo>
                  <a:lnTo>
                    <a:pt x="3441581" y="3600001"/>
                  </a:lnTo>
                  <a:close/>
                  <a:moveTo>
                    <a:pt x="7456756" y="1480254"/>
                  </a:moveTo>
                  <a:lnTo>
                    <a:pt x="7603230" y="1480254"/>
                  </a:lnTo>
                  <a:lnTo>
                    <a:pt x="7603230" y="3600000"/>
                  </a:lnTo>
                  <a:lnTo>
                    <a:pt x="7456756" y="3600000"/>
                  </a:lnTo>
                  <a:close/>
                  <a:moveTo>
                    <a:pt x="9751144" y="1467786"/>
                  </a:moveTo>
                  <a:lnTo>
                    <a:pt x="9897618" y="1467786"/>
                  </a:lnTo>
                  <a:lnTo>
                    <a:pt x="9897618" y="3600001"/>
                  </a:lnTo>
                  <a:lnTo>
                    <a:pt x="9751144" y="3600001"/>
                  </a:lnTo>
                  <a:close/>
                  <a:moveTo>
                    <a:pt x="8890748" y="1467785"/>
                  </a:moveTo>
                  <a:lnTo>
                    <a:pt x="9037222" y="1467785"/>
                  </a:lnTo>
                  <a:lnTo>
                    <a:pt x="9037222" y="3600000"/>
                  </a:lnTo>
                  <a:lnTo>
                    <a:pt x="8890748" y="3600000"/>
                  </a:lnTo>
                  <a:close/>
                  <a:moveTo>
                    <a:pt x="6596361" y="1296000"/>
                  </a:moveTo>
                  <a:lnTo>
                    <a:pt x="6742835" y="1296000"/>
                  </a:lnTo>
                  <a:lnTo>
                    <a:pt x="6742835" y="3600000"/>
                  </a:lnTo>
                  <a:lnTo>
                    <a:pt x="6596361" y="3600000"/>
                  </a:lnTo>
                  <a:close/>
                  <a:moveTo>
                    <a:pt x="10324741" y="1230873"/>
                  </a:moveTo>
                  <a:lnTo>
                    <a:pt x="10471215" y="1230873"/>
                  </a:lnTo>
                  <a:lnTo>
                    <a:pt x="10471215" y="3600001"/>
                  </a:lnTo>
                  <a:lnTo>
                    <a:pt x="10324741" y="3600001"/>
                  </a:lnTo>
                  <a:close/>
                  <a:moveTo>
                    <a:pt x="8030353" y="1215286"/>
                  </a:moveTo>
                  <a:lnTo>
                    <a:pt x="8176827" y="1215286"/>
                  </a:lnTo>
                  <a:lnTo>
                    <a:pt x="8176827" y="3600000"/>
                  </a:lnTo>
                  <a:lnTo>
                    <a:pt x="8030353" y="3600000"/>
                  </a:lnTo>
                  <a:close/>
                  <a:moveTo>
                    <a:pt x="11185136" y="1080001"/>
                  </a:moveTo>
                  <a:lnTo>
                    <a:pt x="11331610" y="1080001"/>
                  </a:lnTo>
                  <a:lnTo>
                    <a:pt x="11331610" y="3600001"/>
                  </a:lnTo>
                  <a:lnTo>
                    <a:pt x="11185136" y="3600001"/>
                  </a:lnTo>
                  <a:close/>
                  <a:moveTo>
                    <a:pt x="6309562" y="1080000"/>
                  </a:moveTo>
                  <a:lnTo>
                    <a:pt x="6456036" y="1080000"/>
                  </a:lnTo>
                  <a:lnTo>
                    <a:pt x="6456036" y="3600000"/>
                  </a:lnTo>
                  <a:lnTo>
                    <a:pt x="6309562" y="3600000"/>
                  </a:lnTo>
                  <a:close/>
                  <a:moveTo>
                    <a:pt x="10898338" y="934732"/>
                  </a:moveTo>
                  <a:lnTo>
                    <a:pt x="11044812" y="934732"/>
                  </a:lnTo>
                  <a:lnTo>
                    <a:pt x="11044812" y="3600000"/>
                  </a:lnTo>
                  <a:lnTo>
                    <a:pt x="10898338" y="3600000"/>
                  </a:lnTo>
                  <a:close/>
                  <a:moveTo>
                    <a:pt x="9464345" y="934732"/>
                  </a:moveTo>
                  <a:lnTo>
                    <a:pt x="9610819" y="934732"/>
                  </a:lnTo>
                  <a:lnTo>
                    <a:pt x="9610819" y="3600000"/>
                  </a:lnTo>
                  <a:lnTo>
                    <a:pt x="9464345" y="3600000"/>
                  </a:lnTo>
                  <a:close/>
                  <a:moveTo>
                    <a:pt x="9177547" y="638591"/>
                  </a:moveTo>
                  <a:lnTo>
                    <a:pt x="9324021" y="638591"/>
                  </a:lnTo>
                  <a:lnTo>
                    <a:pt x="9324021" y="3600000"/>
                  </a:lnTo>
                  <a:lnTo>
                    <a:pt x="9177547" y="3600000"/>
                  </a:lnTo>
                  <a:close/>
                  <a:moveTo>
                    <a:pt x="11471935" y="576001"/>
                  </a:moveTo>
                  <a:lnTo>
                    <a:pt x="11618409" y="576001"/>
                  </a:lnTo>
                  <a:lnTo>
                    <a:pt x="11618409" y="3600001"/>
                  </a:lnTo>
                  <a:lnTo>
                    <a:pt x="11471935" y="3600001"/>
                  </a:lnTo>
                  <a:close/>
                  <a:moveTo>
                    <a:pt x="12045522" y="360000"/>
                  </a:moveTo>
                  <a:lnTo>
                    <a:pt x="12191996" y="360000"/>
                  </a:lnTo>
                  <a:lnTo>
                    <a:pt x="12191996" y="3600000"/>
                  </a:lnTo>
                  <a:lnTo>
                    <a:pt x="12045522" y="3600000"/>
                  </a:lnTo>
                  <a:close/>
                  <a:moveTo>
                    <a:pt x="11758733" y="0"/>
                  </a:moveTo>
                  <a:lnTo>
                    <a:pt x="11905207" y="0"/>
                  </a:lnTo>
                  <a:lnTo>
                    <a:pt x="11905207" y="3600000"/>
                  </a:lnTo>
                  <a:lnTo>
                    <a:pt x="11758733" y="3600000"/>
                  </a:lnTo>
                  <a:close/>
                </a:path>
              </a:pathLst>
            </a:custGeom>
            <a:gradFill flip="none" rotWithShape="1">
              <a:gsLst>
                <a:gs pos="0">
                  <a:schemeClr val="accent1">
                    <a:lumMod val="60000"/>
                    <a:lumOff val="40000"/>
                    <a:alpha val="0"/>
                  </a:schemeClr>
                </a:gs>
                <a:gs pos="100000">
                  <a:schemeClr val="accent1">
                    <a:alpha val="1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5" name="islide-2"/>
            <p:cNvSpPr/>
            <p:nvPr/>
          </p:nvSpPr>
          <p:spPr>
            <a:xfrm>
              <a:off x="660396" y="1368638"/>
              <a:ext cx="10974858" cy="3079483"/>
            </a:xfrm>
            <a:custGeom>
              <a:avLst/>
              <a:gdLst>
                <a:gd name="connsiteX0" fmla="*/ 12194350 w 12194350"/>
                <a:gd name="connsiteY0" fmla="*/ 0 h 3538816"/>
                <a:gd name="connsiteX1" fmla="*/ 11743461 w 12194350"/>
                <a:gd name="connsiteY1" fmla="*/ 880964 h 3538816"/>
                <a:gd name="connsiteX2" fmla="*/ 11594168 w 12194350"/>
                <a:gd name="connsiteY2" fmla="*/ 693302 h 3538816"/>
                <a:gd name="connsiteX3" fmla="*/ 11511865 w 12194350"/>
                <a:gd name="connsiteY3" fmla="*/ 745950 h 3538816"/>
                <a:gd name="connsiteX4" fmla="*/ 7081249 w 12194350"/>
                <a:gd name="connsiteY4" fmla="*/ 2736180 h 3538816"/>
                <a:gd name="connsiteX5" fmla="*/ 0 w 12194350"/>
                <a:gd name="connsiteY5" fmla="*/ 3532429 h 3538816"/>
                <a:gd name="connsiteX6" fmla="*/ 7039964 w 12194350"/>
                <a:gd name="connsiteY6" fmla="*/ 2550361 h 3538816"/>
                <a:gd name="connsiteX7" fmla="*/ 11334499 w 12194350"/>
                <a:gd name="connsiteY7" fmla="*/ 499924 h 3538816"/>
                <a:gd name="connsiteX8" fmla="*/ 11402620 w 12194350"/>
                <a:gd name="connsiteY8" fmla="*/ 452526 h 3538816"/>
                <a:gd name="connsiteX9" fmla="*/ 11234620 w 12194350"/>
                <a:gd name="connsiteY9" fmla="*/ 241350 h 3538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4350" h="3538816">
                  <a:moveTo>
                    <a:pt x="12194350" y="0"/>
                  </a:moveTo>
                  <a:lnTo>
                    <a:pt x="11743461" y="880964"/>
                  </a:lnTo>
                  <a:lnTo>
                    <a:pt x="11594168" y="693302"/>
                  </a:lnTo>
                  <a:lnTo>
                    <a:pt x="11511865" y="745950"/>
                  </a:lnTo>
                  <a:cubicBezTo>
                    <a:pt x="10861162" y="1155209"/>
                    <a:pt x="9284367" y="2058445"/>
                    <a:pt x="7081249" y="2736180"/>
                  </a:cubicBezTo>
                  <a:cubicBezTo>
                    <a:pt x="4066305" y="3663685"/>
                    <a:pt x="0" y="3532429"/>
                    <a:pt x="0" y="3532429"/>
                  </a:cubicBezTo>
                  <a:cubicBezTo>
                    <a:pt x="1493745" y="3470120"/>
                    <a:pt x="4513461" y="3376692"/>
                    <a:pt x="7039964" y="2550361"/>
                  </a:cubicBezTo>
                  <a:cubicBezTo>
                    <a:pt x="9244275" y="1829421"/>
                    <a:pt x="10729604" y="913051"/>
                    <a:pt x="11334499" y="499924"/>
                  </a:cubicBezTo>
                  <a:lnTo>
                    <a:pt x="11402620" y="452526"/>
                  </a:lnTo>
                  <a:lnTo>
                    <a:pt x="11234620" y="241350"/>
                  </a:lnTo>
                  <a:close/>
                </a:path>
              </a:pathLst>
            </a:cu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defTabSz="895350">
                <a:buSzPct val="120000"/>
              </a:pPr>
              <a:endParaRPr lang="zh-CN" altLang="en-US" sz="1600">
                <a:solidFill>
                  <a:schemeClr val="lt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8" name="Title"/>
            <p:cNvSpPr txBox="1"/>
            <p:nvPr/>
          </p:nvSpPr>
          <p:spPr>
            <a:xfrm>
              <a:off x="660396" y="1130299"/>
              <a:ext cx="7735441" cy="660401"/>
            </a:xfrm>
            <a:prstGeom prst="rect">
              <a:avLst/>
            </a:prstGeom>
            <a:noFill/>
            <a:ln>
              <a:noFill/>
            </a:ln>
            <a:effectLst/>
          </p:spPr>
          <p:txBody>
            <a:bodyPr wrap="square" lIns="91440" tIns="45720" rIns="91440" bIns="45720" anchor="ctr" anchorCtr="0">
              <a:normAutofit/>
            </a:bodyPr>
            <a:lstStyle/>
            <a:p>
              <a:pPr marL="0" marR="0" lvl="0" indent="0" defTabSz="913765" rtl="0" eaLnBrk="1" fontAlgn="auto" latinLnBrk="0" hangingPunct="1">
                <a:spcBef>
                  <a:spcPts val="0"/>
                </a:spcBef>
                <a:spcAft>
                  <a:spcPts val="0"/>
                </a:spcAft>
                <a:buClrTx/>
                <a:buSzPct val="25000"/>
                <a:buFontTx/>
                <a:buNone/>
                <a:defRPr/>
              </a:pPr>
              <a:r>
                <a:rPr lang="zh-CN" altLang="en-US" sz="20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MetaRCA uses LLMs offline to extract causal knowledge and build the initial skeleton MCG.</a:t>
              </a:r>
              <a:endParaRPr lang="en-US" dirty="0"/>
            </a:p>
          </p:txBody>
        </p:sp>
        <p:grpSp>
          <p:nvGrpSpPr>
            <p:cNvPr id="11" name="组合 10"/>
            <p:cNvGrpSpPr/>
            <p:nvPr/>
          </p:nvGrpSpPr>
          <p:grpSpPr>
            <a:xfrm>
              <a:off x="586593" y="1833369"/>
              <a:ext cx="2759584" cy="3086829"/>
              <a:chOff x="656720" y="2409449"/>
              <a:chExt cx="2759584" cy="3086829"/>
            </a:xfrm>
          </p:grpSpPr>
          <p:sp>
            <p:nvSpPr>
              <p:cNvPr id="66" name="Bullet1"/>
              <p:cNvSpPr txBox="1"/>
              <p:nvPr/>
            </p:nvSpPr>
            <p:spPr>
              <a:xfrm>
                <a:off x="656720" y="2409449"/>
                <a:ext cx="2759584" cy="514552"/>
              </a:xfrm>
              <a:prstGeom prst="rect">
                <a:avLst/>
              </a:prstGeom>
              <a:noFill/>
            </p:spPr>
            <p:txBody>
              <a:bodyPr wrap="square" lIns="91440" tIns="45720" rIns="91440" bIns="45720" anchor="ctr" anchorCtr="0">
                <a:normAutofit/>
              </a:bodyPr>
              <a:lstStyle/>
              <a:p>
                <a:pPr>
                  <a:lnSpc>
                    <a:spcPct val="120000"/>
                  </a:lnSpc>
                </a:pPr>
                <a:r>
                  <a:rPr lang="zh-CN" altLang="en-US" sz="1600" b="1" dirty="0">
                    <a:latin typeface="Arial" panose="020B0604020202020204" pitchFamily="34" charset="0"/>
                    <a:ea typeface="微软雅黑" panose="020B0503020204020204" pitchFamily="34" charset="-122"/>
                    <a:cs typeface="+mn-ea"/>
                    <a:sym typeface="Arial" panose="020B0604020202020204" pitchFamily="34" charset="0"/>
                  </a:rPr>
                  <a:t>Metric Classification</a:t>
                </a:r>
                <a:endParaRPr lang="en-US" dirty="0"/>
              </a:p>
            </p:txBody>
          </p:sp>
          <p:sp>
            <p:nvSpPr>
              <p:cNvPr id="67" name="Text1"/>
              <p:cNvSpPr/>
              <p:nvPr/>
            </p:nvSpPr>
            <p:spPr>
              <a:xfrm>
                <a:off x="656720" y="2933633"/>
                <a:ext cx="2759584" cy="908855"/>
              </a:xfrm>
              <a:prstGeom prst="rect">
                <a:avLst/>
              </a:prstGeom>
              <a:ln>
                <a:noFill/>
              </a:ln>
            </p:spPr>
            <p:txBody>
              <a:bodyPr wrap="square" lIns="91440" tIns="45720" rIns="91440" bIns="45720" anchor="t"/>
              <a:lstStyle/>
              <a:p>
                <a:pPr>
                  <a:lnSpc>
                    <a:spcPct val="120000"/>
                  </a:lnSpc>
                </a:pPr>
                <a:r>
                  <a:rPr lang="zh-CN" altLang="en-US" sz="1200" b="1" dirty="0">
                    <a:latin typeface="Arial" panose="020B0604020202020204" pitchFamily="34" charset="0"/>
                    <a:ea typeface="微软雅黑" panose="020B0503020204020204" pitchFamily="34" charset="-122"/>
                    <a:cs typeface="+mn-ea"/>
                    <a:sym typeface="Arial" panose="020B0604020202020204" pitchFamily="34" charset="0"/>
                  </a:rPr>
                  <a:t>Service Level Indicators</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 (SLIs): Measure service quality;Examples: latency, error rate;Propagate along service dependencies. </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a:p>
                <a:pPr>
                  <a:lnSpc>
                    <a:spcPct val="120000"/>
                  </a:lnSpc>
                </a:pPr>
                <a:r>
                  <a:rPr lang="zh-CN" altLang="en-US" sz="1200" b="1" dirty="0">
                    <a:latin typeface="Arial" panose="020B0604020202020204" pitchFamily="34" charset="0"/>
                    <a:ea typeface="微软雅黑" panose="020B0503020204020204" pitchFamily="34" charset="-122"/>
                    <a:cs typeface="+mn-ea"/>
                    <a:sym typeface="Arial" panose="020B0604020202020204" pitchFamily="34" charset="0"/>
                  </a:rPr>
                  <a:t>Resource Metrics:</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 Measure internal resource saturation;Examples: CPU usage, memory usage;Influence SLIs within the service boundary.</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8" name="Number1"/>
              <p:cNvSpPr>
                <a:spLocks noChangeAspect="1"/>
              </p:cNvSpPr>
              <p:nvPr/>
            </p:nvSpPr>
            <p:spPr>
              <a:xfrm>
                <a:off x="1430142" y="4704278"/>
                <a:ext cx="792002" cy="792000"/>
              </a:xfrm>
              <a:prstGeom prst="ellipse">
                <a:avLst/>
              </a:prstGeom>
              <a:solidFill>
                <a:schemeClr val="accent1"/>
              </a:solidFill>
              <a:ln w="254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1</a:t>
                </a:r>
                <a:endParaRPr lang="zh-CN" altLang="en-US" sz="2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4" name="组合 13"/>
            <p:cNvGrpSpPr/>
            <p:nvPr/>
          </p:nvGrpSpPr>
          <p:grpSpPr>
            <a:xfrm>
              <a:off x="3148343" y="3532084"/>
              <a:ext cx="2759584" cy="2391647"/>
              <a:chOff x="2855328" y="3742453"/>
              <a:chExt cx="2759584" cy="2391647"/>
            </a:xfrm>
          </p:grpSpPr>
          <p:sp>
            <p:nvSpPr>
              <p:cNvPr id="69" name="Bullet2"/>
              <p:cNvSpPr txBox="1"/>
              <p:nvPr/>
            </p:nvSpPr>
            <p:spPr>
              <a:xfrm>
                <a:off x="2855328" y="4802661"/>
                <a:ext cx="2759584" cy="514552"/>
              </a:xfrm>
              <a:prstGeom prst="rect">
                <a:avLst/>
              </a:prstGeom>
              <a:noFill/>
            </p:spPr>
            <p:txBody>
              <a:bodyPr wrap="square" lIns="91440" tIns="45720" rIns="91440" bIns="45720" anchor="ctr" anchorCtr="0">
                <a:normAutofit/>
              </a:bodyPr>
              <a:lstStyle/>
              <a:p>
                <a:pPr>
                  <a:lnSpc>
                    <a:spcPct val="120000"/>
                  </a:lnSpc>
                </a:pPr>
                <a:r>
                  <a:rPr lang="zh-CN" altLang="en-US" sz="1600" b="1" dirty="0">
                    <a:latin typeface="Arial" panose="020B0604020202020204" pitchFamily="34" charset="0"/>
                    <a:ea typeface="微软雅黑" panose="020B0503020204020204" pitchFamily="34" charset="-122"/>
                    <a:cs typeface="+mn-ea"/>
                    <a:sym typeface="Arial" panose="020B0604020202020204" pitchFamily="34" charset="0"/>
                  </a:rPr>
                  <a:t>LLM-guided Causal Extraction</a:t>
                </a:r>
                <a:endParaRPr lang="en-US" dirty="0"/>
              </a:p>
            </p:txBody>
          </p:sp>
          <p:sp>
            <p:nvSpPr>
              <p:cNvPr id="70" name="Text2"/>
              <p:cNvSpPr/>
              <p:nvPr/>
            </p:nvSpPr>
            <p:spPr>
              <a:xfrm>
                <a:off x="2855328" y="5326845"/>
                <a:ext cx="2759584" cy="807255"/>
              </a:xfrm>
              <a:prstGeom prst="rect">
                <a:avLst/>
              </a:prstGeom>
              <a:ln>
                <a:noFill/>
              </a:ln>
            </p:spPr>
            <p:txBody>
              <a:bodyPr wrap="square" lIns="91440" tIns="45720" rIns="91440" bIns="45720" anchor="t">
                <a:normAutofit/>
              </a:bodyPr>
              <a:lstStyle/>
              <a:p>
                <a:pPr>
                  <a:lnSpc>
                    <a:spcPct val="120000"/>
                  </a:lnSpc>
                </a:pPr>
                <a:r>
                  <a:rPr lang="zh-CN" altLang="en-US"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For each connection pattern: (c_src, c_dst, conn_type). A structured prompt guides the LLM to infer: Candidate causal relations between metrics;Causal directions;Interactions between SLIs and resource metrics.</a:t>
                </a:r>
                <a:endParaRPr lang="en-US" dirty="0"/>
              </a:p>
            </p:txBody>
          </p:sp>
          <p:sp>
            <p:nvSpPr>
              <p:cNvPr id="71" name="Number2"/>
              <p:cNvSpPr>
                <a:spLocks noChangeAspect="1"/>
              </p:cNvSpPr>
              <p:nvPr/>
            </p:nvSpPr>
            <p:spPr>
              <a:xfrm>
                <a:off x="3839119" y="3742453"/>
                <a:ext cx="792002" cy="792000"/>
              </a:xfrm>
              <a:prstGeom prst="ellipse">
                <a:avLst/>
              </a:prstGeom>
              <a:solidFill>
                <a:schemeClr val="accent1"/>
              </a:solidFill>
              <a:ln w="254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2</a:t>
                </a:r>
                <a:endParaRPr lang="zh-CN" altLang="en-US" sz="2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5" name="组合 14"/>
            <p:cNvGrpSpPr/>
            <p:nvPr/>
          </p:nvGrpSpPr>
          <p:grpSpPr>
            <a:xfrm>
              <a:off x="5408662" y="1506235"/>
              <a:ext cx="2759584" cy="2714937"/>
              <a:chOff x="5076092" y="1960787"/>
              <a:chExt cx="2759584" cy="2714937"/>
            </a:xfrm>
          </p:grpSpPr>
          <p:sp>
            <p:nvSpPr>
              <p:cNvPr id="75" name="Bullet3"/>
              <p:cNvSpPr txBox="1"/>
              <p:nvPr/>
            </p:nvSpPr>
            <p:spPr>
              <a:xfrm>
                <a:off x="5076092" y="1960787"/>
                <a:ext cx="2759584" cy="514552"/>
              </a:xfrm>
              <a:prstGeom prst="rect">
                <a:avLst/>
              </a:prstGeom>
              <a:noFill/>
            </p:spPr>
            <p:txBody>
              <a:bodyPr wrap="square" lIns="91440" tIns="45720" rIns="91440" bIns="45720" anchor="ctr" anchorCtr="0">
                <a:normAutofit/>
              </a:bodyPr>
              <a:lstStyle/>
              <a:p>
                <a:pPr>
                  <a:lnSpc>
                    <a:spcPct val="120000"/>
                  </a:lnSpc>
                </a:pPr>
                <a:r>
                  <a:rPr lang="zh-CN" altLang="en-US" sz="1600" b="1" dirty="0">
                    <a:latin typeface="Arial" panose="020B0604020202020204" pitchFamily="34" charset="0"/>
                    <a:ea typeface="微软雅黑" panose="020B0503020204020204" pitchFamily="34" charset="-122"/>
                    <a:cs typeface="+mn-ea"/>
                    <a:sym typeface="Arial" panose="020B0604020202020204" pitchFamily="34" charset="0"/>
                  </a:rPr>
                  <a:t>Output</a:t>
                </a:r>
                <a:endParaRPr lang="en-US" dirty="0"/>
              </a:p>
            </p:txBody>
          </p:sp>
          <p:sp>
            <p:nvSpPr>
              <p:cNvPr id="76" name="Text3"/>
              <p:cNvSpPr/>
              <p:nvPr/>
            </p:nvSpPr>
            <p:spPr>
              <a:xfrm>
                <a:off x="5076092" y="2484971"/>
                <a:ext cx="2759584" cy="956730"/>
              </a:xfrm>
              <a:prstGeom prst="rect">
                <a:avLst/>
              </a:prstGeom>
              <a:ln>
                <a:noFill/>
              </a:ln>
            </p:spPr>
            <p:txBody>
              <a:bodyPr wrap="square" lIns="91440" tIns="45720" rIns="91440" bIns="45720" anchor="t">
                <a:normAutofit/>
              </a:bodyPr>
              <a:lstStyle/>
              <a:p>
                <a:pPr>
                  <a:lnSpc>
                    <a:spcPct val="120000"/>
                  </a:lnSpc>
                </a:pP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A skeleton Meta Causal Graph composed of candidate causal edges: cause metric → effect metric. Example: MySQL.query_latency ↑ → Microservice.api_latency ↑.</a:t>
                </a:r>
                <a:endParaRPr lang="en-US" dirty="0"/>
              </a:p>
            </p:txBody>
          </p:sp>
          <p:sp>
            <p:nvSpPr>
              <p:cNvPr id="77" name="Number3"/>
              <p:cNvSpPr>
                <a:spLocks noChangeAspect="1"/>
              </p:cNvSpPr>
              <p:nvPr/>
            </p:nvSpPr>
            <p:spPr>
              <a:xfrm>
                <a:off x="6059883" y="3883724"/>
                <a:ext cx="792002" cy="792000"/>
              </a:xfrm>
              <a:prstGeom prst="ellipse">
                <a:avLst/>
              </a:prstGeom>
              <a:solidFill>
                <a:schemeClr val="accent1"/>
              </a:solidFill>
              <a:ln w="254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3</a:t>
                </a:r>
                <a:endParaRPr lang="zh-CN" altLang="en-US" sz="2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6" name="组合 15"/>
            <p:cNvGrpSpPr/>
            <p:nvPr/>
          </p:nvGrpSpPr>
          <p:grpSpPr>
            <a:xfrm>
              <a:off x="8652697" y="1833292"/>
              <a:ext cx="2759584" cy="2898819"/>
              <a:chOff x="7124239" y="2739981"/>
              <a:chExt cx="2759584" cy="2898819"/>
            </a:xfrm>
          </p:grpSpPr>
          <p:sp>
            <p:nvSpPr>
              <p:cNvPr id="79" name="Bullet4"/>
              <p:cNvSpPr txBox="1"/>
              <p:nvPr/>
            </p:nvSpPr>
            <p:spPr>
              <a:xfrm>
                <a:off x="7124239" y="3933517"/>
                <a:ext cx="2759584" cy="514552"/>
              </a:xfrm>
              <a:prstGeom prst="rect">
                <a:avLst/>
              </a:prstGeom>
              <a:noFill/>
            </p:spPr>
            <p:txBody>
              <a:bodyPr wrap="square" lIns="91440" tIns="45720" rIns="91440" bIns="45720" anchor="ctr" anchorCtr="0">
                <a:normAutofit/>
              </a:bodyPr>
              <a:lstStyle/>
              <a:p>
                <a:pPr>
                  <a:lnSpc>
                    <a:spcPct val="120000"/>
                  </a:lnSpc>
                </a:pPr>
                <a:r>
                  <a:rPr lang="zh-CN" altLang="en-US" sz="1600" b="1" dirty="0">
                    <a:latin typeface="Arial" panose="020B0604020202020204" pitchFamily="34" charset="0"/>
                    <a:ea typeface="微软雅黑" panose="020B0503020204020204" pitchFamily="34" charset="-122"/>
                    <a:cs typeface="+mn-ea"/>
                    <a:sym typeface="Arial" panose="020B0604020202020204" pitchFamily="34" charset="0"/>
                  </a:rPr>
                  <a:t>Key Point</a:t>
                </a:r>
                <a:endParaRPr lang="en-US" dirty="0"/>
              </a:p>
            </p:txBody>
          </p:sp>
          <p:sp>
            <p:nvSpPr>
              <p:cNvPr id="80" name="Text4"/>
              <p:cNvSpPr/>
              <p:nvPr/>
            </p:nvSpPr>
            <p:spPr>
              <a:xfrm>
                <a:off x="7124239" y="4457700"/>
                <a:ext cx="2759584" cy="1181100"/>
              </a:xfrm>
              <a:prstGeom prst="rect">
                <a:avLst/>
              </a:prstGeom>
              <a:ln>
                <a:noFill/>
              </a:ln>
            </p:spPr>
            <p:txBody>
              <a:bodyPr wrap="square" lIns="91440" tIns="45720" rIns="91440" bIns="45720" anchor="t">
                <a:normAutofit/>
              </a:bodyPr>
              <a:lstStyle/>
              <a:p>
                <a:pPr>
                  <a:lnSpc>
                    <a:spcPct val="120000"/>
                  </a:lnSpc>
                </a:pP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LLMs bootstrap causal knowledge offline, rather than directly performing online RCA.</a:t>
                </a:r>
                <a:endParaRPr lang="en-US" dirty="0"/>
              </a:p>
            </p:txBody>
          </p:sp>
          <p:sp>
            <p:nvSpPr>
              <p:cNvPr id="81" name="Number4"/>
              <p:cNvSpPr>
                <a:spLocks noChangeAspect="1"/>
              </p:cNvSpPr>
              <p:nvPr/>
            </p:nvSpPr>
            <p:spPr>
              <a:xfrm>
                <a:off x="8108030" y="2739981"/>
                <a:ext cx="792002" cy="792000"/>
              </a:xfrm>
              <a:prstGeom prst="ellipse">
                <a:avLst/>
              </a:prstGeom>
              <a:solidFill>
                <a:schemeClr val="accent1"/>
              </a:solidFill>
              <a:ln w="254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4</a:t>
                </a:r>
                <a:endParaRPr lang="zh-CN" altLang="en-US" sz="2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2" name="标题 1"/>
          <p:cNvSpPr>
            <a:spLocks noGrp="1"/>
          </p:cNvSpPr>
          <p:nvPr>
            <p:ph type="title" hasCustomPrompt="1"/>
          </p:nvPr>
        </p:nvSpPr>
        <p:spPr/>
        <p:txBody>
          <a:bodyPr/>
          <a:lstStyle/>
          <a:p>
            <a:r>
              <a:rPr lang="zh-CN" altLang="en-US" dirty="0"/>
              <a:t>LLM-based Causal Knowledge Bootstrapping</a:t>
            </a:r>
            <a:endParaRPr 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C8BB1146-E542-4D4E-B8E9-6919A11DDD48}" type="slidenum">
              <a:rPr lang="en-US" smtClean="0"/>
            </a:fld>
            <a:endParaRPr lang="en-US"/>
          </a:p>
        </p:txBody>
      </p:sp>
      <p:sp>
        <p:nvSpPr>
          <p:cNvPr id="89" name="image"/>
          <p:cNvSpPr/>
          <p:nvPr/>
        </p:nvSpPr>
        <p:spPr>
          <a:xfrm>
            <a:off x="9035958" y="4916129"/>
            <a:ext cx="1753180" cy="909256"/>
          </a:xfrm>
          <a:prstGeom prst="roundRect">
            <a:avLst>
              <a:gd name="adj" fmla="val 1000"/>
            </a:avLst>
          </a:prstGeom>
          <a:blipFill>
            <a:blip r:embed="rId1"/>
            <a:stretch>
              <a:fillRect l="-6803" r="-680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image"/>
          <p:cNvSpPr/>
          <p:nvPr/>
        </p:nvSpPr>
        <p:spPr>
          <a:xfrm>
            <a:off x="6876859" y="4305329"/>
            <a:ext cx="1646401" cy="2143531"/>
          </a:xfrm>
          <a:prstGeom prst="roundRect">
            <a:avLst>
              <a:gd name="adj" fmla="val 1639"/>
            </a:avLst>
          </a:prstGeom>
          <a:blipFill>
            <a:blip r:embed="rId2"/>
            <a:stretch>
              <a:fillRect l="-2241" r="-224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3"/>
    </p:custData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4c6b0ccb-ae93-4394-9740-c228d42eccfe.source.2.zh-Hans.pptx"/>
          <p:cNvGrpSpPr/>
          <p:nvPr/>
        </p:nvGrpSpPr>
        <p:grpSpPr>
          <a:xfrm>
            <a:off x="660399" y="1130301"/>
            <a:ext cx="10858501" cy="5188584"/>
            <a:chOff x="660399" y="1130301"/>
            <a:chExt cx="10858501" cy="5188584"/>
          </a:xfrm>
        </p:grpSpPr>
        <p:cxnSp>
          <p:nvCxnSpPr>
            <p:cNvPr id="8" name="直接连接符 7"/>
            <p:cNvCxnSpPr/>
            <p:nvPr/>
          </p:nvCxnSpPr>
          <p:spPr>
            <a:xfrm>
              <a:off x="660400" y="2892458"/>
              <a:ext cx="10858500" cy="0"/>
            </a:xfrm>
            <a:prstGeom prst="line">
              <a:avLst/>
            </a:prstGeom>
            <a:ln w="6350" cap="flat" cmpd="sng" algn="ctr">
              <a:solidFill>
                <a:schemeClr val="tx1">
                  <a:alpha val="5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Title"/>
            <p:cNvSpPr>
              <a:spLocks noChangeAspect="1"/>
            </p:cNvSpPr>
            <p:nvPr/>
          </p:nvSpPr>
          <p:spPr>
            <a:xfrm>
              <a:off x="660400" y="1130301"/>
              <a:ext cx="10858500" cy="721620"/>
            </a:xfrm>
            <a:prstGeom prst="rect">
              <a:avLst/>
            </a:prstGeom>
            <a:noFill/>
          </p:spPr>
          <p:txBody>
            <a:bodyPr wrap="square" lIns="90000" tIns="46800" rIns="90000" bIns="46800" rtlCol="0" anchor="ctr" anchorCtr="0">
              <a:normAutofit/>
            </a:bodyPr>
            <a:lstStyle/>
            <a:p>
              <a:r>
                <a:rPr lang="zh-CN" altLang="en-US" sz="2000" b="1" dirty="0">
                  <a:solidFill>
                    <a:schemeClr val="tx1"/>
                  </a:solidFill>
                  <a:cs typeface="+mn-ea"/>
                  <a:sym typeface="+mn-lt"/>
                </a:rPr>
                <a:t>Continuously evolving the static MCG using real-world evidence from historical data to ensure reliability</a:t>
              </a:r>
              <a:endParaRPr lang="en-US" dirty="0"/>
            </a:p>
          </p:txBody>
        </p:sp>
        <p:grpSp>
          <p:nvGrpSpPr>
            <p:cNvPr id="16" name="组合 15"/>
            <p:cNvGrpSpPr/>
            <p:nvPr/>
          </p:nvGrpSpPr>
          <p:grpSpPr>
            <a:xfrm>
              <a:off x="660399" y="2619378"/>
              <a:ext cx="5196914" cy="3514722"/>
              <a:chOff x="660398" y="1893664"/>
              <a:chExt cx="3744770" cy="3514722"/>
            </a:xfrm>
          </p:grpSpPr>
          <p:sp>
            <p:nvSpPr>
              <p:cNvPr id="33" name="Number1"/>
              <p:cNvSpPr/>
              <p:nvPr/>
            </p:nvSpPr>
            <p:spPr>
              <a:xfrm>
                <a:off x="735226" y="1893664"/>
                <a:ext cx="548378" cy="546160"/>
              </a:xfrm>
              <a:prstGeom prst="chevron">
                <a:avLst>
                  <a:gd name="adj" fmla="val 332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dirty="0">
                    <a:cs typeface="+mn-ea"/>
                    <a:sym typeface="+mn-lt"/>
                  </a:rPr>
                  <a:t>1</a:t>
                </a:r>
                <a:endParaRPr lang="zh-CN" altLang="en-US" sz="1600" dirty="0">
                  <a:cs typeface="+mn-ea"/>
                  <a:sym typeface="+mn-lt"/>
                </a:endParaRPr>
              </a:p>
            </p:txBody>
          </p:sp>
          <p:sp>
            <p:nvSpPr>
              <p:cNvPr id="34" name="Bullet1"/>
              <p:cNvSpPr/>
              <p:nvPr/>
            </p:nvSpPr>
            <p:spPr>
              <a:xfrm flipH="1">
                <a:off x="660398" y="2735827"/>
                <a:ext cx="3744770" cy="564358"/>
              </a:xfrm>
              <a:prstGeom prst="roundRect">
                <a:avLst>
                  <a:gd name="adj" fmla="val 0"/>
                </a:avLst>
              </a:prstGeom>
              <a:no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1600" b="1" dirty="0">
                    <a:solidFill>
                      <a:schemeClr val="tx1"/>
                    </a:solidFill>
                    <a:cs typeface="+mn-ea"/>
                    <a:sym typeface="+mn-lt"/>
                  </a:rPr>
                  <a:t>The Limitation of Static Models and the Need for Evolution</a:t>
                </a:r>
                <a:endParaRPr lang="en-US" dirty="0"/>
              </a:p>
            </p:txBody>
          </p:sp>
          <p:sp>
            <p:nvSpPr>
              <p:cNvPr id="35" name="Text1"/>
              <p:cNvSpPr txBox="1"/>
              <p:nvPr/>
            </p:nvSpPr>
            <p:spPr>
              <a:xfrm flipH="1">
                <a:off x="660398" y="3357799"/>
                <a:ext cx="3744769" cy="2050587"/>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The skeleton MCG generated by LLMs is only a static and unverified theoretical model. To make it reliable, MetaRCA continuously evolves the MCG using real-world evidence from historical data.</a:t>
                </a:r>
                <a:endParaRPr lang="en-US" dirty="0"/>
              </a:p>
            </p:txBody>
          </p:sp>
        </p:grpSp>
        <p:grpSp>
          <p:nvGrpSpPr>
            <p:cNvPr id="17" name="组合 16"/>
            <p:cNvGrpSpPr/>
            <p:nvPr/>
          </p:nvGrpSpPr>
          <p:grpSpPr>
            <a:xfrm>
              <a:off x="6321986" y="2619378"/>
              <a:ext cx="5196914" cy="3699507"/>
              <a:chOff x="3311838" y="1893664"/>
              <a:chExt cx="3744770" cy="3699507"/>
            </a:xfrm>
          </p:grpSpPr>
          <p:sp>
            <p:nvSpPr>
              <p:cNvPr id="30" name="Number2"/>
              <p:cNvSpPr/>
              <p:nvPr/>
            </p:nvSpPr>
            <p:spPr>
              <a:xfrm>
                <a:off x="3386666" y="1893664"/>
                <a:ext cx="548378" cy="546160"/>
              </a:xfrm>
              <a:prstGeom prst="chevron">
                <a:avLst>
                  <a:gd name="adj" fmla="val 332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dirty="0">
                    <a:cs typeface="+mn-ea"/>
                    <a:sym typeface="+mn-lt"/>
                  </a:rPr>
                  <a:t>2</a:t>
                </a:r>
                <a:endParaRPr lang="zh-CN" altLang="en-US" sz="1600" dirty="0">
                  <a:cs typeface="+mn-ea"/>
                  <a:sym typeface="+mn-lt"/>
                </a:endParaRPr>
              </a:p>
            </p:txBody>
          </p:sp>
          <p:sp>
            <p:nvSpPr>
              <p:cNvPr id="31" name="Bullet2"/>
              <p:cNvSpPr/>
              <p:nvPr/>
            </p:nvSpPr>
            <p:spPr>
              <a:xfrm flipH="1">
                <a:off x="3311838" y="2888227"/>
                <a:ext cx="3744770" cy="564358"/>
              </a:xfrm>
              <a:prstGeom prst="roundRect">
                <a:avLst>
                  <a:gd name="adj" fmla="val 0"/>
                </a:avLst>
              </a:prstGeom>
              <a:no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1600" b="1" dirty="0">
                    <a:solidFill>
                      <a:schemeClr val="tx1"/>
                    </a:solidFill>
                    <a:cs typeface="+mn-ea"/>
                    <a:sym typeface="+mn-lt"/>
                  </a:rPr>
                  <a:t>Overall Workflow of Evidence-Based Evolution</a:t>
                </a:r>
                <a:endParaRPr lang="en-US" dirty="0"/>
              </a:p>
            </p:txBody>
          </p:sp>
          <p:sp>
            <p:nvSpPr>
              <p:cNvPr id="32" name="Text2"/>
              <p:cNvSpPr txBox="1"/>
              <p:nvPr/>
            </p:nvSpPr>
            <p:spPr>
              <a:xfrm flipH="1">
                <a:off x="3311838" y="3542584"/>
                <a:ext cx="3744769" cy="2050587"/>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a:lnSpc>
                    <a:spcPct val="120000"/>
                  </a:lnSpc>
                </a:pPr>
                <a:r>
                  <a:rPr lang="zh-CN" altLang="en-US" sz="1200" baseline="0" dirty="0">
                    <a:solidFill>
                      <a:schemeClr val="tx1"/>
                    </a:solidFill>
                  </a:rPr>
                  <a:t>Raw Historical Data ↓ </a:t>
                </a:r>
                <a:endParaRPr lang="zh-CN" altLang="en-US" dirty="0"/>
              </a:p>
              <a:p>
                <a:pPr marL="0" marR="0" lvl="0" indent="0" algn="l">
                  <a:lnSpc>
                    <a:spcPct val="120000"/>
                  </a:lnSpc>
                </a:pPr>
                <a:r>
                  <a:rPr lang="zh-CN" altLang="en-US" sz="1200" baseline="0" dirty="0">
                    <a:solidFill>
                      <a:schemeClr val="tx1"/>
                    </a:solidFill>
                  </a:rPr>
                  <a:t>Evidence Extraction ↓ </a:t>
                </a:r>
                <a:endParaRPr lang="zh-CN" altLang="en-US" dirty="0"/>
              </a:p>
              <a:p>
                <a:pPr marL="0" marR="0" lvl="0" indent="0" algn="l">
                  <a:lnSpc>
                    <a:spcPct val="120000"/>
                  </a:lnSpc>
                </a:pPr>
                <a:r>
                  <a:rPr lang="zh-CN" altLang="en-US" sz="1200" baseline="0" dirty="0">
                    <a:solidFill>
                      <a:schemeClr val="tx1"/>
                    </a:solidFill>
                  </a:rPr>
                  <a:t>Evidence Alignment ↓</a:t>
                </a:r>
                <a:endParaRPr lang="zh-CN" altLang="en-US" dirty="0"/>
              </a:p>
              <a:p>
                <a:pPr marL="0" marR="0" lvl="0" indent="0" algn="l">
                  <a:lnSpc>
                    <a:spcPct val="120000"/>
                  </a:lnSpc>
                </a:pPr>
                <a:r>
                  <a:rPr lang="zh-CN" altLang="en-US" sz="1200" baseline="0" dirty="0">
                    <a:solidFill>
                      <a:schemeClr val="tx1"/>
                    </a:solidFill>
                  </a:rPr>
                  <a:t>Structured Evidence Units ↓ </a:t>
                </a:r>
                <a:endParaRPr lang="zh-CN" altLang="en-US" dirty="0"/>
              </a:p>
              <a:p>
                <a:pPr marL="0" marR="0" lvl="0" indent="0" algn="l">
                  <a:lnSpc>
                    <a:spcPct val="120000"/>
                  </a:lnSpc>
                </a:pPr>
                <a:r>
                  <a:rPr lang="zh-CN" altLang="en-US" sz="1200" baseline="0" dirty="0">
                    <a:solidFill>
                      <a:schemeClr val="tx1"/>
                    </a:solidFill>
                  </a:rPr>
                  <a:t>Bayesian Belief Evolution ↓ </a:t>
                </a:r>
                <a:endParaRPr lang="zh-CN" altLang="en-US" dirty="0"/>
              </a:p>
              <a:p>
                <a:pPr marL="0" marR="0" lvl="0" indent="0" algn="l">
                  <a:lnSpc>
                    <a:spcPct val="120000"/>
                  </a:lnSpc>
                </a:pPr>
                <a:r>
                  <a:rPr lang="zh-CN" altLang="en-US" sz="1200" baseline="0" dirty="0">
                    <a:solidFill>
                      <a:schemeClr val="tx1"/>
                    </a:solidFill>
                  </a:rPr>
                  <a:t>Evolved MCG</a:t>
                </a:r>
                <a:endParaRPr lang="zh-CN" altLang="en-US" dirty="0"/>
              </a:p>
            </p:txBody>
          </p:sp>
        </p:grpSp>
      </p:grpSp>
      <p:sp>
        <p:nvSpPr>
          <p:cNvPr id="3" name="标题 2"/>
          <p:cNvSpPr>
            <a:spLocks noGrp="1"/>
          </p:cNvSpPr>
          <p:nvPr>
            <p:ph type="title" hasCustomPrompt="1"/>
          </p:nvPr>
        </p:nvSpPr>
        <p:spPr/>
        <p:txBody>
          <a:bodyPr/>
          <a:lstStyle/>
          <a:p>
            <a:r>
              <a:rPr lang="zh-CN" altLang="en-US" dirty="0"/>
              <a:t>Meta Causal Graph Evolution</a:t>
            </a:r>
            <a:endParaRPr lang="en-US" dirty="0"/>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C8BB1146-E542-4D4E-B8E9-6919A11DDD48}" type="slidenum">
              <a:rPr lang="en-US" smtClean="0"/>
            </a:fld>
            <a:endParaRPr lang="en-US"/>
          </a:p>
        </p:txBody>
      </p:sp>
      <p:pic>
        <p:nvPicPr>
          <p:cNvPr id="7" name="图片 6"/>
          <p:cNvPicPr>
            <a:picLocks noChangeAspect="1"/>
          </p:cNvPicPr>
          <p:nvPr/>
        </p:nvPicPr>
        <p:blipFill>
          <a:blip r:embed="rId1"/>
          <a:stretch>
            <a:fillRect/>
          </a:stretch>
        </p:blipFill>
        <p:spPr>
          <a:xfrm>
            <a:off x="7952740" y="1447800"/>
            <a:ext cx="3916680" cy="2255520"/>
          </a:xfrm>
          <a:prstGeom prst="rect">
            <a:avLst/>
          </a:prstGeom>
        </p:spPr>
      </p:pic>
    </p:spTree>
    <p:custDataLst>
      <p:tags r:id="rId2"/>
    </p:custData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1ef6e67f-bf63-4fd4-8f20-c69f13e563ff.source.3.zh-Hans.pptx"/>
          <p:cNvGrpSpPr/>
          <p:nvPr/>
        </p:nvGrpSpPr>
        <p:grpSpPr>
          <a:xfrm>
            <a:off x="-3" y="1130300"/>
            <a:ext cx="11518903" cy="5003800"/>
            <a:chOff x="-3" y="1130300"/>
            <a:chExt cx="11518903" cy="5003800"/>
          </a:xfrm>
        </p:grpSpPr>
        <p:sp>
          <p:nvSpPr>
            <p:cNvPr id="24" name="Title"/>
            <p:cNvSpPr txBox="1"/>
            <p:nvPr/>
          </p:nvSpPr>
          <p:spPr>
            <a:xfrm>
              <a:off x="660400" y="1130300"/>
              <a:ext cx="10858500" cy="523220"/>
            </a:xfrm>
            <a:prstGeom prst="rect">
              <a:avLst/>
            </a:prstGeom>
            <a:noFill/>
          </p:spPr>
          <p:txBody>
            <a:bodyPr wrap="square" lIns="91440" tIns="45720" rIns="91440" bIns="45720" rtlCol="0" anchor="ctr" anchorCtr="0">
              <a:norm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spcBef>
                  <a:spcPts val="0"/>
                </a:spcBef>
                <a:spcAft>
                  <a:spcPts val="100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Extracting structured case evidence from historical failure reports using a two-stage LLM prompting strategy</a:t>
              </a:r>
              <a:endParaRPr lang="en-US" dirty="0"/>
            </a:p>
          </p:txBody>
        </p:sp>
        <p:grpSp>
          <p:nvGrpSpPr>
            <p:cNvPr id="30" name="组合 29"/>
            <p:cNvGrpSpPr/>
            <p:nvPr/>
          </p:nvGrpSpPr>
          <p:grpSpPr>
            <a:xfrm>
              <a:off x="660400" y="1727200"/>
              <a:ext cx="4421930" cy="1881716"/>
              <a:chOff x="660400" y="1727200"/>
              <a:chExt cx="4421930" cy="1881716"/>
            </a:xfrm>
          </p:grpSpPr>
          <p:sp>
            <p:nvSpPr>
              <p:cNvPr id="8" name="Bullet1"/>
              <p:cNvSpPr txBox="1"/>
              <p:nvPr/>
            </p:nvSpPr>
            <p:spPr>
              <a:xfrm>
                <a:off x="660400" y="1727200"/>
                <a:ext cx="4421930" cy="468737"/>
              </a:xfrm>
              <a:prstGeom prst="rect">
                <a:avLst/>
              </a:prstGeom>
              <a:noFill/>
            </p:spPr>
            <p:txBody>
              <a:bodyPr wrap="square" lIns="91440" tIns="45720" rIns="91440" bIns="45720" anchor="ctr" anchorCtr="0">
                <a:normAutofit/>
              </a:bodyPr>
              <a:lstStyle/>
              <a:p>
                <a:pPr>
                  <a:lnSpc>
                    <a:spcPct val="120000"/>
                  </a:lnSpc>
                </a:pPr>
                <a:r>
                  <a:rPr lang="zh-CN" altLang="en-US" sz="1600" b="1" dirty="0">
                    <a:latin typeface="Arial" panose="020B0604020202020204" pitchFamily="34" charset="0"/>
                    <a:ea typeface="微软雅黑" panose="020B0503020204020204" pitchFamily="34" charset="-122"/>
                    <a:cs typeface="+mn-ea"/>
                    <a:sym typeface="Arial" panose="020B0604020202020204" pitchFamily="34" charset="0"/>
                  </a:rPr>
                  <a:t>Stage 1: Causal Entity Extraction</a:t>
                </a:r>
                <a:endParaRPr lang="en-US" dirty="0"/>
              </a:p>
            </p:txBody>
          </p:sp>
          <p:sp>
            <p:nvSpPr>
              <p:cNvPr id="9" name="Text1"/>
              <p:cNvSpPr/>
              <p:nvPr/>
            </p:nvSpPr>
            <p:spPr>
              <a:xfrm>
                <a:off x="660400" y="2195936"/>
                <a:ext cx="4421930" cy="996209"/>
              </a:xfrm>
              <a:prstGeom prst="rect">
                <a:avLst/>
              </a:prstGeom>
              <a:ln>
                <a:noFill/>
              </a:ln>
            </p:spPr>
            <p:txBody>
              <a:bodyPr wrap="square" lIns="91440" tIns="45720" rIns="91440" bIns="45720" anchor="t" anchorCtr="0">
                <a:normAutofit/>
              </a:bodyPr>
              <a:lstStyle/>
              <a:p>
                <a:pPr>
                  <a:lnSpc>
                    <a:spcPct val="120000"/>
                  </a:lnSpc>
                </a:pP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The LLM identifies: Component entities, Metric entities, Causal relationships from the failure symptom and root cause analysis sections.</a:t>
                </a:r>
                <a:endParaRPr lang="en-US" dirty="0"/>
              </a:p>
            </p:txBody>
          </p:sp>
          <p:sp>
            <p:nvSpPr>
              <p:cNvPr id="19" name="Number1"/>
              <p:cNvSpPr txBox="1"/>
              <p:nvPr/>
            </p:nvSpPr>
            <p:spPr>
              <a:xfrm>
                <a:off x="2533420" y="3239584"/>
                <a:ext cx="596515" cy="369332"/>
              </a:xfrm>
              <a:prstGeom prst="chevron">
                <a:avLst>
                  <a:gd name="adj" fmla="val 47600"/>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en-US"/>
                </a:defPPr>
                <a:lvl1pPr marL="342900" indent="-342900" algn="ctr" defTabSz="895350">
                  <a:lnSpc>
                    <a:spcPct val="110000"/>
                  </a:lnSpc>
                  <a:buSzPct val="120000"/>
                  <a:defRPr sz="1600" b="1">
                    <a:solidFill>
                      <a:srgbClr val="FFFFFF"/>
                    </a:solidFill>
                    <a:latin typeface="Arial" panose="020B0604020202020204" pitchFamily="34" charset="0"/>
                    <a:ea typeface="微软雅黑" panose="020B0503020204020204" pitchFamily="3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Arial" panose="020B0604020202020204" pitchFamily="34" charset="0"/>
                  </a:rPr>
                  <a:t>1</a:t>
                </a:r>
                <a:endParaRPr lang="en-US" altLang="zh-CN" dirty="0">
                  <a:sym typeface="Arial" panose="020B0604020202020204" pitchFamily="34" charset="0"/>
                </a:endParaRPr>
              </a:p>
            </p:txBody>
          </p:sp>
        </p:grpSp>
        <p:grpSp>
          <p:nvGrpSpPr>
            <p:cNvPr id="31" name="组合 30"/>
            <p:cNvGrpSpPr/>
            <p:nvPr/>
          </p:nvGrpSpPr>
          <p:grpSpPr>
            <a:xfrm>
              <a:off x="3845084" y="4209733"/>
              <a:ext cx="4421930" cy="1924367"/>
              <a:chOff x="3845084" y="4209733"/>
              <a:chExt cx="4421930" cy="1924367"/>
            </a:xfrm>
          </p:grpSpPr>
          <p:sp>
            <p:nvSpPr>
              <p:cNvPr id="21" name="Number2"/>
              <p:cNvSpPr txBox="1"/>
              <p:nvPr/>
            </p:nvSpPr>
            <p:spPr>
              <a:xfrm>
                <a:off x="5778550" y="4209733"/>
                <a:ext cx="596515" cy="369332"/>
              </a:xfrm>
              <a:prstGeom prst="chevron">
                <a:avLst>
                  <a:gd name="adj" fmla="val 47600"/>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en-US"/>
                </a:defPPr>
                <a:lvl1pPr marL="342900" indent="-342900" algn="ctr" defTabSz="895350">
                  <a:lnSpc>
                    <a:spcPct val="110000"/>
                  </a:lnSpc>
                  <a:buSzPct val="120000"/>
                  <a:defRPr sz="1600" b="1">
                    <a:solidFill>
                      <a:srgbClr val="FFFFFF"/>
                    </a:solidFill>
                    <a:latin typeface="Arial" panose="020B0604020202020204" pitchFamily="34" charset="0"/>
                    <a:ea typeface="微软雅黑" panose="020B0503020204020204" pitchFamily="3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Arial" panose="020B0604020202020204" pitchFamily="34" charset="0"/>
                  </a:rPr>
                  <a:t>2</a:t>
                </a:r>
                <a:endParaRPr lang="en-US" altLang="zh-CN" dirty="0">
                  <a:sym typeface="Arial" panose="020B0604020202020204" pitchFamily="34" charset="0"/>
                </a:endParaRPr>
              </a:p>
            </p:txBody>
          </p:sp>
          <p:sp>
            <p:nvSpPr>
              <p:cNvPr id="12" name="Bullet2"/>
              <p:cNvSpPr txBox="1"/>
              <p:nvPr/>
            </p:nvSpPr>
            <p:spPr>
              <a:xfrm>
                <a:off x="3845084" y="4669155"/>
                <a:ext cx="4421930" cy="468737"/>
              </a:xfrm>
              <a:prstGeom prst="rect">
                <a:avLst/>
              </a:prstGeom>
              <a:noFill/>
            </p:spPr>
            <p:txBody>
              <a:bodyPr wrap="square" lIns="91440" tIns="45720" rIns="91440" bIns="45720" anchor="ctr" anchorCtr="0">
                <a:normAutofit/>
              </a:bodyPr>
              <a:lstStyle/>
              <a:p>
                <a:pPr>
                  <a:lnSpc>
                    <a:spcPct val="120000"/>
                  </a:lnSpc>
                </a:pPr>
                <a:r>
                  <a:rPr lang="zh-CN" altLang="en-US" sz="1600" b="1" dirty="0">
                    <a:latin typeface="Arial" panose="020B0604020202020204" pitchFamily="34" charset="0"/>
                    <a:ea typeface="微软雅黑" panose="020B0503020204020204" pitchFamily="34" charset="-122"/>
                    <a:cs typeface="+mn-ea"/>
                    <a:sym typeface="Arial" panose="020B0604020202020204" pitchFamily="34" charset="0"/>
                  </a:rPr>
                  <a:t>Stage 2: Metric Semantic Alignment</a:t>
                </a:r>
                <a:endParaRPr lang="en-US" dirty="0"/>
              </a:p>
            </p:txBody>
          </p:sp>
          <p:sp>
            <p:nvSpPr>
              <p:cNvPr id="13" name="Text2"/>
              <p:cNvSpPr/>
              <p:nvPr/>
            </p:nvSpPr>
            <p:spPr>
              <a:xfrm>
                <a:off x="3845084" y="5137891"/>
                <a:ext cx="4421930" cy="996209"/>
              </a:xfrm>
              <a:prstGeom prst="rect">
                <a:avLst/>
              </a:prstGeom>
              <a:ln>
                <a:noFill/>
              </a:ln>
            </p:spPr>
            <p:txBody>
              <a:bodyPr wrap="square" lIns="91440" tIns="45720" rIns="91440" bIns="45720" anchor="t" anchorCtr="0">
                <a:normAutofit/>
              </a:bodyPr>
              <a:lstStyle/>
              <a:p>
                <a:pPr>
                  <a:lnSpc>
                    <a:spcPct val="120000"/>
                  </a:lnSpc>
                </a:pP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A constrained prompt aligns extracted entities with the Metadata Ontology: Standard component types, Standard metric names.</a:t>
                </a:r>
                <a:endParaRPr lang="en-US" dirty="0"/>
              </a:p>
            </p:txBody>
          </p:sp>
        </p:grpSp>
        <p:sp>
          <p:nvSpPr>
            <p:cNvPr id="27" name="任意多边形: 形状 26"/>
            <p:cNvSpPr/>
            <p:nvPr/>
          </p:nvSpPr>
          <p:spPr>
            <a:xfrm rot="16200000" flipV="1">
              <a:off x="5228878" y="3243370"/>
              <a:ext cx="342744" cy="1526641"/>
            </a:xfrm>
            <a:custGeom>
              <a:avLst/>
              <a:gdLst>
                <a:gd name="connsiteX0" fmla="*/ 217175 w 342744"/>
                <a:gd name="connsiteY0" fmla="*/ 1526641 h 1526641"/>
                <a:gd name="connsiteX1" fmla="*/ 217175 w 342744"/>
                <a:gd name="connsiteY1" fmla="*/ 59972 h 1526641"/>
                <a:gd name="connsiteX2" fmla="*/ 171371 w 342744"/>
                <a:gd name="connsiteY2" fmla="*/ 50725 h 1526641"/>
                <a:gd name="connsiteX3" fmla="*/ 110021 w 342744"/>
                <a:gd name="connsiteY3" fmla="*/ 50726 h 1526641"/>
                <a:gd name="connsiteX4" fmla="*/ 110021 w 342744"/>
                <a:gd name="connsiteY4" fmla="*/ 0 h 1526641"/>
                <a:gd name="connsiteX5" fmla="*/ 0 w 342744"/>
                <a:gd name="connsiteY5" fmla="*/ 113792 h 1526641"/>
                <a:gd name="connsiteX6" fmla="*/ 110021 w 342744"/>
                <a:gd name="connsiteY6" fmla="*/ 227582 h 1526641"/>
                <a:gd name="connsiteX7" fmla="*/ 110021 w 342744"/>
                <a:gd name="connsiteY7" fmla="*/ 176856 h 1526641"/>
                <a:gd name="connsiteX8" fmla="*/ 171371 w 342744"/>
                <a:gd name="connsiteY8" fmla="*/ 176856 h 1526641"/>
                <a:gd name="connsiteX9" fmla="*/ 216613 w 342744"/>
                <a:gd name="connsiteY9" fmla="*/ 222098 h 1526641"/>
                <a:gd name="connsiteX10" fmla="*/ 216614 w 342744"/>
                <a:gd name="connsiteY10" fmla="*/ 1526641 h 1526641"/>
                <a:gd name="connsiteX11" fmla="*/ 342744 w 342744"/>
                <a:gd name="connsiteY11" fmla="*/ 1526641 h 1526641"/>
                <a:gd name="connsiteX12" fmla="*/ 342744 w 342744"/>
                <a:gd name="connsiteY12" fmla="*/ 222098 h 1526641"/>
                <a:gd name="connsiteX13" fmla="*/ 238078 w 342744"/>
                <a:gd name="connsiteY13" fmla="*/ 64193 h 1526641"/>
                <a:gd name="connsiteX14" fmla="*/ 217176 w 342744"/>
                <a:gd name="connsiteY14" fmla="*/ 59973 h 1526641"/>
                <a:gd name="connsiteX15" fmla="*/ 217176 w 342744"/>
                <a:gd name="connsiteY15" fmla="*/ 1526641 h 1526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2744" h="1526641">
                  <a:moveTo>
                    <a:pt x="217175" y="1526641"/>
                  </a:moveTo>
                  <a:lnTo>
                    <a:pt x="217175" y="59972"/>
                  </a:lnTo>
                  <a:lnTo>
                    <a:pt x="171371" y="50725"/>
                  </a:lnTo>
                  <a:lnTo>
                    <a:pt x="110021" y="50726"/>
                  </a:lnTo>
                  <a:lnTo>
                    <a:pt x="110021" y="0"/>
                  </a:lnTo>
                  <a:lnTo>
                    <a:pt x="0" y="113792"/>
                  </a:lnTo>
                  <a:lnTo>
                    <a:pt x="110021" y="227582"/>
                  </a:lnTo>
                  <a:lnTo>
                    <a:pt x="110021" y="176856"/>
                  </a:lnTo>
                  <a:lnTo>
                    <a:pt x="171371" y="176856"/>
                  </a:lnTo>
                  <a:cubicBezTo>
                    <a:pt x="196357" y="176856"/>
                    <a:pt x="216613" y="197112"/>
                    <a:pt x="216613" y="222098"/>
                  </a:cubicBezTo>
                  <a:cubicBezTo>
                    <a:pt x="216613" y="656946"/>
                    <a:pt x="216614" y="1091793"/>
                    <a:pt x="216614" y="1526641"/>
                  </a:cubicBezTo>
                  <a:close/>
                  <a:moveTo>
                    <a:pt x="342744" y="1526641"/>
                  </a:moveTo>
                  <a:lnTo>
                    <a:pt x="342744" y="222098"/>
                  </a:lnTo>
                  <a:cubicBezTo>
                    <a:pt x="342744" y="151114"/>
                    <a:pt x="299586" y="90209"/>
                    <a:pt x="238078" y="64193"/>
                  </a:cubicBezTo>
                  <a:lnTo>
                    <a:pt x="217176" y="59973"/>
                  </a:lnTo>
                  <a:lnTo>
                    <a:pt x="217176" y="1526641"/>
                  </a:lnTo>
                  <a:close/>
                </a:path>
              </a:pathLst>
            </a:custGeom>
            <a:solidFill>
              <a:schemeClr val="tx1">
                <a:alpha val="15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任意多边形: 形状 24"/>
            <p:cNvSpPr/>
            <p:nvPr/>
          </p:nvSpPr>
          <p:spPr>
            <a:xfrm rot="16200000" flipV="1">
              <a:off x="5870975" y="483186"/>
              <a:ext cx="342743" cy="6612659"/>
            </a:xfrm>
            <a:custGeom>
              <a:avLst/>
              <a:gdLst>
                <a:gd name="connsiteX0" fmla="*/ 342743 w 342743"/>
                <a:gd name="connsiteY0" fmla="*/ 113791 h 6612659"/>
                <a:gd name="connsiteX1" fmla="*/ 232722 w 342743"/>
                <a:gd name="connsiteY1" fmla="*/ 0 h 6612659"/>
                <a:gd name="connsiteX2" fmla="*/ 232722 w 342743"/>
                <a:gd name="connsiteY2" fmla="*/ 50726 h 6612659"/>
                <a:gd name="connsiteX3" fmla="*/ 171372 w 342743"/>
                <a:gd name="connsiteY3" fmla="*/ 50725 h 6612659"/>
                <a:gd name="connsiteX4" fmla="*/ 0 w 342743"/>
                <a:gd name="connsiteY4" fmla="*/ 222097 h 6612659"/>
                <a:gd name="connsiteX5" fmla="*/ 0 w 342743"/>
                <a:gd name="connsiteY5" fmla="*/ 3245078 h 6612659"/>
                <a:gd name="connsiteX6" fmla="*/ 20902 w 342743"/>
                <a:gd name="connsiteY6" fmla="*/ 3249298 h 6612659"/>
                <a:gd name="connsiteX7" fmla="*/ 125568 w 342743"/>
                <a:gd name="connsiteY7" fmla="*/ 3407203 h 6612659"/>
                <a:gd name="connsiteX8" fmla="*/ 125568 w 342743"/>
                <a:gd name="connsiteY8" fmla="*/ 4711746 h 6612659"/>
                <a:gd name="connsiteX9" fmla="*/ 0 w 342743"/>
                <a:gd name="connsiteY9" fmla="*/ 4711746 h 6612659"/>
                <a:gd name="connsiteX10" fmla="*/ 0 w 342743"/>
                <a:gd name="connsiteY10" fmla="*/ 6612659 h 6612659"/>
                <a:gd name="connsiteX11" fmla="*/ 104665 w 342743"/>
                <a:gd name="connsiteY11" fmla="*/ 6454755 h 6612659"/>
                <a:gd name="connsiteX12" fmla="*/ 126129 w 342743"/>
                <a:gd name="connsiteY12" fmla="*/ 6450422 h 6612659"/>
                <a:gd name="connsiteX13" fmla="*/ 126130 w 342743"/>
                <a:gd name="connsiteY13" fmla="*/ 222097 h 6612659"/>
                <a:gd name="connsiteX14" fmla="*/ 171372 w 342743"/>
                <a:gd name="connsiteY14" fmla="*/ 176855 h 6612659"/>
                <a:gd name="connsiteX15" fmla="*/ 232722 w 342743"/>
                <a:gd name="connsiteY15" fmla="*/ 176855 h 6612659"/>
                <a:gd name="connsiteX16" fmla="*/ 232722 w 342743"/>
                <a:gd name="connsiteY16" fmla="*/ 227581 h 6612659"/>
                <a:gd name="connsiteX17" fmla="*/ 342743 w 342743"/>
                <a:gd name="connsiteY17" fmla="*/ 113791 h 6612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2743" h="6612659">
                  <a:moveTo>
                    <a:pt x="342743" y="113791"/>
                  </a:moveTo>
                  <a:lnTo>
                    <a:pt x="232722" y="0"/>
                  </a:lnTo>
                  <a:lnTo>
                    <a:pt x="232722" y="50726"/>
                  </a:lnTo>
                  <a:lnTo>
                    <a:pt x="171372" y="50725"/>
                  </a:lnTo>
                  <a:cubicBezTo>
                    <a:pt x="76726" y="50725"/>
                    <a:pt x="0" y="127451"/>
                    <a:pt x="0" y="222097"/>
                  </a:cubicBezTo>
                  <a:lnTo>
                    <a:pt x="0" y="3245078"/>
                  </a:lnTo>
                  <a:lnTo>
                    <a:pt x="20902" y="3249298"/>
                  </a:lnTo>
                  <a:cubicBezTo>
                    <a:pt x="82410" y="3275314"/>
                    <a:pt x="125568" y="3336219"/>
                    <a:pt x="125568" y="3407203"/>
                  </a:cubicBezTo>
                  <a:lnTo>
                    <a:pt x="125568" y="4711746"/>
                  </a:lnTo>
                  <a:lnTo>
                    <a:pt x="0" y="4711746"/>
                  </a:lnTo>
                  <a:lnTo>
                    <a:pt x="0" y="6612659"/>
                  </a:lnTo>
                  <a:cubicBezTo>
                    <a:pt x="0" y="6541675"/>
                    <a:pt x="43158" y="6480771"/>
                    <a:pt x="104665" y="6454755"/>
                  </a:cubicBezTo>
                  <a:lnTo>
                    <a:pt x="126129" y="6450422"/>
                  </a:lnTo>
                  <a:lnTo>
                    <a:pt x="126130" y="222097"/>
                  </a:lnTo>
                  <a:cubicBezTo>
                    <a:pt x="126130" y="197111"/>
                    <a:pt x="146386" y="176855"/>
                    <a:pt x="171372" y="176855"/>
                  </a:cubicBezTo>
                  <a:lnTo>
                    <a:pt x="232722" y="176855"/>
                  </a:lnTo>
                  <a:lnTo>
                    <a:pt x="232722" y="227581"/>
                  </a:lnTo>
                  <a:lnTo>
                    <a:pt x="342743" y="113791"/>
                  </a:lnTo>
                  <a:close/>
                </a:path>
              </a:pathLst>
            </a:custGeom>
            <a:solidFill>
              <a:schemeClr val="tx1">
                <a:alpha val="15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任意多边形: 形状 19"/>
            <p:cNvSpPr/>
            <p:nvPr/>
          </p:nvSpPr>
          <p:spPr>
            <a:xfrm rot="16200000" flipV="1">
              <a:off x="652027" y="3182727"/>
              <a:ext cx="126129" cy="1430189"/>
            </a:xfrm>
            <a:custGeom>
              <a:avLst/>
              <a:gdLst>
                <a:gd name="connsiteX0" fmla="*/ 126129 w 126129"/>
                <a:gd name="connsiteY0" fmla="*/ 1612901 h 1612901"/>
                <a:gd name="connsiteX1" fmla="*/ 126129 w 126129"/>
                <a:gd name="connsiteY1" fmla="*/ 0 h 1612901"/>
                <a:gd name="connsiteX2" fmla="*/ 0 w 126129"/>
                <a:gd name="connsiteY2" fmla="*/ 0 h 1612901"/>
                <a:gd name="connsiteX3" fmla="*/ 0 w 126129"/>
                <a:gd name="connsiteY3" fmla="*/ 1612901 h 1612901"/>
                <a:gd name="connsiteX4" fmla="*/ 126129 w 126129"/>
                <a:gd name="connsiteY4" fmla="*/ 1612901 h 161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129" h="1612901">
                  <a:moveTo>
                    <a:pt x="126129" y="1612901"/>
                  </a:moveTo>
                  <a:lnTo>
                    <a:pt x="126129" y="0"/>
                  </a:lnTo>
                  <a:lnTo>
                    <a:pt x="0" y="0"/>
                  </a:lnTo>
                  <a:lnTo>
                    <a:pt x="0" y="1612901"/>
                  </a:lnTo>
                  <a:lnTo>
                    <a:pt x="126129" y="1612901"/>
                  </a:lnTo>
                  <a:close/>
                </a:path>
              </a:pathLst>
            </a:custGeom>
            <a:solidFill>
              <a:schemeClr val="tx1">
                <a:alpha val="15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32" name="组合 31"/>
            <p:cNvGrpSpPr/>
            <p:nvPr/>
          </p:nvGrpSpPr>
          <p:grpSpPr>
            <a:xfrm>
              <a:off x="7067868" y="1727200"/>
              <a:ext cx="4421930" cy="1881716"/>
              <a:chOff x="7067868" y="1727200"/>
              <a:chExt cx="4421930" cy="1881716"/>
            </a:xfrm>
          </p:grpSpPr>
          <p:sp>
            <p:nvSpPr>
              <p:cNvPr id="22" name="Number3"/>
              <p:cNvSpPr txBox="1"/>
              <p:nvPr/>
            </p:nvSpPr>
            <p:spPr>
              <a:xfrm>
                <a:off x="8862881" y="3239584"/>
                <a:ext cx="596515" cy="369332"/>
              </a:xfrm>
              <a:prstGeom prst="chevron">
                <a:avLst>
                  <a:gd name="adj" fmla="val 47600"/>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en-US"/>
                </a:defPPr>
                <a:lvl1pPr marL="342900" indent="-342900" algn="ctr" defTabSz="895350">
                  <a:lnSpc>
                    <a:spcPct val="110000"/>
                  </a:lnSpc>
                  <a:buSzPct val="120000"/>
                  <a:defRPr sz="1600" b="1">
                    <a:solidFill>
                      <a:srgbClr val="FFFFFF"/>
                    </a:solidFill>
                    <a:latin typeface="Arial" panose="020B0604020202020204" pitchFamily="34" charset="0"/>
                    <a:ea typeface="微软雅黑" panose="020B0503020204020204" pitchFamily="34" charset="-122"/>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Arial" panose="020B0604020202020204" pitchFamily="34" charset="0"/>
                  </a:rPr>
                  <a:t>3</a:t>
                </a:r>
                <a:endParaRPr lang="en-US" altLang="zh-CN" dirty="0">
                  <a:sym typeface="Arial" panose="020B0604020202020204" pitchFamily="34" charset="0"/>
                </a:endParaRPr>
              </a:p>
            </p:txBody>
          </p:sp>
          <p:sp>
            <p:nvSpPr>
              <p:cNvPr id="15" name="Bullet3"/>
              <p:cNvSpPr txBox="1"/>
              <p:nvPr/>
            </p:nvSpPr>
            <p:spPr>
              <a:xfrm>
                <a:off x="7067868" y="1727200"/>
                <a:ext cx="4421930" cy="468737"/>
              </a:xfrm>
              <a:prstGeom prst="rect">
                <a:avLst/>
              </a:prstGeom>
              <a:noFill/>
            </p:spPr>
            <p:txBody>
              <a:bodyPr wrap="square" lIns="91440" tIns="45720" rIns="91440" bIns="45720" anchor="ctr" anchorCtr="0">
                <a:normAutofit/>
              </a:bodyPr>
              <a:lstStyle/>
              <a:p>
                <a:pPr>
                  <a:lnSpc>
                    <a:spcPct val="120000"/>
                  </a:lnSpc>
                </a:pPr>
                <a:r>
                  <a:rPr lang="zh-CN" altLang="en-US" sz="1600" b="1" dirty="0">
                    <a:latin typeface="Arial" panose="020B0604020202020204" pitchFamily="34" charset="0"/>
                    <a:ea typeface="微软雅黑" panose="020B0503020204020204" pitchFamily="34" charset="-122"/>
                    <a:cs typeface="+mn-ea"/>
                    <a:sym typeface="Arial" panose="020B0604020202020204" pitchFamily="34" charset="0"/>
                  </a:rPr>
                  <a:t>Output Format</a:t>
                </a:r>
                <a:endParaRPr lang="en-US" dirty="0"/>
              </a:p>
            </p:txBody>
          </p:sp>
          <p:sp>
            <p:nvSpPr>
              <p:cNvPr id="16" name="Text3"/>
              <p:cNvSpPr/>
              <p:nvPr/>
            </p:nvSpPr>
            <p:spPr>
              <a:xfrm>
                <a:off x="7067868" y="2195936"/>
                <a:ext cx="4421930" cy="996209"/>
              </a:xfrm>
              <a:prstGeom prst="rect">
                <a:avLst/>
              </a:prstGeom>
              <a:ln>
                <a:noFill/>
              </a:ln>
            </p:spPr>
            <p:txBody>
              <a:bodyPr wrap="square" lIns="91440" tIns="45720" rIns="91440" bIns="45720" anchor="t" anchorCtr="0">
                <a:normAutofit/>
              </a:bodyPr>
              <a:lstStyle/>
              <a:p>
                <a:pPr>
                  <a:lnSpc>
                    <a:spcPct val="120000"/>
                  </a:lnSpc>
                </a:pP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Each case evidence unit is represented as: {cause component, cause metric} → {effect component, effect metric} * report timestamp</a:t>
                </a:r>
                <a:endParaRPr lang="en-US" dirty="0"/>
              </a:p>
            </p:txBody>
          </p:sp>
        </p:grpSp>
        <p:sp>
          <p:nvSpPr>
            <p:cNvPr id="28" name="任意多边形: 形状 27"/>
            <p:cNvSpPr/>
            <p:nvPr/>
          </p:nvSpPr>
          <p:spPr>
            <a:xfrm rot="5400000">
              <a:off x="2022136" y="3026196"/>
              <a:ext cx="342744" cy="1526641"/>
            </a:xfrm>
            <a:custGeom>
              <a:avLst/>
              <a:gdLst>
                <a:gd name="connsiteX0" fmla="*/ 217175 w 342744"/>
                <a:gd name="connsiteY0" fmla="*/ 1526641 h 1526641"/>
                <a:gd name="connsiteX1" fmla="*/ 217175 w 342744"/>
                <a:gd name="connsiteY1" fmla="*/ 59972 h 1526641"/>
                <a:gd name="connsiteX2" fmla="*/ 171371 w 342744"/>
                <a:gd name="connsiteY2" fmla="*/ 50725 h 1526641"/>
                <a:gd name="connsiteX3" fmla="*/ 110021 w 342744"/>
                <a:gd name="connsiteY3" fmla="*/ 50726 h 1526641"/>
                <a:gd name="connsiteX4" fmla="*/ 110021 w 342744"/>
                <a:gd name="connsiteY4" fmla="*/ 0 h 1526641"/>
                <a:gd name="connsiteX5" fmla="*/ 0 w 342744"/>
                <a:gd name="connsiteY5" fmla="*/ 113792 h 1526641"/>
                <a:gd name="connsiteX6" fmla="*/ 110021 w 342744"/>
                <a:gd name="connsiteY6" fmla="*/ 227582 h 1526641"/>
                <a:gd name="connsiteX7" fmla="*/ 110021 w 342744"/>
                <a:gd name="connsiteY7" fmla="*/ 176856 h 1526641"/>
                <a:gd name="connsiteX8" fmla="*/ 171371 w 342744"/>
                <a:gd name="connsiteY8" fmla="*/ 176856 h 1526641"/>
                <a:gd name="connsiteX9" fmla="*/ 216613 w 342744"/>
                <a:gd name="connsiteY9" fmla="*/ 222098 h 1526641"/>
                <a:gd name="connsiteX10" fmla="*/ 216614 w 342744"/>
                <a:gd name="connsiteY10" fmla="*/ 1526641 h 1526641"/>
                <a:gd name="connsiteX11" fmla="*/ 342744 w 342744"/>
                <a:gd name="connsiteY11" fmla="*/ 1526641 h 1526641"/>
                <a:gd name="connsiteX12" fmla="*/ 342744 w 342744"/>
                <a:gd name="connsiteY12" fmla="*/ 222098 h 1526641"/>
                <a:gd name="connsiteX13" fmla="*/ 238078 w 342744"/>
                <a:gd name="connsiteY13" fmla="*/ 64193 h 1526641"/>
                <a:gd name="connsiteX14" fmla="*/ 217176 w 342744"/>
                <a:gd name="connsiteY14" fmla="*/ 59973 h 1526641"/>
                <a:gd name="connsiteX15" fmla="*/ 217176 w 342744"/>
                <a:gd name="connsiteY15" fmla="*/ 1526641 h 1526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2744" h="1526641">
                  <a:moveTo>
                    <a:pt x="217175" y="1526641"/>
                  </a:moveTo>
                  <a:lnTo>
                    <a:pt x="217175" y="59972"/>
                  </a:lnTo>
                  <a:lnTo>
                    <a:pt x="171371" y="50725"/>
                  </a:lnTo>
                  <a:lnTo>
                    <a:pt x="110021" y="50726"/>
                  </a:lnTo>
                  <a:lnTo>
                    <a:pt x="110021" y="0"/>
                  </a:lnTo>
                  <a:lnTo>
                    <a:pt x="0" y="113792"/>
                  </a:lnTo>
                  <a:lnTo>
                    <a:pt x="110021" y="227582"/>
                  </a:lnTo>
                  <a:lnTo>
                    <a:pt x="110021" y="176856"/>
                  </a:lnTo>
                  <a:lnTo>
                    <a:pt x="171371" y="176856"/>
                  </a:lnTo>
                  <a:cubicBezTo>
                    <a:pt x="196357" y="176856"/>
                    <a:pt x="216613" y="197112"/>
                    <a:pt x="216613" y="222098"/>
                  </a:cubicBezTo>
                  <a:cubicBezTo>
                    <a:pt x="216613" y="656946"/>
                    <a:pt x="216614" y="1091793"/>
                    <a:pt x="216614" y="1526641"/>
                  </a:cubicBezTo>
                  <a:close/>
                  <a:moveTo>
                    <a:pt x="342744" y="1526641"/>
                  </a:moveTo>
                  <a:lnTo>
                    <a:pt x="342744" y="222098"/>
                  </a:lnTo>
                  <a:cubicBezTo>
                    <a:pt x="342744" y="151114"/>
                    <a:pt x="299586" y="90209"/>
                    <a:pt x="238078" y="64193"/>
                  </a:cubicBezTo>
                  <a:lnTo>
                    <a:pt x="217176" y="59973"/>
                  </a:lnTo>
                  <a:lnTo>
                    <a:pt x="217176" y="1526641"/>
                  </a:lnTo>
                  <a:close/>
                </a:path>
              </a:pathLst>
            </a:custGeom>
            <a:solidFill>
              <a:schemeClr val="tx1">
                <a:alpha val="15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 name="标题 1"/>
          <p:cNvSpPr>
            <a:spLocks noGrp="1"/>
          </p:cNvSpPr>
          <p:nvPr>
            <p:ph type="title" hasCustomPrompt="1"/>
          </p:nvPr>
        </p:nvSpPr>
        <p:spPr/>
        <p:txBody>
          <a:bodyPr/>
          <a:lstStyle/>
          <a:p>
            <a:r>
              <a:rPr lang="zh-CN" altLang="en-US" dirty="0"/>
              <a:t>Case Evidence from Failure Reports</a:t>
            </a:r>
            <a:endParaRPr 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C8BB1146-E542-4D4E-B8E9-6919A11DDD48}" type="slidenum">
              <a:rPr lang="en-US" smtClean="0"/>
            </a:fld>
            <a:endParaRPr lang="en-US"/>
          </a:p>
        </p:txBody>
      </p:sp>
      <p:pic>
        <p:nvPicPr>
          <p:cNvPr id="6" name="图片 5"/>
          <p:cNvPicPr>
            <a:picLocks noChangeAspect="1"/>
          </p:cNvPicPr>
          <p:nvPr/>
        </p:nvPicPr>
        <p:blipFill>
          <a:blip r:embed="rId1"/>
          <a:stretch>
            <a:fillRect/>
          </a:stretch>
        </p:blipFill>
        <p:spPr>
          <a:xfrm>
            <a:off x="7707630" y="4092575"/>
            <a:ext cx="4152900" cy="769620"/>
          </a:xfrm>
          <a:prstGeom prst="rect">
            <a:avLst/>
          </a:prstGeom>
        </p:spPr>
      </p:pic>
    </p:spTree>
    <p:custDataLst>
      <p:tags r:id="rId2"/>
    </p:custData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ed070b6a-04b9-452c-9301-fc135afc25ee.source.3.zh-Hans.pptx"/>
          <p:cNvGrpSpPr/>
          <p:nvPr/>
        </p:nvGrpSpPr>
        <p:grpSpPr>
          <a:xfrm>
            <a:off x="0" y="1130299"/>
            <a:ext cx="12191996" cy="5727701"/>
            <a:chOff x="0" y="1130299"/>
            <a:chExt cx="12191996" cy="5727701"/>
          </a:xfrm>
        </p:grpSpPr>
        <p:sp>
          <p:nvSpPr>
            <p:cNvPr id="10" name="任意多边形: 形状 9"/>
            <p:cNvSpPr/>
            <p:nvPr/>
          </p:nvSpPr>
          <p:spPr>
            <a:xfrm>
              <a:off x="0" y="3257999"/>
              <a:ext cx="12191996" cy="3600001"/>
            </a:xfrm>
            <a:custGeom>
              <a:avLst/>
              <a:gdLst>
                <a:gd name="connsiteX0" fmla="*/ 2007589 w 12191996"/>
                <a:gd name="connsiteY0" fmla="*/ 2820682 h 3600001"/>
                <a:gd name="connsiteX1" fmla="*/ 2154062 w 12191996"/>
                <a:gd name="connsiteY1" fmla="*/ 2820682 h 3600001"/>
                <a:gd name="connsiteX2" fmla="*/ 2154062 w 12191996"/>
                <a:gd name="connsiteY2" fmla="*/ 3600000 h 3600001"/>
                <a:gd name="connsiteX3" fmla="*/ 2007589 w 12191996"/>
                <a:gd name="connsiteY3" fmla="*/ 3600000 h 3600001"/>
                <a:gd name="connsiteX4" fmla="*/ 0 w 12191996"/>
                <a:gd name="connsiteY4" fmla="*/ 2820682 h 3600001"/>
                <a:gd name="connsiteX5" fmla="*/ 146474 w 12191996"/>
                <a:gd name="connsiteY5" fmla="*/ 2820682 h 3600001"/>
                <a:gd name="connsiteX6" fmla="*/ 146474 w 12191996"/>
                <a:gd name="connsiteY6" fmla="*/ 3600000 h 3600001"/>
                <a:gd name="connsiteX7" fmla="*/ 0 w 12191996"/>
                <a:gd name="connsiteY7" fmla="*/ 3600000 h 3600001"/>
                <a:gd name="connsiteX8" fmla="*/ 1433992 w 12191996"/>
                <a:gd name="connsiteY8" fmla="*/ 2664818 h 3600001"/>
                <a:gd name="connsiteX9" fmla="*/ 1580466 w 12191996"/>
                <a:gd name="connsiteY9" fmla="*/ 2664818 h 3600001"/>
                <a:gd name="connsiteX10" fmla="*/ 1580466 w 12191996"/>
                <a:gd name="connsiteY10" fmla="*/ 3600000 h 3600001"/>
                <a:gd name="connsiteX11" fmla="*/ 1433992 w 12191996"/>
                <a:gd name="connsiteY11" fmla="*/ 3600000 h 3600001"/>
                <a:gd name="connsiteX12" fmla="*/ 4875570 w 12191996"/>
                <a:gd name="connsiteY12" fmla="*/ 2586886 h 3600001"/>
                <a:gd name="connsiteX13" fmla="*/ 5022045 w 12191996"/>
                <a:gd name="connsiteY13" fmla="*/ 2586886 h 3600001"/>
                <a:gd name="connsiteX14" fmla="*/ 5022045 w 12191996"/>
                <a:gd name="connsiteY14" fmla="*/ 3600000 h 3600001"/>
                <a:gd name="connsiteX15" fmla="*/ 4875570 w 12191996"/>
                <a:gd name="connsiteY15" fmla="*/ 3600000 h 3600001"/>
                <a:gd name="connsiteX16" fmla="*/ 2867985 w 12191996"/>
                <a:gd name="connsiteY16" fmla="*/ 2586886 h 3600001"/>
                <a:gd name="connsiteX17" fmla="*/ 3014458 w 12191996"/>
                <a:gd name="connsiteY17" fmla="*/ 2586886 h 3600001"/>
                <a:gd name="connsiteX18" fmla="*/ 3014458 w 12191996"/>
                <a:gd name="connsiteY18" fmla="*/ 3600000 h 3600001"/>
                <a:gd name="connsiteX19" fmla="*/ 2867985 w 12191996"/>
                <a:gd name="connsiteY19" fmla="*/ 3600000 h 3600001"/>
                <a:gd name="connsiteX20" fmla="*/ 2581185 w 12191996"/>
                <a:gd name="connsiteY20" fmla="*/ 2477782 h 3600001"/>
                <a:gd name="connsiteX21" fmla="*/ 2727660 w 12191996"/>
                <a:gd name="connsiteY21" fmla="*/ 2477782 h 3600001"/>
                <a:gd name="connsiteX22" fmla="*/ 2727660 w 12191996"/>
                <a:gd name="connsiteY22" fmla="*/ 3600000 h 3600001"/>
                <a:gd name="connsiteX23" fmla="*/ 2581185 w 12191996"/>
                <a:gd name="connsiteY23" fmla="*/ 3600000 h 3600001"/>
                <a:gd name="connsiteX24" fmla="*/ 1147194 w 12191996"/>
                <a:gd name="connsiteY24" fmla="*/ 2477782 h 3600001"/>
                <a:gd name="connsiteX25" fmla="*/ 1293668 w 12191996"/>
                <a:gd name="connsiteY25" fmla="*/ 2477782 h 3600001"/>
                <a:gd name="connsiteX26" fmla="*/ 1293668 w 12191996"/>
                <a:gd name="connsiteY26" fmla="*/ 3600000 h 3600001"/>
                <a:gd name="connsiteX27" fmla="*/ 1147194 w 12191996"/>
                <a:gd name="connsiteY27" fmla="*/ 3600000 h 3600001"/>
                <a:gd name="connsiteX28" fmla="*/ 286798 w 12191996"/>
                <a:gd name="connsiteY28" fmla="*/ 2477782 h 3600001"/>
                <a:gd name="connsiteX29" fmla="*/ 433272 w 12191996"/>
                <a:gd name="connsiteY29" fmla="*/ 2477782 h 3600001"/>
                <a:gd name="connsiteX30" fmla="*/ 433272 w 12191996"/>
                <a:gd name="connsiteY30" fmla="*/ 3600000 h 3600001"/>
                <a:gd name="connsiteX31" fmla="*/ 286798 w 12191996"/>
                <a:gd name="connsiteY31" fmla="*/ 3600000 h 3600001"/>
                <a:gd name="connsiteX32" fmla="*/ 4301973 w 12191996"/>
                <a:gd name="connsiteY32" fmla="*/ 2384264 h 3600001"/>
                <a:gd name="connsiteX33" fmla="*/ 4448447 w 12191996"/>
                <a:gd name="connsiteY33" fmla="*/ 2384264 h 3600001"/>
                <a:gd name="connsiteX34" fmla="*/ 4448447 w 12191996"/>
                <a:gd name="connsiteY34" fmla="*/ 3600001 h 3600001"/>
                <a:gd name="connsiteX35" fmla="*/ 4301973 w 12191996"/>
                <a:gd name="connsiteY35" fmla="*/ 3600001 h 3600001"/>
                <a:gd name="connsiteX36" fmla="*/ 1720791 w 12191996"/>
                <a:gd name="connsiteY36" fmla="*/ 2353091 h 3600001"/>
                <a:gd name="connsiteX37" fmla="*/ 1867265 w 12191996"/>
                <a:gd name="connsiteY37" fmla="*/ 2353091 h 3600001"/>
                <a:gd name="connsiteX38" fmla="*/ 1867265 w 12191996"/>
                <a:gd name="connsiteY38" fmla="*/ 3600000 h 3600001"/>
                <a:gd name="connsiteX39" fmla="*/ 1720791 w 12191996"/>
                <a:gd name="connsiteY39" fmla="*/ 3600000 h 3600001"/>
                <a:gd name="connsiteX40" fmla="*/ 7743555 w 12191996"/>
                <a:gd name="connsiteY40" fmla="*/ 2275159 h 3600001"/>
                <a:gd name="connsiteX41" fmla="*/ 7890029 w 12191996"/>
                <a:gd name="connsiteY41" fmla="*/ 2275159 h 3600001"/>
                <a:gd name="connsiteX42" fmla="*/ 7890029 w 12191996"/>
                <a:gd name="connsiteY42" fmla="*/ 3600000 h 3600001"/>
                <a:gd name="connsiteX43" fmla="*/ 7743555 w 12191996"/>
                <a:gd name="connsiteY43" fmla="*/ 3600000 h 3600001"/>
                <a:gd name="connsiteX44" fmla="*/ 5735966 w 12191996"/>
                <a:gd name="connsiteY44" fmla="*/ 2275159 h 3600001"/>
                <a:gd name="connsiteX45" fmla="*/ 5882439 w 12191996"/>
                <a:gd name="connsiteY45" fmla="*/ 2275159 h 3600001"/>
                <a:gd name="connsiteX46" fmla="*/ 5882439 w 12191996"/>
                <a:gd name="connsiteY46" fmla="*/ 3600000 h 3600001"/>
                <a:gd name="connsiteX47" fmla="*/ 5735966 w 12191996"/>
                <a:gd name="connsiteY47" fmla="*/ 3600000 h 3600001"/>
                <a:gd name="connsiteX48" fmla="*/ 2294388 w 12191996"/>
                <a:gd name="connsiteY48" fmla="*/ 2197227 h 3600001"/>
                <a:gd name="connsiteX49" fmla="*/ 2440862 w 12191996"/>
                <a:gd name="connsiteY49" fmla="*/ 2197227 h 3600001"/>
                <a:gd name="connsiteX50" fmla="*/ 2440862 w 12191996"/>
                <a:gd name="connsiteY50" fmla="*/ 3600000 h 3600001"/>
                <a:gd name="connsiteX51" fmla="*/ 2294388 w 12191996"/>
                <a:gd name="connsiteY51" fmla="*/ 3600000 h 3600001"/>
                <a:gd name="connsiteX52" fmla="*/ 860395 w 12191996"/>
                <a:gd name="connsiteY52" fmla="*/ 2197227 h 3600001"/>
                <a:gd name="connsiteX53" fmla="*/ 1006869 w 12191996"/>
                <a:gd name="connsiteY53" fmla="*/ 2197227 h 3600001"/>
                <a:gd name="connsiteX54" fmla="*/ 1006869 w 12191996"/>
                <a:gd name="connsiteY54" fmla="*/ 3600000 h 3600001"/>
                <a:gd name="connsiteX55" fmla="*/ 860395 w 12191996"/>
                <a:gd name="connsiteY55" fmla="*/ 3600000 h 3600001"/>
                <a:gd name="connsiteX56" fmla="*/ 5449168 w 12191996"/>
                <a:gd name="connsiteY56" fmla="*/ 2141116 h 3600001"/>
                <a:gd name="connsiteX57" fmla="*/ 5595641 w 12191996"/>
                <a:gd name="connsiteY57" fmla="*/ 2141116 h 3600001"/>
                <a:gd name="connsiteX58" fmla="*/ 5595641 w 12191996"/>
                <a:gd name="connsiteY58" fmla="*/ 3600000 h 3600001"/>
                <a:gd name="connsiteX59" fmla="*/ 5449168 w 12191996"/>
                <a:gd name="connsiteY59" fmla="*/ 3600000 h 3600001"/>
                <a:gd name="connsiteX60" fmla="*/ 4015178 w 12191996"/>
                <a:gd name="connsiteY60" fmla="*/ 2141116 h 3600001"/>
                <a:gd name="connsiteX61" fmla="*/ 4161652 w 12191996"/>
                <a:gd name="connsiteY61" fmla="*/ 2141116 h 3600001"/>
                <a:gd name="connsiteX62" fmla="*/ 4161652 w 12191996"/>
                <a:gd name="connsiteY62" fmla="*/ 3600000 h 3600001"/>
                <a:gd name="connsiteX63" fmla="*/ 4015178 w 12191996"/>
                <a:gd name="connsiteY63" fmla="*/ 3600000 h 3600001"/>
                <a:gd name="connsiteX64" fmla="*/ 3154782 w 12191996"/>
                <a:gd name="connsiteY64" fmla="*/ 2141116 h 3600001"/>
                <a:gd name="connsiteX65" fmla="*/ 3301256 w 12191996"/>
                <a:gd name="connsiteY65" fmla="*/ 2141116 h 3600001"/>
                <a:gd name="connsiteX66" fmla="*/ 3301256 w 12191996"/>
                <a:gd name="connsiteY66" fmla="*/ 3600000 h 3600001"/>
                <a:gd name="connsiteX67" fmla="*/ 3154782 w 12191996"/>
                <a:gd name="connsiteY67" fmla="*/ 3600000 h 3600001"/>
                <a:gd name="connsiteX68" fmla="*/ 8603950 w 12191996"/>
                <a:gd name="connsiteY68" fmla="*/ 2119295 h 3600001"/>
                <a:gd name="connsiteX69" fmla="*/ 8750424 w 12191996"/>
                <a:gd name="connsiteY69" fmla="*/ 2119295 h 3600001"/>
                <a:gd name="connsiteX70" fmla="*/ 8750424 w 12191996"/>
                <a:gd name="connsiteY70" fmla="*/ 3600000 h 3600001"/>
                <a:gd name="connsiteX71" fmla="*/ 8603950 w 12191996"/>
                <a:gd name="connsiteY71" fmla="*/ 3600000 h 3600001"/>
                <a:gd name="connsiteX72" fmla="*/ 573597 w 12191996"/>
                <a:gd name="connsiteY72" fmla="*/ 2041364 h 3600001"/>
                <a:gd name="connsiteX73" fmla="*/ 720071 w 12191996"/>
                <a:gd name="connsiteY73" fmla="*/ 2041364 h 3600001"/>
                <a:gd name="connsiteX74" fmla="*/ 720071 w 12191996"/>
                <a:gd name="connsiteY74" fmla="*/ 3600001 h 3600001"/>
                <a:gd name="connsiteX75" fmla="*/ 573597 w 12191996"/>
                <a:gd name="connsiteY75" fmla="*/ 3600001 h 3600001"/>
                <a:gd name="connsiteX76" fmla="*/ 7169958 w 12191996"/>
                <a:gd name="connsiteY76" fmla="*/ 2010191 h 3600001"/>
                <a:gd name="connsiteX77" fmla="*/ 7316432 w 12191996"/>
                <a:gd name="connsiteY77" fmla="*/ 2010191 h 3600001"/>
                <a:gd name="connsiteX78" fmla="*/ 7316432 w 12191996"/>
                <a:gd name="connsiteY78" fmla="*/ 3600000 h 3600001"/>
                <a:gd name="connsiteX79" fmla="*/ 7169958 w 12191996"/>
                <a:gd name="connsiteY79" fmla="*/ 3600000 h 3600001"/>
                <a:gd name="connsiteX80" fmla="*/ 4588771 w 12191996"/>
                <a:gd name="connsiteY80" fmla="*/ 1979018 h 3600001"/>
                <a:gd name="connsiteX81" fmla="*/ 4735245 w 12191996"/>
                <a:gd name="connsiteY81" fmla="*/ 1979018 h 3600001"/>
                <a:gd name="connsiteX82" fmla="*/ 4735245 w 12191996"/>
                <a:gd name="connsiteY82" fmla="*/ 3600000 h 3600001"/>
                <a:gd name="connsiteX83" fmla="*/ 4588771 w 12191996"/>
                <a:gd name="connsiteY83" fmla="*/ 3600000 h 3600001"/>
                <a:gd name="connsiteX84" fmla="*/ 10037942 w 12191996"/>
                <a:gd name="connsiteY84" fmla="*/ 1823155 h 3600001"/>
                <a:gd name="connsiteX85" fmla="*/ 10184416 w 12191996"/>
                <a:gd name="connsiteY85" fmla="*/ 1823155 h 3600001"/>
                <a:gd name="connsiteX86" fmla="*/ 10184416 w 12191996"/>
                <a:gd name="connsiteY86" fmla="*/ 3600001 h 3600001"/>
                <a:gd name="connsiteX87" fmla="*/ 10037942 w 12191996"/>
                <a:gd name="connsiteY87" fmla="*/ 3600001 h 3600001"/>
                <a:gd name="connsiteX88" fmla="*/ 10611539 w 12191996"/>
                <a:gd name="connsiteY88" fmla="*/ 1800001 h 3600001"/>
                <a:gd name="connsiteX89" fmla="*/ 10758013 w 12191996"/>
                <a:gd name="connsiteY89" fmla="*/ 1800001 h 3600001"/>
                <a:gd name="connsiteX90" fmla="*/ 10758013 w 12191996"/>
                <a:gd name="connsiteY90" fmla="*/ 3600001 h 3600001"/>
                <a:gd name="connsiteX91" fmla="*/ 10611539 w 12191996"/>
                <a:gd name="connsiteY91" fmla="*/ 3600001 h 3600001"/>
                <a:gd name="connsiteX92" fmla="*/ 5162368 w 12191996"/>
                <a:gd name="connsiteY92" fmla="*/ 1776395 h 3600001"/>
                <a:gd name="connsiteX93" fmla="*/ 5308842 w 12191996"/>
                <a:gd name="connsiteY93" fmla="*/ 1776395 h 3600001"/>
                <a:gd name="connsiteX94" fmla="*/ 5308842 w 12191996"/>
                <a:gd name="connsiteY94" fmla="*/ 3600000 h 3600001"/>
                <a:gd name="connsiteX95" fmla="*/ 5162368 w 12191996"/>
                <a:gd name="connsiteY95" fmla="*/ 3600000 h 3600001"/>
                <a:gd name="connsiteX96" fmla="*/ 3728379 w 12191996"/>
                <a:gd name="connsiteY96" fmla="*/ 1776395 h 3600001"/>
                <a:gd name="connsiteX97" fmla="*/ 3874853 w 12191996"/>
                <a:gd name="connsiteY97" fmla="*/ 1776395 h 3600001"/>
                <a:gd name="connsiteX98" fmla="*/ 3874853 w 12191996"/>
                <a:gd name="connsiteY98" fmla="*/ 3600000 h 3600001"/>
                <a:gd name="connsiteX99" fmla="*/ 3728379 w 12191996"/>
                <a:gd name="connsiteY99" fmla="*/ 3600000 h 3600001"/>
                <a:gd name="connsiteX100" fmla="*/ 8317151 w 12191996"/>
                <a:gd name="connsiteY100" fmla="*/ 1692229 h 3600001"/>
                <a:gd name="connsiteX101" fmla="*/ 8463625 w 12191996"/>
                <a:gd name="connsiteY101" fmla="*/ 1692229 h 3600001"/>
                <a:gd name="connsiteX102" fmla="*/ 8463625 w 12191996"/>
                <a:gd name="connsiteY102" fmla="*/ 3600000 h 3600001"/>
                <a:gd name="connsiteX103" fmla="*/ 8317151 w 12191996"/>
                <a:gd name="connsiteY103" fmla="*/ 3600000 h 3600001"/>
                <a:gd name="connsiteX104" fmla="*/ 6883159 w 12191996"/>
                <a:gd name="connsiteY104" fmla="*/ 1692229 h 3600001"/>
                <a:gd name="connsiteX105" fmla="*/ 7029633 w 12191996"/>
                <a:gd name="connsiteY105" fmla="*/ 1692229 h 3600001"/>
                <a:gd name="connsiteX106" fmla="*/ 7029633 w 12191996"/>
                <a:gd name="connsiteY106" fmla="*/ 3600000 h 3600001"/>
                <a:gd name="connsiteX107" fmla="*/ 6883159 w 12191996"/>
                <a:gd name="connsiteY107" fmla="*/ 3600000 h 3600001"/>
                <a:gd name="connsiteX108" fmla="*/ 6022764 w 12191996"/>
                <a:gd name="connsiteY108" fmla="*/ 1692229 h 3600001"/>
                <a:gd name="connsiteX109" fmla="*/ 6169238 w 12191996"/>
                <a:gd name="connsiteY109" fmla="*/ 1692229 h 3600001"/>
                <a:gd name="connsiteX110" fmla="*/ 6169238 w 12191996"/>
                <a:gd name="connsiteY110" fmla="*/ 3600000 h 3600001"/>
                <a:gd name="connsiteX111" fmla="*/ 6022764 w 12191996"/>
                <a:gd name="connsiteY111" fmla="*/ 3600000 h 3600001"/>
                <a:gd name="connsiteX112" fmla="*/ 3441581 w 12191996"/>
                <a:gd name="connsiteY112" fmla="*/ 1573773 h 3600001"/>
                <a:gd name="connsiteX113" fmla="*/ 3588056 w 12191996"/>
                <a:gd name="connsiteY113" fmla="*/ 1573773 h 3600001"/>
                <a:gd name="connsiteX114" fmla="*/ 3588056 w 12191996"/>
                <a:gd name="connsiteY114" fmla="*/ 3600001 h 3600001"/>
                <a:gd name="connsiteX115" fmla="*/ 3441581 w 12191996"/>
                <a:gd name="connsiteY115" fmla="*/ 3600001 h 3600001"/>
                <a:gd name="connsiteX116" fmla="*/ 7456756 w 12191996"/>
                <a:gd name="connsiteY116" fmla="*/ 1480254 h 3600001"/>
                <a:gd name="connsiteX117" fmla="*/ 7603230 w 12191996"/>
                <a:gd name="connsiteY117" fmla="*/ 1480254 h 3600001"/>
                <a:gd name="connsiteX118" fmla="*/ 7603230 w 12191996"/>
                <a:gd name="connsiteY118" fmla="*/ 3600000 h 3600001"/>
                <a:gd name="connsiteX119" fmla="*/ 7456756 w 12191996"/>
                <a:gd name="connsiteY119" fmla="*/ 3600000 h 3600001"/>
                <a:gd name="connsiteX120" fmla="*/ 9751144 w 12191996"/>
                <a:gd name="connsiteY120" fmla="*/ 1467786 h 3600001"/>
                <a:gd name="connsiteX121" fmla="*/ 9897618 w 12191996"/>
                <a:gd name="connsiteY121" fmla="*/ 1467786 h 3600001"/>
                <a:gd name="connsiteX122" fmla="*/ 9897618 w 12191996"/>
                <a:gd name="connsiteY122" fmla="*/ 3600001 h 3600001"/>
                <a:gd name="connsiteX123" fmla="*/ 9751144 w 12191996"/>
                <a:gd name="connsiteY123" fmla="*/ 3600001 h 3600001"/>
                <a:gd name="connsiteX124" fmla="*/ 8890748 w 12191996"/>
                <a:gd name="connsiteY124" fmla="*/ 1467785 h 3600001"/>
                <a:gd name="connsiteX125" fmla="*/ 9037222 w 12191996"/>
                <a:gd name="connsiteY125" fmla="*/ 1467785 h 3600001"/>
                <a:gd name="connsiteX126" fmla="*/ 9037222 w 12191996"/>
                <a:gd name="connsiteY126" fmla="*/ 3600000 h 3600001"/>
                <a:gd name="connsiteX127" fmla="*/ 8890748 w 12191996"/>
                <a:gd name="connsiteY127" fmla="*/ 3600000 h 3600001"/>
                <a:gd name="connsiteX128" fmla="*/ 6596361 w 12191996"/>
                <a:gd name="connsiteY128" fmla="*/ 1296000 h 3600001"/>
                <a:gd name="connsiteX129" fmla="*/ 6742835 w 12191996"/>
                <a:gd name="connsiteY129" fmla="*/ 1296000 h 3600001"/>
                <a:gd name="connsiteX130" fmla="*/ 6742835 w 12191996"/>
                <a:gd name="connsiteY130" fmla="*/ 3600000 h 3600001"/>
                <a:gd name="connsiteX131" fmla="*/ 6596361 w 12191996"/>
                <a:gd name="connsiteY131" fmla="*/ 3600000 h 3600001"/>
                <a:gd name="connsiteX132" fmla="*/ 10324741 w 12191996"/>
                <a:gd name="connsiteY132" fmla="*/ 1230873 h 3600001"/>
                <a:gd name="connsiteX133" fmla="*/ 10471215 w 12191996"/>
                <a:gd name="connsiteY133" fmla="*/ 1230873 h 3600001"/>
                <a:gd name="connsiteX134" fmla="*/ 10471215 w 12191996"/>
                <a:gd name="connsiteY134" fmla="*/ 3600001 h 3600001"/>
                <a:gd name="connsiteX135" fmla="*/ 10324741 w 12191996"/>
                <a:gd name="connsiteY135" fmla="*/ 3600001 h 3600001"/>
                <a:gd name="connsiteX136" fmla="*/ 8030353 w 12191996"/>
                <a:gd name="connsiteY136" fmla="*/ 1215286 h 3600001"/>
                <a:gd name="connsiteX137" fmla="*/ 8176827 w 12191996"/>
                <a:gd name="connsiteY137" fmla="*/ 1215286 h 3600001"/>
                <a:gd name="connsiteX138" fmla="*/ 8176827 w 12191996"/>
                <a:gd name="connsiteY138" fmla="*/ 3600000 h 3600001"/>
                <a:gd name="connsiteX139" fmla="*/ 8030353 w 12191996"/>
                <a:gd name="connsiteY139" fmla="*/ 3600000 h 3600001"/>
                <a:gd name="connsiteX140" fmla="*/ 11185136 w 12191996"/>
                <a:gd name="connsiteY140" fmla="*/ 1080001 h 3600001"/>
                <a:gd name="connsiteX141" fmla="*/ 11331610 w 12191996"/>
                <a:gd name="connsiteY141" fmla="*/ 1080001 h 3600001"/>
                <a:gd name="connsiteX142" fmla="*/ 11331610 w 12191996"/>
                <a:gd name="connsiteY142" fmla="*/ 3600001 h 3600001"/>
                <a:gd name="connsiteX143" fmla="*/ 11185136 w 12191996"/>
                <a:gd name="connsiteY143" fmla="*/ 3600001 h 3600001"/>
                <a:gd name="connsiteX144" fmla="*/ 6309562 w 12191996"/>
                <a:gd name="connsiteY144" fmla="*/ 1080000 h 3600001"/>
                <a:gd name="connsiteX145" fmla="*/ 6456036 w 12191996"/>
                <a:gd name="connsiteY145" fmla="*/ 1080000 h 3600001"/>
                <a:gd name="connsiteX146" fmla="*/ 6456036 w 12191996"/>
                <a:gd name="connsiteY146" fmla="*/ 3600000 h 3600001"/>
                <a:gd name="connsiteX147" fmla="*/ 6309562 w 12191996"/>
                <a:gd name="connsiteY147" fmla="*/ 3600000 h 3600001"/>
                <a:gd name="connsiteX148" fmla="*/ 10898338 w 12191996"/>
                <a:gd name="connsiteY148" fmla="*/ 934732 h 3600001"/>
                <a:gd name="connsiteX149" fmla="*/ 11044812 w 12191996"/>
                <a:gd name="connsiteY149" fmla="*/ 934732 h 3600001"/>
                <a:gd name="connsiteX150" fmla="*/ 11044812 w 12191996"/>
                <a:gd name="connsiteY150" fmla="*/ 3600000 h 3600001"/>
                <a:gd name="connsiteX151" fmla="*/ 10898338 w 12191996"/>
                <a:gd name="connsiteY151" fmla="*/ 3600000 h 3600001"/>
                <a:gd name="connsiteX152" fmla="*/ 9464345 w 12191996"/>
                <a:gd name="connsiteY152" fmla="*/ 934732 h 3600001"/>
                <a:gd name="connsiteX153" fmla="*/ 9610819 w 12191996"/>
                <a:gd name="connsiteY153" fmla="*/ 934732 h 3600001"/>
                <a:gd name="connsiteX154" fmla="*/ 9610819 w 12191996"/>
                <a:gd name="connsiteY154" fmla="*/ 3600000 h 3600001"/>
                <a:gd name="connsiteX155" fmla="*/ 9464345 w 12191996"/>
                <a:gd name="connsiteY155" fmla="*/ 3600000 h 3600001"/>
                <a:gd name="connsiteX156" fmla="*/ 9177547 w 12191996"/>
                <a:gd name="connsiteY156" fmla="*/ 638591 h 3600001"/>
                <a:gd name="connsiteX157" fmla="*/ 9324021 w 12191996"/>
                <a:gd name="connsiteY157" fmla="*/ 638591 h 3600001"/>
                <a:gd name="connsiteX158" fmla="*/ 9324021 w 12191996"/>
                <a:gd name="connsiteY158" fmla="*/ 3600000 h 3600001"/>
                <a:gd name="connsiteX159" fmla="*/ 9177547 w 12191996"/>
                <a:gd name="connsiteY159" fmla="*/ 3600000 h 3600001"/>
                <a:gd name="connsiteX160" fmla="*/ 11471935 w 12191996"/>
                <a:gd name="connsiteY160" fmla="*/ 576001 h 3600001"/>
                <a:gd name="connsiteX161" fmla="*/ 11618409 w 12191996"/>
                <a:gd name="connsiteY161" fmla="*/ 576001 h 3600001"/>
                <a:gd name="connsiteX162" fmla="*/ 11618409 w 12191996"/>
                <a:gd name="connsiteY162" fmla="*/ 3600001 h 3600001"/>
                <a:gd name="connsiteX163" fmla="*/ 11471935 w 12191996"/>
                <a:gd name="connsiteY163" fmla="*/ 3600001 h 3600001"/>
                <a:gd name="connsiteX164" fmla="*/ 12045522 w 12191996"/>
                <a:gd name="connsiteY164" fmla="*/ 360000 h 3600001"/>
                <a:gd name="connsiteX165" fmla="*/ 12191996 w 12191996"/>
                <a:gd name="connsiteY165" fmla="*/ 360000 h 3600001"/>
                <a:gd name="connsiteX166" fmla="*/ 12191996 w 12191996"/>
                <a:gd name="connsiteY166" fmla="*/ 3600000 h 3600001"/>
                <a:gd name="connsiteX167" fmla="*/ 12045522 w 12191996"/>
                <a:gd name="connsiteY167" fmla="*/ 3600000 h 3600001"/>
                <a:gd name="connsiteX168" fmla="*/ 11758733 w 12191996"/>
                <a:gd name="connsiteY168" fmla="*/ 0 h 3600001"/>
                <a:gd name="connsiteX169" fmla="*/ 11905207 w 12191996"/>
                <a:gd name="connsiteY169" fmla="*/ 0 h 3600001"/>
                <a:gd name="connsiteX170" fmla="*/ 11905207 w 12191996"/>
                <a:gd name="connsiteY170" fmla="*/ 3600000 h 3600001"/>
                <a:gd name="connsiteX171" fmla="*/ 11758733 w 12191996"/>
                <a:gd name="connsiteY171" fmla="*/ 3600000 h 360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12191996" h="3600001">
                  <a:moveTo>
                    <a:pt x="2007589" y="2820682"/>
                  </a:moveTo>
                  <a:lnTo>
                    <a:pt x="2154062" y="2820682"/>
                  </a:lnTo>
                  <a:lnTo>
                    <a:pt x="2154062" y="3600000"/>
                  </a:lnTo>
                  <a:lnTo>
                    <a:pt x="2007589" y="3600000"/>
                  </a:lnTo>
                  <a:close/>
                  <a:moveTo>
                    <a:pt x="0" y="2820682"/>
                  </a:moveTo>
                  <a:lnTo>
                    <a:pt x="146474" y="2820682"/>
                  </a:lnTo>
                  <a:lnTo>
                    <a:pt x="146474" y="3600000"/>
                  </a:lnTo>
                  <a:lnTo>
                    <a:pt x="0" y="3600000"/>
                  </a:lnTo>
                  <a:close/>
                  <a:moveTo>
                    <a:pt x="1433992" y="2664818"/>
                  </a:moveTo>
                  <a:lnTo>
                    <a:pt x="1580466" y="2664818"/>
                  </a:lnTo>
                  <a:lnTo>
                    <a:pt x="1580466" y="3600000"/>
                  </a:lnTo>
                  <a:lnTo>
                    <a:pt x="1433992" y="3600000"/>
                  </a:lnTo>
                  <a:close/>
                  <a:moveTo>
                    <a:pt x="4875570" y="2586886"/>
                  </a:moveTo>
                  <a:lnTo>
                    <a:pt x="5022045" y="2586886"/>
                  </a:lnTo>
                  <a:lnTo>
                    <a:pt x="5022045" y="3600000"/>
                  </a:lnTo>
                  <a:lnTo>
                    <a:pt x="4875570" y="3600000"/>
                  </a:lnTo>
                  <a:close/>
                  <a:moveTo>
                    <a:pt x="2867985" y="2586886"/>
                  </a:moveTo>
                  <a:lnTo>
                    <a:pt x="3014458" y="2586886"/>
                  </a:lnTo>
                  <a:lnTo>
                    <a:pt x="3014458" y="3600000"/>
                  </a:lnTo>
                  <a:lnTo>
                    <a:pt x="2867985" y="3600000"/>
                  </a:lnTo>
                  <a:close/>
                  <a:moveTo>
                    <a:pt x="2581185" y="2477782"/>
                  </a:moveTo>
                  <a:lnTo>
                    <a:pt x="2727660" y="2477782"/>
                  </a:lnTo>
                  <a:lnTo>
                    <a:pt x="2727660" y="3600000"/>
                  </a:lnTo>
                  <a:lnTo>
                    <a:pt x="2581185" y="3600000"/>
                  </a:lnTo>
                  <a:close/>
                  <a:moveTo>
                    <a:pt x="1147194" y="2477782"/>
                  </a:moveTo>
                  <a:lnTo>
                    <a:pt x="1293668" y="2477782"/>
                  </a:lnTo>
                  <a:lnTo>
                    <a:pt x="1293668" y="3600000"/>
                  </a:lnTo>
                  <a:lnTo>
                    <a:pt x="1147194" y="3600000"/>
                  </a:lnTo>
                  <a:close/>
                  <a:moveTo>
                    <a:pt x="286798" y="2477782"/>
                  </a:moveTo>
                  <a:lnTo>
                    <a:pt x="433272" y="2477782"/>
                  </a:lnTo>
                  <a:lnTo>
                    <a:pt x="433272" y="3600000"/>
                  </a:lnTo>
                  <a:lnTo>
                    <a:pt x="286798" y="3600000"/>
                  </a:lnTo>
                  <a:close/>
                  <a:moveTo>
                    <a:pt x="4301973" y="2384264"/>
                  </a:moveTo>
                  <a:lnTo>
                    <a:pt x="4448447" y="2384264"/>
                  </a:lnTo>
                  <a:lnTo>
                    <a:pt x="4448447" y="3600001"/>
                  </a:lnTo>
                  <a:lnTo>
                    <a:pt x="4301973" y="3600001"/>
                  </a:lnTo>
                  <a:close/>
                  <a:moveTo>
                    <a:pt x="1720791" y="2353091"/>
                  </a:moveTo>
                  <a:lnTo>
                    <a:pt x="1867265" y="2353091"/>
                  </a:lnTo>
                  <a:lnTo>
                    <a:pt x="1867265" y="3600000"/>
                  </a:lnTo>
                  <a:lnTo>
                    <a:pt x="1720791" y="3600000"/>
                  </a:lnTo>
                  <a:close/>
                  <a:moveTo>
                    <a:pt x="7743555" y="2275159"/>
                  </a:moveTo>
                  <a:lnTo>
                    <a:pt x="7890029" y="2275159"/>
                  </a:lnTo>
                  <a:lnTo>
                    <a:pt x="7890029" y="3600000"/>
                  </a:lnTo>
                  <a:lnTo>
                    <a:pt x="7743555" y="3600000"/>
                  </a:lnTo>
                  <a:close/>
                  <a:moveTo>
                    <a:pt x="5735966" y="2275159"/>
                  </a:moveTo>
                  <a:lnTo>
                    <a:pt x="5882439" y="2275159"/>
                  </a:lnTo>
                  <a:lnTo>
                    <a:pt x="5882439" y="3600000"/>
                  </a:lnTo>
                  <a:lnTo>
                    <a:pt x="5735966" y="3600000"/>
                  </a:lnTo>
                  <a:close/>
                  <a:moveTo>
                    <a:pt x="2294388" y="2197227"/>
                  </a:moveTo>
                  <a:lnTo>
                    <a:pt x="2440862" y="2197227"/>
                  </a:lnTo>
                  <a:lnTo>
                    <a:pt x="2440862" y="3600000"/>
                  </a:lnTo>
                  <a:lnTo>
                    <a:pt x="2294388" y="3600000"/>
                  </a:lnTo>
                  <a:close/>
                  <a:moveTo>
                    <a:pt x="860395" y="2197227"/>
                  </a:moveTo>
                  <a:lnTo>
                    <a:pt x="1006869" y="2197227"/>
                  </a:lnTo>
                  <a:lnTo>
                    <a:pt x="1006869" y="3600000"/>
                  </a:lnTo>
                  <a:lnTo>
                    <a:pt x="860395" y="3600000"/>
                  </a:lnTo>
                  <a:close/>
                  <a:moveTo>
                    <a:pt x="5449168" y="2141116"/>
                  </a:moveTo>
                  <a:lnTo>
                    <a:pt x="5595641" y="2141116"/>
                  </a:lnTo>
                  <a:lnTo>
                    <a:pt x="5595641" y="3600000"/>
                  </a:lnTo>
                  <a:lnTo>
                    <a:pt x="5449168" y="3600000"/>
                  </a:lnTo>
                  <a:close/>
                  <a:moveTo>
                    <a:pt x="4015178" y="2141116"/>
                  </a:moveTo>
                  <a:lnTo>
                    <a:pt x="4161652" y="2141116"/>
                  </a:lnTo>
                  <a:lnTo>
                    <a:pt x="4161652" y="3600000"/>
                  </a:lnTo>
                  <a:lnTo>
                    <a:pt x="4015178" y="3600000"/>
                  </a:lnTo>
                  <a:close/>
                  <a:moveTo>
                    <a:pt x="3154782" y="2141116"/>
                  </a:moveTo>
                  <a:lnTo>
                    <a:pt x="3301256" y="2141116"/>
                  </a:lnTo>
                  <a:lnTo>
                    <a:pt x="3301256" y="3600000"/>
                  </a:lnTo>
                  <a:lnTo>
                    <a:pt x="3154782" y="3600000"/>
                  </a:lnTo>
                  <a:close/>
                  <a:moveTo>
                    <a:pt x="8603950" y="2119295"/>
                  </a:moveTo>
                  <a:lnTo>
                    <a:pt x="8750424" y="2119295"/>
                  </a:lnTo>
                  <a:lnTo>
                    <a:pt x="8750424" y="3600000"/>
                  </a:lnTo>
                  <a:lnTo>
                    <a:pt x="8603950" y="3600000"/>
                  </a:lnTo>
                  <a:close/>
                  <a:moveTo>
                    <a:pt x="573597" y="2041364"/>
                  </a:moveTo>
                  <a:lnTo>
                    <a:pt x="720071" y="2041364"/>
                  </a:lnTo>
                  <a:lnTo>
                    <a:pt x="720071" y="3600001"/>
                  </a:lnTo>
                  <a:lnTo>
                    <a:pt x="573597" y="3600001"/>
                  </a:lnTo>
                  <a:close/>
                  <a:moveTo>
                    <a:pt x="7169958" y="2010191"/>
                  </a:moveTo>
                  <a:lnTo>
                    <a:pt x="7316432" y="2010191"/>
                  </a:lnTo>
                  <a:lnTo>
                    <a:pt x="7316432" y="3600000"/>
                  </a:lnTo>
                  <a:lnTo>
                    <a:pt x="7169958" y="3600000"/>
                  </a:lnTo>
                  <a:close/>
                  <a:moveTo>
                    <a:pt x="4588771" y="1979018"/>
                  </a:moveTo>
                  <a:lnTo>
                    <a:pt x="4735245" y="1979018"/>
                  </a:lnTo>
                  <a:lnTo>
                    <a:pt x="4735245" y="3600000"/>
                  </a:lnTo>
                  <a:lnTo>
                    <a:pt x="4588771" y="3600000"/>
                  </a:lnTo>
                  <a:close/>
                  <a:moveTo>
                    <a:pt x="10037942" y="1823155"/>
                  </a:moveTo>
                  <a:lnTo>
                    <a:pt x="10184416" y="1823155"/>
                  </a:lnTo>
                  <a:lnTo>
                    <a:pt x="10184416" y="3600001"/>
                  </a:lnTo>
                  <a:lnTo>
                    <a:pt x="10037942" y="3600001"/>
                  </a:lnTo>
                  <a:close/>
                  <a:moveTo>
                    <a:pt x="10611539" y="1800001"/>
                  </a:moveTo>
                  <a:lnTo>
                    <a:pt x="10758013" y="1800001"/>
                  </a:lnTo>
                  <a:lnTo>
                    <a:pt x="10758013" y="3600001"/>
                  </a:lnTo>
                  <a:lnTo>
                    <a:pt x="10611539" y="3600001"/>
                  </a:lnTo>
                  <a:close/>
                  <a:moveTo>
                    <a:pt x="5162368" y="1776395"/>
                  </a:moveTo>
                  <a:lnTo>
                    <a:pt x="5308842" y="1776395"/>
                  </a:lnTo>
                  <a:lnTo>
                    <a:pt x="5308842" y="3600000"/>
                  </a:lnTo>
                  <a:lnTo>
                    <a:pt x="5162368" y="3600000"/>
                  </a:lnTo>
                  <a:close/>
                  <a:moveTo>
                    <a:pt x="3728379" y="1776395"/>
                  </a:moveTo>
                  <a:lnTo>
                    <a:pt x="3874853" y="1776395"/>
                  </a:lnTo>
                  <a:lnTo>
                    <a:pt x="3874853" y="3600000"/>
                  </a:lnTo>
                  <a:lnTo>
                    <a:pt x="3728379" y="3600000"/>
                  </a:lnTo>
                  <a:close/>
                  <a:moveTo>
                    <a:pt x="8317151" y="1692229"/>
                  </a:moveTo>
                  <a:lnTo>
                    <a:pt x="8463625" y="1692229"/>
                  </a:lnTo>
                  <a:lnTo>
                    <a:pt x="8463625" y="3600000"/>
                  </a:lnTo>
                  <a:lnTo>
                    <a:pt x="8317151" y="3600000"/>
                  </a:lnTo>
                  <a:close/>
                  <a:moveTo>
                    <a:pt x="6883159" y="1692229"/>
                  </a:moveTo>
                  <a:lnTo>
                    <a:pt x="7029633" y="1692229"/>
                  </a:lnTo>
                  <a:lnTo>
                    <a:pt x="7029633" y="3600000"/>
                  </a:lnTo>
                  <a:lnTo>
                    <a:pt x="6883159" y="3600000"/>
                  </a:lnTo>
                  <a:close/>
                  <a:moveTo>
                    <a:pt x="6022764" y="1692229"/>
                  </a:moveTo>
                  <a:lnTo>
                    <a:pt x="6169238" y="1692229"/>
                  </a:lnTo>
                  <a:lnTo>
                    <a:pt x="6169238" y="3600000"/>
                  </a:lnTo>
                  <a:lnTo>
                    <a:pt x="6022764" y="3600000"/>
                  </a:lnTo>
                  <a:close/>
                  <a:moveTo>
                    <a:pt x="3441581" y="1573773"/>
                  </a:moveTo>
                  <a:lnTo>
                    <a:pt x="3588056" y="1573773"/>
                  </a:lnTo>
                  <a:lnTo>
                    <a:pt x="3588056" y="3600001"/>
                  </a:lnTo>
                  <a:lnTo>
                    <a:pt x="3441581" y="3600001"/>
                  </a:lnTo>
                  <a:close/>
                  <a:moveTo>
                    <a:pt x="7456756" y="1480254"/>
                  </a:moveTo>
                  <a:lnTo>
                    <a:pt x="7603230" y="1480254"/>
                  </a:lnTo>
                  <a:lnTo>
                    <a:pt x="7603230" y="3600000"/>
                  </a:lnTo>
                  <a:lnTo>
                    <a:pt x="7456756" y="3600000"/>
                  </a:lnTo>
                  <a:close/>
                  <a:moveTo>
                    <a:pt x="9751144" y="1467786"/>
                  </a:moveTo>
                  <a:lnTo>
                    <a:pt x="9897618" y="1467786"/>
                  </a:lnTo>
                  <a:lnTo>
                    <a:pt x="9897618" y="3600001"/>
                  </a:lnTo>
                  <a:lnTo>
                    <a:pt x="9751144" y="3600001"/>
                  </a:lnTo>
                  <a:close/>
                  <a:moveTo>
                    <a:pt x="8890748" y="1467785"/>
                  </a:moveTo>
                  <a:lnTo>
                    <a:pt x="9037222" y="1467785"/>
                  </a:lnTo>
                  <a:lnTo>
                    <a:pt x="9037222" y="3600000"/>
                  </a:lnTo>
                  <a:lnTo>
                    <a:pt x="8890748" y="3600000"/>
                  </a:lnTo>
                  <a:close/>
                  <a:moveTo>
                    <a:pt x="6596361" y="1296000"/>
                  </a:moveTo>
                  <a:lnTo>
                    <a:pt x="6742835" y="1296000"/>
                  </a:lnTo>
                  <a:lnTo>
                    <a:pt x="6742835" y="3600000"/>
                  </a:lnTo>
                  <a:lnTo>
                    <a:pt x="6596361" y="3600000"/>
                  </a:lnTo>
                  <a:close/>
                  <a:moveTo>
                    <a:pt x="10324741" y="1230873"/>
                  </a:moveTo>
                  <a:lnTo>
                    <a:pt x="10471215" y="1230873"/>
                  </a:lnTo>
                  <a:lnTo>
                    <a:pt x="10471215" y="3600001"/>
                  </a:lnTo>
                  <a:lnTo>
                    <a:pt x="10324741" y="3600001"/>
                  </a:lnTo>
                  <a:close/>
                  <a:moveTo>
                    <a:pt x="8030353" y="1215286"/>
                  </a:moveTo>
                  <a:lnTo>
                    <a:pt x="8176827" y="1215286"/>
                  </a:lnTo>
                  <a:lnTo>
                    <a:pt x="8176827" y="3600000"/>
                  </a:lnTo>
                  <a:lnTo>
                    <a:pt x="8030353" y="3600000"/>
                  </a:lnTo>
                  <a:close/>
                  <a:moveTo>
                    <a:pt x="11185136" y="1080001"/>
                  </a:moveTo>
                  <a:lnTo>
                    <a:pt x="11331610" y="1080001"/>
                  </a:lnTo>
                  <a:lnTo>
                    <a:pt x="11331610" y="3600001"/>
                  </a:lnTo>
                  <a:lnTo>
                    <a:pt x="11185136" y="3600001"/>
                  </a:lnTo>
                  <a:close/>
                  <a:moveTo>
                    <a:pt x="6309562" y="1080000"/>
                  </a:moveTo>
                  <a:lnTo>
                    <a:pt x="6456036" y="1080000"/>
                  </a:lnTo>
                  <a:lnTo>
                    <a:pt x="6456036" y="3600000"/>
                  </a:lnTo>
                  <a:lnTo>
                    <a:pt x="6309562" y="3600000"/>
                  </a:lnTo>
                  <a:close/>
                  <a:moveTo>
                    <a:pt x="10898338" y="934732"/>
                  </a:moveTo>
                  <a:lnTo>
                    <a:pt x="11044812" y="934732"/>
                  </a:lnTo>
                  <a:lnTo>
                    <a:pt x="11044812" y="3600000"/>
                  </a:lnTo>
                  <a:lnTo>
                    <a:pt x="10898338" y="3600000"/>
                  </a:lnTo>
                  <a:close/>
                  <a:moveTo>
                    <a:pt x="9464345" y="934732"/>
                  </a:moveTo>
                  <a:lnTo>
                    <a:pt x="9610819" y="934732"/>
                  </a:lnTo>
                  <a:lnTo>
                    <a:pt x="9610819" y="3600000"/>
                  </a:lnTo>
                  <a:lnTo>
                    <a:pt x="9464345" y="3600000"/>
                  </a:lnTo>
                  <a:close/>
                  <a:moveTo>
                    <a:pt x="9177547" y="638591"/>
                  </a:moveTo>
                  <a:lnTo>
                    <a:pt x="9324021" y="638591"/>
                  </a:lnTo>
                  <a:lnTo>
                    <a:pt x="9324021" y="3600000"/>
                  </a:lnTo>
                  <a:lnTo>
                    <a:pt x="9177547" y="3600000"/>
                  </a:lnTo>
                  <a:close/>
                  <a:moveTo>
                    <a:pt x="11471935" y="576001"/>
                  </a:moveTo>
                  <a:lnTo>
                    <a:pt x="11618409" y="576001"/>
                  </a:lnTo>
                  <a:lnTo>
                    <a:pt x="11618409" y="3600001"/>
                  </a:lnTo>
                  <a:lnTo>
                    <a:pt x="11471935" y="3600001"/>
                  </a:lnTo>
                  <a:close/>
                  <a:moveTo>
                    <a:pt x="12045522" y="360000"/>
                  </a:moveTo>
                  <a:lnTo>
                    <a:pt x="12191996" y="360000"/>
                  </a:lnTo>
                  <a:lnTo>
                    <a:pt x="12191996" y="3600000"/>
                  </a:lnTo>
                  <a:lnTo>
                    <a:pt x="12045522" y="3600000"/>
                  </a:lnTo>
                  <a:close/>
                  <a:moveTo>
                    <a:pt x="11758733" y="0"/>
                  </a:moveTo>
                  <a:lnTo>
                    <a:pt x="11905207" y="0"/>
                  </a:lnTo>
                  <a:lnTo>
                    <a:pt x="11905207" y="3600000"/>
                  </a:lnTo>
                  <a:lnTo>
                    <a:pt x="11758733" y="3600000"/>
                  </a:lnTo>
                  <a:close/>
                </a:path>
              </a:pathLst>
            </a:custGeom>
            <a:gradFill flip="none" rotWithShape="1">
              <a:gsLst>
                <a:gs pos="0">
                  <a:schemeClr val="accent1">
                    <a:lumMod val="60000"/>
                    <a:lumOff val="40000"/>
                    <a:alpha val="0"/>
                  </a:schemeClr>
                </a:gs>
                <a:gs pos="100000">
                  <a:schemeClr val="accent1">
                    <a:alpha val="1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5" name="islide-2"/>
            <p:cNvSpPr/>
            <p:nvPr/>
          </p:nvSpPr>
          <p:spPr>
            <a:xfrm>
              <a:off x="660396" y="1368638"/>
              <a:ext cx="10974858" cy="3079483"/>
            </a:xfrm>
            <a:custGeom>
              <a:avLst/>
              <a:gdLst>
                <a:gd name="connsiteX0" fmla="*/ 12194350 w 12194350"/>
                <a:gd name="connsiteY0" fmla="*/ 0 h 3538816"/>
                <a:gd name="connsiteX1" fmla="*/ 11743461 w 12194350"/>
                <a:gd name="connsiteY1" fmla="*/ 880964 h 3538816"/>
                <a:gd name="connsiteX2" fmla="*/ 11594168 w 12194350"/>
                <a:gd name="connsiteY2" fmla="*/ 693302 h 3538816"/>
                <a:gd name="connsiteX3" fmla="*/ 11511865 w 12194350"/>
                <a:gd name="connsiteY3" fmla="*/ 745950 h 3538816"/>
                <a:gd name="connsiteX4" fmla="*/ 7081249 w 12194350"/>
                <a:gd name="connsiteY4" fmla="*/ 2736180 h 3538816"/>
                <a:gd name="connsiteX5" fmla="*/ 0 w 12194350"/>
                <a:gd name="connsiteY5" fmla="*/ 3532429 h 3538816"/>
                <a:gd name="connsiteX6" fmla="*/ 7039964 w 12194350"/>
                <a:gd name="connsiteY6" fmla="*/ 2550361 h 3538816"/>
                <a:gd name="connsiteX7" fmla="*/ 11334499 w 12194350"/>
                <a:gd name="connsiteY7" fmla="*/ 499924 h 3538816"/>
                <a:gd name="connsiteX8" fmla="*/ 11402620 w 12194350"/>
                <a:gd name="connsiteY8" fmla="*/ 452526 h 3538816"/>
                <a:gd name="connsiteX9" fmla="*/ 11234620 w 12194350"/>
                <a:gd name="connsiteY9" fmla="*/ 241350 h 3538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4350" h="3538816">
                  <a:moveTo>
                    <a:pt x="12194350" y="0"/>
                  </a:moveTo>
                  <a:lnTo>
                    <a:pt x="11743461" y="880964"/>
                  </a:lnTo>
                  <a:lnTo>
                    <a:pt x="11594168" y="693302"/>
                  </a:lnTo>
                  <a:lnTo>
                    <a:pt x="11511865" y="745950"/>
                  </a:lnTo>
                  <a:cubicBezTo>
                    <a:pt x="10861162" y="1155209"/>
                    <a:pt x="9284367" y="2058445"/>
                    <a:pt x="7081249" y="2736180"/>
                  </a:cubicBezTo>
                  <a:cubicBezTo>
                    <a:pt x="4066305" y="3663685"/>
                    <a:pt x="0" y="3532429"/>
                    <a:pt x="0" y="3532429"/>
                  </a:cubicBezTo>
                  <a:cubicBezTo>
                    <a:pt x="1493745" y="3470120"/>
                    <a:pt x="4513461" y="3376692"/>
                    <a:pt x="7039964" y="2550361"/>
                  </a:cubicBezTo>
                  <a:cubicBezTo>
                    <a:pt x="9244275" y="1829421"/>
                    <a:pt x="10729604" y="913051"/>
                    <a:pt x="11334499" y="499924"/>
                  </a:cubicBezTo>
                  <a:lnTo>
                    <a:pt x="11402620" y="452526"/>
                  </a:lnTo>
                  <a:lnTo>
                    <a:pt x="11234620" y="241350"/>
                  </a:lnTo>
                  <a:close/>
                </a:path>
              </a:pathLst>
            </a:cu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42900" indent="-342900" defTabSz="895350">
                <a:buSzPct val="120000"/>
              </a:pPr>
              <a:endParaRPr lang="zh-CN" altLang="en-US" sz="1600">
                <a:solidFill>
                  <a:schemeClr val="lt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8" name="Title"/>
            <p:cNvSpPr txBox="1"/>
            <p:nvPr/>
          </p:nvSpPr>
          <p:spPr>
            <a:xfrm>
              <a:off x="660396" y="1130299"/>
              <a:ext cx="5491510" cy="660401"/>
            </a:xfrm>
            <a:prstGeom prst="rect">
              <a:avLst/>
            </a:prstGeom>
            <a:noFill/>
            <a:ln>
              <a:noFill/>
            </a:ln>
            <a:effectLst/>
          </p:spPr>
          <p:txBody>
            <a:bodyPr wrap="square" lIns="91440" tIns="45720" rIns="91440" bIns="45720" anchor="ctr" anchorCtr="0">
              <a:normAutofit/>
            </a:bodyPr>
            <a:lstStyle/>
            <a:p>
              <a:pPr marL="0" marR="0" lvl="0" indent="0" defTabSz="913765" rtl="0" eaLnBrk="1" fontAlgn="auto" latinLnBrk="0" hangingPunct="1">
                <a:spcBef>
                  <a:spcPts val="0"/>
                </a:spcBef>
                <a:spcAft>
                  <a:spcPts val="0"/>
                </a:spcAft>
                <a:buClrTx/>
                <a:buSzPct val="25000"/>
                <a:buFontTx/>
                <a:buNone/>
                <a:defRPr/>
              </a:pPr>
              <a:r>
                <a:rPr lang="zh-CN" altLang="en-US" sz="2000" b="1" dirty="0">
                  <a:latin typeface="Arial" panose="020B0604020202020204" pitchFamily="34" charset="0"/>
                  <a:ea typeface="微软雅黑" panose="020B0503020204020204" pitchFamily="34" charset="-122"/>
                  <a:cs typeface="+mn-ea"/>
                  <a:sym typeface="Arial" panose="020B0604020202020204" pitchFamily="34" charset="0"/>
                </a:rPr>
                <a:t>Extracting objective statistical evidence from historical monitoring data via MetaRCA</a:t>
              </a:r>
              <a:endParaRPr lang="en-US" dirty="0"/>
            </a:p>
          </p:txBody>
        </p:sp>
        <p:grpSp>
          <p:nvGrpSpPr>
            <p:cNvPr id="11" name="组合 10"/>
            <p:cNvGrpSpPr/>
            <p:nvPr/>
          </p:nvGrpSpPr>
          <p:grpSpPr>
            <a:xfrm>
              <a:off x="670615" y="1964285"/>
              <a:ext cx="3115184" cy="2922819"/>
              <a:chOff x="478920" y="2409449"/>
              <a:chExt cx="3115184" cy="2922819"/>
            </a:xfrm>
          </p:grpSpPr>
          <p:sp>
            <p:nvSpPr>
              <p:cNvPr id="66" name="Bullet1"/>
              <p:cNvSpPr txBox="1"/>
              <p:nvPr/>
            </p:nvSpPr>
            <p:spPr>
              <a:xfrm>
                <a:off x="478920" y="2409449"/>
                <a:ext cx="3115184" cy="514552"/>
              </a:xfrm>
              <a:prstGeom prst="rect">
                <a:avLst/>
              </a:prstGeom>
              <a:noFill/>
            </p:spPr>
            <p:txBody>
              <a:bodyPr wrap="square" lIns="91440" tIns="45720" rIns="91440" bIns="45720" anchor="ctr" anchorCtr="0">
                <a:normAutofit/>
              </a:bodyPr>
              <a:lstStyle/>
              <a:p>
                <a:pPr>
                  <a:lnSpc>
                    <a:spcPct val="120000"/>
                  </a:lnSpc>
                </a:pPr>
                <a:r>
                  <a:rPr lang="zh-CN" altLang="en-US" sz="1600" b="1" dirty="0">
                    <a:latin typeface="Arial" panose="020B0604020202020204" pitchFamily="34" charset="0"/>
                    <a:ea typeface="微软雅黑" panose="020B0503020204020204" pitchFamily="34" charset="-122"/>
                    <a:cs typeface="+mn-ea"/>
                    <a:sym typeface="Arial" panose="020B0604020202020204" pitchFamily="34" charset="0"/>
                  </a:rPr>
                  <a:t>Stage 1: Causal Discovery</a:t>
                </a:r>
                <a:endParaRPr lang="en-US" dirty="0"/>
              </a:p>
            </p:txBody>
          </p:sp>
          <p:sp>
            <p:nvSpPr>
              <p:cNvPr id="67" name="Text1"/>
              <p:cNvSpPr/>
              <p:nvPr/>
            </p:nvSpPr>
            <p:spPr>
              <a:xfrm>
                <a:off x="478920" y="2933633"/>
                <a:ext cx="3115184" cy="908855"/>
              </a:xfrm>
              <a:prstGeom prst="rect">
                <a:avLst/>
              </a:prstGeom>
              <a:ln>
                <a:noFill/>
              </a:ln>
            </p:spPr>
            <p:txBody>
              <a:bodyPr wrap="square" lIns="91440" tIns="45720" rIns="91440" bIns="45720" anchor="t"/>
              <a:lstStyle/>
              <a:p>
                <a:pPr>
                  <a:lnSpc>
                    <a:spcPct val="120000"/>
                  </a:lnSpc>
                </a:pP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For each failure incident, MetaRCA: Extracts relevant multivariate metric time series Applies causal discovery algorithms, such as</a:t>
                </a:r>
                <a:r>
                  <a:rPr lang="zh-CN" altLang="en-US" sz="1200" b="1" dirty="0">
                    <a:latin typeface="Arial" panose="020B0604020202020204" pitchFamily="34" charset="0"/>
                    <a:ea typeface="微软雅黑" panose="020B0503020204020204" pitchFamily="34" charset="-122"/>
                    <a:cs typeface="+mn-ea"/>
                    <a:sym typeface="Arial" panose="020B0604020202020204" pitchFamily="34" charset="0"/>
                  </a:rPr>
                  <a:t> PC or PCMCI</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 Identifies statistically significant instance-level causal links Example: service_A.latency → service_B.latency</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8" name="Number1"/>
              <p:cNvSpPr>
                <a:spLocks noChangeAspect="1"/>
              </p:cNvSpPr>
              <p:nvPr/>
            </p:nvSpPr>
            <p:spPr>
              <a:xfrm>
                <a:off x="1515848" y="4540268"/>
                <a:ext cx="792002" cy="792000"/>
              </a:xfrm>
              <a:prstGeom prst="ellipse">
                <a:avLst/>
              </a:prstGeom>
              <a:solidFill>
                <a:schemeClr val="accent1"/>
              </a:solidFill>
              <a:ln w="254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1</a:t>
                </a:r>
                <a:endParaRPr lang="zh-CN" altLang="en-US" sz="2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4" name="组合 13"/>
            <p:cNvGrpSpPr/>
            <p:nvPr/>
          </p:nvGrpSpPr>
          <p:grpSpPr>
            <a:xfrm>
              <a:off x="3198862" y="3642217"/>
              <a:ext cx="4217938" cy="2372597"/>
              <a:chOff x="2126151" y="3761503"/>
              <a:chExt cx="4217938" cy="2372597"/>
            </a:xfrm>
          </p:grpSpPr>
          <p:sp>
            <p:nvSpPr>
              <p:cNvPr id="69" name="Bullet2"/>
              <p:cNvSpPr txBox="1"/>
              <p:nvPr/>
            </p:nvSpPr>
            <p:spPr>
              <a:xfrm>
                <a:off x="2126151" y="4802661"/>
                <a:ext cx="4217938" cy="514552"/>
              </a:xfrm>
              <a:prstGeom prst="rect">
                <a:avLst/>
              </a:prstGeom>
              <a:noFill/>
            </p:spPr>
            <p:txBody>
              <a:bodyPr wrap="square" lIns="91440" tIns="45720" rIns="91440" bIns="45720" anchor="ctr" anchorCtr="0">
                <a:normAutofit/>
              </a:bodyPr>
              <a:lstStyle/>
              <a:p>
                <a:pPr>
                  <a:lnSpc>
                    <a:spcPct val="120000"/>
                  </a:lnSpc>
                </a:pPr>
                <a:r>
                  <a:rPr lang="zh-CN" altLang="en-US" sz="1600" b="1" dirty="0">
                    <a:latin typeface="Arial" panose="020B0604020202020204" pitchFamily="34" charset="0"/>
                    <a:ea typeface="微软雅黑" panose="020B0503020204020204" pitchFamily="34" charset="-122"/>
                    <a:cs typeface="+mn-ea"/>
                    <a:sym typeface="Arial" panose="020B0604020202020204" pitchFamily="34" charset="0"/>
                  </a:rPr>
                  <a:t>Stage 2: Connection Pattern Alignment</a:t>
                </a:r>
                <a:endParaRPr lang="en-US" dirty="0"/>
              </a:p>
            </p:txBody>
          </p:sp>
          <p:sp>
            <p:nvSpPr>
              <p:cNvPr id="70" name="Text2"/>
              <p:cNvSpPr/>
              <p:nvPr/>
            </p:nvSpPr>
            <p:spPr>
              <a:xfrm>
                <a:off x="2126151" y="5326845"/>
                <a:ext cx="4217938" cy="807255"/>
              </a:xfrm>
              <a:prstGeom prst="rect">
                <a:avLst/>
              </a:prstGeom>
              <a:ln>
                <a:noFill/>
              </a:ln>
            </p:spPr>
            <p:txBody>
              <a:bodyPr wrap="square" lIns="91440" tIns="45720" rIns="91440" bIns="45720" anchor="t"/>
              <a:lstStyle/>
              <a:p>
                <a:pPr>
                  <a:lnSpc>
                    <a:spcPct val="120000"/>
                  </a:lnSpc>
                </a:pPr>
                <a:r>
                  <a:rPr lang="zh-CN" altLang="en-US" sz="1000" dirty="0">
                    <a:latin typeface="Arial" panose="020B0604020202020204" pitchFamily="34" charset="0"/>
                    <a:ea typeface="微软雅黑" panose="020B0503020204020204" pitchFamily="34" charset="-122"/>
                    <a:cs typeface="+mn-ea"/>
                    <a:sym typeface="Arial" panose="020B0604020202020204" pitchFamily="34" charset="0"/>
                  </a:rPr>
                  <a:t>The raw causal links are further refined by: Pruning links inconsistent with </a:t>
                </a:r>
                <a:r>
                  <a:rPr lang="zh-CN" altLang="en-US" sz="1000" b="1" dirty="0">
                    <a:latin typeface="Arial" panose="020B0604020202020204" pitchFamily="34" charset="0"/>
                    <a:ea typeface="微软雅黑" panose="020B0503020204020204" pitchFamily="34" charset="-122"/>
                    <a:cs typeface="+mn-ea"/>
                    <a:sym typeface="Arial" panose="020B0604020202020204" pitchFamily="34" charset="0"/>
                  </a:rPr>
                  <a:t>service dependencies </a:t>
                </a:r>
                <a:r>
                  <a:rPr lang="zh-CN" altLang="en-US" sz="1000" dirty="0">
                    <a:latin typeface="Arial" panose="020B0604020202020204" pitchFamily="34" charset="0"/>
                    <a:ea typeface="微软雅黑" panose="020B0503020204020204" pitchFamily="34" charset="-122"/>
                    <a:cs typeface="+mn-ea"/>
                    <a:sym typeface="Arial" panose="020B0604020202020204" pitchFamily="34" charset="0"/>
                  </a:rPr>
                  <a:t>Keeping links aligned with known upstream / downstream relations Abstracting instance-level links into meta-level relations Example: service_A.latency → service_B.latency ↓ Microservice.latency → Microservice.latency</a:t>
                </a:r>
                <a:endParaRPr lang="zh-CN" altLang="en-US" sz="10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1" name="Number2"/>
              <p:cNvSpPr>
                <a:spLocks noChangeAspect="1"/>
              </p:cNvSpPr>
              <p:nvPr/>
            </p:nvSpPr>
            <p:spPr>
              <a:xfrm>
                <a:off x="3839119" y="3761503"/>
                <a:ext cx="792002" cy="792000"/>
              </a:xfrm>
              <a:prstGeom prst="ellipse">
                <a:avLst/>
              </a:prstGeom>
              <a:solidFill>
                <a:schemeClr val="accent1"/>
              </a:solidFill>
              <a:ln w="254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2</a:t>
                </a:r>
                <a:endParaRPr lang="zh-CN" altLang="en-US" sz="2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5" name="组合 14"/>
            <p:cNvGrpSpPr/>
            <p:nvPr/>
          </p:nvGrpSpPr>
          <p:grpSpPr>
            <a:xfrm>
              <a:off x="6856462" y="1130300"/>
              <a:ext cx="2922538" cy="2421382"/>
              <a:chOff x="4898292" y="1960787"/>
              <a:chExt cx="2922538" cy="2421382"/>
            </a:xfrm>
          </p:grpSpPr>
          <p:sp>
            <p:nvSpPr>
              <p:cNvPr id="75" name="Bullet3"/>
              <p:cNvSpPr txBox="1"/>
              <p:nvPr/>
            </p:nvSpPr>
            <p:spPr>
              <a:xfrm>
                <a:off x="4898292" y="1960787"/>
                <a:ext cx="2922538" cy="514552"/>
              </a:xfrm>
              <a:prstGeom prst="rect">
                <a:avLst/>
              </a:prstGeom>
              <a:noFill/>
            </p:spPr>
            <p:txBody>
              <a:bodyPr wrap="square" lIns="91440" tIns="45720" rIns="91440" bIns="45720" anchor="ctr" anchorCtr="0">
                <a:normAutofit/>
              </a:bodyPr>
              <a:lstStyle/>
              <a:p>
                <a:pPr>
                  <a:lnSpc>
                    <a:spcPct val="120000"/>
                  </a:lnSpc>
                </a:pPr>
                <a:r>
                  <a:rPr lang="zh-CN" altLang="en-US" sz="1600" b="1" dirty="0">
                    <a:latin typeface="Arial" panose="020B0604020202020204" pitchFamily="34" charset="0"/>
                    <a:ea typeface="微软雅黑" panose="020B0503020204020204" pitchFamily="34" charset="-122"/>
                    <a:cs typeface="+mn-ea"/>
                    <a:sym typeface="Arial" panose="020B0604020202020204" pitchFamily="34" charset="0"/>
                  </a:rPr>
                  <a:t>Output</a:t>
                </a:r>
                <a:endParaRPr lang="en-US" dirty="0"/>
              </a:p>
            </p:txBody>
          </p:sp>
          <p:sp>
            <p:nvSpPr>
              <p:cNvPr id="76" name="Text3"/>
              <p:cNvSpPr/>
              <p:nvPr/>
            </p:nvSpPr>
            <p:spPr>
              <a:xfrm>
                <a:off x="4898292" y="2484971"/>
                <a:ext cx="2922538" cy="956730"/>
              </a:xfrm>
              <a:prstGeom prst="rect">
                <a:avLst/>
              </a:prstGeom>
              <a:ln>
                <a:noFill/>
              </a:ln>
            </p:spPr>
            <p:txBody>
              <a:bodyPr wrap="square" lIns="91440" tIns="45720" rIns="91440" bIns="45720" anchor="t">
                <a:normAutofit/>
              </a:bodyPr>
              <a:lstStyle/>
              <a:p>
                <a:pPr>
                  <a:lnSpc>
                    <a:spcPct val="120000"/>
                  </a:lnSpc>
                </a:pP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Each statistical evidence unit is represented as: {cause component, cause metric} → {effect component, effect metric} * fault timestamp</a:t>
                </a:r>
                <a:endParaRPr lang="en-US" dirty="0"/>
              </a:p>
            </p:txBody>
          </p:sp>
          <p:sp>
            <p:nvSpPr>
              <p:cNvPr id="77" name="Number3"/>
              <p:cNvSpPr>
                <a:spLocks noChangeAspect="1"/>
              </p:cNvSpPr>
              <p:nvPr/>
            </p:nvSpPr>
            <p:spPr>
              <a:xfrm>
                <a:off x="6059883" y="3590169"/>
                <a:ext cx="792002" cy="792000"/>
              </a:xfrm>
              <a:prstGeom prst="ellipse">
                <a:avLst/>
              </a:prstGeom>
              <a:solidFill>
                <a:schemeClr val="accent1"/>
              </a:solidFill>
              <a:ln w="254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3</a:t>
                </a:r>
                <a:endParaRPr lang="zh-CN" altLang="en-US" sz="22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2" name="标题 1"/>
          <p:cNvSpPr>
            <a:spLocks noGrp="1"/>
          </p:cNvSpPr>
          <p:nvPr>
            <p:ph type="title" hasCustomPrompt="1"/>
          </p:nvPr>
        </p:nvSpPr>
        <p:spPr/>
        <p:txBody>
          <a:bodyPr/>
          <a:lstStyle/>
          <a:p>
            <a:r>
              <a:rPr lang="zh-CN" altLang="en-US" dirty="0"/>
              <a:t>Statistical Evidence from Observability Data</a:t>
            </a:r>
            <a:endParaRPr 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C8BB1146-E542-4D4E-B8E9-6919A11DDD48}" type="slidenum">
              <a:rPr lang="en-US" smtClean="0"/>
            </a:fld>
            <a:endParaRPr lang="en-US"/>
          </a:p>
        </p:txBody>
      </p:sp>
      <p:pic>
        <p:nvPicPr>
          <p:cNvPr id="6" name="图片 5"/>
          <p:cNvPicPr>
            <a:picLocks noChangeAspect="1"/>
          </p:cNvPicPr>
          <p:nvPr/>
        </p:nvPicPr>
        <p:blipFill>
          <a:blip r:embed="rId1"/>
          <a:stretch>
            <a:fillRect/>
          </a:stretch>
        </p:blipFill>
        <p:spPr>
          <a:xfrm>
            <a:off x="7916545" y="3865880"/>
            <a:ext cx="3718560" cy="1021080"/>
          </a:xfrm>
          <a:prstGeom prst="rect">
            <a:avLst/>
          </a:prstGeom>
        </p:spPr>
      </p:pic>
    </p:spTree>
    <p:custDataLst>
      <p:tags r:id="rId2"/>
    </p:custData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a20f0a4b-d491-4450-8163-ae036c394490.source.3.zh-Hans.pptx"/>
          <p:cNvGrpSpPr/>
          <p:nvPr/>
        </p:nvGrpSpPr>
        <p:grpSpPr>
          <a:xfrm>
            <a:off x="660400" y="1130300"/>
            <a:ext cx="10858500" cy="4819289"/>
            <a:chOff x="660400" y="1130300"/>
            <a:chExt cx="10858500" cy="4819289"/>
          </a:xfrm>
        </p:grpSpPr>
        <p:sp>
          <p:nvSpPr>
            <p:cNvPr id="29" name="Title"/>
            <p:cNvSpPr txBox="1"/>
            <p:nvPr/>
          </p:nvSpPr>
          <p:spPr>
            <a:xfrm>
              <a:off x="660400" y="1130300"/>
              <a:ext cx="10858500" cy="523220"/>
            </a:xfrm>
            <a:prstGeom prst="rect">
              <a:avLst/>
            </a:prstGeom>
            <a:noFill/>
          </p:spPr>
          <p:txBody>
            <a:bodyPr wrap="square" lIns="91440" tIns="45720" rIns="91440" bIns="45720" rtlCol="0" anchor="ctr" anchorCtr="0">
              <a:norm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spcBef>
                  <a:spcPts val="0"/>
                </a:spcBef>
                <a:spcAft>
                  <a:spcPts val="100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Updating causal edge confidence in MCG through standardized evidence and Bayesian methods</a:t>
              </a:r>
              <a:endParaRPr lang="en-US" dirty="0"/>
            </a:p>
          </p:txBody>
        </p:sp>
        <p:sp>
          <p:nvSpPr>
            <p:cNvPr id="8" name="islide-7"/>
            <p:cNvSpPr>
              <a:spLocks noChangeShapeType="1"/>
            </p:cNvSpPr>
            <p:nvPr/>
          </p:nvSpPr>
          <p:spPr bwMode="auto">
            <a:xfrm flipV="1">
              <a:off x="8289428" y="4370237"/>
              <a:ext cx="0" cy="259139"/>
            </a:xfrm>
            <a:prstGeom prst="line">
              <a:avLst/>
            </a:prstGeom>
            <a:noFill/>
            <a:ln w="44450" cap="flat">
              <a:solidFill>
                <a:schemeClr val="tx1">
                  <a:alpha val="15000"/>
                </a:schemeClr>
              </a:solidFill>
              <a:prstDash val="solid"/>
              <a:miter lim="800000"/>
              <a:head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islide-17"/>
            <p:cNvSpPr>
              <a:spLocks noChangeShapeType="1"/>
            </p:cNvSpPr>
            <p:nvPr/>
          </p:nvSpPr>
          <p:spPr bwMode="auto">
            <a:xfrm flipV="1">
              <a:off x="3914449" y="4370237"/>
              <a:ext cx="0" cy="259139"/>
            </a:xfrm>
            <a:prstGeom prst="line">
              <a:avLst/>
            </a:prstGeom>
            <a:noFill/>
            <a:ln w="44450" cap="flat">
              <a:solidFill>
                <a:schemeClr val="tx1">
                  <a:alpha val="15000"/>
                </a:schemeClr>
              </a:solidFill>
              <a:prstDash val="solid"/>
              <a:miter lim="800000"/>
              <a:head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5" name="组合 24"/>
            <p:cNvGrpSpPr/>
            <p:nvPr/>
          </p:nvGrpSpPr>
          <p:grpSpPr>
            <a:xfrm>
              <a:off x="1659057" y="3220736"/>
              <a:ext cx="8861186" cy="1127382"/>
              <a:chOff x="660400" y="3220736"/>
              <a:chExt cx="6208830" cy="1127382"/>
            </a:xfrm>
          </p:grpSpPr>
          <p:sp>
            <p:nvSpPr>
              <p:cNvPr id="2" name="islide-1"/>
              <p:cNvSpPr>
                <a:spLocks noChangeShapeType="1"/>
              </p:cNvSpPr>
              <p:nvPr/>
            </p:nvSpPr>
            <p:spPr bwMode="auto">
              <a:xfrm>
                <a:off x="3764948" y="3220736"/>
                <a:ext cx="0" cy="272668"/>
              </a:xfrm>
              <a:prstGeom prst="line">
                <a:avLst/>
              </a:prstGeom>
              <a:noFill/>
              <a:ln w="44450" cap="flat">
                <a:solidFill>
                  <a:schemeClr val="tx1">
                    <a:alpha val="15000"/>
                  </a:schemeClr>
                </a:solidFill>
                <a:prstDash val="solid"/>
                <a:miter lim="800000"/>
                <a:head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islide-3"/>
              <p:cNvSpPr/>
              <p:nvPr/>
            </p:nvSpPr>
            <p:spPr bwMode="auto">
              <a:xfrm>
                <a:off x="3758895" y="3517625"/>
                <a:ext cx="863486" cy="506830"/>
              </a:xfrm>
              <a:custGeom>
                <a:avLst/>
                <a:gdLst>
                  <a:gd name="T0" fmla="*/ 0 w 287"/>
                  <a:gd name="T1" fmla="*/ 0 h 195"/>
                  <a:gd name="T2" fmla="*/ 287 w 287"/>
                  <a:gd name="T3" fmla="*/ 195 h 195"/>
                </a:gdLst>
                <a:ahLst/>
                <a:cxnLst>
                  <a:cxn ang="0">
                    <a:pos x="T0" y="T1"/>
                  </a:cxn>
                  <a:cxn ang="0">
                    <a:pos x="T2" y="T3"/>
                  </a:cxn>
                </a:cxnLst>
                <a:rect l="0" t="0" r="r" b="b"/>
                <a:pathLst>
                  <a:path w="287" h="195">
                    <a:moveTo>
                      <a:pt x="0" y="0"/>
                    </a:moveTo>
                    <a:cubicBezTo>
                      <a:pt x="148" y="0"/>
                      <a:pt x="211" y="105"/>
                      <a:pt x="287" y="195"/>
                    </a:cubicBezTo>
                  </a:path>
                </a:pathLst>
              </a:custGeom>
              <a:noFill/>
              <a:ln w="47625" cap="flat">
                <a:solidFill>
                  <a:schemeClr val="tx1">
                    <a:alpha val="15000"/>
                  </a:schemeClr>
                </a:solidFill>
                <a:prstDash val="solid"/>
                <a:miter lim="800000"/>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islide-4"/>
              <p:cNvSpPr/>
              <p:nvPr/>
            </p:nvSpPr>
            <p:spPr bwMode="auto">
              <a:xfrm>
                <a:off x="3103712" y="3517625"/>
                <a:ext cx="655183" cy="291401"/>
              </a:xfrm>
              <a:custGeom>
                <a:avLst/>
                <a:gdLst>
                  <a:gd name="T0" fmla="*/ 0 w 218"/>
                  <a:gd name="T1" fmla="*/ 112 h 112"/>
                  <a:gd name="T2" fmla="*/ 218 w 218"/>
                  <a:gd name="T3" fmla="*/ 0 h 112"/>
                </a:gdLst>
                <a:ahLst/>
                <a:cxnLst>
                  <a:cxn ang="0">
                    <a:pos x="T0" y="T1"/>
                  </a:cxn>
                  <a:cxn ang="0">
                    <a:pos x="T2" y="T3"/>
                  </a:cxn>
                </a:cxnLst>
                <a:rect l="0" t="0" r="r" b="b"/>
                <a:pathLst>
                  <a:path w="218" h="112">
                    <a:moveTo>
                      <a:pt x="0" y="112"/>
                    </a:moveTo>
                    <a:cubicBezTo>
                      <a:pt x="53" y="51"/>
                      <a:pt x="115" y="0"/>
                      <a:pt x="218" y="0"/>
                    </a:cubicBezTo>
                  </a:path>
                </a:pathLst>
              </a:custGeom>
              <a:noFill/>
              <a:ln w="47625" cap="flat">
                <a:solidFill>
                  <a:schemeClr val="tx1">
                    <a:alpha val="15000"/>
                  </a:schemeClr>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islide-9"/>
              <p:cNvSpPr/>
              <p:nvPr/>
            </p:nvSpPr>
            <p:spPr bwMode="auto">
              <a:xfrm>
                <a:off x="4622381" y="3894365"/>
                <a:ext cx="1503369" cy="453753"/>
              </a:xfrm>
              <a:custGeom>
                <a:avLst/>
                <a:gdLst>
                  <a:gd name="T0" fmla="*/ 0 w 499"/>
                  <a:gd name="T1" fmla="*/ 50 h 175"/>
                  <a:gd name="T2" fmla="*/ 229 w 499"/>
                  <a:gd name="T3" fmla="*/ 175 h 175"/>
                  <a:gd name="T4" fmla="*/ 499 w 499"/>
                  <a:gd name="T5" fmla="*/ 0 h 175"/>
                </a:gdLst>
                <a:ahLst/>
                <a:cxnLst>
                  <a:cxn ang="0">
                    <a:pos x="T0" y="T1"/>
                  </a:cxn>
                  <a:cxn ang="0">
                    <a:pos x="T2" y="T3"/>
                  </a:cxn>
                  <a:cxn ang="0">
                    <a:pos x="T4" y="T5"/>
                  </a:cxn>
                </a:cxnLst>
                <a:rect l="0" t="0" r="r" b="b"/>
                <a:pathLst>
                  <a:path w="499" h="175">
                    <a:moveTo>
                      <a:pt x="0" y="50"/>
                    </a:moveTo>
                    <a:cubicBezTo>
                      <a:pt x="56" y="117"/>
                      <a:pt x="119" y="175"/>
                      <a:pt x="229" y="175"/>
                    </a:cubicBezTo>
                    <a:cubicBezTo>
                      <a:pt x="366" y="175"/>
                      <a:pt x="431" y="85"/>
                      <a:pt x="499" y="0"/>
                    </a:cubicBezTo>
                  </a:path>
                </a:pathLst>
              </a:custGeom>
              <a:noFill/>
              <a:ln w="47625" cap="flat">
                <a:solidFill>
                  <a:schemeClr val="tx1">
                    <a:alpha val="15000"/>
                  </a:schemeClr>
                </a:solidFill>
                <a:prstDash val="solid"/>
                <a:miter lim="800000"/>
              </a:ln>
            </p:spPr>
            <p:txBody>
              <a:bodyPr vert="horz" wrap="square" lIns="91440" tIns="45720" rIns="91440" bIns="45720" numCol="1" anchor="t" anchorCtr="0" compatLnSpc="1"/>
              <a:lstStyle/>
              <a:p>
                <a:endParaRPr lang="zh-CN" altLang="en-US" dirty="0">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islide-19"/>
              <p:cNvSpPr/>
              <p:nvPr/>
            </p:nvSpPr>
            <p:spPr bwMode="auto">
              <a:xfrm>
                <a:off x="660400" y="3517625"/>
                <a:ext cx="2445128" cy="830492"/>
              </a:xfrm>
              <a:custGeom>
                <a:avLst/>
                <a:gdLst>
                  <a:gd name="T0" fmla="*/ 0 w 813"/>
                  <a:gd name="T1" fmla="*/ 0 h 320"/>
                  <a:gd name="T2" fmla="*/ 515 w 813"/>
                  <a:gd name="T3" fmla="*/ 320 h 320"/>
                  <a:gd name="T4" fmla="*/ 813 w 813"/>
                  <a:gd name="T5" fmla="*/ 112 h 320"/>
                </a:gdLst>
                <a:ahLst/>
                <a:cxnLst>
                  <a:cxn ang="0">
                    <a:pos x="T0" y="T1"/>
                  </a:cxn>
                  <a:cxn ang="0">
                    <a:pos x="T2" y="T3"/>
                  </a:cxn>
                  <a:cxn ang="0">
                    <a:pos x="T4" y="T5"/>
                  </a:cxn>
                </a:cxnLst>
                <a:rect l="0" t="0" r="r" b="b"/>
                <a:pathLst>
                  <a:path w="813" h="320">
                    <a:moveTo>
                      <a:pt x="0" y="0"/>
                    </a:moveTo>
                    <a:cubicBezTo>
                      <a:pt x="258" y="0"/>
                      <a:pt x="258" y="320"/>
                      <a:pt x="515" y="320"/>
                    </a:cubicBezTo>
                    <a:cubicBezTo>
                      <a:pt x="670" y="320"/>
                      <a:pt x="732" y="204"/>
                      <a:pt x="813" y="112"/>
                    </a:cubicBezTo>
                  </a:path>
                </a:pathLst>
              </a:custGeom>
              <a:noFill/>
              <a:ln w="47625" cap="flat">
                <a:solidFill>
                  <a:schemeClr val="tx1">
                    <a:alpha val="15000"/>
                  </a:schemeClr>
                </a:solidFill>
                <a:prstDash val="solid"/>
                <a:miter lim="800000"/>
                <a:tailEnd type="stealth" w="lg" len="lg"/>
              </a:ln>
            </p:spPr>
            <p:txBody>
              <a:bodyPr vert="horz" wrap="square" lIns="91440" tIns="45720" rIns="91440" bIns="45720" numCol="1" anchor="t" anchorCtr="0" compatLnSpc="1"/>
              <a:lstStyle/>
              <a:p>
                <a:endParaRPr lang="zh-CN" altLang="en-US">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5" name="islide-14"/>
              <p:cNvSpPr/>
              <p:nvPr/>
            </p:nvSpPr>
            <p:spPr bwMode="auto">
              <a:xfrm>
                <a:off x="6123900" y="3511867"/>
                <a:ext cx="745330" cy="386939"/>
              </a:xfrm>
              <a:custGeom>
                <a:avLst/>
                <a:gdLst>
                  <a:gd name="T0" fmla="*/ 0 w 524"/>
                  <a:gd name="T1" fmla="*/ 145 h 184"/>
                  <a:gd name="T2" fmla="*/ 246 w 524"/>
                  <a:gd name="T3" fmla="*/ 0 h 184"/>
                  <a:gd name="T4" fmla="*/ 524 w 524"/>
                  <a:gd name="T5" fmla="*/ 184 h 184"/>
                  <a:gd name="connsiteX0" fmla="*/ 0 w 4695"/>
                  <a:gd name="connsiteY0" fmla="*/ 7880 h 7880"/>
                  <a:gd name="connsiteX1" fmla="*/ 4695 w 4695"/>
                  <a:gd name="connsiteY1" fmla="*/ 0 h 7880"/>
                </a:gdLst>
                <a:ahLst/>
                <a:cxnLst>
                  <a:cxn ang="0">
                    <a:pos x="connsiteX0" y="connsiteY0"/>
                  </a:cxn>
                  <a:cxn ang="0">
                    <a:pos x="connsiteX1" y="connsiteY1"/>
                  </a:cxn>
                </a:cxnLst>
                <a:rect l="l" t="t" r="r" b="b"/>
                <a:pathLst>
                  <a:path w="4695" h="7880">
                    <a:moveTo>
                      <a:pt x="0" y="7880"/>
                    </a:moveTo>
                    <a:cubicBezTo>
                      <a:pt x="1164" y="3804"/>
                      <a:pt x="2385" y="0"/>
                      <a:pt x="4695" y="0"/>
                    </a:cubicBezTo>
                  </a:path>
                </a:pathLst>
              </a:custGeom>
              <a:noFill/>
              <a:ln w="47625" cap="flat">
                <a:solidFill>
                  <a:schemeClr val="tx1">
                    <a:alpha val="15000"/>
                  </a:schemeClr>
                </a:solidFill>
                <a:prstDash val="solid"/>
                <a:miter lim="800000"/>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00" name="组合 199"/>
            <p:cNvGrpSpPr/>
            <p:nvPr/>
          </p:nvGrpSpPr>
          <p:grpSpPr>
            <a:xfrm>
              <a:off x="670692" y="2671376"/>
              <a:ext cx="3617384" cy="2899550"/>
              <a:chOff x="-502072" y="3234550"/>
              <a:chExt cx="3617384" cy="2899550"/>
            </a:xfrm>
          </p:grpSpPr>
          <p:sp>
            <p:nvSpPr>
              <p:cNvPr id="22" name="Number1"/>
              <p:cNvSpPr>
                <a:spLocks noChangeArrowheads="1"/>
              </p:cNvSpPr>
              <p:nvPr/>
            </p:nvSpPr>
            <p:spPr bwMode="auto">
              <a:xfrm>
                <a:off x="883348" y="3234550"/>
                <a:ext cx="857025" cy="862755"/>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1</a:t>
                </a:r>
                <a:endParaRPr lang="zh-CN" altLang="en-US"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Bullet1"/>
              <p:cNvSpPr txBox="1"/>
              <p:nvPr/>
            </p:nvSpPr>
            <p:spPr>
              <a:xfrm>
                <a:off x="-502072" y="4766206"/>
                <a:ext cx="3617384" cy="509733"/>
              </a:xfrm>
              <a:prstGeom prst="rect">
                <a:avLst/>
              </a:prstGeom>
              <a:noFill/>
            </p:spPr>
            <p:txBody>
              <a:bodyPr wrap="square" lIns="91440" tIns="45720" rIns="91440" bIns="45720" rtlCol="0" anchor="ctr" anchorCtr="0">
                <a:normAutofit/>
              </a:bodyPr>
              <a:lstStyle>
                <a:defPPr>
                  <a:defRPr lang="zh-CN"/>
                </a:defPPr>
                <a:lvl1pPr marR="0" lvl="0" indent="0" fontAlgn="auto">
                  <a:lnSpc>
                    <a:spcPct val="100000"/>
                  </a:lnSpc>
                  <a:spcBef>
                    <a:spcPts val="0"/>
                  </a:spcBef>
                  <a:spcAft>
                    <a:spcPts val="0"/>
                  </a:spcAft>
                  <a:buClrTx/>
                  <a:buSzTx/>
                  <a:buFontTx/>
                  <a:buNone/>
                  <a:defRPr kumimoji="0" sz="22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nSpc>
                    <a:spcPct val="120000"/>
                  </a:lnSpc>
                </a:pPr>
                <a:r>
                  <a:rPr lang="zh-CN" altLang="en-US" sz="16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Causal Belief Score Definition</a:t>
                </a:r>
                <a:endParaRPr lang="en-US" dirty="0"/>
              </a:p>
            </p:txBody>
          </p:sp>
          <p:sp>
            <p:nvSpPr>
              <p:cNvPr id="34" name="Text1"/>
              <p:cNvSpPr txBox="1"/>
              <p:nvPr/>
            </p:nvSpPr>
            <p:spPr>
              <a:xfrm>
                <a:off x="-502072" y="5283276"/>
                <a:ext cx="3617384" cy="850824"/>
              </a:xfrm>
              <a:prstGeom prst="rect">
                <a:avLst/>
              </a:prstGeom>
              <a:noFill/>
            </p:spPr>
            <p:txBody>
              <a:bodyPr wrap="square" lIns="91440" tIns="45720" rIns="91440" bIns="45720" rtlCol="0" anchor="t" anchorCtr="0"/>
              <a:lstStyle>
                <a:defPPr>
                  <a:defRPr lang="zh-CN"/>
                </a:defPPr>
                <a:lvl1pPr marR="0" lvl="0" indent="0" fontAlgn="auto">
                  <a:lnSpc>
                    <a:spcPct val="130000"/>
                  </a:lnSpc>
                  <a:spcBef>
                    <a:spcPts val="0"/>
                  </a:spcBef>
                  <a:spcAft>
                    <a:spcPts val="0"/>
                  </a:spcAft>
                  <a:buClrTx/>
                  <a:buSzTx/>
                  <a:buFontTx/>
                  <a:buNone/>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a:lnSpc>
                    <a:spcPct val="120000"/>
                  </a:lnSpc>
                </a:pPr>
                <a:r>
                  <a:rPr lang="zh-CN" altLang="en-US"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For each causal edge `e`, MetaRCA maintains a belief score: </a:t>
                </a:r>
                <a:r>
                  <a:rPr lang="zh-CN" altLang="en-US" sz="16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CBS(e)</a:t>
                </a:r>
                <a:r>
                  <a:rPr lang="zh-CN" altLang="en-US"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 = posterior probability that edge `e` represents a true causal relation. In other words: Higher CBS(e) → Stronger confidence in this causal edge.</a:t>
                </a:r>
                <a:endParaRPr lang="zh-CN" altLang="en-US"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01" name="组合 200"/>
            <p:cNvGrpSpPr/>
            <p:nvPr/>
          </p:nvGrpSpPr>
          <p:grpSpPr>
            <a:xfrm>
              <a:off x="4242023" y="1484883"/>
              <a:ext cx="3617384" cy="2885384"/>
              <a:chOff x="784379" y="1725930"/>
              <a:chExt cx="3617384" cy="2885384"/>
            </a:xfrm>
          </p:grpSpPr>
          <p:sp>
            <p:nvSpPr>
              <p:cNvPr id="7" name="Number2"/>
              <p:cNvSpPr>
                <a:spLocks noChangeArrowheads="1"/>
              </p:cNvSpPr>
              <p:nvPr/>
            </p:nvSpPr>
            <p:spPr bwMode="auto">
              <a:xfrm>
                <a:off x="2224725" y="3750851"/>
                <a:ext cx="859318" cy="860463"/>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2</a:t>
                </a:r>
                <a:endParaRPr lang="zh-CN" altLang="en-US"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Bullet2"/>
              <p:cNvSpPr txBox="1"/>
              <p:nvPr/>
            </p:nvSpPr>
            <p:spPr>
              <a:xfrm>
                <a:off x="784379" y="1725930"/>
                <a:ext cx="3617384" cy="509733"/>
              </a:xfrm>
              <a:prstGeom prst="rect">
                <a:avLst/>
              </a:prstGeom>
              <a:noFill/>
            </p:spPr>
            <p:txBody>
              <a:bodyPr wrap="square" lIns="91440" tIns="45720" rIns="91440" bIns="45720" rtlCol="0" anchor="ctr" anchorCtr="0">
                <a:normAutofit/>
              </a:bodyPr>
              <a:lstStyle>
                <a:defPPr>
                  <a:defRPr lang="zh-CN"/>
                </a:defPPr>
                <a:lvl1pPr marR="0" lvl="0" indent="0" fontAlgn="auto">
                  <a:lnSpc>
                    <a:spcPct val="100000"/>
                  </a:lnSpc>
                  <a:spcBef>
                    <a:spcPts val="0"/>
                  </a:spcBef>
                  <a:spcAft>
                    <a:spcPts val="0"/>
                  </a:spcAft>
                  <a:buClrTx/>
                  <a:buSzTx/>
                  <a:buFontTx/>
                  <a:buNone/>
                  <a:defRPr kumimoji="0" sz="16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nSpc>
                    <a:spcPct val="120000"/>
                  </a:lnSpc>
                </a:pPr>
                <a:r>
                  <a:rPr lang="zh-CN" altLang="en-US" sz="16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Log-Odds Representation and Updating Mechanism</a:t>
                </a:r>
                <a:endParaRPr lang="en-US" dirty="0"/>
              </a:p>
            </p:txBody>
          </p:sp>
          <p:sp>
            <p:nvSpPr>
              <p:cNvPr id="36" name="Text2"/>
              <p:cNvSpPr txBox="1"/>
              <p:nvPr/>
            </p:nvSpPr>
            <p:spPr>
              <a:xfrm>
                <a:off x="784379" y="2242999"/>
                <a:ext cx="3617384" cy="850824"/>
              </a:xfrm>
              <a:prstGeom prst="rect">
                <a:avLst/>
              </a:prstGeom>
              <a:noFill/>
            </p:spPr>
            <p:txBody>
              <a:bodyPr wrap="square" lIns="91440" tIns="45720" rIns="91440" bIns="45720" rtlCol="0" anchor="t" anchorCtr="0">
                <a:normAutofit/>
              </a:bodyPr>
              <a:lstStyle>
                <a:defPPr>
                  <a:defRPr lang="zh-CN"/>
                </a:defPPr>
                <a:lvl1pPr marR="0" lvl="0" indent="0" fontAlgn="auto">
                  <a:lnSpc>
                    <a:spcPct val="130000"/>
                  </a:lnSpc>
                  <a:spcBef>
                    <a:spcPts val="0"/>
                  </a:spcBef>
                  <a:spcAft>
                    <a:spcPts val="0"/>
                  </a:spcAft>
                  <a:buClrTx/>
                  <a:buSzTx/>
                  <a:buFontTx/>
                  <a:buNone/>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a:lnSpc>
                    <a:spcPct val="120000"/>
                  </a:lnSpc>
                </a:pPr>
                <a:r>
                  <a:rPr lang="zh-CN" altLang="en-US"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For numerical stability and efficient Bayesian updating, MetaRCA updates beliefs in the log-odds space. Initial belief comes from the LLM prior: p₀(e). It is converted into an initial log-odds score: L₀(e) = log(p₀(e) / (1 − p₀(e))). The final belief score is obtained through the sigmoid function: CBS(e) = σ(L(e)).</a:t>
                </a:r>
                <a:endParaRPr lang="en-US" dirty="0"/>
              </a:p>
            </p:txBody>
          </p:sp>
        </p:grpSp>
        <p:grpSp>
          <p:nvGrpSpPr>
            <p:cNvPr id="202" name="组合 201"/>
            <p:cNvGrpSpPr/>
            <p:nvPr/>
          </p:nvGrpSpPr>
          <p:grpSpPr>
            <a:xfrm>
              <a:off x="7741041" y="3050039"/>
              <a:ext cx="3617384" cy="2899550"/>
              <a:chOff x="2164281" y="3234550"/>
              <a:chExt cx="3617384" cy="2899550"/>
            </a:xfrm>
          </p:grpSpPr>
          <p:sp>
            <p:nvSpPr>
              <p:cNvPr id="12" name="Number3"/>
              <p:cNvSpPr>
                <a:spLocks noChangeArrowheads="1"/>
              </p:cNvSpPr>
              <p:nvPr/>
            </p:nvSpPr>
            <p:spPr bwMode="auto">
              <a:xfrm>
                <a:off x="3552786" y="3234550"/>
                <a:ext cx="857025" cy="862755"/>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3</a:t>
                </a:r>
                <a:endParaRPr lang="zh-CN" altLang="en-US"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Bullet3"/>
              <p:cNvSpPr txBox="1"/>
              <p:nvPr/>
            </p:nvSpPr>
            <p:spPr>
              <a:xfrm>
                <a:off x="2164281" y="4766206"/>
                <a:ext cx="3617384" cy="509733"/>
              </a:xfrm>
              <a:prstGeom prst="rect">
                <a:avLst/>
              </a:prstGeom>
              <a:noFill/>
            </p:spPr>
            <p:txBody>
              <a:bodyPr wrap="square" lIns="91440" tIns="45720" rIns="91440" bIns="45720" rtlCol="0" anchor="ctr" anchorCtr="0">
                <a:normAutofit/>
              </a:bodyPr>
              <a:lstStyle>
                <a:defPPr>
                  <a:defRPr lang="zh-CN"/>
                </a:defPPr>
                <a:lvl1pPr marR="0" lvl="0" indent="0" fontAlgn="auto">
                  <a:lnSpc>
                    <a:spcPct val="100000"/>
                  </a:lnSpc>
                  <a:spcBef>
                    <a:spcPts val="0"/>
                  </a:spcBef>
                  <a:spcAft>
                    <a:spcPts val="0"/>
                  </a:spcAft>
                  <a:buClrTx/>
                  <a:buSzTx/>
                  <a:buFontTx/>
                  <a:buNone/>
                  <a:defRPr kumimoji="0" sz="16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nSpc>
                    <a:spcPct val="120000"/>
                  </a:lnSpc>
                </a:pPr>
                <a:r>
                  <a:rPr lang="zh-CN" altLang="en-US" sz="16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Key Point of Belief Evolution</a:t>
                </a:r>
                <a:endParaRPr lang="en-US" dirty="0"/>
              </a:p>
            </p:txBody>
          </p:sp>
          <p:sp>
            <p:nvSpPr>
              <p:cNvPr id="38" name="Text3"/>
              <p:cNvSpPr txBox="1"/>
              <p:nvPr/>
            </p:nvSpPr>
            <p:spPr>
              <a:xfrm>
                <a:off x="2164281" y="5283276"/>
                <a:ext cx="3617384" cy="850824"/>
              </a:xfrm>
              <a:prstGeom prst="rect">
                <a:avLst/>
              </a:prstGeom>
              <a:noFill/>
            </p:spPr>
            <p:txBody>
              <a:bodyPr wrap="square" lIns="91440" tIns="45720" rIns="91440" bIns="45720" rtlCol="0" anchor="t" anchorCtr="0">
                <a:noAutofit/>
              </a:bodyPr>
              <a:lstStyle>
                <a:defPPr>
                  <a:defRPr lang="zh-CN"/>
                </a:defPPr>
                <a:lvl1pPr marR="0" lvl="0" indent="0" fontAlgn="auto">
                  <a:lnSpc>
                    <a:spcPct val="130000"/>
                  </a:lnSpc>
                  <a:spcBef>
                    <a:spcPts val="0"/>
                  </a:spcBef>
                  <a:spcAft>
                    <a:spcPts val="0"/>
                  </a:spcAft>
                  <a:buClrTx/>
                  <a:buSzTx/>
                  <a:buFontTx/>
                  <a:buNone/>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a:lnSpc>
                    <a:spcPct val="120000"/>
                  </a:lnSpc>
                </a:pPr>
                <a:r>
                  <a:rPr lang="zh-CN" altLang="en-US"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LLM provides the initial prior belief, while historical evidence continuously updates the causal confidence of each edge.</a:t>
                </a:r>
                <a:endParaRPr lang="en-US" dirty="0"/>
              </a:p>
            </p:txBody>
          </p:sp>
        </p:grpSp>
      </p:grpSp>
      <p:sp>
        <p:nvSpPr>
          <p:cNvPr id="3" name="标题 2"/>
          <p:cNvSpPr>
            <a:spLocks noGrp="1"/>
          </p:cNvSpPr>
          <p:nvPr>
            <p:ph type="title" hasCustomPrompt="1"/>
          </p:nvPr>
        </p:nvSpPr>
        <p:spPr/>
        <p:txBody>
          <a:bodyPr/>
          <a:lstStyle/>
          <a:p>
            <a:r>
              <a:rPr lang="zh-CN" altLang="en-US" dirty="0"/>
              <a:t>Bayesian Belief Evolution Model</a:t>
            </a:r>
            <a:endParaRPr lang="en-US" dirty="0"/>
          </a:p>
        </p:txBody>
      </p:sp>
      <p:sp>
        <p:nvSpPr>
          <p:cNvPr id="6" name="日期占位符 5"/>
          <p:cNvSpPr>
            <a:spLocks noGrp="1"/>
          </p:cNvSpPr>
          <p:nvPr>
            <p:ph type="dt" sz="half" idx="10"/>
          </p:nvPr>
        </p:nvSpPr>
        <p:spPr/>
        <p:txBody>
          <a:bodyPr/>
          <a:lstStyle/>
          <a:p>
            <a:endParaRPr lang="en-US"/>
          </a:p>
        </p:txBody>
      </p:sp>
      <p:sp>
        <p:nvSpPr>
          <p:cNvPr id="9" name="页脚占位符 8"/>
          <p:cNvSpPr>
            <a:spLocks noGrp="1"/>
          </p:cNvSpPr>
          <p:nvPr>
            <p:ph type="ftr" sz="quarter" idx="11"/>
          </p:nvPr>
        </p:nvSpPr>
        <p:spPr/>
        <p:txBody>
          <a:bodyPr/>
          <a:lstStyle/>
          <a:p>
            <a:endParaRPr lang="en-US"/>
          </a:p>
        </p:txBody>
      </p:sp>
      <p:sp>
        <p:nvSpPr>
          <p:cNvPr id="11" name="灯片编号占位符 10"/>
          <p:cNvSpPr>
            <a:spLocks noGrp="1"/>
          </p:cNvSpPr>
          <p:nvPr>
            <p:ph type="sldNum" sz="quarter" idx="12"/>
          </p:nvPr>
        </p:nvSpPr>
        <p:spPr/>
        <p:txBody>
          <a:bodyPr/>
          <a:lstStyle/>
          <a:p>
            <a:fld id="{C8BB1146-E542-4D4E-B8E9-6919A11DDD48}" type="slidenum">
              <a:rPr lang="en-US" smtClean="0"/>
            </a:fld>
            <a:endParaRPr lang="en-US"/>
          </a:p>
        </p:txBody>
      </p:sp>
      <p:pic>
        <p:nvPicPr>
          <p:cNvPr id="16" name="图片 15"/>
          <p:cNvPicPr>
            <a:picLocks noChangeAspect="1"/>
          </p:cNvPicPr>
          <p:nvPr/>
        </p:nvPicPr>
        <p:blipFill>
          <a:blip r:embed="rId1"/>
          <a:stretch>
            <a:fillRect/>
          </a:stretch>
        </p:blipFill>
        <p:spPr>
          <a:xfrm>
            <a:off x="464820" y="1801495"/>
            <a:ext cx="3545205" cy="721995"/>
          </a:xfrm>
          <a:prstGeom prst="rect">
            <a:avLst/>
          </a:prstGeom>
        </p:spPr>
      </p:pic>
      <p:pic>
        <p:nvPicPr>
          <p:cNvPr id="17" name="图片 16"/>
          <p:cNvPicPr>
            <a:picLocks noChangeAspect="1"/>
          </p:cNvPicPr>
          <p:nvPr/>
        </p:nvPicPr>
        <p:blipFill>
          <a:blip r:embed="rId2"/>
          <a:stretch>
            <a:fillRect/>
          </a:stretch>
        </p:blipFill>
        <p:spPr>
          <a:xfrm>
            <a:off x="4318000" y="4756150"/>
            <a:ext cx="3429000" cy="922020"/>
          </a:xfrm>
          <a:prstGeom prst="rect">
            <a:avLst/>
          </a:prstGeom>
        </p:spPr>
      </p:pic>
      <p:sp>
        <p:nvSpPr>
          <p:cNvPr id="19" name="文本框 18"/>
          <p:cNvSpPr txBox="1"/>
          <p:nvPr/>
        </p:nvSpPr>
        <p:spPr>
          <a:xfrm>
            <a:off x="45720" y="3453130"/>
            <a:ext cx="2594610" cy="460375"/>
          </a:xfrm>
          <a:prstGeom prst="rect">
            <a:avLst/>
          </a:prstGeom>
          <a:noFill/>
        </p:spPr>
        <p:txBody>
          <a:bodyPr wrap="square" rtlCol="0" anchor="t">
            <a:spAutoFit/>
          </a:bodyPr>
          <a:p>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{cause component, cause metric} → {effect component, effect metric} </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1" name="图片 20"/>
          <p:cNvPicPr>
            <a:picLocks noChangeAspect="1"/>
          </p:cNvPicPr>
          <p:nvPr/>
        </p:nvPicPr>
        <p:blipFill>
          <a:blip r:embed="rId3"/>
          <a:stretch>
            <a:fillRect/>
          </a:stretch>
        </p:blipFill>
        <p:spPr>
          <a:xfrm>
            <a:off x="8676005" y="1461770"/>
            <a:ext cx="2972435" cy="1545590"/>
          </a:xfrm>
          <a:prstGeom prst="rect">
            <a:avLst/>
          </a:prstGeom>
        </p:spPr>
      </p:pic>
    </p:spTree>
    <p:custDataLst>
      <p:tags r:id="rId4"/>
    </p:custData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812c1dfe-6ae2-4ad3-8eb1-d286c5d069c1.source.4.zh-Hans.pptx"/>
          <p:cNvGrpSpPr/>
          <p:nvPr/>
        </p:nvGrpSpPr>
        <p:grpSpPr>
          <a:xfrm>
            <a:off x="660400" y="1130300"/>
            <a:ext cx="10858500" cy="5243830"/>
            <a:chOff x="660400" y="1130300"/>
            <a:chExt cx="10858500" cy="2980792"/>
          </a:xfrm>
        </p:grpSpPr>
        <p:cxnSp>
          <p:nvCxnSpPr>
            <p:cNvPr id="2" name="直接连接符 1"/>
            <p:cNvCxnSpPr/>
            <p:nvPr/>
          </p:nvCxnSpPr>
          <p:spPr>
            <a:xfrm>
              <a:off x="660400" y="4111092"/>
              <a:ext cx="10858500" cy="0"/>
            </a:xfrm>
            <a:prstGeom prst="line">
              <a:avLst/>
            </a:prstGeom>
            <a:ln>
              <a:solidFill>
                <a:schemeClr val="tx1">
                  <a:alpha val="50000"/>
                </a:schemeClr>
              </a:solidFill>
              <a:tailEnd type="stealth"/>
            </a:ln>
          </p:spPr>
          <p:style>
            <a:lnRef idx="1">
              <a:schemeClr val="accent1"/>
            </a:lnRef>
            <a:fillRef idx="0">
              <a:schemeClr val="accent1"/>
            </a:fillRef>
            <a:effectRef idx="0">
              <a:schemeClr val="accent1"/>
            </a:effectRef>
            <a:fontRef idx="minor">
              <a:schemeClr val="tx1"/>
            </a:fontRef>
          </p:style>
        </p:cxnSp>
        <p:sp>
          <p:nvSpPr>
            <p:cNvPr id="23" name="Title"/>
            <p:cNvSpPr/>
            <p:nvPr/>
          </p:nvSpPr>
          <p:spPr>
            <a:xfrm>
              <a:off x="660400" y="1130300"/>
              <a:ext cx="10858500" cy="686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kumimoji="1" lang="zh-CN" altLang="en-US" sz="2000" b="1" dirty="0">
                  <a:solidFill>
                    <a:schemeClr val="tx1"/>
                  </a:solidFill>
                </a:rPr>
                <a:t>Updating causal edge beliefs using historical evidence during deployment or recalibration</a:t>
              </a:r>
              <a:endParaRPr lang="en-US" dirty="0"/>
            </a:p>
          </p:txBody>
        </p:sp>
      </p:grpSp>
      <p:sp>
        <p:nvSpPr>
          <p:cNvPr id="3" name="标题 2"/>
          <p:cNvSpPr>
            <a:spLocks noGrp="1"/>
          </p:cNvSpPr>
          <p:nvPr>
            <p:ph type="title" hasCustomPrompt="1"/>
          </p:nvPr>
        </p:nvSpPr>
        <p:spPr/>
        <p:txBody>
          <a:bodyPr/>
          <a:lstStyle/>
          <a:p>
            <a:r>
              <a:rPr lang="zh-CN" altLang="en-US" dirty="0"/>
              <a:t>Offline Batch Weighting</a:t>
            </a:r>
            <a:endParaRPr lang="en-US" dirty="0"/>
          </a:p>
        </p:txBody>
      </p:sp>
      <p:pic>
        <p:nvPicPr>
          <p:cNvPr id="43" name="图片 42"/>
          <p:cNvPicPr>
            <a:picLocks noChangeAspect="1"/>
          </p:cNvPicPr>
          <p:nvPr/>
        </p:nvPicPr>
        <p:blipFill>
          <a:blip r:embed="rId1"/>
          <a:stretch>
            <a:fillRect/>
          </a:stretch>
        </p:blipFill>
        <p:spPr>
          <a:xfrm>
            <a:off x="2373630" y="4404360"/>
            <a:ext cx="7322820" cy="960120"/>
          </a:xfrm>
          <a:prstGeom prst="rect">
            <a:avLst/>
          </a:prstGeom>
        </p:spPr>
      </p:pic>
      <p:pic>
        <p:nvPicPr>
          <p:cNvPr id="44" name="图片 43"/>
          <p:cNvPicPr>
            <a:picLocks noChangeAspect="1"/>
          </p:cNvPicPr>
          <p:nvPr/>
        </p:nvPicPr>
        <p:blipFill>
          <a:blip r:embed="rId2"/>
          <a:stretch>
            <a:fillRect/>
          </a:stretch>
        </p:blipFill>
        <p:spPr>
          <a:xfrm>
            <a:off x="3093720" y="2766060"/>
            <a:ext cx="5775960" cy="662940"/>
          </a:xfrm>
          <a:prstGeom prst="rect">
            <a:avLst/>
          </a:prstGeom>
        </p:spPr>
      </p:pic>
      <p:pic>
        <p:nvPicPr>
          <p:cNvPr id="45" name="图片 44"/>
          <p:cNvPicPr>
            <a:picLocks noChangeAspect="1"/>
          </p:cNvPicPr>
          <p:nvPr/>
        </p:nvPicPr>
        <p:blipFill>
          <a:blip r:embed="rId3"/>
          <a:stretch>
            <a:fillRect/>
          </a:stretch>
        </p:blipFill>
        <p:spPr>
          <a:xfrm>
            <a:off x="4556760" y="3684270"/>
            <a:ext cx="2849880" cy="358140"/>
          </a:xfrm>
          <a:prstGeom prst="rect">
            <a:avLst/>
          </a:prstGeom>
        </p:spPr>
      </p:pic>
      <p:pic>
        <p:nvPicPr>
          <p:cNvPr id="48" name="图片 47"/>
          <p:cNvPicPr>
            <a:picLocks noChangeAspect="1"/>
          </p:cNvPicPr>
          <p:nvPr/>
        </p:nvPicPr>
        <p:blipFill>
          <a:blip r:embed="rId4"/>
          <a:stretch>
            <a:fillRect/>
          </a:stretch>
        </p:blipFill>
        <p:spPr>
          <a:xfrm>
            <a:off x="8950325" y="1908175"/>
            <a:ext cx="2972435" cy="1545590"/>
          </a:xfrm>
          <a:prstGeom prst="rect">
            <a:avLst/>
          </a:prstGeom>
        </p:spPr>
      </p:pic>
    </p:spTree>
    <p:custDataLst>
      <p:tags r:id="rId5"/>
    </p:custData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65252b71-26ff-4238-b1cd-85801f253b1e.source.3.zh-Hans.pptx"/>
          <p:cNvGrpSpPr/>
          <p:nvPr>
            <p:custDataLst>
              <p:tags r:id="rId1"/>
            </p:custDataLst>
          </p:nvPr>
        </p:nvGrpSpPr>
        <p:grpSpPr>
          <a:xfrm>
            <a:off x="660400" y="1130300"/>
            <a:ext cx="10858500" cy="5582556"/>
            <a:chOff x="660400" y="1130300"/>
            <a:chExt cx="10858500" cy="5582556"/>
          </a:xfrm>
        </p:grpSpPr>
        <p:sp>
          <p:nvSpPr>
            <p:cNvPr id="10" name="islide-1"/>
            <p:cNvSpPr/>
            <p:nvPr/>
          </p:nvSpPr>
          <p:spPr bwMode="auto">
            <a:xfrm>
              <a:off x="803920" y="4001750"/>
              <a:ext cx="10571461" cy="2711106"/>
            </a:xfrm>
            <a:custGeom>
              <a:avLst/>
              <a:gdLst>
                <a:gd name="connsiteX0" fmla="*/ 2791117 w 11996030"/>
                <a:gd name="connsiteY0" fmla="*/ 3369084 h 4244310"/>
                <a:gd name="connsiteX1" fmla="*/ 2736229 w 11996030"/>
                <a:gd name="connsiteY1" fmla="*/ 3452678 h 4244310"/>
                <a:gd name="connsiteX2" fmla="*/ 2748895 w 11996030"/>
                <a:gd name="connsiteY2" fmla="*/ 3441774 h 4244310"/>
                <a:gd name="connsiteX3" fmla="*/ 2791117 w 11996030"/>
                <a:gd name="connsiteY3" fmla="*/ 3369084 h 4244310"/>
                <a:gd name="connsiteX4" fmla="*/ 10926033 w 11996030"/>
                <a:gd name="connsiteY4" fmla="*/ 2980452 h 4244310"/>
                <a:gd name="connsiteX5" fmla="*/ 11054115 w 11996030"/>
                <a:gd name="connsiteY5" fmla="*/ 3030062 h 4244310"/>
                <a:gd name="connsiteX6" fmla="*/ 11180615 w 11996030"/>
                <a:gd name="connsiteY6" fmla="*/ 3124621 h 4244310"/>
                <a:gd name="connsiteX7" fmla="*/ 11724568 w 11996030"/>
                <a:gd name="connsiteY7" fmla="*/ 3411936 h 4244310"/>
                <a:gd name="connsiteX8" fmla="*/ 11716135 w 11996030"/>
                <a:gd name="connsiteY8" fmla="*/ 3441031 h 4244310"/>
                <a:gd name="connsiteX9" fmla="*/ 11543251 w 11996030"/>
                <a:gd name="connsiteY9" fmla="*/ 3415573 h 4244310"/>
                <a:gd name="connsiteX10" fmla="*/ 11446267 w 11996030"/>
                <a:gd name="connsiteY10" fmla="*/ 3386478 h 4244310"/>
                <a:gd name="connsiteX11" fmla="*/ 11374583 w 11996030"/>
                <a:gd name="connsiteY11" fmla="*/ 3353746 h 4244310"/>
                <a:gd name="connsiteX12" fmla="*/ 11214349 w 11996030"/>
                <a:gd name="connsiteY12" fmla="*/ 3273734 h 4244310"/>
                <a:gd name="connsiteX13" fmla="*/ 11028814 w 11996030"/>
                <a:gd name="connsiteY13" fmla="*/ 3204633 h 4244310"/>
                <a:gd name="connsiteX14" fmla="*/ 10754730 w 11996030"/>
                <a:gd name="connsiteY14" fmla="*/ 3146442 h 4244310"/>
                <a:gd name="connsiteX15" fmla="*/ 10788463 w 11996030"/>
                <a:gd name="connsiteY15" fmla="*/ 3022788 h 4244310"/>
                <a:gd name="connsiteX16" fmla="*/ 10851713 w 11996030"/>
                <a:gd name="connsiteY16" fmla="*/ 2986419 h 4244310"/>
                <a:gd name="connsiteX17" fmla="*/ 10860147 w 11996030"/>
                <a:gd name="connsiteY17" fmla="*/ 2982782 h 4244310"/>
                <a:gd name="connsiteX18" fmla="*/ 10877014 w 11996030"/>
                <a:gd name="connsiteY18" fmla="*/ 2982782 h 4244310"/>
                <a:gd name="connsiteX19" fmla="*/ 10926033 w 11996030"/>
                <a:gd name="connsiteY19" fmla="*/ 2980452 h 4244310"/>
                <a:gd name="connsiteX20" fmla="*/ 7197508 w 11996030"/>
                <a:gd name="connsiteY20" fmla="*/ 2476267 h 4244310"/>
                <a:gd name="connsiteX21" fmla="*/ 7210580 w 11996030"/>
                <a:gd name="connsiteY21" fmla="*/ 2485129 h 4244310"/>
                <a:gd name="connsiteX22" fmla="*/ 7231706 w 11996030"/>
                <a:gd name="connsiteY22" fmla="*/ 2525118 h 4244310"/>
                <a:gd name="connsiteX23" fmla="*/ 7248607 w 11996030"/>
                <a:gd name="connsiteY23" fmla="*/ 2557836 h 4244310"/>
                <a:gd name="connsiteX24" fmla="*/ 7633109 w 11996030"/>
                <a:gd name="connsiteY24" fmla="*/ 2863209 h 4244310"/>
                <a:gd name="connsiteX25" fmla="*/ 8254227 w 11996030"/>
                <a:gd name="connsiteY25" fmla="*/ 3114050 h 4244310"/>
                <a:gd name="connsiteX26" fmla="*/ 8685206 w 11996030"/>
                <a:gd name="connsiteY26" fmla="*/ 3553932 h 4244310"/>
                <a:gd name="connsiteX27" fmla="*/ 9192241 w 11996030"/>
                <a:gd name="connsiteY27" fmla="*/ 4001084 h 4244310"/>
                <a:gd name="connsiteX28" fmla="*/ 9175340 w 11996030"/>
                <a:gd name="connsiteY28" fmla="*/ 4026532 h 4244310"/>
                <a:gd name="connsiteX29" fmla="*/ 8672530 w 11996030"/>
                <a:gd name="connsiteY29" fmla="*/ 3768419 h 4244310"/>
                <a:gd name="connsiteX30" fmla="*/ 8271128 w 11996030"/>
                <a:gd name="connsiteY30" fmla="*/ 3372163 h 4244310"/>
                <a:gd name="connsiteX31" fmla="*/ 7979583 w 11996030"/>
                <a:gd name="connsiteY31" fmla="*/ 3328538 h 4244310"/>
                <a:gd name="connsiteX32" fmla="*/ 7933105 w 11996030"/>
                <a:gd name="connsiteY32" fmla="*/ 3353986 h 4244310"/>
                <a:gd name="connsiteX33" fmla="*/ 7924654 w 11996030"/>
                <a:gd name="connsiteY33" fmla="*/ 3361256 h 4244310"/>
                <a:gd name="connsiteX34" fmla="*/ 7916203 w 11996030"/>
                <a:gd name="connsiteY34" fmla="*/ 3379433 h 4244310"/>
                <a:gd name="connsiteX35" fmla="*/ 7924654 w 11996030"/>
                <a:gd name="connsiteY35" fmla="*/ 3532119 h 4244310"/>
                <a:gd name="connsiteX36" fmla="*/ 8342958 w 11996030"/>
                <a:gd name="connsiteY36" fmla="*/ 3939283 h 4244310"/>
                <a:gd name="connsiteX37" fmla="*/ 8338732 w 11996030"/>
                <a:gd name="connsiteY37" fmla="*/ 3964730 h 4244310"/>
                <a:gd name="connsiteX38" fmla="*/ 7895077 w 11996030"/>
                <a:gd name="connsiteY38" fmla="*/ 3793867 h 4244310"/>
                <a:gd name="connsiteX39" fmla="*/ 7671136 w 11996030"/>
                <a:gd name="connsiteY39" fmla="*/ 3364892 h 4244310"/>
                <a:gd name="connsiteX40" fmla="*/ 7582405 w 11996030"/>
                <a:gd name="connsiteY40" fmla="*/ 3066790 h 4244310"/>
                <a:gd name="connsiteX41" fmla="*/ 7383817 w 11996030"/>
                <a:gd name="connsiteY41" fmla="*/ 2881386 h 4244310"/>
                <a:gd name="connsiteX42" fmla="*/ 7257058 w 11996030"/>
                <a:gd name="connsiteY42" fmla="*/ 2703252 h 4244310"/>
                <a:gd name="connsiteX43" fmla="*/ 7231706 w 11996030"/>
                <a:gd name="connsiteY43" fmla="*/ 2630544 h 4244310"/>
                <a:gd name="connsiteX44" fmla="*/ 7172552 w 11996030"/>
                <a:gd name="connsiteY44" fmla="*/ 2506941 h 4244310"/>
                <a:gd name="connsiteX45" fmla="*/ 7197508 w 11996030"/>
                <a:gd name="connsiteY45" fmla="*/ 2476267 h 4244310"/>
                <a:gd name="connsiteX46" fmla="*/ 7883053 w 11996030"/>
                <a:gd name="connsiteY46" fmla="*/ 2467732 h 4244310"/>
                <a:gd name="connsiteX47" fmla="*/ 7946386 w 11996030"/>
                <a:gd name="connsiteY47" fmla="*/ 2525884 h 4244310"/>
                <a:gd name="connsiteX48" fmla="*/ 7942163 w 11996030"/>
                <a:gd name="connsiteY48" fmla="*/ 2518615 h 4244310"/>
                <a:gd name="connsiteX49" fmla="*/ 7883053 w 11996030"/>
                <a:gd name="connsiteY49" fmla="*/ 2467732 h 4244310"/>
                <a:gd name="connsiteX50" fmla="*/ 1411653 w 11996030"/>
                <a:gd name="connsiteY50" fmla="*/ 2123966 h 4244310"/>
                <a:gd name="connsiteX51" fmla="*/ 1455988 w 11996030"/>
                <a:gd name="connsiteY51" fmla="*/ 2125046 h 4244310"/>
                <a:gd name="connsiteX52" fmla="*/ 1751554 w 11996030"/>
                <a:gd name="connsiteY52" fmla="*/ 2379700 h 4244310"/>
                <a:gd name="connsiteX53" fmla="*/ 1738886 w 11996030"/>
                <a:gd name="connsiteY53" fmla="*/ 2397890 h 4244310"/>
                <a:gd name="connsiteX54" fmla="*/ 1481322 w 11996030"/>
                <a:gd name="connsiteY54" fmla="*/ 2426993 h 4244310"/>
                <a:gd name="connsiteX55" fmla="*/ 1354651 w 11996030"/>
                <a:gd name="connsiteY55" fmla="*/ 2565234 h 4244310"/>
                <a:gd name="connsiteX56" fmla="*/ 1033751 w 11996030"/>
                <a:gd name="connsiteY56" fmla="*/ 2852630 h 4244310"/>
                <a:gd name="connsiteX57" fmla="*/ 624181 w 11996030"/>
                <a:gd name="connsiteY57" fmla="*/ 3089095 h 4244310"/>
                <a:gd name="connsiteX58" fmla="*/ 472176 w 11996030"/>
                <a:gd name="connsiteY58" fmla="*/ 3136388 h 4244310"/>
                <a:gd name="connsiteX59" fmla="*/ 387728 w 11996030"/>
                <a:gd name="connsiteY59" fmla="*/ 3143663 h 4244310"/>
                <a:gd name="connsiteX60" fmla="*/ 383506 w 11996030"/>
                <a:gd name="connsiteY60" fmla="*/ 3118198 h 4244310"/>
                <a:gd name="connsiteX61" fmla="*/ 391951 w 11996030"/>
                <a:gd name="connsiteY61" fmla="*/ 3100008 h 4244310"/>
                <a:gd name="connsiteX62" fmla="*/ 831077 w 11996030"/>
                <a:gd name="connsiteY62" fmla="*/ 2838078 h 4244310"/>
                <a:gd name="connsiteX63" fmla="*/ 1189978 w 11996030"/>
                <a:gd name="connsiteY63" fmla="*/ 2419717 h 4244310"/>
                <a:gd name="connsiteX64" fmla="*/ 1270203 w 11996030"/>
                <a:gd name="connsiteY64" fmla="*/ 2281477 h 4244310"/>
                <a:gd name="connsiteX65" fmla="*/ 1316649 w 11996030"/>
                <a:gd name="connsiteY65" fmla="*/ 2186891 h 4244310"/>
                <a:gd name="connsiteX66" fmla="*/ 1411653 w 11996030"/>
                <a:gd name="connsiteY66" fmla="*/ 2123966 h 4244310"/>
                <a:gd name="connsiteX67" fmla="*/ 8942855 w 11996030"/>
                <a:gd name="connsiteY67" fmla="*/ 1895724 h 4244310"/>
                <a:gd name="connsiteX68" fmla="*/ 9124360 w 11996030"/>
                <a:gd name="connsiteY68" fmla="*/ 1910273 h 4244310"/>
                <a:gd name="connsiteX69" fmla="*/ 9213001 w 11996030"/>
                <a:gd name="connsiteY69" fmla="*/ 1968468 h 4244310"/>
                <a:gd name="connsiteX70" fmla="*/ 9348075 w 11996030"/>
                <a:gd name="connsiteY70" fmla="*/ 2157600 h 4244310"/>
                <a:gd name="connsiteX71" fmla="*/ 9495811 w 11996030"/>
                <a:gd name="connsiteY71" fmla="*/ 2354006 h 4244310"/>
                <a:gd name="connsiteX72" fmla="*/ 9749073 w 11996030"/>
                <a:gd name="connsiteY72" fmla="*/ 2455847 h 4244310"/>
                <a:gd name="connsiteX73" fmla="*/ 10065651 w 11996030"/>
                <a:gd name="connsiteY73" fmla="*/ 2692262 h 4244310"/>
                <a:gd name="connsiteX74" fmla="*/ 10230271 w 11996030"/>
                <a:gd name="connsiteY74" fmla="*/ 2895943 h 4244310"/>
                <a:gd name="connsiteX75" fmla="*/ 10470870 w 11996030"/>
                <a:gd name="connsiteY75" fmla="*/ 3030518 h 4244310"/>
                <a:gd name="connsiteX76" fmla="*/ 10466649 w 11996030"/>
                <a:gd name="connsiteY76" fmla="*/ 3059615 h 4244310"/>
                <a:gd name="connsiteX77" fmla="*/ 10128966 w 11996030"/>
                <a:gd name="connsiteY77" fmla="*/ 2939589 h 4244310"/>
                <a:gd name="connsiteX78" fmla="*/ 9867262 w 11996030"/>
                <a:gd name="connsiteY78" fmla="*/ 2695899 h 4244310"/>
                <a:gd name="connsiteX79" fmla="*/ 9791283 w 11996030"/>
                <a:gd name="connsiteY79" fmla="*/ 2652253 h 4244310"/>
                <a:gd name="connsiteX80" fmla="*/ 9706863 w 11996030"/>
                <a:gd name="connsiteY80" fmla="*/ 2623156 h 4244310"/>
                <a:gd name="connsiteX81" fmla="*/ 9651989 w 11996030"/>
                <a:gd name="connsiteY81" fmla="*/ 2612245 h 4244310"/>
                <a:gd name="connsiteX82" fmla="*/ 9411390 w 11996030"/>
                <a:gd name="connsiteY82" fmla="*/ 2568599 h 4244310"/>
                <a:gd name="connsiteX83" fmla="*/ 9179233 w 11996030"/>
                <a:gd name="connsiteY83" fmla="*/ 2259440 h 4244310"/>
                <a:gd name="connsiteX84" fmla="*/ 9170791 w 11996030"/>
                <a:gd name="connsiteY84" fmla="*/ 2277626 h 4244310"/>
                <a:gd name="connsiteX85" fmla="*/ 8985066 w 11996030"/>
                <a:gd name="connsiteY85" fmla="*/ 2466758 h 4244310"/>
                <a:gd name="connsiteX86" fmla="*/ 8959739 w 11996030"/>
                <a:gd name="connsiteY86" fmla="*/ 2444935 h 4244310"/>
                <a:gd name="connsiteX87" fmla="*/ 9014613 w 11996030"/>
                <a:gd name="connsiteY87" fmla="*/ 2132140 h 4244310"/>
                <a:gd name="connsiteX88" fmla="*/ 8930192 w 11996030"/>
                <a:gd name="connsiteY88" fmla="*/ 1913910 h 4244310"/>
                <a:gd name="connsiteX89" fmla="*/ 8934413 w 11996030"/>
                <a:gd name="connsiteY89" fmla="*/ 1906636 h 4244310"/>
                <a:gd name="connsiteX90" fmla="*/ 8942855 w 11996030"/>
                <a:gd name="connsiteY90" fmla="*/ 1895724 h 4244310"/>
                <a:gd name="connsiteX91" fmla="*/ 5569760 w 11996030"/>
                <a:gd name="connsiteY91" fmla="*/ 1387113 h 4244310"/>
                <a:gd name="connsiteX92" fmla="*/ 5582433 w 11996030"/>
                <a:gd name="connsiteY92" fmla="*/ 1412579 h 4244310"/>
                <a:gd name="connsiteX93" fmla="*/ 5535966 w 11996030"/>
                <a:gd name="connsiteY93" fmla="*/ 1459873 h 4244310"/>
                <a:gd name="connsiteX94" fmla="*/ 5527518 w 11996030"/>
                <a:gd name="connsiteY94" fmla="*/ 1470788 h 4244310"/>
                <a:gd name="connsiteX95" fmla="*/ 5472603 w 11996030"/>
                <a:gd name="connsiteY95" fmla="*/ 1743638 h 4244310"/>
                <a:gd name="connsiteX96" fmla="*/ 5679590 w 11996030"/>
                <a:gd name="connsiteY96" fmla="*/ 1998299 h 4244310"/>
                <a:gd name="connsiteX97" fmla="*/ 5840110 w 11996030"/>
                <a:gd name="connsiteY97" fmla="*/ 2322082 h 4244310"/>
                <a:gd name="connsiteX98" fmla="*/ 6089339 w 11996030"/>
                <a:gd name="connsiteY98" fmla="*/ 2493069 h 4244310"/>
                <a:gd name="connsiteX99" fmla="*/ 6072442 w 11996030"/>
                <a:gd name="connsiteY99" fmla="*/ 2522173 h 4244310"/>
                <a:gd name="connsiteX100" fmla="*/ 5265616 w 11996030"/>
                <a:gd name="connsiteY100" fmla="*/ 1943729 h 4244310"/>
                <a:gd name="connsiteX101" fmla="*/ 5248720 w 11996030"/>
                <a:gd name="connsiteY101" fmla="*/ 1972833 h 4244310"/>
                <a:gd name="connsiteX102" fmla="*/ 5219151 w 11996030"/>
                <a:gd name="connsiteY102" fmla="*/ 2012851 h 4244310"/>
                <a:gd name="connsiteX103" fmla="*/ 4589741 w 11996030"/>
                <a:gd name="connsiteY103" fmla="*/ 2503983 h 4244310"/>
                <a:gd name="connsiteX104" fmla="*/ 3892746 w 11996030"/>
                <a:gd name="connsiteY104" fmla="*/ 2882336 h 4244310"/>
                <a:gd name="connsiteX105" fmla="*/ 3880074 w 11996030"/>
                <a:gd name="connsiteY105" fmla="*/ 2878698 h 4244310"/>
                <a:gd name="connsiteX106" fmla="*/ 3875850 w 11996030"/>
                <a:gd name="connsiteY106" fmla="*/ 2867784 h 4244310"/>
                <a:gd name="connsiteX107" fmla="*/ 3875850 w 11996030"/>
                <a:gd name="connsiteY107" fmla="*/ 2864146 h 4244310"/>
                <a:gd name="connsiteX108" fmla="*/ 3892746 w 11996030"/>
                <a:gd name="connsiteY108" fmla="*/ 2845956 h 4244310"/>
                <a:gd name="connsiteX109" fmla="*/ 4158871 w 11996030"/>
                <a:gd name="connsiteY109" fmla="*/ 2598571 h 4244310"/>
                <a:gd name="connsiteX110" fmla="*/ 4344737 w 11996030"/>
                <a:gd name="connsiteY110" fmla="*/ 2387567 h 4244310"/>
                <a:gd name="connsiteX111" fmla="*/ 4416549 w 11996030"/>
                <a:gd name="connsiteY111" fmla="*/ 2282064 h 4244310"/>
                <a:gd name="connsiteX112" fmla="*/ 4492585 w 11996030"/>
                <a:gd name="connsiteY112" fmla="*/ 2212942 h 4244310"/>
                <a:gd name="connsiteX113" fmla="*/ 4589741 w 11996030"/>
                <a:gd name="connsiteY113" fmla="*/ 2220218 h 4244310"/>
                <a:gd name="connsiteX114" fmla="*/ 4830522 w 11996030"/>
                <a:gd name="connsiteY114" fmla="*/ 2041955 h 4244310"/>
                <a:gd name="connsiteX115" fmla="*/ 5168459 w 11996030"/>
                <a:gd name="connsiteY115" fmla="*/ 1627222 h 4244310"/>
                <a:gd name="connsiteX116" fmla="*/ 5569760 w 11996030"/>
                <a:gd name="connsiteY116" fmla="*/ 1387113 h 4244310"/>
                <a:gd name="connsiteX117" fmla="*/ 5822984 w 11996030"/>
                <a:gd name="connsiteY117" fmla="*/ 667367 h 4244310"/>
                <a:gd name="connsiteX118" fmla="*/ 5991917 w 11996030"/>
                <a:gd name="connsiteY118" fmla="*/ 823735 h 4244310"/>
                <a:gd name="connsiteX119" fmla="*/ 6241094 w 11996030"/>
                <a:gd name="connsiteY119" fmla="*/ 1067379 h 4244310"/>
                <a:gd name="connsiteX120" fmla="*/ 7166006 w 11996030"/>
                <a:gd name="connsiteY120" fmla="*/ 2052863 h 4244310"/>
                <a:gd name="connsiteX121" fmla="*/ 7136442 w 11996030"/>
                <a:gd name="connsiteY121" fmla="*/ 2063772 h 4244310"/>
                <a:gd name="connsiteX122" fmla="*/ 6646535 w 11996030"/>
                <a:gd name="connsiteY122" fmla="*/ 1591031 h 4244310"/>
                <a:gd name="connsiteX123" fmla="*/ 6105947 w 11996030"/>
                <a:gd name="connsiteY123" fmla="*/ 1303749 h 4244310"/>
                <a:gd name="connsiteX124" fmla="*/ 5717400 w 11996030"/>
                <a:gd name="connsiteY124" fmla="*/ 1151018 h 4244310"/>
                <a:gd name="connsiteX125" fmla="*/ 5561137 w 11996030"/>
                <a:gd name="connsiteY125" fmla="*/ 961921 h 4244310"/>
                <a:gd name="connsiteX126" fmla="*/ 5565359 w 11996030"/>
                <a:gd name="connsiteY126" fmla="*/ 954648 h 4244310"/>
                <a:gd name="connsiteX127" fmla="*/ 5569583 w 11996030"/>
                <a:gd name="connsiteY127" fmla="*/ 947375 h 4244310"/>
                <a:gd name="connsiteX128" fmla="*/ 5704730 w 11996030"/>
                <a:gd name="connsiteY128" fmla="*/ 747369 h 4244310"/>
                <a:gd name="connsiteX129" fmla="*/ 5822984 w 11996030"/>
                <a:gd name="connsiteY129" fmla="*/ 667367 h 4244310"/>
                <a:gd name="connsiteX130" fmla="*/ 5856998 w 11996030"/>
                <a:gd name="connsiteY130" fmla="*/ 249 h 4244310"/>
                <a:gd name="connsiteX131" fmla="*/ 5890189 w 11996030"/>
                <a:gd name="connsiteY131" fmla="*/ 7184 h 4244310"/>
                <a:gd name="connsiteX132" fmla="*/ 6008410 w 11996030"/>
                <a:gd name="connsiteY132" fmla="*/ 257964 h 4244310"/>
                <a:gd name="connsiteX133" fmla="*/ 6097075 w 11996030"/>
                <a:gd name="connsiteY133" fmla="*/ 406978 h 4244310"/>
                <a:gd name="connsiteX134" fmla="*/ 6261740 w 11996030"/>
                <a:gd name="connsiteY134" fmla="*/ 417881 h 4244310"/>
                <a:gd name="connsiteX135" fmla="*/ 6409516 w 11996030"/>
                <a:gd name="connsiteY135" fmla="*/ 577799 h 4244310"/>
                <a:gd name="connsiteX136" fmla="*/ 6544625 w 11996030"/>
                <a:gd name="connsiteY136" fmla="*/ 755888 h 4244310"/>
                <a:gd name="connsiteX137" fmla="*/ 6823288 w 11996030"/>
                <a:gd name="connsiteY137" fmla="*/ 1137509 h 4244310"/>
                <a:gd name="connsiteX138" fmla="*/ 7165284 w 11996030"/>
                <a:gd name="connsiteY138" fmla="*/ 1464614 h 4244310"/>
                <a:gd name="connsiteX139" fmla="*/ 7511502 w 11996030"/>
                <a:gd name="connsiteY139" fmla="*/ 1635434 h 4244310"/>
                <a:gd name="connsiteX140" fmla="*/ 7617056 w 11996030"/>
                <a:gd name="connsiteY140" fmla="*/ 1740835 h 4244310"/>
                <a:gd name="connsiteX141" fmla="*/ 7633945 w 11996030"/>
                <a:gd name="connsiteY141" fmla="*/ 1929828 h 4244310"/>
                <a:gd name="connsiteX142" fmla="*/ 7849276 w 11996030"/>
                <a:gd name="connsiteY142" fmla="*/ 2307814 h 4244310"/>
                <a:gd name="connsiteX143" fmla="*/ 7954830 w 11996030"/>
                <a:gd name="connsiteY143" fmla="*/ 2405945 h 4244310"/>
                <a:gd name="connsiteX144" fmla="*/ 8457268 w 11996030"/>
                <a:gd name="connsiteY144" fmla="*/ 1962538 h 4244310"/>
                <a:gd name="connsiteX145" fmla="*/ 8761264 w 11996030"/>
                <a:gd name="connsiteY145" fmla="*/ 1624531 h 4244310"/>
                <a:gd name="connsiteX146" fmla="*/ 8904818 w 11996030"/>
                <a:gd name="connsiteY146" fmla="*/ 1562745 h 4244310"/>
                <a:gd name="connsiteX147" fmla="*/ 9001928 w 11996030"/>
                <a:gd name="connsiteY147" fmla="*/ 1631800 h 4244310"/>
                <a:gd name="connsiteX148" fmla="*/ 9120148 w 11996030"/>
                <a:gd name="connsiteY148" fmla="*/ 1711759 h 4244310"/>
                <a:gd name="connsiteX149" fmla="*/ 9259480 w 11996030"/>
                <a:gd name="connsiteY149" fmla="*/ 1729931 h 4244310"/>
                <a:gd name="connsiteX150" fmla="*/ 9436811 w 11996030"/>
                <a:gd name="connsiteY150" fmla="*/ 1769910 h 4244310"/>
                <a:gd name="connsiteX151" fmla="*/ 9635253 w 11996030"/>
                <a:gd name="connsiteY151" fmla="*/ 1980711 h 4244310"/>
                <a:gd name="connsiteX152" fmla="*/ 9880139 w 11996030"/>
                <a:gd name="connsiteY152" fmla="*/ 2206049 h 4244310"/>
                <a:gd name="connsiteX153" fmla="*/ 10074359 w 11996030"/>
                <a:gd name="connsiteY153" fmla="*/ 2173338 h 4244310"/>
                <a:gd name="connsiteX154" fmla="*/ 10192579 w 11996030"/>
                <a:gd name="connsiteY154" fmla="*/ 2155166 h 4244310"/>
                <a:gd name="connsiteX155" fmla="*/ 10302356 w 11996030"/>
                <a:gd name="connsiteY155" fmla="*/ 2267835 h 4244310"/>
                <a:gd name="connsiteX156" fmla="*/ 10483909 w 11996030"/>
                <a:gd name="connsiteY156" fmla="*/ 2453194 h 4244310"/>
                <a:gd name="connsiteX157" fmla="*/ 10961014 w 11996030"/>
                <a:gd name="connsiteY157" fmla="*/ 2616746 h 4244310"/>
                <a:gd name="connsiteX158" fmla="*/ 10994792 w 11996030"/>
                <a:gd name="connsiteY158" fmla="*/ 2616746 h 4244310"/>
                <a:gd name="connsiteX159" fmla="*/ 11982779 w 11996030"/>
                <a:gd name="connsiteY159" fmla="*/ 3365450 h 4244310"/>
                <a:gd name="connsiteX160" fmla="*/ 11987001 w 11996030"/>
                <a:gd name="connsiteY160" fmla="*/ 3398160 h 4244310"/>
                <a:gd name="connsiteX161" fmla="*/ 11949002 w 11996030"/>
                <a:gd name="connsiteY161" fmla="*/ 3423602 h 4244310"/>
                <a:gd name="connsiteX162" fmla="*/ 11539452 w 11996030"/>
                <a:gd name="connsiteY162" fmla="*/ 3198264 h 4244310"/>
                <a:gd name="connsiteX163" fmla="*/ 11096124 w 11996030"/>
                <a:gd name="connsiteY163" fmla="*/ 2925677 h 4244310"/>
                <a:gd name="connsiteX164" fmla="*/ 10939903 w 11996030"/>
                <a:gd name="connsiteY164" fmla="*/ 2871160 h 4244310"/>
                <a:gd name="connsiteX165" fmla="*/ 10745684 w 11996030"/>
                <a:gd name="connsiteY165" fmla="*/ 2874794 h 4244310"/>
                <a:gd name="connsiteX166" fmla="*/ 10416354 w 11996030"/>
                <a:gd name="connsiteY166" fmla="*/ 2678532 h 4244310"/>
                <a:gd name="connsiteX167" fmla="*/ 10175691 w 11996030"/>
                <a:gd name="connsiteY167" fmla="*/ 2391408 h 4244310"/>
                <a:gd name="connsiteX168" fmla="*/ 10015248 w 11996030"/>
                <a:gd name="connsiteY168" fmla="*/ 2387773 h 4244310"/>
                <a:gd name="connsiteX169" fmla="*/ 9871695 w 11996030"/>
                <a:gd name="connsiteY169" fmla="*/ 2387773 h 4244310"/>
                <a:gd name="connsiteX170" fmla="*/ 9631031 w 11996030"/>
                <a:gd name="connsiteY170" fmla="*/ 2140628 h 4244310"/>
                <a:gd name="connsiteX171" fmla="*/ 9305924 w 11996030"/>
                <a:gd name="connsiteY171" fmla="*/ 1842600 h 4244310"/>
                <a:gd name="connsiteX172" fmla="*/ 9052594 w 11996030"/>
                <a:gd name="connsiteY172" fmla="*/ 1806255 h 4244310"/>
                <a:gd name="connsiteX173" fmla="*/ 8900596 w 11996030"/>
                <a:gd name="connsiteY173" fmla="*/ 1711759 h 4244310"/>
                <a:gd name="connsiteX174" fmla="*/ 8803486 w 11996030"/>
                <a:gd name="connsiteY174" fmla="*/ 1864407 h 4244310"/>
                <a:gd name="connsiteX175" fmla="*/ 8664154 w 11996030"/>
                <a:gd name="connsiteY175" fmla="*/ 2053400 h 4244310"/>
                <a:gd name="connsiteX176" fmla="*/ 8558600 w 11996030"/>
                <a:gd name="connsiteY176" fmla="*/ 2184242 h 4244310"/>
                <a:gd name="connsiteX177" fmla="*/ 8364380 w 11996030"/>
                <a:gd name="connsiteY177" fmla="*/ 2376870 h 4244310"/>
                <a:gd name="connsiteX178" fmla="*/ 8343269 w 11996030"/>
                <a:gd name="connsiteY178" fmla="*/ 2398677 h 4244310"/>
                <a:gd name="connsiteX179" fmla="*/ 8330603 w 11996030"/>
                <a:gd name="connsiteY179" fmla="*/ 2405945 h 4244310"/>
                <a:gd name="connsiteX180" fmla="*/ 8132161 w 11996030"/>
                <a:gd name="connsiteY180" fmla="*/ 2522249 h 4244310"/>
                <a:gd name="connsiteX181" fmla="*/ 8111050 w 11996030"/>
                <a:gd name="connsiteY181" fmla="*/ 2533153 h 4244310"/>
                <a:gd name="connsiteX182" fmla="*/ 8516378 w 11996030"/>
                <a:gd name="connsiteY182" fmla="*/ 2831180 h 4244310"/>
                <a:gd name="connsiteX183" fmla="*/ 8820374 w 11996030"/>
                <a:gd name="connsiteY183" fmla="*/ 3129208 h 4244310"/>
                <a:gd name="connsiteX184" fmla="*/ 9124371 w 11996030"/>
                <a:gd name="connsiteY184" fmla="*/ 3558078 h 4244310"/>
                <a:gd name="connsiteX185" fmla="*/ 9441033 w 11996030"/>
                <a:gd name="connsiteY185" fmla="*/ 3914257 h 4244310"/>
                <a:gd name="connsiteX186" fmla="*/ 9837917 w 11996030"/>
                <a:gd name="connsiteY186" fmla="*/ 4194113 h 4244310"/>
                <a:gd name="connsiteX187" fmla="*/ 9829473 w 11996030"/>
                <a:gd name="connsiteY187" fmla="*/ 4234092 h 4244310"/>
                <a:gd name="connsiteX188" fmla="*/ 9791473 w 11996030"/>
                <a:gd name="connsiteY188" fmla="*/ 4237727 h 4244310"/>
                <a:gd name="connsiteX189" fmla="*/ 9580365 w 11996030"/>
                <a:gd name="connsiteY189" fmla="*/ 4125058 h 4244310"/>
                <a:gd name="connsiteX190" fmla="*/ 9407256 w 11996030"/>
                <a:gd name="connsiteY190" fmla="*/ 4008754 h 4244310"/>
                <a:gd name="connsiteX191" fmla="*/ 9090593 w 11996030"/>
                <a:gd name="connsiteY191" fmla="*/ 3681650 h 4244310"/>
                <a:gd name="connsiteX192" fmla="*/ 8748598 w 11996030"/>
                <a:gd name="connsiteY192" fmla="*/ 3307298 h 4244310"/>
                <a:gd name="connsiteX193" fmla="*/ 8368602 w 11996030"/>
                <a:gd name="connsiteY193" fmla="*/ 3009270 h 4244310"/>
                <a:gd name="connsiteX194" fmla="*/ 7671945 w 11996030"/>
                <a:gd name="connsiteY194" fmla="*/ 2427752 h 4244310"/>
                <a:gd name="connsiteX195" fmla="*/ 7498836 w 11996030"/>
                <a:gd name="connsiteY195" fmla="*/ 2115187 h 4244310"/>
                <a:gd name="connsiteX196" fmla="*/ 7452392 w 11996030"/>
                <a:gd name="connsiteY196" fmla="*/ 1933462 h 4244310"/>
                <a:gd name="connsiteX197" fmla="*/ 7380615 w 11996030"/>
                <a:gd name="connsiteY197" fmla="*/ 1791717 h 4244310"/>
                <a:gd name="connsiteX198" fmla="*/ 7177951 w 11996030"/>
                <a:gd name="connsiteY198" fmla="*/ 1657241 h 4244310"/>
                <a:gd name="connsiteX199" fmla="*/ 7000620 w 11996030"/>
                <a:gd name="connsiteY199" fmla="*/ 1511862 h 4244310"/>
                <a:gd name="connsiteX200" fmla="*/ 6603736 w 11996030"/>
                <a:gd name="connsiteY200" fmla="*/ 1108434 h 4244310"/>
                <a:gd name="connsiteX201" fmla="*/ 6308184 w 11996030"/>
                <a:gd name="connsiteY201" fmla="*/ 759523 h 4244310"/>
                <a:gd name="connsiteX202" fmla="*/ 6227963 w 11996030"/>
                <a:gd name="connsiteY202" fmla="*/ 672295 h 4244310"/>
                <a:gd name="connsiteX203" fmla="*/ 6092853 w 11996030"/>
                <a:gd name="connsiteY203" fmla="*/ 632316 h 4244310"/>
                <a:gd name="connsiteX204" fmla="*/ 5987299 w 11996030"/>
                <a:gd name="connsiteY204" fmla="*/ 526916 h 4244310"/>
                <a:gd name="connsiteX205" fmla="*/ 5898634 w 11996030"/>
                <a:gd name="connsiteY205" fmla="*/ 377902 h 4244310"/>
                <a:gd name="connsiteX206" fmla="*/ 5826856 w 11996030"/>
                <a:gd name="connsiteY206" fmla="*/ 327019 h 4244310"/>
                <a:gd name="connsiteX207" fmla="*/ 5738191 w 11996030"/>
                <a:gd name="connsiteY207" fmla="*/ 392440 h 4244310"/>
                <a:gd name="connsiteX208" fmla="*/ 5522860 w 11996030"/>
                <a:gd name="connsiteY208" fmla="*/ 748619 h 4244310"/>
                <a:gd name="connsiteX209" fmla="*/ 5201975 w 11996030"/>
                <a:gd name="connsiteY209" fmla="*/ 1213834 h 4244310"/>
                <a:gd name="connsiteX210" fmla="*/ 4876868 w 11996030"/>
                <a:gd name="connsiteY210" fmla="*/ 1642703 h 4244310"/>
                <a:gd name="connsiteX211" fmla="*/ 4577094 w 11996030"/>
                <a:gd name="connsiteY211" fmla="*/ 1984345 h 4244310"/>
                <a:gd name="connsiteX212" fmla="*/ 4484207 w 11996030"/>
                <a:gd name="connsiteY212" fmla="*/ 2020690 h 4244310"/>
                <a:gd name="connsiteX213" fmla="*/ 4382875 w 11996030"/>
                <a:gd name="connsiteY213" fmla="*/ 2009787 h 4244310"/>
                <a:gd name="connsiteX214" fmla="*/ 4235099 w 11996030"/>
                <a:gd name="connsiteY214" fmla="*/ 2147897 h 4244310"/>
                <a:gd name="connsiteX215" fmla="*/ 4087323 w 11996030"/>
                <a:gd name="connsiteY215" fmla="*/ 2329621 h 4244310"/>
                <a:gd name="connsiteX216" fmla="*/ 3926881 w 11996030"/>
                <a:gd name="connsiteY216" fmla="*/ 2522249 h 4244310"/>
                <a:gd name="connsiteX217" fmla="*/ 3534219 w 11996030"/>
                <a:gd name="connsiteY217" fmla="*/ 2947484 h 4244310"/>
                <a:gd name="connsiteX218" fmla="*/ 3348443 w 11996030"/>
                <a:gd name="connsiteY218" fmla="*/ 3143746 h 4244310"/>
                <a:gd name="connsiteX219" fmla="*/ 3192224 w 11996030"/>
                <a:gd name="connsiteY219" fmla="*/ 3270953 h 4244310"/>
                <a:gd name="connsiteX220" fmla="*/ 3082447 w 11996030"/>
                <a:gd name="connsiteY220" fmla="*/ 3303664 h 4244310"/>
                <a:gd name="connsiteX221" fmla="*/ 2930449 w 11996030"/>
                <a:gd name="connsiteY221" fmla="*/ 3329105 h 4244310"/>
                <a:gd name="connsiteX222" fmla="*/ 2795339 w 11996030"/>
                <a:gd name="connsiteY222" fmla="*/ 3474485 h 4244310"/>
                <a:gd name="connsiteX223" fmla="*/ 2605342 w 11996030"/>
                <a:gd name="connsiteY223" fmla="*/ 3797954 h 4244310"/>
                <a:gd name="connsiteX224" fmla="*/ 2242235 w 11996030"/>
                <a:gd name="connsiteY224" fmla="*/ 4045099 h 4244310"/>
                <a:gd name="connsiteX225" fmla="*/ 2221124 w 11996030"/>
                <a:gd name="connsiteY225" fmla="*/ 4041464 h 4244310"/>
                <a:gd name="connsiteX226" fmla="*/ 2221124 w 11996030"/>
                <a:gd name="connsiteY226" fmla="*/ 4023292 h 4244310"/>
                <a:gd name="connsiteX227" fmla="*/ 2233791 w 11996030"/>
                <a:gd name="connsiteY227" fmla="*/ 4016023 h 4244310"/>
                <a:gd name="connsiteX228" fmla="*/ 2571564 w 11996030"/>
                <a:gd name="connsiteY228" fmla="*/ 3638036 h 4244310"/>
                <a:gd name="connsiteX229" fmla="*/ 2879783 w 11996030"/>
                <a:gd name="connsiteY229" fmla="*/ 3140112 h 4244310"/>
                <a:gd name="connsiteX230" fmla="*/ 2900893 w 11996030"/>
                <a:gd name="connsiteY230" fmla="*/ 3129208 h 4244310"/>
                <a:gd name="connsiteX231" fmla="*/ 3099336 w 11996030"/>
                <a:gd name="connsiteY231" fmla="*/ 3121939 h 4244310"/>
                <a:gd name="connsiteX232" fmla="*/ 3280889 w 11996030"/>
                <a:gd name="connsiteY232" fmla="*/ 2958387 h 4244310"/>
                <a:gd name="connsiteX233" fmla="*/ 3652439 w 11996030"/>
                <a:gd name="connsiteY233" fmla="*/ 2562228 h 4244310"/>
                <a:gd name="connsiteX234" fmla="*/ 3863548 w 11996030"/>
                <a:gd name="connsiteY234" fmla="*/ 2296911 h 4244310"/>
                <a:gd name="connsiteX235" fmla="*/ 3470887 w 11996030"/>
                <a:gd name="connsiteY235" fmla="*/ 2191511 h 4244310"/>
                <a:gd name="connsiteX236" fmla="*/ 3188001 w 11996030"/>
                <a:gd name="connsiteY236" fmla="*/ 2100649 h 4244310"/>
                <a:gd name="connsiteX237" fmla="*/ 3171112 w 11996030"/>
                <a:gd name="connsiteY237" fmla="*/ 2107918 h 4244310"/>
                <a:gd name="connsiteX238" fmla="*/ 3014892 w 11996030"/>
                <a:gd name="connsiteY238" fmla="*/ 2009787 h 4244310"/>
                <a:gd name="connsiteX239" fmla="*/ 2884005 w 11996030"/>
                <a:gd name="connsiteY239" fmla="*/ 1889848 h 4244310"/>
                <a:gd name="connsiteX240" fmla="*/ 2601120 w 11996030"/>
                <a:gd name="connsiteY240" fmla="*/ 1918924 h 4244310"/>
                <a:gd name="connsiteX241" fmla="*/ 2322456 w 11996030"/>
                <a:gd name="connsiteY241" fmla="*/ 1955269 h 4244310"/>
                <a:gd name="connsiteX242" fmla="*/ 2309790 w 11996030"/>
                <a:gd name="connsiteY242" fmla="*/ 1922559 h 4244310"/>
                <a:gd name="connsiteX243" fmla="*/ 2567342 w 11996030"/>
                <a:gd name="connsiteY243" fmla="*/ 1751738 h 4244310"/>
                <a:gd name="connsiteX244" fmla="*/ 2770006 w 11996030"/>
                <a:gd name="connsiteY244" fmla="*/ 1570014 h 4244310"/>
                <a:gd name="connsiteX245" fmla="*/ 3065558 w 11996030"/>
                <a:gd name="connsiteY245" fmla="*/ 1566379 h 4244310"/>
                <a:gd name="connsiteX246" fmla="*/ 3441331 w 11996030"/>
                <a:gd name="connsiteY246" fmla="*/ 1922559 h 4244310"/>
                <a:gd name="connsiteX247" fmla="*/ 3960658 w 11996030"/>
                <a:gd name="connsiteY247" fmla="*/ 2144262 h 4244310"/>
                <a:gd name="connsiteX248" fmla="*/ 3981770 w 11996030"/>
                <a:gd name="connsiteY248" fmla="*/ 2144262 h 4244310"/>
                <a:gd name="connsiteX249" fmla="*/ 3994436 w 11996030"/>
                <a:gd name="connsiteY249" fmla="*/ 2126090 h 4244310"/>
                <a:gd name="connsiteX250" fmla="*/ 4032435 w 11996030"/>
                <a:gd name="connsiteY250" fmla="*/ 2075207 h 4244310"/>
                <a:gd name="connsiteX251" fmla="*/ 4023991 w 11996030"/>
                <a:gd name="connsiteY251" fmla="*/ 2071573 h 4244310"/>
                <a:gd name="connsiteX252" fmla="*/ 3559552 w 11996030"/>
                <a:gd name="connsiteY252" fmla="*/ 1838966 h 4244310"/>
                <a:gd name="connsiteX253" fmla="*/ 3437109 w 11996030"/>
                <a:gd name="connsiteY253" fmla="*/ 1664510 h 4244310"/>
                <a:gd name="connsiteX254" fmla="*/ 3230223 w 11996030"/>
                <a:gd name="connsiteY254" fmla="*/ 1526400 h 4244310"/>
                <a:gd name="connsiteX255" fmla="*/ 3027558 w 11996030"/>
                <a:gd name="connsiteY255" fmla="*/ 1333772 h 4244310"/>
                <a:gd name="connsiteX256" fmla="*/ 2896671 w 11996030"/>
                <a:gd name="connsiteY256" fmla="*/ 1315599 h 4244310"/>
                <a:gd name="connsiteX257" fmla="*/ 2799562 w 11996030"/>
                <a:gd name="connsiteY257" fmla="*/ 1402827 h 4244310"/>
                <a:gd name="connsiteX258" fmla="*/ 2373122 w 11996030"/>
                <a:gd name="connsiteY258" fmla="*/ 1762641 h 4244310"/>
                <a:gd name="connsiteX259" fmla="*/ 1934017 w 11996030"/>
                <a:gd name="connsiteY259" fmla="*/ 2038862 h 4244310"/>
                <a:gd name="connsiteX260" fmla="*/ 1583577 w 11996030"/>
                <a:gd name="connsiteY260" fmla="*/ 2038862 h 4244310"/>
                <a:gd name="connsiteX261" fmla="*/ 1440023 w 11996030"/>
                <a:gd name="connsiteY261" fmla="*/ 1908021 h 4244310"/>
                <a:gd name="connsiteX262" fmla="*/ 1347135 w 11996030"/>
                <a:gd name="connsiteY262" fmla="*/ 1857138 h 4244310"/>
                <a:gd name="connsiteX263" fmla="*/ 1275358 w 11996030"/>
                <a:gd name="connsiteY263" fmla="*/ 1911655 h 4244310"/>
                <a:gd name="connsiteX264" fmla="*/ 1178248 w 11996030"/>
                <a:gd name="connsiteY264" fmla="*/ 2067938 h 4244310"/>
                <a:gd name="connsiteX265" fmla="*/ 1060028 w 11996030"/>
                <a:gd name="connsiteY265" fmla="*/ 2242394 h 4244310"/>
                <a:gd name="connsiteX266" fmla="*/ 388703 w 11996030"/>
                <a:gd name="connsiteY266" fmla="*/ 2947484 h 4244310"/>
                <a:gd name="connsiteX267" fmla="*/ 21374 w 11996030"/>
                <a:gd name="connsiteY267" fmla="*/ 3158284 h 4244310"/>
                <a:gd name="connsiteX268" fmla="*/ 4485 w 11996030"/>
                <a:gd name="connsiteY268" fmla="*/ 3143746 h 4244310"/>
                <a:gd name="connsiteX269" fmla="*/ 908030 w 11996030"/>
                <a:gd name="connsiteY269" fmla="*/ 2173338 h 4244310"/>
                <a:gd name="connsiteX270" fmla="*/ 1102249 w 11996030"/>
                <a:gd name="connsiteY270" fmla="*/ 1904386 h 4244310"/>
                <a:gd name="connsiteX271" fmla="*/ 1275358 w 11996030"/>
                <a:gd name="connsiteY271" fmla="*/ 1693586 h 4244310"/>
                <a:gd name="connsiteX272" fmla="*/ 1566688 w 11996030"/>
                <a:gd name="connsiteY272" fmla="*/ 1773545 h 4244310"/>
                <a:gd name="connsiteX273" fmla="*/ 1836907 w 11996030"/>
                <a:gd name="connsiteY273" fmla="*/ 1926193 h 4244310"/>
                <a:gd name="connsiteX274" fmla="*/ 2145125 w 11996030"/>
                <a:gd name="connsiteY274" fmla="*/ 1769910 h 4244310"/>
                <a:gd name="connsiteX275" fmla="*/ 2634897 w 11996030"/>
                <a:gd name="connsiteY275" fmla="*/ 1275620 h 4244310"/>
                <a:gd name="connsiteX276" fmla="*/ 2938893 w 11996030"/>
                <a:gd name="connsiteY276" fmla="*/ 1097530 h 4244310"/>
                <a:gd name="connsiteX277" fmla="*/ 3112002 w 11996030"/>
                <a:gd name="connsiteY277" fmla="*/ 1202930 h 4244310"/>
                <a:gd name="connsiteX278" fmla="*/ 3302000 w 11996030"/>
                <a:gd name="connsiteY278" fmla="*/ 1362848 h 4244310"/>
                <a:gd name="connsiteX279" fmla="*/ 3517330 w 11996030"/>
                <a:gd name="connsiteY279" fmla="*/ 1504593 h 4244310"/>
                <a:gd name="connsiteX280" fmla="*/ 3534219 w 11996030"/>
                <a:gd name="connsiteY280" fmla="*/ 1519131 h 4244310"/>
                <a:gd name="connsiteX281" fmla="*/ 3610218 w 11996030"/>
                <a:gd name="connsiteY281" fmla="*/ 1580917 h 4244310"/>
                <a:gd name="connsiteX282" fmla="*/ 3711550 w 11996030"/>
                <a:gd name="connsiteY282" fmla="*/ 1708124 h 4244310"/>
                <a:gd name="connsiteX283" fmla="*/ 3749550 w 11996030"/>
                <a:gd name="connsiteY283" fmla="*/ 1748104 h 4244310"/>
                <a:gd name="connsiteX284" fmla="*/ 4129545 w 11996030"/>
                <a:gd name="connsiteY284" fmla="*/ 1951635 h 4244310"/>
                <a:gd name="connsiteX285" fmla="*/ 4159100 w 11996030"/>
                <a:gd name="connsiteY285" fmla="*/ 1915290 h 4244310"/>
                <a:gd name="connsiteX286" fmla="*/ 4268876 w 11996030"/>
                <a:gd name="connsiteY286" fmla="*/ 1809890 h 4244310"/>
                <a:gd name="connsiteX287" fmla="*/ 4370209 w 11996030"/>
                <a:gd name="connsiteY287" fmla="*/ 1828062 h 4244310"/>
                <a:gd name="connsiteX288" fmla="*/ 4543318 w 11996030"/>
                <a:gd name="connsiteY288" fmla="*/ 1766276 h 4244310"/>
                <a:gd name="connsiteX289" fmla="*/ 4796647 w 11996030"/>
                <a:gd name="connsiteY289" fmla="*/ 1471883 h 4244310"/>
                <a:gd name="connsiteX290" fmla="*/ 5341307 w 11996030"/>
                <a:gd name="connsiteY290" fmla="*/ 646854 h 4244310"/>
                <a:gd name="connsiteX291" fmla="*/ 5653748 w 11996030"/>
                <a:gd name="connsiteY291" fmla="*/ 196177 h 4244310"/>
                <a:gd name="connsiteX292" fmla="*/ 5856998 w 11996030"/>
                <a:gd name="connsiteY292" fmla="*/ 249 h 424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Lst>
              <a:rect l="l" t="t" r="r" b="b"/>
              <a:pathLst>
                <a:path w="11996030" h="4244310">
                  <a:moveTo>
                    <a:pt x="2791117" y="3369084"/>
                  </a:moveTo>
                  <a:cubicBezTo>
                    <a:pt x="2774228" y="3398160"/>
                    <a:pt x="2757340" y="3427236"/>
                    <a:pt x="2736229" y="3452678"/>
                  </a:cubicBezTo>
                  <a:cubicBezTo>
                    <a:pt x="2740451" y="3449043"/>
                    <a:pt x="2744673" y="3445409"/>
                    <a:pt x="2748895" y="3441774"/>
                  </a:cubicBezTo>
                  <a:cubicBezTo>
                    <a:pt x="2765784" y="3416333"/>
                    <a:pt x="2778450" y="3394526"/>
                    <a:pt x="2791117" y="3369084"/>
                  </a:cubicBezTo>
                  <a:close/>
                  <a:moveTo>
                    <a:pt x="10926033" y="2980452"/>
                  </a:moveTo>
                  <a:cubicBezTo>
                    <a:pt x="10973470" y="2983691"/>
                    <a:pt x="11016164" y="3002785"/>
                    <a:pt x="11054115" y="3030062"/>
                  </a:cubicBezTo>
                  <a:cubicBezTo>
                    <a:pt x="11100498" y="3059157"/>
                    <a:pt x="11142665" y="3099163"/>
                    <a:pt x="11180615" y="3124621"/>
                  </a:cubicBezTo>
                  <a:cubicBezTo>
                    <a:pt x="11332416" y="3248276"/>
                    <a:pt x="11530601" y="3339198"/>
                    <a:pt x="11724568" y="3411936"/>
                  </a:cubicBezTo>
                  <a:cubicBezTo>
                    <a:pt x="11741435" y="3415573"/>
                    <a:pt x="11733002" y="3441031"/>
                    <a:pt x="11716135" y="3441031"/>
                  </a:cubicBezTo>
                  <a:cubicBezTo>
                    <a:pt x="11652885" y="3437394"/>
                    <a:pt x="11598068" y="3430121"/>
                    <a:pt x="11543251" y="3415573"/>
                  </a:cubicBezTo>
                  <a:cubicBezTo>
                    <a:pt x="11509517" y="3411936"/>
                    <a:pt x="11480000" y="3401025"/>
                    <a:pt x="11446267" y="3386478"/>
                  </a:cubicBezTo>
                  <a:cubicBezTo>
                    <a:pt x="11425183" y="3375567"/>
                    <a:pt x="11399883" y="3368293"/>
                    <a:pt x="11374583" y="3353746"/>
                  </a:cubicBezTo>
                  <a:cubicBezTo>
                    <a:pt x="11319766" y="3328287"/>
                    <a:pt x="11269166" y="3299192"/>
                    <a:pt x="11214349" y="3273734"/>
                  </a:cubicBezTo>
                  <a:cubicBezTo>
                    <a:pt x="11155315" y="3244639"/>
                    <a:pt x="11092065" y="3208270"/>
                    <a:pt x="11028814" y="3204633"/>
                  </a:cubicBezTo>
                  <a:cubicBezTo>
                    <a:pt x="10948697" y="3197359"/>
                    <a:pt x="10801113" y="3222817"/>
                    <a:pt x="10754730" y="3146442"/>
                  </a:cubicBezTo>
                  <a:cubicBezTo>
                    <a:pt x="10720996" y="3095526"/>
                    <a:pt x="10746296" y="3055520"/>
                    <a:pt x="10788463" y="3022788"/>
                  </a:cubicBezTo>
                  <a:cubicBezTo>
                    <a:pt x="10805330" y="3008240"/>
                    <a:pt x="10826413" y="2993693"/>
                    <a:pt x="10851713" y="2986419"/>
                  </a:cubicBezTo>
                  <a:cubicBezTo>
                    <a:pt x="10855930" y="2986419"/>
                    <a:pt x="10860147" y="2982782"/>
                    <a:pt x="10860147" y="2982782"/>
                  </a:cubicBezTo>
                  <a:cubicBezTo>
                    <a:pt x="10868580" y="2979145"/>
                    <a:pt x="10872797" y="2979145"/>
                    <a:pt x="10877014" y="2982782"/>
                  </a:cubicBezTo>
                  <a:cubicBezTo>
                    <a:pt x="10893881" y="2980054"/>
                    <a:pt x="10910220" y="2979372"/>
                    <a:pt x="10926033" y="2980452"/>
                  </a:cubicBezTo>
                  <a:close/>
                  <a:moveTo>
                    <a:pt x="7197508" y="2476267"/>
                  </a:moveTo>
                  <a:cubicBezTo>
                    <a:pt x="7202657" y="2476949"/>
                    <a:pt x="7207411" y="2479676"/>
                    <a:pt x="7210580" y="2485129"/>
                  </a:cubicBezTo>
                  <a:cubicBezTo>
                    <a:pt x="7214805" y="2499670"/>
                    <a:pt x="7223256" y="2514212"/>
                    <a:pt x="7231706" y="2525118"/>
                  </a:cubicBezTo>
                  <a:cubicBezTo>
                    <a:pt x="7240157" y="2536024"/>
                    <a:pt x="7244382" y="2546930"/>
                    <a:pt x="7248607" y="2557836"/>
                  </a:cubicBezTo>
                  <a:cubicBezTo>
                    <a:pt x="7337338" y="2692346"/>
                    <a:pt x="7455647" y="2812313"/>
                    <a:pt x="7633109" y="2863209"/>
                  </a:cubicBezTo>
                  <a:cubicBezTo>
                    <a:pt x="7848599" y="2928646"/>
                    <a:pt x="8068314" y="2997718"/>
                    <a:pt x="8254227" y="3114050"/>
                  </a:cubicBezTo>
                  <a:cubicBezTo>
                    <a:pt x="8440139" y="3230382"/>
                    <a:pt x="8558447" y="3390339"/>
                    <a:pt x="8685206" y="3553932"/>
                  </a:cubicBezTo>
                  <a:cubicBezTo>
                    <a:pt x="8828866" y="3728430"/>
                    <a:pt x="9010554" y="3859304"/>
                    <a:pt x="9192241" y="4001084"/>
                  </a:cubicBezTo>
                  <a:cubicBezTo>
                    <a:pt x="9204917" y="4011990"/>
                    <a:pt x="9192241" y="4030167"/>
                    <a:pt x="9175340" y="4026532"/>
                  </a:cubicBezTo>
                  <a:cubicBezTo>
                    <a:pt x="8980977" y="3982907"/>
                    <a:pt x="8803514" y="3902929"/>
                    <a:pt x="8672530" y="3768419"/>
                  </a:cubicBezTo>
                  <a:cubicBezTo>
                    <a:pt x="8545771" y="3637546"/>
                    <a:pt x="8448590" y="3463047"/>
                    <a:pt x="8271128" y="3372163"/>
                  </a:cubicBezTo>
                  <a:cubicBezTo>
                    <a:pt x="8190847" y="3332173"/>
                    <a:pt x="8072539" y="3295819"/>
                    <a:pt x="7979583" y="3328538"/>
                  </a:cubicBezTo>
                  <a:cubicBezTo>
                    <a:pt x="7958456" y="3335809"/>
                    <a:pt x="7945780" y="3343079"/>
                    <a:pt x="7933105" y="3353986"/>
                  </a:cubicBezTo>
                  <a:cubicBezTo>
                    <a:pt x="7933105" y="3357621"/>
                    <a:pt x="7928879" y="3361256"/>
                    <a:pt x="7924654" y="3361256"/>
                  </a:cubicBezTo>
                  <a:cubicBezTo>
                    <a:pt x="7920429" y="3368527"/>
                    <a:pt x="7920429" y="3375798"/>
                    <a:pt x="7916203" y="3379433"/>
                  </a:cubicBezTo>
                  <a:cubicBezTo>
                    <a:pt x="7895077" y="3426693"/>
                    <a:pt x="7907753" y="3484859"/>
                    <a:pt x="7924654" y="3532119"/>
                  </a:cubicBezTo>
                  <a:cubicBezTo>
                    <a:pt x="7996484" y="3713889"/>
                    <a:pt x="8169721" y="3826586"/>
                    <a:pt x="8342958" y="3939283"/>
                  </a:cubicBezTo>
                  <a:cubicBezTo>
                    <a:pt x="8355633" y="3946553"/>
                    <a:pt x="8355633" y="3964730"/>
                    <a:pt x="8338732" y="3964730"/>
                  </a:cubicBezTo>
                  <a:cubicBezTo>
                    <a:pt x="8165496" y="3993813"/>
                    <a:pt x="8004934" y="3902929"/>
                    <a:pt x="7895077" y="3793867"/>
                  </a:cubicBezTo>
                  <a:cubicBezTo>
                    <a:pt x="7764093" y="3670264"/>
                    <a:pt x="7692263" y="3532119"/>
                    <a:pt x="7671136" y="3364892"/>
                  </a:cubicBezTo>
                  <a:cubicBezTo>
                    <a:pt x="7658461" y="3263101"/>
                    <a:pt x="7650010" y="3154039"/>
                    <a:pt x="7582405" y="3066790"/>
                  </a:cubicBezTo>
                  <a:cubicBezTo>
                    <a:pt x="7531702" y="2994082"/>
                    <a:pt x="7451421" y="2943187"/>
                    <a:pt x="7383817" y="2881386"/>
                  </a:cubicBezTo>
                  <a:cubicBezTo>
                    <a:pt x="7324663" y="2830490"/>
                    <a:pt x="7282410" y="2772324"/>
                    <a:pt x="7257058" y="2703252"/>
                  </a:cubicBezTo>
                  <a:cubicBezTo>
                    <a:pt x="7244382" y="2677804"/>
                    <a:pt x="7240157" y="2652356"/>
                    <a:pt x="7231706" y="2630544"/>
                  </a:cubicBezTo>
                  <a:cubicBezTo>
                    <a:pt x="7206354" y="2590555"/>
                    <a:pt x="7189453" y="2543295"/>
                    <a:pt x="7172552" y="2506941"/>
                  </a:cubicBezTo>
                  <a:cubicBezTo>
                    <a:pt x="7163045" y="2490582"/>
                    <a:pt x="7182059" y="2474222"/>
                    <a:pt x="7197508" y="2476267"/>
                  </a:cubicBezTo>
                  <a:close/>
                  <a:moveTo>
                    <a:pt x="7883053" y="2467732"/>
                  </a:moveTo>
                  <a:cubicBezTo>
                    <a:pt x="7904164" y="2489539"/>
                    <a:pt x="7925275" y="2507711"/>
                    <a:pt x="7946386" y="2525884"/>
                  </a:cubicBezTo>
                  <a:cubicBezTo>
                    <a:pt x="7942163" y="2522249"/>
                    <a:pt x="7942163" y="2522249"/>
                    <a:pt x="7942163" y="2518615"/>
                  </a:cubicBezTo>
                  <a:cubicBezTo>
                    <a:pt x="7921053" y="2504077"/>
                    <a:pt x="7904164" y="2485904"/>
                    <a:pt x="7883053" y="2467732"/>
                  </a:cubicBezTo>
                  <a:close/>
                  <a:moveTo>
                    <a:pt x="1411653" y="2123966"/>
                  </a:moveTo>
                  <a:cubicBezTo>
                    <a:pt x="1425376" y="2122090"/>
                    <a:pt x="1440154" y="2122318"/>
                    <a:pt x="1455988" y="2125046"/>
                  </a:cubicBezTo>
                  <a:cubicBezTo>
                    <a:pt x="1582659" y="2154149"/>
                    <a:pt x="1709330" y="2274201"/>
                    <a:pt x="1751554" y="2379700"/>
                  </a:cubicBezTo>
                  <a:cubicBezTo>
                    <a:pt x="1751554" y="2386976"/>
                    <a:pt x="1747331" y="2397890"/>
                    <a:pt x="1738886" y="2397890"/>
                  </a:cubicBezTo>
                  <a:cubicBezTo>
                    <a:pt x="1650217" y="2416080"/>
                    <a:pt x="1553102" y="2365149"/>
                    <a:pt x="1481322" y="2426993"/>
                  </a:cubicBezTo>
                  <a:cubicBezTo>
                    <a:pt x="1430653" y="2467010"/>
                    <a:pt x="1392652" y="2517941"/>
                    <a:pt x="1354651" y="2565234"/>
                  </a:cubicBezTo>
                  <a:cubicBezTo>
                    <a:pt x="1261759" y="2670734"/>
                    <a:pt x="1156199" y="2768958"/>
                    <a:pt x="1033751" y="2852630"/>
                  </a:cubicBezTo>
                  <a:cubicBezTo>
                    <a:pt x="911302" y="2939940"/>
                    <a:pt x="771964" y="3030888"/>
                    <a:pt x="624181" y="3089095"/>
                  </a:cubicBezTo>
                  <a:cubicBezTo>
                    <a:pt x="577735" y="3110922"/>
                    <a:pt x="527066" y="3129112"/>
                    <a:pt x="472176" y="3136388"/>
                  </a:cubicBezTo>
                  <a:cubicBezTo>
                    <a:pt x="451064" y="3140025"/>
                    <a:pt x="408840" y="3150939"/>
                    <a:pt x="387728" y="3143663"/>
                  </a:cubicBezTo>
                  <a:cubicBezTo>
                    <a:pt x="370839" y="3136388"/>
                    <a:pt x="370839" y="3121836"/>
                    <a:pt x="383506" y="3118198"/>
                  </a:cubicBezTo>
                  <a:cubicBezTo>
                    <a:pt x="375061" y="3110922"/>
                    <a:pt x="379283" y="3100008"/>
                    <a:pt x="391951" y="3100008"/>
                  </a:cubicBezTo>
                  <a:cubicBezTo>
                    <a:pt x="573512" y="3103646"/>
                    <a:pt x="725518" y="2947216"/>
                    <a:pt x="831077" y="2838078"/>
                  </a:cubicBezTo>
                  <a:cubicBezTo>
                    <a:pt x="957748" y="2703475"/>
                    <a:pt x="1080197" y="2561596"/>
                    <a:pt x="1189978" y="2419717"/>
                  </a:cubicBezTo>
                  <a:cubicBezTo>
                    <a:pt x="1223757" y="2376062"/>
                    <a:pt x="1253314" y="2332407"/>
                    <a:pt x="1270203" y="2281477"/>
                  </a:cubicBezTo>
                  <a:cubicBezTo>
                    <a:pt x="1282871" y="2248735"/>
                    <a:pt x="1295538" y="2215994"/>
                    <a:pt x="1316649" y="2186891"/>
                  </a:cubicBezTo>
                  <a:cubicBezTo>
                    <a:pt x="1338817" y="2154150"/>
                    <a:pt x="1370485" y="2129594"/>
                    <a:pt x="1411653" y="2123966"/>
                  </a:cubicBezTo>
                  <a:close/>
                  <a:moveTo>
                    <a:pt x="8942855" y="1895724"/>
                  </a:moveTo>
                  <a:cubicBezTo>
                    <a:pt x="9001950" y="1910273"/>
                    <a:pt x="9061044" y="1895724"/>
                    <a:pt x="9124360" y="1910273"/>
                  </a:cubicBezTo>
                  <a:cubicBezTo>
                    <a:pt x="9153907" y="1917547"/>
                    <a:pt x="9191896" y="1946645"/>
                    <a:pt x="9213001" y="1968468"/>
                  </a:cubicBezTo>
                  <a:cubicBezTo>
                    <a:pt x="9263654" y="2026662"/>
                    <a:pt x="9305864" y="2092131"/>
                    <a:pt x="9348075" y="2157600"/>
                  </a:cubicBezTo>
                  <a:cubicBezTo>
                    <a:pt x="9390285" y="2223069"/>
                    <a:pt x="9432495" y="2295812"/>
                    <a:pt x="9495811" y="2354006"/>
                  </a:cubicBezTo>
                  <a:cubicBezTo>
                    <a:pt x="9571789" y="2419475"/>
                    <a:pt x="9651989" y="2434024"/>
                    <a:pt x="9749073" y="2455847"/>
                  </a:cubicBezTo>
                  <a:cubicBezTo>
                    <a:pt x="9901030" y="2492218"/>
                    <a:pt x="9989672" y="2583147"/>
                    <a:pt x="10065651" y="2692262"/>
                  </a:cubicBezTo>
                  <a:cubicBezTo>
                    <a:pt x="10116303" y="2765005"/>
                    <a:pt x="10162734" y="2837749"/>
                    <a:pt x="10230271" y="2895943"/>
                  </a:cubicBezTo>
                  <a:cubicBezTo>
                    <a:pt x="10297807" y="2954138"/>
                    <a:pt x="10382228" y="2997783"/>
                    <a:pt x="10470870" y="3030518"/>
                  </a:cubicBezTo>
                  <a:cubicBezTo>
                    <a:pt x="10487754" y="3034155"/>
                    <a:pt x="10487754" y="3059615"/>
                    <a:pt x="10466649" y="3059615"/>
                  </a:cubicBezTo>
                  <a:cubicBezTo>
                    <a:pt x="10335797" y="3059615"/>
                    <a:pt x="10221829" y="3019606"/>
                    <a:pt x="10128966" y="2939589"/>
                  </a:cubicBezTo>
                  <a:cubicBezTo>
                    <a:pt x="10036103" y="2859571"/>
                    <a:pt x="9968567" y="2765005"/>
                    <a:pt x="9867262" y="2695899"/>
                  </a:cubicBezTo>
                  <a:cubicBezTo>
                    <a:pt x="9841936" y="2677714"/>
                    <a:pt x="9816609" y="2663165"/>
                    <a:pt x="9791283" y="2652253"/>
                  </a:cubicBezTo>
                  <a:cubicBezTo>
                    <a:pt x="9765957" y="2641342"/>
                    <a:pt x="9736410" y="2630430"/>
                    <a:pt x="9706863" y="2623156"/>
                  </a:cubicBezTo>
                  <a:cubicBezTo>
                    <a:pt x="9689978" y="2615882"/>
                    <a:pt x="9673094" y="2612245"/>
                    <a:pt x="9651989" y="2612245"/>
                  </a:cubicBezTo>
                  <a:cubicBezTo>
                    <a:pt x="9571789" y="2601333"/>
                    <a:pt x="9483148" y="2597696"/>
                    <a:pt x="9411390" y="2568599"/>
                  </a:cubicBezTo>
                  <a:cubicBezTo>
                    <a:pt x="9255212" y="2506767"/>
                    <a:pt x="9263654" y="2364918"/>
                    <a:pt x="9179233" y="2259440"/>
                  </a:cubicBezTo>
                  <a:cubicBezTo>
                    <a:pt x="9175012" y="2266715"/>
                    <a:pt x="9170791" y="2270352"/>
                    <a:pt x="9170791" y="2277626"/>
                  </a:cubicBezTo>
                  <a:cubicBezTo>
                    <a:pt x="9141244" y="2361281"/>
                    <a:pt x="9086370" y="2434024"/>
                    <a:pt x="8985066" y="2466758"/>
                  </a:cubicBezTo>
                  <a:cubicBezTo>
                    <a:pt x="8972402" y="2470395"/>
                    <a:pt x="8955518" y="2455847"/>
                    <a:pt x="8959739" y="2444935"/>
                  </a:cubicBezTo>
                  <a:cubicBezTo>
                    <a:pt x="9006171" y="2350369"/>
                    <a:pt x="9056823" y="2237617"/>
                    <a:pt x="9014613" y="2132140"/>
                  </a:cubicBezTo>
                  <a:cubicBezTo>
                    <a:pt x="8989287" y="2066671"/>
                    <a:pt x="8917529" y="1990291"/>
                    <a:pt x="8930192" y="1913910"/>
                  </a:cubicBezTo>
                  <a:cubicBezTo>
                    <a:pt x="8930192" y="1913910"/>
                    <a:pt x="8930192" y="1910273"/>
                    <a:pt x="8934413" y="1906636"/>
                  </a:cubicBezTo>
                  <a:cubicBezTo>
                    <a:pt x="8925971" y="1902999"/>
                    <a:pt x="8934413" y="1892087"/>
                    <a:pt x="8942855" y="1895724"/>
                  </a:cubicBezTo>
                  <a:close/>
                  <a:moveTo>
                    <a:pt x="5569760" y="1387113"/>
                  </a:moveTo>
                  <a:cubicBezTo>
                    <a:pt x="5586657" y="1387113"/>
                    <a:pt x="5590881" y="1405303"/>
                    <a:pt x="5582433" y="1412579"/>
                  </a:cubicBezTo>
                  <a:cubicBezTo>
                    <a:pt x="5565536" y="1427131"/>
                    <a:pt x="5548639" y="1441683"/>
                    <a:pt x="5535966" y="1459873"/>
                  </a:cubicBezTo>
                  <a:cubicBezTo>
                    <a:pt x="5531743" y="1463512"/>
                    <a:pt x="5531743" y="1467150"/>
                    <a:pt x="5527518" y="1470788"/>
                  </a:cubicBezTo>
                  <a:cubicBezTo>
                    <a:pt x="5464155" y="1550824"/>
                    <a:pt x="5434586" y="1656326"/>
                    <a:pt x="5472603" y="1743638"/>
                  </a:cubicBezTo>
                  <a:cubicBezTo>
                    <a:pt x="5514845" y="1841865"/>
                    <a:pt x="5628899" y="1900073"/>
                    <a:pt x="5679590" y="1998299"/>
                  </a:cubicBezTo>
                  <a:cubicBezTo>
                    <a:pt x="5734505" y="2103802"/>
                    <a:pt x="5738729" y="2238408"/>
                    <a:pt x="5840110" y="2322082"/>
                  </a:cubicBezTo>
                  <a:cubicBezTo>
                    <a:pt x="5916146" y="2387567"/>
                    <a:pt x="6013303" y="2423947"/>
                    <a:pt x="6089339" y="2493069"/>
                  </a:cubicBezTo>
                  <a:cubicBezTo>
                    <a:pt x="6097787" y="2503983"/>
                    <a:pt x="6093563" y="2522173"/>
                    <a:pt x="6072442" y="2522173"/>
                  </a:cubicBezTo>
                  <a:cubicBezTo>
                    <a:pt x="5658469" y="2514897"/>
                    <a:pt x="5565536" y="2114716"/>
                    <a:pt x="5265616" y="1943729"/>
                  </a:cubicBezTo>
                  <a:cubicBezTo>
                    <a:pt x="5261393" y="1954643"/>
                    <a:pt x="5257168" y="1961919"/>
                    <a:pt x="5248720" y="1972833"/>
                  </a:cubicBezTo>
                  <a:cubicBezTo>
                    <a:pt x="5240271" y="1987385"/>
                    <a:pt x="5231823" y="1998299"/>
                    <a:pt x="5219151" y="2012851"/>
                  </a:cubicBezTo>
                  <a:cubicBezTo>
                    <a:pt x="5088199" y="2238408"/>
                    <a:pt x="4885437" y="2449413"/>
                    <a:pt x="4589741" y="2503983"/>
                  </a:cubicBezTo>
                  <a:cubicBezTo>
                    <a:pt x="4306719" y="2558553"/>
                    <a:pt x="4192666" y="2849594"/>
                    <a:pt x="3892746" y="2882336"/>
                  </a:cubicBezTo>
                  <a:cubicBezTo>
                    <a:pt x="3888522" y="2882336"/>
                    <a:pt x="3884298" y="2882336"/>
                    <a:pt x="3880074" y="2878698"/>
                  </a:cubicBezTo>
                  <a:cubicBezTo>
                    <a:pt x="3875850" y="2878698"/>
                    <a:pt x="3867401" y="2871422"/>
                    <a:pt x="3875850" y="2867784"/>
                  </a:cubicBezTo>
                  <a:cubicBezTo>
                    <a:pt x="3875850" y="2867784"/>
                    <a:pt x="3875850" y="2864146"/>
                    <a:pt x="3875850" y="2864146"/>
                  </a:cubicBezTo>
                  <a:cubicBezTo>
                    <a:pt x="3875850" y="2856870"/>
                    <a:pt x="3884298" y="2849594"/>
                    <a:pt x="3892746" y="2845956"/>
                  </a:cubicBezTo>
                  <a:cubicBezTo>
                    <a:pt x="3981455" y="2762282"/>
                    <a:pt x="4074388" y="2682246"/>
                    <a:pt x="4158871" y="2598571"/>
                  </a:cubicBezTo>
                  <a:cubicBezTo>
                    <a:pt x="4222235" y="2529449"/>
                    <a:pt x="4285598" y="2460327"/>
                    <a:pt x="4344737" y="2387567"/>
                  </a:cubicBezTo>
                  <a:cubicBezTo>
                    <a:pt x="4370083" y="2351186"/>
                    <a:pt x="4391204" y="2314806"/>
                    <a:pt x="4416549" y="2282064"/>
                  </a:cubicBezTo>
                  <a:cubicBezTo>
                    <a:pt x="4433445" y="2252960"/>
                    <a:pt x="4458791" y="2227494"/>
                    <a:pt x="4492585" y="2212942"/>
                  </a:cubicBezTo>
                  <a:cubicBezTo>
                    <a:pt x="4530603" y="2194752"/>
                    <a:pt x="4551724" y="2212942"/>
                    <a:pt x="4589741" y="2220218"/>
                  </a:cubicBezTo>
                  <a:cubicBezTo>
                    <a:pt x="4674226" y="2238408"/>
                    <a:pt x="4788281" y="2092888"/>
                    <a:pt x="4830522" y="2041955"/>
                  </a:cubicBezTo>
                  <a:cubicBezTo>
                    <a:pt x="4948800" y="1907349"/>
                    <a:pt x="5045958" y="1758190"/>
                    <a:pt x="5168459" y="1627222"/>
                  </a:cubicBezTo>
                  <a:cubicBezTo>
                    <a:pt x="5269840" y="1518082"/>
                    <a:pt x="5396568" y="1405303"/>
                    <a:pt x="5569760" y="1387113"/>
                  </a:cubicBezTo>
                  <a:close/>
                  <a:moveTo>
                    <a:pt x="5822984" y="667367"/>
                  </a:moveTo>
                  <a:cubicBezTo>
                    <a:pt x="5911673" y="678276"/>
                    <a:pt x="5958130" y="765552"/>
                    <a:pt x="5991917" y="823735"/>
                  </a:cubicBezTo>
                  <a:cubicBezTo>
                    <a:pt x="6055267" y="925556"/>
                    <a:pt x="6135510" y="994649"/>
                    <a:pt x="6241094" y="1067379"/>
                  </a:cubicBezTo>
                  <a:cubicBezTo>
                    <a:pt x="6633865" y="1329205"/>
                    <a:pt x="7022412" y="1627396"/>
                    <a:pt x="7166006" y="2052863"/>
                  </a:cubicBezTo>
                  <a:cubicBezTo>
                    <a:pt x="7174452" y="2071045"/>
                    <a:pt x="7144889" y="2078318"/>
                    <a:pt x="7136442" y="2063772"/>
                  </a:cubicBezTo>
                  <a:cubicBezTo>
                    <a:pt x="7001295" y="1885585"/>
                    <a:pt x="6836585" y="1725580"/>
                    <a:pt x="6646535" y="1591031"/>
                  </a:cubicBezTo>
                  <a:cubicBezTo>
                    <a:pt x="6486048" y="1478300"/>
                    <a:pt x="6304444" y="1369206"/>
                    <a:pt x="6105947" y="1303749"/>
                  </a:cubicBezTo>
                  <a:cubicBezTo>
                    <a:pt x="5975023" y="1256475"/>
                    <a:pt x="5839876" y="1212838"/>
                    <a:pt x="5717400" y="1151018"/>
                  </a:cubicBezTo>
                  <a:cubicBezTo>
                    <a:pt x="5645603" y="1114653"/>
                    <a:pt x="5514679" y="1045560"/>
                    <a:pt x="5561137" y="961921"/>
                  </a:cubicBezTo>
                  <a:cubicBezTo>
                    <a:pt x="5561137" y="958285"/>
                    <a:pt x="5565359" y="954648"/>
                    <a:pt x="5565359" y="954648"/>
                  </a:cubicBezTo>
                  <a:cubicBezTo>
                    <a:pt x="5565359" y="951012"/>
                    <a:pt x="5565359" y="947375"/>
                    <a:pt x="5569583" y="947375"/>
                  </a:cubicBezTo>
                  <a:cubicBezTo>
                    <a:pt x="5641379" y="900101"/>
                    <a:pt x="5662496" y="812826"/>
                    <a:pt x="5704730" y="747369"/>
                  </a:cubicBezTo>
                  <a:cubicBezTo>
                    <a:pt x="5725846" y="711004"/>
                    <a:pt x="5763857" y="660094"/>
                    <a:pt x="5822984" y="667367"/>
                  </a:cubicBezTo>
                  <a:close/>
                  <a:moveTo>
                    <a:pt x="5856998" y="249"/>
                  </a:moveTo>
                  <a:cubicBezTo>
                    <a:pt x="5868485" y="-766"/>
                    <a:pt x="5879634" y="1278"/>
                    <a:pt x="5890189" y="7184"/>
                  </a:cubicBezTo>
                  <a:cubicBezTo>
                    <a:pt x="5974632" y="54433"/>
                    <a:pt x="5987299" y="181640"/>
                    <a:pt x="6008410" y="257964"/>
                  </a:cubicBezTo>
                  <a:cubicBezTo>
                    <a:pt x="6025298" y="301578"/>
                    <a:pt x="6042187" y="385171"/>
                    <a:pt x="6097075" y="406978"/>
                  </a:cubicBezTo>
                  <a:cubicBezTo>
                    <a:pt x="6156186" y="432419"/>
                    <a:pt x="6198407" y="370633"/>
                    <a:pt x="6261740" y="417881"/>
                  </a:cubicBezTo>
                  <a:cubicBezTo>
                    <a:pt x="6316628" y="461495"/>
                    <a:pt x="6363072" y="523281"/>
                    <a:pt x="6409516" y="577799"/>
                  </a:cubicBezTo>
                  <a:cubicBezTo>
                    <a:pt x="6455960" y="635950"/>
                    <a:pt x="6502404" y="697737"/>
                    <a:pt x="6544625" y="755888"/>
                  </a:cubicBezTo>
                  <a:cubicBezTo>
                    <a:pt x="6637513" y="883095"/>
                    <a:pt x="6726179" y="1013937"/>
                    <a:pt x="6823288" y="1137509"/>
                  </a:cubicBezTo>
                  <a:cubicBezTo>
                    <a:pt x="6916176" y="1250178"/>
                    <a:pt x="7025953" y="1388289"/>
                    <a:pt x="7165284" y="1464614"/>
                  </a:cubicBezTo>
                  <a:cubicBezTo>
                    <a:pt x="7279283" y="1522765"/>
                    <a:pt x="7401726" y="1566379"/>
                    <a:pt x="7511502" y="1635434"/>
                  </a:cubicBezTo>
                  <a:cubicBezTo>
                    <a:pt x="7553724" y="1664510"/>
                    <a:pt x="7591723" y="1697221"/>
                    <a:pt x="7617056" y="1740835"/>
                  </a:cubicBezTo>
                  <a:cubicBezTo>
                    <a:pt x="7646612" y="1798986"/>
                    <a:pt x="7629723" y="1871676"/>
                    <a:pt x="7633945" y="1929828"/>
                  </a:cubicBezTo>
                  <a:cubicBezTo>
                    <a:pt x="7646612" y="2071573"/>
                    <a:pt x="7747944" y="2206049"/>
                    <a:pt x="7849276" y="2307814"/>
                  </a:cubicBezTo>
                  <a:cubicBezTo>
                    <a:pt x="7883053" y="2344159"/>
                    <a:pt x="7916830" y="2373235"/>
                    <a:pt x="7954830" y="2405945"/>
                  </a:cubicBezTo>
                  <a:cubicBezTo>
                    <a:pt x="8153272" y="2293276"/>
                    <a:pt x="8313714" y="2126090"/>
                    <a:pt x="8457268" y="1962538"/>
                  </a:cubicBezTo>
                  <a:cubicBezTo>
                    <a:pt x="8558600" y="1849869"/>
                    <a:pt x="8638821" y="1719028"/>
                    <a:pt x="8761264" y="1624531"/>
                  </a:cubicBezTo>
                  <a:cubicBezTo>
                    <a:pt x="8799264" y="1595455"/>
                    <a:pt x="8849930" y="1551841"/>
                    <a:pt x="8904818" y="1562745"/>
                  </a:cubicBezTo>
                  <a:cubicBezTo>
                    <a:pt x="8947039" y="1570014"/>
                    <a:pt x="8976595" y="1602724"/>
                    <a:pt x="9001928" y="1631800"/>
                  </a:cubicBezTo>
                  <a:cubicBezTo>
                    <a:pt x="9035705" y="1664510"/>
                    <a:pt x="9069482" y="1697221"/>
                    <a:pt x="9120148" y="1711759"/>
                  </a:cubicBezTo>
                  <a:cubicBezTo>
                    <a:pt x="9166592" y="1722662"/>
                    <a:pt x="9213036" y="1726297"/>
                    <a:pt x="9259480" y="1729931"/>
                  </a:cubicBezTo>
                  <a:cubicBezTo>
                    <a:pt x="9322813" y="1733566"/>
                    <a:pt x="9381923" y="1737200"/>
                    <a:pt x="9436811" y="1769910"/>
                  </a:cubicBezTo>
                  <a:cubicBezTo>
                    <a:pt x="9525477" y="1824428"/>
                    <a:pt x="9580365" y="1904386"/>
                    <a:pt x="9635253" y="1980711"/>
                  </a:cubicBezTo>
                  <a:cubicBezTo>
                    <a:pt x="9698586" y="2064304"/>
                    <a:pt x="9766140" y="2173338"/>
                    <a:pt x="9880139" y="2206049"/>
                  </a:cubicBezTo>
                  <a:cubicBezTo>
                    <a:pt x="9956138" y="2227856"/>
                    <a:pt x="10002582" y="2206049"/>
                    <a:pt x="10074359" y="2173338"/>
                  </a:cubicBezTo>
                  <a:cubicBezTo>
                    <a:pt x="10108136" y="2158800"/>
                    <a:pt x="10154580" y="2136994"/>
                    <a:pt x="10192579" y="2155166"/>
                  </a:cubicBezTo>
                  <a:cubicBezTo>
                    <a:pt x="10243245" y="2176973"/>
                    <a:pt x="10272801" y="2231490"/>
                    <a:pt x="10302356" y="2267835"/>
                  </a:cubicBezTo>
                  <a:cubicBezTo>
                    <a:pt x="10353022" y="2333256"/>
                    <a:pt x="10420577" y="2395042"/>
                    <a:pt x="10483909" y="2453194"/>
                  </a:cubicBezTo>
                  <a:cubicBezTo>
                    <a:pt x="10589463" y="2544056"/>
                    <a:pt x="10809016" y="2743953"/>
                    <a:pt x="10961014" y="2616746"/>
                  </a:cubicBezTo>
                  <a:cubicBezTo>
                    <a:pt x="10969459" y="2609477"/>
                    <a:pt x="10986347" y="2609477"/>
                    <a:pt x="10994792" y="2616746"/>
                  </a:cubicBezTo>
                  <a:cubicBezTo>
                    <a:pt x="11319899" y="2867525"/>
                    <a:pt x="11598562" y="3180091"/>
                    <a:pt x="11982779" y="3365450"/>
                  </a:cubicBezTo>
                  <a:cubicBezTo>
                    <a:pt x="11999668" y="3372719"/>
                    <a:pt x="11999668" y="3390891"/>
                    <a:pt x="11987001" y="3398160"/>
                  </a:cubicBezTo>
                  <a:cubicBezTo>
                    <a:pt x="11991224" y="3416333"/>
                    <a:pt x="11970113" y="3434505"/>
                    <a:pt x="11949002" y="3423602"/>
                  </a:cubicBezTo>
                  <a:cubicBezTo>
                    <a:pt x="11809670" y="3350912"/>
                    <a:pt x="11674561" y="3278222"/>
                    <a:pt x="11539452" y="3198264"/>
                  </a:cubicBezTo>
                  <a:cubicBezTo>
                    <a:pt x="11387453" y="3111036"/>
                    <a:pt x="11235455" y="3027443"/>
                    <a:pt x="11096124" y="2925677"/>
                  </a:cubicBezTo>
                  <a:cubicBezTo>
                    <a:pt x="11045458" y="2892967"/>
                    <a:pt x="11003236" y="2867525"/>
                    <a:pt x="10939903" y="2871160"/>
                  </a:cubicBezTo>
                  <a:cubicBezTo>
                    <a:pt x="10872349" y="2874794"/>
                    <a:pt x="10813238" y="2885698"/>
                    <a:pt x="10745684" y="2874794"/>
                  </a:cubicBezTo>
                  <a:cubicBezTo>
                    <a:pt x="10614796" y="2845718"/>
                    <a:pt x="10505020" y="2765760"/>
                    <a:pt x="10416354" y="2678532"/>
                  </a:cubicBezTo>
                  <a:cubicBezTo>
                    <a:pt x="10327689" y="2587670"/>
                    <a:pt x="10264356" y="2482270"/>
                    <a:pt x="10175691" y="2391408"/>
                  </a:cubicBezTo>
                  <a:cubicBezTo>
                    <a:pt x="10129247" y="2347794"/>
                    <a:pt x="10070137" y="2376870"/>
                    <a:pt x="10015248" y="2387773"/>
                  </a:cubicBezTo>
                  <a:cubicBezTo>
                    <a:pt x="9964582" y="2395042"/>
                    <a:pt x="9918138" y="2402311"/>
                    <a:pt x="9871695" y="2387773"/>
                  </a:cubicBezTo>
                  <a:cubicBezTo>
                    <a:pt x="9761918" y="2351428"/>
                    <a:pt x="9690141" y="2220587"/>
                    <a:pt x="9631031" y="2140628"/>
                  </a:cubicBezTo>
                  <a:cubicBezTo>
                    <a:pt x="9559254" y="2035228"/>
                    <a:pt x="9462144" y="1868042"/>
                    <a:pt x="9305924" y="1842600"/>
                  </a:cubicBezTo>
                  <a:cubicBezTo>
                    <a:pt x="9221480" y="1831697"/>
                    <a:pt x="9132815" y="1838966"/>
                    <a:pt x="9052594" y="1806255"/>
                  </a:cubicBezTo>
                  <a:cubicBezTo>
                    <a:pt x="8993483" y="1784448"/>
                    <a:pt x="8947039" y="1748104"/>
                    <a:pt x="8900596" y="1711759"/>
                  </a:cubicBezTo>
                  <a:cubicBezTo>
                    <a:pt x="8875263" y="1766276"/>
                    <a:pt x="8837263" y="1817159"/>
                    <a:pt x="8803486" y="1864407"/>
                  </a:cubicBezTo>
                  <a:cubicBezTo>
                    <a:pt x="8761264" y="1929828"/>
                    <a:pt x="8714820" y="1991614"/>
                    <a:pt x="8664154" y="2053400"/>
                  </a:cubicBezTo>
                  <a:cubicBezTo>
                    <a:pt x="8630377" y="2097014"/>
                    <a:pt x="8596599" y="2140628"/>
                    <a:pt x="8558600" y="2184242"/>
                  </a:cubicBezTo>
                  <a:cubicBezTo>
                    <a:pt x="8499490" y="2249663"/>
                    <a:pt x="8436157" y="2318718"/>
                    <a:pt x="8364380" y="2376870"/>
                  </a:cubicBezTo>
                  <a:cubicBezTo>
                    <a:pt x="8360158" y="2384139"/>
                    <a:pt x="8355935" y="2395042"/>
                    <a:pt x="8343269" y="2398677"/>
                  </a:cubicBezTo>
                  <a:cubicBezTo>
                    <a:pt x="8339047" y="2402311"/>
                    <a:pt x="8334825" y="2402311"/>
                    <a:pt x="8330603" y="2405945"/>
                  </a:cubicBezTo>
                  <a:cubicBezTo>
                    <a:pt x="8271493" y="2449559"/>
                    <a:pt x="8203938" y="2489539"/>
                    <a:pt x="8132161" y="2522249"/>
                  </a:cubicBezTo>
                  <a:cubicBezTo>
                    <a:pt x="8123717" y="2525884"/>
                    <a:pt x="8119494" y="2529518"/>
                    <a:pt x="8111050" y="2533153"/>
                  </a:cubicBezTo>
                  <a:cubicBezTo>
                    <a:pt x="8246160" y="2634918"/>
                    <a:pt x="8389713" y="2725780"/>
                    <a:pt x="8516378" y="2831180"/>
                  </a:cubicBezTo>
                  <a:cubicBezTo>
                    <a:pt x="8630377" y="2922043"/>
                    <a:pt x="8731709" y="3020174"/>
                    <a:pt x="8820374" y="3129208"/>
                  </a:cubicBezTo>
                  <a:cubicBezTo>
                    <a:pt x="8925929" y="3270953"/>
                    <a:pt x="9018816" y="3416333"/>
                    <a:pt x="9124371" y="3558078"/>
                  </a:cubicBezTo>
                  <a:cubicBezTo>
                    <a:pt x="9217258" y="3685285"/>
                    <a:pt x="9318590" y="3808857"/>
                    <a:pt x="9441033" y="3914257"/>
                  </a:cubicBezTo>
                  <a:cubicBezTo>
                    <a:pt x="9559254" y="4019657"/>
                    <a:pt x="9694363" y="4110520"/>
                    <a:pt x="9837917" y="4194113"/>
                  </a:cubicBezTo>
                  <a:cubicBezTo>
                    <a:pt x="9859028" y="4205016"/>
                    <a:pt x="9846362" y="4230458"/>
                    <a:pt x="9829473" y="4234092"/>
                  </a:cubicBezTo>
                  <a:cubicBezTo>
                    <a:pt x="9821029" y="4244996"/>
                    <a:pt x="9804140" y="4248630"/>
                    <a:pt x="9791473" y="4237727"/>
                  </a:cubicBezTo>
                  <a:cubicBezTo>
                    <a:pt x="9732363" y="4190478"/>
                    <a:pt x="9652142" y="4157768"/>
                    <a:pt x="9580365" y="4125058"/>
                  </a:cubicBezTo>
                  <a:cubicBezTo>
                    <a:pt x="9517032" y="4092347"/>
                    <a:pt x="9457922" y="4056002"/>
                    <a:pt x="9407256" y="4008754"/>
                  </a:cubicBezTo>
                  <a:cubicBezTo>
                    <a:pt x="9289035" y="3910623"/>
                    <a:pt x="9183481" y="3797954"/>
                    <a:pt x="9090593" y="3681650"/>
                  </a:cubicBezTo>
                  <a:cubicBezTo>
                    <a:pt x="8980817" y="3554443"/>
                    <a:pt x="8875263" y="3423602"/>
                    <a:pt x="8748598" y="3307298"/>
                  </a:cubicBezTo>
                  <a:cubicBezTo>
                    <a:pt x="8634599" y="3198264"/>
                    <a:pt x="8499490" y="3103767"/>
                    <a:pt x="8368602" y="3009270"/>
                  </a:cubicBezTo>
                  <a:cubicBezTo>
                    <a:pt x="8123717" y="2834815"/>
                    <a:pt x="7853498" y="2660360"/>
                    <a:pt x="7671945" y="2427752"/>
                  </a:cubicBezTo>
                  <a:cubicBezTo>
                    <a:pt x="7595945" y="2329621"/>
                    <a:pt x="7536835" y="2224221"/>
                    <a:pt x="7498836" y="2115187"/>
                  </a:cubicBezTo>
                  <a:cubicBezTo>
                    <a:pt x="7481947" y="2053400"/>
                    <a:pt x="7465058" y="1991614"/>
                    <a:pt x="7452392" y="1933462"/>
                  </a:cubicBezTo>
                  <a:cubicBezTo>
                    <a:pt x="7439725" y="1882580"/>
                    <a:pt x="7427059" y="1828062"/>
                    <a:pt x="7380615" y="1791717"/>
                  </a:cubicBezTo>
                  <a:cubicBezTo>
                    <a:pt x="7321504" y="1740835"/>
                    <a:pt x="7241283" y="1704490"/>
                    <a:pt x="7177951" y="1657241"/>
                  </a:cubicBezTo>
                  <a:cubicBezTo>
                    <a:pt x="7114618" y="1613628"/>
                    <a:pt x="7055508" y="1566379"/>
                    <a:pt x="7000620" y="1511862"/>
                  </a:cubicBezTo>
                  <a:cubicBezTo>
                    <a:pt x="6861288" y="1381020"/>
                    <a:pt x="6743067" y="1239275"/>
                    <a:pt x="6603736" y="1108434"/>
                  </a:cubicBezTo>
                  <a:cubicBezTo>
                    <a:pt x="6493959" y="999399"/>
                    <a:pt x="6401072" y="883095"/>
                    <a:pt x="6308184" y="759523"/>
                  </a:cubicBezTo>
                  <a:cubicBezTo>
                    <a:pt x="6287073" y="730447"/>
                    <a:pt x="6261740" y="694102"/>
                    <a:pt x="6227963" y="672295"/>
                  </a:cubicBezTo>
                  <a:cubicBezTo>
                    <a:pt x="6185741" y="643219"/>
                    <a:pt x="6139297" y="643219"/>
                    <a:pt x="6092853" y="632316"/>
                  </a:cubicBezTo>
                  <a:cubicBezTo>
                    <a:pt x="6042187" y="617778"/>
                    <a:pt x="6012632" y="566895"/>
                    <a:pt x="5987299" y="526916"/>
                  </a:cubicBezTo>
                  <a:cubicBezTo>
                    <a:pt x="5957744" y="479667"/>
                    <a:pt x="5932411" y="428785"/>
                    <a:pt x="5898634" y="377902"/>
                  </a:cubicBezTo>
                  <a:cubicBezTo>
                    <a:pt x="5885967" y="356095"/>
                    <a:pt x="5860634" y="316116"/>
                    <a:pt x="5826856" y="327019"/>
                  </a:cubicBezTo>
                  <a:cubicBezTo>
                    <a:pt x="5784635" y="337922"/>
                    <a:pt x="5759302" y="363364"/>
                    <a:pt x="5738191" y="392440"/>
                  </a:cubicBezTo>
                  <a:cubicBezTo>
                    <a:pt x="5653748" y="505109"/>
                    <a:pt x="5598859" y="632316"/>
                    <a:pt x="5522860" y="748619"/>
                  </a:cubicBezTo>
                  <a:cubicBezTo>
                    <a:pt x="5421528" y="904902"/>
                    <a:pt x="5311752" y="1061185"/>
                    <a:pt x="5201975" y="1213834"/>
                  </a:cubicBezTo>
                  <a:cubicBezTo>
                    <a:pt x="5096421" y="1359213"/>
                    <a:pt x="4978201" y="1497324"/>
                    <a:pt x="4876868" y="1642703"/>
                  </a:cubicBezTo>
                  <a:cubicBezTo>
                    <a:pt x="4788203" y="1762641"/>
                    <a:pt x="4703759" y="1893483"/>
                    <a:pt x="4577094" y="1984345"/>
                  </a:cubicBezTo>
                  <a:cubicBezTo>
                    <a:pt x="4551761" y="2002518"/>
                    <a:pt x="4522207" y="2013421"/>
                    <a:pt x="4484207" y="2020690"/>
                  </a:cubicBezTo>
                  <a:cubicBezTo>
                    <a:pt x="4450430" y="2024324"/>
                    <a:pt x="4416652" y="1998883"/>
                    <a:pt x="4382875" y="2009787"/>
                  </a:cubicBezTo>
                  <a:cubicBezTo>
                    <a:pt x="4311098" y="2031593"/>
                    <a:pt x="4268876" y="2097014"/>
                    <a:pt x="4235099" y="2147897"/>
                  </a:cubicBezTo>
                  <a:cubicBezTo>
                    <a:pt x="4188655" y="2213318"/>
                    <a:pt x="4133767" y="2267835"/>
                    <a:pt x="4087323" y="2329621"/>
                  </a:cubicBezTo>
                  <a:cubicBezTo>
                    <a:pt x="4032435" y="2395042"/>
                    <a:pt x="3981770" y="2460463"/>
                    <a:pt x="3926881" y="2522249"/>
                  </a:cubicBezTo>
                  <a:cubicBezTo>
                    <a:pt x="3795994" y="2663994"/>
                    <a:pt x="3665106" y="2805739"/>
                    <a:pt x="3534219" y="2947484"/>
                  </a:cubicBezTo>
                  <a:cubicBezTo>
                    <a:pt x="3470887" y="3012905"/>
                    <a:pt x="3411776" y="3078325"/>
                    <a:pt x="3348443" y="3143746"/>
                  </a:cubicBezTo>
                  <a:cubicBezTo>
                    <a:pt x="3306222" y="3190995"/>
                    <a:pt x="3255556" y="3241877"/>
                    <a:pt x="3192224" y="3270953"/>
                  </a:cubicBezTo>
                  <a:cubicBezTo>
                    <a:pt x="3158446" y="3289126"/>
                    <a:pt x="3120447" y="3300029"/>
                    <a:pt x="3082447" y="3303664"/>
                  </a:cubicBezTo>
                  <a:cubicBezTo>
                    <a:pt x="3031780" y="3307298"/>
                    <a:pt x="2972671" y="3303664"/>
                    <a:pt x="2930449" y="3329105"/>
                  </a:cubicBezTo>
                  <a:cubicBezTo>
                    <a:pt x="2871339" y="3365450"/>
                    <a:pt x="2829117" y="3419967"/>
                    <a:pt x="2795339" y="3474485"/>
                  </a:cubicBezTo>
                  <a:cubicBezTo>
                    <a:pt x="2732007" y="3579885"/>
                    <a:pt x="2694007" y="3703457"/>
                    <a:pt x="2605342" y="3797954"/>
                  </a:cubicBezTo>
                  <a:cubicBezTo>
                    <a:pt x="2508232" y="3899719"/>
                    <a:pt x="2394233" y="4008754"/>
                    <a:pt x="2242235" y="4045099"/>
                  </a:cubicBezTo>
                  <a:cubicBezTo>
                    <a:pt x="2233791" y="4048733"/>
                    <a:pt x="2225346" y="4045099"/>
                    <a:pt x="2221124" y="4041464"/>
                  </a:cubicBezTo>
                  <a:cubicBezTo>
                    <a:pt x="2216902" y="4037830"/>
                    <a:pt x="2212680" y="4026926"/>
                    <a:pt x="2221124" y="4023292"/>
                  </a:cubicBezTo>
                  <a:cubicBezTo>
                    <a:pt x="2225346" y="4019657"/>
                    <a:pt x="2229568" y="4019657"/>
                    <a:pt x="2233791" y="4016023"/>
                  </a:cubicBezTo>
                  <a:cubicBezTo>
                    <a:pt x="2390011" y="3925161"/>
                    <a:pt x="2482899" y="3776147"/>
                    <a:pt x="2571564" y="3638036"/>
                  </a:cubicBezTo>
                  <a:cubicBezTo>
                    <a:pt x="2681341" y="3474485"/>
                    <a:pt x="2799562" y="3318202"/>
                    <a:pt x="2879783" y="3140112"/>
                  </a:cubicBezTo>
                  <a:cubicBezTo>
                    <a:pt x="2879783" y="3132843"/>
                    <a:pt x="2888227" y="3125574"/>
                    <a:pt x="2900893" y="3129208"/>
                  </a:cubicBezTo>
                  <a:cubicBezTo>
                    <a:pt x="2968448" y="3147381"/>
                    <a:pt x="3036003" y="3169188"/>
                    <a:pt x="3099336" y="3121939"/>
                  </a:cubicBezTo>
                  <a:cubicBezTo>
                    <a:pt x="3166891" y="3074691"/>
                    <a:pt x="3221778" y="3012905"/>
                    <a:pt x="3280889" y="2958387"/>
                  </a:cubicBezTo>
                  <a:cubicBezTo>
                    <a:pt x="3411776" y="2831180"/>
                    <a:pt x="3534219" y="2700339"/>
                    <a:pt x="3652439" y="2562228"/>
                  </a:cubicBezTo>
                  <a:cubicBezTo>
                    <a:pt x="3724216" y="2475001"/>
                    <a:pt x="3795994" y="2387773"/>
                    <a:pt x="3863548" y="2296911"/>
                  </a:cubicBezTo>
                  <a:cubicBezTo>
                    <a:pt x="3728439" y="2282373"/>
                    <a:pt x="3589107" y="2253297"/>
                    <a:pt x="3470887" y="2191511"/>
                  </a:cubicBezTo>
                  <a:cubicBezTo>
                    <a:pt x="3420220" y="2162435"/>
                    <a:pt x="3247111" y="2038862"/>
                    <a:pt x="3188001" y="2100649"/>
                  </a:cubicBezTo>
                  <a:cubicBezTo>
                    <a:pt x="3183779" y="2107918"/>
                    <a:pt x="3175335" y="2107918"/>
                    <a:pt x="3171112" y="2107918"/>
                  </a:cubicBezTo>
                  <a:cubicBezTo>
                    <a:pt x="3107780" y="2089745"/>
                    <a:pt x="3057114" y="2053400"/>
                    <a:pt x="3014892" y="2009787"/>
                  </a:cubicBezTo>
                  <a:cubicBezTo>
                    <a:pt x="2976893" y="1969807"/>
                    <a:pt x="2938893" y="1915290"/>
                    <a:pt x="2884005" y="1889848"/>
                  </a:cubicBezTo>
                  <a:cubicBezTo>
                    <a:pt x="2799562" y="1853504"/>
                    <a:pt x="2685563" y="1900752"/>
                    <a:pt x="2601120" y="1918924"/>
                  </a:cubicBezTo>
                  <a:cubicBezTo>
                    <a:pt x="2508232" y="1940731"/>
                    <a:pt x="2415344" y="1951635"/>
                    <a:pt x="2322456" y="1955269"/>
                  </a:cubicBezTo>
                  <a:cubicBezTo>
                    <a:pt x="2301346" y="1955269"/>
                    <a:pt x="2292901" y="1929828"/>
                    <a:pt x="2309790" y="1922559"/>
                  </a:cubicBezTo>
                  <a:cubicBezTo>
                    <a:pt x="2406900" y="1875311"/>
                    <a:pt x="2491343" y="1820793"/>
                    <a:pt x="2567342" y="1751738"/>
                  </a:cubicBezTo>
                  <a:cubicBezTo>
                    <a:pt x="2634897" y="1693586"/>
                    <a:pt x="2694007" y="1624531"/>
                    <a:pt x="2770006" y="1570014"/>
                  </a:cubicBezTo>
                  <a:cubicBezTo>
                    <a:pt x="2871339" y="1493689"/>
                    <a:pt x="2972671" y="1475517"/>
                    <a:pt x="3065558" y="1566379"/>
                  </a:cubicBezTo>
                  <a:cubicBezTo>
                    <a:pt x="3196446" y="1682683"/>
                    <a:pt x="3297778" y="1817159"/>
                    <a:pt x="3441331" y="1922559"/>
                  </a:cubicBezTo>
                  <a:cubicBezTo>
                    <a:pt x="3589107" y="2035228"/>
                    <a:pt x="3762216" y="2122456"/>
                    <a:pt x="3960658" y="2144262"/>
                  </a:cubicBezTo>
                  <a:cubicBezTo>
                    <a:pt x="3964881" y="2140628"/>
                    <a:pt x="3973325" y="2140628"/>
                    <a:pt x="3981770" y="2144262"/>
                  </a:cubicBezTo>
                  <a:cubicBezTo>
                    <a:pt x="3985991" y="2136994"/>
                    <a:pt x="3990213" y="2133359"/>
                    <a:pt x="3994436" y="2126090"/>
                  </a:cubicBezTo>
                  <a:cubicBezTo>
                    <a:pt x="4007102" y="2107918"/>
                    <a:pt x="4019769" y="2093380"/>
                    <a:pt x="4032435" y="2075207"/>
                  </a:cubicBezTo>
                  <a:cubicBezTo>
                    <a:pt x="4028213" y="2075207"/>
                    <a:pt x="4028213" y="2075207"/>
                    <a:pt x="4023991" y="2071573"/>
                  </a:cubicBezTo>
                  <a:cubicBezTo>
                    <a:pt x="3867771" y="2009787"/>
                    <a:pt x="3669328" y="1958904"/>
                    <a:pt x="3559552" y="1838966"/>
                  </a:cubicBezTo>
                  <a:cubicBezTo>
                    <a:pt x="3513108" y="1784448"/>
                    <a:pt x="3483553" y="1719028"/>
                    <a:pt x="3437109" y="1664510"/>
                  </a:cubicBezTo>
                  <a:cubicBezTo>
                    <a:pt x="3382221" y="1599090"/>
                    <a:pt x="3293556" y="1584552"/>
                    <a:pt x="3230223" y="1526400"/>
                  </a:cubicBezTo>
                  <a:cubicBezTo>
                    <a:pt x="3162668" y="1464614"/>
                    <a:pt x="3099336" y="1395558"/>
                    <a:pt x="3027558" y="1333772"/>
                  </a:cubicBezTo>
                  <a:cubicBezTo>
                    <a:pt x="2989559" y="1301061"/>
                    <a:pt x="2947337" y="1275620"/>
                    <a:pt x="2896671" y="1315599"/>
                  </a:cubicBezTo>
                  <a:cubicBezTo>
                    <a:pt x="2862894" y="1344675"/>
                    <a:pt x="2829117" y="1373751"/>
                    <a:pt x="2799562" y="1402827"/>
                  </a:cubicBezTo>
                  <a:cubicBezTo>
                    <a:pt x="2668674" y="1530034"/>
                    <a:pt x="2525121" y="1649972"/>
                    <a:pt x="2373122" y="1762641"/>
                  </a:cubicBezTo>
                  <a:cubicBezTo>
                    <a:pt x="2238013" y="1864407"/>
                    <a:pt x="2094459" y="1962538"/>
                    <a:pt x="1934017" y="2038862"/>
                  </a:cubicBezTo>
                  <a:cubicBezTo>
                    <a:pt x="1815796" y="2093380"/>
                    <a:pt x="1697575" y="2118821"/>
                    <a:pt x="1583577" y="2038862"/>
                  </a:cubicBezTo>
                  <a:cubicBezTo>
                    <a:pt x="1528689" y="1998883"/>
                    <a:pt x="1490689" y="1951635"/>
                    <a:pt x="1440023" y="1908021"/>
                  </a:cubicBezTo>
                  <a:cubicBezTo>
                    <a:pt x="1418912" y="1886214"/>
                    <a:pt x="1385135" y="1853504"/>
                    <a:pt x="1347135" y="1857138"/>
                  </a:cubicBezTo>
                  <a:cubicBezTo>
                    <a:pt x="1313358" y="1860773"/>
                    <a:pt x="1292247" y="1889848"/>
                    <a:pt x="1275358" y="1911655"/>
                  </a:cubicBezTo>
                  <a:cubicBezTo>
                    <a:pt x="1237359" y="1962538"/>
                    <a:pt x="1207803" y="2017056"/>
                    <a:pt x="1178248" y="2067938"/>
                  </a:cubicBezTo>
                  <a:cubicBezTo>
                    <a:pt x="1144471" y="2129725"/>
                    <a:pt x="1098027" y="2184242"/>
                    <a:pt x="1060028" y="2242394"/>
                  </a:cubicBezTo>
                  <a:cubicBezTo>
                    <a:pt x="874252" y="2507711"/>
                    <a:pt x="658922" y="2740318"/>
                    <a:pt x="388703" y="2947484"/>
                  </a:cubicBezTo>
                  <a:cubicBezTo>
                    <a:pt x="359148" y="2969291"/>
                    <a:pt x="84707" y="3172822"/>
                    <a:pt x="21374" y="3158284"/>
                  </a:cubicBezTo>
                  <a:cubicBezTo>
                    <a:pt x="8708" y="3165553"/>
                    <a:pt x="-8181" y="3151015"/>
                    <a:pt x="4485" y="3143746"/>
                  </a:cubicBezTo>
                  <a:cubicBezTo>
                    <a:pt x="380258" y="2874794"/>
                    <a:pt x="654699" y="2529518"/>
                    <a:pt x="908030" y="2173338"/>
                  </a:cubicBezTo>
                  <a:cubicBezTo>
                    <a:pt x="975584" y="2082476"/>
                    <a:pt x="1038917" y="1995249"/>
                    <a:pt x="1102249" y="1904386"/>
                  </a:cubicBezTo>
                  <a:cubicBezTo>
                    <a:pt x="1152915" y="1838966"/>
                    <a:pt x="1199359" y="1744469"/>
                    <a:pt x="1275358" y="1693586"/>
                  </a:cubicBezTo>
                  <a:cubicBezTo>
                    <a:pt x="1389357" y="1617262"/>
                    <a:pt x="1490689" y="1700855"/>
                    <a:pt x="1566688" y="1773545"/>
                  </a:cubicBezTo>
                  <a:cubicBezTo>
                    <a:pt x="1638465" y="1835331"/>
                    <a:pt x="1722908" y="1940731"/>
                    <a:pt x="1836907" y="1926193"/>
                  </a:cubicBezTo>
                  <a:cubicBezTo>
                    <a:pt x="1959350" y="1915290"/>
                    <a:pt x="2064904" y="1835331"/>
                    <a:pt x="2145125" y="1769910"/>
                  </a:cubicBezTo>
                  <a:cubicBezTo>
                    <a:pt x="2330901" y="1620896"/>
                    <a:pt x="2487121" y="1450076"/>
                    <a:pt x="2634897" y="1275620"/>
                  </a:cubicBezTo>
                  <a:cubicBezTo>
                    <a:pt x="2698230" y="1199296"/>
                    <a:pt x="2803784" y="1064820"/>
                    <a:pt x="2938893" y="1097530"/>
                  </a:cubicBezTo>
                  <a:cubicBezTo>
                    <a:pt x="3010670" y="1115703"/>
                    <a:pt x="3061336" y="1159316"/>
                    <a:pt x="3112002" y="1202930"/>
                  </a:cubicBezTo>
                  <a:cubicBezTo>
                    <a:pt x="3175335" y="1257447"/>
                    <a:pt x="3234445" y="1311965"/>
                    <a:pt x="3302000" y="1362848"/>
                  </a:cubicBezTo>
                  <a:cubicBezTo>
                    <a:pt x="3369554" y="1413731"/>
                    <a:pt x="3453998" y="1450076"/>
                    <a:pt x="3517330" y="1504593"/>
                  </a:cubicBezTo>
                  <a:cubicBezTo>
                    <a:pt x="3525774" y="1511862"/>
                    <a:pt x="3529997" y="1515496"/>
                    <a:pt x="3534219" y="1519131"/>
                  </a:cubicBezTo>
                  <a:cubicBezTo>
                    <a:pt x="3563774" y="1537303"/>
                    <a:pt x="3589107" y="1555476"/>
                    <a:pt x="3610218" y="1580917"/>
                  </a:cubicBezTo>
                  <a:cubicBezTo>
                    <a:pt x="3648218" y="1620896"/>
                    <a:pt x="3673551" y="1668145"/>
                    <a:pt x="3711550" y="1708124"/>
                  </a:cubicBezTo>
                  <a:cubicBezTo>
                    <a:pt x="3724216" y="1722662"/>
                    <a:pt x="3736883" y="1733566"/>
                    <a:pt x="3749550" y="1748104"/>
                  </a:cubicBezTo>
                  <a:cubicBezTo>
                    <a:pt x="3855104" y="1842600"/>
                    <a:pt x="3981770" y="1922559"/>
                    <a:pt x="4129545" y="1951635"/>
                  </a:cubicBezTo>
                  <a:cubicBezTo>
                    <a:pt x="4137989" y="1940731"/>
                    <a:pt x="4146433" y="1929828"/>
                    <a:pt x="4159100" y="1915290"/>
                  </a:cubicBezTo>
                  <a:cubicBezTo>
                    <a:pt x="4184432" y="1882580"/>
                    <a:pt x="4222432" y="1824428"/>
                    <a:pt x="4268876" y="1809890"/>
                  </a:cubicBezTo>
                  <a:cubicBezTo>
                    <a:pt x="4306876" y="1798986"/>
                    <a:pt x="4332208" y="1820793"/>
                    <a:pt x="4370209" y="1828062"/>
                  </a:cubicBezTo>
                  <a:cubicBezTo>
                    <a:pt x="4433542" y="1838966"/>
                    <a:pt x="4496874" y="1802621"/>
                    <a:pt x="4543318" y="1766276"/>
                  </a:cubicBezTo>
                  <a:cubicBezTo>
                    <a:pt x="4644649" y="1682683"/>
                    <a:pt x="4724870" y="1577283"/>
                    <a:pt x="4796647" y="1471883"/>
                  </a:cubicBezTo>
                  <a:cubicBezTo>
                    <a:pt x="4986645" y="1202930"/>
                    <a:pt x="5159754" y="919440"/>
                    <a:pt x="5341307" y="646854"/>
                  </a:cubicBezTo>
                  <a:cubicBezTo>
                    <a:pt x="5442640" y="494205"/>
                    <a:pt x="5539749" y="341557"/>
                    <a:pt x="5653748" y="196177"/>
                  </a:cubicBezTo>
                  <a:cubicBezTo>
                    <a:pt x="5679609" y="164376"/>
                    <a:pt x="5776587" y="7355"/>
                    <a:pt x="5856998" y="249"/>
                  </a:cubicBezTo>
                  <a:close/>
                </a:path>
              </a:pathLst>
            </a:custGeom>
            <a:solidFill>
              <a:schemeClr val="tx1">
                <a:alpha val="10000"/>
              </a:schemeClr>
            </a:solidFill>
            <a:ln>
              <a:noFill/>
            </a:ln>
          </p:spPr>
          <p:txBody>
            <a:bodyPr wrap="square" lIns="91440" tIns="45720" rIns="91440" bIns="45720" anchor="ctr">
              <a:noAutofit/>
              <a:scene3d>
                <a:camera prst="orthographicFront"/>
                <a:lightRig rig="threePt" dir="t"/>
              </a:scene3d>
              <a:sp3d contourW="12700"/>
            </a:bodyPr>
            <a:lstStyle/>
            <a:p>
              <a:pPr algn="ctr"/>
              <a:endParaRPr>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Title"/>
            <p:cNvSpPr txBox="1"/>
            <p:nvPr/>
          </p:nvSpPr>
          <p:spPr>
            <a:xfrm>
              <a:off x="660400" y="1130300"/>
              <a:ext cx="10858500" cy="568960"/>
            </a:xfrm>
            <a:prstGeom prst="rect">
              <a:avLst/>
            </a:prstGeom>
            <a:noFill/>
            <a:ln>
              <a:noFill/>
            </a:ln>
            <a:effectLst/>
          </p:spPr>
          <p:txBody>
            <a:bodyPr wrap="square" lIns="91440" tIns="45720" rIns="91440" bIns="45720" anchor="ctr" anchorCtr="0">
              <a:normAutofit/>
            </a:bodyPr>
            <a:lstStyle/>
            <a:p>
              <a:pPr marL="0" marR="0" lvl="0" indent="0" defTabSz="913765" rtl="0" eaLnBrk="1" fontAlgn="auto" latinLnBrk="0" hangingPunct="1">
                <a:spcBef>
                  <a:spcPts val="0"/>
                </a:spcBef>
                <a:spcAft>
                  <a:spcPts val="0"/>
                </a:spcAft>
                <a:buClrTx/>
                <a:buSzPct val="25000"/>
                <a:buFontTx/>
                <a:buNone/>
                <a:defRPr/>
              </a:pPr>
              <a:r>
                <a:rPr lang="zh-CN" altLang="en-US" sz="2000" b="1" dirty="0">
                  <a:latin typeface="Arial" panose="020B0604020202020204" pitchFamily="34" charset="0"/>
                  <a:ea typeface="微软雅黑" panose="020B0503020204020204" pitchFamily="34" charset="-122"/>
                  <a:cs typeface="+mn-ea"/>
                  <a:sym typeface="Arial" panose="020B0604020202020204" pitchFamily="34" charset="0"/>
                </a:rPr>
                <a:t>Enable lightweight and real-time belief evolution for continuous MCG adaptation</a:t>
              </a:r>
              <a:endParaRPr lang="en-US" dirty="0"/>
            </a:p>
          </p:txBody>
        </p:sp>
        <p:grpSp>
          <p:nvGrpSpPr>
            <p:cNvPr id="28" name="组合 27"/>
            <p:cNvGrpSpPr/>
            <p:nvPr/>
          </p:nvGrpSpPr>
          <p:grpSpPr>
            <a:xfrm>
              <a:off x="1699806" y="1808790"/>
              <a:ext cx="3502418" cy="2145304"/>
              <a:chOff x="1699806" y="2419941"/>
              <a:chExt cx="3502418" cy="2145304"/>
            </a:xfrm>
          </p:grpSpPr>
          <p:grpSp>
            <p:nvGrpSpPr>
              <p:cNvPr id="29" name="组合 28"/>
              <p:cNvGrpSpPr/>
              <p:nvPr/>
            </p:nvGrpSpPr>
            <p:grpSpPr>
              <a:xfrm>
                <a:off x="1752878" y="2419941"/>
                <a:ext cx="3449346" cy="2145304"/>
                <a:chOff x="2451578" y="1993585"/>
                <a:chExt cx="3449346" cy="2145304"/>
              </a:xfrm>
            </p:grpSpPr>
            <p:sp>
              <p:nvSpPr>
                <p:cNvPr id="31" name="Bullet1"/>
                <p:cNvSpPr txBox="1"/>
                <p:nvPr>
                  <p:custDataLst>
                    <p:tags r:id="rId2"/>
                  </p:custDataLst>
                </p:nvPr>
              </p:nvSpPr>
              <p:spPr>
                <a:xfrm>
                  <a:off x="2451578" y="2498454"/>
                  <a:ext cx="3360142" cy="515864"/>
                </a:xfrm>
                <a:prstGeom prst="rect">
                  <a:avLst/>
                </a:prstGeom>
                <a:noFill/>
              </p:spPr>
              <p:txBody>
                <a:bodyPr wrap="square" lIns="91440" tIns="45720" rIns="91440" bIns="45720" rtlCol="0" anchor="t" anchorCtr="0">
                  <a:normAutofit/>
                </a:bodyPr>
                <a:lstStyle>
                  <a:defPPr>
                    <a:defRPr lang="zh-CN"/>
                  </a:defPPr>
                  <a:lvl1pPr marR="0" lvl="0" indent="0" fontAlgn="auto">
                    <a:lnSpc>
                      <a:spcPct val="100000"/>
                    </a:lnSpc>
                    <a:spcBef>
                      <a:spcPts val="0"/>
                    </a:spcBef>
                    <a:spcAft>
                      <a:spcPts val="0"/>
                    </a:spcAft>
                    <a:buClrTx/>
                    <a:buSzTx/>
                    <a:buFontTx/>
                    <a:buNone/>
                    <a:defRPr kumimoji="0" sz="22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nSpc>
                      <a:spcPct val="120000"/>
                    </a:lnSpc>
                  </a:pPr>
                  <a:r>
                    <a:rPr lang="zh-CN" altLang="en-US" sz="16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Goal and Belief Decay Mechanism</a:t>
                  </a:r>
                  <a:endParaRPr lang="en-US" dirty="0"/>
                </a:p>
              </p:txBody>
            </p:sp>
            <p:sp>
              <p:nvSpPr>
                <p:cNvPr id="32" name="Text1"/>
                <p:cNvSpPr txBox="1"/>
                <p:nvPr>
                  <p:custDataLst>
                    <p:tags r:id="rId3"/>
                  </p:custDataLst>
                </p:nvPr>
              </p:nvSpPr>
              <p:spPr>
                <a:xfrm>
                  <a:off x="2540782" y="3185727"/>
                  <a:ext cx="3360142" cy="953162"/>
                </a:xfrm>
                <a:prstGeom prst="rect">
                  <a:avLst/>
                </a:prstGeom>
                <a:noFill/>
              </p:spPr>
              <p:txBody>
                <a:bodyPr wrap="square" lIns="91440" tIns="45720" rIns="91440" bIns="45720" rtlCol="0" anchor="t" anchorCtr="0">
                  <a:normAutofit/>
                </a:bodyPr>
                <a:lstStyle>
                  <a:defPPr>
                    <a:defRPr lang="zh-CN"/>
                  </a:defPPr>
                  <a:lvl1pPr marR="0" lvl="0" indent="0" fontAlgn="auto">
                    <a:lnSpc>
                      <a:spcPct val="130000"/>
                    </a:lnSpc>
                    <a:spcBef>
                      <a:spcPts val="0"/>
                    </a:spcBef>
                    <a:spcAft>
                      <a:spcPts val="0"/>
                    </a:spcAft>
                    <a:buClrTx/>
                    <a:buSzTx/>
                    <a:buFontTx/>
                    <a:buNone/>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a:lnSpc>
                      <a:spcPct val="120000"/>
                    </a:lnSpc>
                  </a:pPr>
                  <a:r>
                    <a:rPr lang="zh-CN" altLang="en-US"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Enable lightweight and real-time belief evolution. Older beliefs become less certain over time. The current belief score is decayed based on the time since the last update. L′_prior(e) = L_current(e) × exp(−k · Δt)</a:t>
                  </a:r>
                  <a:endParaRPr lang="en-US" dirty="0"/>
                </a:p>
              </p:txBody>
            </p:sp>
            <p:sp>
              <p:nvSpPr>
                <p:cNvPr id="33" name="Number1"/>
                <p:cNvSpPr txBox="1"/>
                <p:nvPr>
                  <p:custDataLst>
                    <p:tags r:id="rId4"/>
                  </p:custDataLst>
                </p:nvPr>
              </p:nvSpPr>
              <p:spPr>
                <a:xfrm>
                  <a:off x="2541548" y="1993585"/>
                  <a:ext cx="737610" cy="414230"/>
                </a:xfrm>
                <a:prstGeom prst="homePlate">
                  <a:avLst>
                    <a:gd name="adj" fmla="val 23700"/>
                  </a:avLst>
                </a:prstGeom>
                <a:solidFill>
                  <a:schemeClr val="accent1"/>
                </a:solidFill>
              </p:spPr>
              <p:txBody>
                <a:bodyPr wrap="none" lIns="91440" tIns="45720" rIns="91440" bIns="45720" rtlCol="0" anchor="ctr" anchorCtr="0">
                  <a:normAutofit/>
                </a:bodyPr>
                <a:lstStyle>
                  <a:defPPr>
                    <a:defRPr lang="zh-CN"/>
                  </a:defPPr>
                  <a:lvl1pPr marR="0" lvl="0" indent="0" fontAlgn="auto">
                    <a:lnSpc>
                      <a:spcPct val="100000"/>
                    </a:lnSpc>
                    <a:spcBef>
                      <a:spcPts val="0"/>
                    </a:spcBef>
                    <a:spcAft>
                      <a:spcPts val="0"/>
                    </a:spcAft>
                    <a:buClrTx/>
                    <a:buSzTx/>
                    <a:buFontTx/>
                    <a:buNone/>
                    <a:defRPr kumimoji="0" sz="22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gn="ctr">
                    <a:lnSpc>
                      <a:spcPct val="110000"/>
                    </a:lnSpc>
                  </a:pPr>
                  <a:r>
                    <a:rPr lang="it-IT" altLang="zh-CN" sz="16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1</a:t>
                  </a:r>
                  <a:endParaRPr lang="zh-CN" altLang="en-US" sz="16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cxnSp>
            <p:nvCxnSpPr>
              <p:cNvPr id="30" name="Line1"/>
              <p:cNvCxnSpPr/>
              <p:nvPr/>
            </p:nvCxnSpPr>
            <p:spPr>
              <a:xfrm>
                <a:off x="1699806" y="2475561"/>
                <a:ext cx="0" cy="1972191"/>
              </a:xfrm>
              <a:prstGeom prst="line">
                <a:avLst/>
              </a:prstGeom>
              <a:ln w="19050">
                <a:gradFill>
                  <a:gsLst>
                    <a:gs pos="20000">
                      <a:schemeClr val="accent1"/>
                    </a:gs>
                    <a:gs pos="100000">
                      <a:schemeClr val="accent1">
                        <a:lumMod val="60000"/>
                        <a:lumOff val="40000"/>
                        <a:alpha val="0"/>
                      </a:schemeClr>
                    </a:gs>
                  </a:gsLst>
                  <a:lin ang="5400000" scaled="1"/>
                </a:gra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6899388" y="1344598"/>
              <a:ext cx="3480077" cy="2528901"/>
              <a:chOff x="5178042" y="1659558"/>
              <a:chExt cx="3480077" cy="2528901"/>
            </a:xfrm>
          </p:grpSpPr>
          <p:grpSp>
            <p:nvGrpSpPr>
              <p:cNvPr id="44" name="组合 43"/>
              <p:cNvGrpSpPr/>
              <p:nvPr/>
            </p:nvGrpSpPr>
            <p:grpSpPr>
              <a:xfrm>
                <a:off x="5178042" y="2040424"/>
                <a:ext cx="3480077" cy="2148035"/>
                <a:chOff x="6512952" y="1799382"/>
                <a:chExt cx="3480077" cy="2148035"/>
              </a:xfrm>
            </p:grpSpPr>
            <p:sp>
              <p:nvSpPr>
                <p:cNvPr id="46" name="Bullet2"/>
                <p:cNvSpPr txBox="1"/>
                <p:nvPr>
                  <p:custDataLst>
                    <p:tags r:id="rId5"/>
                  </p:custDataLst>
                </p:nvPr>
              </p:nvSpPr>
              <p:spPr>
                <a:xfrm>
                  <a:off x="6528669" y="2366355"/>
                  <a:ext cx="3360142" cy="515864"/>
                </a:xfrm>
                <a:prstGeom prst="rect">
                  <a:avLst/>
                </a:prstGeom>
                <a:noFill/>
              </p:spPr>
              <p:txBody>
                <a:bodyPr wrap="square" lIns="91440" tIns="45720" rIns="91440" bIns="45720" rtlCol="0" anchor="t" anchorCtr="0">
                  <a:normAutofit/>
                </a:bodyPr>
                <a:lstStyle>
                  <a:defPPr>
                    <a:defRPr lang="zh-CN"/>
                  </a:defPPr>
                  <a:lvl1pPr marR="0" lvl="0" indent="0" fontAlgn="auto">
                    <a:lnSpc>
                      <a:spcPct val="100000"/>
                    </a:lnSpc>
                    <a:spcBef>
                      <a:spcPts val="0"/>
                    </a:spcBef>
                    <a:spcAft>
                      <a:spcPts val="0"/>
                    </a:spcAft>
                    <a:buClrTx/>
                    <a:buSzTx/>
                    <a:buFontTx/>
                    <a:buNone/>
                    <a:defRPr kumimoji="0" sz="22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nSpc>
                      <a:spcPct val="120000"/>
                    </a:lnSpc>
                  </a:pPr>
                  <a:r>
                    <a:rPr lang="zh-CN" altLang="en-US" sz="16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Belief Augmentation Process</a:t>
                  </a:r>
                  <a:endParaRPr lang="en-US" dirty="0"/>
                </a:p>
              </p:txBody>
            </p:sp>
            <p:sp>
              <p:nvSpPr>
                <p:cNvPr id="47" name="Text2"/>
                <p:cNvSpPr txBox="1"/>
                <p:nvPr>
                  <p:custDataLst>
                    <p:tags r:id="rId6"/>
                  </p:custDataLst>
                </p:nvPr>
              </p:nvSpPr>
              <p:spPr>
                <a:xfrm>
                  <a:off x="6632887" y="2882218"/>
                  <a:ext cx="3360142" cy="1065199"/>
                </a:xfrm>
                <a:prstGeom prst="rect">
                  <a:avLst/>
                </a:prstGeom>
                <a:noFill/>
              </p:spPr>
              <p:txBody>
                <a:bodyPr wrap="square" lIns="91440" tIns="45720" rIns="91440" bIns="45720" rtlCol="0" anchor="t" anchorCtr="0">
                  <a:normAutofit/>
                </a:bodyPr>
                <a:lstStyle>
                  <a:defPPr>
                    <a:defRPr lang="zh-CN"/>
                  </a:defPPr>
                  <a:lvl1pPr marR="0" lvl="0" indent="0" fontAlgn="auto">
                    <a:lnSpc>
                      <a:spcPct val="130000"/>
                    </a:lnSpc>
                    <a:spcBef>
                      <a:spcPts val="0"/>
                    </a:spcBef>
                    <a:spcAft>
                      <a:spcPts val="0"/>
                    </a:spcAft>
                    <a:buClrTx/>
                    <a:buSzTx/>
                    <a:buFontTx/>
                    <a:buNone/>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a:lnSpc>
                      <a:spcPct val="120000"/>
                    </a:lnSpc>
                  </a:pPr>
                  <a:r>
                    <a:rPr lang="zh-CN" altLang="en-US"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New evidence is then incorporated into the decayed prior. L_new(e) = L′_prior(e) + ΔL_new The contribution ΔL_new depends on the evidence type.</a:t>
                  </a:r>
                  <a:endParaRPr lang="en-US" dirty="0"/>
                </a:p>
              </p:txBody>
            </p:sp>
            <p:sp>
              <p:nvSpPr>
                <p:cNvPr id="48" name="Number2"/>
                <p:cNvSpPr txBox="1"/>
                <p:nvPr>
                  <p:custDataLst>
                    <p:tags r:id="rId7"/>
                  </p:custDataLst>
                </p:nvPr>
              </p:nvSpPr>
              <p:spPr>
                <a:xfrm>
                  <a:off x="6512952" y="1799382"/>
                  <a:ext cx="737610" cy="414230"/>
                </a:xfrm>
                <a:prstGeom prst="homePlate">
                  <a:avLst>
                    <a:gd name="adj" fmla="val 23700"/>
                  </a:avLst>
                </a:prstGeom>
                <a:solidFill>
                  <a:schemeClr val="accent1"/>
                </a:solidFill>
              </p:spPr>
              <p:txBody>
                <a:bodyPr wrap="none" lIns="91440" tIns="45720" rIns="91440" bIns="45720" rtlCol="0" anchor="ctr" anchorCtr="0">
                  <a:normAutofit/>
                </a:bodyPr>
                <a:lstStyle>
                  <a:defPPr>
                    <a:defRPr lang="zh-CN"/>
                  </a:defPPr>
                  <a:lvl1pPr marR="0" lvl="0" indent="0" fontAlgn="auto">
                    <a:lnSpc>
                      <a:spcPct val="100000"/>
                    </a:lnSpc>
                    <a:spcBef>
                      <a:spcPts val="0"/>
                    </a:spcBef>
                    <a:spcAft>
                      <a:spcPts val="0"/>
                    </a:spcAft>
                    <a:buClrTx/>
                    <a:buSzTx/>
                    <a:buFontTx/>
                    <a:buNone/>
                    <a:defRPr kumimoji="0" sz="22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gn="ctr">
                    <a:lnSpc>
                      <a:spcPct val="110000"/>
                    </a:lnSpc>
                  </a:pPr>
                  <a:r>
                    <a:rPr lang="it-IT" altLang="zh-CN" sz="16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2</a:t>
                  </a:r>
                  <a:endParaRPr lang="zh-CN" altLang="en-US" sz="16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cxnSp>
            <p:nvCxnSpPr>
              <p:cNvPr id="45" name="Line2"/>
              <p:cNvCxnSpPr/>
              <p:nvPr>
                <p:custDataLst>
                  <p:tags r:id="rId8"/>
                </p:custDataLst>
              </p:nvPr>
            </p:nvCxnSpPr>
            <p:spPr>
              <a:xfrm>
                <a:off x="5202323" y="1659558"/>
                <a:ext cx="0" cy="1939484"/>
              </a:xfrm>
              <a:prstGeom prst="line">
                <a:avLst/>
              </a:prstGeom>
              <a:ln w="19050">
                <a:gradFill>
                  <a:gsLst>
                    <a:gs pos="20000">
                      <a:schemeClr val="accent1"/>
                    </a:gs>
                    <a:gs pos="100000">
                      <a:schemeClr val="accent1">
                        <a:lumMod val="60000"/>
                        <a:lumOff val="40000"/>
                        <a:alpha val="0"/>
                      </a:schemeClr>
                    </a:gs>
                  </a:gsLst>
                  <a:lin ang="5400000" scaled="1"/>
                </a:gradFill>
                <a:headEnd type="none"/>
                <a:tailEnd type="none"/>
              </a:ln>
            </p:spPr>
            <p:style>
              <a:lnRef idx="1">
                <a:schemeClr val="accent1"/>
              </a:lnRef>
              <a:fillRef idx="0">
                <a:schemeClr val="accent1"/>
              </a:fillRef>
              <a:effectRef idx="0">
                <a:schemeClr val="accent1"/>
              </a:effectRef>
              <a:fontRef idx="minor">
                <a:schemeClr val="tx1"/>
              </a:fontRef>
            </p:style>
          </p:cxnSp>
        </p:grpSp>
      </p:grpSp>
      <p:sp>
        <p:nvSpPr>
          <p:cNvPr id="3" name="标题 2"/>
          <p:cNvSpPr>
            <a:spLocks noGrp="1"/>
          </p:cNvSpPr>
          <p:nvPr>
            <p:ph type="title" hasCustomPrompt="1"/>
          </p:nvPr>
        </p:nvSpPr>
        <p:spPr/>
        <p:txBody>
          <a:bodyPr/>
          <a:lstStyle/>
          <a:p>
            <a:r>
              <a:rPr lang="zh-CN" altLang="en-US" dirty="0"/>
              <a:t>Online Streaming Update</a:t>
            </a:r>
            <a:endParaRPr lang="en-US" dirty="0"/>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C8BB1146-E542-4D4E-B8E9-6919A11DDD48}" type="slidenum">
              <a:rPr lang="en-US" smtClean="0"/>
            </a:fld>
            <a:endParaRPr lang="en-US"/>
          </a:p>
        </p:txBody>
      </p:sp>
      <p:pic>
        <p:nvPicPr>
          <p:cNvPr id="8" name="图片 7"/>
          <p:cNvPicPr>
            <a:picLocks noChangeAspect="1"/>
          </p:cNvPicPr>
          <p:nvPr/>
        </p:nvPicPr>
        <p:blipFill>
          <a:blip r:embed="rId9"/>
          <a:stretch>
            <a:fillRect/>
          </a:stretch>
        </p:blipFill>
        <p:spPr>
          <a:xfrm>
            <a:off x="194945" y="4511040"/>
            <a:ext cx="6728460" cy="609600"/>
          </a:xfrm>
          <a:prstGeom prst="rect">
            <a:avLst/>
          </a:prstGeom>
        </p:spPr>
      </p:pic>
      <p:pic>
        <p:nvPicPr>
          <p:cNvPr id="9" name="图片 8"/>
          <p:cNvPicPr>
            <a:picLocks noChangeAspect="1"/>
          </p:cNvPicPr>
          <p:nvPr/>
        </p:nvPicPr>
        <p:blipFill>
          <a:blip r:embed="rId10"/>
          <a:stretch>
            <a:fillRect/>
          </a:stretch>
        </p:blipFill>
        <p:spPr>
          <a:xfrm>
            <a:off x="7711440" y="4434205"/>
            <a:ext cx="4053840" cy="624840"/>
          </a:xfrm>
          <a:prstGeom prst="rect">
            <a:avLst/>
          </a:prstGeom>
        </p:spPr>
      </p:pic>
      <p:pic>
        <p:nvPicPr>
          <p:cNvPr id="11" name="图片 10"/>
          <p:cNvPicPr>
            <a:picLocks noChangeAspect="1"/>
          </p:cNvPicPr>
          <p:nvPr/>
        </p:nvPicPr>
        <p:blipFill>
          <a:blip r:embed="rId11"/>
          <a:stretch>
            <a:fillRect/>
          </a:stretch>
        </p:blipFill>
        <p:spPr>
          <a:xfrm>
            <a:off x="10274935" y="1699260"/>
            <a:ext cx="1455420" cy="876300"/>
          </a:xfrm>
          <a:prstGeom prst="rect">
            <a:avLst/>
          </a:prstGeom>
        </p:spPr>
      </p:pic>
    </p:spTree>
    <p:custDataLst>
      <p:tags r:id="rId12"/>
    </p:custData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4c6b0ccb-ae93-4394-9740-c228d42eccfe.source.1.zh-Hans.pptx"/>
          <p:cNvGrpSpPr/>
          <p:nvPr/>
        </p:nvGrpSpPr>
        <p:grpSpPr>
          <a:xfrm>
            <a:off x="660398" y="1130301"/>
            <a:ext cx="10858502" cy="5003799"/>
            <a:chOff x="660398" y="1130301"/>
            <a:chExt cx="10858502" cy="5003799"/>
          </a:xfrm>
        </p:grpSpPr>
        <p:cxnSp>
          <p:nvCxnSpPr>
            <p:cNvPr id="8" name="直接连接符 7"/>
            <p:cNvCxnSpPr/>
            <p:nvPr/>
          </p:nvCxnSpPr>
          <p:spPr>
            <a:xfrm>
              <a:off x="660400" y="2892458"/>
              <a:ext cx="10858500" cy="0"/>
            </a:xfrm>
            <a:prstGeom prst="line">
              <a:avLst/>
            </a:prstGeom>
            <a:ln w="6350" cap="flat" cmpd="sng" algn="ctr">
              <a:solidFill>
                <a:schemeClr val="tx1">
                  <a:alpha val="5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Title"/>
            <p:cNvSpPr>
              <a:spLocks noChangeAspect="1"/>
            </p:cNvSpPr>
            <p:nvPr/>
          </p:nvSpPr>
          <p:spPr>
            <a:xfrm>
              <a:off x="660400" y="1130301"/>
              <a:ext cx="10858500" cy="721620"/>
            </a:xfrm>
            <a:prstGeom prst="rect">
              <a:avLst/>
            </a:prstGeom>
            <a:noFill/>
          </p:spPr>
          <p:txBody>
            <a:bodyPr wrap="square" lIns="90000" tIns="46800" rIns="90000" bIns="46800" rtlCol="0" anchor="ctr" anchorCtr="0">
              <a:normAutofit/>
            </a:bodyPr>
            <a:lstStyle/>
            <a:p>
              <a:r>
                <a:rPr lang="zh-CN" altLang="en-US" sz="2000" b="1" dirty="0">
                  <a:solidFill>
                    <a:schemeClr val="tx1"/>
                  </a:solidFill>
                  <a:cs typeface="+mn-ea"/>
                  <a:sym typeface="+mn-lt"/>
                </a:rPr>
                <a:t>MetaRCA performs online RCA in three steps using offline MCG as prior knowledge</a:t>
              </a:r>
              <a:endParaRPr lang="en-US" dirty="0"/>
            </a:p>
          </p:txBody>
        </p:sp>
        <p:grpSp>
          <p:nvGrpSpPr>
            <p:cNvPr id="16" name="组合 15"/>
            <p:cNvGrpSpPr/>
            <p:nvPr/>
          </p:nvGrpSpPr>
          <p:grpSpPr>
            <a:xfrm>
              <a:off x="660398" y="2619378"/>
              <a:ext cx="10858501" cy="3514722"/>
              <a:chOff x="660397" y="1893664"/>
              <a:chExt cx="7824372" cy="3514722"/>
            </a:xfrm>
          </p:grpSpPr>
          <p:sp>
            <p:nvSpPr>
              <p:cNvPr id="33" name="Number1"/>
              <p:cNvSpPr/>
              <p:nvPr/>
            </p:nvSpPr>
            <p:spPr>
              <a:xfrm>
                <a:off x="735226" y="1893664"/>
                <a:ext cx="548378" cy="546160"/>
              </a:xfrm>
              <a:prstGeom prst="chevron">
                <a:avLst>
                  <a:gd name="adj" fmla="val 332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dirty="0">
                    <a:cs typeface="+mn-ea"/>
                    <a:sym typeface="+mn-lt"/>
                  </a:rPr>
                  <a:t>1</a:t>
                </a:r>
                <a:endParaRPr lang="zh-CN" altLang="en-US" sz="1600" dirty="0">
                  <a:cs typeface="+mn-ea"/>
                  <a:sym typeface="+mn-lt"/>
                </a:endParaRPr>
              </a:p>
            </p:txBody>
          </p:sp>
          <p:sp>
            <p:nvSpPr>
              <p:cNvPr id="34" name="Bullet1"/>
              <p:cNvSpPr/>
              <p:nvPr/>
            </p:nvSpPr>
            <p:spPr>
              <a:xfrm flipH="1">
                <a:off x="660398" y="2735827"/>
                <a:ext cx="7824371" cy="564358"/>
              </a:xfrm>
              <a:prstGeom prst="roundRect">
                <a:avLst>
                  <a:gd name="adj" fmla="val 0"/>
                </a:avLst>
              </a:prstGeom>
              <a:no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1600" b="1" dirty="0">
                    <a:solidFill>
                      <a:schemeClr val="tx1"/>
                    </a:solidFill>
                    <a:cs typeface="+mn-ea"/>
                    <a:sym typeface="+mn-lt"/>
                  </a:rPr>
                  <a:t>Causal Graph Instantiation</a:t>
                </a:r>
                <a:endParaRPr lang="en-US" dirty="0"/>
              </a:p>
            </p:txBody>
          </p:sp>
          <p:sp>
            <p:nvSpPr>
              <p:cNvPr id="35" name="Text1"/>
              <p:cNvSpPr txBox="1"/>
              <p:nvPr/>
            </p:nvSpPr>
            <p:spPr>
              <a:xfrm flipH="1">
                <a:off x="660397" y="3357799"/>
                <a:ext cx="7824370" cy="2050587"/>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Goal: Construct an </a:t>
                </a:r>
                <a:r>
                  <a:rPr lang="zh-CN" altLang="en-US" sz="1400" b="1" dirty="0">
                    <a:cs typeface="+mn-ea"/>
                    <a:sym typeface="+mn-lt"/>
                  </a:rPr>
                  <a:t>instance-level causal graph</a:t>
                </a:r>
                <a:r>
                  <a:rPr lang="zh-CN" altLang="en-US" sz="1200" dirty="0">
                    <a:cs typeface="+mn-ea"/>
                    <a:sym typeface="+mn-lt"/>
                  </a:rPr>
                  <a:t> for the current fault. Fault Relevance Zone, FRZ: MetaRCA first detects</a:t>
                </a:r>
                <a:r>
                  <a:rPr lang="zh-CN" altLang="en-US" sz="1400" b="1" dirty="0">
                    <a:cs typeface="+mn-ea"/>
                    <a:sym typeface="+mn-lt"/>
                  </a:rPr>
                  <a:t> anomalous metric instances </a:t>
                </a:r>
                <a:r>
                  <a:rPr lang="zh-CN" altLang="en-US" sz="1200" dirty="0">
                    <a:cs typeface="+mn-ea"/>
                    <a:sym typeface="+mn-lt"/>
                  </a:rPr>
                  <a:t>using time-series anomaly detection. Components with at least one anomalous metric are included in the</a:t>
                </a:r>
                <a:r>
                  <a:rPr lang="zh-CN" altLang="en-US" sz="1200" b="1" dirty="0">
                    <a:cs typeface="+mn-ea"/>
                    <a:sym typeface="+mn-lt"/>
                  </a:rPr>
                  <a:t> Fault Relevance Zone</a:t>
                </a:r>
                <a:r>
                  <a:rPr lang="zh-CN" altLang="en-US" sz="1200" dirty="0">
                    <a:cs typeface="+mn-ea"/>
                    <a:sym typeface="+mn-lt"/>
                  </a:rPr>
                  <a:t> (FRZ). </a:t>
                </a:r>
                <a:r>
                  <a:rPr lang="zh-CN" altLang="en-US" sz="1400" b="1" dirty="0">
                    <a:cs typeface="+mn-ea"/>
                    <a:sym typeface="+mn-lt"/>
                  </a:rPr>
                  <a:t>Localized Instance Causal Graph, LICG</a:t>
                </a:r>
                <a:r>
                  <a:rPr lang="zh-CN" altLang="en-US" sz="1200" dirty="0">
                    <a:cs typeface="+mn-ea"/>
                    <a:sym typeface="+mn-lt"/>
                  </a:rPr>
                  <a:t>: MetaRCA projects </a:t>
                </a:r>
                <a:r>
                  <a:rPr lang="zh-CN" altLang="en-US" sz="1400" b="1" dirty="0">
                    <a:cs typeface="+mn-ea"/>
                    <a:sym typeface="+mn-lt"/>
                  </a:rPr>
                  <a:t>meta-causal relations</a:t>
                </a:r>
                <a:r>
                  <a:rPr lang="zh-CN" altLang="en-US" sz="1200" dirty="0">
                    <a:cs typeface="+mn-ea"/>
                    <a:sym typeface="+mn-lt"/>
                  </a:rPr>
                  <a:t> from the MCG onto component connections within the FRZ. Each instantiated edge inherits its Causal Belief Score (CBS) from the MCG as prior knowledge. Key Point: Online RCA starts from a localized causal graph instead of analyzing the entire system.</a:t>
                </a:r>
                <a:endParaRPr lang="en-US" dirty="0"/>
              </a:p>
            </p:txBody>
          </p:sp>
        </p:grpSp>
      </p:grpSp>
      <p:sp>
        <p:nvSpPr>
          <p:cNvPr id="2" name="标题 1"/>
          <p:cNvSpPr>
            <a:spLocks noGrp="1"/>
          </p:cNvSpPr>
          <p:nvPr>
            <p:ph type="title" hasCustomPrompt="1"/>
          </p:nvPr>
        </p:nvSpPr>
        <p:spPr/>
        <p:txBody>
          <a:bodyPr/>
          <a:lstStyle/>
          <a:p>
            <a:r>
              <a:rPr lang="zh-CN" altLang="en-US" dirty="0"/>
              <a:t>MCG-based Online Root Cause Analysis</a:t>
            </a:r>
            <a:endParaRPr lang="en-US" dirty="0"/>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C8BB1146-E542-4D4E-B8E9-6919A11DDD48}" type="slidenum">
              <a:rPr lang="en-US" smtClean="0"/>
            </a:fld>
            <a:endParaRPr lang="en-US"/>
          </a:p>
        </p:txBody>
      </p:sp>
      <p:pic>
        <p:nvPicPr>
          <p:cNvPr id="7" name="图片 6"/>
          <p:cNvPicPr>
            <a:picLocks noChangeAspect="1"/>
          </p:cNvPicPr>
          <p:nvPr/>
        </p:nvPicPr>
        <p:blipFill>
          <a:blip r:embed="rId1"/>
          <a:stretch>
            <a:fillRect/>
          </a:stretch>
        </p:blipFill>
        <p:spPr>
          <a:xfrm>
            <a:off x="7532370" y="1880235"/>
            <a:ext cx="3726180" cy="982980"/>
          </a:xfrm>
          <a:prstGeom prst="rect">
            <a:avLst/>
          </a:prstGeom>
        </p:spPr>
      </p:pic>
    </p:spTree>
    <p:custDataLst>
      <p:tags r:id="rId2"/>
    </p:custData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1ef6e67f-bf63-4fd4-8f20-c69f13e563ff.source.4.zh-Hans.pptx"/>
          <p:cNvGrpSpPr/>
          <p:nvPr/>
        </p:nvGrpSpPr>
        <p:grpSpPr>
          <a:xfrm>
            <a:off x="-2" y="1130300"/>
            <a:ext cx="11518902" cy="5003800"/>
            <a:chOff x="-2" y="1130300"/>
            <a:chExt cx="11518902" cy="5003800"/>
          </a:xfrm>
        </p:grpSpPr>
        <p:sp>
          <p:nvSpPr>
            <p:cNvPr id="24" name="Title"/>
            <p:cNvSpPr txBox="1"/>
            <p:nvPr/>
          </p:nvSpPr>
          <p:spPr>
            <a:xfrm>
              <a:off x="660400" y="1130300"/>
              <a:ext cx="10858500" cy="523220"/>
            </a:xfrm>
            <a:prstGeom prst="rect">
              <a:avLst/>
            </a:prstGeom>
            <a:noFill/>
          </p:spPr>
          <p:txBody>
            <a:bodyPr wrap="square" lIns="91440" tIns="45720" rIns="91440" bIns="45720" rtlCol="0" anchor="ctr" anchorCtr="0">
              <a:norm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spcBef>
                  <a:spcPts val="0"/>
                </a:spcBef>
                <a:spcAft>
                  <a:spcPts val="100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Refine the instantiated LICG using real-time observability data to fuse causal knowledge and remove unlikely edges</a:t>
              </a:r>
              <a:endParaRPr lang="en-US" dirty="0"/>
            </a:p>
          </p:txBody>
        </p:sp>
        <p:grpSp>
          <p:nvGrpSpPr>
            <p:cNvPr id="41" name="组合 40"/>
            <p:cNvGrpSpPr/>
            <p:nvPr/>
          </p:nvGrpSpPr>
          <p:grpSpPr>
            <a:xfrm>
              <a:off x="675386" y="1727200"/>
              <a:ext cx="3528358" cy="1881716"/>
              <a:chOff x="675386" y="1727200"/>
              <a:chExt cx="3528358" cy="1881716"/>
            </a:xfrm>
          </p:grpSpPr>
          <p:sp>
            <p:nvSpPr>
              <p:cNvPr id="8" name="Bullet1"/>
              <p:cNvSpPr txBox="1"/>
              <p:nvPr/>
            </p:nvSpPr>
            <p:spPr>
              <a:xfrm>
                <a:off x="675386" y="1727200"/>
                <a:ext cx="3528358" cy="468737"/>
              </a:xfrm>
              <a:prstGeom prst="rect">
                <a:avLst/>
              </a:prstGeom>
              <a:noFill/>
            </p:spPr>
            <p:txBody>
              <a:bodyPr wrap="square" lIns="91440" tIns="45720" rIns="91440" bIns="45720" anchor="ctr" anchorCtr="0">
                <a:normAutofit/>
              </a:bodyPr>
              <a:lstStyle/>
              <a:p>
                <a:pPr>
                  <a:lnSpc>
                    <a:spcPct val="120000"/>
                  </a:lnSpc>
                </a:pPr>
                <a:r>
                  <a:rPr lang="zh-CN" altLang="en-US" sz="1600" b="1" dirty="0">
                    <a:latin typeface="Arial" panose="020B0604020202020204" pitchFamily="34" charset="0"/>
                    <a:ea typeface="微软雅黑" panose="020B0503020204020204" pitchFamily="34" charset="-122"/>
                    <a:cs typeface="+mn-ea"/>
                    <a:sym typeface="Arial" panose="020B0604020202020204" pitchFamily="34" charset="0"/>
                  </a:rPr>
                  <a:t>Goal</a:t>
                </a:r>
                <a:endParaRPr lang="en-US" dirty="0"/>
              </a:p>
            </p:txBody>
          </p:sp>
          <p:sp>
            <p:nvSpPr>
              <p:cNvPr id="9" name="Text1"/>
              <p:cNvSpPr/>
              <p:nvPr/>
            </p:nvSpPr>
            <p:spPr>
              <a:xfrm>
                <a:off x="675386" y="2195936"/>
                <a:ext cx="3528358" cy="996209"/>
              </a:xfrm>
              <a:prstGeom prst="rect">
                <a:avLst/>
              </a:prstGeom>
              <a:ln>
                <a:noFill/>
              </a:ln>
            </p:spPr>
            <p:txBody>
              <a:bodyPr wrap="square" lIns="91440" tIns="45720" rIns="91440" bIns="45720" anchor="t" anchorCtr="0">
                <a:normAutofit/>
              </a:bodyPr>
              <a:lstStyle/>
              <a:p>
                <a:pPr>
                  <a:lnSpc>
                    <a:spcPct val="120000"/>
                  </a:lnSpc>
                </a:pP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Fuse offline causal knowledge with current fault context, then remove unlikely causal edges.</a:t>
                </a:r>
                <a:endParaRPr lang="en-US" dirty="0"/>
              </a:p>
            </p:txBody>
          </p:sp>
          <p:sp>
            <p:nvSpPr>
              <p:cNvPr id="19" name="Number1"/>
              <p:cNvSpPr txBox="1"/>
              <p:nvPr/>
            </p:nvSpPr>
            <p:spPr>
              <a:xfrm>
                <a:off x="2109690" y="3239584"/>
                <a:ext cx="628134" cy="369332"/>
              </a:xfrm>
              <a:prstGeom prst="chevron">
                <a:avLst>
                  <a:gd name="adj" fmla="val 40000"/>
                </a:avLst>
              </a:prstGeom>
              <a:solidFill>
                <a:schemeClr val="accent1"/>
              </a:solidFill>
            </p:spPr>
            <p:txBody>
              <a:bodyPr wrap="none" anchor="ctr">
                <a:normAutofit/>
              </a:bodyPr>
              <a:lstStyle/>
              <a:p>
                <a:pPr algn="ctr"/>
                <a:r>
                  <a:rPr lang="en-US" altLang="zh-CN" sz="16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1</a:t>
                </a:r>
                <a:endParaRPr lang="en-US" altLang="zh-CN" sz="16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2" name="组合 41"/>
            <p:cNvGrpSpPr/>
            <p:nvPr/>
          </p:nvGrpSpPr>
          <p:grpSpPr>
            <a:xfrm>
              <a:off x="2834342" y="4209733"/>
              <a:ext cx="3528358" cy="869739"/>
              <a:chOff x="2834342" y="4209733"/>
              <a:chExt cx="3528358" cy="869739"/>
            </a:xfrm>
          </p:grpSpPr>
          <p:sp>
            <p:nvSpPr>
              <p:cNvPr id="21" name="Number2"/>
              <p:cNvSpPr txBox="1"/>
              <p:nvPr/>
            </p:nvSpPr>
            <p:spPr>
              <a:xfrm>
                <a:off x="4329092" y="4209733"/>
                <a:ext cx="628134" cy="369332"/>
              </a:xfrm>
              <a:prstGeom prst="chevron">
                <a:avLst>
                  <a:gd name="adj" fmla="val 40000"/>
                </a:avLst>
              </a:prstGeom>
              <a:solidFill>
                <a:schemeClr val="accent1"/>
              </a:solidFill>
            </p:spPr>
            <p:txBody>
              <a:bodyPr wrap="none" anchor="ctr">
                <a:normAutofit/>
              </a:bodyPr>
              <a:lstStyle/>
              <a:p>
                <a:pPr algn="ctr"/>
                <a:r>
                  <a:rPr lang="en-US" altLang="zh-CN" sz="16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2</a:t>
                </a:r>
                <a:endParaRPr lang="en-US" altLang="zh-CN" sz="16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Bullet2"/>
              <p:cNvSpPr txBox="1"/>
              <p:nvPr/>
            </p:nvSpPr>
            <p:spPr>
              <a:xfrm>
                <a:off x="2834342" y="4610735"/>
                <a:ext cx="3528358" cy="468737"/>
              </a:xfrm>
              <a:prstGeom prst="rect">
                <a:avLst/>
              </a:prstGeom>
              <a:noFill/>
            </p:spPr>
            <p:txBody>
              <a:bodyPr wrap="square" lIns="91440" tIns="45720" rIns="91440" bIns="45720" anchor="ctr" anchorCtr="0">
                <a:normAutofit/>
              </a:bodyPr>
              <a:lstStyle/>
              <a:p>
                <a:pPr>
                  <a:lnSpc>
                    <a:spcPct val="120000"/>
                  </a:lnSpc>
                </a:pPr>
                <a:r>
                  <a:rPr lang="zh-CN" altLang="en-US" sz="1600" b="1" dirty="0">
                    <a:latin typeface="Arial" panose="020B0604020202020204" pitchFamily="34" charset="0"/>
                    <a:ea typeface="微软雅黑" panose="020B0503020204020204" pitchFamily="34" charset="-122"/>
                    <a:cs typeface="+mn-ea"/>
                    <a:sym typeface="Arial" panose="020B0604020202020204" pitchFamily="34" charset="0"/>
                  </a:rPr>
                  <a:t>Contextual Plausibility Score</a:t>
                </a:r>
                <a:endParaRPr lang="en-US" dirty="0"/>
              </a:p>
            </p:txBody>
          </p:sp>
        </p:grpSp>
        <p:grpSp>
          <p:nvGrpSpPr>
            <p:cNvPr id="43" name="组合 42"/>
            <p:cNvGrpSpPr/>
            <p:nvPr/>
          </p:nvGrpSpPr>
          <p:grpSpPr>
            <a:xfrm>
              <a:off x="5266754" y="1727200"/>
              <a:ext cx="3528358" cy="1881716"/>
              <a:chOff x="5266754" y="1727200"/>
              <a:chExt cx="3528358" cy="1881716"/>
            </a:xfrm>
          </p:grpSpPr>
          <p:sp>
            <p:nvSpPr>
              <p:cNvPr id="22" name="Number3"/>
              <p:cNvSpPr txBox="1"/>
              <p:nvPr/>
            </p:nvSpPr>
            <p:spPr>
              <a:xfrm>
                <a:off x="6661151" y="3239584"/>
                <a:ext cx="628134" cy="369332"/>
              </a:xfrm>
              <a:prstGeom prst="chevron">
                <a:avLst>
                  <a:gd name="adj" fmla="val 40000"/>
                </a:avLst>
              </a:prstGeom>
              <a:solidFill>
                <a:schemeClr val="accent1"/>
              </a:solidFill>
            </p:spPr>
            <p:txBody>
              <a:bodyPr wrap="none" anchor="ctr">
                <a:normAutofit/>
              </a:bodyPr>
              <a:lstStyle/>
              <a:p>
                <a:pPr algn="ctr"/>
                <a:r>
                  <a:rPr lang="en-US" altLang="zh-CN" sz="16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3</a:t>
                </a:r>
                <a:endParaRPr lang="en-US" altLang="zh-CN" sz="16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Bullet3"/>
              <p:cNvSpPr txBox="1"/>
              <p:nvPr/>
            </p:nvSpPr>
            <p:spPr>
              <a:xfrm>
                <a:off x="5266754" y="1727200"/>
                <a:ext cx="3528358" cy="468737"/>
              </a:xfrm>
              <a:prstGeom prst="rect">
                <a:avLst/>
              </a:prstGeom>
              <a:noFill/>
            </p:spPr>
            <p:txBody>
              <a:bodyPr wrap="square" lIns="91440" tIns="45720" rIns="91440" bIns="45720" anchor="ctr" anchorCtr="0">
                <a:normAutofit/>
              </a:bodyPr>
              <a:lstStyle/>
              <a:p>
                <a:pPr>
                  <a:lnSpc>
                    <a:spcPct val="120000"/>
                  </a:lnSpc>
                </a:pPr>
                <a:r>
                  <a:rPr lang="zh-CN" altLang="en-US" sz="1600" b="1" dirty="0">
                    <a:latin typeface="Arial" panose="020B0604020202020204" pitchFamily="34" charset="0"/>
                    <a:ea typeface="微软雅黑" panose="020B0503020204020204" pitchFamily="34" charset="-122"/>
                    <a:cs typeface="+mn-ea"/>
                    <a:sym typeface="Arial" panose="020B0604020202020204" pitchFamily="34" charset="0"/>
                  </a:rPr>
                  <a:t>Causal Weight Fusion</a:t>
                </a:r>
                <a:endParaRPr lang="en-US" dirty="0"/>
              </a:p>
            </p:txBody>
          </p:sp>
          <p:sp>
            <p:nvSpPr>
              <p:cNvPr id="16" name="Text3"/>
              <p:cNvSpPr/>
              <p:nvPr/>
            </p:nvSpPr>
            <p:spPr>
              <a:xfrm>
                <a:off x="5266754" y="2195936"/>
                <a:ext cx="3528358" cy="996209"/>
              </a:xfrm>
              <a:prstGeom prst="rect">
                <a:avLst/>
              </a:prstGeom>
              <a:ln>
                <a:noFill/>
              </a:ln>
            </p:spPr>
            <p:txBody>
              <a:bodyPr wrap="square" lIns="91440" tIns="45720" rIns="91440" bIns="45720" anchor="t" anchorCtr="0">
                <a:normAutofit/>
              </a:bodyPr>
              <a:lstStyle/>
              <a:p>
                <a:pPr>
                  <a:lnSpc>
                    <a:spcPct val="120000"/>
                  </a:lnSpc>
                </a:pP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MetaRCA combines prior belief from MCG with real-time contextual evidence:</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a:p>
                <a:pPr>
                  <a:lnSpc>
                    <a:spcPct val="120000"/>
                  </a:lnSpc>
                </a:pP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 W_LICG(e) = W_MCG(e) × S_context(e)</a:t>
                </a:r>
                <a:endParaRPr lang="en-US" dirty="0"/>
              </a:p>
            </p:txBody>
          </p:sp>
        </p:grpSp>
        <p:sp>
          <p:nvSpPr>
            <p:cNvPr id="31" name="任意多边形: 形状 30"/>
            <p:cNvSpPr/>
            <p:nvPr/>
          </p:nvSpPr>
          <p:spPr>
            <a:xfrm rot="5400000">
              <a:off x="1091785" y="2526357"/>
              <a:ext cx="342743" cy="2526316"/>
            </a:xfrm>
            <a:custGeom>
              <a:avLst/>
              <a:gdLst>
                <a:gd name="connsiteX0" fmla="*/ 217175 w 342743"/>
                <a:gd name="connsiteY0" fmla="*/ 2272314 h 2526316"/>
                <a:gd name="connsiteX1" fmla="*/ 217175 w 342743"/>
                <a:gd name="connsiteY1" fmla="*/ 59973 h 2526316"/>
                <a:gd name="connsiteX2" fmla="*/ 238078 w 342743"/>
                <a:gd name="connsiteY2" fmla="*/ 64193 h 2526316"/>
                <a:gd name="connsiteX3" fmla="*/ 342743 w 342743"/>
                <a:gd name="connsiteY3" fmla="*/ 222097 h 2526316"/>
                <a:gd name="connsiteX4" fmla="*/ 342743 w 342743"/>
                <a:gd name="connsiteY4" fmla="*/ 2272314 h 2526316"/>
                <a:gd name="connsiteX5" fmla="*/ 0 w 342743"/>
                <a:gd name="connsiteY5" fmla="*/ 113790 h 2526316"/>
                <a:gd name="connsiteX6" fmla="*/ 110020 w 342743"/>
                <a:gd name="connsiteY6" fmla="*/ 0 h 2526316"/>
                <a:gd name="connsiteX7" fmla="*/ 110020 w 342743"/>
                <a:gd name="connsiteY7" fmla="*/ 50726 h 2526316"/>
                <a:gd name="connsiteX8" fmla="*/ 171371 w 342743"/>
                <a:gd name="connsiteY8" fmla="*/ 50726 h 2526316"/>
                <a:gd name="connsiteX9" fmla="*/ 217174 w 342743"/>
                <a:gd name="connsiteY9" fmla="*/ 59974 h 2526316"/>
                <a:gd name="connsiteX10" fmla="*/ 217174 w 342743"/>
                <a:gd name="connsiteY10" fmla="*/ 2272314 h 2526316"/>
                <a:gd name="connsiteX11" fmla="*/ 342743 w 342743"/>
                <a:gd name="connsiteY11" fmla="*/ 2272314 h 2526316"/>
                <a:gd name="connsiteX12" fmla="*/ 342743 w 342743"/>
                <a:gd name="connsiteY12" fmla="*/ 2526316 h 2526316"/>
                <a:gd name="connsiteX13" fmla="*/ 216613 w 342743"/>
                <a:gd name="connsiteY13" fmla="*/ 2526316 h 2526316"/>
                <a:gd name="connsiteX14" fmla="*/ 216613 w 342743"/>
                <a:gd name="connsiteY14" fmla="*/ 222098 h 2526316"/>
                <a:gd name="connsiteX15" fmla="*/ 171371 w 342743"/>
                <a:gd name="connsiteY15" fmla="*/ 176855 h 2526316"/>
                <a:gd name="connsiteX16" fmla="*/ 110020 w 342743"/>
                <a:gd name="connsiteY16" fmla="*/ 176855 h 2526316"/>
                <a:gd name="connsiteX17" fmla="*/ 110020 w 342743"/>
                <a:gd name="connsiteY17" fmla="*/ 227581 h 2526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2743" h="2526316">
                  <a:moveTo>
                    <a:pt x="217175" y="2272314"/>
                  </a:moveTo>
                  <a:lnTo>
                    <a:pt x="217175" y="59973"/>
                  </a:lnTo>
                  <a:lnTo>
                    <a:pt x="238078" y="64193"/>
                  </a:lnTo>
                  <a:cubicBezTo>
                    <a:pt x="299585" y="90209"/>
                    <a:pt x="342743" y="151113"/>
                    <a:pt x="342743" y="222097"/>
                  </a:cubicBezTo>
                  <a:lnTo>
                    <a:pt x="342743" y="2272314"/>
                  </a:lnTo>
                  <a:close/>
                  <a:moveTo>
                    <a:pt x="0" y="113790"/>
                  </a:moveTo>
                  <a:lnTo>
                    <a:pt x="110020" y="0"/>
                  </a:lnTo>
                  <a:lnTo>
                    <a:pt x="110020" y="50726"/>
                  </a:lnTo>
                  <a:lnTo>
                    <a:pt x="171371" y="50726"/>
                  </a:lnTo>
                  <a:lnTo>
                    <a:pt x="217174" y="59974"/>
                  </a:lnTo>
                  <a:lnTo>
                    <a:pt x="217174" y="2272314"/>
                  </a:lnTo>
                  <a:lnTo>
                    <a:pt x="342743" y="2272314"/>
                  </a:lnTo>
                  <a:lnTo>
                    <a:pt x="342743" y="2526316"/>
                  </a:lnTo>
                  <a:lnTo>
                    <a:pt x="216613" y="2526316"/>
                  </a:lnTo>
                  <a:lnTo>
                    <a:pt x="216613" y="222098"/>
                  </a:lnTo>
                  <a:cubicBezTo>
                    <a:pt x="216613" y="197112"/>
                    <a:pt x="196357" y="176856"/>
                    <a:pt x="171371" y="176855"/>
                  </a:cubicBezTo>
                  <a:lnTo>
                    <a:pt x="110020" y="176855"/>
                  </a:lnTo>
                  <a:lnTo>
                    <a:pt x="110020" y="227581"/>
                  </a:lnTo>
                  <a:close/>
                </a:path>
              </a:pathLst>
            </a:custGeom>
            <a:solidFill>
              <a:schemeClr val="tx1">
                <a:alpha val="15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任意多边形: 形状 28"/>
            <p:cNvSpPr/>
            <p:nvPr/>
          </p:nvSpPr>
          <p:spPr>
            <a:xfrm rot="5400000">
              <a:off x="6048196" y="2908307"/>
              <a:ext cx="342743" cy="1762419"/>
            </a:xfrm>
            <a:custGeom>
              <a:avLst/>
              <a:gdLst>
                <a:gd name="connsiteX0" fmla="*/ 0 w 342743"/>
                <a:gd name="connsiteY0" fmla="*/ 113791 h 1762419"/>
                <a:gd name="connsiteX1" fmla="*/ 110021 w 342743"/>
                <a:gd name="connsiteY1" fmla="*/ 0 h 1762419"/>
                <a:gd name="connsiteX2" fmla="*/ 110021 w 342743"/>
                <a:gd name="connsiteY2" fmla="*/ 50726 h 1762419"/>
                <a:gd name="connsiteX3" fmla="*/ 171371 w 342743"/>
                <a:gd name="connsiteY3" fmla="*/ 50725 h 1762419"/>
                <a:gd name="connsiteX4" fmla="*/ 217174 w 342743"/>
                <a:gd name="connsiteY4" fmla="*/ 59972 h 1762419"/>
                <a:gd name="connsiteX5" fmla="*/ 217174 w 342743"/>
                <a:gd name="connsiteY5" fmla="*/ 59972 h 1762419"/>
                <a:gd name="connsiteX6" fmla="*/ 238077 w 342743"/>
                <a:gd name="connsiteY6" fmla="*/ 64192 h 1762419"/>
                <a:gd name="connsiteX7" fmla="*/ 342743 w 342743"/>
                <a:gd name="connsiteY7" fmla="*/ 222097 h 1762419"/>
                <a:gd name="connsiteX8" fmla="*/ 342743 w 342743"/>
                <a:gd name="connsiteY8" fmla="*/ 1762419 h 1762419"/>
                <a:gd name="connsiteX9" fmla="*/ 217174 w 342743"/>
                <a:gd name="connsiteY9" fmla="*/ 1762419 h 1762419"/>
                <a:gd name="connsiteX10" fmla="*/ 217174 w 342743"/>
                <a:gd name="connsiteY10" fmla="*/ 1762419 h 1762419"/>
                <a:gd name="connsiteX11" fmla="*/ 216614 w 342743"/>
                <a:gd name="connsiteY11" fmla="*/ 1762419 h 1762419"/>
                <a:gd name="connsiteX12" fmla="*/ 216613 w 342743"/>
                <a:gd name="connsiteY12" fmla="*/ 222097 h 1762419"/>
                <a:gd name="connsiteX13" fmla="*/ 171371 w 342743"/>
                <a:gd name="connsiteY13" fmla="*/ 176855 h 1762419"/>
                <a:gd name="connsiteX14" fmla="*/ 110021 w 342743"/>
                <a:gd name="connsiteY14" fmla="*/ 176855 h 1762419"/>
                <a:gd name="connsiteX15" fmla="*/ 110021 w 342743"/>
                <a:gd name="connsiteY15" fmla="*/ 227581 h 1762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2743" h="1762419">
                  <a:moveTo>
                    <a:pt x="0" y="113791"/>
                  </a:moveTo>
                  <a:lnTo>
                    <a:pt x="110021" y="0"/>
                  </a:lnTo>
                  <a:lnTo>
                    <a:pt x="110021" y="50726"/>
                  </a:lnTo>
                  <a:lnTo>
                    <a:pt x="171371" y="50725"/>
                  </a:lnTo>
                  <a:lnTo>
                    <a:pt x="217174" y="59972"/>
                  </a:lnTo>
                  <a:lnTo>
                    <a:pt x="217174" y="59972"/>
                  </a:lnTo>
                  <a:lnTo>
                    <a:pt x="238077" y="64192"/>
                  </a:lnTo>
                  <a:cubicBezTo>
                    <a:pt x="299585" y="90208"/>
                    <a:pt x="342743" y="151113"/>
                    <a:pt x="342743" y="222097"/>
                  </a:cubicBezTo>
                  <a:lnTo>
                    <a:pt x="342743" y="1762419"/>
                  </a:lnTo>
                  <a:lnTo>
                    <a:pt x="217174" y="1762419"/>
                  </a:lnTo>
                  <a:lnTo>
                    <a:pt x="217174" y="1762419"/>
                  </a:lnTo>
                  <a:lnTo>
                    <a:pt x="216614" y="1762419"/>
                  </a:lnTo>
                  <a:cubicBezTo>
                    <a:pt x="216614" y="1248978"/>
                    <a:pt x="216613" y="735538"/>
                    <a:pt x="216613" y="222097"/>
                  </a:cubicBezTo>
                  <a:cubicBezTo>
                    <a:pt x="216613" y="197111"/>
                    <a:pt x="196357" y="176855"/>
                    <a:pt x="171371" y="176855"/>
                  </a:cubicBezTo>
                  <a:lnTo>
                    <a:pt x="110021" y="176855"/>
                  </a:lnTo>
                  <a:lnTo>
                    <a:pt x="110021" y="227581"/>
                  </a:lnTo>
                  <a:close/>
                </a:path>
              </a:pathLst>
            </a:custGeom>
            <a:solidFill>
              <a:schemeClr val="tx1">
                <a:alpha val="15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任意多边形: 形状 10"/>
            <p:cNvSpPr/>
            <p:nvPr/>
          </p:nvSpPr>
          <p:spPr>
            <a:xfrm rot="5400000">
              <a:off x="6719305" y="1599958"/>
              <a:ext cx="342743" cy="4813464"/>
            </a:xfrm>
            <a:custGeom>
              <a:avLst/>
              <a:gdLst>
                <a:gd name="connsiteX0" fmla="*/ 0 w 342743"/>
                <a:gd name="connsiteY0" fmla="*/ 4813464 h 4813464"/>
                <a:gd name="connsiteX1" fmla="*/ 0 w 342743"/>
                <a:gd name="connsiteY1" fmla="*/ 3959051 h 4813464"/>
                <a:gd name="connsiteX2" fmla="*/ 125569 w 342743"/>
                <a:gd name="connsiteY2" fmla="*/ 3959051 h 4813464"/>
                <a:gd name="connsiteX3" fmla="*/ 125569 w 342743"/>
                <a:gd name="connsiteY3" fmla="*/ 2418729 h 4813464"/>
                <a:gd name="connsiteX4" fmla="*/ 20903 w 342743"/>
                <a:gd name="connsiteY4" fmla="*/ 2260824 h 4813464"/>
                <a:gd name="connsiteX5" fmla="*/ 0 w 342743"/>
                <a:gd name="connsiteY5" fmla="*/ 2256604 h 4813464"/>
                <a:gd name="connsiteX6" fmla="*/ 0 w 342743"/>
                <a:gd name="connsiteY6" fmla="*/ 222097 h 4813464"/>
                <a:gd name="connsiteX7" fmla="*/ 171372 w 342743"/>
                <a:gd name="connsiteY7" fmla="*/ 50725 h 4813464"/>
                <a:gd name="connsiteX8" fmla="*/ 232722 w 342743"/>
                <a:gd name="connsiteY8" fmla="*/ 50726 h 4813464"/>
                <a:gd name="connsiteX9" fmla="*/ 232722 w 342743"/>
                <a:gd name="connsiteY9" fmla="*/ 0 h 4813464"/>
                <a:gd name="connsiteX10" fmla="*/ 342743 w 342743"/>
                <a:gd name="connsiteY10" fmla="*/ 113791 h 4813464"/>
                <a:gd name="connsiteX11" fmla="*/ 232722 w 342743"/>
                <a:gd name="connsiteY11" fmla="*/ 227581 h 4813464"/>
                <a:gd name="connsiteX12" fmla="*/ 232722 w 342743"/>
                <a:gd name="connsiteY12" fmla="*/ 176855 h 4813464"/>
                <a:gd name="connsiteX13" fmla="*/ 171372 w 342743"/>
                <a:gd name="connsiteY13" fmla="*/ 176855 h 4813464"/>
                <a:gd name="connsiteX14" fmla="*/ 126130 w 342743"/>
                <a:gd name="connsiteY14" fmla="*/ 222097 h 4813464"/>
                <a:gd name="connsiteX15" fmla="*/ 126130 w 342743"/>
                <a:gd name="connsiteY15" fmla="*/ 4651226 h 4813464"/>
                <a:gd name="connsiteX16" fmla="*/ 104666 w 342743"/>
                <a:gd name="connsiteY16" fmla="*/ 4655559 h 4813464"/>
                <a:gd name="connsiteX17" fmla="*/ 0 w 342743"/>
                <a:gd name="connsiteY17" fmla="*/ 4813464 h 481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2743" h="4813464">
                  <a:moveTo>
                    <a:pt x="0" y="4813464"/>
                  </a:moveTo>
                  <a:lnTo>
                    <a:pt x="0" y="3959051"/>
                  </a:lnTo>
                  <a:lnTo>
                    <a:pt x="125569" y="3959051"/>
                  </a:lnTo>
                  <a:lnTo>
                    <a:pt x="125569" y="2418729"/>
                  </a:lnTo>
                  <a:cubicBezTo>
                    <a:pt x="125569" y="2347745"/>
                    <a:pt x="82411" y="2286840"/>
                    <a:pt x="20903" y="2260824"/>
                  </a:cubicBezTo>
                  <a:lnTo>
                    <a:pt x="0" y="2256604"/>
                  </a:lnTo>
                  <a:lnTo>
                    <a:pt x="0" y="222097"/>
                  </a:lnTo>
                  <a:cubicBezTo>
                    <a:pt x="0" y="127451"/>
                    <a:pt x="76726" y="50725"/>
                    <a:pt x="171372" y="50725"/>
                  </a:cubicBezTo>
                  <a:lnTo>
                    <a:pt x="232722" y="50726"/>
                  </a:lnTo>
                  <a:lnTo>
                    <a:pt x="232722" y="0"/>
                  </a:lnTo>
                  <a:lnTo>
                    <a:pt x="342743" y="113791"/>
                  </a:lnTo>
                  <a:lnTo>
                    <a:pt x="232722" y="227581"/>
                  </a:lnTo>
                  <a:lnTo>
                    <a:pt x="232722" y="176855"/>
                  </a:lnTo>
                  <a:lnTo>
                    <a:pt x="171372" y="176855"/>
                  </a:lnTo>
                  <a:cubicBezTo>
                    <a:pt x="146386" y="176855"/>
                    <a:pt x="126130" y="197111"/>
                    <a:pt x="126130" y="222097"/>
                  </a:cubicBezTo>
                  <a:lnTo>
                    <a:pt x="126130" y="4651226"/>
                  </a:lnTo>
                  <a:lnTo>
                    <a:pt x="104666" y="4655559"/>
                  </a:lnTo>
                  <a:cubicBezTo>
                    <a:pt x="43159" y="4681575"/>
                    <a:pt x="0" y="4742480"/>
                    <a:pt x="0" y="4813464"/>
                  </a:cubicBezTo>
                  <a:close/>
                </a:path>
              </a:pathLst>
            </a:custGeom>
            <a:solidFill>
              <a:schemeClr val="tx1">
                <a:alpha val="15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44" name="组合 43"/>
            <p:cNvGrpSpPr/>
            <p:nvPr/>
          </p:nvGrpSpPr>
          <p:grpSpPr>
            <a:xfrm>
              <a:off x="7400173" y="4209733"/>
              <a:ext cx="3528358" cy="1924367"/>
              <a:chOff x="7400173" y="4209733"/>
              <a:chExt cx="3528358" cy="1924367"/>
            </a:xfrm>
          </p:grpSpPr>
          <p:sp>
            <p:nvSpPr>
              <p:cNvPr id="20" name="Number4"/>
              <p:cNvSpPr txBox="1"/>
              <p:nvPr/>
            </p:nvSpPr>
            <p:spPr>
              <a:xfrm>
                <a:off x="8959106" y="4209733"/>
                <a:ext cx="628134" cy="369332"/>
              </a:xfrm>
              <a:prstGeom prst="chevron">
                <a:avLst>
                  <a:gd name="adj" fmla="val 40000"/>
                </a:avLst>
              </a:prstGeom>
              <a:solidFill>
                <a:schemeClr val="accent1"/>
              </a:solidFill>
            </p:spPr>
            <p:txBody>
              <a:bodyPr wrap="none" anchor="ctr">
                <a:normAutofit/>
              </a:bodyPr>
              <a:lstStyle/>
              <a:p>
                <a:pPr algn="ctr"/>
                <a:r>
                  <a:rPr lang="en-US" altLang="zh-CN" sz="16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4</a:t>
                </a:r>
                <a:endParaRPr lang="en-US" altLang="zh-CN" sz="16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Bullet4"/>
              <p:cNvSpPr txBox="1"/>
              <p:nvPr/>
            </p:nvSpPr>
            <p:spPr>
              <a:xfrm>
                <a:off x="7400173" y="4669155"/>
                <a:ext cx="3528358" cy="468737"/>
              </a:xfrm>
              <a:prstGeom prst="rect">
                <a:avLst/>
              </a:prstGeom>
              <a:noFill/>
            </p:spPr>
            <p:txBody>
              <a:bodyPr wrap="square" lIns="91440" tIns="45720" rIns="91440" bIns="45720" anchor="ctr" anchorCtr="0">
                <a:normAutofit/>
              </a:bodyPr>
              <a:lstStyle/>
              <a:p>
                <a:pPr>
                  <a:lnSpc>
                    <a:spcPct val="120000"/>
                  </a:lnSpc>
                </a:pPr>
                <a:r>
                  <a:rPr lang="zh-CN" altLang="en-US" sz="1600" b="1" dirty="0">
                    <a:latin typeface="Arial" panose="020B0604020202020204" pitchFamily="34" charset="0"/>
                    <a:ea typeface="微软雅黑" panose="020B0503020204020204" pitchFamily="34" charset="-122"/>
                    <a:cs typeface="+mn-ea"/>
                    <a:sym typeface="Arial" panose="020B0604020202020204" pitchFamily="34" charset="0"/>
                  </a:rPr>
                  <a:t>Graph Pruning</a:t>
                </a:r>
                <a:endParaRPr lang="en-US" dirty="0"/>
              </a:p>
            </p:txBody>
          </p:sp>
          <p:sp>
            <p:nvSpPr>
              <p:cNvPr id="23" name="Text4"/>
              <p:cNvSpPr/>
              <p:nvPr/>
            </p:nvSpPr>
            <p:spPr>
              <a:xfrm>
                <a:off x="7400173" y="5137891"/>
                <a:ext cx="3528358" cy="996209"/>
              </a:xfrm>
              <a:prstGeom prst="rect">
                <a:avLst/>
              </a:prstGeom>
              <a:ln>
                <a:noFill/>
              </a:ln>
            </p:spPr>
            <p:txBody>
              <a:bodyPr wrap="square" lIns="91440" tIns="45720" rIns="91440" bIns="45720" anchor="t" anchorCtr="0">
                <a:normAutofit/>
              </a:bodyPr>
              <a:lstStyle/>
              <a:p>
                <a:pPr>
                  <a:lnSpc>
                    <a:spcPct val="120000"/>
                  </a:lnSpc>
                </a:pP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Edges with low fused weights are removed. Default pruning threshold: θ_p = 0.3</a:t>
                </a:r>
                <a:endParaRPr lang="en-US" dirty="0"/>
              </a:p>
            </p:txBody>
          </p:sp>
        </p:grpSp>
        <p:sp>
          <p:nvSpPr>
            <p:cNvPr id="40" name="任意多边形: 形状 39"/>
            <p:cNvSpPr/>
            <p:nvPr/>
          </p:nvSpPr>
          <p:spPr>
            <a:xfrm rot="16200000" flipV="1">
              <a:off x="3331977" y="2803872"/>
              <a:ext cx="343004" cy="2405901"/>
            </a:xfrm>
            <a:custGeom>
              <a:avLst/>
              <a:gdLst>
                <a:gd name="connsiteX0" fmla="*/ 343004 w 343004"/>
                <a:gd name="connsiteY0" fmla="*/ 2239788 h 2405901"/>
                <a:gd name="connsiteX1" fmla="*/ 343004 w 343004"/>
                <a:gd name="connsiteY1" fmla="*/ 1762419 h 2405901"/>
                <a:gd name="connsiteX2" fmla="*/ 342743 w 343004"/>
                <a:gd name="connsiteY2" fmla="*/ 1762419 h 2405901"/>
                <a:gd name="connsiteX3" fmla="*/ 342743 w 343004"/>
                <a:gd name="connsiteY3" fmla="*/ 222097 h 2405901"/>
                <a:gd name="connsiteX4" fmla="*/ 238077 w 343004"/>
                <a:gd name="connsiteY4" fmla="*/ 64192 h 2405901"/>
                <a:gd name="connsiteX5" fmla="*/ 217174 w 343004"/>
                <a:gd name="connsiteY5" fmla="*/ 59972 h 2405901"/>
                <a:gd name="connsiteX6" fmla="*/ 171371 w 343004"/>
                <a:gd name="connsiteY6" fmla="*/ 50725 h 2405901"/>
                <a:gd name="connsiteX7" fmla="*/ 110021 w 343004"/>
                <a:gd name="connsiteY7" fmla="*/ 50726 h 2405901"/>
                <a:gd name="connsiteX8" fmla="*/ 110021 w 343004"/>
                <a:gd name="connsiteY8" fmla="*/ 0 h 2405901"/>
                <a:gd name="connsiteX9" fmla="*/ 0 w 343004"/>
                <a:gd name="connsiteY9" fmla="*/ 113791 h 2405901"/>
                <a:gd name="connsiteX10" fmla="*/ 110021 w 343004"/>
                <a:gd name="connsiteY10" fmla="*/ 227581 h 2405901"/>
                <a:gd name="connsiteX11" fmla="*/ 110021 w 343004"/>
                <a:gd name="connsiteY11" fmla="*/ 176855 h 2405901"/>
                <a:gd name="connsiteX12" fmla="*/ 171371 w 343004"/>
                <a:gd name="connsiteY12" fmla="*/ 176855 h 2405901"/>
                <a:gd name="connsiteX13" fmla="*/ 216613 w 343004"/>
                <a:gd name="connsiteY13" fmla="*/ 222097 h 2405901"/>
                <a:gd name="connsiteX14" fmla="*/ 216614 w 343004"/>
                <a:gd name="connsiteY14" fmla="*/ 1762419 h 2405901"/>
                <a:gd name="connsiteX15" fmla="*/ 216874 w 343004"/>
                <a:gd name="connsiteY15" fmla="*/ 1762419 h 2405901"/>
                <a:gd name="connsiteX16" fmla="*/ 216874 w 343004"/>
                <a:gd name="connsiteY16" fmla="*/ 2405901 h 2405901"/>
                <a:gd name="connsiteX17" fmla="*/ 321540 w 343004"/>
                <a:gd name="connsiteY17" fmla="*/ 2244224 h 2405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3004" h="2405901">
                  <a:moveTo>
                    <a:pt x="343004" y="2239788"/>
                  </a:moveTo>
                  <a:lnTo>
                    <a:pt x="343004" y="1762419"/>
                  </a:lnTo>
                  <a:lnTo>
                    <a:pt x="342743" y="1762419"/>
                  </a:lnTo>
                  <a:lnTo>
                    <a:pt x="342743" y="222097"/>
                  </a:lnTo>
                  <a:cubicBezTo>
                    <a:pt x="342743" y="151113"/>
                    <a:pt x="299585" y="90208"/>
                    <a:pt x="238077" y="64192"/>
                  </a:cubicBezTo>
                  <a:lnTo>
                    <a:pt x="217174" y="59972"/>
                  </a:lnTo>
                  <a:lnTo>
                    <a:pt x="171371" y="50725"/>
                  </a:lnTo>
                  <a:lnTo>
                    <a:pt x="110021" y="50726"/>
                  </a:lnTo>
                  <a:lnTo>
                    <a:pt x="110021" y="0"/>
                  </a:lnTo>
                  <a:lnTo>
                    <a:pt x="0" y="113791"/>
                  </a:lnTo>
                  <a:lnTo>
                    <a:pt x="110021" y="227581"/>
                  </a:lnTo>
                  <a:lnTo>
                    <a:pt x="110021" y="176855"/>
                  </a:lnTo>
                  <a:lnTo>
                    <a:pt x="171371" y="176855"/>
                  </a:lnTo>
                  <a:cubicBezTo>
                    <a:pt x="196357" y="176855"/>
                    <a:pt x="216613" y="197111"/>
                    <a:pt x="216613" y="222097"/>
                  </a:cubicBezTo>
                  <a:cubicBezTo>
                    <a:pt x="216613" y="735538"/>
                    <a:pt x="216614" y="1248978"/>
                    <a:pt x="216614" y="1762419"/>
                  </a:cubicBezTo>
                  <a:lnTo>
                    <a:pt x="216874" y="1762419"/>
                  </a:lnTo>
                  <a:lnTo>
                    <a:pt x="216874" y="2405901"/>
                  </a:lnTo>
                  <a:cubicBezTo>
                    <a:pt x="216874" y="2333222"/>
                    <a:pt x="260033" y="2270861"/>
                    <a:pt x="321540" y="2244224"/>
                  </a:cubicBezTo>
                  <a:close/>
                </a:path>
              </a:pathLst>
            </a:custGeom>
            <a:solidFill>
              <a:schemeClr val="tx1">
                <a:alpha val="15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sz="24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 name="标题 1"/>
          <p:cNvSpPr>
            <a:spLocks noGrp="1"/>
          </p:cNvSpPr>
          <p:nvPr>
            <p:ph type="title" hasCustomPrompt="1"/>
          </p:nvPr>
        </p:nvSpPr>
        <p:spPr/>
        <p:txBody>
          <a:bodyPr/>
          <a:lstStyle/>
          <a:p>
            <a:r>
              <a:rPr lang="zh-CN" altLang="en-US" dirty="0"/>
              <a:t>Data Fusion and Pruning</a:t>
            </a:r>
            <a:endParaRPr lang="en-US" dirty="0"/>
          </a:p>
        </p:txBody>
      </p:sp>
      <p:sp>
        <p:nvSpPr>
          <p:cNvPr id="3" name="日期占位符 2"/>
          <p:cNvSpPr>
            <a:spLocks noGrp="1"/>
          </p:cNvSpPr>
          <p:nvPr>
            <p:ph type="dt" sz="half" idx="10"/>
          </p:nvPr>
        </p:nvSpPr>
        <p:spPr>
          <a:xfrm>
            <a:off x="4718050" y="6386830"/>
            <a:ext cx="2743200" cy="274320"/>
          </a:xfrm>
        </p:spPr>
        <p:txBody>
          <a:bodyPr/>
          <a:lstStyle/>
          <a:p>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C8BB1146-E542-4D4E-B8E9-6919A11DDD48}" type="slidenum">
              <a:rPr lang="en-US" smtClean="0"/>
            </a:fld>
            <a:endParaRPr lang="en-US"/>
          </a:p>
        </p:txBody>
      </p:sp>
      <p:pic>
        <p:nvPicPr>
          <p:cNvPr id="6" name="图片 5"/>
          <p:cNvPicPr>
            <a:picLocks noChangeAspect="1"/>
          </p:cNvPicPr>
          <p:nvPr/>
        </p:nvPicPr>
        <p:blipFill>
          <a:blip r:embed="rId1"/>
          <a:stretch>
            <a:fillRect/>
          </a:stretch>
        </p:blipFill>
        <p:spPr>
          <a:xfrm>
            <a:off x="9858375" y="1504950"/>
            <a:ext cx="1607820" cy="1043940"/>
          </a:xfrm>
          <a:prstGeom prst="rect">
            <a:avLst/>
          </a:prstGeom>
        </p:spPr>
      </p:pic>
      <p:pic>
        <p:nvPicPr>
          <p:cNvPr id="7" name="图片 6"/>
          <p:cNvPicPr>
            <a:picLocks noChangeAspect="1"/>
          </p:cNvPicPr>
          <p:nvPr/>
        </p:nvPicPr>
        <p:blipFill>
          <a:blip r:embed="rId2"/>
          <a:stretch>
            <a:fillRect/>
          </a:stretch>
        </p:blipFill>
        <p:spPr>
          <a:xfrm>
            <a:off x="2300605" y="5009515"/>
            <a:ext cx="4648200" cy="655320"/>
          </a:xfrm>
          <a:prstGeom prst="rect">
            <a:avLst/>
          </a:prstGeom>
        </p:spPr>
      </p:pic>
      <p:pic>
        <p:nvPicPr>
          <p:cNvPr id="10" name="图片 9"/>
          <p:cNvPicPr>
            <a:picLocks noChangeAspect="1"/>
          </p:cNvPicPr>
          <p:nvPr/>
        </p:nvPicPr>
        <p:blipFill>
          <a:blip r:embed="rId3"/>
          <a:stretch>
            <a:fillRect/>
          </a:stretch>
        </p:blipFill>
        <p:spPr>
          <a:xfrm>
            <a:off x="2193290" y="5514340"/>
            <a:ext cx="4907280" cy="472440"/>
          </a:xfrm>
          <a:prstGeom prst="rect">
            <a:avLst/>
          </a:prstGeom>
        </p:spPr>
      </p:pic>
      <p:pic>
        <p:nvPicPr>
          <p:cNvPr id="14" name="图片 13"/>
          <p:cNvPicPr>
            <a:picLocks noChangeAspect="1"/>
          </p:cNvPicPr>
          <p:nvPr/>
        </p:nvPicPr>
        <p:blipFill>
          <a:blip r:embed="rId4"/>
          <a:stretch>
            <a:fillRect/>
          </a:stretch>
        </p:blipFill>
        <p:spPr>
          <a:xfrm>
            <a:off x="2033905" y="5857240"/>
            <a:ext cx="4983480" cy="554990"/>
          </a:xfrm>
          <a:prstGeom prst="rect">
            <a:avLst/>
          </a:prstGeom>
        </p:spPr>
      </p:pic>
    </p:spTree>
    <p:custDataLst>
      <p:tags r:id="rId5"/>
    </p:custData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4c6b0ccb-ae93-4394-9740-c228d42eccfe.source.1.zh-Hans.pptx"/>
          <p:cNvGrpSpPr/>
          <p:nvPr/>
        </p:nvGrpSpPr>
        <p:grpSpPr>
          <a:xfrm>
            <a:off x="660398" y="1130301"/>
            <a:ext cx="10858502" cy="5003799"/>
            <a:chOff x="660398" y="1130301"/>
            <a:chExt cx="10858502" cy="5003799"/>
          </a:xfrm>
        </p:grpSpPr>
        <p:cxnSp>
          <p:nvCxnSpPr>
            <p:cNvPr id="8" name="直接连接符 7"/>
            <p:cNvCxnSpPr/>
            <p:nvPr/>
          </p:nvCxnSpPr>
          <p:spPr>
            <a:xfrm>
              <a:off x="660400" y="2892458"/>
              <a:ext cx="10858500" cy="0"/>
            </a:xfrm>
            <a:prstGeom prst="line">
              <a:avLst/>
            </a:prstGeom>
            <a:ln w="6350" cap="flat" cmpd="sng" algn="ctr">
              <a:solidFill>
                <a:schemeClr val="tx1">
                  <a:alpha val="5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Title"/>
            <p:cNvSpPr>
              <a:spLocks noChangeAspect="1"/>
            </p:cNvSpPr>
            <p:nvPr/>
          </p:nvSpPr>
          <p:spPr>
            <a:xfrm>
              <a:off x="660400" y="1130301"/>
              <a:ext cx="10858500" cy="721620"/>
            </a:xfrm>
            <a:prstGeom prst="rect">
              <a:avLst/>
            </a:prstGeom>
            <a:noFill/>
          </p:spPr>
          <p:txBody>
            <a:bodyPr wrap="square" lIns="90000" tIns="46800" rIns="90000" bIns="46800" rtlCol="0" anchor="ctr" anchorCtr="0">
              <a:normAutofit/>
            </a:bodyPr>
            <a:lstStyle/>
            <a:p>
              <a:r>
                <a:rPr lang="zh-CN" altLang="en-US" sz="2000" b="1" dirty="0">
                  <a:solidFill>
                    <a:schemeClr val="tx1"/>
                  </a:solidFill>
                  <a:cs typeface="+mn-ea"/>
                  <a:sym typeface="+mn-lt"/>
                </a:rPr>
                <a:t>MetaRCA performs root cause ranking on the refined LICG using Causal Contribution Back-propagation</a:t>
              </a:r>
              <a:endParaRPr lang="en-US" dirty="0"/>
            </a:p>
          </p:txBody>
        </p:sp>
        <p:grpSp>
          <p:nvGrpSpPr>
            <p:cNvPr id="16" name="组合 15"/>
            <p:cNvGrpSpPr/>
            <p:nvPr/>
          </p:nvGrpSpPr>
          <p:grpSpPr>
            <a:xfrm>
              <a:off x="660398" y="2619378"/>
              <a:ext cx="10858501" cy="3514722"/>
              <a:chOff x="660397" y="1893664"/>
              <a:chExt cx="7824372" cy="3514722"/>
            </a:xfrm>
          </p:grpSpPr>
          <p:sp>
            <p:nvSpPr>
              <p:cNvPr id="33" name="Number1"/>
              <p:cNvSpPr/>
              <p:nvPr/>
            </p:nvSpPr>
            <p:spPr>
              <a:xfrm>
                <a:off x="735226" y="1893664"/>
                <a:ext cx="548378" cy="546160"/>
              </a:xfrm>
              <a:prstGeom prst="chevron">
                <a:avLst>
                  <a:gd name="adj" fmla="val 332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dirty="0">
                    <a:cs typeface="+mn-ea"/>
                    <a:sym typeface="+mn-lt"/>
                  </a:rPr>
                  <a:t>1</a:t>
                </a:r>
                <a:endParaRPr lang="zh-CN" altLang="en-US" sz="1600" dirty="0">
                  <a:cs typeface="+mn-ea"/>
                  <a:sym typeface="+mn-lt"/>
                </a:endParaRPr>
              </a:p>
            </p:txBody>
          </p:sp>
          <p:sp>
            <p:nvSpPr>
              <p:cNvPr id="34" name="Bullet1"/>
              <p:cNvSpPr/>
              <p:nvPr/>
            </p:nvSpPr>
            <p:spPr>
              <a:xfrm flipH="1">
                <a:off x="660398" y="2735827"/>
                <a:ext cx="7824371" cy="564358"/>
              </a:xfrm>
              <a:prstGeom prst="roundRect">
                <a:avLst>
                  <a:gd name="adj" fmla="val 0"/>
                </a:avLst>
              </a:prstGeom>
              <a:no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1600" b="1" dirty="0">
                    <a:solidFill>
                      <a:schemeClr val="tx1"/>
                    </a:solidFill>
                    <a:cs typeface="+mn-ea"/>
                    <a:sym typeface="+mn-lt"/>
                  </a:rPr>
                  <a:t>Method: Causal Contribution Back-propagation, CCB</a:t>
                </a:r>
                <a:endParaRPr lang="en-US" dirty="0"/>
              </a:p>
            </p:txBody>
          </p:sp>
          <p:sp>
            <p:nvSpPr>
              <p:cNvPr id="35" name="Text1"/>
              <p:cNvSpPr txBox="1"/>
              <p:nvPr/>
            </p:nvSpPr>
            <p:spPr>
              <a:xfrm flipH="1">
                <a:off x="660397" y="3357799"/>
                <a:ext cx="7824370" cy="2050587"/>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200" b="1" dirty="0">
                    <a:cs typeface="+mn-ea"/>
                    <a:sym typeface="+mn-lt"/>
                  </a:rPr>
                  <a:t>CCB ranks nodes by aggregating fault contributions from their downstream effects.</a:t>
                </a:r>
                <a:endParaRPr lang="zh-CN" altLang="en-US" sz="1200" b="1" dirty="0">
                  <a:cs typeface="+mn-ea"/>
                  <a:sym typeface="+mn-lt"/>
                </a:endParaRPr>
              </a:p>
              <a:p>
                <a:pPr>
                  <a:lnSpc>
                    <a:spcPct val="120000"/>
                  </a:lnSpc>
                </a:pPr>
                <a:r>
                  <a:rPr lang="zh-CN" altLang="en-US" sz="1200" dirty="0">
                    <a:cs typeface="+mn-ea"/>
                    <a:sym typeface="+mn-lt"/>
                  </a:rPr>
                  <a:t> If a node can explain many downstream anomalies through high-confidence causal edges, it is more likely to be the root cause. For each node `u`, its score is updated by collecting weighted contributions from its children: </a:t>
                </a:r>
                <a:endParaRPr lang="zh-CN" altLang="en-US" sz="1200" dirty="0">
                  <a:cs typeface="+mn-ea"/>
                  <a:sym typeface="+mn-lt"/>
                </a:endParaRPr>
              </a:p>
              <a:p>
                <a:pPr>
                  <a:lnSpc>
                    <a:spcPct val="120000"/>
                  </a:lnSpc>
                </a:pPr>
                <a:r>
                  <a:rPr lang="zh-CN" altLang="en-US" sz="1200" dirty="0">
                    <a:cs typeface="+mn-ea"/>
                    <a:sym typeface="+mn-lt"/>
                  </a:rPr>
                  <a:t>Score(u) ← Σ Score(v) × W_LICG(u, v) </a:t>
                </a:r>
                <a:endParaRPr lang="zh-CN" altLang="en-US" sz="1200" dirty="0">
                  <a:cs typeface="+mn-ea"/>
                  <a:sym typeface="+mn-lt"/>
                </a:endParaRPr>
              </a:p>
              <a:p>
                <a:pPr>
                  <a:lnSpc>
                    <a:spcPct val="120000"/>
                  </a:lnSpc>
                </a:pPr>
                <a:r>
                  <a:rPr lang="zh-CN" altLang="en-US" sz="1200" dirty="0">
                    <a:cs typeface="+mn-ea"/>
                    <a:sym typeface="+mn-lt"/>
                  </a:rPr>
                  <a:t>where `v` is a downstream child node of `u`. Initialize all node scores Iteratively back-propagate downstream fault contributions Stop when scores converge Rank nodes by final scores Output Top-K candidate root causes Root causes are ranked by how strongly they can causally explain downstream abnormal effects.</a:t>
                </a:r>
                <a:endParaRPr lang="en-US" dirty="0"/>
              </a:p>
            </p:txBody>
          </p:sp>
        </p:grpSp>
      </p:grpSp>
      <p:sp>
        <p:nvSpPr>
          <p:cNvPr id="2" name="标题 1"/>
          <p:cNvSpPr>
            <a:spLocks noGrp="1"/>
          </p:cNvSpPr>
          <p:nvPr>
            <p:ph type="title" hasCustomPrompt="1"/>
          </p:nvPr>
        </p:nvSpPr>
        <p:spPr/>
        <p:txBody>
          <a:bodyPr/>
          <a:lstStyle/>
          <a:p>
            <a:r>
              <a:rPr lang="zh-CN" altLang="en-US" dirty="0"/>
              <a:t>Root Cause Ranking</a:t>
            </a:r>
            <a:endParaRPr lang="en-US" dirty="0"/>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C8BB1146-E542-4D4E-B8E9-6919A11DDD48}" type="slidenum">
              <a:rPr lang="en-US" smtClean="0"/>
            </a:fld>
            <a:endParaRPr lang="en-US"/>
          </a:p>
        </p:txBody>
      </p:sp>
      <p:pic>
        <p:nvPicPr>
          <p:cNvPr id="9" name="图片 8"/>
          <p:cNvPicPr>
            <a:picLocks noChangeAspect="1"/>
          </p:cNvPicPr>
          <p:nvPr/>
        </p:nvPicPr>
        <p:blipFill>
          <a:blip r:embed="rId1"/>
          <a:stretch>
            <a:fillRect/>
          </a:stretch>
        </p:blipFill>
        <p:spPr>
          <a:xfrm>
            <a:off x="3063240" y="1864995"/>
            <a:ext cx="5791200" cy="754380"/>
          </a:xfrm>
          <a:prstGeom prst="rect">
            <a:avLst/>
          </a:prstGeom>
        </p:spPr>
      </p:pic>
      <p:pic>
        <p:nvPicPr>
          <p:cNvPr id="10" name="图片 9"/>
          <p:cNvPicPr>
            <a:picLocks noChangeAspect="1"/>
          </p:cNvPicPr>
          <p:nvPr/>
        </p:nvPicPr>
        <p:blipFill>
          <a:blip r:embed="rId2"/>
          <a:stretch>
            <a:fillRect/>
          </a:stretch>
        </p:blipFill>
        <p:spPr>
          <a:xfrm>
            <a:off x="9006840" y="1504315"/>
            <a:ext cx="2621280" cy="1165860"/>
          </a:xfrm>
          <a:prstGeom prst="rect">
            <a:avLst/>
          </a:prstGeom>
        </p:spPr>
      </p:pic>
    </p:spTree>
    <p:custDataLst>
      <p:tags r:id="rId3"/>
    </p:custData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d3fb0efb-92bf-4090-88ef-060858c61e43.source.5.zh-Hans.pptx"/>
          <p:cNvGrpSpPr/>
          <p:nvPr>
            <p:custDataLst>
              <p:tags r:id="rId1"/>
            </p:custDataLst>
          </p:nvPr>
        </p:nvGrpSpPr>
        <p:grpSpPr>
          <a:xfrm>
            <a:off x="572754" y="1130300"/>
            <a:ext cx="10946146" cy="5003800"/>
            <a:chOff x="572754" y="1130300"/>
            <a:chExt cx="10946146" cy="5003800"/>
          </a:xfrm>
        </p:grpSpPr>
        <p:sp>
          <p:nvSpPr>
            <p:cNvPr id="39" name="Title"/>
            <p:cNvSpPr/>
            <p:nvPr/>
          </p:nvSpPr>
          <p:spPr>
            <a:xfrm>
              <a:off x="660399" y="1130300"/>
              <a:ext cx="10858500" cy="7323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buSzPct val="25000"/>
              </a:pPr>
              <a:r>
                <a:rPr lang="zh-CN" altLang="en-US" sz="20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Evaluation on diverse datasets addressing four key research questions</a:t>
              </a:r>
              <a:endParaRPr lang="en-US" dirty="0"/>
            </a:p>
          </p:txBody>
        </p:sp>
        <p:grpSp>
          <p:nvGrpSpPr>
            <p:cNvPr id="13" name="组合 12"/>
            <p:cNvGrpSpPr/>
            <p:nvPr/>
          </p:nvGrpSpPr>
          <p:grpSpPr>
            <a:xfrm>
              <a:off x="572754" y="2033094"/>
              <a:ext cx="2243943" cy="4101006"/>
              <a:chOff x="652276" y="2033094"/>
              <a:chExt cx="2243943" cy="4101006"/>
            </a:xfrm>
          </p:grpSpPr>
          <p:grpSp>
            <p:nvGrpSpPr>
              <p:cNvPr id="12" name="组合 11"/>
              <p:cNvGrpSpPr/>
              <p:nvPr/>
            </p:nvGrpSpPr>
            <p:grpSpPr>
              <a:xfrm>
                <a:off x="998220" y="2372543"/>
                <a:ext cx="1897999" cy="3761557"/>
                <a:chOff x="998220" y="2372543"/>
                <a:chExt cx="1897999" cy="3761557"/>
              </a:xfrm>
            </p:grpSpPr>
            <p:sp>
              <p:nvSpPr>
                <p:cNvPr id="40" name="Text1"/>
                <p:cNvSpPr txBox="1"/>
                <p:nvPr/>
              </p:nvSpPr>
              <p:spPr>
                <a:xfrm>
                  <a:off x="998220" y="3597221"/>
                  <a:ext cx="1897999" cy="2536879"/>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MetaRCA is evaluated on diverse datasets, including: Three public microservice </a:t>
                  </a:r>
                  <a:r>
                    <a:rPr lang="zh-CN" altLang="en-US" sz="1400" b="1" dirty="0">
                      <a:latin typeface="Arial" panose="020B0604020202020204" pitchFamily="34" charset="0"/>
                      <a:ea typeface="微软雅黑" panose="020B0503020204020204" pitchFamily="34" charset="-122"/>
                      <a:sym typeface="Arial" panose="020B0604020202020204" pitchFamily="34" charset="0"/>
                    </a:rPr>
                    <a:t>benchmarks One real-world production dataset </a:t>
                  </a:r>
                  <a:r>
                    <a:rPr lang="zh-CN" altLang="en-US" sz="1200" dirty="0">
                      <a:latin typeface="Arial" panose="020B0604020202020204" pitchFamily="34" charset="0"/>
                      <a:ea typeface="微软雅黑" panose="020B0503020204020204" pitchFamily="34" charset="-122"/>
                      <a:sym typeface="Arial" panose="020B0604020202020204" pitchFamily="34" charset="0"/>
                    </a:rPr>
                    <a:t>The experiments are designed to answer four research questions.</a:t>
                  </a:r>
                  <a:endParaRPr lang="en-US" dirty="0"/>
                </a:p>
              </p:txBody>
            </p:sp>
            <p:sp>
              <p:nvSpPr>
                <p:cNvPr id="41" name="Bullet1"/>
                <p:cNvSpPr txBox="1"/>
                <p:nvPr/>
              </p:nvSpPr>
              <p:spPr>
                <a:xfrm>
                  <a:off x="998220" y="2372543"/>
                  <a:ext cx="1897999" cy="873317"/>
                </a:xfrm>
                <a:prstGeom prst="rect">
                  <a:avLst/>
                </a:prstGeom>
                <a:noFill/>
              </p:spPr>
              <p:txBody>
                <a:bodyPr wrap="square" rtlCol="0" anchor="t">
                  <a:normAutofit/>
                </a:bodyPr>
                <a:lstStyle/>
                <a:p>
                  <a:pPr>
                    <a:lnSpc>
                      <a:spcPct val="120000"/>
                    </a:lnSpc>
                  </a:pPr>
                  <a:r>
                    <a:rPr kumimoji="0" lang="zh-CN" altLang="en-US" sz="1600" b="1"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sym typeface="Arial" panose="020B0604020202020204" pitchFamily="34" charset="0"/>
                    </a:rPr>
                    <a:t>Datasets and Research Questions Overview</a:t>
                  </a:r>
                  <a:endParaRPr lang="en-US" dirty="0"/>
                </a:p>
              </p:txBody>
            </p:sp>
          </p:grpSp>
          <p:grpSp>
            <p:nvGrpSpPr>
              <p:cNvPr id="45" name="组合 44"/>
              <p:cNvGrpSpPr/>
              <p:nvPr/>
            </p:nvGrpSpPr>
            <p:grpSpPr>
              <a:xfrm>
                <a:off x="652276" y="2033094"/>
                <a:ext cx="606798" cy="4101006"/>
                <a:chOff x="652276" y="2033094"/>
                <a:chExt cx="606798" cy="4101006"/>
              </a:xfrm>
            </p:grpSpPr>
            <p:cxnSp>
              <p:nvCxnSpPr>
                <p:cNvPr id="44" name="直接连接符 43"/>
                <p:cNvCxnSpPr>
                  <a:stCxn id="42" idx="4"/>
                </p:cNvCxnSpPr>
                <p:nvPr/>
              </p:nvCxnSpPr>
              <p:spPr>
                <a:xfrm>
                  <a:off x="955675" y="2639890"/>
                  <a:ext cx="0" cy="349421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2" name="组合 1"/>
            <p:cNvGrpSpPr/>
            <p:nvPr/>
          </p:nvGrpSpPr>
          <p:grpSpPr>
            <a:xfrm>
              <a:off x="2748305" y="2033094"/>
              <a:ext cx="2243943" cy="4101006"/>
              <a:chOff x="652276" y="2033094"/>
              <a:chExt cx="2243943" cy="4101006"/>
            </a:xfrm>
          </p:grpSpPr>
          <p:grpSp>
            <p:nvGrpSpPr>
              <p:cNvPr id="3" name="组合 2"/>
              <p:cNvGrpSpPr/>
              <p:nvPr/>
            </p:nvGrpSpPr>
            <p:grpSpPr>
              <a:xfrm>
                <a:off x="998220" y="2707574"/>
                <a:ext cx="1897999" cy="3426526"/>
                <a:chOff x="998220" y="2707574"/>
                <a:chExt cx="1897999" cy="3426526"/>
              </a:xfrm>
            </p:grpSpPr>
            <p:sp>
              <p:nvSpPr>
                <p:cNvPr id="7" name="Text2"/>
                <p:cNvSpPr txBox="1"/>
                <p:nvPr>
                  <p:custDataLst>
                    <p:tags r:id="rId2"/>
                  </p:custDataLst>
                </p:nvPr>
              </p:nvSpPr>
              <p:spPr>
                <a:xfrm>
                  <a:off x="998220" y="3597221"/>
                  <a:ext cx="1897999" cy="2536879"/>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How accurate and efficient is MetaRCA compared with baseline RCA methods?</a:t>
                  </a:r>
                  <a:endParaRPr lang="en-US" dirty="0"/>
                </a:p>
              </p:txBody>
            </p:sp>
            <p:sp>
              <p:nvSpPr>
                <p:cNvPr id="8" name="Bullet2"/>
                <p:cNvSpPr txBox="1"/>
                <p:nvPr>
                  <p:custDataLst>
                    <p:tags r:id="rId3"/>
                  </p:custDataLst>
                </p:nvPr>
              </p:nvSpPr>
              <p:spPr>
                <a:xfrm>
                  <a:off x="998220" y="2707574"/>
                  <a:ext cx="1897999" cy="873317"/>
                </a:xfrm>
                <a:prstGeom prst="rect">
                  <a:avLst/>
                </a:prstGeom>
                <a:noFill/>
              </p:spPr>
              <p:txBody>
                <a:bodyPr wrap="square" rtlCol="0" anchor="t">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RQ1: Effectiveness</a:t>
                  </a:r>
                  <a:endParaRPr lang="en-US" dirty="0"/>
                </a:p>
              </p:txBody>
            </p:sp>
          </p:grpSp>
          <p:grpSp>
            <p:nvGrpSpPr>
              <p:cNvPr id="4" name="组合 3"/>
              <p:cNvGrpSpPr/>
              <p:nvPr/>
            </p:nvGrpSpPr>
            <p:grpSpPr>
              <a:xfrm>
                <a:off x="652276" y="2033094"/>
                <a:ext cx="606798" cy="4101006"/>
                <a:chOff x="652276" y="2033094"/>
                <a:chExt cx="606798" cy="4101006"/>
              </a:xfrm>
            </p:grpSpPr>
            <p:sp>
              <p:nvSpPr>
                <p:cNvPr id="5" name="Number2"/>
                <p:cNvSpPr/>
                <p:nvPr>
                  <p:custDataLst>
                    <p:tags r:id="rId4"/>
                  </p:custDataLst>
                </p:nvPr>
              </p:nvSpPr>
              <p:spPr>
                <a:xfrm>
                  <a:off x="652276" y="2033094"/>
                  <a:ext cx="606798" cy="606796"/>
                </a:xfrm>
                <a:prstGeom prst="ellipse">
                  <a:avLst/>
                </a:prstGeom>
                <a:solidFill>
                  <a:schemeClr val="accent1">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marL="0" marR="0" lvl="0" indent="0" algn="ctr"/>
                  <a:r>
                    <a:rPr lang="zh-CN" altLang="en-US" sz="1800" baseline="0" dirty="0">
                      <a:solidFill>
                        <a:srgbClr val="FFFFFF"/>
                      </a:solidFill>
                      <a:latin typeface="Arial" panose="020B0604020202020204"/>
                      <a:ea typeface="Arial" panose="020B0604020202020204"/>
                    </a:rPr>
                    <a:t>1</a:t>
                  </a:r>
                  <a:endParaRPr lang="zh-CN" altLang="en-US" dirty="0"/>
                </a:p>
              </p:txBody>
            </p:sp>
            <p:cxnSp>
              <p:nvCxnSpPr>
                <p:cNvPr id="6" name="直接连接符 5"/>
                <p:cNvCxnSpPr>
                  <a:stCxn id="5" idx="4"/>
                </p:cNvCxnSpPr>
                <p:nvPr>
                  <p:custDataLst>
                    <p:tags r:id="rId5"/>
                  </p:custDataLst>
                </p:nvPr>
              </p:nvCxnSpPr>
              <p:spPr>
                <a:xfrm>
                  <a:off x="955675" y="2639890"/>
                  <a:ext cx="0" cy="349421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9" name="组合 8"/>
            <p:cNvGrpSpPr/>
            <p:nvPr/>
          </p:nvGrpSpPr>
          <p:grpSpPr>
            <a:xfrm>
              <a:off x="4923856" y="2033094"/>
              <a:ext cx="2243943" cy="4101006"/>
              <a:chOff x="652276" y="2033094"/>
              <a:chExt cx="2243943" cy="4101006"/>
            </a:xfrm>
          </p:grpSpPr>
          <p:grpSp>
            <p:nvGrpSpPr>
              <p:cNvPr id="10" name="组合 9"/>
              <p:cNvGrpSpPr/>
              <p:nvPr/>
            </p:nvGrpSpPr>
            <p:grpSpPr>
              <a:xfrm>
                <a:off x="998220" y="2707574"/>
                <a:ext cx="1897999" cy="3426526"/>
                <a:chOff x="998220" y="2707574"/>
                <a:chExt cx="1897999" cy="3426526"/>
              </a:xfrm>
            </p:grpSpPr>
            <p:sp>
              <p:nvSpPr>
                <p:cNvPr id="37" name="Text3"/>
                <p:cNvSpPr txBox="1"/>
                <p:nvPr>
                  <p:custDataLst>
                    <p:tags r:id="rId6"/>
                  </p:custDataLst>
                </p:nvPr>
              </p:nvSpPr>
              <p:spPr>
                <a:xfrm>
                  <a:off x="998220" y="3597221"/>
                  <a:ext cx="1897999" cy="2536879"/>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Can MetaRCA generalize across different systems and scale to complex cloud-native environments?</a:t>
                  </a:r>
                  <a:endParaRPr lang="en-US" dirty="0"/>
                </a:p>
              </p:txBody>
            </p:sp>
            <p:sp>
              <p:nvSpPr>
                <p:cNvPr id="46" name="Bullet3"/>
                <p:cNvSpPr txBox="1"/>
                <p:nvPr>
                  <p:custDataLst>
                    <p:tags r:id="rId7"/>
                  </p:custDataLst>
                </p:nvPr>
              </p:nvSpPr>
              <p:spPr>
                <a:xfrm>
                  <a:off x="998220" y="2707574"/>
                  <a:ext cx="1897999" cy="873317"/>
                </a:xfrm>
                <a:prstGeom prst="rect">
                  <a:avLst/>
                </a:prstGeom>
                <a:noFill/>
              </p:spPr>
              <p:txBody>
                <a:bodyPr wrap="square" rtlCol="0" anchor="t">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RQ2: Generalizability and Scalability</a:t>
                  </a:r>
                  <a:endParaRPr lang="en-US" dirty="0"/>
                </a:p>
              </p:txBody>
            </p:sp>
          </p:grpSp>
          <p:grpSp>
            <p:nvGrpSpPr>
              <p:cNvPr id="11" name="组合 10"/>
              <p:cNvGrpSpPr/>
              <p:nvPr/>
            </p:nvGrpSpPr>
            <p:grpSpPr>
              <a:xfrm>
                <a:off x="652276" y="2033094"/>
                <a:ext cx="606798" cy="4101006"/>
                <a:chOff x="652276" y="2033094"/>
                <a:chExt cx="606798" cy="4101006"/>
              </a:xfrm>
            </p:grpSpPr>
            <p:sp>
              <p:nvSpPr>
                <p:cNvPr id="35" name="Number3"/>
                <p:cNvSpPr/>
                <p:nvPr>
                  <p:custDataLst>
                    <p:tags r:id="rId8"/>
                  </p:custDataLst>
                </p:nvPr>
              </p:nvSpPr>
              <p:spPr>
                <a:xfrm>
                  <a:off x="652276" y="2033094"/>
                  <a:ext cx="606798" cy="606796"/>
                </a:xfrm>
                <a:prstGeom prst="ellipse">
                  <a:avLst/>
                </a:prstGeom>
                <a:solidFill>
                  <a:schemeClr val="accent1">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marL="0" marR="0" lvl="0" indent="0" algn="ctr"/>
                  <a:r>
                    <a:rPr lang="zh-CN" altLang="en-US" sz="1800" baseline="0" dirty="0">
                      <a:solidFill>
                        <a:srgbClr val="FFFFFF"/>
                      </a:solidFill>
                      <a:latin typeface="Arial" panose="020B0604020202020204"/>
                      <a:ea typeface="Arial" panose="020B0604020202020204"/>
                    </a:rPr>
                    <a:t>2</a:t>
                  </a:r>
                  <a:endParaRPr lang="zh-CN" altLang="en-US" dirty="0"/>
                </a:p>
              </p:txBody>
            </p:sp>
            <p:cxnSp>
              <p:nvCxnSpPr>
                <p:cNvPr id="36" name="直接连接符 35"/>
                <p:cNvCxnSpPr>
                  <a:stCxn id="35" idx="4"/>
                </p:cNvCxnSpPr>
                <p:nvPr>
                  <p:custDataLst>
                    <p:tags r:id="rId9"/>
                  </p:custDataLst>
                </p:nvPr>
              </p:nvCxnSpPr>
              <p:spPr>
                <a:xfrm>
                  <a:off x="955675" y="2639890"/>
                  <a:ext cx="0" cy="349421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47" name="组合 46"/>
            <p:cNvGrpSpPr/>
            <p:nvPr/>
          </p:nvGrpSpPr>
          <p:grpSpPr>
            <a:xfrm>
              <a:off x="7099407" y="2033094"/>
              <a:ext cx="2243943" cy="4101006"/>
              <a:chOff x="652276" y="2033094"/>
              <a:chExt cx="2243943" cy="4101006"/>
            </a:xfrm>
          </p:grpSpPr>
          <p:grpSp>
            <p:nvGrpSpPr>
              <p:cNvPr id="48" name="组合 47"/>
              <p:cNvGrpSpPr/>
              <p:nvPr/>
            </p:nvGrpSpPr>
            <p:grpSpPr>
              <a:xfrm>
                <a:off x="998220" y="2707574"/>
                <a:ext cx="1897999" cy="3426526"/>
                <a:chOff x="998220" y="2707574"/>
                <a:chExt cx="1897999" cy="3426526"/>
              </a:xfrm>
            </p:grpSpPr>
            <p:sp>
              <p:nvSpPr>
                <p:cNvPr id="52" name="Text4"/>
                <p:cNvSpPr txBox="1"/>
                <p:nvPr>
                  <p:custDataLst>
                    <p:tags r:id="rId10"/>
                  </p:custDataLst>
                </p:nvPr>
              </p:nvSpPr>
              <p:spPr>
                <a:xfrm>
                  <a:off x="998220" y="3597221"/>
                  <a:ext cx="1897999" cy="2536879"/>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Does the MCG-based approach generate higher-quality causal graphs than existing methods?</a:t>
                  </a:r>
                  <a:endParaRPr lang="en-US" dirty="0"/>
                </a:p>
              </p:txBody>
            </p:sp>
            <p:sp>
              <p:nvSpPr>
                <p:cNvPr id="53" name="Bullet4"/>
                <p:cNvSpPr txBox="1"/>
                <p:nvPr>
                  <p:custDataLst>
                    <p:tags r:id="rId11"/>
                  </p:custDataLst>
                </p:nvPr>
              </p:nvSpPr>
              <p:spPr>
                <a:xfrm>
                  <a:off x="998220" y="2707574"/>
                  <a:ext cx="1897999" cy="873317"/>
                </a:xfrm>
                <a:prstGeom prst="rect">
                  <a:avLst/>
                </a:prstGeom>
                <a:noFill/>
              </p:spPr>
              <p:txBody>
                <a:bodyPr wrap="square" rtlCol="0" anchor="t">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RQ3: Causal Graph Quality</a:t>
                  </a:r>
                  <a:endParaRPr lang="en-US" dirty="0"/>
                </a:p>
              </p:txBody>
            </p:sp>
          </p:grpSp>
          <p:grpSp>
            <p:nvGrpSpPr>
              <p:cNvPr id="49" name="组合 48"/>
              <p:cNvGrpSpPr/>
              <p:nvPr/>
            </p:nvGrpSpPr>
            <p:grpSpPr>
              <a:xfrm>
                <a:off x="652276" y="2033094"/>
                <a:ext cx="606798" cy="4101006"/>
                <a:chOff x="652276" y="2033094"/>
                <a:chExt cx="606798" cy="4101006"/>
              </a:xfrm>
            </p:grpSpPr>
            <p:sp>
              <p:nvSpPr>
                <p:cNvPr id="50" name="Number4"/>
                <p:cNvSpPr/>
                <p:nvPr>
                  <p:custDataLst>
                    <p:tags r:id="rId12"/>
                  </p:custDataLst>
                </p:nvPr>
              </p:nvSpPr>
              <p:spPr>
                <a:xfrm>
                  <a:off x="652276" y="2033094"/>
                  <a:ext cx="606798" cy="606796"/>
                </a:xfrm>
                <a:prstGeom prst="ellipse">
                  <a:avLst/>
                </a:prstGeom>
                <a:solidFill>
                  <a:schemeClr val="accent1">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marL="0" marR="0" lvl="0" indent="0" algn="ctr"/>
                  <a:r>
                    <a:rPr lang="zh-CN" altLang="en-US" sz="1800" baseline="0" dirty="0">
                      <a:solidFill>
                        <a:srgbClr val="FFFFFF"/>
                      </a:solidFill>
                      <a:latin typeface="Arial" panose="020B0604020202020204"/>
                      <a:ea typeface="Arial" panose="020B0604020202020204"/>
                    </a:rPr>
                    <a:t>3</a:t>
                  </a:r>
                  <a:endParaRPr lang="zh-CN" altLang="en-US" dirty="0"/>
                </a:p>
              </p:txBody>
            </p:sp>
            <p:cxnSp>
              <p:nvCxnSpPr>
                <p:cNvPr id="51" name="直接连接符 50"/>
                <p:cNvCxnSpPr>
                  <a:stCxn id="50" idx="4"/>
                </p:cNvCxnSpPr>
                <p:nvPr>
                  <p:custDataLst>
                    <p:tags r:id="rId13"/>
                  </p:custDataLst>
                </p:nvPr>
              </p:nvCxnSpPr>
              <p:spPr>
                <a:xfrm>
                  <a:off x="955675" y="2639890"/>
                  <a:ext cx="0" cy="349421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54" name="组合 53"/>
            <p:cNvGrpSpPr/>
            <p:nvPr/>
          </p:nvGrpSpPr>
          <p:grpSpPr>
            <a:xfrm>
              <a:off x="9274957" y="2033094"/>
              <a:ext cx="2243943" cy="4101006"/>
              <a:chOff x="652276" y="2033094"/>
              <a:chExt cx="2243943" cy="4101006"/>
            </a:xfrm>
          </p:grpSpPr>
          <p:grpSp>
            <p:nvGrpSpPr>
              <p:cNvPr id="55" name="组合 54"/>
              <p:cNvGrpSpPr/>
              <p:nvPr/>
            </p:nvGrpSpPr>
            <p:grpSpPr>
              <a:xfrm>
                <a:off x="998220" y="2707574"/>
                <a:ext cx="1897999" cy="3426526"/>
                <a:chOff x="998220" y="2707574"/>
                <a:chExt cx="1897999" cy="3426526"/>
              </a:xfrm>
            </p:grpSpPr>
            <p:sp>
              <p:nvSpPr>
                <p:cNvPr id="59" name="Text5"/>
                <p:cNvSpPr txBox="1"/>
                <p:nvPr>
                  <p:custDataLst>
                    <p:tags r:id="rId14"/>
                  </p:custDataLst>
                </p:nvPr>
              </p:nvSpPr>
              <p:spPr>
                <a:xfrm>
                  <a:off x="998220" y="3597221"/>
                  <a:ext cx="1897999" cy="2536879"/>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How much does each key component contribute to the final root cause localization performance?</a:t>
                  </a:r>
                  <a:endParaRPr lang="en-US" dirty="0"/>
                </a:p>
              </p:txBody>
            </p:sp>
            <p:sp>
              <p:nvSpPr>
                <p:cNvPr id="60" name="Bullet5"/>
                <p:cNvSpPr txBox="1"/>
                <p:nvPr>
                  <p:custDataLst>
                    <p:tags r:id="rId15"/>
                  </p:custDataLst>
                </p:nvPr>
              </p:nvSpPr>
              <p:spPr>
                <a:xfrm>
                  <a:off x="998220" y="2707574"/>
                  <a:ext cx="1897999" cy="873317"/>
                </a:xfrm>
                <a:prstGeom prst="rect">
                  <a:avLst/>
                </a:prstGeom>
                <a:noFill/>
              </p:spPr>
              <p:txBody>
                <a:bodyPr wrap="square" rtlCol="0" anchor="t">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RQ4: Ablation Study</a:t>
                  </a:r>
                  <a:endParaRPr lang="en-US" dirty="0"/>
                </a:p>
              </p:txBody>
            </p:sp>
          </p:grpSp>
          <p:grpSp>
            <p:nvGrpSpPr>
              <p:cNvPr id="56" name="组合 55"/>
              <p:cNvGrpSpPr/>
              <p:nvPr/>
            </p:nvGrpSpPr>
            <p:grpSpPr>
              <a:xfrm>
                <a:off x="652276" y="2033094"/>
                <a:ext cx="606798" cy="4101006"/>
                <a:chOff x="652276" y="2033094"/>
                <a:chExt cx="606798" cy="4101006"/>
              </a:xfrm>
            </p:grpSpPr>
            <p:sp>
              <p:nvSpPr>
                <p:cNvPr id="57" name="Number5"/>
                <p:cNvSpPr/>
                <p:nvPr>
                  <p:custDataLst>
                    <p:tags r:id="rId16"/>
                  </p:custDataLst>
                </p:nvPr>
              </p:nvSpPr>
              <p:spPr>
                <a:xfrm>
                  <a:off x="652276" y="2033094"/>
                  <a:ext cx="606798" cy="606796"/>
                </a:xfrm>
                <a:prstGeom prst="ellipse">
                  <a:avLst/>
                </a:prstGeom>
                <a:solidFill>
                  <a:schemeClr val="accent1">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marL="0" marR="0" lvl="0" indent="0" algn="ctr"/>
                  <a:r>
                    <a:rPr lang="zh-CN" altLang="en-US" sz="1800" baseline="0" dirty="0">
                      <a:solidFill>
                        <a:srgbClr val="FFFFFF"/>
                      </a:solidFill>
                      <a:latin typeface="Arial" panose="020B0604020202020204"/>
                      <a:ea typeface="Arial" panose="020B0604020202020204"/>
                    </a:rPr>
                    <a:t>4</a:t>
                  </a:r>
                  <a:endParaRPr lang="zh-CN" altLang="en-US" dirty="0"/>
                </a:p>
              </p:txBody>
            </p:sp>
            <p:cxnSp>
              <p:nvCxnSpPr>
                <p:cNvPr id="58" name="直接连接符 57"/>
                <p:cNvCxnSpPr>
                  <a:stCxn id="57" idx="4"/>
                </p:cNvCxnSpPr>
                <p:nvPr>
                  <p:custDataLst>
                    <p:tags r:id="rId17"/>
                  </p:custDataLst>
                </p:nvPr>
              </p:nvCxnSpPr>
              <p:spPr>
                <a:xfrm>
                  <a:off x="955675" y="2639890"/>
                  <a:ext cx="0" cy="349421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grpSp>
      <p:sp>
        <p:nvSpPr>
          <p:cNvPr id="14" name="标题 13"/>
          <p:cNvSpPr>
            <a:spLocks noGrp="1"/>
          </p:cNvSpPr>
          <p:nvPr>
            <p:ph type="title" hasCustomPrompt="1"/>
          </p:nvPr>
        </p:nvSpPr>
        <p:spPr/>
        <p:txBody>
          <a:bodyPr/>
          <a:lstStyle/>
          <a:p>
            <a:r>
              <a:rPr lang="zh-CN" altLang="en-US" dirty="0"/>
              <a:t>Experimental Evaluation of MetaRCA</a:t>
            </a:r>
            <a:endParaRPr lang="en-US" dirty="0"/>
          </a:p>
        </p:txBody>
      </p:sp>
      <p:sp>
        <p:nvSpPr>
          <p:cNvPr id="15" name="日期占位符 14"/>
          <p:cNvSpPr>
            <a:spLocks noGrp="1"/>
          </p:cNvSpPr>
          <p:nvPr>
            <p:ph type="dt" sz="half" idx="10"/>
          </p:nvPr>
        </p:nvSpPr>
        <p:spPr/>
        <p:txBody>
          <a:bodyPr/>
          <a:lstStyle/>
          <a:p>
            <a:endParaRPr lang="en-US"/>
          </a:p>
        </p:txBody>
      </p:sp>
      <p:sp>
        <p:nvSpPr>
          <p:cNvPr id="16" name="页脚占位符 15"/>
          <p:cNvSpPr>
            <a:spLocks noGrp="1"/>
          </p:cNvSpPr>
          <p:nvPr>
            <p:ph type="ftr" sz="quarter" idx="11"/>
          </p:nvPr>
        </p:nvSpPr>
        <p:spPr/>
        <p:txBody>
          <a:bodyPr/>
          <a:lstStyle/>
          <a:p>
            <a:endParaRPr lang="en-US"/>
          </a:p>
        </p:txBody>
      </p:sp>
      <p:sp>
        <p:nvSpPr>
          <p:cNvPr id="17" name="灯片编号占位符 16"/>
          <p:cNvSpPr>
            <a:spLocks noGrp="1"/>
          </p:cNvSpPr>
          <p:nvPr>
            <p:ph type="sldNum" sz="quarter" idx="12"/>
          </p:nvPr>
        </p:nvSpPr>
        <p:spPr/>
        <p:txBody>
          <a:bodyPr/>
          <a:lstStyle/>
          <a:p>
            <a:fld id="{C8BB1146-E542-4D4E-B8E9-6919A11DDD48}" type="slidenum">
              <a:rPr lang="en-US" smtClean="0"/>
            </a:fld>
            <a:endParaRPr lang="en-US"/>
          </a:p>
        </p:txBody>
      </p:sp>
    </p:spTree>
    <p:custDataLst>
      <p:tags r:id="rId18"/>
    </p:custData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660400" y="1130300"/>
            <a:ext cx="10858500" cy="4606304"/>
            <a:chOff x="660400" y="1130300"/>
            <a:chExt cx="10858500" cy="4606304"/>
          </a:xfrm>
        </p:grpSpPr>
        <p:sp>
          <p:nvSpPr>
            <p:cNvPr id="2" name="islide-1"/>
            <p:cNvSpPr/>
            <p:nvPr/>
          </p:nvSpPr>
          <p:spPr>
            <a:xfrm>
              <a:off x="5287167" y="3392765"/>
              <a:ext cx="1621975" cy="1621975"/>
            </a:xfrm>
            <a:prstGeom prst="ellipse">
              <a:avLst/>
            </a:prstGeom>
            <a:solidFill>
              <a:schemeClr val="tx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cs typeface="+mn-ea"/>
                <a:sym typeface="+mn-lt"/>
              </a:endParaRPr>
            </a:p>
          </p:txBody>
        </p:sp>
        <p:sp>
          <p:nvSpPr>
            <p:cNvPr id="3" name="islide-2"/>
            <p:cNvSpPr/>
            <p:nvPr/>
          </p:nvSpPr>
          <p:spPr>
            <a:xfrm rot="10800000">
              <a:off x="6160003" y="2761146"/>
              <a:ext cx="1324101" cy="1324101"/>
            </a:xfrm>
            <a:custGeom>
              <a:avLst/>
              <a:gdLst>
                <a:gd name="connsiteX0" fmla="*/ 0 w 1324101"/>
                <a:gd name="connsiteY0" fmla="*/ 662051 h 1324101"/>
                <a:gd name="connsiteX1" fmla="*/ 662051 w 1324101"/>
                <a:gd name="connsiteY1" fmla="*/ 0 h 1324101"/>
                <a:gd name="connsiteX2" fmla="*/ 1324101 w 1324101"/>
                <a:gd name="connsiteY2" fmla="*/ 0 h 1324101"/>
                <a:gd name="connsiteX3" fmla="*/ 1324101 w 1324101"/>
                <a:gd name="connsiteY3" fmla="*/ 662051 h 1324101"/>
                <a:gd name="connsiteX4" fmla="*/ 662050 w 1324101"/>
                <a:gd name="connsiteY4" fmla="*/ 1324102 h 1324101"/>
                <a:gd name="connsiteX5" fmla="*/ -1 w 1324101"/>
                <a:gd name="connsiteY5" fmla="*/ 662051 h 1324101"/>
                <a:gd name="connsiteX6" fmla="*/ 0 w 1324101"/>
                <a:gd name="connsiteY6" fmla="*/ 662051 h 13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4101" h="1324101">
                  <a:moveTo>
                    <a:pt x="0" y="662051"/>
                  </a:moveTo>
                  <a:cubicBezTo>
                    <a:pt x="0" y="296410"/>
                    <a:pt x="296410" y="0"/>
                    <a:pt x="662051" y="0"/>
                  </a:cubicBezTo>
                  <a:lnTo>
                    <a:pt x="1324101" y="0"/>
                  </a:lnTo>
                  <a:lnTo>
                    <a:pt x="1324101" y="662051"/>
                  </a:lnTo>
                  <a:cubicBezTo>
                    <a:pt x="1324101" y="1027692"/>
                    <a:pt x="1027691" y="1324102"/>
                    <a:pt x="662050" y="1324102"/>
                  </a:cubicBezTo>
                  <a:cubicBezTo>
                    <a:pt x="296409" y="1324102"/>
                    <a:pt x="-1" y="1027692"/>
                    <a:pt x="-1" y="662051"/>
                  </a:cubicBezTo>
                  <a:lnTo>
                    <a:pt x="0" y="662051"/>
                  </a:lnTo>
                  <a:close/>
                </a:path>
              </a:pathLst>
            </a:custGeom>
            <a:gradFill flip="none" rotWithShape="0">
              <a:gsLst>
                <a:gs pos="1000">
                  <a:schemeClr val="accent3">
                    <a:lumMod val="60000"/>
                    <a:lumOff val="40000"/>
                  </a:schemeClr>
                </a:gs>
                <a:gs pos="100000">
                  <a:schemeClr val="accent3"/>
                </a:gs>
              </a:gsLst>
              <a:lin ang="5400000" scaled="1"/>
              <a:tileRect/>
            </a:gradFill>
            <a:ln>
              <a:noFill/>
            </a:ln>
          </p:spPr>
          <p:txBody>
            <a:bodyPr vert="horz" wrap="square" lIns="91440" tIns="45720" rIns="91440" bIns="45720" numCol="1" anchor="t" anchorCtr="0" compatLnSpc="1"/>
            <a:lstStyle/>
            <a:p>
              <a:endParaRPr lang="id-ID">
                <a:cs typeface="+mn-ea"/>
                <a:sym typeface="+mn-lt"/>
              </a:endParaRPr>
            </a:p>
          </p:txBody>
        </p:sp>
        <p:sp>
          <p:nvSpPr>
            <p:cNvPr id="4" name="islide-3"/>
            <p:cNvSpPr/>
            <p:nvPr/>
          </p:nvSpPr>
          <p:spPr>
            <a:xfrm rot="16200000">
              <a:off x="6159628" y="4225201"/>
              <a:ext cx="1324101" cy="1324101"/>
            </a:xfrm>
            <a:custGeom>
              <a:avLst/>
              <a:gdLst>
                <a:gd name="connsiteX0" fmla="*/ 0 w 1324101"/>
                <a:gd name="connsiteY0" fmla="*/ 662051 h 1324101"/>
                <a:gd name="connsiteX1" fmla="*/ 662051 w 1324101"/>
                <a:gd name="connsiteY1" fmla="*/ 0 h 1324101"/>
                <a:gd name="connsiteX2" fmla="*/ 1324101 w 1324101"/>
                <a:gd name="connsiteY2" fmla="*/ 0 h 1324101"/>
                <a:gd name="connsiteX3" fmla="*/ 1324101 w 1324101"/>
                <a:gd name="connsiteY3" fmla="*/ 662051 h 1324101"/>
                <a:gd name="connsiteX4" fmla="*/ 662050 w 1324101"/>
                <a:gd name="connsiteY4" fmla="*/ 1324102 h 1324101"/>
                <a:gd name="connsiteX5" fmla="*/ -1 w 1324101"/>
                <a:gd name="connsiteY5" fmla="*/ 662051 h 1324101"/>
                <a:gd name="connsiteX6" fmla="*/ 0 w 1324101"/>
                <a:gd name="connsiteY6" fmla="*/ 662051 h 13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4101" h="1324101">
                  <a:moveTo>
                    <a:pt x="0" y="662051"/>
                  </a:moveTo>
                  <a:cubicBezTo>
                    <a:pt x="0" y="296410"/>
                    <a:pt x="296410" y="0"/>
                    <a:pt x="662051" y="0"/>
                  </a:cubicBezTo>
                  <a:lnTo>
                    <a:pt x="1324101" y="0"/>
                  </a:lnTo>
                  <a:lnTo>
                    <a:pt x="1324101" y="662051"/>
                  </a:lnTo>
                  <a:cubicBezTo>
                    <a:pt x="1324101" y="1027692"/>
                    <a:pt x="1027691" y="1324102"/>
                    <a:pt x="662050" y="1324102"/>
                  </a:cubicBezTo>
                  <a:cubicBezTo>
                    <a:pt x="296409" y="1324102"/>
                    <a:pt x="-1" y="1027692"/>
                    <a:pt x="-1" y="662051"/>
                  </a:cubicBezTo>
                  <a:lnTo>
                    <a:pt x="0" y="662051"/>
                  </a:lnTo>
                  <a:close/>
                </a:path>
              </a:pathLst>
            </a:custGeom>
            <a:gradFill flip="none" rotWithShape="0">
              <a:gsLst>
                <a:gs pos="1000">
                  <a:schemeClr val="accent1">
                    <a:lumMod val="60000"/>
                    <a:lumOff val="40000"/>
                  </a:schemeClr>
                </a:gs>
                <a:gs pos="100000">
                  <a:schemeClr val="accent1"/>
                </a:gs>
              </a:gsLst>
              <a:lin ang="16200000" scaled="1"/>
              <a:tileRect/>
            </a:gradFill>
            <a:ln>
              <a:noFill/>
            </a:ln>
          </p:spPr>
          <p:txBody>
            <a:bodyPr vert="horz" wrap="square" lIns="91440" tIns="45720" rIns="91440" bIns="45720" numCol="1" anchor="t" anchorCtr="0" compatLnSpc="1"/>
            <a:lstStyle/>
            <a:p>
              <a:endParaRPr lang="id-ID">
                <a:solidFill>
                  <a:schemeClr val="tx1"/>
                </a:solidFill>
                <a:cs typeface="+mn-ea"/>
                <a:sym typeface="+mn-lt"/>
              </a:endParaRPr>
            </a:p>
          </p:txBody>
        </p:sp>
        <p:sp>
          <p:nvSpPr>
            <p:cNvPr id="5" name="islide-4"/>
            <p:cNvSpPr/>
            <p:nvPr/>
          </p:nvSpPr>
          <p:spPr>
            <a:xfrm rot="5400000">
              <a:off x="4695947" y="2760770"/>
              <a:ext cx="1324101" cy="1324101"/>
            </a:xfrm>
            <a:custGeom>
              <a:avLst/>
              <a:gdLst>
                <a:gd name="connsiteX0" fmla="*/ 0 w 1324101"/>
                <a:gd name="connsiteY0" fmla="*/ 662051 h 1324101"/>
                <a:gd name="connsiteX1" fmla="*/ 662051 w 1324101"/>
                <a:gd name="connsiteY1" fmla="*/ 0 h 1324101"/>
                <a:gd name="connsiteX2" fmla="*/ 1324101 w 1324101"/>
                <a:gd name="connsiteY2" fmla="*/ 0 h 1324101"/>
                <a:gd name="connsiteX3" fmla="*/ 1324101 w 1324101"/>
                <a:gd name="connsiteY3" fmla="*/ 662051 h 1324101"/>
                <a:gd name="connsiteX4" fmla="*/ 662050 w 1324101"/>
                <a:gd name="connsiteY4" fmla="*/ 1324102 h 1324101"/>
                <a:gd name="connsiteX5" fmla="*/ -1 w 1324101"/>
                <a:gd name="connsiteY5" fmla="*/ 662051 h 1324101"/>
                <a:gd name="connsiteX6" fmla="*/ 0 w 1324101"/>
                <a:gd name="connsiteY6" fmla="*/ 662051 h 13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4101" h="1324101">
                  <a:moveTo>
                    <a:pt x="0" y="662051"/>
                  </a:moveTo>
                  <a:cubicBezTo>
                    <a:pt x="0" y="296410"/>
                    <a:pt x="296410" y="0"/>
                    <a:pt x="662051" y="0"/>
                  </a:cubicBezTo>
                  <a:lnTo>
                    <a:pt x="1324101" y="0"/>
                  </a:lnTo>
                  <a:lnTo>
                    <a:pt x="1324101" y="662051"/>
                  </a:lnTo>
                  <a:cubicBezTo>
                    <a:pt x="1324101" y="1027692"/>
                    <a:pt x="1027691" y="1324102"/>
                    <a:pt x="662050" y="1324102"/>
                  </a:cubicBezTo>
                  <a:cubicBezTo>
                    <a:pt x="296409" y="1324102"/>
                    <a:pt x="-1" y="1027692"/>
                    <a:pt x="-1" y="662051"/>
                  </a:cubicBezTo>
                  <a:lnTo>
                    <a:pt x="0" y="662051"/>
                  </a:lnTo>
                  <a:close/>
                </a:path>
              </a:pathLst>
            </a:custGeom>
            <a:gradFill flip="none" rotWithShape="0">
              <a:gsLst>
                <a:gs pos="1000">
                  <a:schemeClr val="accent1">
                    <a:lumMod val="60000"/>
                    <a:lumOff val="40000"/>
                  </a:schemeClr>
                </a:gs>
                <a:gs pos="100000">
                  <a:schemeClr val="accent1"/>
                </a:gs>
              </a:gsLst>
              <a:lin ang="5400000" scaled="1"/>
              <a:tileRect/>
            </a:gradFill>
            <a:ln>
              <a:noFill/>
            </a:ln>
          </p:spPr>
          <p:txBody>
            <a:bodyPr vert="horz" wrap="square" lIns="91440" tIns="45720" rIns="91440" bIns="45720" numCol="1" anchor="t" anchorCtr="0" compatLnSpc="1"/>
            <a:lstStyle/>
            <a:p>
              <a:endParaRPr lang="id-ID">
                <a:cs typeface="+mn-ea"/>
                <a:sym typeface="+mn-lt"/>
              </a:endParaRPr>
            </a:p>
          </p:txBody>
        </p:sp>
        <p:sp>
          <p:nvSpPr>
            <p:cNvPr id="6" name="islide-5"/>
            <p:cNvSpPr/>
            <p:nvPr/>
          </p:nvSpPr>
          <p:spPr>
            <a:xfrm>
              <a:off x="4695571" y="4224826"/>
              <a:ext cx="1324101" cy="1324101"/>
            </a:xfrm>
            <a:custGeom>
              <a:avLst/>
              <a:gdLst>
                <a:gd name="connsiteX0" fmla="*/ 0 w 1324101"/>
                <a:gd name="connsiteY0" fmla="*/ 662051 h 1324101"/>
                <a:gd name="connsiteX1" fmla="*/ 662051 w 1324101"/>
                <a:gd name="connsiteY1" fmla="*/ 0 h 1324101"/>
                <a:gd name="connsiteX2" fmla="*/ 1324101 w 1324101"/>
                <a:gd name="connsiteY2" fmla="*/ 0 h 1324101"/>
                <a:gd name="connsiteX3" fmla="*/ 1324101 w 1324101"/>
                <a:gd name="connsiteY3" fmla="*/ 662051 h 1324101"/>
                <a:gd name="connsiteX4" fmla="*/ 662050 w 1324101"/>
                <a:gd name="connsiteY4" fmla="*/ 1324102 h 1324101"/>
                <a:gd name="connsiteX5" fmla="*/ -1 w 1324101"/>
                <a:gd name="connsiteY5" fmla="*/ 662051 h 1324101"/>
                <a:gd name="connsiteX6" fmla="*/ 0 w 1324101"/>
                <a:gd name="connsiteY6" fmla="*/ 662051 h 13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4101" h="1324101">
                  <a:moveTo>
                    <a:pt x="0" y="662051"/>
                  </a:moveTo>
                  <a:cubicBezTo>
                    <a:pt x="0" y="296410"/>
                    <a:pt x="296410" y="0"/>
                    <a:pt x="662051" y="0"/>
                  </a:cubicBezTo>
                  <a:lnTo>
                    <a:pt x="1324101" y="0"/>
                  </a:lnTo>
                  <a:lnTo>
                    <a:pt x="1324101" y="662051"/>
                  </a:lnTo>
                  <a:cubicBezTo>
                    <a:pt x="1324101" y="1027692"/>
                    <a:pt x="1027691" y="1324102"/>
                    <a:pt x="662050" y="1324102"/>
                  </a:cubicBezTo>
                  <a:cubicBezTo>
                    <a:pt x="296409" y="1324102"/>
                    <a:pt x="-1" y="1027692"/>
                    <a:pt x="-1" y="662051"/>
                  </a:cubicBezTo>
                  <a:lnTo>
                    <a:pt x="0" y="662051"/>
                  </a:lnTo>
                  <a:close/>
                </a:path>
              </a:pathLst>
            </a:custGeom>
            <a:gradFill flip="none" rotWithShape="1">
              <a:gsLst>
                <a:gs pos="1000">
                  <a:schemeClr val="accent3">
                    <a:lumMod val="60000"/>
                    <a:lumOff val="40000"/>
                  </a:schemeClr>
                </a:gs>
                <a:gs pos="100000">
                  <a:schemeClr val="accent3"/>
                </a:gs>
              </a:gsLst>
              <a:lin ang="16200000" scaled="1"/>
              <a:tileRect/>
            </a:gradFill>
            <a:ln>
              <a:noFill/>
            </a:ln>
          </p:spPr>
          <p:txBody>
            <a:bodyPr vert="horz" wrap="square" lIns="91440" tIns="45720" rIns="91440" bIns="45720" numCol="1" anchor="t" anchorCtr="0" compatLnSpc="1"/>
            <a:lstStyle/>
            <a:p>
              <a:endParaRPr lang="id-ID">
                <a:cs typeface="+mn-ea"/>
                <a:sym typeface="+mn-lt"/>
              </a:endParaRPr>
            </a:p>
          </p:txBody>
        </p:sp>
        <p:sp>
          <p:nvSpPr>
            <p:cNvPr id="11" name="Title"/>
            <p:cNvSpPr txBox="1"/>
            <p:nvPr/>
          </p:nvSpPr>
          <p:spPr>
            <a:xfrm>
              <a:off x="660400" y="1130300"/>
              <a:ext cx="10858500" cy="523220"/>
            </a:xfrm>
            <a:prstGeom prst="rect">
              <a:avLst/>
            </a:prstGeom>
            <a:noFill/>
          </p:spPr>
          <p:txBody>
            <a:bodyPr wrap="square" lIns="91440" tIns="45720" rIns="91440" bIns="45720" rtlCol="0" anchor="t" anchorCtr="0">
              <a:norm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algn="ctr" defTabSz="914400" rtl="0" eaLnBrk="1" fontAlgn="auto" latinLnBrk="0" hangingPunct="1">
                <a:spcBef>
                  <a:spcPts val="0"/>
                </a:spcBef>
                <a:spcAft>
                  <a:spcPts val="100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Four-step process for building the final Meta Causal Graph in MetaRCA</a:t>
              </a:r>
              <a:endParaRPr kumimoji="0" lang="zh-CN" altLang="en-US" sz="2000" b="1" i="0" u="none" strike="noStrike" kern="1200" cap="none" spc="0" normalizeH="0" baseline="0" noProof="0" dirty="0">
                <a:ln>
                  <a:noFill/>
                </a:ln>
                <a:solidFill>
                  <a:schemeClr val="tx1"/>
                </a:solidFill>
                <a:effectLst/>
                <a:uLnTx/>
                <a:uFillTx/>
                <a:latin typeface="+mn-lt"/>
                <a:ea typeface="+mn-ea"/>
                <a:cs typeface="+mn-ea"/>
                <a:sym typeface="+mn-lt"/>
              </a:endParaRPr>
            </a:p>
          </p:txBody>
        </p:sp>
        <p:grpSp>
          <p:nvGrpSpPr>
            <p:cNvPr id="12" name="组合 11"/>
            <p:cNvGrpSpPr/>
            <p:nvPr/>
          </p:nvGrpSpPr>
          <p:grpSpPr>
            <a:xfrm>
              <a:off x="660400" y="2573468"/>
              <a:ext cx="5100321" cy="1352101"/>
              <a:chOff x="660400" y="2573468"/>
              <a:chExt cx="5100321" cy="1352101"/>
            </a:xfrm>
          </p:grpSpPr>
          <p:sp>
            <p:nvSpPr>
              <p:cNvPr id="7" name="Number1"/>
              <p:cNvSpPr/>
              <p:nvPr/>
            </p:nvSpPr>
            <p:spPr>
              <a:xfrm>
                <a:off x="4954788" y="3019986"/>
                <a:ext cx="805933" cy="80593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dirty="0">
                    <a:solidFill>
                      <a:schemeClr val="accent1"/>
                    </a:solidFill>
                    <a:cs typeface="+mn-ea"/>
                    <a:sym typeface="+mn-lt"/>
                  </a:rPr>
                  <a:t>1</a:t>
                </a:r>
                <a:endParaRPr lang="id-ID" sz="2400" b="1" dirty="0">
                  <a:solidFill>
                    <a:schemeClr val="accent1"/>
                  </a:solidFill>
                  <a:cs typeface="+mn-ea"/>
                  <a:sym typeface="+mn-lt"/>
                </a:endParaRPr>
              </a:p>
            </p:txBody>
          </p:sp>
          <p:sp>
            <p:nvSpPr>
              <p:cNvPr id="17" name="Text1"/>
              <p:cNvSpPr/>
              <p:nvPr/>
            </p:nvSpPr>
            <p:spPr>
              <a:xfrm>
                <a:off x="660400" y="3034876"/>
                <a:ext cx="3600000" cy="890693"/>
              </a:xfrm>
              <a:prstGeom prst="rect">
                <a:avLst/>
              </a:prstGeom>
            </p:spPr>
            <p:txBody>
              <a:bodyPr wrap="square" lIns="91440" tIns="45720" rIns="91440" bIns="45720">
                <a:normAutofit/>
              </a:bodyPr>
              <a:lstStyle/>
              <a:p>
                <a:pPr algn="r">
                  <a:lnSpc>
                    <a:spcPct val="120000"/>
                  </a:lnSpc>
                </a:pPr>
                <a:r>
                  <a:rPr lang="da-DK" altLang="zh-CN" sz="1200">
                    <a:cs typeface="+mn-ea"/>
                    <a:sym typeface="+mn-lt"/>
                  </a:rPr>
                  <a:t>Covers 17 cloud-native component types Derived from 36 systems: * 32 production systems * 4 open-source systems Extracted from CMDBs and deployment diagrams Refined by expert interviews</a:t>
                </a:r>
                <a:endParaRPr lang="zh-CN" altLang="en-US" sz="1200" dirty="0">
                  <a:cs typeface="+mn-ea"/>
                  <a:sym typeface="+mn-lt"/>
                </a:endParaRPr>
              </a:p>
            </p:txBody>
          </p:sp>
          <p:sp>
            <p:nvSpPr>
              <p:cNvPr id="18" name="Bullet1"/>
              <p:cNvSpPr/>
              <p:nvPr/>
            </p:nvSpPr>
            <p:spPr>
              <a:xfrm>
                <a:off x="660400" y="2573468"/>
                <a:ext cx="3600000" cy="430374"/>
              </a:xfrm>
              <a:prstGeom prst="rect">
                <a:avLst/>
              </a:prstGeom>
            </p:spPr>
            <p:txBody>
              <a:bodyPr wrap="square" lIns="91440" tIns="45720" rIns="91440" bIns="45720">
                <a:normAutofit/>
              </a:bodyPr>
              <a:lstStyle/>
              <a:p>
                <a:pPr algn="r"/>
                <a:r>
                  <a:rPr lang="en-US" altLang="zh-CN" sz="1600" b="1">
                    <a:cs typeface="+mn-ea"/>
                    <a:sym typeface="+mn-lt"/>
                  </a:rPr>
                  <a:t>Metadata Ontology</a:t>
                </a:r>
                <a:endParaRPr lang="zh-CN" altLang="en-US" sz="1600" b="1" dirty="0">
                  <a:cs typeface="+mn-ea"/>
                  <a:sym typeface="+mn-lt"/>
                </a:endParaRPr>
              </a:p>
            </p:txBody>
          </p:sp>
        </p:grpSp>
        <p:grpSp>
          <p:nvGrpSpPr>
            <p:cNvPr id="15" name="组合 14"/>
            <p:cNvGrpSpPr/>
            <p:nvPr/>
          </p:nvGrpSpPr>
          <p:grpSpPr>
            <a:xfrm>
              <a:off x="660400" y="4384502"/>
              <a:ext cx="5122733" cy="1352102"/>
              <a:chOff x="660400" y="4384502"/>
              <a:chExt cx="5122733" cy="1352102"/>
            </a:xfrm>
          </p:grpSpPr>
          <p:sp>
            <p:nvSpPr>
              <p:cNvPr id="10" name="Number2"/>
              <p:cNvSpPr/>
              <p:nvPr/>
            </p:nvSpPr>
            <p:spPr>
              <a:xfrm>
                <a:off x="4977200" y="4479393"/>
                <a:ext cx="805933" cy="80593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dirty="0">
                    <a:solidFill>
                      <a:schemeClr val="accent3"/>
                    </a:solidFill>
                    <a:cs typeface="+mn-ea"/>
                    <a:sym typeface="+mn-lt"/>
                  </a:rPr>
                  <a:t>2</a:t>
                </a:r>
                <a:endParaRPr lang="id-ID" sz="2400" b="1" dirty="0">
                  <a:solidFill>
                    <a:schemeClr val="accent3"/>
                  </a:solidFill>
                  <a:cs typeface="+mn-ea"/>
                  <a:sym typeface="+mn-lt"/>
                </a:endParaRPr>
              </a:p>
            </p:txBody>
          </p:sp>
          <p:sp>
            <p:nvSpPr>
              <p:cNvPr id="19" name="Text2"/>
              <p:cNvSpPr/>
              <p:nvPr/>
            </p:nvSpPr>
            <p:spPr>
              <a:xfrm>
                <a:off x="660400" y="4845911"/>
                <a:ext cx="3600000" cy="890693"/>
              </a:xfrm>
              <a:prstGeom prst="rect">
                <a:avLst/>
              </a:prstGeom>
            </p:spPr>
            <p:txBody>
              <a:bodyPr wrap="square" lIns="91440" tIns="45720" rIns="91440" bIns="45720">
                <a:normAutofit/>
              </a:bodyPr>
              <a:lstStyle/>
              <a:p>
                <a:pPr algn="r">
                  <a:lnSpc>
                    <a:spcPct val="120000"/>
                  </a:lnSpc>
                </a:pPr>
                <a:r>
                  <a:rPr lang="pt-BR" altLang="zh-CN" sz="1200">
                    <a:cs typeface="+mn-ea"/>
                    <a:sym typeface="+mn-lt"/>
                  </a:rPr>
                  <a:t>Uses Google Gemini 2.5 Flash to bootstrap the initial MCG Initial CBS of each bootstrapped edge is set to 0.5</a:t>
                </a:r>
                <a:endParaRPr lang="zh-CN" altLang="en-US" sz="1200" dirty="0">
                  <a:cs typeface="+mn-ea"/>
                  <a:sym typeface="+mn-lt"/>
                </a:endParaRPr>
              </a:p>
            </p:txBody>
          </p:sp>
          <p:sp>
            <p:nvSpPr>
              <p:cNvPr id="20" name="Bullet2"/>
              <p:cNvSpPr/>
              <p:nvPr/>
            </p:nvSpPr>
            <p:spPr>
              <a:xfrm>
                <a:off x="660400" y="4384502"/>
                <a:ext cx="3600000" cy="430374"/>
              </a:xfrm>
              <a:prstGeom prst="rect">
                <a:avLst/>
              </a:prstGeom>
            </p:spPr>
            <p:txBody>
              <a:bodyPr wrap="square" lIns="91440" tIns="45720" rIns="91440" bIns="45720">
                <a:normAutofit/>
              </a:bodyPr>
              <a:lstStyle/>
              <a:p>
                <a:pPr algn="r"/>
                <a:r>
                  <a:rPr lang="en-US" altLang="zh-CN" sz="1600" b="1">
                    <a:cs typeface="+mn-ea"/>
                    <a:sym typeface="+mn-lt"/>
                  </a:rPr>
                  <a:t>LLM-based Skeleton MCG</a:t>
                </a:r>
                <a:endParaRPr lang="zh-CN" altLang="en-US" sz="1600" b="1" dirty="0">
                  <a:cs typeface="+mn-ea"/>
                  <a:sym typeface="+mn-lt"/>
                </a:endParaRPr>
              </a:p>
            </p:txBody>
          </p:sp>
        </p:grpSp>
        <p:grpSp>
          <p:nvGrpSpPr>
            <p:cNvPr id="14" name="组合 13"/>
            <p:cNvGrpSpPr/>
            <p:nvPr/>
          </p:nvGrpSpPr>
          <p:grpSpPr>
            <a:xfrm>
              <a:off x="6423767" y="2573468"/>
              <a:ext cx="5095133" cy="1352101"/>
              <a:chOff x="6423767" y="2573468"/>
              <a:chExt cx="5095133" cy="1352101"/>
            </a:xfrm>
          </p:grpSpPr>
          <p:sp>
            <p:nvSpPr>
              <p:cNvPr id="9" name="Number3"/>
              <p:cNvSpPr/>
              <p:nvPr/>
            </p:nvSpPr>
            <p:spPr>
              <a:xfrm>
                <a:off x="6423767" y="3040315"/>
                <a:ext cx="805933" cy="80593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dirty="0">
                    <a:solidFill>
                      <a:schemeClr val="accent3"/>
                    </a:solidFill>
                    <a:cs typeface="+mn-ea"/>
                    <a:sym typeface="+mn-lt"/>
                  </a:rPr>
                  <a:t>3</a:t>
                </a:r>
                <a:endParaRPr lang="id-ID" sz="2400" b="1" dirty="0">
                  <a:solidFill>
                    <a:schemeClr val="accent3"/>
                  </a:solidFill>
                  <a:cs typeface="+mn-ea"/>
                  <a:sym typeface="+mn-lt"/>
                </a:endParaRPr>
              </a:p>
            </p:txBody>
          </p:sp>
          <p:sp>
            <p:nvSpPr>
              <p:cNvPr id="21" name="Text3"/>
              <p:cNvSpPr/>
              <p:nvPr/>
            </p:nvSpPr>
            <p:spPr>
              <a:xfrm>
                <a:off x="7918900" y="3034876"/>
                <a:ext cx="3600000" cy="890693"/>
              </a:xfrm>
              <a:prstGeom prst="rect">
                <a:avLst/>
              </a:prstGeom>
            </p:spPr>
            <p:txBody>
              <a:bodyPr wrap="square" lIns="91440" tIns="45720" rIns="91440" bIns="45720">
                <a:normAutofit/>
              </a:bodyPr>
              <a:lstStyle/>
              <a:p>
                <a:pPr>
                  <a:lnSpc>
                    <a:spcPct val="120000"/>
                  </a:lnSpc>
                </a:pPr>
                <a:r>
                  <a:rPr lang="da-DK" altLang="zh-CN" sz="1200">
                    <a:cs typeface="+mn-ea"/>
                    <a:sym typeface="+mn-lt"/>
                  </a:rPr>
                  <a:t>Case evidence * 563 fault reports from 100+ production systems * Time span: Jan. 2020 – Mar. 2025 * Uses DeepSeek R1-70B for extraction and semantic alignment Statistical evidence * 375 cases from RCAEval-RE1 * 239 cases from AIOPS2022 * Uses PCMCI with α = 0.05</a:t>
                </a:r>
                <a:endParaRPr lang="zh-CN" altLang="en-US" sz="1200" dirty="0">
                  <a:cs typeface="+mn-ea"/>
                  <a:sym typeface="+mn-lt"/>
                </a:endParaRPr>
              </a:p>
            </p:txBody>
          </p:sp>
          <p:sp>
            <p:nvSpPr>
              <p:cNvPr id="22" name="Bullet3"/>
              <p:cNvSpPr/>
              <p:nvPr/>
            </p:nvSpPr>
            <p:spPr>
              <a:xfrm>
                <a:off x="7918900" y="2573468"/>
                <a:ext cx="3600000" cy="430374"/>
              </a:xfrm>
              <a:prstGeom prst="rect">
                <a:avLst/>
              </a:prstGeom>
            </p:spPr>
            <p:txBody>
              <a:bodyPr wrap="square" lIns="91440" tIns="45720" rIns="91440" bIns="45720">
                <a:normAutofit/>
              </a:bodyPr>
              <a:lstStyle/>
              <a:p>
                <a:r>
                  <a:rPr lang="en-US" altLang="zh-CN" sz="1600" b="1">
                    <a:cs typeface="+mn-ea"/>
                    <a:sym typeface="+mn-lt"/>
                  </a:rPr>
                  <a:t>Evidence Extraction</a:t>
                </a:r>
                <a:endParaRPr lang="zh-CN" altLang="en-US" sz="1600" b="1" dirty="0">
                  <a:cs typeface="+mn-ea"/>
                  <a:sym typeface="+mn-lt"/>
                </a:endParaRPr>
              </a:p>
            </p:txBody>
          </p:sp>
        </p:grpSp>
        <p:grpSp>
          <p:nvGrpSpPr>
            <p:cNvPr id="13" name="组合 12"/>
            <p:cNvGrpSpPr/>
            <p:nvPr/>
          </p:nvGrpSpPr>
          <p:grpSpPr>
            <a:xfrm>
              <a:off x="6418508" y="4384502"/>
              <a:ext cx="5100392" cy="1352102"/>
              <a:chOff x="6418508" y="4384502"/>
              <a:chExt cx="5100392" cy="1352102"/>
            </a:xfrm>
          </p:grpSpPr>
          <p:sp>
            <p:nvSpPr>
              <p:cNvPr id="8" name="Number4"/>
              <p:cNvSpPr/>
              <p:nvPr/>
            </p:nvSpPr>
            <p:spPr>
              <a:xfrm>
                <a:off x="6418508" y="4488726"/>
                <a:ext cx="805933" cy="80593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dirty="0">
                    <a:solidFill>
                      <a:schemeClr val="accent1"/>
                    </a:solidFill>
                    <a:cs typeface="+mn-ea"/>
                    <a:sym typeface="+mn-lt"/>
                  </a:rPr>
                  <a:t>4</a:t>
                </a:r>
                <a:endParaRPr lang="id-ID" sz="2400" b="1" dirty="0">
                  <a:solidFill>
                    <a:schemeClr val="accent1"/>
                  </a:solidFill>
                  <a:cs typeface="+mn-ea"/>
                  <a:sym typeface="+mn-lt"/>
                </a:endParaRPr>
              </a:p>
            </p:txBody>
          </p:sp>
          <p:sp>
            <p:nvSpPr>
              <p:cNvPr id="23" name="Text4"/>
              <p:cNvSpPr/>
              <p:nvPr/>
            </p:nvSpPr>
            <p:spPr>
              <a:xfrm>
                <a:off x="7918900" y="4845911"/>
                <a:ext cx="3600000" cy="890693"/>
              </a:xfrm>
              <a:prstGeom prst="rect">
                <a:avLst/>
              </a:prstGeom>
            </p:spPr>
            <p:txBody>
              <a:bodyPr wrap="square" lIns="91440" tIns="45720" rIns="91440" bIns="45720">
                <a:normAutofit/>
              </a:bodyPr>
              <a:lstStyle/>
              <a:p>
                <a:pPr>
                  <a:lnSpc>
                    <a:spcPct val="120000"/>
                  </a:lnSpc>
                </a:pPr>
                <a:r>
                  <a:rPr lang="it-IT" altLang="zh-CN" sz="1200">
                    <a:cs typeface="+mn-ea"/>
                    <a:sym typeface="+mn-lt"/>
                  </a:rPr>
                  <a:t>Incident report weight: λ_fr = 0.5 Data-driven evidence weight: λ_da = 0.05 Temporal decay constant: k = 0.005</a:t>
                </a:r>
                <a:endParaRPr lang="zh-CN" altLang="en-US" sz="1200" dirty="0">
                  <a:cs typeface="+mn-ea"/>
                  <a:sym typeface="+mn-lt"/>
                </a:endParaRPr>
              </a:p>
            </p:txBody>
          </p:sp>
          <p:sp>
            <p:nvSpPr>
              <p:cNvPr id="24" name="Bullet4"/>
              <p:cNvSpPr/>
              <p:nvPr/>
            </p:nvSpPr>
            <p:spPr>
              <a:xfrm>
                <a:off x="7918900" y="4384502"/>
                <a:ext cx="3600000" cy="430374"/>
              </a:xfrm>
              <a:prstGeom prst="rect">
                <a:avLst/>
              </a:prstGeom>
            </p:spPr>
            <p:txBody>
              <a:bodyPr wrap="square" lIns="91440" tIns="45720" rIns="91440" bIns="45720">
                <a:normAutofit/>
              </a:bodyPr>
              <a:lstStyle/>
              <a:p>
                <a:r>
                  <a:rPr lang="en-US" altLang="zh-CN" sz="1600" b="1">
                    <a:cs typeface="+mn-ea"/>
                    <a:sym typeface="+mn-lt"/>
                  </a:rPr>
                  <a:t>Evidence Fusion</a:t>
                </a:r>
                <a:endParaRPr lang="zh-CN" altLang="en-US" sz="1600" b="1" dirty="0">
                  <a:cs typeface="+mn-ea"/>
                  <a:sym typeface="+mn-lt"/>
                </a:endParaRPr>
              </a:p>
            </p:txBody>
          </p:sp>
        </p:grpSp>
      </p:grpSp>
      <p:sp>
        <p:nvSpPr>
          <p:cNvPr id="16" name="标题 15"/>
          <p:cNvSpPr>
            <a:spLocks noGrp="1"/>
          </p:cNvSpPr>
          <p:nvPr>
            <p:ph type="title" hasCustomPrompt="1"/>
          </p:nvPr>
        </p:nvSpPr>
        <p:spPr/>
        <p:txBody>
          <a:bodyPr/>
          <a:lstStyle>
            <a:lvl1pPr>
              <a:defRPr/>
            </a:lvl1pPr>
          </a:lstStyle>
          <a:p>
            <a:pPr lvl="0"/>
            <a:r>
              <a:rPr lang="zh-CN" altLang="en-US"/>
              <a:t>Implementation of MCG</a:t>
            </a:r>
            <a:endParaRPr lang="en-US"/>
          </a:p>
        </p:txBody>
      </p:sp>
      <p:sp>
        <p:nvSpPr>
          <p:cNvPr id="25" name="日期占位符 24"/>
          <p:cNvSpPr>
            <a:spLocks noGrp="1"/>
          </p:cNvSpPr>
          <p:nvPr>
            <p:ph type="dt" sz="half" idx="10"/>
          </p:nvPr>
        </p:nvSpPr>
        <p:spPr/>
        <p:txBody>
          <a:bodyPr/>
          <a:lstStyle/>
          <a:p>
            <a:endParaRPr lang="en-US"/>
          </a:p>
        </p:txBody>
      </p:sp>
      <p:sp>
        <p:nvSpPr>
          <p:cNvPr id="27" name="页脚占位符 26"/>
          <p:cNvSpPr>
            <a:spLocks noGrp="1"/>
          </p:cNvSpPr>
          <p:nvPr>
            <p:ph type="ftr" sz="quarter" idx="11"/>
          </p:nvPr>
        </p:nvSpPr>
        <p:spPr/>
        <p:txBody>
          <a:bodyPr/>
          <a:lstStyle/>
          <a:p>
            <a:endParaRPr lang="en-US"/>
          </a:p>
        </p:txBody>
      </p:sp>
      <p:sp>
        <p:nvSpPr>
          <p:cNvPr id="28" name="灯片编号占位符 27"/>
          <p:cNvSpPr>
            <a:spLocks noGrp="1"/>
          </p:cNvSpPr>
          <p:nvPr>
            <p:ph type="sldNum" sz="quarter" idx="12"/>
          </p:nvPr>
        </p:nvSpPr>
        <p:spPr/>
        <p:txBody>
          <a:bodyPr/>
          <a:lstStyle/>
          <a:p>
            <a:fld id="{C8BB1146-E542-4D4E-B8E9-6919A11DDD48}" type="slidenum">
              <a:rPr lang="en-US" smtClean="0"/>
            </a:fld>
            <a:endParaRPr lang="en-US"/>
          </a:p>
        </p:txBody>
      </p:sp>
    </p:spTree>
    <p:custDataLst>
      <p:tags r:id="rId1"/>
    </p:custData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4f2a26cf-8e24-4fe5-97e7-2e245b41b5d3.source.2.zh-Hans.pptx"/>
          <p:cNvGrpSpPr/>
          <p:nvPr/>
        </p:nvGrpSpPr>
        <p:grpSpPr>
          <a:xfrm>
            <a:off x="660399" y="1130300"/>
            <a:ext cx="10858501" cy="5003800"/>
            <a:chOff x="660399" y="1130300"/>
            <a:chExt cx="10858501" cy="5003800"/>
          </a:xfrm>
        </p:grpSpPr>
        <p:sp>
          <p:nvSpPr>
            <p:cNvPr id="11" name="Title"/>
            <p:cNvSpPr/>
            <p:nvPr/>
          </p:nvSpPr>
          <p:spPr>
            <a:xfrm>
              <a:off x="660400" y="1130300"/>
              <a:ext cx="10858500" cy="9023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buSzPct val="25000"/>
              </a:pPr>
              <a:r>
                <a:rPr lang="zh-CN" altLang="en-US" sz="20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MetaRCA is evaluated on two categories of datasets: Real-world production dataset and Public RCA benchmark dataset Evaluation Datasets</a:t>
              </a:r>
              <a:endParaRPr lang="en-US" dirty="0"/>
            </a:p>
          </p:txBody>
        </p:sp>
        <p:grpSp>
          <p:nvGrpSpPr>
            <p:cNvPr id="17" name="组合 16"/>
            <p:cNvGrpSpPr/>
            <p:nvPr/>
          </p:nvGrpSpPr>
          <p:grpSpPr>
            <a:xfrm>
              <a:off x="660399" y="2122962"/>
              <a:ext cx="10858500" cy="4011138"/>
              <a:chOff x="660399" y="2122962"/>
              <a:chExt cx="10858500" cy="4011138"/>
            </a:xfrm>
          </p:grpSpPr>
          <p:grpSp>
            <p:nvGrpSpPr>
              <p:cNvPr id="13" name="组合 12"/>
              <p:cNvGrpSpPr/>
              <p:nvPr/>
            </p:nvGrpSpPr>
            <p:grpSpPr>
              <a:xfrm>
                <a:off x="660400" y="2122962"/>
                <a:ext cx="10858499" cy="1905594"/>
                <a:chOff x="660400" y="2221657"/>
                <a:chExt cx="11786341" cy="1863563"/>
              </a:xfrm>
            </p:grpSpPr>
            <p:sp>
              <p:nvSpPr>
                <p:cNvPr id="5" name="矩形: 圆角 4"/>
                <p:cNvSpPr/>
                <p:nvPr/>
              </p:nvSpPr>
              <p:spPr>
                <a:xfrm>
                  <a:off x="660400" y="2221657"/>
                  <a:ext cx="11786341" cy="1863563"/>
                </a:xfrm>
                <a:prstGeom prst="roundRect">
                  <a:avLst>
                    <a:gd name="adj" fmla="val 0"/>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p>
              </p:txBody>
            </p:sp>
            <p:grpSp>
              <p:nvGrpSpPr>
                <p:cNvPr id="12" name="组合 11"/>
                <p:cNvGrpSpPr/>
                <p:nvPr/>
              </p:nvGrpSpPr>
              <p:grpSpPr>
                <a:xfrm>
                  <a:off x="1377048" y="2282504"/>
                  <a:ext cx="10945108" cy="1725849"/>
                  <a:chOff x="1377048" y="2276013"/>
                  <a:chExt cx="10945108" cy="1725849"/>
                </a:xfrm>
              </p:grpSpPr>
              <p:sp>
                <p:nvSpPr>
                  <p:cNvPr id="3" name="Text1"/>
                  <p:cNvSpPr txBox="1"/>
                  <p:nvPr/>
                </p:nvSpPr>
                <p:spPr>
                  <a:xfrm>
                    <a:off x="1377049" y="2876323"/>
                    <a:ext cx="10945106" cy="1125539"/>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Collected from large-scale production systems at China Unicom. Source systems: cBSS and customer service system User scale: 400M+ users Evaluation cases: 59 real fault incidents System scale: 9–112 services Time span: June–August 2025 Fault types: Microservice CPU overload Third-party service latency Database congestion Traffic surges Ground truth root causes were annotated by SREs and technical experts. Important: These cases do not overlap with the reports used for offline MCG construction.</a:t>
                    </a:r>
                    <a:endParaRPr lang="en-US" dirty="0"/>
                  </a:p>
                </p:txBody>
              </p:sp>
              <p:sp>
                <p:nvSpPr>
                  <p:cNvPr id="4" name="Bullet1"/>
                  <p:cNvSpPr txBox="1"/>
                  <p:nvPr/>
                </p:nvSpPr>
                <p:spPr>
                  <a:xfrm>
                    <a:off x="1377048" y="2276013"/>
                    <a:ext cx="10945108" cy="600311"/>
                  </a:xfrm>
                  <a:prstGeom prst="rect">
                    <a:avLst/>
                  </a:prstGeom>
                  <a:noFill/>
                </p:spPr>
                <p:txBody>
                  <a:bodyPr wrap="square" rtlCol="0" anchor="ctr">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Production Dataset</a:t>
                    </a:r>
                    <a:endParaRPr lang="en-US" dirty="0"/>
                  </a:p>
                </p:txBody>
              </p:sp>
            </p:grpSp>
            <p:sp>
              <p:nvSpPr>
                <p:cNvPr id="10" name="Number1"/>
                <p:cNvSpPr/>
                <p:nvPr/>
              </p:nvSpPr>
              <p:spPr>
                <a:xfrm>
                  <a:off x="738067" y="2370580"/>
                  <a:ext cx="561313" cy="15657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6000" dirty="0">
                      <a:solidFill>
                        <a:schemeClr val="accent1"/>
                      </a:solidFill>
                    </a:rPr>
                    <a:t>1</a:t>
                  </a:r>
                  <a:endParaRPr lang="zh-CN" altLang="en-US" sz="6000" dirty="0">
                    <a:solidFill>
                      <a:schemeClr val="accent1"/>
                    </a:solidFill>
                  </a:endParaRPr>
                </a:p>
              </p:txBody>
            </p:sp>
          </p:grpSp>
          <p:grpSp>
            <p:nvGrpSpPr>
              <p:cNvPr id="2" name="组合 1"/>
              <p:cNvGrpSpPr/>
              <p:nvPr/>
            </p:nvGrpSpPr>
            <p:grpSpPr>
              <a:xfrm>
                <a:off x="660399" y="4228506"/>
                <a:ext cx="10858500" cy="1905594"/>
                <a:chOff x="660399" y="2221657"/>
                <a:chExt cx="11786342" cy="1863563"/>
              </a:xfrm>
            </p:grpSpPr>
            <p:sp>
              <p:nvSpPr>
                <p:cNvPr id="6" name="矩形: 圆角 5"/>
                <p:cNvSpPr/>
                <p:nvPr/>
              </p:nvSpPr>
              <p:spPr>
                <a:xfrm>
                  <a:off x="660399" y="2221657"/>
                  <a:ext cx="11786342" cy="1863563"/>
                </a:xfrm>
                <a:prstGeom prst="roundRect">
                  <a:avLst>
                    <a:gd name="adj" fmla="val 0"/>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p>
              </p:txBody>
            </p:sp>
            <p:grpSp>
              <p:nvGrpSpPr>
                <p:cNvPr id="7" name="组合 6"/>
                <p:cNvGrpSpPr/>
                <p:nvPr/>
              </p:nvGrpSpPr>
              <p:grpSpPr>
                <a:xfrm>
                  <a:off x="1377048" y="2282504"/>
                  <a:ext cx="10945108" cy="1725849"/>
                  <a:chOff x="1377048" y="2276013"/>
                  <a:chExt cx="10945108" cy="1725849"/>
                </a:xfrm>
              </p:grpSpPr>
              <p:sp>
                <p:nvSpPr>
                  <p:cNvPr id="9" name="Text2"/>
                  <p:cNvSpPr txBox="1"/>
                  <p:nvPr/>
                </p:nvSpPr>
                <p:spPr>
                  <a:xfrm>
                    <a:off x="1377048" y="2876323"/>
                    <a:ext cx="10945107" cy="1125539"/>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Uses RCAEval-RE2, covering three open-source microservice systems. Dataset System Cases Services RE2-OB Online Boutique 90 12 RE2-SS Sock Shop 90 15 RE2-TT Train Ticket 72 64 The benchmark contains injected faults with ground truth injection points.</a:t>
                    </a:r>
                    <a:endParaRPr lang="en-US" dirty="0"/>
                  </a:p>
                </p:txBody>
              </p:sp>
              <p:sp>
                <p:nvSpPr>
                  <p:cNvPr id="14" name="Bullet2"/>
                  <p:cNvSpPr txBox="1"/>
                  <p:nvPr/>
                </p:nvSpPr>
                <p:spPr>
                  <a:xfrm>
                    <a:off x="1377048" y="2276013"/>
                    <a:ext cx="10945108" cy="600311"/>
                  </a:xfrm>
                  <a:prstGeom prst="rect">
                    <a:avLst/>
                  </a:prstGeom>
                  <a:noFill/>
                </p:spPr>
                <p:txBody>
                  <a:bodyPr wrap="square" rtlCol="0" anchor="ctr">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Public Benchmark Dataset</a:t>
                    </a:r>
                    <a:endParaRPr lang="en-US" dirty="0"/>
                  </a:p>
                </p:txBody>
              </p:sp>
            </p:grpSp>
            <p:sp>
              <p:nvSpPr>
                <p:cNvPr id="8" name="Number2"/>
                <p:cNvSpPr/>
                <p:nvPr/>
              </p:nvSpPr>
              <p:spPr>
                <a:xfrm>
                  <a:off x="738067" y="2370580"/>
                  <a:ext cx="561313" cy="15657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6000" dirty="0">
                      <a:solidFill>
                        <a:schemeClr val="accent1"/>
                      </a:solidFill>
                    </a:rPr>
                    <a:t>2</a:t>
                  </a:r>
                  <a:endParaRPr lang="zh-CN" altLang="en-US" sz="6000" dirty="0">
                    <a:solidFill>
                      <a:schemeClr val="accent1"/>
                    </a:solidFill>
                  </a:endParaRPr>
                </a:p>
              </p:txBody>
            </p:sp>
          </p:grpSp>
        </p:grpSp>
      </p:grpSp>
      <p:sp>
        <p:nvSpPr>
          <p:cNvPr id="16" name="标题 15"/>
          <p:cNvSpPr>
            <a:spLocks noGrp="1"/>
          </p:cNvSpPr>
          <p:nvPr>
            <p:ph type="title" hasCustomPrompt="1"/>
          </p:nvPr>
        </p:nvSpPr>
        <p:spPr/>
        <p:txBody>
          <a:bodyPr/>
          <a:lstStyle/>
          <a:p>
            <a:r>
              <a:rPr lang="zh-CN" altLang="en-US" dirty="0"/>
              <a:t>Evaluation Datasets</a:t>
            </a:r>
            <a:endParaRPr lang="en-US" dirty="0"/>
          </a:p>
        </p:txBody>
      </p:sp>
      <p:sp>
        <p:nvSpPr>
          <p:cNvPr id="18" name="日期占位符 17"/>
          <p:cNvSpPr>
            <a:spLocks noGrp="1"/>
          </p:cNvSpPr>
          <p:nvPr>
            <p:ph type="dt" sz="half" idx="10"/>
          </p:nvPr>
        </p:nvSpPr>
        <p:spPr/>
        <p:txBody>
          <a:bodyPr/>
          <a:lstStyle/>
          <a:p>
            <a:endParaRPr lang="en-US"/>
          </a:p>
        </p:txBody>
      </p:sp>
      <p:sp>
        <p:nvSpPr>
          <p:cNvPr id="19" name="页脚占位符 18"/>
          <p:cNvSpPr>
            <a:spLocks noGrp="1"/>
          </p:cNvSpPr>
          <p:nvPr>
            <p:ph type="ftr" sz="quarter" idx="11"/>
          </p:nvPr>
        </p:nvSpPr>
        <p:spPr/>
        <p:txBody>
          <a:bodyPr/>
          <a:lstStyle/>
          <a:p>
            <a:endParaRPr lang="en-US"/>
          </a:p>
        </p:txBody>
      </p:sp>
      <p:sp>
        <p:nvSpPr>
          <p:cNvPr id="20" name="灯片编号占位符 19"/>
          <p:cNvSpPr>
            <a:spLocks noGrp="1"/>
          </p:cNvSpPr>
          <p:nvPr>
            <p:ph type="sldNum" sz="quarter" idx="12"/>
          </p:nvPr>
        </p:nvSpPr>
        <p:spPr/>
        <p:txBody>
          <a:bodyPr/>
          <a:lstStyle/>
          <a:p>
            <a:fld id="{C8BB1146-E542-4D4E-B8E9-6919A11DDD48}" type="slidenum">
              <a:rPr lang="en-US" smtClean="0"/>
            </a:fld>
            <a:endParaRPr lang="en-US"/>
          </a:p>
        </p:txBody>
      </p:sp>
    </p:spTree>
    <p:custDataLst>
      <p:tags r:id="rId1"/>
    </p:custData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d3fb0efb-92bf-4090-88ef-060858c61e43.source.5.zh-Hans.pptx"/>
          <p:cNvGrpSpPr/>
          <p:nvPr>
            <p:custDataLst>
              <p:tags r:id="rId1"/>
            </p:custDataLst>
          </p:nvPr>
        </p:nvGrpSpPr>
        <p:grpSpPr>
          <a:xfrm>
            <a:off x="572754" y="1130300"/>
            <a:ext cx="10946146" cy="5003800"/>
            <a:chOff x="572754" y="1130300"/>
            <a:chExt cx="10946146" cy="5003800"/>
          </a:xfrm>
        </p:grpSpPr>
        <p:sp>
          <p:nvSpPr>
            <p:cNvPr id="39" name="Title"/>
            <p:cNvSpPr/>
            <p:nvPr/>
          </p:nvSpPr>
          <p:spPr>
            <a:xfrm>
              <a:off x="660399" y="1130300"/>
              <a:ext cx="10858500" cy="7323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buSzPct val="25000"/>
              </a:pPr>
              <a:r>
                <a:rPr lang="zh-CN" altLang="en-US" sz="20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Comparison of MetaRCA with five representative causality-based RCA baselines</a:t>
              </a:r>
              <a:endParaRPr lang="en-US" dirty="0"/>
            </a:p>
          </p:txBody>
        </p:sp>
        <p:grpSp>
          <p:nvGrpSpPr>
            <p:cNvPr id="13" name="组合 12"/>
            <p:cNvGrpSpPr/>
            <p:nvPr/>
          </p:nvGrpSpPr>
          <p:grpSpPr>
            <a:xfrm>
              <a:off x="572754" y="2033094"/>
              <a:ext cx="2243943" cy="4101006"/>
              <a:chOff x="652276" y="2033094"/>
              <a:chExt cx="2243943" cy="4101006"/>
            </a:xfrm>
          </p:grpSpPr>
          <p:grpSp>
            <p:nvGrpSpPr>
              <p:cNvPr id="12" name="组合 11"/>
              <p:cNvGrpSpPr/>
              <p:nvPr/>
            </p:nvGrpSpPr>
            <p:grpSpPr>
              <a:xfrm>
                <a:off x="998220" y="2707574"/>
                <a:ext cx="1897999" cy="3426526"/>
                <a:chOff x="998220" y="2707574"/>
                <a:chExt cx="1897999" cy="3426526"/>
              </a:xfrm>
            </p:grpSpPr>
            <p:sp>
              <p:nvSpPr>
                <p:cNvPr id="40" name="Text1"/>
                <p:cNvSpPr txBox="1"/>
                <p:nvPr>
                  <p:custDataLst>
                    <p:tags r:id="rId2"/>
                  </p:custDataLst>
                </p:nvPr>
              </p:nvSpPr>
              <p:spPr>
                <a:xfrm>
                  <a:off x="998220" y="3597221"/>
                  <a:ext cx="1897999" cy="2536879"/>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Constructs a causal architectural graph using predefined causal assumptions Uses regression-based hypothesis testing for root cause inference</a:t>
                  </a:r>
                  <a:endParaRPr lang="en-US" dirty="0"/>
                </a:p>
              </p:txBody>
            </p:sp>
            <p:sp>
              <p:nvSpPr>
                <p:cNvPr id="41" name="Bullet1"/>
                <p:cNvSpPr txBox="1"/>
                <p:nvPr>
                  <p:custDataLst>
                    <p:tags r:id="rId3"/>
                  </p:custDataLst>
                </p:nvPr>
              </p:nvSpPr>
              <p:spPr>
                <a:xfrm>
                  <a:off x="998220" y="2707574"/>
                  <a:ext cx="1897999" cy="873317"/>
                </a:xfrm>
                <a:prstGeom prst="rect">
                  <a:avLst/>
                </a:prstGeom>
                <a:noFill/>
              </p:spPr>
              <p:txBody>
                <a:bodyPr wrap="square" rtlCol="0" anchor="t">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Knowledge-driven RCA: CIRCA</a:t>
                  </a:r>
                  <a:endParaRPr lang="en-US" dirty="0"/>
                </a:p>
              </p:txBody>
            </p:sp>
          </p:grpSp>
          <p:grpSp>
            <p:nvGrpSpPr>
              <p:cNvPr id="45" name="组合 44"/>
              <p:cNvGrpSpPr/>
              <p:nvPr/>
            </p:nvGrpSpPr>
            <p:grpSpPr>
              <a:xfrm>
                <a:off x="652276" y="2033094"/>
                <a:ext cx="606798" cy="4101006"/>
                <a:chOff x="652276" y="2033094"/>
                <a:chExt cx="606798" cy="4101006"/>
              </a:xfrm>
            </p:grpSpPr>
            <p:sp>
              <p:nvSpPr>
                <p:cNvPr id="42" name="Number1"/>
                <p:cNvSpPr/>
                <p:nvPr>
                  <p:custDataLst>
                    <p:tags r:id="rId4"/>
                  </p:custDataLst>
                </p:nvPr>
              </p:nvSpPr>
              <p:spPr>
                <a:xfrm>
                  <a:off x="652276" y="2033094"/>
                  <a:ext cx="606798" cy="606796"/>
                </a:xfrm>
                <a:prstGeom prst="ellipse">
                  <a:avLst/>
                </a:prstGeom>
                <a:solidFill>
                  <a:schemeClr val="accent1">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dirty="0">
                      <a:solidFill>
                        <a:srgbClr val="FFFFFF"/>
                      </a:solidFill>
                    </a:rPr>
                    <a:t>1</a:t>
                  </a:r>
                  <a:endParaRPr lang="zh-CN" altLang="en-US" dirty="0">
                    <a:solidFill>
                      <a:srgbClr val="FFFFFF"/>
                    </a:solidFill>
                  </a:endParaRPr>
                </a:p>
              </p:txBody>
            </p:sp>
            <p:cxnSp>
              <p:nvCxnSpPr>
                <p:cNvPr id="44" name="直接连接符 43"/>
                <p:cNvCxnSpPr>
                  <a:stCxn id="42" idx="4"/>
                </p:cNvCxnSpPr>
                <p:nvPr>
                  <p:custDataLst>
                    <p:tags r:id="rId5"/>
                  </p:custDataLst>
                </p:nvPr>
              </p:nvCxnSpPr>
              <p:spPr>
                <a:xfrm>
                  <a:off x="955675" y="2639890"/>
                  <a:ext cx="0" cy="349421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2" name="组合 1"/>
            <p:cNvGrpSpPr/>
            <p:nvPr/>
          </p:nvGrpSpPr>
          <p:grpSpPr>
            <a:xfrm>
              <a:off x="2748305" y="2033094"/>
              <a:ext cx="2243943" cy="4101006"/>
              <a:chOff x="652276" y="2033094"/>
              <a:chExt cx="2243943" cy="4101006"/>
            </a:xfrm>
          </p:grpSpPr>
          <p:grpSp>
            <p:nvGrpSpPr>
              <p:cNvPr id="3" name="组合 2"/>
              <p:cNvGrpSpPr/>
              <p:nvPr/>
            </p:nvGrpSpPr>
            <p:grpSpPr>
              <a:xfrm>
                <a:off x="998220" y="2707574"/>
                <a:ext cx="1897999" cy="3426526"/>
                <a:chOff x="998220" y="2707574"/>
                <a:chExt cx="1897999" cy="3426526"/>
              </a:xfrm>
            </p:grpSpPr>
            <p:sp>
              <p:nvSpPr>
                <p:cNvPr id="7" name="Text2"/>
                <p:cNvSpPr txBox="1"/>
                <p:nvPr>
                  <p:custDataLst>
                    <p:tags r:id="rId6"/>
                  </p:custDataLst>
                </p:nvPr>
              </p:nvSpPr>
              <p:spPr>
                <a:xfrm>
                  <a:off x="998220" y="3597221"/>
                  <a:ext cx="1897999" cy="2536879"/>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Learns a weighted causal graph from data using a gradient-based method Applies PageRank for root cause ranking</a:t>
                  </a:r>
                  <a:endParaRPr lang="en-US" dirty="0"/>
                </a:p>
              </p:txBody>
            </p:sp>
            <p:sp>
              <p:nvSpPr>
                <p:cNvPr id="8" name="Bullet2"/>
                <p:cNvSpPr txBox="1"/>
                <p:nvPr>
                  <p:custDataLst>
                    <p:tags r:id="rId7"/>
                  </p:custDataLst>
                </p:nvPr>
              </p:nvSpPr>
              <p:spPr>
                <a:xfrm>
                  <a:off x="998220" y="2707574"/>
                  <a:ext cx="1897999" cy="873317"/>
                </a:xfrm>
                <a:prstGeom prst="rect">
                  <a:avLst/>
                </a:prstGeom>
                <a:noFill/>
              </p:spPr>
              <p:txBody>
                <a:bodyPr wrap="square" rtlCol="0" anchor="t">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Data-driven Causal RCA: CausalRCA</a:t>
                  </a:r>
                  <a:endParaRPr lang="en-US" dirty="0"/>
                </a:p>
              </p:txBody>
            </p:sp>
          </p:grpSp>
          <p:grpSp>
            <p:nvGrpSpPr>
              <p:cNvPr id="4" name="组合 3"/>
              <p:cNvGrpSpPr/>
              <p:nvPr/>
            </p:nvGrpSpPr>
            <p:grpSpPr>
              <a:xfrm>
                <a:off x="652276" y="2033094"/>
                <a:ext cx="606798" cy="4101006"/>
                <a:chOff x="652276" y="2033094"/>
                <a:chExt cx="606798" cy="4101006"/>
              </a:xfrm>
            </p:grpSpPr>
            <p:sp>
              <p:nvSpPr>
                <p:cNvPr id="5" name="Number2"/>
                <p:cNvSpPr/>
                <p:nvPr>
                  <p:custDataLst>
                    <p:tags r:id="rId8"/>
                  </p:custDataLst>
                </p:nvPr>
              </p:nvSpPr>
              <p:spPr>
                <a:xfrm>
                  <a:off x="652276" y="2033094"/>
                  <a:ext cx="606798" cy="606796"/>
                </a:xfrm>
                <a:prstGeom prst="ellipse">
                  <a:avLst/>
                </a:prstGeom>
                <a:solidFill>
                  <a:schemeClr val="accent1">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dirty="0">
                      <a:solidFill>
                        <a:srgbClr val="FFFFFF"/>
                      </a:solidFill>
                    </a:rPr>
                    <a:t>2</a:t>
                  </a:r>
                  <a:endParaRPr lang="zh-CN" altLang="en-US" dirty="0">
                    <a:solidFill>
                      <a:srgbClr val="FFFFFF"/>
                    </a:solidFill>
                  </a:endParaRPr>
                </a:p>
              </p:txBody>
            </p:sp>
            <p:cxnSp>
              <p:nvCxnSpPr>
                <p:cNvPr id="6" name="直接连接符 5"/>
                <p:cNvCxnSpPr>
                  <a:stCxn id="5" idx="4"/>
                </p:cNvCxnSpPr>
                <p:nvPr>
                  <p:custDataLst>
                    <p:tags r:id="rId9"/>
                  </p:custDataLst>
                </p:nvPr>
              </p:nvCxnSpPr>
              <p:spPr>
                <a:xfrm>
                  <a:off x="955675" y="2639890"/>
                  <a:ext cx="0" cy="349421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9" name="组合 8"/>
            <p:cNvGrpSpPr/>
            <p:nvPr/>
          </p:nvGrpSpPr>
          <p:grpSpPr>
            <a:xfrm>
              <a:off x="4923856" y="2033094"/>
              <a:ext cx="2243943" cy="4101006"/>
              <a:chOff x="652276" y="2033094"/>
              <a:chExt cx="2243943" cy="4101006"/>
            </a:xfrm>
          </p:grpSpPr>
          <p:grpSp>
            <p:nvGrpSpPr>
              <p:cNvPr id="10" name="组合 9"/>
              <p:cNvGrpSpPr/>
              <p:nvPr/>
            </p:nvGrpSpPr>
            <p:grpSpPr>
              <a:xfrm>
                <a:off x="998220" y="2707574"/>
                <a:ext cx="1897999" cy="3426526"/>
                <a:chOff x="998220" y="2707574"/>
                <a:chExt cx="1897999" cy="3426526"/>
              </a:xfrm>
            </p:grpSpPr>
            <p:sp>
              <p:nvSpPr>
                <p:cNvPr id="37" name="Text3"/>
                <p:cNvSpPr txBox="1"/>
                <p:nvPr>
                  <p:custDataLst>
                    <p:tags r:id="rId10"/>
                  </p:custDataLst>
                </p:nvPr>
              </p:nvSpPr>
              <p:spPr>
                <a:xfrm>
                  <a:off x="998220" y="3597221"/>
                  <a:ext cx="1897999" cy="2536879"/>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Uses the PC algorithm to construct a causal graph from metrics Applies PageRank for root cause scoring</a:t>
                  </a:r>
                  <a:endParaRPr lang="en-US" dirty="0"/>
                </a:p>
              </p:txBody>
            </p:sp>
            <p:sp>
              <p:nvSpPr>
                <p:cNvPr id="46" name="Bullet3"/>
                <p:cNvSpPr txBox="1"/>
                <p:nvPr>
                  <p:custDataLst>
                    <p:tags r:id="rId11"/>
                  </p:custDataLst>
                </p:nvPr>
              </p:nvSpPr>
              <p:spPr>
                <a:xfrm>
                  <a:off x="998220" y="2707574"/>
                  <a:ext cx="1897999" cy="873317"/>
                </a:xfrm>
                <a:prstGeom prst="rect">
                  <a:avLst/>
                </a:prstGeom>
                <a:noFill/>
              </p:spPr>
              <p:txBody>
                <a:bodyPr wrap="square" rtlCol="0" anchor="t">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Data-driven Causal RCA: PC_PR</a:t>
                  </a:r>
                  <a:endParaRPr lang="en-US" dirty="0"/>
                </a:p>
              </p:txBody>
            </p:sp>
          </p:grpSp>
          <p:grpSp>
            <p:nvGrpSpPr>
              <p:cNvPr id="11" name="组合 10"/>
              <p:cNvGrpSpPr/>
              <p:nvPr/>
            </p:nvGrpSpPr>
            <p:grpSpPr>
              <a:xfrm>
                <a:off x="652276" y="2033094"/>
                <a:ext cx="606798" cy="4101006"/>
                <a:chOff x="652276" y="2033094"/>
                <a:chExt cx="606798" cy="4101006"/>
              </a:xfrm>
            </p:grpSpPr>
            <p:sp>
              <p:nvSpPr>
                <p:cNvPr id="35" name="Number3"/>
                <p:cNvSpPr/>
                <p:nvPr>
                  <p:custDataLst>
                    <p:tags r:id="rId12"/>
                  </p:custDataLst>
                </p:nvPr>
              </p:nvSpPr>
              <p:spPr>
                <a:xfrm>
                  <a:off x="652276" y="2033094"/>
                  <a:ext cx="606798" cy="606796"/>
                </a:xfrm>
                <a:prstGeom prst="ellipse">
                  <a:avLst/>
                </a:prstGeom>
                <a:solidFill>
                  <a:schemeClr val="accent1">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dirty="0">
                      <a:solidFill>
                        <a:srgbClr val="FFFFFF"/>
                      </a:solidFill>
                    </a:rPr>
                    <a:t>3</a:t>
                  </a:r>
                  <a:endParaRPr lang="zh-CN" altLang="en-US" dirty="0">
                    <a:solidFill>
                      <a:srgbClr val="FFFFFF"/>
                    </a:solidFill>
                  </a:endParaRPr>
                </a:p>
              </p:txBody>
            </p:sp>
            <p:cxnSp>
              <p:nvCxnSpPr>
                <p:cNvPr id="36" name="直接连接符 35"/>
                <p:cNvCxnSpPr>
                  <a:stCxn id="35" idx="4"/>
                </p:cNvCxnSpPr>
                <p:nvPr>
                  <p:custDataLst>
                    <p:tags r:id="rId13"/>
                  </p:custDataLst>
                </p:nvPr>
              </p:nvCxnSpPr>
              <p:spPr>
                <a:xfrm>
                  <a:off x="955675" y="2639890"/>
                  <a:ext cx="0" cy="349421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47" name="组合 46"/>
            <p:cNvGrpSpPr/>
            <p:nvPr/>
          </p:nvGrpSpPr>
          <p:grpSpPr>
            <a:xfrm>
              <a:off x="7099407" y="2033094"/>
              <a:ext cx="2243943" cy="4101006"/>
              <a:chOff x="652276" y="2033094"/>
              <a:chExt cx="2243943" cy="4101006"/>
            </a:xfrm>
          </p:grpSpPr>
          <p:grpSp>
            <p:nvGrpSpPr>
              <p:cNvPr id="48" name="组合 47"/>
              <p:cNvGrpSpPr/>
              <p:nvPr/>
            </p:nvGrpSpPr>
            <p:grpSpPr>
              <a:xfrm>
                <a:off x="998220" y="2707574"/>
                <a:ext cx="1897999" cy="3426526"/>
                <a:chOff x="998220" y="2707574"/>
                <a:chExt cx="1897999" cy="3426526"/>
              </a:xfrm>
            </p:grpSpPr>
            <p:sp>
              <p:nvSpPr>
                <p:cNvPr id="52" name="Text4"/>
                <p:cNvSpPr txBox="1"/>
                <p:nvPr>
                  <p:custDataLst>
                    <p:tags r:id="rId14"/>
                  </p:custDataLst>
                </p:nvPr>
              </p:nvSpPr>
              <p:spPr>
                <a:xfrm>
                  <a:off x="998220" y="3597221"/>
                  <a:ext cx="1897999" cy="2536879"/>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Uses PCMCI to discover causal relations from time-series metrics Applies random walk for root cause scoring</a:t>
                  </a:r>
                  <a:endParaRPr lang="en-US" dirty="0"/>
                </a:p>
              </p:txBody>
            </p:sp>
            <p:sp>
              <p:nvSpPr>
                <p:cNvPr id="53" name="Bullet4"/>
                <p:cNvSpPr txBox="1"/>
                <p:nvPr>
                  <p:custDataLst>
                    <p:tags r:id="rId15"/>
                  </p:custDataLst>
                </p:nvPr>
              </p:nvSpPr>
              <p:spPr>
                <a:xfrm>
                  <a:off x="998220" y="2707574"/>
                  <a:ext cx="1897999" cy="873317"/>
                </a:xfrm>
                <a:prstGeom prst="rect">
                  <a:avLst/>
                </a:prstGeom>
                <a:noFill/>
              </p:spPr>
              <p:txBody>
                <a:bodyPr wrap="square" rtlCol="0" anchor="t">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Data-driven Causal RCA: PCMCI_RW</a:t>
                  </a:r>
                  <a:endParaRPr lang="en-US" dirty="0"/>
                </a:p>
              </p:txBody>
            </p:sp>
          </p:grpSp>
          <p:grpSp>
            <p:nvGrpSpPr>
              <p:cNvPr id="49" name="组合 48"/>
              <p:cNvGrpSpPr/>
              <p:nvPr/>
            </p:nvGrpSpPr>
            <p:grpSpPr>
              <a:xfrm>
                <a:off x="652276" y="2033094"/>
                <a:ext cx="606798" cy="4101006"/>
                <a:chOff x="652276" y="2033094"/>
                <a:chExt cx="606798" cy="4101006"/>
              </a:xfrm>
            </p:grpSpPr>
            <p:sp>
              <p:nvSpPr>
                <p:cNvPr id="50" name="Number4"/>
                <p:cNvSpPr/>
                <p:nvPr>
                  <p:custDataLst>
                    <p:tags r:id="rId16"/>
                  </p:custDataLst>
                </p:nvPr>
              </p:nvSpPr>
              <p:spPr>
                <a:xfrm>
                  <a:off x="652276" y="2033094"/>
                  <a:ext cx="606798" cy="606796"/>
                </a:xfrm>
                <a:prstGeom prst="ellipse">
                  <a:avLst/>
                </a:prstGeom>
                <a:solidFill>
                  <a:schemeClr val="accent1">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dirty="0">
                      <a:solidFill>
                        <a:srgbClr val="FFFFFF"/>
                      </a:solidFill>
                    </a:rPr>
                    <a:t>4</a:t>
                  </a:r>
                  <a:endParaRPr lang="zh-CN" altLang="en-US" dirty="0">
                    <a:solidFill>
                      <a:srgbClr val="FFFFFF"/>
                    </a:solidFill>
                  </a:endParaRPr>
                </a:p>
              </p:txBody>
            </p:sp>
            <p:cxnSp>
              <p:nvCxnSpPr>
                <p:cNvPr id="51" name="直接连接符 50"/>
                <p:cNvCxnSpPr>
                  <a:stCxn id="50" idx="4"/>
                </p:cNvCxnSpPr>
                <p:nvPr>
                  <p:custDataLst>
                    <p:tags r:id="rId17"/>
                  </p:custDataLst>
                </p:nvPr>
              </p:nvCxnSpPr>
              <p:spPr>
                <a:xfrm>
                  <a:off x="955675" y="2639890"/>
                  <a:ext cx="0" cy="349421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54" name="组合 53"/>
            <p:cNvGrpSpPr/>
            <p:nvPr/>
          </p:nvGrpSpPr>
          <p:grpSpPr>
            <a:xfrm>
              <a:off x="9274957" y="2033094"/>
              <a:ext cx="2243943" cy="4101006"/>
              <a:chOff x="652276" y="2033094"/>
              <a:chExt cx="2243943" cy="4101006"/>
            </a:xfrm>
          </p:grpSpPr>
          <p:grpSp>
            <p:nvGrpSpPr>
              <p:cNvPr id="55" name="组合 54"/>
              <p:cNvGrpSpPr/>
              <p:nvPr/>
            </p:nvGrpSpPr>
            <p:grpSpPr>
              <a:xfrm>
                <a:off x="998220" y="2707574"/>
                <a:ext cx="1897999" cy="3426526"/>
                <a:chOff x="998220" y="2707574"/>
                <a:chExt cx="1897999" cy="3426526"/>
              </a:xfrm>
            </p:grpSpPr>
            <p:sp>
              <p:nvSpPr>
                <p:cNvPr id="59" name="Text5"/>
                <p:cNvSpPr txBox="1"/>
                <p:nvPr>
                  <p:custDataLst>
                    <p:tags r:id="rId18"/>
                  </p:custDataLst>
                </p:nvPr>
              </p:nvSpPr>
              <p:spPr>
                <a:xfrm>
                  <a:off x="998220" y="3597221"/>
                  <a:ext cx="1897999" cy="2536879"/>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Uses an LLM as the knowledge brain Drives a Python executor for iterative data analysis Guides root cause identification through multi-step reasoning</a:t>
                  </a:r>
                  <a:endParaRPr lang="en-US" dirty="0"/>
                </a:p>
              </p:txBody>
            </p:sp>
            <p:sp>
              <p:nvSpPr>
                <p:cNvPr id="60" name="Bullet5"/>
                <p:cNvSpPr txBox="1"/>
                <p:nvPr>
                  <p:custDataLst>
                    <p:tags r:id="rId19"/>
                  </p:custDataLst>
                </p:nvPr>
              </p:nvSpPr>
              <p:spPr>
                <a:xfrm>
                  <a:off x="998220" y="2707574"/>
                  <a:ext cx="1897999" cy="873317"/>
                </a:xfrm>
                <a:prstGeom prst="rect">
                  <a:avLst/>
                </a:prstGeom>
                <a:noFill/>
              </p:spPr>
              <p:txBody>
                <a:bodyPr wrap="square" rtlCol="0" anchor="t">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LLM-based RCA: OpenRCA</a:t>
                  </a:r>
                  <a:endParaRPr lang="en-US" dirty="0"/>
                </a:p>
              </p:txBody>
            </p:sp>
          </p:grpSp>
          <p:grpSp>
            <p:nvGrpSpPr>
              <p:cNvPr id="56" name="组合 55"/>
              <p:cNvGrpSpPr/>
              <p:nvPr/>
            </p:nvGrpSpPr>
            <p:grpSpPr>
              <a:xfrm>
                <a:off x="652276" y="2033094"/>
                <a:ext cx="606798" cy="4101006"/>
                <a:chOff x="652276" y="2033094"/>
                <a:chExt cx="606798" cy="4101006"/>
              </a:xfrm>
            </p:grpSpPr>
            <p:sp>
              <p:nvSpPr>
                <p:cNvPr id="57" name="Number5"/>
                <p:cNvSpPr/>
                <p:nvPr>
                  <p:custDataLst>
                    <p:tags r:id="rId20"/>
                  </p:custDataLst>
                </p:nvPr>
              </p:nvSpPr>
              <p:spPr>
                <a:xfrm>
                  <a:off x="652276" y="2033094"/>
                  <a:ext cx="606798" cy="606796"/>
                </a:xfrm>
                <a:prstGeom prst="ellipse">
                  <a:avLst/>
                </a:prstGeom>
                <a:solidFill>
                  <a:schemeClr val="accent1">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dirty="0">
                      <a:solidFill>
                        <a:srgbClr val="FFFFFF"/>
                      </a:solidFill>
                    </a:rPr>
                    <a:t>5</a:t>
                  </a:r>
                  <a:endParaRPr lang="zh-CN" altLang="en-US" dirty="0">
                    <a:solidFill>
                      <a:srgbClr val="FFFFFF"/>
                    </a:solidFill>
                  </a:endParaRPr>
                </a:p>
              </p:txBody>
            </p:sp>
            <p:cxnSp>
              <p:nvCxnSpPr>
                <p:cNvPr id="58" name="直接连接符 57"/>
                <p:cNvCxnSpPr>
                  <a:stCxn id="57" idx="4"/>
                </p:cNvCxnSpPr>
                <p:nvPr>
                  <p:custDataLst>
                    <p:tags r:id="rId21"/>
                  </p:custDataLst>
                </p:nvPr>
              </p:nvCxnSpPr>
              <p:spPr>
                <a:xfrm>
                  <a:off x="955675" y="2639890"/>
                  <a:ext cx="0" cy="349421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grpSp>
      <p:sp>
        <p:nvSpPr>
          <p:cNvPr id="14" name="标题 13"/>
          <p:cNvSpPr>
            <a:spLocks noGrp="1"/>
          </p:cNvSpPr>
          <p:nvPr>
            <p:ph type="title" hasCustomPrompt="1"/>
          </p:nvPr>
        </p:nvSpPr>
        <p:spPr/>
        <p:txBody>
          <a:bodyPr/>
          <a:lstStyle/>
          <a:p>
            <a:r>
              <a:rPr lang="zh-CN" altLang="en-US" dirty="0"/>
              <a:t>Baseline Methods</a:t>
            </a:r>
            <a:endParaRPr lang="en-US" dirty="0"/>
          </a:p>
        </p:txBody>
      </p:sp>
      <p:sp>
        <p:nvSpPr>
          <p:cNvPr id="15" name="日期占位符 14"/>
          <p:cNvSpPr>
            <a:spLocks noGrp="1"/>
          </p:cNvSpPr>
          <p:nvPr>
            <p:ph type="dt" sz="half" idx="10"/>
          </p:nvPr>
        </p:nvSpPr>
        <p:spPr/>
        <p:txBody>
          <a:bodyPr/>
          <a:lstStyle/>
          <a:p>
            <a:endParaRPr lang="en-US"/>
          </a:p>
        </p:txBody>
      </p:sp>
      <p:sp>
        <p:nvSpPr>
          <p:cNvPr id="16" name="页脚占位符 15"/>
          <p:cNvSpPr>
            <a:spLocks noGrp="1"/>
          </p:cNvSpPr>
          <p:nvPr>
            <p:ph type="ftr" sz="quarter" idx="11"/>
          </p:nvPr>
        </p:nvSpPr>
        <p:spPr/>
        <p:txBody>
          <a:bodyPr/>
          <a:lstStyle/>
          <a:p>
            <a:endParaRPr lang="en-US"/>
          </a:p>
        </p:txBody>
      </p:sp>
      <p:sp>
        <p:nvSpPr>
          <p:cNvPr id="17" name="灯片编号占位符 16"/>
          <p:cNvSpPr>
            <a:spLocks noGrp="1"/>
          </p:cNvSpPr>
          <p:nvPr>
            <p:ph type="sldNum" sz="quarter" idx="12"/>
          </p:nvPr>
        </p:nvSpPr>
        <p:spPr/>
        <p:txBody>
          <a:bodyPr/>
          <a:lstStyle/>
          <a:p>
            <a:fld id="{C8BB1146-E542-4D4E-B8E9-6919A11DDD48}" type="slidenum">
              <a:rPr lang="en-US" smtClean="0"/>
            </a:fld>
            <a:endParaRPr lang="en-US"/>
          </a:p>
        </p:txBody>
      </p:sp>
    </p:spTree>
    <p:custDataLst>
      <p:tags r:id="rId22"/>
    </p:custData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80cc5d80-a764-4939-8654-c8a6e0fb501c.source.2.zh-Hans.pptx"/>
          <p:cNvGrpSpPr/>
          <p:nvPr/>
        </p:nvGrpSpPr>
        <p:grpSpPr>
          <a:xfrm>
            <a:off x="660400" y="1130301"/>
            <a:ext cx="10858500" cy="5003800"/>
            <a:chOff x="660400" y="1130301"/>
            <a:chExt cx="10858500" cy="5003800"/>
          </a:xfrm>
        </p:grpSpPr>
        <p:cxnSp>
          <p:nvCxnSpPr>
            <p:cNvPr id="5" name="直接连接符 4"/>
            <p:cNvCxnSpPr/>
            <p:nvPr/>
          </p:nvCxnSpPr>
          <p:spPr>
            <a:xfrm>
              <a:off x="660400" y="4002682"/>
              <a:ext cx="10858500" cy="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660400" y="1871264"/>
              <a:ext cx="6022340" cy="1924826"/>
              <a:chOff x="660400" y="1871264"/>
              <a:chExt cx="6022340" cy="1924826"/>
            </a:xfrm>
          </p:grpSpPr>
          <p:grpSp>
            <p:nvGrpSpPr>
              <p:cNvPr id="6" name="组合 5"/>
              <p:cNvGrpSpPr/>
              <p:nvPr/>
            </p:nvGrpSpPr>
            <p:grpSpPr>
              <a:xfrm>
                <a:off x="1280160" y="1969714"/>
                <a:ext cx="5402580" cy="1826376"/>
                <a:chOff x="772160" y="1969714"/>
                <a:chExt cx="5402580" cy="1826376"/>
              </a:xfrm>
            </p:grpSpPr>
            <p:sp>
              <p:nvSpPr>
                <p:cNvPr id="3" name="Text1"/>
                <p:cNvSpPr txBox="1"/>
                <p:nvPr/>
              </p:nvSpPr>
              <p:spPr>
                <a:xfrm>
                  <a:off x="772160" y="2515212"/>
                  <a:ext cx="5402580" cy="1280878"/>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AC@k measures whether the true root cause appears in the Top-k ranked results. Reported values: AC@1 AC@3 AC@5 MetaRCA reports AC@k for both: Root cause service: AC@k_service Root cause metric: AC@k_metric Higher AC@k means better localization accuracy.</a:t>
                  </a:r>
                  <a:endParaRPr lang="en-US" dirty="0"/>
                </a:p>
              </p:txBody>
            </p:sp>
            <p:sp>
              <p:nvSpPr>
                <p:cNvPr id="4" name="Bullet1"/>
                <p:cNvSpPr txBox="1"/>
                <p:nvPr/>
              </p:nvSpPr>
              <p:spPr>
                <a:xfrm>
                  <a:off x="772160" y="1969714"/>
                  <a:ext cx="5402580" cy="545497"/>
                </a:xfrm>
                <a:prstGeom prst="rect">
                  <a:avLst/>
                </a:prstGeom>
                <a:noFill/>
              </p:spPr>
              <p:txBody>
                <a:bodyPr wrap="square" rtlCol="0" anchor="ctr">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Accuracy: AC@k</a:t>
                  </a:r>
                  <a:endParaRPr lang="en-US" dirty="0"/>
                </a:p>
              </p:txBody>
            </p:sp>
          </p:grpSp>
          <p:sp>
            <p:nvSpPr>
              <p:cNvPr id="10" name="Number1"/>
              <p:cNvSpPr/>
              <p:nvPr/>
            </p:nvSpPr>
            <p:spPr>
              <a:xfrm>
                <a:off x="660400" y="1871264"/>
                <a:ext cx="579121" cy="7423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92500" lnSpcReduction="20000"/>
              </a:bodyPr>
              <a:lstStyle/>
              <a:p>
                <a:pPr algn="ctr">
                  <a:lnSpc>
                    <a:spcPct val="110000"/>
                  </a:lnSpc>
                </a:pPr>
                <a:r>
                  <a:rPr lang="en-US" altLang="zh-CN" sz="4800" dirty="0">
                    <a:solidFill>
                      <a:schemeClr val="accent1"/>
                    </a:solidFill>
                  </a:rPr>
                  <a:t>1</a:t>
                </a:r>
                <a:endParaRPr lang="zh-CN" altLang="en-US" sz="4800" dirty="0">
                  <a:solidFill>
                    <a:schemeClr val="accent1"/>
                  </a:solidFill>
                </a:endParaRPr>
              </a:p>
            </p:txBody>
          </p:sp>
        </p:grpSp>
        <p:sp>
          <p:nvSpPr>
            <p:cNvPr id="7" name="Title"/>
            <p:cNvSpPr/>
            <p:nvPr/>
          </p:nvSpPr>
          <p:spPr>
            <a:xfrm>
              <a:off x="660400" y="1130301"/>
              <a:ext cx="10858500" cy="675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buSzPct val="25000"/>
              </a:pPr>
              <a:r>
                <a:rPr lang="zh-CN" altLang="en-US" sz="20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Assessing performance through accuracy and efficiency across service and metric levels</a:t>
              </a:r>
              <a:endParaRPr lang="en-US" dirty="0"/>
            </a:p>
          </p:txBody>
        </p:sp>
        <p:grpSp>
          <p:nvGrpSpPr>
            <p:cNvPr id="21" name="组合 20"/>
            <p:cNvGrpSpPr/>
            <p:nvPr/>
          </p:nvGrpSpPr>
          <p:grpSpPr>
            <a:xfrm>
              <a:off x="5496560" y="4209275"/>
              <a:ext cx="6022340" cy="1924826"/>
              <a:chOff x="660400" y="1871264"/>
              <a:chExt cx="6022340" cy="1924826"/>
            </a:xfrm>
          </p:grpSpPr>
          <p:grpSp>
            <p:nvGrpSpPr>
              <p:cNvPr id="22" name="组合 21"/>
              <p:cNvGrpSpPr/>
              <p:nvPr/>
            </p:nvGrpSpPr>
            <p:grpSpPr>
              <a:xfrm>
                <a:off x="1280160" y="1969714"/>
                <a:ext cx="5402580" cy="1826376"/>
                <a:chOff x="772160" y="1969714"/>
                <a:chExt cx="5402580" cy="1826376"/>
              </a:xfrm>
            </p:grpSpPr>
            <p:sp>
              <p:nvSpPr>
                <p:cNvPr id="24" name="Text2"/>
                <p:cNvSpPr txBox="1"/>
                <p:nvPr/>
              </p:nvSpPr>
              <p:spPr>
                <a:xfrm>
                  <a:off x="772160" y="2515212"/>
                  <a:ext cx="5402580" cy="1280878"/>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Average RCA Time measures the end-to-end time from anomaly detection to final root cause ranking. It evaluates whether a method can support timely incident response.</a:t>
                  </a:r>
                  <a:endParaRPr lang="en-US" dirty="0"/>
                </a:p>
              </p:txBody>
            </p:sp>
            <p:sp>
              <p:nvSpPr>
                <p:cNvPr id="25" name="Bullet2"/>
                <p:cNvSpPr txBox="1"/>
                <p:nvPr/>
              </p:nvSpPr>
              <p:spPr>
                <a:xfrm>
                  <a:off x="772160" y="1969714"/>
                  <a:ext cx="5402580" cy="545497"/>
                </a:xfrm>
                <a:prstGeom prst="rect">
                  <a:avLst/>
                </a:prstGeom>
                <a:noFill/>
              </p:spPr>
              <p:txBody>
                <a:bodyPr wrap="square" rtlCol="0" anchor="ctr">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Efficiency: Average RCA Time</a:t>
                  </a:r>
                  <a:endParaRPr lang="en-US" dirty="0"/>
                </a:p>
              </p:txBody>
            </p:sp>
          </p:grpSp>
          <p:sp>
            <p:nvSpPr>
              <p:cNvPr id="23" name="Number2"/>
              <p:cNvSpPr/>
              <p:nvPr/>
            </p:nvSpPr>
            <p:spPr>
              <a:xfrm>
                <a:off x="660400" y="1871264"/>
                <a:ext cx="579121" cy="7423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92500" lnSpcReduction="20000"/>
              </a:bodyPr>
              <a:lstStyle/>
              <a:p>
                <a:pPr algn="ctr">
                  <a:lnSpc>
                    <a:spcPct val="110000"/>
                  </a:lnSpc>
                </a:pPr>
                <a:r>
                  <a:rPr lang="en-US" altLang="zh-CN" sz="4800" dirty="0">
                    <a:solidFill>
                      <a:schemeClr val="accent1">
                        <a:lumMod val="100000"/>
                      </a:schemeClr>
                    </a:solidFill>
                  </a:rPr>
                  <a:t>2</a:t>
                </a:r>
                <a:endParaRPr lang="zh-CN" altLang="en-US" sz="4800" dirty="0">
                  <a:solidFill>
                    <a:schemeClr val="accent1">
                      <a:lumMod val="100000"/>
                    </a:schemeClr>
                  </a:solidFill>
                </a:endParaRPr>
              </a:p>
            </p:txBody>
          </p:sp>
        </p:grpSp>
      </p:grpSp>
      <p:sp>
        <p:nvSpPr>
          <p:cNvPr id="2" name="标题 1"/>
          <p:cNvSpPr>
            <a:spLocks noGrp="1"/>
          </p:cNvSpPr>
          <p:nvPr>
            <p:ph type="title" hasCustomPrompt="1"/>
          </p:nvPr>
        </p:nvSpPr>
        <p:spPr/>
        <p:txBody>
          <a:bodyPr/>
          <a:lstStyle/>
          <a:p>
            <a:r>
              <a:rPr lang="zh-CN" altLang="en-US" dirty="0"/>
              <a:t>Evaluation Metrics for MetaRCA</a:t>
            </a:r>
            <a:endParaRPr lang="en-US" dirty="0"/>
          </a:p>
        </p:txBody>
      </p:sp>
      <p:sp>
        <p:nvSpPr>
          <p:cNvPr id="8" name="日期占位符 7"/>
          <p:cNvSpPr>
            <a:spLocks noGrp="1"/>
          </p:cNvSpPr>
          <p:nvPr>
            <p:ph type="dt" sz="half" idx="10"/>
          </p:nvPr>
        </p:nvSpPr>
        <p:spPr/>
        <p:txBody>
          <a:bodyPr/>
          <a:lstStyle/>
          <a:p>
            <a:endParaRPr lang="en-US"/>
          </a:p>
        </p:txBody>
      </p:sp>
      <p:sp>
        <p:nvSpPr>
          <p:cNvPr id="9" name="页脚占位符 8"/>
          <p:cNvSpPr>
            <a:spLocks noGrp="1"/>
          </p:cNvSpPr>
          <p:nvPr>
            <p:ph type="ftr" sz="quarter" idx="11"/>
          </p:nvPr>
        </p:nvSpPr>
        <p:spPr/>
        <p:txBody>
          <a:bodyPr/>
          <a:lstStyle/>
          <a:p>
            <a:endParaRPr lang="en-US"/>
          </a:p>
        </p:txBody>
      </p:sp>
      <p:sp>
        <p:nvSpPr>
          <p:cNvPr id="12" name="灯片编号占位符 11"/>
          <p:cNvSpPr>
            <a:spLocks noGrp="1"/>
          </p:cNvSpPr>
          <p:nvPr>
            <p:ph type="sldNum" sz="quarter" idx="12"/>
          </p:nvPr>
        </p:nvSpPr>
        <p:spPr/>
        <p:txBody>
          <a:bodyPr/>
          <a:lstStyle/>
          <a:p>
            <a:fld id="{C8BB1146-E542-4D4E-B8E9-6919A11DDD48}" type="slidenum">
              <a:rPr lang="en-US" smtClean="0"/>
            </a:fld>
            <a:endParaRPr lang="en-US"/>
          </a:p>
        </p:txBody>
      </p:sp>
    </p:spTree>
    <p:custDataLst>
      <p:tags r:id="rId1"/>
    </p:custData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normAutofit/>
          </a:bodyPr>
          <a:lstStyle/>
          <a:p>
            <a:pPr marL="0" marR="0" lvl="0" indent="0" algn="l">
              <a:lnSpc>
                <a:spcPct val="100000"/>
              </a:lnSpc>
            </a:pPr>
            <a:r>
              <a:rPr lang="zh-CN" altLang="en-US" sz="2800" b="1" baseline="0" dirty="0">
                <a:solidFill>
                  <a:schemeClr val="accent1"/>
                </a:solidFill>
              </a:rPr>
              <a:t>RQ1: Performance of MetaRCA</a:t>
            </a:r>
            <a:endParaRPr lang="zh-CN" alt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C8BB1146-E542-4D4E-B8E9-6919A11DDD48}" type="slidenum">
              <a:rPr lang="en-US" smtClean="0"/>
            </a:fld>
            <a:endParaRPr lang="en-US"/>
          </a:p>
        </p:txBody>
      </p:sp>
      <p:sp>
        <p:nvSpPr>
          <p:cNvPr id="6" name="image"/>
          <p:cNvSpPr/>
          <p:nvPr/>
        </p:nvSpPr>
        <p:spPr>
          <a:xfrm>
            <a:off x="827306" y="1114461"/>
            <a:ext cx="10420350" cy="5743575"/>
          </a:xfrm>
          <a:prstGeom prst="roundRect">
            <a:avLst>
              <a:gd name="adj" fmla="val 1000"/>
            </a:avLst>
          </a:prstGeom>
          <a:blipFill>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2"/>
    </p:custData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normAutofit/>
          </a:bodyPr>
          <a:lstStyle/>
          <a:p>
            <a:pPr marL="0" marR="0" lvl="0" indent="0" algn="l">
              <a:lnSpc>
                <a:spcPct val="100000"/>
              </a:lnSpc>
            </a:pPr>
            <a:r>
              <a:rPr lang="zh-CN" altLang="en-US" sz="2800" b="1" baseline="0" dirty="0">
                <a:solidFill>
                  <a:schemeClr val="accent1"/>
                </a:solidFill>
              </a:rPr>
              <a:t> RQ2: Generalizability and Scalability of MetaRCA</a:t>
            </a:r>
            <a:endParaRPr lang="zh-CN" alt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C8BB1146-E542-4D4E-B8E9-6919A11DDD48}" type="slidenum">
              <a:rPr lang="en-US" smtClean="0"/>
            </a:fld>
            <a:endParaRPr lang="en-US"/>
          </a:p>
        </p:txBody>
      </p:sp>
      <p:pic>
        <p:nvPicPr>
          <p:cNvPr id="6" name="图片 5"/>
          <p:cNvPicPr>
            <a:picLocks noChangeAspect="1"/>
          </p:cNvPicPr>
          <p:nvPr/>
        </p:nvPicPr>
        <p:blipFill>
          <a:blip r:embed="rId1"/>
          <a:stretch>
            <a:fillRect/>
          </a:stretch>
        </p:blipFill>
        <p:spPr>
          <a:xfrm>
            <a:off x="660400" y="1272540"/>
            <a:ext cx="10401300" cy="2491105"/>
          </a:xfrm>
          <a:prstGeom prst="rect">
            <a:avLst/>
          </a:prstGeom>
        </p:spPr>
      </p:pic>
      <p:pic>
        <p:nvPicPr>
          <p:cNvPr id="7" name="图片 6"/>
          <p:cNvPicPr>
            <a:picLocks noChangeAspect="1"/>
          </p:cNvPicPr>
          <p:nvPr/>
        </p:nvPicPr>
        <p:blipFill>
          <a:blip r:embed="rId2"/>
          <a:stretch>
            <a:fillRect/>
          </a:stretch>
        </p:blipFill>
        <p:spPr>
          <a:xfrm>
            <a:off x="660400" y="3611245"/>
            <a:ext cx="10546080" cy="3072765"/>
          </a:xfrm>
          <a:prstGeom prst="rect">
            <a:avLst/>
          </a:prstGeom>
        </p:spPr>
      </p:pic>
    </p:spTree>
    <p:custDataLst>
      <p:tags r:id="rId3"/>
    </p:custData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6860" y="531227"/>
            <a:ext cx="10858500" cy="576000"/>
          </a:xfrm>
        </p:spPr>
        <p:txBody>
          <a:bodyPr>
            <a:normAutofit/>
          </a:bodyPr>
          <a:lstStyle/>
          <a:p>
            <a:pPr marL="0" marR="0" lvl="0" indent="0" algn="l">
              <a:lnSpc>
                <a:spcPct val="100000"/>
              </a:lnSpc>
            </a:pPr>
            <a:r>
              <a:rPr lang="zh-CN" altLang="en-US" sz="2800" b="1" baseline="0" dirty="0">
                <a:solidFill>
                  <a:schemeClr val="accent1"/>
                </a:solidFill>
              </a:rPr>
              <a:t> RQ3: Quality of Causal Graphs Constructed by MetaRCA</a:t>
            </a:r>
            <a:endParaRPr lang="zh-CN" altLang="en-US" dirty="0"/>
          </a:p>
          <a:p>
            <a:pPr marL="0" marR="0" lvl="0" indent="0" algn="l">
              <a:lnSpc>
                <a:spcPct val="100000"/>
              </a:lnSpc>
            </a:pPr>
            <a:endParaRPr lang="zh-CN" alt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C8BB1146-E542-4D4E-B8E9-6919A11DDD48}" type="slidenum">
              <a:rPr lang="en-US" smtClean="0"/>
            </a:fld>
            <a:endParaRPr lang="en-US"/>
          </a:p>
        </p:txBody>
      </p:sp>
      <p:pic>
        <p:nvPicPr>
          <p:cNvPr id="6" name="图片 5"/>
          <p:cNvPicPr>
            <a:picLocks noChangeAspect="1"/>
          </p:cNvPicPr>
          <p:nvPr/>
        </p:nvPicPr>
        <p:blipFill>
          <a:blip r:embed="rId1"/>
          <a:stretch>
            <a:fillRect/>
          </a:stretch>
        </p:blipFill>
        <p:spPr>
          <a:xfrm>
            <a:off x="971550" y="1497330"/>
            <a:ext cx="10149840" cy="3863340"/>
          </a:xfrm>
          <a:prstGeom prst="rect">
            <a:avLst/>
          </a:prstGeom>
        </p:spPr>
      </p:pic>
    </p:spTree>
    <p:custDataLst>
      <p:tags r:id="rId2"/>
    </p:custData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6839" y="389063"/>
            <a:ext cx="10858500" cy="576000"/>
          </a:xfrm>
        </p:spPr>
        <p:txBody>
          <a:bodyPr>
            <a:normAutofit/>
          </a:bodyPr>
          <a:lstStyle/>
          <a:p>
            <a:pPr marL="0" marR="0" lvl="0" indent="0" algn="l">
              <a:lnSpc>
                <a:spcPct val="100000"/>
              </a:lnSpc>
            </a:pPr>
            <a:r>
              <a:rPr lang="zh-CN" altLang="en-US" sz="2800" b="1" baseline="0" dirty="0">
                <a:solidFill>
                  <a:schemeClr val="accent1"/>
                </a:solidFill>
              </a:rPr>
              <a:t>RQ4: Ablation Study of Key Designs
</a:t>
            </a:r>
            <a:endParaRPr lang="zh-CN" alt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C8BB1146-E542-4D4E-B8E9-6919A11DDD48}" type="slidenum">
              <a:rPr lang="en-US" smtClean="0"/>
            </a:fld>
            <a:endParaRPr lang="en-US"/>
          </a:p>
        </p:txBody>
      </p:sp>
      <p:pic>
        <p:nvPicPr>
          <p:cNvPr id="6" name="图片 5"/>
          <p:cNvPicPr>
            <a:picLocks noChangeAspect="1"/>
          </p:cNvPicPr>
          <p:nvPr/>
        </p:nvPicPr>
        <p:blipFill>
          <a:blip r:embed="rId1"/>
          <a:stretch>
            <a:fillRect/>
          </a:stretch>
        </p:blipFill>
        <p:spPr>
          <a:xfrm>
            <a:off x="1983105" y="1919605"/>
            <a:ext cx="7673340" cy="3535680"/>
          </a:xfrm>
          <a:prstGeom prst="rect">
            <a:avLst/>
          </a:prstGeom>
        </p:spPr>
      </p:pic>
    </p:spTree>
    <p:custDataLst>
      <p:tags r:id="rId2"/>
    </p:custData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hasCustomPrompt="1"/>
          </p:nvPr>
        </p:nvSpPr>
        <p:spPr/>
        <p:txBody>
          <a:bodyPr/>
          <a:lstStyle/>
          <a:p>
            <a:r>
              <a:rPr lang="zh-CN" altLang="en-US"/>
              <a:t>谢谢观看</a:t>
            </a:r>
            <a:endParaRPr lang="en-US"/>
          </a:p>
        </p:txBody>
      </p:sp>
      <p:sp>
        <p:nvSpPr>
          <p:cNvPr id="13" name="文本占位符 12"/>
          <p:cNvSpPr>
            <a:spLocks noGrp="1"/>
          </p:cNvSpPr>
          <p:nvPr>
            <p:ph type="body" sz="quarter" idx="13" hasCustomPrompt="1"/>
          </p:nvPr>
        </p:nvSpPr>
        <p:spPr/>
        <p:txBody>
          <a:bodyPr/>
          <a:lstStyle/>
          <a:p>
            <a:r>
              <a:rPr lang="zh-CN" altLang="en-US"/>
              <a:t>刘军</a:t>
            </a:r>
            <a:r>
              <a:rPr lang="zh-CN" altLang="en-US"/>
              <a:t>辉</a:t>
            </a:r>
            <a:endParaRPr lang="zh-CN" altLang="en-US"/>
          </a:p>
        </p:txBody>
      </p:sp>
      <p:sp>
        <p:nvSpPr>
          <p:cNvPr id="15" name="文本占位符 14"/>
          <p:cNvSpPr>
            <a:spLocks noGrp="1"/>
          </p:cNvSpPr>
          <p:nvPr>
            <p:ph type="body" sz="quarter" idx="14" hasCustomPrompt="1"/>
          </p:nvPr>
        </p:nvSpPr>
        <p:spPr/>
        <p:txBody>
          <a:bodyPr/>
          <a:lstStyle/>
          <a:p>
            <a:r>
              <a:rPr lang="zh-CN" altLang="en-US"/>
              <a:t>2026/07/05</a:t>
            </a:r>
            <a:endParaRPr lang="en-US"/>
          </a:p>
        </p:txBody>
      </p:sp>
    </p:spTree>
  </p:cSld>
  <p:clrMapOvr>
    <a:masterClrMapping/>
  </p:clrMapOvr>
  <p:transition/>
</p:sld>
</file>

<file path=ppt/tags/tag1.xml><?xml version="1.0" encoding="utf-8"?>
<p:tagLst xmlns:p="http://schemas.openxmlformats.org/presentationml/2006/main">
  <p:tag name="CAPPT.DIAGRAM" val="4c6b0ccb-ae93-4394-9740-c228d42eccfe"/>
  <p:tag name="DIAGRAMSTYLE" val="modern"/>
</p:tagLst>
</file>

<file path=ppt/tags/tag2.xml><?xml version="1.0" encoding="utf-8"?>
<p:tagLst xmlns:p="http://schemas.openxmlformats.org/presentationml/2006/main">
  <p:tag name="KSO_WM_DIAGRAM_VIRTUALLY_FRAME" val="{&quot;height&quot;:394,&quot;left&quot;:51.249921259842516,&quot;top&quot;:89,&quot;width&quot;:855.0000787401575}"/>
</p:tagLst>
</file>

<file path=ppt/tags/tag3.xml><?xml version="1.0" encoding="utf-8"?>
<p:tagLst xmlns:p="http://schemas.openxmlformats.org/presentationml/2006/main">
  <p:tag name="KSO_WM_DIAGRAM_VIRTUALLY_FRAME" val="{&quot;height&quot;:394,&quot;left&quot;:51.249921259842516,&quot;top&quot;:89,&quot;width&quot;:855.0000787401575}"/>
</p:tagLst>
</file>

<file path=ppt/tags/tag4.xml><?xml version="1.0" encoding="utf-8"?>
<p:tagLst xmlns:p="http://schemas.openxmlformats.org/presentationml/2006/main">
  <p:tag name="KSO_WM_DIAGRAM_VIRTUALLY_FRAME" val="{&quot;height&quot;:394,&quot;left&quot;:51.249921259842516,&quot;top&quot;:89,&quot;width&quot;:855.0000787401575}"/>
</p:tagLst>
</file>

<file path=ppt/tags/tag5.xml><?xml version="1.0" encoding="utf-8"?>
<p:tagLst xmlns:p="http://schemas.openxmlformats.org/presentationml/2006/main">
  <p:tag name="KSO_WM_DIAGRAM_VIRTUALLY_FRAME" val="{&quot;height&quot;:394,&quot;left&quot;:51.249921259842516,&quot;top&quot;:89,&quot;width&quot;:855.0000787401575}"/>
</p:tagLst>
</file>

<file path=ppt/tags/tag6.xml><?xml version="1.0" encoding="utf-8"?>
<p:tagLst xmlns:p="http://schemas.openxmlformats.org/presentationml/2006/main">
  <p:tag name="KSO_WM_DIAGRAM_VIRTUALLY_FRAME" val="{&quot;height&quot;:394,&quot;left&quot;:51.249921259842516,&quot;top&quot;:89,&quot;width&quot;:855.0000787401575}"/>
</p:tagLst>
</file>

<file path=ppt/tags/tag7.xml><?xml version="1.0" encoding="utf-8"?>
<p:tagLst xmlns:p="http://schemas.openxmlformats.org/presentationml/2006/main">
  <p:tag name="KSO_WM_DIAGRAM_VIRTUALLY_FRAME" val="{&quot;height&quot;:394,&quot;left&quot;:51.249921259842516,&quot;top&quot;:89,&quot;width&quot;:855.0000787401575}"/>
</p:tagLst>
</file>

<file path=ppt/tags/tag8.xml><?xml version="1.0" encoding="utf-8"?>
<p:tagLst xmlns:p="http://schemas.openxmlformats.org/presentationml/2006/main">
  <p:tag name="KSO_WM_DIAGRAM_VIRTUALLY_FRAME" val="{&quot;height&quot;:394,&quot;left&quot;:51.249921259842516,&quot;top&quot;:89,&quot;width&quot;:855.0000787401575}"/>
</p:tagLst>
</file>

<file path=ppt/tags/tag9.xml><?xml version="1.0" encoding="utf-8"?>
<p:tagLst xmlns:p="http://schemas.openxmlformats.org/presentationml/2006/main">
  <p:tag name="KSO_WM_DIAGRAM_VIRTUALLY_FRAME" val="{&quot;height&quot;:394,&quot;left&quot;:51.249921259842516,&quot;top&quot;:89,&quot;width&quot;:855.0000787401575}"/>
</p:tagLst>
</file>

<file path=ppt/tags/tag10.xml><?xml version="1.0" encoding="utf-8"?>
<p:tagLst xmlns:p="http://schemas.openxmlformats.org/presentationml/2006/main">
  <p:tag name="KSO_WM_DIAGRAM_VIRTUALLY_FRAME" val="{&quot;height&quot;:394,&quot;left&quot;:51.249921259842516,&quot;top&quot;:89,&quot;width&quot;:855.0000787401575}"/>
</p:tagLst>
</file>

<file path=ppt/tags/tag11.xml><?xml version="1.0" encoding="utf-8"?>
<p:tagLst xmlns:p="http://schemas.openxmlformats.org/presentationml/2006/main">
  <p:tag name="KSO_WM_DIAGRAM_VIRTUALLY_FRAME" val="{&quot;height&quot;:394,&quot;left&quot;:51.249921259842516,&quot;top&quot;:89,&quot;width&quot;:855.0000787401575}"/>
</p:tagLst>
</file>

<file path=ppt/tags/tag12.xml><?xml version="1.0" encoding="utf-8"?>
<p:tagLst xmlns:p="http://schemas.openxmlformats.org/presentationml/2006/main">
  <p:tag name="KSO_WM_DIAGRAM_VIRTUALLY_FRAME" val="{&quot;height&quot;:394,&quot;left&quot;:51.249921259842516,&quot;top&quot;:89,&quot;width&quot;:855.0000787401575}"/>
</p:tagLst>
</file>

<file path=ppt/tags/tag13.xml><?xml version="1.0" encoding="utf-8"?>
<p:tagLst xmlns:p="http://schemas.openxmlformats.org/presentationml/2006/main">
  <p:tag name="KSO_WM_DIAGRAM_VIRTUALLY_FRAME" val="{&quot;height&quot;:394,&quot;left&quot;:51.249921259842516,&quot;top&quot;:89,&quot;width&quot;:855.0000787401575}"/>
</p:tagLst>
</file>

<file path=ppt/tags/tag14.xml><?xml version="1.0" encoding="utf-8"?>
<p:tagLst xmlns:p="http://schemas.openxmlformats.org/presentationml/2006/main">
  <p:tag name="KSO_WM_DIAGRAM_VIRTUALLY_FRAME" val="{&quot;height&quot;:394,&quot;left&quot;:51.249921259842516,&quot;top&quot;:89,&quot;width&quot;:855.0000787401575}"/>
</p:tagLst>
</file>

<file path=ppt/tags/tag15.xml><?xml version="1.0" encoding="utf-8"?>
<p:tagLst xmlns:p="http://schemas.openxmlformats.org/presentationml/2006/main">
  <p:tag name="KSO_WM_DIAGRAM_VIRTUALLY_FRAME" val="{&quot;height&quot;:394,&quot;left&quot;:51.249921259842516,&quot;top&quot;:89,&quot;width&quot;:855.0000787401575}"/>
</p:tagLst>
</file>

<file path=ppt/tags/tag16.xml><?xml version="1.0" encoding="utf-8"?>
<p:tagLst xmlns:p="http://schemas.openxmlformats.org/presentationml/2006/main">
  <p:tag name="KSO_WM_DIAGRAM_VIRTUALLY_FRAME" val="{&quot;height&quot;:394,&quot;left&quot;:51.249921259842516,&quot;top&quot;:89,&quot;width&quot;:855.0000787401575}"/>
</p:tagLst>
</file>

<file path=ppt/tags/tag17.xml><?xml version="1.0" encoding="utf-8"?>
<p:tagLst xmlns:p="http://schemas.openxmlformats.org/presentationml/2006/main">
  <p:tag name="KSO_WM_DIAGRAM_VIRTUALLY_FRAME" val="{&quot;height&quot;:394,&quot;left&quot;:51.249921259842516,&quot;top&quot;:89,&quot;width&quot;:855.0000787401575}"/>
</p:tagLst>
</file>

<file path=ppt/tags/tag18.xml><?xml version="1.0" encoding="utf-8"?>
<p:tagLst xmlns:p="http://schemas.openxmlformats.org/presentationml/2006/main">
  <p:tag name="KSO_WM_DIAGRAM_VIRTUALLY_FRAME" val="{&quot;height&quot;:394,&quot;left&quot;:51.249921259842516,&quot;top&quot;:89,&quot;width&quot;:855.0000787401575}"/>
</p:tagLst>
</file>

<file path=ppt/tags/tag19.xml><?xml version="1.0" encoding="utf-8"?>
<p:tagLst xmlns:p="http://schemas.openxmlformats.org/presentationml/2006/main">
  <p:tag name="KSO_WM_DIAGRAM_VIRTUALLY_FRAME" val="{&quot;height&quot;:394,&quot;left&quot;:51.249921259842516,&quot;top&quot;:89,&quot;width&quot;:855.0000787401575}"/>
</p:tagLst>
</file>

<file path=ppt/tags/tag20.xml><?xml version="1.0" encoding="utf-8"?>
<p:tagLst xmlns:p="http://schemas.openxmlformats.org/presentationml/2006/main">
  <p:tag name="CAPPT.DIAGRAM" val="79280926-6ad7-4929-baf7-f1c726fc62cf"/>
  <p:tag name="DIAGRAMSTYLE" val="modern"/>
</p:tagLst>
</file>

<file path=ppt/tags/tag21.xml><?xml version="1.0" encoding="utf-8"?>
<p:tagLst xmlns:p="http://schemas.openxmlformats.org/presentationml/2006/main">
  <p:tag name="CAPPT.DIAGRAM" val="4f2a26cf-8e24-4fe5-97e7-2e245b41b5d3"/>
  <p:tag name="DIAGRAMSTYLE" val="simple"/>
</p:tagLst>
</file>

<file path=ppt/tags/tag22.xml><?xml version="1.0" encoding="utf-8"?>
<p:tagLst xmlns:p="http://schemas.openxmlformats.org/presentationml/2006/main">
  <p:tag name="CAPPT.DIAGRAM" val="807736e4-5fac-4b10-8c1a-b4dd114fd7b1"/>
</p:tagLst>
</file>

<file path=ppt/tags/tag23.xml><?xml version="1.0" encoding="utf-8"?>
<p:tagLst xmlns:p="http://schemas.openxmlformats.org/presentationml/2006/main">
  <p:tag name="KSO_WM_DIAGRAM_VIRTUALLY_FRAME" val="{&quot;height&quot;:393.99992125984255,&quot;left&quot;:52,&quot;top&quot;:89.00007874015748,&quot;width&quot;:855}"/>
</p:tagLst>
</file>

<file path=ppt/tags/tag24.xml><?xml version="1.0" encoding="utf-8"?>
<p:tagLst xmlns:p="http://schemas.openxmlformats.org/presentationml/2006/main">
  <p:tag name="KSO_WM_DIAGRAM_VIRTUALLY_FRAME" val="{&quot;height&quot;:393.99992125984255,&quot;left&quot;:52,&quot;top&quot;:89.00007874015748,&quot;width&quot;:855}"/>
</p:tagLst>
</file>

<file path=ppt/tags/tag25.xml><?xml version="1.0" encoding="utf-8"?>
<p:tagLst xmlns:p="http://schemas.openxmlformats.org/presentationml/2006/main">
  <p:tag name="KSO_WM_DIAGRAM_VIRTUALLY_FRAME" val="{&quot;height&quot;:393.99992125984255,&quot;left&quot;:52,&quot;top&quot;:89.00007874015748,&quot;width&quot;:855}"/>
</p:tagLst>
</file>

<file path=ppt/tags/tag26.xml><?xml version="1.0" encoding="utf-8"?>
<p:tagLst xmlns:p="http://schemas.openxmlformats.org/presentationml/2006/main">
  <p:tag name="KSO_WM_DIAGRAM_VIRTUALLY_FRAME" val="{&quot;height&quot;:393.99992125984255,&quot;left&quot;:52,&quot;top&quot;:89.00007874015748,&quot;width&quot;:855}"/>
</p:tagLst>
</file>

<file path=ppt/tags/tag27.xml><?xml version="1.0" encoding="utf-8"?>
<p:tagLst xmlns:p="http://schemas.openxmlformats.org/presentationml/2006/main">
  <p:tag name="KSO_WM_DIAGRAM_VIRTUALLY_FRAME" val="{&quot;height&quot;:393.99992125984255,&quot;left&quot;:52,&quot;top&quot;:89.00007874015748,&quot;width&quot;:855}"/>
</p:tagLst>
</file>

<file path=ppt/tags/tag28.xml><?xml version="1.0" encoding="utf-8"?>
<p:tagLst xmlns:p="http://schemas.openxmlformats.org/presentationml/2006/main">
  <p:tag name="KSO_WM_DIAGRAM_VIRTUALLY_FRAME" val="{&quot;height&quot;:393.99992125984255,&quot;left&quot;:52,&quot;top&quot;:89.00007874015748,&quot;width&quot;:855}"/>
</p:tagLst>
</file>

<file path=ppt/tags/tag29.xml><?xml version="1.0" encoding="utf-8"?>
<p:tagLst xmlns:p="http://schemas.openxmlformats.org/presentationml/2006/main">
  <p:tag name="KSO_WM_DIAGRAM_VIRTUALLY_FRAME" val="{&quot;height&quot;:393.99992125984255,&quot;left&quot;:52,&quot;top&quot;:89.00007874015748,&quot;width&quot;:855}"/>
</p:tagLst>
</file>

<file path=ppt/tags/tag30.xml><?xml version="1.0" encoding="utf-8"?>
<p:tagLst xmlns:p="http://schemas.openxmlformats.org/presentationml/2006/main">
  <p:tag name="KSO_WM_DIAGRAM_VIRTUALLY_FRAME" val="{&quot;height&quot;:393.99992125984255,&quot;left&quot;:52,&quot;top&quot;:89.00007874015748,&quot;width&quot;:855}"/>
</p:tagLst>
</file>

<file path=ppt/tags/tag31.xml><?xml version="1.0" encoding="utf-8"?>
<p:tagLst xmlns:p="http://schemas.openxmlformats.org/presentationml/2006/main">
  <p:tag name="KSO_WM_DIAGRAM_VIRTUALLY_FRAME" val="{&quot;height&quot;:393.99992125984255,&quot;left&quot;:52,&quot;top&quot;:89.00007874015748,&quot;width&quot;:855}"/>
</p:tagLst>
</file>

<file path=ppt/tags/tag32.xml><?xml version="1.0" encoding="utf-8"?>
<p:tagLst xmlns:p="http://schemas.openxmlformats.org/presentationml/2006/main">
  <p:tag name="KSO_WM_DIAGRAM_VIRTUALLY_FRAME" val="{&quot;height&quot;:393.99992125984255,&quot;left&quot;:52,&quot;top&quot;:89.00007874015748,&quot;width&quot;:855}"/>
</p:tagLst>
</file>

<file path=ppt/tags/tag33.xml><?xml version="1.0" encoding="utf-8"?>
<p:tagLst xmlns:p="http://schemas.openxmlformats.org/presentationml/2006/main">
  <p:tag name="KSO_WM_DIAGRAM_VIRTUALLY_FRAME" val="{&quot;height&quot;:393.99992125984255,&quot;left&quot;:52,&quot;top&quot;:89.00007874015748,&quot;width&quot;:855}"/>
</p:tagLst>
</file>

<file path=ppt/tags/tag34.xml><?xml version="1.0" encoding="utf-8"?>
<p:tagLst xmlns:p="http://schemas.openxmlformats.org/presentationml/2006/main">
  <p:tag name="KSO_WM_DIAGRAM_VIRTUALLY_FRAME" val="{&quot;height&quot;:393.99992125984255,&quot;left&quot;:52,&quot;top&quot;:89.00007874015748,&quot;width&quot;:855}"/>
</p:tagLst>
</file>

<file path=ppt/tags/tag35.xml><?xml version="1.0" encoding="utf-8"?>
<p:tagLst xmlns:p="http://schemas.openxmlformats.org/presentationml/2006/main">
  <p:tag name="KSO_WM_DIAGRAM_VIRTUALLY_FRAME" val="{&quot;height&quot;:393.99992125984255,&quot;left&quot;:52,&quot;top&quot;:89.00007874015748,&quot;width&quot;:855}"/>
</p:tagLst>
</file>

<file path=ppt/tags/tag36.xml><?xml version="1.0" encoding="utf-8"?>
<p:tagLst xmlns:p="http://schemas.openxmlformats.org/presentationml/2006/main">
  <p:tag name="KSO_WM_DIAGRAM_VIRTUALLY_FRAME" val="{&quot;height&quot;:393.99992125984255,&quot;left&quot;:52,&quot;top&quot;:89.00007874015748,&quot;width&quot;:855}"/>
</p:tagLst>
</file>

<file path=ppt/tags/tag37.xml><?xml version="1.0" encoding="utf-8"?>
<p:tagLst xmlns:p="http://schemas.openxmlformats.org/presentationml/2006/main">
  <p:tag name="KSO_WM_DIAGRAM_VIRTUALLY_FRAME" val="{&quot;height&quot;:393.99992125984255,&quot;left&quot;:52,&quot;top&quot;:89.00007874015748,&quot;width&quot;:855}"/>
</p:tagLst>
</file>

<file path=ppt/tags/tag38.xml><?xml version="1.0" encoding="utf-8"?>
<p:tagLst xmlns:p="http://schemas.openxmlformats.org/presentationml/2006/main">
  <p:tag name="KSO_WM_DIAGRAM_VIRTUALLY_FRAME" val="{&quot;height&quot;:393.99992125984255,&quot;left&quot;:52,&quot;top&quot;:89.00007874015748,&quot;width&quot;:855}"/>
</p:tagLst>
</file>

<file path=ppt/tags/tag39.xml><?xml version="1.0" encoding="utf-8"?>
<p:tagLst xmlns:p="http://schemas.openxmlformats.org/presentationml/2006/main">
  <p:tag name="CAPPT.DIAGRAM" val="506dc21b-7223-4111-bdc1-7d2b884b41ff"/>
  <p:tag name="DIAGRAMSTYLE" val="simple"/>
  <p:tag name="CAPPT.PAGETYPE.SCENE" val="research-data"/>
  <p:tag name="CAPPT.PAGETYPE.LAYOUT" val="list"/>
  <p:tag name="CAPPT.PAGETYPE.CATEGORY" val="tech-innov"/>
  <p:tag name="CAPPT.PAGETYPE.FUNCTION" val="intro"/>
  <p:tag name="CAPPT.PAGETYPE.FOCUS" val="object"/>
</p:tagLst>
</file>

<file path=ppt/tags/tag40.xml><?xml version="1.0" encoding="utf-8"?>
<p:tagLst xmlns:p="http://schemas.openxmlformats.org/presentationml/2006/main">
  <p:tag name="KSO_WM_DIAGRAM_VIRTUALLY_FRAME" val="{&quot;height&quot;:394.00007874015745,&quot;left&quot;:52,&quot;top&quot;:89,&quot;width&quot;:855}"/>
</p:tagLst>
</file>

<file path=ppt/tags/tag41.xml><?xml version="1.0" encoding="utf-8"?>
<p:tagLst xmlns:p="http://schemas.openxmlformats.org/presentationml/2006/main">
  <p:tag name="KSO_WM_DIAGRAM_VIRTUALLY_FRAME" val="{&quot;height&quot;:394.00007874015745,&quot;left&quot;:52,&quot;top&quot;:89,&quot;width&quot;:855}"/>
</p:tagLst>
</file>

<file path=ppt/tags/tag42.xml><?xml version="1.0" encoding="utf-8"?>
<p:tagLst xmlns:p="http://schemas.openxmlformats.org/presentationml/2006/main">
  <p:tag name="KSO_WM_DIAGRAM_VIRTUALLY_FRAME" val="{&quot;height&quot;:394.00007874015745,&quot;left&quot;:52,&quot;top&quot;:89,&quot;width&quot;:855}"/>
</p:tagLst>
</file>

<file path=ppt/tags/tag43.xml><?xml version="1.0" encoding="utf-8"?>
<p:tagLst xmlns:p="http://schemas.openxmlformats.org/presentationml/2006/main">
  <p:tag name="KSO_WM_DIAGRAM_VIRTUALLY_FRAME" val="{&quot;height&quot;:394.00007874015745,&quot;left&quot;:52,&quot;top&quot;:89,&quot;width&quot;:855}"/>
</p:tagLst>
</file>

<file path=ppt/tags/tag44.xml><?xml version="1.0" encoding="utf-8"?>
<p:tagLst xmlns:p="http://schemas.openxmlformats.org/presentationml/2006/main">
  <p:tag name="KSO_WM_DIAGRAM_VIRTUALLY_FRAME" val="{&quot;height&quot;:394.00007874015745,&quot;left&quot;:52,&quot;top&quot;:89,&quot;width&quot;:855}"/>
</p:tagLst>
</file>

<file path=ppt/tags/tag45.xml><?xml version="1.0" encoding="utf-8"?>
<p:tagLst xmlns:p="http://schemas.openxmlformats.org/presentationml/2006/main">
  <p:tag name="KSO_WM_DIAGRAM_VIRTUALLY_FRAME" val="{&quot;height&quot;:394.00007874015745,&quot;left&quot;:52,&quot;top&quot;:89,&quot;width&quot;:855}"/>
</p:tagLst>
</file>

<file path=ppt/tags/tag46.xml><?xml version="1.0" encoding="utf-8"?>
<p:tagLst xmlns:p="http://schemas.openxmlformats.org/presentationml/2006/main">
  <p:tag name="KSO_WM_DIAGRAM_VIRTUALLY_FRAME" val="{&quot;height&quot;:394.00007874015745,&quot;left&quot;:52,&quot;top&quot;:89,&quot;width&quot;:855}"/>
</p:tagLst>
</file>

<file path=ppt/tags/tag47.xml><?xml version="1.0" encoding="utf-8"?>
<p:tagLst xmlns:p="http://schemas.openxmlformats.org/presentationml/2006/main">
  <p:tag name="KSO_WM_DIAGRAM_VIRTUALLY_FRAME" val="{&quot;height&quot;:394.00007874015745,&quot;left&quot;:52,&quot;top&quot;:89,&quot;width&quot;:855}"/>
</p:tagLst>
</file>

<file path=ppt/tags/tag48.xml><?xml version="1.0" encoding="utf-8"?>
<p:tagLst xmlns:p="http://schemas.openxmlformats.org/presentationml/2006/main">
  <p:tag name="KSO_WM_DIAGRAM_VIRTUALLY_FRAME" val="{&quot;height&quot;:394.00007874015745,&quot;left&quot;:52,&quot;top&quot;:89,&quot;width&quot;:855}"/>
</p:tagLst>
</file>

<file path=ppt/tags/tag49.xml><?xml version="1.0" encoding="utf-8"?>
<p:tagLst xmlns:p="http://schemas.openxmlformats.org/presentationml/2006/main">
  <p:tag name="KSO_WM_DIAGRAM_VIRTUALLY_FRAME" val="{&quot;height&quot;:394.00007874015745,&quot;left&quot;:52,&quot;top&quot;:89,&quot;width&quot;:855}"/>
</p:tagLst>
</file>

<file path=ppt/tags/tag50.xml><?xml version="1.0" encoding="utf-8"?>
<p:tagLst xmlns:p="http://schemas.openxmlformats.org/presentationml/2006/main">
  <p:tag name="KSO_WM_DIAGRAM_VIRTUALLY_FRAME" val="{&quot;height&quot;:394.00007874015745,&quot;left&quot;:52,&quot;top&quot;:89,&quot;width&quot;:855}"/>
</p:tagLst>
</file>

<file path=ppt/tags/tag51.xml><?xml version="1.0" encoding="utf-8"?>
<p:tagLst xmlns:p="http://schemas.openxmlformats.org/presentationml/2006/main">
  <p:tag name="KSO_WM_DIAGRAM_VIRTUALLY_FRAME" val="{&quot;height&quot;:394.00007874015745,&quot;left&quot;:52,&quot;top&quot;:89,&quot;width&quot;:855}"/>
</p:tagLst>
</file>

<file path=ppt/tags/tag52.xml><?xml version="1.0" encoding="utf-8"?>
<p:tagLst xmlns:p="http://schemas.openxmlformats.org/presentationml/2006/main">
  <p:tag name="KSO_WM_DIAGRAM_VIRTUALLY_FRAME" val="{&quot;height&quot;:394.00007874015745,&quot;left&quot;:52,&quot;top&quot;:89,&quot;width&quot;:855}"/>
</p:tagLst>
</file>

<file path=ppt/tags/tag53.xml><?xml version="1.0" encoding="utf-8"?>
<p:tagLst xmlns:p="http://schemas.openxmlformats.org/presentationml/2006/main">
  <p:tag name="KSO_WM_DIAGRAM_VIRTUALLY_FRAME" val="{&quot;height&quot;:394.00007874015745,&quot;left&quot;:52,&quot;top&quot;:89,&quot;width&quot;:855}"/>
</p:tagLst>
</file>

<file path=ppt/tags/tag54.xml><?xml version="1.0" encoding="utf-8"?>
<p:tagLst xmlns:p="http://schemas.openxmlformats.org/presentationml/2006/main">
  <p:tag name="KSO_WM_DIAGRAM_VIRTUALLY_FRAME" val="{&quot;height&quot;:394.00007874015745,&quot;left&quot;:52,&quot;top&quot;:89,&quot;width&quot;:855}"/>
</p:tagLst>
</file>

<file path=ppt/tags/tag55.xml><?xml version="1.0" encoding="utf-8"?>
<p:tagLst xmlns:p="http://schemas.openxmlformats.org/presentationml/2006/main">
  <p:tag name="KSO_WM_DIAGRAM_VIRTUALLY_FRAME" val="{&quot;height&quot;:394.00007874015745,&quot;left&quot;:52,&quot;top&quot;:89,&quot;width&quot;:855}"/>
</p:tagLst>
</file>

<file path=ppt/tags/tag56.xml><?xml version="1.0" encoding="utf-8"?>
<p:tagLst xmlns:p="http://schemas.openxmlformats.org/presentationml/2006/main">
  <p:tag name="KSO_WM_DIAGRAM_VIRTUALLY_FRAME" val="{&quot;height&quot;:394.00007874015745,&quot;left&quot;:52,&quot;top&quot;:89,&quot;width&quot;:855}"/>
</p:tagLst>
</file>

<file path=ppt/tags/tag57.xml><?xml version="1.0" encoding="utf-8"?>
<p:tagLst xmlns:p="http://schemas.openxmlformats.org/presentationml/2006/main">
  <p:tag name="CAPPT.DIAGRAM" val="2c2b8d33-ec3a-4902-b3bc-d845a734e9b4"/>
  <p:tag name="DIAGRAMSTYLE" val="simple"/>
  <p:tag name="CAPPT.PAGETYPE.SCENE" val="business-formal"/>
  <p:tag name="CAPPT.PAGETYPE.LAYOUT" val="list"/>
  <p:tag name="CAPPT.PAGETYPE.CATEGORY" val="workflow-logic"/>
  <p:tag name="CAPPT.PAGETYPE.FUNCTION" val="intro"/>
  <p:tag name="CAPPT.PAGETYPE.FOCUS" val="object"/>
</p:tagLst>
</file>

<file path=ppt/tags/tag58.xml><?xml version="1.0" encoding="utf-8"?>
<p:tagLst xmlns:p="http://schemas.openxmlformats.org/presentationml/2006/main">
  <p:tag name="CAPPT.DIAGRAM" val="2c2b8d33-ec3a-4902-b3bc-d845a734e9b4"/>
  <p:tag name="DIAGRAMSTYLE" val="simple"/>
  <p:tag name="CAPPT.PAGETYPE.SCENE" val="research-methodology"/>
  <p:tag name="CAPPT.PAGETYPE.LAYOUT" val="list"/>
  <p:tag name="CAPPT.PAGETYPE.CATEGORY" val="work-summary"/>
  <p:tag name="CAPPT.PAGETYPE.FUNCTION" val="intro"/>
  <p:tag name="CAPPT.PAGETYPE.FOCUS" val="general"/>
</p:tagLst>
</file>

<file path=ppt/tags/tag59.xml><?xml version="1.0" encoding="utf-8"?>
<p:tagLst xmlns:p="http://schemas.openxmlformats.org/presentationml/2006/main">
  <p:tag name="KSO_WM_DIAGRAM_VIRTUALLY_FRAME" val="{&quot;height&quot;:394,&quot;left&quot;:51.999921259842516,&quot;top&quot;:89,&quot;width&quot;:855.0000787401575}"/>
</p:tagLst>
</file>

<file path=ppt/tags/tag60.xml><?xml version="1.0" encoding="utf-8"?>
<p:tagLst xmlns:p="http://schemas.openxmlformats.org/presentationml/2006/main">
  <p:tag name="KSO_WM_DIAGRAM_VIRTUALLY_FRAME" val="{&quot;height&quot;:394,&quot;left&quot;:51.999921259842516,&quot;top&quot;:89,&quot;width&quot;:855.0000787401575}"/>
</p:tagLst>
</file>

<file path=ppt/tags/tag61.xml><?xml version="1.0" encoding="utf-8"?>
<p:tagLst xmlns:p="http://schemas.openxmlformats.org/presentationml/2006/main">
  <p:tag name="KSO_WM_DIAGRAM_VIRTUALLY_FRAME" val="{&quot;height&quot;:394,&quot;left&quot;:51.999921259842516,&quot;top&quot;:89,&quot;width&quot;:855.0000787401575}"/>
</p:tagLst>
</file>

<file path=ppt/tags/tag62.xml><?xml version="1.0" encoding="utf-8"?>
<p:tagLst xmlns:p="http://schemas.openxmlformats.org/presentationml/2006/main">
  <p:tag name="KSO_WM_DIAGRAM_VIRTUALLY_FRAME" val="{&quot;height&quot;:394,&quot;left&quot;:51.999921259842516,&quot;top&quot;:89,&quot;width&quot;:855.0000787401575}"/>
</p:tagLst>
</file>

<file path=ppt/tags/tag63.xml><?xml version="1.0" encoding="utf-8"?>
<p:tagLst xmlns:p="http://schemas.openxmlformats.org/presentationml/2006/main">
  <p:tag name="KSO_WM_DIAGRAM_VIRTUALLY_FRAME" val="{&quot;height&quot;:394,&quot;left&quot;:51.999921259842516,&quot;top&quot;:89,&quot;width&quot;:855.0000787401575}"/>
</p:tagLst>
</file>

<file path=ppt/tags/tag64.xml><?xml version="1.0" encoding="utf-8"?>
<p:tagLst xmlns:p="http://schemas.openxmlformats.org/presentationml/2006/main">
  <p:tag name="KSO_WM_DIAGRAM_VIRTUALLY_FRAME" val="{&quot;height&quot;:394,&quot;left&quot;:51.999921259842516,&quot;top&quot;:89,&quot;width&quot;:855.0000787401575}"/>
</p:tagLst>
</file>

<file path=ppt/tags/tag65.xml><?xml version="1.0" encoding="utf-8"?>
<p:tagLst xmlns:p="http://schemas.openxmlformats.org/presentationml/2006/main">
  <p:tag name="KSO_WM_DIAGRAM_VIRTUALLY_FRAME" val="{&quot;height&quot;:394,&quot;left&quot;:51.999921259842516,&quot;top&quot;:89,&quot;width&quot;:855.0000787401575}"/>
</p:tagLst>
</file>

<file path=ppt/tags/tag66.xml><?xml version="1.0" encoding="utf-8"?>
<p:tagLst xmlns:p="http://schemas.openxmlformats.org/presentationml/2006/main">
  <p:tag name="KSO_WM_DIAGRAM_VIRTUALLY_FRAME" val="{&quot;height&quot;:394,&quot;left&quot;:51.999921259842516,&quot;top&quot;:89,&quot;width&quot;:855.0000787401575}"/>
</p:tagLst>
</file>

<file path=ppt/tags/tag67.xml><?xml version="1.0" encoding="utf-8"?>
<p:tagLst xmlns:p="http://schemas.openxmlformats.org/presentationml/2006/main">
  <p:tag name="KSO_WM_DIAGRAM_VIRTUALLY_FRAME" val="{&quot;height&quot;:394,&quot;left&quot;:51.999921259842516,&quot;top&quot;:89,&quot;width&quot;:855.0000787401575}"/>
</p:tagLst>
</file>

<file path=ppt/tags/tag68.xml><?xml version="1.0" encoding="utf-8"?>
<p:tagLst xmlns:p="http://schemas.openxmlformats.org/presentationml/2006/main">
  <p:tag name="KSO_WM_DIAGRAM_VIRTUALLY_FRAME" val="{&quot;height&quot;:394,&quot;left&quot;:51.999921259842516,&quot;top&quot;:89,&quot;width&quot;:855.0000787401575}"/>
</p:tagLst>
</file>

<file path=ppt/tags/tag69.xml><?xml version="1.0" encoding="utf-8"?>
<p:tagLst xmlns:p="http://schemas.openxmlformats.org/presentationml/2006/main">
  <p:tag name="KSO_WM_DIAGRAM_VIRTUALLY_FRAME" val="{&quot;height&quot;:394,&quot;left&quot;:51.999921259842516,&quot;top&quot;:89,&quot;width&quot;:855.0000787401575}"/>
</p:tagLst>
</file>

<file path=ppt/tags/tag70.xml><?xml version="1.0" encoding="utf-8"?>
<p:tagLst xmlns:p="http://schemas.openxmlformats.org/presentationml/2006/main">
  <p:tag name="KSO_WM_DIAGRAM_VIRTUALLY_FRAME" val="{&quot;height&quot;:394,&quot;left&quot;:51.999921259842516,&quot;top&quot;:89,&quot;width&quot;:855.0000787401575}"/>
</p:tagLst>
</file>

<file path=ppt/tags/tag71.xml><?xml version="1.0" encoding="utf-8"?>
<p:tagLst xmlns:p="http://schemas.openxmlformats.org/presentationml/2006/main">
  <p:tag name="KSO_WM_DIAGRAM_VIRTUALLY_FRAME" val="{&quot;height&quot;:394,&quot;left&quot;:51.999921259842516,&quot;top&quot;:89,&quot;width&quot;:855.0000787401575}"/>
</p:tagLst>
</file>

<file path=ppt/tags/tag72.xml><?xml version="1.0" encoding="utf-8"?>
<p:tagLst xmlns:p="http://schemas.openxmlformats.org/presentationml/2006/main">
  <p:tag name="CAPPT.DIAGRAM" val="d3fb0efb-92bf-4090-88ef-060858c61e43"/>
  <p:tag name="DIAGRAMSTYLE" val="simple"/>
</p:tagLst>
</file>

<file path=ppt/tags/tag73.xml><?xml version="1.0" encoding="utf-8"?>
<p:tagLst xmlns:p="http://schemas.openxmlformats.org/presentationml/2006/main">
  <p:tag name="CAPPT.DIAGRAM" val="ed070b6a-04b9-452c-9301-fc135afc25ee"/>
  <p:tag name="DIAGRAMSTYLE" val="simple"/>
</p:tagLst>
</file>

<file path=ppt/tags/tag74.xml><?xml version="1.0" encoding="utf-8"?>
<p:tagLst xmlns:p="http://schemas.openxmlformats.org/presentationml/2006/main">
  <p:tag name="CAPPT.DIAGRAM" val="4c6b0ccb-ae93-4394-9740-c228d42eccfe"/>
  <p:tag name="DIAGRAMSTYLE" val="modern"/>
</p:tagLst>
</file>

<file path=ppt/tags/tag75.xml><?xml version="1.0" encoding="utf-8"?>
<p:tagLst xmlns:p="http://schemas.openxmlformats.org/presentationml/2006/main">
  <p:tag name="CAPPT.DIAGRAM" val="1ef6e67f-bf63-4fd4-8f20-c69f13e563ff"/>
  <p:tag name="DIAGRAMSTYLE" val="simple"/>
</p:tagLst>
</file>

<file path=ppt/tags/tag76.xml><?xml version="1.0" encoding="utf-8"?>
<p:tagLst xmlns:p="http://schemas.openxmlformats.org/presentationml/2006/main">
  <p:tag name="CAPPT.DIAGRAM" val="ed070b6a-04b9-452c-9301-fc135afc25ee"/>
  <p:tag name="DIAGRAMSTYLE" val="simple"/>
</p:tagLst>
</file>

<file path=ppt/tags/tag77.xml><?xml version="1.0" encoding="utf-8"?>
<p:tagLst xmlns:p="http://schemas.openxmlformats.org/presentationml/2006/main">
  <p:tag name="CAPPT.DIAGRAM" val="a20f0a4b-d491-4450-8163-ae036c394490"/>
  <p:tag name="DIAGRAMSTYLE" val="simple"/>
</p:tagLst>
</file>

<file path=ppt/tags/tag78.xml><?xml version="1.0" encoding="utf-8"?>
<p:tagLst xmlns:p="http://schemas.openxmlformats.org/presentationml/2006/main">
  <p:tag name="CAPPT.DIAGRAM" val="812c1dfe-6ae2-4ad3-8eb1-d286c5d069c1"/>
  <p:tag name="DIAGRAMSTYLE" val="simple"/>
</p:tagLst>
</file>

<file path=ppt/tags/tag79.xml><?xml version="1.0" encoding="utf-8"?>
<p:tagLst xmlns:p="http://schemas.openxmlformats.org/presentationml/2006/main">
  <p:tag name="KSO_WM_DIAGRAM_VIRTUALLY_FRAME" val="{&quot;height&quot;:439.5713385826772,&quot;left&quot;:52,&quot;top&quot;:89,&quot;width&quot;:855}"/>
</p:tagLst>
</file>

<file path=ppt/tags/tag80.xml><?xml version="1.0" encoding="utf-8"?>
<p:tagLst xmlns:p="http://schemas.openxmlformats.org/presentationml/2006/main">
  <p:tag name="KSO_WM_DIAGRAM_VIRTUALLY_FRAME" val="{&quot;height&quot;:439.5713385826772,&quot;left&quot;:52,&quot;top&quot;:89,&quot;width&quot;:855}"/>
</p:tagLst>
</file>

<file path=ppt/tags/tag81.xml><?xml version="1.0" encoding="utf-8"?>
<p:tagLst xmlns:p="http://schemas.openxmlformats.org/presentationml/2006/main">
  <p:tag name="KSO_WM_DIAGRAM_VIRTUALLY_FRAME" val="{&quot;height&quot;:439.5713385826772,&quot;left&quot;:52,&quot;top&quot;:89,&quot;width&quot;:855}"/>
</p:tagLst>
</file>

<file path=ppt/tags/tag82.xml><?xml version="1.0" encoding="utf-8"?>
<p:tagLst xmlns:p="http://schemas.openxmlformats.org/presentationml/2006/main">
  <p:tag name="KSO_WM_DIAGRAM_VIRTUALLY_FRAME" val="{&quot;height&quot;:439.5713385826772,&quot;left&quot;:52,&quot;top&quot;:89,&quot;width&quot;:855}"/>
</p:tagLst>
</file>

<file path=ppt/tags/tag83.xml><?xml version="1.0" encoding="utf-8"?>
<p:tagLst xmlns:p="http://schemas.openxmlformats.org/presentationml/2006/main">
  <p:tag name="KSO_WM_DIAGRAM_VIRTUALLY_FRAME" val="{&quot;height&quot;:439.5713385826772,&quot;left&quot;:52,&quot;top&quot;:89,&quot;width&quot;:855}"/>
</p:tagLst>
</file>

<file path=ppt/tags/tag84.xml><?xml version="1.0" encoding="utf-8"?>
<p:tagLst xmlns:p="http://schemas.openxmlformats.org/presentationml/2006/main">
  <p:tag name="KSO_WM_DIAGRAM_VIRTUALLY_FRAME" val="{&quot;height&quot;:439.5713385826772,&quot;left&quot;:52,&quot;top&quot;:89,&quot;width&quot;:855}"/>
</p:tagLst>
</file>

<file path=ppt/tags/tag85.xml><?xml version="1.0" encoding="utf-8"?>
<p:tagLst xmlns:p="http://schemas.openxmlformats.org/presentationml/2006/main">
  <p:tag name="KSO_WM_DIAGRAM_VIRTUALLY_FRAME" val="{&quot;height&quot;:439.5713385826772,&quot;left&quot;:52,&quot;top&quot;:89,&quot;width&quot;:855}"/>
</p:tagLst>
</file>

<file path=ppt/tags/tag86.xml><?xml version="1.0" encoding="utf-8"?>
<p:tagLst xmlns:p="http://schemas.openxmlformats.org/presentationml/2006/main">
  <p:tag name="KSO_WM_DIAGRAM_VIRTUALLY_FRAME" val="{&quot;height&quot;:439.5713385826772,&quot;left&quot;:52,&quot;top&quot;:89,&quot;width&quot;:855}"/>
</p:tagLst>
</file>

<file path=ppt/tags/tag87.xml><?xml version="1.0" encoding="utf-8"?>
<p:tagLst xmlns:p="http://schemas.openxmlformats.org/presentationml/2006/main">
  <p:tag name="CAPPT.DIAGRAM" val="65252b71-26ff-4238-b1cd-85801f253b1e"/>
  <p:tag name="DIAGRAMSTYLE" val="simple"/>
</p:tagLst>
</file>

<file path=ppt/tags/tag88.xml><?xml version="1.0" encoding="utf-8"?>
<p:tagLst xmlns:p="http://schemas.openxmlformats.org/presentationml/2006/main">
  <p:tag name="CAPPT.DIAGRAM" val="4c6b0ccb-ae93-4394-9740-c228d42eccfe"/>
  <p:tag name="DIAGRAMSTYLE" val="modern"/>
</p:tagLst>
</file>

<file path=ppt/tags/tag89.xml><?xml version="1.0" encoding="utf-8"?>
<p:tagLst xmlns:p="http://schemas.openxmlformats.org/presentationml/2006/main">
  <p:tag name="CAPPT.DIAGRAM" val="1ef6e67f-bf63-4fd4-8f20-c69f13e563ff"/>
  <p:tag name="DIAGRAMSTYLE" val="simple"/>
</p:tagLst>
</file>

<file path=ppt/tags/tag90.xml><?xml version="1.0" encoding="utf-8"?>
<p:tagLst xmlns:p="http://schemas.openxmlformats.org/presentationml/2006/main">
  <p:tag name="CAPPT.DIAGRAM" val="4c6b0ccb-ae93-4394-9740-c228d42eccfe"/>
  <p:tag name="DIAGRAMSTYLE" val="modern"/>
</p:tagLst>
</file>

<file path=ppt/tags/tag91.xml><?xml version="1.0" encoding="utf-8"?>
<p:tagLst xmlns:p="http://schemas.openxmlformats.org/presentationml/2006/main">
  <p:tag name="KSO_WM_DIAGRAM_VIRTUALLY_FRAME" val="{&quot;height&quot;:394,&quot;left&quot;:45.098740157480314,&quot;top&quot;:89,&quot;width&quot;:861.9012598425197}"/>
</p:tagLst>
</file>

<file path=ppt/tags/tag92.xml><?xml version="1.0" encoding="utf-8"?>
<p:tagLst xmlns:p="http://schemas.openxmlformats.org/presentationml/2006/main">
  <p:tag name="KSO_WM_DIAGRAM_VIRTUALLY_FRAME" val="{&quot;height&quot;:394,&quot;left&quot;:45.098740157480314,&quot;top&quot;:89,&quot;width&quot;:861.9012598425197}"/>
</p:tagLst>
</file>

<file path=ppt/tags/tag93.xml><?xml version="1.0" encoding="utf-8"?>
<p:tagLst xmlns:p="http://schemas.openxmlformats.org/presentationml/2006/main">
  <p:tag name="KSO_WM_DIAGRAM_VIRTUALLY_FRAME" val="{&quot;height&quot;:394,&quot;left&quot;:45.098740157480314,&quot;top&quot;:89,&quot;width&quot;:861.9012598425197}"/>
</p:tagLst>
</file>

<file path=ppt/tags/tag94.xml><?xml version="1.0" encoding="utf-8"?>
<p:tagLst xmlns:p="http://schemas.openxmlformats.org/presentationml/2006/main">
  <p:tag name="KSO_WM_DIAGRAM_VIRTUALLY_FRAME" val="{&quot;height&quot;:394,&quot;left&quot;:45.098740157480314,&quot;top&quot;:89,&quot;width&quot;:861.9012598425197}"/>
</p:tagLst>
</file>

<file path=ppt/tags/tag95.xml><?xml version="1.0" encoding="utf-8"?>
<p:tagLst xmlns:p="http://schemas.openxmlformats.org/presentationml/2006/main">
  <p:tag name="KSO_WM_DIAGRAM_VIRTUALLY_FRAME" val="{&quot;height&quot;:394,&quot;left&quot;:45.098740157480314,&quot;top&quot;:89,&quot;width&quot;:861.9012598425197}"/>
</p:tagLst>
</file>

<file path=ppt/tags/tag96.xml><?xml version="1.0" encoding="utf-8"?>
<p:tagLst xmlns:p="http://schemas.openxmlformats.org/presentationml/2006/main">
  <p:tag name="KSO_WM_DIAGRAM_VIRTUALLY_FRAME" val="{&quot;height&quot;:394,&quot;left&quot;:45.098740157480314,&quot;top&quot;:89,&quot;width&quot;:861.9012598425197}"/>
</p:tagLst>
</file>

<file path=ppt/tags/tag97.xml><?xml version="1.0" encoding="utf-8"?>
<p:tagLst xmlns:p="http://schemas.openxmlformats.org/presentationml/2006/main">
  <p:tag name="KSO_WM_DIAGRAM_VIRTUALLY_FRAME" val="{&quot;height&quot;:394,&quot;left&quot;:45.098740157480314,&quot;top&quot;:89,&quot;width&quot;:861.9012598425197}"/>
</p:tagLst>
</file>

<file path=ppt/tags/tag98.xml><?xml version="1.0" encoding="utf-8"?>
<p:tagLst xmlns:p="http://schemas.openxmlformats.org/presentationml/2006/main">
  <p:tag name="KSO_WM_DIAGRAM_VIRTUALLY_FRAME" val="{&quot;height&quot;:394,&quot;left&quot;:45.098740157480314,&quot;top&quot;:89,&quot;width&quot;:861.9012598425197}"/>
</p:tagLst>
</file>

<file path=ppt/tags/tag99.xml><?xml version="1.0" encoding="utf-8"?>
<p:tagLst xmlns:p="http://schemas.openxmlformats.org/presentationml/2006/main">
  <p:tag name="KSO_WM_DIAGRAM_VIRTUALLY_FRAME" val="{&quot;height&quot;:394,&quot;left&quot;:45.098740157480314,&quot;top&quot;:89,&quot;width&quot;:861.9012598425197}"/>
</p:tagLst>
</file>

<file path=ppt/tags/tag100.xml><?xml version="1.0" encoding="utf-8"?>
<p:tagLst xmlns:p="http://schemas.openxmlformats.org/presentationml/2006/main">
  <p:tag name="KSO_WM_DIAGRAM_VIRTUALLY_FRAME" val="{&quot;height&quot;:394,&quot;left&quot;:45.098740157480314,&quot;top&quot;:89,&quot;width&quot;:861.9012598425197}"/>
</p:tagLst>
</file>

<file path=ppt/tags/tag101.xml><?xml version="1.0" encoding="utf-8"?>
<p:tagLst xmlns:p="http://schemas.openxmlformats.org/presentationml/2006/main">
  <p:tag name="KSO_WM_DIAGRAM_VIRTUALLY_FRAME" val="{&quot;height&quot;:394,&quot;left&quot;:45.098740157480314,&quot;top&quot;:89,&quot;width&quot;:861.9012598425197}"/>
</p:tagLst>
</file>

<file path=ppt/tags/tag102.xml><?xml version="1.0" encoding="utf-8"?>
<p:tagLst xmlns:p="http://schemas.openxmlformats.org/presentationml/2006/main">
  <p:tag name="KSO_WM_DIAGRAM_VIRTUALLY_FRAME" val="{&quot;height&quot;:394,&quot;left&quot;:45.098740157480314,&quot;top&quot;:89,&quot;width&quot;:861.9012598425197}"/>
</p:tagLst>
</file>

<file path=ppt/tags/tag103.xml><?xml version="1.0" encoding="utf-8"?>
<p:tagLst xmlns:p="http://schemas.openxmlformats.org/presentationml/2006/main">
  <p:tag name="KSO_WM_DIAGRAM_VIRTUALLY_FRAME" val="{&quot;height&quot;:394,&quot;left&quot;:45.098740157480314,&quot;top&quot;:89,&quot;width&quot;:861.9012598425197}"/>
</p:tagLst>
</file>

<file path=ppt/tags/tag104.xml><?xml version="1.0" encoding="utf-8"?>
<p:tagLst xmlns:p="http://schemas.openxmlformats.org/presentationml/2006/main">
  <p:tag name="KSO_WM_DIAGRAM_VIRTUALLY_FRAME" val="{&quot;height&quot;:394,&quot;left&quot;:45.098740157480314,&quot;top&quot;:89,&quot;width&quot;:861.9012598425197}"/>
</p:tagLst>
</file>

<file path=ppt/tags/tag105.xml><?xml version="1.0" encoding="utf-8"?>
<p:tagLst xmlns:p="http://schemas.openxmlformats.org/presentationml/2006/main">
  <p:tag name="KSO_WM_DIAGRAM_VIRTUALLY_FRAME" val="{&quot;height&quot;:394,&quot;left&quot;:45.098740157480314,&quot;top&quot;:89,&quot;width&quot;:861.9012598425197}"/>
</p:tagLst>
</file>

<file path=ppt/tags/tag106.xml><?xml version="1.0" encoding="utf-8"?>
<p:tagLst xmlns:p="http://schemas.openxmlformats.org/presentationml/2006/main">
  <p:tag name="KSO_WM_DIAGRAM_VIRTUALLY_FRAME" val="{&quot;height&quot;:394,&quot;left&quot;:45.098740157480314,&quot;top&quot;:89,&quot;width&quot;:861.9012598425197}"/>
</p:tagLst>
</file>

<file path=ppt/tags/tag107.xml><?xml version="1.0" encoding="utf-8"?>
<p:tagLst xmlns:p="http://schemas.openxmlformats.org/presentationml/2006/main">
  <p:tag name="KSO_WM_DIAGRAM_VIRTUALLY_FRAME" val="{&quot;height&quot;:394,&quot;left&quot;:45.098740157480314,&quot;top&quot;:89,&quot;width&quot;:861.9012598425197}"/>
</p:tagLst>
</file>

<file path=ppt/tags/tag108.xml><?xml version="1.0" encoding="utf-8"?>
<p:tagLst xmlns:p="http://schemas.openxmlformats.org/presentationml/2006/main">
  <p:tag name="CAPPT.DIAGRAM" val="d3fb0efb-92bf-4090-88ef-060858c61e43"/>
  <p:tag name="DIAGRAMSTYLE" val="simple"/>
</p:tagLst>
</file>

<file path=ppt/tags/tag109.xml><?xml version="1.0" encoding="utf-8"?>
<p:tagLst xmlns:p="http://schemas.openxmlformats.org/presentationml/2006/main">
  <p:tag name="CAPPT.DIAGRAM" val="e7e37ab5-e94b-4e0f-96b7-3257ebab3e8b"/>
  <p:tag name="DIAGRAMSTYLE" val="simple"/>
  <p:tag name="CAPPT.PAGETYPE.SCENE" val="research-data"/>
  <p:tag name="CAPPT.PAGETYPE.LAYOUT" val="process"/>
  <p:tag name="CAPPT.PAGETYPE.CATEGORY" val="tech-innov"/>
  <p:tag name="CAPPT.PAGETYPE.FUNCTION" val="milestone"/>
  <p:tag name="CAPPT.PAGETYPE.FOCUS" val="object"/>
</p:tagLst>
</file>

<file path=ppt/tags/tag110.xml><?xml version="1.0" encoding="utf-8"?>
<p:tagLst xmlns:p="http://schemas.openxmlformats.org/presentationml/2006/main">
  <p:tag name="CAPPT.DIAGRAM" val="4f2a26cf-8e24-4fe5-97e7-2e245b41b5d3"/>
  <p:tag name="DIAGRAMSTYLE" val="simple"/>
  <p:tag name="CAPPT.PAGETYPE.SCENE" val="research-data"/>
  <p:tag name="CAPPT.PAGETYPE.LAYOUT" val="list"/>
  <p:tag name="CAPPT.PAGETYPE.CATEGORY" val="research-methodology"/>
  <p:tag name="CAPPT.PAGETYPE.FUNCTION" val="intro"/>
  <p:tag name="CAPPT.PAGETYPE.FOCUS" val="general"/>
</p:tagLst>
</file>

<file path=ppt/tags/tag111.xml><?xml version="1.0" encoding="utf-8"?>
<p:tagLst xmlns:p="http://schemas.openxmlformats.org/presentationml/2006/main">
  <p:tag name="KSO_WM_DIAGRAM_VIRTUALLY_FRAME" val="{&quot;height&quot;:394,&quot;left&quot;:45.098740157480314,&quot;top&quot;:89,&quot;width&quot;:861.9012598425197}"/>
</p:tagLst>
</file>

<file path=ppt/tags/tag112.xml><?xml version="1.0" encoding="utf-8"?>
<p:tagLst xmlns:p="http://schemas.openxmlformats.org/presentationml/2006/main">
  <p:tag name="KSO_WM_DIAGRAM_VIRTUALLY_FRAME" val="{&quot;height&quot;:394,&quot;left&quot;:45.098740157480314,&quot;top&quot;:89,&quot;width&quot;:861.9012598425197}"/>
</p:tagLst>
</file>

<file path=ppt/tags/tag113.xml><?xml version="1.0" encoding="utf-8"?>
<p:tagLst xmlns:p="http://schemas.openxmlformats.org/presentationml/2006/main">
  <p:tag name="KSO_WM_DIAGRAM_VIRTUALLY_FRAME" val="{&quot;height&quot;:394,&quot;left&quot;:45.098740157480314,&quot;top&quot;:89,&quot;width&quot;:861.9012598425197}"/>
</p:tagLst>
</file>

<file path=ppt/tags/tag114.xml><?xml version="1.0" encoding="utf-8"?>
<p:tagLst xmlns:p="http://schemas.openxmlformats.org/presentationml/2006/main">
  <p:tag name="KSO_WM_DIAGRAM_VIRTUALLY_FRAME" val="{&quot;height&quot;:394,&quot;left&quot;:45.098740157480314,&quot;top&quot;:89,&quot;width&quot;:861.9012598425197}"/>
</p:tagLst>
</file>

<file path=ppt/tags/tag115.xml><?xml version="1.0" encoding="utf-8"?>
<p:tagLst xmlns:p="http://schemas.openxmlformats.org/presentationml/2006/main">
  <p:tag name="KSO_WM_DIAGRAM_VIRTUALLY_FRAME" val="{&quot;height&quot;:394,&quot;left&quot;:45.098740157480314,&quot;top&quot;:89,&quot;width&quot;:861.9012598425197}"/>
</p:tagLst>
</file>

<file path=ppt/tags/tag116.xml><?xml version="1.0" encoding="utf-8"?>
<p:tagLst xmlns:p="http://schemas.openxmlformats.org/presentationml/2006/main">
  <p:tag name="KSO_WM_DIAGRAM_VIRTUALLY_FRAME" val="{&quot;height&quot;:394,&quot;left&quot;:45.098740157480314,&quot;top&quot;:89,&quot;width&quot;:861.9012598425197}"/>
</p:tagLst>
</file>

<file path=ppt/tags/tag117.xml><?xml version="1.0" encoding="utf-8"?>
<p:tagLst xmlns:p="http://schemas.openxmlformats.org/presentationml/2006/main">
  <p:tag name="KSO_WM_DIAGRAM_VIRTUALLY_FRAME" val="{&quot;height&quot;:394,&quot;left&quot;:45.098740157480314,&quot;top&quot;:89,&quot;width&quot;:861.9012598425197}"/>
</p:tagLst>
</file>

<file path=ppt/tags/tag118.xml><?xml version="1.0" encoding="utf-8"?>
<p:tagLst xmlns:p="http://schemas.openxmlformats.org/presentationml/2006/main">
  <p:tag name="KSO_WM_DIAGRAM_VIRTUALLY_FRAME" val="{&quot;height&quot;:394,&quot;left&quot;:45.098740157480314,&quot;top&quot;:89,&quot;width&quot;:861.9012598425197}"/>
</p:tagLst>
</file>

<file path=ppt/tags/tag119.xml><?xml version="1.0" encoding="utf-8"?>
<p:tagLst xmlns:p="http://schemas.openxmlformats.org/presentationml/2006/main">
  <p:tag name="KSO_WM_DIAGRAM_VIRTUALLY_FRAME" val="{&quot;height&quot;:394,&quot;left&quot;:45.098740157480314,&quot;top&quot;:89,&quot;width&quot;:861.9012598425197}"/>
</p:tagLst>
</file>

<file path=ppt/tags/tag120.xml><?xml version="1.0" encoding="utf-8"?>
<p:tagLst xmlns:p="http://schemas.openxmlformats.org/presentationml/2006/main">
  <p:tag name="KSO_WM_DIAGRAM_VIRTUALLY_FRAME" val="{&quot;height&quot;:394,&quot;left&quot;:45.098740157480314,&quot;top&quot;:89,&quot;width&quot;:861.9012598425197}"/>
</p:tagLst>
</file>

<file path=ppt/tags/tag121.xml><?xml version="1.0" encoding="utf-8"?>
<p:tagLst xmlns:p="http://schemas.openxmlformats.org/presentationml/2006/main">
  <p:tag name="KSO_WM_DIAGRAM_VIRTUALLY_FRAME" val="{&quot;height&quot;:394,&quot;left&quot;:45.098740157480314,&quot;top&quot;:89,&quot;width&quot;:861.9012598425197}"/>
</p:tagLst>
</file>

<file path=ppt/tags/tag122.xml><?xml version="1.0" encoding="utf-8"?>
<p:tagLst xmlns:p="http://schemas.openxmlformats.org/presentationml/2006/main">
  <p:tag name="KSO_WM_DIAGRAM_VIRTUALLY_FRAME" val="{&quot;height&quot;:394,&quot;left&quot;:45.098740157480314,&quot;top&quot;:89,&quot;width&quot;:861.9012598425197}"/>
</p:tagLst>
</file>

<file path=ppt/tags/tag123.xml><?xml version="1.0" encoding="utf-8"?>
<p:tagLst xmlns:p="http://schemas.openxmlformats.org/presentationml/2006/main">
  <p:tag name="KSO_WM_DIAGRAM_VIRTUALLY_FRAME" val="{&quot;height&quot;:394,&quot;left&quot;:45.098740157480314,&quot;top&quot;:89,&quot;width&quot;:861.9012598425197}"/>
</p:tagLst>
</file>

<file path=ppt/tags/tag124.xml><?xml version="1.0" encoding="utf-8"?>
<p:tagLst xmlns:p="http://schemas.openxmlformats.org/presentationml/2006/main">
  <p:tag name="KSO_WM_DIAGRAM_VIRTUALLY_FRAME" val="{&quot;height&quot;:394,&quot;left&quot;:45.098740157480314,&quot;top&quot;:89,&quot;width&quot;:861.9012598425197}"/>
</p:tagLst>
</file>

<file path=ppt/tags/tag125.xml><?xml version="1.0" encoding="utf-8"?>
<p:tagLst xmlns:p="http://schemas.openxmlformats.org/presentationml/2006/main">
  <p:tag name="KSO_WM_DIAGRAM_VIRTUALLY_FRAME" val="{&quot;height&quot;:394,&quot;left&quot;:45.098740157480314,&quot;top&quot;:89,&quot;width&quot;:861.9012598425197}"/>
</p:tagLst>
</file>

<file path=ppt/tags/tag126.xml><?xml version="1.0" encoding="utf-8"?>
<p:tagLst xmlns:p="http://schemas.openxmlformats.org/presentationml/2006/main">
  <p:tag name="KSO_WM_DIAGRAM_VIRTUALLY_FRAME" val="{&quot;height&quot;:394,&quot;left&quot;:45.098740157480314,&quot;top&quot;:89,&quot;width&quot;:861.9012598425197}"/>
</p:tagLst>
</file>

<file path=ppt/tags/tag127.xml><?xml version="1.0" encoding="utf-8"?>
<p:tagLst xmlns:p="http://schemas.openxmlformats.org/presentationml/2006/main">
  <p:tag name="KSO_WM_DIAGRAM_VIRTUALLY_FRAME" val="{&quot;height&quot;:394,&quot;left&quot;:45.098740157480314,&quot;top&quot;:89,&quot;width&quot;:861.9012598425197}"/>
</p:tagLst>
</file>

<file path=ppt/tags/tag128.xml><?xml version="1.0" encoding="utf-8"?>
<p:tagLst xmlns:p="http://schemas.openxmlformats.org/presentationml/2006/main">
  <p:tag name="KSO_WM_DIAGRAM_VIRTUALLY_FRAME" val="{&quot;height&quot;:394,&quot;left&quot;:45.098740157480314,&quot;top&quot;:89,&quot;width&quot;:861.9012598425197}"/>
</p:tagLst>
</file>

<file path=ppt/tags/tag129.xml><?xml version="1.0" encoding="utf-8"?>
<p:tagLst xmlns:p="http://schemas.openxmlformats.org/presentationml/2006/main">
  <p:tag name="KSO_WM_DIAGRAM_VIRTUALLY_FRAME" val="{&quot;height&quot;:394,&quot;left&quot;:45.098740157480314,&quot;top&quot;:89,&quot;width&quot;:861.9012598425197}"/>
</p:tagLst>
</file>

<file path=ppt/tags/tag130.xml><?xml version="1.0" encoding="utf-8"?>
<p:tagLst xmlns:p="http://schemas.openxmlformats.org/presentationml/2006/main">
  <p:tag name="KSO_WM_DIAGRAM_VIRTUALLY_FRAME" val="{&quot;height&quot;:394,&quot;left&quot;:45.098740157480314,&quot;top&quot;:89,&quot;width&quot;:861.9012598425197}"/>
</p:tagLst>
</file>

<file path=ppt/tags/tag131.xml><?xml version="1.0" encoding="utf-8"?>
<p:tagLst xmlns:p="http://schemas.openxmlformats.org/presentationml/2006/main">
  <p:tag name="KSO_WM_DIAGRAM_VIRTUALLY_FRAME" val="{&quot;height&quot;:394,&quot;left&quot;:45.098740157480314,&quot;top&quot;:89,&quot;width&quot;:861.9012598425197}"/>
</p:tagLst>
</file>

<file path=ppt/tags/tag132.xml><?xml version="1.0" encoding="utf-8"?>
<p:tagLst xmlns:p="http://schemas.openxmlformats.org/presentationml/2006/main">
  <p:tag name="CAPPT.DIAGRAM" val="d3fb0efb-92bf-4090-88ef-060858c61e43"/>
  <p:tag name="DIAGRAMSTYLE" val="simple"/>
  <p:tag name="CAPPT.PAGETYPE.SCENE" val="research-data"/>
  <p:tag name="CAPPT.PAGETYPE.LAYOUT" val="list"/>
  <p:tag name="CAPPT.PAGETYPE.CATEGORY" val="research-methodology"/>
  <p:tag name="CAPPT.PAGETYPE.FUNCTION" val="intro"/>
  <p:tag name="CAPPT.PAGETYPE.FOCUS" val="object"/>
</p:tagLst>
</file>

<file path=ppt/tags/tag133.xml><?xml version="1.0" encoding="utf-8"?>
<p:tagLst xmlns:p="http://schemas.openxmlformats.org/presentationml/2006/main">
  <p:tag name="CAPPT.DIAGRAM" val="80cc5d80-a764-4939-8654-c8a6e0fb501c"/>
  <p:tag name="DIAGRAMSTYLE" val="simple"/>
</p:tagLst>
</file>

<file path=ppt/tags/tag134.xml><?xml version="1.0" encoding="utf-8"?>
<p:tagLst xmlns:p="http://schemas.openxmlformats.org/presentationml/2006/main">
  <p:tag name="CAPPT.DIAGRAM" val="2c2b8d33-ec3a-4902-b3bc-d845a734e9b4"/>
  <p:tag name="DIAGRAMSTYLE" val="simple"/>
  <p:tag name="CAPPT.PAGETYPE.SCENE" val="research-data"/>
  <p:tag name="CAPPT.PAGETYPE.LAYOUT" val="list"/>
  <p:tag name="CAPPT.PAGETYPE.CATEGORY" val="tech-innov"/>
  <p:tag name="CAPPT.PAGETYPE.FUNCTION" val="data"/>
  <p:tag name="CAPPT.PAGETYPE.FOCUS" val="object"/>
</p:tagLst>
</file>

<file path=ppt/tags/tag135.xml><?xml version="1.0" encoding="utf-8"?>
<p:tagLst xmlns:p="http://schemas.openxmlformats.org/presentationml/2006/main">
  <p:tag name="CAPPT.DIAGRAM" val="2c2b8d33-ec3a-4902-b3bc-d845a734e9b4"/>
  <p:tag name="DIAGRAMSTYLE" val="simple"/>
  <p:tag name="CAPPT.PAGETYPE.SCENE" val="research-data"/>
  <p:tag name="CAPPT.PAGETYPE.LAYOUT" val="list"/>
  <p:tag name="CAPPT.PAGETYPE.CATEGORY" val="product-service"/>
  <p:tag name="CAPPT.PAGETYPE.FUNCTION" val="intro"/>
  <p:tag name="CAPPT.PAGETYPE.FOCUS" val="object"/>
</p:tagLst>
</file>

<file path=ppt/tags/tag136.xml><?xml version="1.0" encoding="utf-8"?>
<p:tagLst xmlns:p="http://schemas.openxmlformats.org/presentationml/2006/main">
  <p:tag name="CAPPT.DIAGRAM" val="2c2b8d33-ec3a-4902-b3bc-d845a734e9b4"/>
  <p:tag name="DIAGRAMSTYLE" val="simple"/>
  <p:tag name="CAPPT.PAGETYPE.SCENE" val="research-data"/>
  <p:tag name="CAPPT.PAGETYPE.LAYOUT" val="list"/>
  <p:tag name="CAPPT.PAGETYPE.CATEGORY" val="product-service"/>
  <p:tag name="CAPPT.PAGETYPE.FUNCTION" val="intro"/>
  <p:tag name="CAPPT.PAGETYPE.FOCUS" val="object"/>
</p:tagLst>
</file>

<file path=ppt/tags/tag137.xml><?xml version="1.0" encoding="utf-8"?>
<p:tagLst xmlns:p="http://schemas.openxmlformats.org/presentationml/2006/main">
  <p:tag name="CAPPT.DIAGRAM" val="2c2b8d33-ec3a-4902-b3bc-d845a734e9b4"/>
  <p:tag name="DIAGRAMSTYLE" val="simple"/>
  <p:tag name="CAPPT.PAGETYPE.SCENE" val="research-data"/>
  <p:tag name="CAPPT.PAGETYPE.LAYOUT" val="list"/>
  <p:tag name="CAPPT.PAGETYPE.CATEGORY" val="product-service"/>
  <p:tag name="CAPPT.PAGETYPE.FUNCTION" val="intro"/>
  <p:tag name="CAPPT.PAGETYPE.FOCUS" val="object"/>
</p:tagLst>
</file>

<file path=ppt/tags/tag138.xml><?xml version="1.0" encoding="utf-8"?>
<p:tagLst xmlns:p="http://schemas.openxmlformats.org/presentationml/2006/main">
  <p:tag name="AIGC" val="{&quot;Label&quot;:&quot;1&quot;,&quot;ContentProducer&quot;:&quot;\u6210\u90fd\u8292\u610f\u8f6f\u4ef6\u6280\u672f\u6709\u9650\u516c\u53f8&quot;,&quot;ProduceID&quot;:&quot;16a6b9bedf7e5c137cf66fb8448d2979&quot;,&quot;ReservedCode1&quot;:&quot;f85f42e19e9f47eefa01a56523fbd2d41f908d24941558462c3639c13cc3065c&quot;,&quot;ContentPropagator&quot;:&quot;\u6210\u90fd\u8292\u610f\u8f6f\u4ef6\u6280\u672f\u6709\u9650\u516c\u53f8&quot;,&quot;PropagateID&quot;:&quot;16a6b9bedf7e5c137cf66fb8448d2979&quot;,&quot;ReservedCode2&quot;:&quot;f85f42e19e9f47eefa01a56523fbd2d41f908d24941558462c3639c13cc3065c&quot;}"/>
  <p:tag name="CAPPT.THEME" val="2d85f150-6c8c-4aa7-8553-7d91be1a9841-theme"/>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a="http://schemas.openxmlformats.org/drawingml/2006/main" name="Slide Master">
  <a:themeElements>
    <a:clrScheme name="iSlide">
      <a:dk1>
        <a:srgbClr val="000000"/>
      </a:dk1>
      <a:lt1>
        <a:srgbClr val="FFFFFF"/>
      </a:lt1>
      <a:dk2>
        <a:srgbClr val="778495"/>
      </a:dk2>
      <a:lt2>
        <a:srgbClr val="F0F0F0"/>
      </a:lt2>
      <a:accent1>
        <a:srgbClr val="205497"/>
      </a:accent1>
      <a:accent2>
        <a:srgbClr val="178AA1"/>
      </a:accent2>
      <a:accent3>
        <a:srgbClr val="40A693"/>
      </a:accent3>
      <a:accent4>
        <a:srgbClr val="5268A5"/>
      </a:accent4>
      <a:accent5>
        <a:srgbClr val="5E5CA2"/>
      </a:accent5>
      <a:accent6>
        <a:srgbClr val="778495"/>
      </a:accent6>
      <a:hlink>
        <a:srgbClr val="4276AA"/>
      </a:hlink>
      <a:folHlink>
        <a:srgbClr val="BFBFBF"/>
      </a:folHlink>
    </a:clrScheme>
    <a:fontScheme name="iSlide">
      <a:majorFont>
        <a:latin typeface="Arial"/>
        <a:ea typeface="微软雅黑"/>
        <a:cs typeface="Arial"/>
      </a:majorFont>
      <a:minorFont>
        <a:latin typeface="Arial"/>
        <a:ea typeface="微软雅黑"/>
        <a:cs typeface="Arial"/>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Cappt Presentation Template</Template>
  <TotalTime>0</TotalTime>
  <Words>16636</Words>
  <Application>WPS 演示</Application>
  <PresentationFormat>宽屏</PresentationFormat>
  <Paragraphs>545</Paragraphs>
  <Slides>29</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29</vt:i4>
      </vt:variant>
    </vt:vector>
  </HeadingPairs>
  <TitlesOfParts>
    <vt:vector size="40" baseType="lpstr">
      <vt:lpstr>Arial</vt:lpstr>
      <vt:lpstr>宋体</vt:lpstr>
      <vt:lpstr>Wingdings</vt:lpstr>
      <vt:lpstr>Arial</vt:lpstr>
      <vt:lpstr>微软雅黑</vt:lpstr>
      <vt:lpstr>Arial Unicode MS</vt:lpstr>
      <vt:lpstr>Calibri</vt:lpstr>
      <vt:lpstr>OPPOSans B</vt:lpstr>
      <vt:lpstr>OPPOSans R</vt:lpstr>
      <vt:lpstr>MS PGothic</vt:lpstr>
      <vt:lpstr>Slide Master</vt:lpstr>
      <vt:lpstr>Knowledge</vt:lpstr>
      <vt:lpstr>Background: RCA in Cloud-Native Systems</vt:lpstr>
      <vt:lpstr>Evolution of Causal RCA Methods</vt:lpstr>
      <vt:lpstr>Three Key Challenges of Existing RCA Methods</vt:lpstr>
      <vt:lpstr>MetaRCA: Decoupling Offline Knowledge and Online Inference</vt:lpstr>
      <vt:lpstr>How Is the Meta Causal Graph Constructed?</vt:lpstr>
      <vt:lpstr>Motivation: Why Is Generalizable RCA Possible?</vt:lpstr>
      <vt:lpstr>Detailed Design</vt:lpstr>
      <vt:lpstr>Metadata Ontology: Three Types of Metadata</vt:lpstr>
      <vt:lpstr>LLM-based Causal Knowledge Bootstrapping</vt:lpstr>
      <vt:lpstr>Meta Causal Graph Evolution</vt:lpstr>
      <vt:lpstr>Case Evidence from Failure Reports</vt:lpstr>
      <vt:lpstr>Statistical Evidence from Observability Data</vt:lpstr>
      <vt:lpstr>Bayesian Belief Evolution Model</vt:lpstr>
      <vt:lpstr>Offline Batch Weighting</vt:lpstr>
      <vt:lpstr>Online Streaming Update</vt:lpstr>
      <vt:lpstr>MCG-based Online Root Cause Analysis</vt:lpstr>
      <vt:lpstr>Data Fusion and Pruning</vt:lpstr>
      <vt:lpstr>Root Cause Ranking</vt:lpstr>
      <vt:lpstr>Experimental Evaluation of MetaRCA</vt:lpstr>
      <vt:lpstr>Implementation of MCG</vt:lpstr>
      <vt:lpstr>Evaluation Datasets</vt:lpstr>
      <vt:lpstr>Baseline Methods</vt:lpstr>
      <vt:lpstr>Evaluation Metrics for MetaRCA</vt:lpstr>
      <vt:lpstr>RQ1: Performance of MetaRCA</vt:lpstr>
      <vt:lpstr> RQ2: Generalizability and Scalability of MetaRCA</vt:lpstr>
      <vt:lpstr> RQ3: Quality of Causal Graphs Constructed by MetaRCA</vt:lpstr>
      <vt:lpstr>RQ4: Ablation Study of Key Designs
</vt:lpstr>
      <vt:lpstr>谢谢观看</vt:lpstr>
    </vt:vector>
  </TitlesOfParts>
  <Company>Cappt</Company>
  <LinksUpToDate>false</LinksUpToDate>
  <SharedDoc>false</SharedDoc>
  <HyperlinksChanged>false</HyperlinksChanged>
  <AppVersion>14.0000</AppVersion>
  <Manager>Cappt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MetaRCA: A Generalizable Root Cause Analysis Frameworkfor Cloud-Native Systems Powered by Meta CausalKnowledge</dc:title>
  <dc:creator>Cappt</dc:creator>
  <cp:lastModifiedBy>刘军辉</cp:lastModifiedBy>
  <cp:revision>2</cp:revision>
  <dcterms:created xsi:type="dcterms:W3CDTF">2026-07-05T22:10:15Z</dcterms:created>
  <dcterms:modified xsi:type="dcterms:W3CDTF">2026-07-06T07:11:33Z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2d85f150-6c8c-4aa7-8553-7d91be1a9841</vt:lpwstr>
  </property>
  <property fmtid="{D5CDD505-2E9C-101B-9397-08002B2CF9AE}" pid="3" name="ICV">
    <vt:lpwstr>EBDD0F19258044E2AC2378760918A133_12</vt:lpwstr>
  </property>
  <property fmtid="{D5CDD505-2E9C-101B-9397-08002B2CF9AE}" pid="4" name="KSOProductBuildVer">
    <vt:lpwstr>2052-12.1.0.26895</vt:lpwstr>
  </property>
</Properties>
</file>