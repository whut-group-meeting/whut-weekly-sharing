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3" r:id="rId4"/>
    <p:sldId id="284" r:id="rId5"/>
    <p:sldId id="286" r:id="rId6"/>
    <p:sldId id="285" r:id="rId7"/>
    <p:sldId id="267" r:id="rId8"/>
    <p:sldId id="269" r:id="rId9"/>
    <p:sldId id="271" r:id="rId10"/>
    <p:sldId id="270" r:id="rId11"/>
    <p:sldId id="289" r:id="rId12"/>
    <p:sldId id="287" r:id="rId13"/>
    <p:sldId id="288" r:id="rId14"/>
    <p:sldId id="298" r:id="rId15"/>
    <p:sldId id="276" r:id="rId16"/>
    <p:sldId id="295" r:id="rId17"/>
    <p:sldId id="296" r:id="rId18"/>
    <p:sldId id="297" r:id="rId19"/>
    <p:sldId id="278" r:id="rId20"/>
    <p:sldId id="290" r:id="rId21"/>
    <p:sldId id="293" r:id="rId22"/>
    <p:sldId id="292" r:id="rId23"/>
    <p:sldId id="29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6" autoAdjust="0"/>
    <p:restoredTop sz="74711" autoAdjust="0"/>
  </p:normalViewPr>
  <p:slideViewPr>
    <p:cSldViewPr snapToGrid="0" snapToObjects="1">
      <p:cViewPr>
        <p:scale>
          <a:sx n="75" d="100"/>
          <a:sy n="75" d="100"/>
        </p:scale>
        <p:origin x="972" y="-26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14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今天汇报的是 ICLR 2026 的 MemAgent。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我会先介绍研究背景和已有方法，再说明 MemAgent 的工作流及训练方式，然后分析主实验和消融结果，最后结合具体案例讨论它的能力与边界。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llm</a:t>
            </a:r>
            <a:r>
              <a:rPr lang="zh-CN" altLang="en-US" dirty="0"/>
              <a:t>在读整本书、处理长推理过程或智能体历史时，输入可能远超模型的上下文窗口。怎样在有限的单次窗口内持续处理长文本，同时尽量保留完成任务所需的信息？现有相关方法主要分为三类，首先是长度外推与继续预训练，缩小位置编码长文本继续训练，但是会导致记忆退化，因为破坏了文本之间的相关性，且标准密集注意力计算成本高。第二类是，减少</a:t>
            </a:r>
            <a:r>
              <a:rPr lang="en-US" altLang="zh-CN" dirty="0"/>
              <a:t>token</a:t>
            </a:r>
            <a:r>
              <a:rPr lang="zh-CN" altLang="en-US" dirty="0"/>
              <a:t>间的关联计算，三十以来人工设计，以方法而异。第三类上上下文压缩与外部记忆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F489-7061-D418-FADE-ABBE3C81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5D715-A818-11AB-5EDD-67D722AB6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940E6-EA09-D869-9B1F-B6FCA6A30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/>
              <a:t>作者借鉴人读长文时记笔记的直觉</a:t>
            </a:r>
            <a:r>
              <a:rPr lang="zh-CN" altLang="en-US" dirty="0"/>
              <a:t>设计了一个工作流</a:t>
            </a:r>
            <a:r>
              <a:rPr lang="zh-CN" altLang="zh-CN" dirty="0"/>
              <a:t>，</a:t>
            </a:r>
            <a:r>
              <a:rPr lang="zh-CN" altLang="en-US" dirty="0"/>
              <a:t>将平方级别成本转化成线性成本。</a:t>
            </a:r>
            <a:r>
              <a:rPr lang="zh-CN" altLang="zh-CN" dirty="0"/>
              <a:t>不保存全部内容，而是围绕问题维护有限记忆。</a:t>
            </a:r>
            <a:r>
              <a:rPr lang="zh-CN" altLang="en-US" dirty="0"/>
              <a:t>问题与当前块共同决定下一轮记忆。定长“记忆”（</a:t>
            </a:r>
            <a:r>
              <a:rPr lang="en-US" altLang="zh-CN" dirty="0"/>
              <a:t>memory</a:t>
            </a:r>
            <a:r>
              <a:rPr lang="zh-CN" altLang="en-US" dirty="0"/>
              <a:t>）（文本记忆不是参数记忆也是记忆模块）</a:t>
            </a:r>
            <a:r>
              <a:rPr lang="zh-CN" altLang="en-US" sz="1200" b="1" dirty="0">
                <a:solidFill>
                  <a:srgbClr val="12161A"/>
                </a:solidFill>
                <a:latin typeface="Noto Sans SC"/>
                <a:ea typeface="Noto Sans SC"/>
              </a:rPr>
              <a:t>，</a:t>
            </a:r>
            <a:r>
              <a:rPr lang="zh-CN" altLang="en-US" sz="1200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每次生成一整份新记忆替换旧的；旧记忆不会自动保留。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CF89A-4A37-B3FF-6AB7-3D29FB3C9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1959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77237-09DB-67B4-9179-8F9204B3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FD11B-64E5-1289-324A-0980078E78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FDFB5-A27A-8EB6-41D6-DD77A6121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工作流只规定了记忆如何传递，并没有自动解决该保留什么。作者进一步用强化学习，根据最终任务结果训练记忆更新行为。由于一个任务涉及多个独立上下文调用，作者提出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Multi-Conv DAPO 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来组织这些调用的训练；</a:t>
            </a:r>
            <a:br>
              <a:rPr lang="en-US" altLang="zh-CN" dirty="0"/>
            </a:br>
            <a:r>
              <a:rPr lang="zh-CN" altLang="zh-CN" dirty="0"/>
              <a:t>图中黄色模块是正在训练的策略模型，蓝色模块是参数冻结的参考模型，红框表示参与优势计算。</a:t>
            </a:r>
          </a:p>
          <a:p>
            <a:r>
              <a:rPr lang="zh-CN" altLang="zh-CN" dirty="0"/>
              <a:t>上半部分的 GRPO。策略模型针对同一个问题采样多个回答。规则验证器</a:t>
            </a:r>
            <a:r>
              <a:rPr lang="zh-CN" altLang="en-US" dirty="0"/>
              <a:t>给</a:t>
            </a:r>
            <a:r>
              <a:rPr lang="zh-CN" altLang="zh-CN" dirty="0"/>
              <a:t>个回答打分；之后进行组内相对处理，计算优势</a:t>
            </a:r>
            <a:r>
              <a:rPr lang="zh-CN" altLang="en-US" dirty="0"/>
              <a:t>。然后将优势传回策略模型进行更新。</a:t>
            </a:r>
            <a:r>
              <a:rPr lang="zh-CN" altLang="zh-CN" dirty="0"/>
              <a:t>图中</a:t>
            </a:r>
            <a:r>
              <a:rPr lang="zh-CN" altLang="en-US" dirty="0"/>
              <a:t>生成回答后的另一条分支</a:t>
            </a:r>
            <a:r>
              <a:rPr lang="zh-CN" altLang="zh-CN" dirty="0"/>
              <a:t>用于计算 KL</a:t>
            </a:r>
            <a:r>
              <a:rPr lang="zh-CN" altLang="en-US" dirty="0"/>
              <a:t>散度</a:t>
            </a:r>
            <a:r>
              <a:rPr lang="zh-CN" altLang="zh-CN" dirty="0"/>
              <a:t>。KL 衡量当前策略与固定参考策略的差异</a:t>
            </a:r>
            <a:r>
              <a:rPr lang="zh-CN" altLang="en-US" dirty="0"/>
              <a:t>，</a:t>
            </a:r>
            <a:r>
              <a:rPr lang="zh-CN" altLang="zh-CN" dirty="0"/>
              <a:t>防止模型在追求奖励时过度偏离参考策略。</a:t>
            </a:r>
            <a:endParaRPr lang="en-US" altLang="zh-CN" dirty="0"/>
          </a:p>
          <a:p>
            <a:r>
              <a:rPr lang="zh-CN" altLang="zh-CN" dirty="0"/>
              <a:t>下半部分</a:t>
            </a:r>
            <a:r>
              <a:rPr lang="zh-CN" altLang="en-US" dirty="0"/>
              <a:t>作者提出的工作流</a:t>
            </a:r>
            <a:r>
              <a:rPr lang="zh-CN" altLang="zh-CN" dirty="0"/>
              <a:t>，主要区别是：把一次回答扩展为包含多次调用的完整轨迹。每行是一条尝试，每个方框是一次调用的输出，前面生成记忆，最后生成答案。各次调用使用独立组织的上下文，通过记忆传递历史信息。</a:t>
            </a:r>
          </a:p>
          <a:p>
            <a:r>
              <a:rPr lang="zh-CN" altLang="zh-CN" dirty="0"/>
              <a:t>验证器只对最后的答案打分。得到每条轨迹的奖励和组内优势后，将同一优势用于该轨迹所有调用生成的 token，并结合裁剪目标和 KL 约束更新模型。因此，最终答案的反馈也能用于训练前面的记忆生成。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A98C4-FA2D-7C4F-ACA2-93129E4E2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5658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下来用公式来看最终的整条链路：首先</a:t>
            </a:r>
            <a:r>
              <a:rPr lang="zh-CN" altLang="zh-CN" dirty="0"/>
              <a:t>，</a:t>
            </a:r>
            <a:r>
              <a:rPr lang="zh-CN" altLang="en-US" dirty="0"/>
              <a:t>组内打分</a:t>
            </a:r>
            <a:r>
              <a:rPr lang="zh-CN" altLang="zh-CN" dirty="0"/>
              <a:t>，正确奖励为 1，错误为 0。组内</a:t>
            </a:r>
            <a:r>
              <a:rPr lang="zh-CN" altLang="en-US" dirty="0"/>
              <a:t>处理则</a:t>
            </a:r>
            <a:r>
              <a:rPr lang="zh-CN" altLang="zh-CN" dirty="0"/>
              <a:t>用这条轨迹的奖励减去组内平均奖励，衡量它比本组平均表现好多少</a:t>
            </a:r>
            <a:r>
              <a:rPr lang="zh-CN" altLang="en-US" dirty="0"/>
              <a:t>。</a:t>
            </a:r>
            <a:r>
              <a:rPr lang="zh-CN" altLang="zh-CN" dirty="0"/>
              <a:t>同一轨迹中，所有调用、所有输出 token 共享这个优势。例如奖励为 1、1、0、0，优势就是正 0.5、正 0.5、负 0.5、负 0.5。第三，优化目标</a:t>
            </a:r>
            <a:r>
              <a:rPr lang="zh-CN" altLang="en-US" dirty="0"/>
              <a:t>，</a:t>
            </a:r>
            <a:r>
              <a:rPr lang="zh-CN" altLang="zh-CN" dirty="0"/>
              <a:t>这里三个求和，分别对应上一页的每条轨迹、轨迹中的每次调用，以及调用生成的每个 token。T 是整组输出 token 的总数，除以 T用于归一化其中 C 是包含优势的裁剪策略项</a:t>
            </a:r>
            <a:r>
              <a:rPr lang="en-US" altLang="zh-CN" dirty="0" err="1"/>
              <a:t>Jclip</a:t>
            </a:r>
            <a:r>
              <a:rPr lang="zh-CN" altLang="zh-CN" dirty="0"/>
              <a:t>，KL 约束模型偏离参考模型的程度。根据最终答案打分，计算相对优势，再用这个优势优化前面的记忆生成和最后的回答。</a:t>
            </a:r>
            <a:br>
              <a:rPr lang="en-US" altLang="zh-CN" dirty="0"/>
            </a:b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下面介绍实验设置。</a:t>
            </a:r>
          </a:p>
          <a:p>
            <a:r>
              <a:rPr lang="zh-CN" altLang="zh-CN" dirty="0"/>
              <a:t>训练采用两阶段。第一阶段，基于 HotpotQA 构造约三万两千条长文问答，把关键证据混入干扰材料，让模型学习基本记忆行为。构造数据时，会过滤部分不提供文档也能回答的问题，减少模型依赖已有知识作答的可能。第二阶段，引入 DocQA-RL 的复杂长文问答，并混合第一阶段数据，共两千五百六十条，最长六万 token，进一步训练适应不同材料的能力。</a:t>
            </a:r>
          </a:p>
          <a:p>
            <a:r>
              <a:rPr lang="zh-CN" altLang="en-US" dirty="0"/>
              <a:t>计算窗口固定在</a:t>
            </a:r>
            <a:r>
              <a:rPr lang="zh-CN" altLang="zh-CN" dirty="0"/>
              <a:t>8K：包括问题、当前块、旧记忆和本轮输出。</a:t>
            </a:r>
          </a:p>
          <a:p>
            <a:r>
              <a:rPr lang="zh-CN" altLang="zh-CN" dirty="0"/>
              <a:t>测试分为四组：RULER-HQA 考察长度外推，NIAH 考察精确信息保留</a:t>
            </a:r>
            <a:r>
              <a:rPr lang="zh-CN" altLang="en-US" dirty="0"/>
              <a:t>。</a:t>
            </a:r>
            <a:r>
              <a:rPr lang="en-US" altLang="zh-CN" dirty="0"/>
              <a:t>L1</a:t>
            </a:r>
            <a:r>
              <a:rPr lang="zh-CN" altLang="en-US" dirty="0"/>
              <a:t>是在重复句子中找到</a:t>
            </a:r>
            <a:r>
              <a:rPr lang="en-US" altLang="zh-CN" dirty="0"/>
              <a:t>7</a:t>
            </a:r>
            <a:r>
              <a:rPr lang="zh-CN" altLang="en-US" dirty="0"/>
              <a:t>位数字</a:t>
            </a:r>
            <a:r>
              <a:rPr lang="en-US" altLang="zh-CN" dirty="0"/>
              <a:t>id</a:t>
            </a:r>
            <a:r>
              <a:rPr lang="zh-CN" altLang="en-US" dirty="0"/>
              <a:t>，</a:t>
            </a:r>
            <a:r>
              <a:rPr lang="en-US" altLang="zh-CN" dirty="0"/>
              <a:t>L2</a:t>
            </a:r>
            <a:r>
              <a:rPr lang="zh-CN" altLang="en-US" dirty="0"/>
              <a:t>实在长文章中找到</a:t>
            </a:r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id</a:t>
            </a:r>
            <a:r>
              <a:rPr lang="zh-CN" altLang="en-US" dirty="0"/>
              <a:t>，</a:t>
            </a:r>
            <a:r>
              <a:rPr lang="en-US" altLang="zh-CN" dirty="0"/>
              <a:t>L3</a:t>
            </a:r>
            <a:r>
              <a:rPr lang="zh-CN" altLang="en-US" dirty="0"/>
              <a:t>是在文章中找到</a:t>
            </a:r>
            <a:r>
              <a:rPr lang="en-US" altLang="zh-CN" dirty="0"/>
              <a:t>36</a:t>
            </a:r>
            <a:r>
              <a:rPr lang="zh-CN" altLang="en-US" dirty="0"/>
              <a:t>为</a:t>
            </a:r>
            <a:r>
              <a:rPr lang="en-US" altLang="zh-CN" dirty="0"/>
              <a:t>UUID</a:t>
            </a:r>
            <a:r>
              <a:rPr lang="zh-CN" altLang="zh-CN" dirty="0"/>
              <a:t>，LongBench-QA 考察多类型问答</a:t>
            </a:r>
            <a:r>
              <a:rPr lang="en-US" altLang="zh-CN" sz="1200" b="1" dirty="0">
                <a:solidFill>
                  <a:srgbClr val="12161A"/>
                </a:solidFill>
                <a:latin typeface="Noto Sans SC"/>
                <a:ea typeface="Noto Sans SC"/>
              </a:rPr>
              <a:t>2Wiki</a:t>
            </a:r>
            <a:r>
              <a:rPr lang="zh-CN" altLang="en-US" sz="1200" b="1" dirty="0">
                <a:solidFill>
                  <a:srgbClr val="12161A"/>
                </a:solidFill>
                <a:latin typeface="Noto Sans SC"/>
                <a:ea typeface="Noto Sans SC"/>
              </a:rPr>
              <a:t>组合证据</a:t>
            </a:r>
            <a:r>
              <a:rPr lang="en-US" altLang="zh-CN" sz="1200" b="1" dirty="0">
                <a:solidFill>
                  <a:srgbClr val="12161A"/>
                </a:solidFill>
                <a:latin typeface="Noto Sans SC"/>
                <a:ea typeface="Noto Sans SC"/>
              </a:rPr>
              <a:t>/HQA</a:t>
            </a:r>
            <a:r>
              <a:rPr lang="zh-CN" altLang="en-US" sz="1200" b="1" dirty="0">
                <a:solidFill>
                  <a:srgbClr val="12161A"/>
                </a:solidFill>
                <a:latin typeface="Noto Sans SC"/>
                <a:ea typeface="Noto Sans SC"/>
              </a:rPr>
              <a:t>多跳</a:t>
            </a:r>
            <a:r>
              <a:rPr lang="en-US" altLang="zh-CN" sz="1200" b="1" dirty="0">
                <a:solidFill>
                  <a:srgbClr val="12161A"/>
                </a:solidFill>
                <a:latin typeface="Noto Sans SC"/>
                <a:ea typeface="Noto Sans SC"/>
              </a:rPr>
              <a:t>/</a:t>
            </a:r>
            <a:r>
              <a:rPr lang="en-US" altLang="zh-CN" sz="1200" b="1" dirty="0" err="1">
                <a:solidFill>
                  <a:srgbClr val="12161A"/>
                </a:solidFill>
                <a:latin typeface="Noto Sans SC"/>
                <a:ea typeface="Noto Sans SC"/>
              </a:rPr>
              <a:t>MiSIQue</a:t>
            </a:r>
            <a:r>
              <a:rPr lang="zh-CN" altLang="en-US" sz="1200" b="1" dirty="0">
                <a:solidFill>
                  <a:srgbClr val="12161A"/>
                </a:solidFill>
                <a:latin typeface="Noto Sans SC"/>
                <a:ea typeface="Noto Sans SC"/>
              </a:rPr>
              <a:t>组合多跳</a:t>
            </a:r>
            <a:r>
              <a:rPr lang="en-US" altLang="zh-CN" sz="1200" b="1" dirty="0">
                <a:solidFill>
                  <a:srgbClr val="12161A"/>
                </a:solidFill>
                <a:latin typeface="Noto Sans SC"/>
                <a:ea typeface="Noto Sans SC"/>
              </a:rPr>
              <a:t>/</a:t>
            </a:r>
            <a:r>
              <a:rPr lang="en-US" altLang="zh-CN" sz="1200" b="1" dirty="0" err="1">
                <a:solidFill>
                  <a:srgbClr val="12161A"/>
                </a:solidFill>
                <a:latin typeface="Noto Sans SC"/>
                <a:ea typeface="Noto Sans SC"/>
              </a:rPr>
              <a:t>NarrativeQA</a:t>
            </a:r>
            <a:r>
              <a:rPr lang="zh-CN" altLang="en-US" sz="1200" b="1" dirty="0">
                <a:solidFill>
                  <a:srgbClr val="12161A"/>
                </a:solidFill>
                <a:latin typeface="Noto Sans SC"/>
                <a:ea typeface="Noto Sans SC"/>
              </a:rPr>
              <a:t>叙述问答</a:t>
            </a:r>
            <a:r>
              <a:rPr lang="en-US" altLang="zh-CN" sz="1200" b="1" dirty="0">
                <a:solidFill>
                  <a:srgbClr val="12161A"/>
                </a:solidFill>
                <a:latin typeface="Noto Sans SC"/>
                <a:ea typeface="Noto Sans SC"/>
              </a:rPr>
              <a:t>/</a:t>
            </a:r>
            <a:r>
              <a:rPr lang="en-US" altLang="zh-CN" sz="1200" b="1" dirty="0" err="1">
                <a:solidFill>
                  <a:srgbClr val="12161A"/>
                </a:solidFill>
                <a:latin typeface="Noto Sans SC"/>
                <a:ea typeface="Noto Sans SC"/>
              </a:rPr>
              <a:t>Qasper</a:t>
            </a:r>
            <a:r>
              <a:rPr lang="zh-CN" altLang="en-US" sz="1200" b="1" dirty="0">
                <a:solidFill>
                  <a:srgbClr val="12161A"/>
                </a:solidFill>
                <a:latin typeface="Noto Sans SC"/>
                <a:ea typeface="Noto Sans SC"/>
              </a:rPr>
              <a:t>科研问答</a:t>
            </a:r>
            <a:r>
              <a:rPr lang="zh-CN" altLang="zh-CN" dirty="0"/>
              <a:t>，LongBench-SUM 考察摘要迁移。</a:t>
            </a:r>
          </a:p>
          <a:p>
            <a:r>
              <a:rPr lang="zh-CN" altLang="zh-CN" dirty="0"/>
              <a:t>评分方面，问答使用 sub_em，允许一定的包含式匹配，而不是要求整段输出逐字一致。摘要使用三种 ROUGE 召回率：ROUGE-1 看单词覆盖，ROUGE-2 看相邻词对覆盖，ROUGE-L 看最长公共子序列覆盖。</a:t>
            </a:r>
            <a:br>
              <a:rPr lang="en-US" altLang="zh-CN" dirty="0"/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对比对象包括普通指令模型、百万窗口模型、推理蒸馏模型，以及长上下文推理模型，分别代表不同技术路线和能力侧重。</a:t>
            </a: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RULER-HQA 考察长度外推</a:t>
            </a:r>
            <a:r>
              <a:rPr lang="zh-CN" altLang="en-US" dirty="0"/>
              <a:t>，</a:t>
            </a:r>
            <a:r>
              <a:rPr lang="zh-CN" altLang="zh-CN" dirty="0"/>
              <a:t>这里增加的主要是背景干扰量。</a:t>
            </a:r>
            <a:endParaRPr lang="en-US" altLang="zh-CN" dirty="0"/>
          </a:p>
          <a:p>
            <a:r>
              <a:rPr lang="zh-CN" altLang="en-US" dirty="0"/>
              <a:t>首先比较所有模型在 </a:t>
            </a:r>
            <a:r>
              <a:rPr lang="en-US" altLang="zh-CN" dirty="0"/>
              <a:t>7K—896K </a:t>
            </a:r>
            <a:r>
              <a:rPr lang="zh-CN" altLang="en-US" dirty="0"/>
              <a:t>上下文上的表现；对 </a:t>
            </a:r>
            <a:r>
              <a:rPr lang="en-US" altLang="zh-CN" dirty="0" err="1"/>
              <a:t>MemAgent</a:t>
            </a:r>
            <a:r>
              <a:rPr lang="zh-CN" altLang="en-US" dirty="0"/>
              <a:t>，进一步扩展到 </a:t>
            </a:r>
            <a:r>
              <a:rPr lang="en-US" altLang="zh-CN" dirty="0"/>
              <a:t>1.75M </a:t>
            </a:r>
            <a:r>
              <a:rPr lang="zh-CN" altLang="en-US" dirty="0"/>
              <a:t>和 </a:t>
            </a:r>
            <a:r>
              <a:rPr lang="en-US" altLang="zh-CN" dirty="0"/>
              <a:t>3.5M</a:t>
            </a:r>
            <a:r>
              <a:rPr lang="zh-CN" altLang="en-US" dirty="0"/>
              <a:t>，以考察外推。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展现出显著的长度外推能力，随输入增长仅有轻微退化。基线则有不同失败模式：</a:t>
            </a:r>
            <a:r>
              <a:rPr lang="en-US" altLang="zh-CN" dirty="0"/>
              <a:t>DS-Distill-Qwen </a:t>
            </a:r>
            <a:r>
              <a:rPr lang="zh-CN" altLang="en-US" dirty="0"/>
              <a:t>系列迅速下降；</a:t>
            </a:r>
            <a:r>
              <a:rPr lang="en-US" altLang="zh-CN" dirty="0"/>
              <a:t>QwenLong-L1 </a:t>
            </a:r>
            <a:r>
              <a:rPr lang="zh-CN" altLang="en-US" dirty="0"/>
              <a:t>在训练长度内尚可，超出后明显退化；</a:t>
            </a:r>
            <a:r>
              <a:rPr lang="en-US" altLang="zh-CN" dirty="0"/>
              <a:t>Qwen2.5-Instruct-1M </a:t>
            </a:r>
            <a:r>
              <a:rPr lang="zh-CN" altLang="en-US" dirty="0"/>
              <a:t>在 </a:t>
            </a:r>
            <a:r>
              <a:rPr lang="en-US" altLang="zh-CN" dirty="0"/>
              <a:t>112K </a:t>
            </a:r>
            <a:r>
              <a:rPr lang="zh-CN" altLang="en-US" dirty="0"/>
              <a:t>以内尚可，却在 </a:t>
            </a:r>
            <a:r>
              <a:rPr lang="en-US" altLang="zh-CN" dirty="0"/>
              <a:t>896K </a:t>
            </a:r>
            <a:r>
              <a:rPr lang="zh-CN" altLang="en-US" dirty="0"/>
              <a:t>降至零分，远未达到其理论上的 </a:t>
            </a:r>
            <a:r>
              <a:rPr lang="en-US" altLang="zh-CN" dirty="0"/>
              <a:t>1M </a:t>
            </a:r>
            <a:r>
              <a:rPr lang="zh-CN" altLang="en-US" dirty="0"/>
              <a:t>容量。这说明，扩大窗口并不等于在极长上下文中能够有效使用信息。</a:t>
            </a: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6EEF-218D-A29B-4307-3CFE2C2E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9B5F2-9255-81BB-44A4-56104DA50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59FE3-EAAD-6AB4-DA14-5FCEC06D5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多数基线甚至无法在 </a:t>
            </a:r>
            <a:r>
              <a:rPr lang="en-US" altLang="zh-CN" dirty="0"/>
              <a:t>128K </a:t>
            </a:r>
            <a:r>
              <a:rPr lang="zh-CN" altLang="en-US" dirty="0"/>
              <a:t>内保持稳定；</a:t>
            </a:r>
            <a:r>
              <a:rPr lang="en-US" altLang="zh-CN" dirty="0"/>
              <a:t>Qwen2.5-Instruct-1M </a:t>
            </a:r>
            <a:r>
              <a:rPr lang="zh-CN" altLang="en-US" dirty="0"/>
              <a:t>在 </a:t>
            </a:r>
            <a:r>
              <a:rPr lang="en-US" altLang="zh-CN" dirty="0"/>
              <a:t>512K </a:t>
            </a:r>
            <a:r>
              <a:rPr lang="zh-CN" altLang="en-US" dirty="0"/>
              <a:t>也有下降。</a:t>
            </a:r>
            <a:r>
              <a:rPr lang="en-US" altLang="zh-CN" dirty="0"/>
              <a:t>RL-</a:t>
            </a:r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虽有波动，在 </a:t>
            </a:r>
            <a:r>
              <a:rPr lang="en-US" altLang="zh-CN" dirty="0"/>
              <a:t>512K </a:t>
            </a:r>
            <a:r>
              <a:rPr lang="zh-CN" altLang="en-US" dirty="0"/>
              <a:t>的性能损失仍小于 </a:t>
            </a:r>
            <a:r>
              <a:rPr lang="en-US" altLang="zh-CN" dirty="0"/>
              <a:t>5%</a:t>
            </a:r>
            <a:r>
              <a:rPr lang="zh-CN" altLang="en-US" dirty="0"/>
              <a:t>。尤其值得注意的是，</a:t>
            </a:r>
            <a:r>
              <a:rPr lang="en-US" altLang="zh-CN" dirty="0"/>
              <a:t>512K </a:t>
            </a:r>
            <a:r>
              <a:rPr lang="zh-CN" altLang="en-US" dirty="0"/>
              <a:t>评测涉及超过 </a:t>
            </a:r>
            <a:r>
              <a:rPr lang="en-US" altLang="zh-CN" dirty="0"/>
              <a:t>100 </a:t>
            </a:r>
            <a:r>
              <a:rPr lang="zh-CN" altLang="en-US" dirty="0"/>
              <a:t>次对话。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3A352-EB07-142A-72D6-314746741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35084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B1556-6C83-CBC3-0D5A-DB42AF57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18E13-2C96-D86A-6054-DEF927A747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D7FA3-FFC3-7DF5-AAB7-20A1E109A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整体表现更好，超过更大的长上下文或推理模型。</a:t>
            </a:r>
            <a:r>
              <a:rPr lang="en-US" altLang="zh-CN" dirty="0"/>
              <a:t>DS-Distill </a:t>
            </a:r>
            <a:r>
              <a:rPr lang="zh-CN" altLang="en-US" dirty="0"/>
              <a:t>系列和 </a:t>
            </a:r>
            <a:r>
              <a:rPr lang="en-US" altLang="zh-CN" dirty="0" err="1"/>
              <a:t>QwenLong</a:t>
            </a:r>
            <a:r>
              <a:rPr lang="en-US" altLang="zh-CN" dirty="0"/>
              <a:t> </a:t>
            </a:r>
            <a:r>
              <a:rPr lang="zh-CN" altLang="en-US" dirty="0"/>
              <a:t>等在复杂数据上训练的推理模型表现较强；相比之下，</a:t>
            </a:r>
            <a:r>
              <a:rPr lang="en-US" altLang="zh-CN" dirty="0"/>
              <a:t>Qwen2.5-Instruct-1M </a:t>
            </a:r>
            <a:r>
              <a:rPr lang="zh-CN" altLang="en-US" dirty="0"/>
              <a:t>相对基座的改进有限。这表明 </a:t>
            </a:r>
            <a:r>
              <a:rPr lang="en-US" altLang="zh-CN" dirty="0" err="1"/>
              <a:t>LongBench</a:t>
            </a:r>
            <a:r>
              <a:rPr lang="en-US" altLang="zh-CN" dirty="0"/>
              <a:t>-QA </a:t>
            </a:r>
            <a:r>
              <a:rPr lang="zh-CN" altLang="en-US" dirty="0"/>
              <a:t>更强调深入理解文本，而非简单检索。</a:t>
            </a:r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的表现说明，通过 </a:t>
            </a:r>
            <a:r>
              <a:rPr lang="en-US" altLang="zh-CN" dirty="0"/>
              <a:t>RL </a:t>
            </a:r>
            <a:r>
              <a:rPr lang="zh-CN" altLang="en-US" dirty="0"/>
              <a:t>学到的记忆能力可以泛化。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6A18-9D94-9A8F-4A0C-66EA060E7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8784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C7D4-AC04-36DC-E0C9-7EFF44AB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0761E-1E84-7A53-75DF-FF1504F37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48CC1-C87A-C2ED-CD1B-262CC470A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用 </a:t>
            </a:r>
            <a:r>
              <a:rPr lang="en-US" altLang="zh-CN" dirty="0"/>
              <a:t>ROUGE-1</a:t>
            </a:r>
            <a:r>
              <a:rPr lang="zh-CN" altLang="en-US" dirty="0"/>
              <a:t>、</a:t>
            </a:r>
            <a:r>
              <a:rPr lang="en-US" altLang="zh-CN" dirty="0"/>
              <a:t>ROUGE-2</a:t>
            </a:r>
            <a:r>
              <a:rPr lang="zh-CN" altLang="en-US" dirty="0"/>
              <a:t>、</a:t>
            </a:r>
            <a:r>
              <a:rPr lang="en-US" altLang="zh-CN" dirty="0"/>
              <a:t>ROUGE-L </a:t>
            </a:r>
            <a:r>
              <a:rPr lang="zh-CN" altLang="en-US" dirty="0"/>
              <a:t>的召回率衡量摘要质量。</a:t>
            </a:r>
            <a:r>
              <a:rPr lang="en-US" altLang="zh-CN" dirty="0"/>
              <a:t>RL-</a:t>
            </a:r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在几乎所有指标上达到最先进表现，说明模型学习到的是一般性的记忆和上下文管理能力，而非仅针对问答的能力。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2F894-EC07-91CE-17B8-25F0C6A62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4530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未经 </a:t>
            </a:r>
            <a:r>
              <a:rPr lang="en-US" altLang="zh-CN" dirty="0"/>
              <a:t>RL </a:t>
            </a:r>
            <a:r>
              <a:rPr lang="zh-CN" altLang="en-US" dirty="0"/>
              <a:t>的 </a:t>
            </a:r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优于基座，但仍随输入增长明显退化。图 </a:t>
            </a:r>
            <a:r>
              <a:rPr lang="en-US" altLang="zh-CN" dirty="0"/>
              <a:t>7 </a:t>
            </a:r>
            <a:r>
              <a:rPr lang="zh-CN" altLang="en-US" dirty="0"/>
              <a:t>的 </a:t>
            </a:r>
            <a:r>
              <a:rPr lang="en-US" altLang="zh-CN" dirty="0" err="1"/>
              <a:t>LongBench</a:t>
            </a:r>
            <a:r>
              <a:rPr lang="en-US" altLang="zh-CN" dirty="0"/>
              <a:t>-QA </a:t>
            </a:r>
            <a:r>
              <a:rPr lang="zh-CN" altLang="en-US" dirty="0"/>
              <a:t>结果表明，直接应用 </a:t>
            </a:r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只带来微小甚至负向改善。相比之下，</a:t>
            </a:r>
            <a:r>
              <a:rPr lang="en-US" altLang="zh-CN" dirty="0"/>
              <a:t>RL-</a:t>
            </a:r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在两种评测场景中都有显著提升，说明 </a:t>
            </a:r>
            <a:r>
              <a:rPr lang="en-US" altLang="zh-CN" dirty="0"/>
              <a:t>RL </a:t>
            </a:r>
            <a:r>
              <a:rPr lang="zh-CN" altLang="en-US" dirty="0"/>
              <a:t>对形成可泛化、稳健的记忆能力至关重要。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选择 </a:t>
            </a:r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配置需要权衡。更大的记忆能存储更多有用信息，但管理更难，也更容易出现冗余。反过来，容量过小可能导致存储不足，让模型缺少必要参考。</a:t>
            </a:r>
            <a:endParaRPr lang="en-US" altLang="zh-CN" dirty="0"/>
          </a:p>
          <a:p>
            <a:r>
              <a:rPr lang="zh-CN" altLang="en-US" dirty="0"/>
              <a:t>下边为证明模型的能力是在强化学习中学出来的，并非依赖特定上下文模式，在</a:t>
            </a:r>
            <a:r>
              <a:rPr lang="en-US" altLang="zh-CN" dirty="0"/>
              <a:t>RULER-HQA</a:t>
            </a:r>
            <a:r>
              <a:rPr lang="zh-CN" altLang="en-US" dirty="0"/>
              <a:t>上进行了探针实验</a:t>
            </a:r>
            <a:r>
              <a:rPr lang="zh-CN" altLang="zh-CN" dirty="0"/>
              <a:t>。</a:t>
            </a:r>
            <a:r>
              <a:rPr lang="en-US" altLang="zh-CN" dirty="0" err="1"/>
              <a:t>MemAgent</a:t>
            </a:r>
            <a:r>
              <a:rPr lang="en-US" altLang="zh-CN" dirty="0"/>
              <a:t> </a:t>
            </a:r>
            <a:r>
              <a:rPr lang="zh-CN" altLang="en-US" dirty="0"/>
              <a:t>在各种分布下都较稳健，没有灾难性退化。这有力支持我们的假设：通过试错获得的一般记忆能力不依赖于特定上下文模式。</a:t>
            </a:r>
            <a:endParaRPr lang="zh-CN" altLang="zh-CN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MemAgent 的总成本需要把各阶段加起来，包括更新记忆和最终回答。随着全文增长，每轮预算固定，增加的是更新次数，因此曲线呈线性趋势。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论文的问题是电影Big</a:t>
            </a:r>
            <a:r>
              <a:rPr dirty="0"/>
              <a:t> Stone Gap导演在纽约的什么地方。前两轮中模型保留了潜在线索，也保留了部分无关信息。第三块同时出现电影和导演条目，模型将Adriana </a:t>
            </a:r>
            <a:r>
              <a:rPr dirty="0" err="1"/>
              <a:t>Trigiani与Greenwich</a:t>
            </a:r>
            <a:r>
              <a:rPr dirty="0"/>
              <a:t> Village, New York City联系起来，随后维持相关记忆直至回答。这里尤其不能把该案例讲成两个关键事实分别来自两个不同块：原文明确它们同时在第三块出现。案例用于观察更新行为，不等于跨块复杂推理的独立证明。</a:t>
            </a:r>
            <a:endParaRPr lang="en-US" dirty="0"/>
          </a:p>
          <a:p>
            <a:r>
              <a:rPr lang="zh-CN" altLang="zh-CN" dirty="0"/>
              <a:t>这个问题需要连接两条事实：电影《Big Stone Gap》的导演是 Adriana Trigiani，她位于纽约的 Greenwich Village。</a:t>
            </a:r>
          </a:p>
          <a:p>
            <a:r>
              <a:rPr lang="zh-CN" altLang="zh-CN" dirty="0"/>
              <a:t>第一轮，模型没有看到关键证据，只看到一个同样位于纽约的音乐制作团队 Ghost，于是提前保存了它。第二轮仍没有相关证据，模型继续保留旧信息。</a:t>
            </a:r>
          </a:p>
          <a:p>
            <a:r>
              <a:rPr lang="zh-CN" altLang="zh-CN" dirty="0"/>
              <a:t>第三轮，两条真正相关的条目同时出现，模型将电影、导演和地点连接起来，写入答案线索，后面保持到最终回答。</a:t>
            </a:r>
          </a:p>
          <a:p>
            <a:r>
              <a:rPr lang="zh-CN" altLang="zh-CN" dirty="0"/>
              <a:t>这个例子展示了及时更新和持续保留能力。但也有两个边界：两条证据在同一块出现，不能证明跨块两跳检索；无关的 Ghost 信息也没有被删除，说明实际记忆并非只保留必要内容。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论文给出两类不同失败。第一类是已经读到却没能保住：第289轮出现TCS总部Mumbai，关键信息在拥挤记忆的尾部被截断，后来再看到Sachin Warrier任职TCS时，正确总部已丢失。第二类是第143轮读到Brian Doyle-</a:t>
            </a:r>
            <a:r>
              <a:rPr dirty="0" err="1"/>
              <a:t>Murray与Bill</a:t>
            </a:r>
            <a:r>
              <a:rPr dirty="0"/>
              <a:t> Murray的兄弟关系，但尚未看到相关剧集，模型判定它与查询无关而没有保留；第215轮才看到客串关系，已经无法补齐两跳。这说明查询预先给定也不能保证识别未来会用到的证据。两者都是论文个案，不能据此估计失败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这个案例展示早期解释偏差。模型最初按国家理解country，持续寻找美国人口。后来它确实记下了Brown</a:t>
            </a:r>
            <a:r>
              <a:rPr dirty="0"/>
              <a:t> County人口9984，却没有纠正原先的问题解释，仍回答美国人口327167434。原问题存在country和county之间的表述问题，参考答案按县人口，因此必须说明问题本身也有歧义，不能把全部失败归咎于记忆算法。它仍然揭示了一个实际风险：记忆不仅承载事实，还会反复强化早期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这一页补充完整训练目标。</a:t>
            </a:r>
          </a:p>
          <a:p>
            <a:r>
              <a:rPr lang="zh-CN" altLang="zh-CN" dirty="0"/>
              <a:t>概率比比较当前策略与采样时旧策略，对同一个输出 token 赋予的概率。裁剪项限制沿有利方向过大的更新激励，KL 则约束当前策略相对固定参考模型的偏离。</a:t>
            </a:r>
          </a:p>
          <a:p>
            <a:r>
              <a:rPr lang="zh-CN" altLang="zh-CN" dirty="0"/>
              <a:t>同一轨迹所有调用共享终局优势，并按整组输出 token 总数归一化。</a:t>
            </a:r>
          </a:p>
          <a:p>
            <a:r>
              <a:rPr lang="zh-CN" altLang="zh-CN" dirty="0"/>
              <a:t>这里需要区分旧策略与参考模型：前者用于计算概率比，后者用于 KL 约束。附录算法框与正文公式也有简写差异，复现时需要结合实现核对。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这里与前面只改变记忆上限的实验不同，它固定 memory 加 chunk 的总预算为 6024 token。</a:t>
            </a:r>
          </a:p>
          <a:p>
            <a:r>
              <a:rPr lang="zh-CN" altLang="zh-CN" dirty="0"/>
              <a:t>记忆增大，就必须减小每次读取的文本块。因此，模型能保留更多历史，但读取同一篇文档可能需要更多轮更新。</a:t>
            </a:r>
          </a:p>
          <a:p>
            <a:r>
              <a:rPr lang="zh-CN" altLang="zh-CN" dirty="0"/>
              <a:t>所以结果反映的是记忆容量、块大小和处理轮数的共同权衡，不能只归因于记忆变大或变小。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最后补充与检索增强生成的比较。</a:t>
            </a:r>
          </a:p>
          <a:p>
            <a:r>
              <a:rPr lang="zh-CN" altLang="zh-CN" dirty="0"/>
              <a:t>RAG 先从文档中检索相关片段，再交给模型回答；MemAgent 则顺序读取文档，通过更新记忆传递信息。</a:t>
            </a:r>
          </a:p>
          <a:p>
            <a:r>
              <a:rPr lang="zh-CN" altLang="zh-CN" dirty="0"/>
              <a:t>在表中 3.5M、14B 的设置下，MemAgent 为 71.09，所列 RAG 配置中的最好结果为 66.41。</a:t>
            </a:r>
          </a:p>
          <a:p>
            <a:r>
              <a:rPr lang="zh-CN" altLang="zh-CN" dirty="0"/>
              <a:t>这说明本文方法在该配置下具有优势。但双方的信息访问方式、训练和计算预算不同，不能据此断言 MemAgent 在所有任务上都优于 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731520" y="1371600"/>
            <a:ext cx="10725912" cy="0"/>
          </a:xfrm>
          <a:prstGeom prst="line">
            <a:avLst/>
          </a:prstGeom>
          <a:ln w="9525">
            <a:solidFill>
              <a:srgbClr val="121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3573" y="3314396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68C94"/>
                </a:solidFill>
                <a:latin typeface="Inter"/>
                <a:ea typeface="Inter"/>
                <a:cs typeface="Inter"/>
              </a:rPr>
              <a:t>Reshaping Long-Context LLM with Multi-Conv RL-based Memory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4160520"/>
            <a:ext cx="10725912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3017" y="630935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2026-10-28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4FAC14-1581-CFD0-F866-464440F9F375}"/>
              </a:ext>
            </a:extLst>
          </p:cNvPr>
          <p:cNvSpPr txBox="1"/>
          <p:nvPr/>
        </p:nvSpPr>
        <p:spPr>
          <a:xfrm>
            <a:off x="5206290" y="4710418"/>
            <a:ext cx="6096000" cy="525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0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ICLR 2026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D71819-1354-6295-EA61-D34F77871A84}"/>
              </a:ext>
            </a:extLst>
          </p:cNvPr>
          <p:cNvSpPr txBox="1"/>
          <p:nvPr/>
        </p:nvSpPr>
        <p:spPr>
          <a:xfrm>
            <a:off x="983410" y="1737361"/>
            <a:ext cx="8856453" cy="1487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MemAgent</a:t>
            </a:r>
            <a:r>
              <a:rPr lang="zh-CN" altLang="en-US" sz="3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：用多轮对话的强化学习，重写长上下文记忆</a:t>
            </a:r>
          </a:p>
        </p:txBody>
      </p:sp>
      <p:sp>
        <p:nvSpPr>
          <p:cNvPr id="18" name="全局顶部细线">
            <a:extLst>
              <a:ext uri="{FF2B5EF4-FFF2-40B4-BE49-F238E27FC236}">
                <a16:creationId xmlns:a16="http://schemas.microsoft.com/office/drawing/2014/main" id="{01A943B1-D671-DC16-C2E2-1594A3D8B6FE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20" name="文本 MemAgent  /  论文导读">
            <a:extLst>
              <a:ext uri="{FF2B5EF4-FFF2-40B4-BE49-F238E27FC236}">
                <a16:creationId xmlns:a16="http://schemas.microsoft.com/office/drawing/2014/main" id="{2AC8BCFF-2872-7A77-FD2D-A9F87E8F4758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论文导读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9695"/>
            <a:ext cx="8686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868C94"/>
                </a:solidFill>
                <a:latin typeface="Inter"/>
                <a:ea typeface="Inter"/>
                <a:cs typeface="Inter"/>
              </a:rPr>
              <a:t>CONTENTS  /  </a:t>
            </a:r>
            <a:r>
              <a:rPr sz="1050" b="0" dirty="0" err="1">
                <a:solidFill>
                  <a:srgbClr val="868C94"/>
                </a:solidFill>
                <a:latin typeface="Inter"/>
                <a:ea typeface="Inter"/>
                <a:cs typeface="Inter"/>
              </a:rPr>
              <a:t>目录</a:t>
            </a:r>
            <a:endParaRPr sz="1050" b="0" dirty="0">
              <a:solidFill>
                <a:srgbClr val="868C94"/>
              </a:solidFill>
              <a:latin typeface="Inter"/>
              <a:ea typeface="Inter"/>
              <a:cs typeface="Inter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731520" y="474015"/>
            <a:ext cx="10725912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768096"/>
            <a:ext cx="10725912" cy="479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altLang="en-US"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目录</a:t>
            </a:r>
            <a:endParaRPr sz="30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623795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C4A6E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78076"/>
            <a:ext cx="2194560" cy="325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研究背景</a:t>
            </a:r>
            <a:endParaRPr sz="18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0" y="1623795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长上下文任务的窗口约束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236444"/>
            <a:ext cx="9144000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7537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C4A6E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08020"/>
            <a:ext cx="2194560" cy="325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方法</a:t>
            </a:r>
            <a:r>
              <a:rPr lang="zh-CN" altLang="en-US" sz="1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设计</a:t>
            </a:r>
            <a:endParaRPr sz="18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2753740"/>
            <a:ext cx="6583680" cy="279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5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分段读取、覆盖写与训练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343668"/>
            <a:ext cx="9144000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78713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C4A6E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41412"/>
            <a:ext cx="2194560" cy="325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实验结果</a:t>
            </a:r>
            <a:endParaRPr sz="18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3787132"/>
            <a:ext cx="6583680" cy="279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5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主实验、消融、迁移与鲁棒性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399780"/>
            <a:ext cx="9144000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493979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C4A6E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552444"/>
            <a:ext cx="9144000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71600" y="4920903"/>
            <a:ext cx="2194560" cy="325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附录</a:t>
            </a:r>
            <a:endParaRPr sz="18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20075" y="494039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dirty="0" err="1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失败案例与适用边界</a:t>
            </a:r>
            <a:endParaRPr sz="1550" b="0" dirty="0">
              <a:solidFill>
                <a:srgbClr val="3A414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D5D4533D-04F2-DDFD-3C27-712F140200D7}"/>
              </a:ext>
            </a:extLst>
          </p:cNvPr>
          <p:cNvSpPr txBox="1"/>
          <p:nvPr/>
        </p:nvSpPr>
        <p:spPr>
          <a:xfrm>
            <a:off x="11045952" y="6419088"/>
            <a:ext cx="56692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全局右下角标">
            <a:extLst>
              <a:ext uri="{FF2B5EF4-FFF2-40B4-BE49-F238E27FC236}">
                <a16:creationId xmlns:a16="http://schemas.microsoft.com/office/drawing/2014/main" id="{F59F6791-7008-8A13-B106-6FED3FD700F0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97891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长文持续增长，如何在有限窗口中保留信息</a:t>
            </a:r>
            <a:r>
              <a:rPr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？</a:t>
            </a:r>
          </a:p>
        </p:txBody>
      </p:sp>
      <p:pic>
        <p:nvPicPr>
          <p:cNvPr id="66" name="Picture 8" descr="fig2_top.png">
            <a:extLst>
              <a:ext uri="{FF2B5EF4-FFF2-40B4-BE49-F238E27FC236}">
                <a16:creationId xmlns:a16="http://schemas.microsoft.com/office/drawing/2014/main" id="{D8CB6E1B-130C-3C27-D440-A33B588DFB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09"/>
          <a:stretch>
            <a:fillRect/>
          </a:stretch>
        </p:blipFill>
        <p:spPr>
          <a:xfrm>
            <a:off x="987552" y="1386594"/>
            <a:ext cx="9509760" cy="1920241"/>
          </a:xfrm>
          <a:prstGeom prst="rect">
            <a:avLst/>
          </a:prstGeom>
        </p:spPr>
      </p:pic>
      <p:sp>
        <p:nvSpPr>
          <p:cNvPr id="83" name="TextBox 7">
            <a:extLst>
              <a:ext uri="{FF2B5EF4-FFF2-40B4-BE49-F238E27FC236}">
                <a16:creationId xmlns:a16="http://schemas.microsoft.com/office/drawing/2014/main" id="{51D7762A-D313-03FB-82D9-1F5D67D4E6AB}"/>
              </a:ext>
            </a:extLst>
          </p:cNvPr>
          <p:cNvSpPr txBox="1"/>
          <p:nvPr/>
        </p:nvSpPr>
        <p:spPr>
          <a:xfrm>
            <a:off x="731520" y="3551575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C94"/>
                </a:solidFill>
                <a:latin typeface="Noto Sans SC"/>
                <a:ea typeface="Noto Sans SC"/>
                <a:cs typeface="Noto Sans SC"/>
              </a:rPr>
              <a:t>路线</a:t>
            </a: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0DEE7D0A-4BE1-1083-D850-6EBC46E33E7D}"/>
              </a:ext>
            </a:extLst>
          </p:cNvPr>
          <p:cNvSpPr txBox="1"/>
          <p:nvPr/>
        </p:nvSpPr>
        <p:spPr>
          <a:xfrm>
            <a:off x="2971800" y="3551575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C94"/>
                </a:solidFill>
                <a:latin typeface="Noto Sans SC"/>
                <a:ea typeface="Noto Sans SC"/>
                <a:cs typeface="Noto Sans SC"/>
              </a:rPr>
              <a:t>做法</a:t>
            </a:r>
          </a:p>
        </p:txBody>
      </p:sp>
      <p:sp>
        <p:nvSpPr>
          <p:cNvPr id="85" name="TextBox 9">
            <a:extLst>
              <a:ext uri="{FF2B5EF4-FFF2-40B4-BE49-F238E27FC236}">
                <a16:creationId xmlns:a16="http://schemas.microsoft.com/office/drawing/2014/main" id="{73E4DB61-AA85-DF13-6768-32E55ECF3AED}"/>
              </a:ext>
            </a:extLst>
          </p:cNvPr>
          <p:cNvSpPr txBox="1"/>
          <p:nvPr/>
        </p:nvSpPr>
        <p:spPr>
          <a:xfrm>
            <a:off x="7726679" y="3551575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C94"/>
                </a:solidFill>
                <a:latin typeface="Noto Sans SC"/>
                <a:ea typeface="Noto Sans SC"/>
                <a:cs typeface="Noto Sans SC"/>
              </a:rPr>
              <a:t>局限</a:t>
            </a:r>
          </a:p>
        </p:txBody>
      </p:sp>
      <p:cxnSp>
        <p:nvCxnSpPr>
          <p:cNvPr id="86" name="Connector 10">
            <a:extLst>
              <a:ext uri="{FF2B5EF4-FFF2-40B4-BE49-F238E27FC236}">
                <a16:creationId xmlns:a16="http://schemas.microsoft.com/office/drawing/2014/main" id="{2867688E-C052-EF28-7016-317651BA0B18}"/>
              </a:ext>
            </a:extLst>
          </p:cNvPr>
          <p:cNvCxnSpPr/>
          <p:nvPr/>
        </p:nvCxnSpPr>
        <p:spPr>
          <a:xfrm>
            <a:off x="731520" y="3798463"/>
            <a:ext cx="10725912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11">
            <a:extLst>
              <a:ext uri="{FF2B5EF4-FFF2-40B4-BE49-F238E27FC236}">
                <a16:creationId xmlns:a16="http://schemas.microsoft.com/office/drawing/2014/main" id="{75C79275-7056-3AD9-5F2C-890861325F95}"/>
              </a:ext>
            </a:extLst>
          </p:cNvPr>
          <p:cNvSpPr txBox="1"/>
          <p:nvPr/>
        </p:nvSpPr>
        <p:spPr>
          <a:xfrm>
            <a:off x="731520" y="4008775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长度外推</a:t>
            </a:r>
          </a:p>
        </p:txBody>
      </p:sp>
      <p:sp>
        <p:nvSpPr>
          <p:cNvPr id="88" name="TextBox 12">
            <a:extLst>
              <a:ext uri="{FF2B5EF4-FFF2-40B4-BE49-F238E27FC236}">
                <a16:creationId xmlns:a16="http://schemas.microsoft.com/office/drawing/2014/main" id="{89A5254D-6526-8811-14B0-3EA41CFEE8ED}"/>
              </a:ext>
            </a:extLst>
          </p:cNvPr>
          <p:cNvSpPr txBox="1"/>
          <p:nvPr/>
        </p:nvSpPr>
        <p:spPr>
          <a:xfrm>
            <a:off x="2971800" y="4008775"/>
            <a:ext cx="4572000" cy="317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50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位置编码调整＋继续预训练</a:t>
            </a:r>
            <a:endParaRPr sz="1650" b="0" dirty="0">
              <a:solidFill>
                <a:srgbClr val="3A414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9" name="TextBox 13">
            <a:extLst>
              <a:ext uri="{FF2B5EF4-FFF2-40B4-BE49-F238E27FC236}">
                <a16:creationId xmlns:a16="http://schemas.microsoft.com/office/drawing/2014/main" id="{49B9E881-39EA-33E4-C96A-6D79742D917F}"/>
              </a:ext>
            </a:extLst>
          </p:cNvPr>
          <p:cNvSpPr txBox="1"/>
          <p:nvPr/>
        </p:nvSpPr>
        <p:spPr>
          <a:xfrm>
            <a:off x="7726680" y="4068544"/>
            <a:ext cx="39982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极长输入退化；密集注意力成本高</a:t>
            </a:r>
            <a:endParaRPr sz="1600" b="0" dirty="0">
              <a:solidFill>
                <a:srgbClr val="3A4148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90" name="Connector 14">
            <a:extLst>
              <a:ext uri="{FF2B5EF4-FFF2-40B4-BE49-F238E27FC236}">
                <a16:creationId xmlns:a16="http://schemas.microsoft.com/office/drawing/2014/main" id="{30E99A80-F929-B786-F38A-69F92B39567D}"/>
              </a:ext>
            </a:extLst>
          </p:cNvPr>
          <p:cNvCxnSpPr/>
          <p:nvPr/>
        </p:nvCxnSpPr>
        <p:spPr>
          <a:xfrm>
            <a:off x="731520" y="4519349"/>
            <a:ext cx="10725912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15">
            <a:extLst>
              <a:ext uri="{FF2B5EF4-FFF2-40B4-BE49-F238E27FC236}">
                <a16:creationId xmlns:a16="http://schemas.microsoft.com/office/drawing/2014/main" id="{7B80B6AE-65FA-4C57-60C7-65424AEF2F01}"/>
              </a:ext>
            </a:extLst>
          </p:cNvPr>
          <p:cNvSpPr txBox="1"/>
          <p:nvPr/>
        </p:nvSpPr>
        <p:spPr>
          <a:xfrm>
            <a:off x="731520" y="470222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稀疏 / 线性注意力</a:t>
            </a:r>
          </a:p>
        </p:txBody>
      </p:sp>
      <p:sp>
        <p:nvSpPr>
          <p:cNvPr id="92" name="TextBox 16">
            <a:extLst>
              <a:ext uri="{FF2B5EF4-FFF2-40B4-BE49-F238E27FC236}">
                <a16:creationId xmlns:a16="http://schemas.microsoft.com/office/drawing/2014/main" id="{1E2ABFAF-7FA2-5DAE-4410-F478B199972B}"/>
              </a:ext>
            </a:extLst>
          </p:cNvPr>
          <p:cNvSpPr txBox="1"/>
          <p:nvPr/>
        </p:nvSpPr>
        <p:spPr>
          <a:xfrm>
            <a:off x="2971800" y="4702229"/>
            <a:ext cx="4572000" cy="317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50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减少关联或改变计算形式</a:t>
            </a:r>
            <a:endParaRPr sz="1650" b="0" dirty="0">
              <a:solidFill>
                <a:srgbClr val="3A414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3" name="TextBox 17">
            <a:extLst>
              <a:ext uri="{FF2B5EF4-FFF2-40B4-BE49-F238E27FC236}">
                <a16:creationId xmlns:a16="http://schemas.microsoft.com/office/drawing/2014/main" id="{0C198051-4732-5722-D496-1131607666FB}"/>
              </a:ext>
            </a:extLst>
          </p:cNvPr>
          <p:cNvSpPr txBox="1"/>
          <p:nvPr/>
        </p:nvSpPr>
        <p:spPr>
          <a:xfrm>
            <a:off x="7726679" y="4702229"/>
            <a:ext cx="3179753" cy="307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00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训练与实现约束</a:t>
            </a:r>
            <a:endParaRPr sz="1600" b="0" dirty="0">
              <a:solidFill>
                <a:srgbClr val="3A4148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94" name="Connector 18">
            <a:extLst>
              <a:ext uri="{FF2B5EF4-FFF2-40B4-BE49-F238E27FC236}">
                <a16:creationId xmlns:a16="http://schemas.microsoft.com/office/drawing/2014/main" id="{3FAE986F-F829-6D6C-749B-2F7BFD73AEB8}"/>
              </a:ext>
            </a:extLst>
          </p:cNvPr>
          <p:cNvCxnSpPr/>
          <p:nvPr/>
        </p:nvCxnSpPr>
        <p:spPr>
          <a:xfrm>
            <a:off x="731520" y="5201450"/>
            <a:ext cx="10725912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19">
            <a:extLst>
              <a:ext uri="{FF2B5EF4-FFF2-40B4-BE49-F238E27FC236}">
                <a16:creationId xmlns:a16="http://schemas.microsoft.com/office/drawing/2014/main" id="{378BF996-6084-930C-B049-2C3A5E6F0DF0}"/>
              </a:ext>
            </a:extLst>
          </p:cNvPr>
          <p:cNvSpPr txBox="1"/>
          <p:nvPr/>
        </p:nvSpPr>
        <p:spPr>
          <a:xfrm>
            <a:off x="731520" y="538433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压缩 / 外部记忆</a:t>
            </a:r>
          </a:p>
        </p:txBody>
      </p:sp>
      <p:sp>
        <p:nvSpPr>
          <p:cNvPr id="96" name="TextBox 20">
            <a:extLst>
              <a:ext uri="{FF2B5EF4-FFF2-40B4-BE49-F238E27FC236}">
                <a16:creationId xmlns:a16="http://schemas.microsoft.com/office/drawing/2014/main" id="{433E6B87-323C-4689-A105-06F49BF568EC}"/>
              </a:ext>
            </a:extLst>
          </p:cNvPr>
          <p:cNvSpPr txBox="1"/>
          <p:nvPr/>
        </p:nvSpPr>
        <p:spPr>
          <a:xfrm>
            <a:off x="2971800" y="5384330"/>
            <a:ext cx="4572000" cy="317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50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压缩历史、引入记忆模块</a:t>
            </a:r>
            <a:endParaRPr sz="1650" b="0" dirty="0">
              <a:solidFill>
                <a:srgbClr val="3A414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7" name="TextBox 21">
            <a:extLst>
              <a:ext uri="{FF2B5EF4-FFF2-40B4-BE49-F238E27FC236}">
                <a16:creationId xmlns:a16="http://schemas.microsoft.com/office/drawing/2014/main" id="{A68C1434-75BC-2416-EAB4-337BB802FB54}"/>
              </a:ext>
            </a:extLst>
          </p:cNvPr>
          <p:cNvSpPr txBox="1"/>
          <p:nvPr/>
        </p:nvSpPr>
        <p:spPr>
          <a:xfrm>
            <a:off x="7726679" y="5384330"/>
            <a:ext cx="2995399" cy="307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00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外推、兼容与并行约束</a:t>
            </a:r>
            <a:endParaRPr sz="1600" b="0" dirty="0">
              <a:solidFill>
                <a:srgbClr val="3A4148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98" name="Connector 22">
            <a:extLst>
              <a:ext uri="{FF2B5EF4-FFF2-40B4-BE49-F238E27FC236}">
                <a16:creationId xmlns:a16="http://schemas.microsoft.com/office/drawing/2014/main" id="{7B6A14A4-F87C-9E10-CB30-531F285691D7}"/>
              </a:ext>
            </a:extLst>
          </p:cNvPr>
          <p:cNvCxnSpPr/>
          <p:nvPr/>
        </p:nvCxnSpPr>
        <p:spPr>
          <a:xfrm>
            <a:off x="731520" y="5951706"/>
            <a:ext cx="10725912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7">
            <a:extLst>
              <a:ext uri="{FF2B5EF4-FFF2-40B4-BE49-F238E27FC236}">
                <a16:creationId xmlns:a16="http://schemas.microsoft.com/office/drawing/2014/main" id="{8FB9A94B-4FF7-A333-E49A-0F2F8AF5C2C8}"/>
              </a:ext>
            </a:extLst>
          </p:cNvPr>
          <p:cNvSpPr txBox="1"/>
          <p:nvPr/>
        </p:nvSpPr>
        <p:spPr>
          <a:xfrm>
            <a:off x="724146" y="6173304"/>
            <a:ext cx="10725912" cy="27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50" dirty="0">
                <a:latin typeface="Noto Sans SC"/>
                <a:ea typeface="Noto Sans SC"/>
                <a:cs typeface="Noto Sans SC"/>
              </a:rPr>
              <a:t>一个成功的强长上下文 </a:t>
            </a:r>
            <a:r>
              <a:rPr lang="en-US" altLang="zh-CN" sz="1450" dirty="0">
                <a:latin typeface="Noto Sans SC"/>
                <a:ea typeface="Noto Sans SC"/>
                <a:cs typeface="Noto Sans SC"/>
              </a:rPr>
              <a:t>LLM </a:t>
            </a:r>
            <a:r>
              <a:rPr lang="zh-CN" altLang="en-US" sz="1450" dirty="0">
                <a:latin typeface="Noto Sans SC"/>
                <a:ea typeface="Noto Sans SC"/>
                <a:cs typeface="Noto Sans SC"/>
              </a:rPr>
              <a:t>需要三位一体：</a:t>
            </a:r>
            <a:r>
              <a:rPr lang="en-US" altLang="zh-CN" sz="1450" dirty="0">
                <a:latin typeface="Noto Sans SC"/>
                <a:ea typeface="Noto Sans SC"/>
                <a:cs typeface="Noto Sans SC"/>
              </a:rPr>
              <a:t>1) </a:t>
            </a:r>
            <a:r>
              <a:rPr lang="zh-CN" altLang="en-US" sz="1450" dirty="0">
                <a:latin typeface="Noto Sans SC"/>
                <a:ea typeface="Noto Sans SC"/>
                <a:cs typeface="Noto Sans SC"/>
              </a:rPr>
              <a:t>处理无限长文本         </a:t>
            </a:r>
            <a:r>
              <a:rPr lang="en-US" altLang="zh-CN" sz="1450" dirty="0">
                <a:latin typeface="Noto Sans SC"/>
                <a:ea typeface="Noto Sans SC"/>
                <a:cs typeface="Noto Sans SC"/>
              </a:rPr>
              <a:t>2) </a:t>
            </a:r>
            <a:r>
              <a:rPr lang="zh-CN" altLang="en-US" sz="1450" dirty="0">
                <a:latin typeface="Noto Sans SC"/>
                <a:ea typeface="Noto Sans SC"/>
                <a:cs typeface="Noto Sans SC"/>
              </a:rPr>
              <a:t>扩展时性能不显著下降         </a:t>
            </a:r>
            <a:r>
              <a:rPr lang="en-US" altLang="zh-CN" sz="1450" dirty="0">
                <a:latin typeface="Noto Sans SC"/>
                <a:ea typeface="Noto Sans SC"/>
                <a:cs typeface="Noto Sans SC"/>
              </a:rPr>
              <a:t>3) </a:t>
            </a:r>
            <a:r>
              <a:rPr lang="zh-CN" altLang="en-US" sz="1450" dirty="0">
                <a:latin typeface="Noto Sans SC"/>
                <a:ea typeface="Noto Sans SC"/>
                <a:cs typeface="Noto Sans SC"/>
              </a:rPr>
              <a:t>线性复杂度的解码</a:t>
            </a:r>
            <a:endParaRPr sz="1450" b="0" dirty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17" name="全局顶部细线">
            <a:extLst>
              <a:ext uri="{FF2B5EF4-FFF2-40B4-BE49-F238E27FC236}">
                <a16:creationId xmlns:a16="http://schemas.microsoft.com/office/drawing/2014/main" id="{59BC6FBE-F390-800E-BA13-4414AFF005B3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119" name="文本 MemAgent  /  01 研究背景">
            <a:extLst>
              <a:ext uri="{FF2B5EF4-FFF2-40B4-BE49-F238E27FC236}">
                <a16:creationId xmlns:a16="http://schemas.microsoft.com/office/drawing/2014/main" id="{A029FAD0-87CC-E8B2-640C-F8DD75B857C4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</a:t>
            </a:r>
            <a:r>
              <a:rPr sz="1200" b="1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  /  01 </a:t>
            </a:r>
            <a:r>
              <a:rPr sz="1200" b="1" dirty="0" err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sz="1200" b="1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B6C40CAA-D65C-F73F-08B8-2B60E62B4CFB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D284A8EA-E5C4-DFEA-9BB2-7187F8323BE6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1941-DD81-A1F8-F028-858CCAE4C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93887E-6A41-AB2B-C663-4B5AF37A9BD7}"/>
              </a:ext>
            </a:extLst>
          </p:cNvPr>
          <p:cNvSpPr txBox="1"/>
          <p:nvPr/>
        </p:nvSpPr>
        <p:spPr>
          <a:xfrm>
            <a:off x="731520" y="598385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分段读取，逐段重写记忆</a:t>
            </a:r>
            <a:endParaRPr sz="30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E1A8D8AC-4B47-1D5C-4B85-A7EA9E9B3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49" y="1147025"/>
            <a:ext cx="8568875" cy="2157567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ABB8253B-CF63-CE72-CC96-CEED070BA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7653" y="1874934"/>
            <a:ext cx="1320965" cy="1345277"/>
          </a:xfrm>
          <a:prstGeom prst="rect">
            <a:avLst/>
          </a:prstGeom>
        </p:spPr>
      </p:pic>
      <p:pic>
        <p:nvPicPr>
          <p:cNvPr id="6" name="Picture 7" descr="table5.png">
            <a:extLst>
              <a:ext uri="{FF2B5EF4-FFF2-40B4-BE49-F238E27FC236}">
                <a16:creationId xmlns:a16="http://schemas.microsoft.com/office/drawing/2014/main" id="{3B53B00B-2D12-B51D-B608-B2E567247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49" y="3304592"/>
            <a:ext cx="9515476" cy="3432411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6C1C50F4-A286-268B-B73A-87D8B8649731}"/>
              </a:ext>
            </a:extLst>
          </p:cNvPr>
          <p:cNvSpPr txBox="1"/>
          <p:nvPr/>
        </p:nvSpPr>
        <p:spPr>
          <a:xfrm>
            <a:off x="6008370" y="5010912"/>
            <a:ext cx="3983355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 err="1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更新段：问题</a:t>
            </a:r>
            <a:r>
              <a:rPr sz="1400" b="1" dirty="0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 + </a:t>
            </a:r>
            <a:r>
              <a:rPr sz="1400" b="1" dirty="0" err="1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旧记忆</a:t>
            </a:r>
            <a:r>
              <a:rPr sz="1400" b="1" dirty="0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 + </a:t>
            </a:r>
            <a:r>
              <a:rPr sz="1400" b="1" dirty="0" err="1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当前块</a:t>
            </a:r>
            <a:r>
              <a:rPr sz="1400" b="1" dirty="0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 → </a:t>
            </a:r>
            <a:r>
              <a:rPr sz="1400" b="1" dirty="0" err="1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新记忆</a:t>
            </a:r>
            <a:endParaRPr sz="1400" b="1" dirty="0">
              <a:latin typeface="Noto Serif SC" panose="02020200000000000000" pitchFamily="18" charset="-122"/>
              <a:ea typeface="Noto Serif SC" panose="02020200000000000000" pitchFamily="18" charset="-122"/>
              <a:cs typeface="Noto Sans S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F51B5-937B-18A3-1048-E9BE21E8575A}"/>
              </a:ext>
            </a:extLst>
          </p:cNvPr>
          <p:cNvSpPr txBox="1"/>
          <p:nvPr/>
        </p:nvSpPr>
        <p:spPr>
          <a:xfrm>
            <a:off x="6008370" y="6383621"/>
            <a:ext cx="4478655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 err="1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回答段：问题</a:t>
            </a:r>
            <a:r>
              <a:rPr sz="1400" b="1" dirty="0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 + </a:t>
            </a:r>
            <a:r>
              <a:rPr sz="1400" b="1" dirty="0" err="1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最终记忆</a:t>
            </a:r>
            <a:r>
              <a:rPr sz="1400" b="1" dirty="0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 → </a:t>
            </a:r>
            <a:r>
              <a:rPr sz="1400" b="1" dirty="0" err="1">
                <a:latin typeface="Noto Serif SC" panose="02020200000000000000" pitchFamily="18" charset="-122"/>
                <a:ea typeface="Noto Serif SC" panose="02020200000000000000" pitchFamily="18" charset="-122"/>
                <a:cs typeface="Noto Sans SC"/>
              </a:rPr>
              <a:t>答案；不再回看原文</a:t>
            </a:r>
            <a:endParaRPr sz="1400" b="1" dirty="0">
              <a:latin typeface="Noto Serif SC" panose="02020200000000000000" pitchFamily="18" charset="-122"/>
              <a:ea typeface="Noto Serif SC" panose="02020200000000000000" pitchFamily="18" charset="-122"/>
              <a:cs typeface="Noto Sans SC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AEBB9A-A112-8141-C2B8-E6519094B7EC}"/>
              </a:ext>
            </a:extLst>
          </p:cNvPr>
          <p:cNvSpPr txBox="1"/>
          <p:nvPr/>
        </p:nvSpPr>
        <p:spPr>
          <a:xfrm>
            <a:off x="5915025" y="4546253"/>
            <a:ext cx="6096000" cy="41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zh-CN" sz="2000" b="1" dirty="0">
                <a:solidFill>
                  <a:srgbClr val="12161A"/>
                </a:solidFill>
                <a:latin typeface="Noto Serif SC"/>
                <a:ea typeface="Noto Serif SC"/>
              </a:rPr>
              <a:t>mₜ = LLM(q, mₜ₋₁, cₜ)</a:t>
            </a:r>
            <a:r>
              <a:rPr lang="zh-CN" altLang="en-US" sz="2000" b="1" dirty="0">
                <a:solidFill>
                  <a:srgbClr val="12161A"/>
                </a:solidFill>
                <a:latin typeface="Noto Serif SC"/>
                <a:ea typeface="Noto Serif SC"/>
              </a:rPr>
              <a:t>　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D8FFCB-B515-8006-A93A-35010032E23C}"/>
              </a:ext>
            </a:extLst>
          </p:cNvPr>
          <p:cNvSpPr txBox="1"/>
          <p:nvPr/>
        </p:nvSpPr>
        <p:spPr>
          <a:xfrm>
            <a:off x="5915024" y="5881735"/>
            <a:ext cx="4848225" cy="412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zh-CN" sz="2000" b="1" dirty="0">
                <a:solidFill>
                  <a:srgbClr val="12161A"/>
                </a:solidFill>
                <a:latin typeface="Noto Serif SC"/>
                <a:ea typeface="Noto Serif SC"/>
              </a:rPr>
              <a:t>a = LLM(q, </a:t>
            </a:r>
            <a:r>
              <a:rPr lang="en-US" altLang="zh-CN" sz="2000" b="1" dirty="0" err="1">
                <a:solidFill>
                  <a:srgbClr val="12161A"/>
                </a:solidFill>
                <a:latin typeface="Noto Serif SC"/>
                <a:ea typeface="Noto Serif SC"/>
              </a:rPr>
              <a:t>m_K</a:t>
            </a:r>
            <a:r>
              <a:rPr lang="en-US" altLang="zh-CN" sz="2000" b="1" dirty="0">
                <a:solidFill>
                  <a:srgbClr val="12161A"/>
                </a:solidFill>
                <a:latin typeface="Noto Serif SC"/>
                <a:ea typeface="Noto Serif SC"/>
              </a:rPr>
              <a:t>)</a:t>
            </a:r>
            <a:endParaRPr lang="zh-CN" altLang="en-US" sz="2000" b="1" dirty="0">
              <a:solidFill>
                <a:srgbClr val="12161A"/>
              </a:solidFill>
              <a:latin typeface="Noto Serif SC"/>
              <a:ea typeface="Noto Serif SC"/>
            </a:endParaRPr>
          </a:p>
        </p:txBody>
      </p:sp>
      <p:sp>
        <p:nvSpPr>
          <p:cNvPr id="23" name="全局顶部细线">
            <a:extLst>
              <a:ext uri="{FF2B5EF4-FFF2-40B4-BE49-F238E27FC236}">
                <a16:creationId xmlns:a16="http://schemas.microsoft.com/office/drawing/2014/main" id="{ECF9C182-3D4D-0DF4-E14C-89C1E6BC401F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25" name="文本 MemAgent  /  02 方法设计">
            <a:extLst>
              <a:ext uri="{FF2B5EF4-FFF2-40B4-BE49-F238E27FC236}">
                <a16:creationId xmlns:a16="http://schemas.microsoft.com/office/drawing/2014/main" id="{9F74EFAB-78CA-2764-FD46-1187914C5E63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02 方法设计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AF1B52FA-8124-37B9-6244-6C93032E6595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全局右下角标">
            <a:extLst>
              <a:ext uri="{FF2B5EF4-FFF2-40B4-BE49-F238E27FC236}">
                <a16:creationId xmlns:a16="http://schemas.microsoft.com/office/drawing/2014/main" id="{7BC69CB8-E2AF-B326-2A33-998D6AE5C010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7736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70A9803-F92F-476B-B04C-2608B77571B5}"/>
              </a:ext>
            </a:extLst>
          </p:cNvPr>
          <p:cNvSpPr>
            <a:spLocks noGrp="1"/>
          </p:cNvSpPr>
          <p:nvPr/>
        </p:nvSpPr>
        <p:spPr>
          <a:xfrm>
            <a:off x="717342" y="590550"/>
            <a:ext cx="107251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925" b="1">
                <a:solidFill>
                  <a:srgbClr val="12161A"/>
                </a:solidFill>
                <a:latin typeface="Noto Serif SC"/>
                <a:ea typeface="Noto Serif SC"/>
                <a:cs typeface="Noto Serif SC"/>
              </a:defRPr>
            </a:pPr>
            <a:r>
              <a:rPr sz="2925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从注意力矩阵看：平方成本与线性成本</a:t>
            </a:r>
            <a:endParaRPr sz="2925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7B134B-B9D1-42CA-9F29-2A96D0ADA1CD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全量注意力：矩阵随文档一起扩大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B4B5BD-9870-4817-A961-561324BEA1D3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E4D72"/>
                </a:solidFill>
                <a:latin typeface="Noto Sans SC"/>
                <a:ea typeface="Noto Sans SC"/>
                <a:cs typeface="Noto Sans SC"/>
              </a:rPr>
              <a:t>MemAgent：重复计算固定大小的矩阵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F6651B-FCCD-41C3-A040-80D41E7D6004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9525" cy="4095750"/>
          </a:xfrm>
          <a:prstGeom prst="rect">
            <a:avLst/>
          </a:prstGeom>
          <a:solidFill>
            <a:srgbClr val="E5E5E5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3C319A-A0CC-46EB-BCB2-0CA394E01EA4}"/>
              </a:ext>
            </a:extLst>
          </p:cNvPr>
          <p:cNvSpPr>
            <a:spLocks noGrp="1"/>
          </p:cNvSpPr>
          <p:nvPr/>
        </p:nvSpPr>
        <p:spPr>
          <a:xfrm>
            <a:off x="2171700" y="2381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0F92E3-7B67-4A6A-9FF2-E923AD640458}"/>
              </a:ext>
            </a:extLst>
          </p:cNvPr>
          <p:cNvSpPr>
            <a:spLocks noGrp="1"/>
          </p:cNvSpPr>
          <p:nvPr/>
        </p:nvSpPr>
        <p:spPr>
          <a:xfrm>
            <a:off x="23622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332873-84AC-4342-8A84-038851759057}"/>
              </a:ext>
            </a:extLst>
          </p:cNvPr>
          <p:cNvSpPr>
            <a:spLocks noGrp="1"/>
          </p:cNvSpPr>
          <p:nvPr/>
        </p:nvSpPr>
        <p:spPr>
          <a:xfrm>
            <a:off x="25527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2E24DB-6889-48E3-B113-94DBF6F5A625}"/>
              </a:ext>
            </a:extLst>
          </p:cNvPr>
          <p:cNvSpPr>
            <a:spLocks noGrp="1"/>
          </p:cNvSpPr>
          <p:nvPr/>
        </p:nvSpPr>
        <p:spPr>
          <a:xfrm>
            <a:off x="27432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11CC81-9085-4A11-8FA2-0ED598EAEE28}"/>
              </a:ext>
            </a:extLst>
          </p:cNvPr>
          <p:cNvSpPr>
            <a:spLocks noGrp="1"/>
          </p:cNvSpPr>
          <p:nvPr/>
        </p:nvSpPr>
        <p:spPr>
          <a:xfrm>
            <a:off x="29337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ED2CC2-6B06-4DD5-92B9-FC7C23D6928D}"/>
              </a:ext>
            </a:extLst>
          </p:cNvPr>
          <p:cNvSpPr>
            <a:spLocks noGrp="1"/>
          </p:cNvSpPr>
          <p:nvPr/>
        </p:nvSpPr>
        <p:spPr>
          <a:xfrm>
            <a:off x="31242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5B8D9C-1621-4302-B729-590FA5406A85}"/>
              </a:ext>
            </a:extLst>
          </p:cNvPr>
          <p:cNvSpPr>
            <a:spLocks noGrp="1"/>
          </p:cNvSpPr>
          <p:nvPr/>
        </p:nvSpPr>
        <p:spPr>
          <a:xfrm>
            <a:off x="33147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A0E3C4-DB65-45CC-90F9-5EFBE34802AF}"/>
              </a:ext>
            </a:extLst>
          </p:cNvPr>
          <p:cNvSpPr>
            <a:spLocks noGrp="1"/>
          </p:cNvSpPr>
          <p:nvPr/>
        </p:nvSpPr>
        <p:spPr>
          <a:xfrm>
            <a:off x="35052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E69633-BF11-4690-AC50-E524C3F829D9}"/>
              </a:ext>
            </a:extLst>
          </p:cNvPr>
          <p:cNvSpPr>
            <a:spLocks noGrp="1"/>
          </p:cNvSpPr>
          <p:nvPr/>
        </p:nvSpPr>
        <p:spPr>
          <a:xfrm>
            <a:off x="36957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C65D8F-F728-4063-8593-D38B784ED766}"/>
              </a:ext>
            </a:extLst>
          </p:cNvPr>
          <p:cNvSpPr>
            <a:spLocks noGrp="1"/>
          </p:cNvSpPr>
          <p:nvPr/>
        </p:nvSpPr>
        <p:spPr>
          <a:xfrm>
            <a:off x="3886200" y="2381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8ACB60-0225-46B2-9F4E-B0B256831A61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4C487D-DA12-40BF-B045-EAA320916BB9}"/>
              </a:ext>
            </a:extLst>
          </p:cNvPr>
          <p:cNvSpPr>
            <a:spLocks noGrp="1"/>
          </p:cNvSpPr>
          <p:nvPr/>
        </p:nvSpPr>
        <p:spPr>
          <a:xfrm>
            <a:off x="2362200" y="2571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8C5DCB-E621-4A10-BBAE-675B1930CA29}"/>
              </a:ext>
            </a:extLst>
          </p:cNvPr>
          <p:cNvSpPr>
            <a:spLocks noGrp="1"/>
          </p:cNvSpPr>
          <p:nvPr/>
        </p:nvSpPr>
        <p:spPr>
          <a:xfrm>
            <a:off x="2552700" y="2571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8AB8785-8C53-4293-B6E4-EE9A5272AA00}"/>
              </a:ext>
            </a:extLst>
          </p:cNvPr>
          <p:cNvSpPr>
            <a:spLocks noGrp="1"/>
          </p:cNvSpPr>
          <p:nvPr/>
        </p:nvSpPr>
        <p:spPr>
          <a:xfrm>
            <a:off x="2743200" y="2571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8F0D0B-CC9B-4DA9-9752-59C4D586D4CA}"/>
              </a:ext>
            </a:extLst>
          </p:cNvPr>
          <p:cNvSpPr>
            <a:spLocks noGrp="1"/>
          </p:cNvSpPr>
          <p:nvPr/>
        </p:nvSpPr>
        <p:spPr>
          <a:xfrm>
            <a:off x="2933700" y="2571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271528-B5C1-4575-A0F0-4636165BE994}"/>
              </a:ext>
            </a:extLst>
          </p:cNvPr>
          <p:cNvSpPr>
            <a:spLocks noGrp="1"/>
          </p:cNvSpPr>
          <p:nvPr/>
        </p:nvSpPr>
        <p:spPr>
          <a:xfrm>
            <a:off x="3124200" y="2571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E642EB-131C-44A3-99DE-6544E6109967}"/>
              </a:ext>
            </a:extLst>
          </p:cNvPr>
          <p:cNvSpPr>
            <a:spLocks noGrp="1"/>
          </p:cNvSpPr>
          <p:nvPr/>
        </p:nvSpPr>
        <p:spPr>
          <a:xfrm>
            <a:off x="3314700" y="2571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4D4A4B-956F-4288-B753-A23FD743A0F6}"/>
              </a:ext>
            </a:extLst>
          </p:cNvPr>
          <p:cNvSpPr>
            <a:spLocks noGrp="1"/>
          </p:cNvSpPr>
          <p:nvPr/>
        </p:nvSpPr>
        <p:spPr>
          <a:xfrm>
            <a:off x="3505200" y="2571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A7AA1C-4255-4226-A816-5383B32EFAA5}"/>
              </a:ext>
            </a:extLst>
          </p:cNvPr>
          <p:cNvSpPr>
            <a:spLocks noGrp="1"/>
          </p:cNvSpPr>
          <p:nvPr/>
        </p:nvSpPr>
        <p:spPr>
          <a:xfrm>
            <a:off x="3695700" y="2571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3486DD9-E65A-43FC-AFEC-57CE2ED6DCC8}"/>
              </a:ext>
            </a:extLst>
          </p:cNvPr>
          <p:cNvSpPr>
            <a:spLocks noGrp="1"/>
          </p:cNvSpPr>
          <p:nvPr/>
        </p:nvSpPr>
        <p:spPr>
          <a:xfrm>
            <a:off x="3886200" y="2571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613FE6F-DAC3-40E3-AF8D-BAF79A548519}"/>
              </a:ext>
            </a:extLst>
          </p:cNvPr>
          <p:cNvSpPr>
            <a:spLocks noGrp="1"/>
          </p:cNvSpPr>
          <p:nvPr/>
        </p:nvSpPr>
        <p:spPr>
          <a:xfrm>
            <a:off x="2171700" y="2762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E798F9-F05D-4C13-A682-8B6FCA6BC1E6}"/>
              </a:ext>
            </a:extLst>
          </p:cNvPr>
          <p:cNvSpPr>
            <a:spLocks noGrp="1"/>
          </p:cNvSpPr>
          <p:nvPr/>
        </p:nvSpPr>
        <p:spPr>
          <a:xfrm>
            <a:off x="2362200" y="2762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A0DF87F-87AC-457B-802D-0A1680C0203E}"/>
              </a:ext>
            </a:extLst>
          </p:cNvPr>
          <p:cNvSpPr>
            <a:spLocks noGrp="1"/>
          </p:cNvSpPr>
          <p:nvPr/>
        </p:nvSpPr>
        <p:spPr>
          <a:xfrm>
            <a:off x="2552700" y="2762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BB11DF9-439F-4B31-8903-804B5CB298FA}"/>
              </a:ext>
            </a:extLst>
          </p:cNvPr>
          <p:cNvSpPr>
            <a:spLocks noGrp="1"/>
          </p:cNvSpPr>
          <p:nvPr/>
        </p:nvSpPr>
        <p:spPr>
          <a:xfrm>
            <a:off x="2743200" y="2762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132D66-9FBD-43F9-8D11-8B59DF37DA5F}"/>
              </a:ext>
            </a:extLst>
          </p:cNvPr>
          <p:cNvSpPr>
            <a:spLocks noGrp="1"/>
          </p:cNvSpPr>
          <p:nvPr/>
        </p:nvSpPr>
        <p:spPr>
          <a:xfrm>
            <a:off x="2933700" y="2762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FDFD16-280C-4687-A1F1-ED4BC627F2C9}"/>
              </a:ext>
            </a:extLst>
          </p:cNvPr>
          <p:cNvSpPr>
            <a:spLocks noGrp="1"/>
          </p:cNvSpPr>
          <p:nvPr/>
        </p:nvSpPr>
        <p:spPr>
          <a:xfrm>
            <a:off x="3124200" y="2762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7EE12E9-4152-40DF-AC9A-EE6CF2EE9440}"/>
              </a:ext>
            </a:extLst>
          </p:cNvPr>
          <p:cNvSpPr>
            <a:spLocks noGrp="1"/>
          </p:cNvSpPr>
          <p:nvPr/>
        </p:nvSpPr>
        <p:spPr>
          <a:xfrm>
            <a:off x="3314700" y="2762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1D58CD3-21DF-4F44-9A5B-DE55C151D9A8}"/>
              </a:ext>
            </a:extLst>
          </p:cNvPr>
          <p:cNvSpPr>
            <a:spLocks noGrp="1"/>
          </p:cNvSpPr>
          <p:nvPr/>
        </p:nvSpPr>
        <p:spPr>
          <a:xfrm>
            <a:off x="3505200" y="2762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F5F6DC4-8777-47C1-9D2C-FBA50CC65FFE}"/>
              </a:ext>
            </a:extLst>
          </p:cNvPr>
          <p:cNvSpPr>
            <a:spLocks noGrp="1"/>
          </p:cNvSpPr>
          <p:nvPr/>
        </p:nvSpPr>
        <p:spPr>
          <a:xfrm>
            <a:off x="3695700" y="2762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B27031B-7A33-4602-A78F-D4CBB683858B}"/>
              </a:ext>
            </a:extLst>
          </p:cNvPr>
          <p:cNvSpPr>
            <a:spLocks noGrp="1"/>
          </p:cNvSpPr>
          <p:nvPr/>
        </p:nvSpPr>
        <p:spPr>
          <a:xfrm>
            <a:off x="3886200" y="2762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270969E-3FBE-4FE6-8A42-FA3D03C05964}"/>
              </a:ext>
            </a:extLst>
          </p:cNvPr>
          <p:cNvSpPr>
            <a:spLocks noGrp="1"/>
          </p:cNvSpPr>
          <p:nvPr/>
        </p:nvSpPr>
        <p:spPr>
          <a:xfrm>
            <a:off x="2171700" y="2952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0C12898-B621-483C-819D-0267C4E49899}"/>
              </a:ext>
            </a:extLst>
          </p:cNvPr>
          <p:cNvSpPr>
            <a:spLocks noGrp="1"/>
          </p:cNvSpPr>
          <p:nvPr/>
        </p:nvSpPr>
        <p:spPr>
          <a:xfrm>
            <a:off x="2362200" y="2952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8FE11CE-033C-406E-96E3-56F9052F71E2}"/>
              </a:ext>
            </a:extLst>
          </p:cNvPr>
          <p:cNvSpPr>
            <a:spLocks noGrp="1"/>
          </p:cNvSpPr>
          <p:nvPr/>
        </p:nvSpPr>
        <p:spPr>
          <a:xfrm>
            <a:off x="2552700" y="2952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1C17FCA-3780-4C8B-B4B5-0298DF697D31}"/>
              </a:ext>
            </a:extLst>
          </p:cNvPr>
          <p:cNvSpPr>
            <a:spLocks noGrp="1"/>
          </p:cNvSpPr>
          <p:nvPr/>
        </p:nvSpPr>
        <p:spPr>
          <a:xfrm>
            <a:off x="2743200" y="2952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7851AF6-F0B4-4E24-9DB8-5AB61469DC34}"/>
              </a:ext>
            </a:extLst>
          </p:cNvPr>
          <p:cNvSpPr>
            <a:spLocks noGrp="1"/>
          </p:cNvSpPr>
          <p:nvPr/>
        </p:nvSpPr>
        <p:spPr>
          <a:xfrm>
            <a:off x="2933700" y="2952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1AE1EDF-EF88-4B65-B1B6-73C8ADBD8259}"/>
              </a:ext>
            </a:extLst>
          </p:cNvPr>
          <p:cNvSpPr>
            <a:spLocks noGrp="1"/>
          </p:cNvSpPr>
          <p:nvPr/>
        </p:nvSpPr>
        <p:spPr>
          <a:xfrm>
            <a:off x="3124200" y="2952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C393933-E0B7-46EC-B9B0-516F33A89613}"/>
              </a:ext>
            </a:extLst>
          </p:cNvPr>
          <p:cNvSpPr>
            <a:spLocks noGrp="1"/>
          </p:cNvSpPr>
          <p:nvPr/>
        </p:nvSpPr>
        <p:spPr>
          <a:xfrm>
            <a:off x="3314700" y="2952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3190E2F-8B7F-462B-BA01-2D5EFFC5F68A}"/>
              </a:ext>
            </a:extLst>
          </p:cNvPr>
          <p:cNvSpPr>
            <a:spLocks noGrp="1"/>
          </p:cNvSpPr>
          <p:nvPr/>
        </p:nvSpPr>
        <p:spPr>
          <a:xfrm>
            <a:off x="3505200" y="2952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1EDBF5-D539-4B54-AD1E-802B124BD6AD}"/>
              </a:ext>
            </a:extLst>
          </p:cNvPr>
          <p:cNvSpPr>
            <a:spLocks noGrp="1"/>
          </p:cNvSpPr>
          <p:nvPr/>
        </p:nvSpPr>
        <p:spPr>
          <a:xfrm>
            <a:off x="3695700" y="2952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0F5AA64-8C19-4CBA-91F5-EEA3B0E76529}"/>
              </a:ext>
            </a:extLst>
          </p:cNvPr>
          <p:cNvSpPr>
            <a:spLocks noGrp="1"/>
          </p:cNvSpPr>
          <p:nvPr/>
        </p:nvSpPr>
        <p:spPr>
          <a:xfrm>
            <a:off x="3886200" y="2952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66C8422-40AB-4B79-8BFD-3CB026A2006E}"/>
              </a:ext>
            </a:extLst>
          </p:cNvPr>
          <p:cNvSpPr>
            <a:spLocks noGrp="1"/>
          </p:cNvSpPr>
          <p:nvPr/>
        </p:nvSpPr>
        <p:spPr>
          <a:xfrm>
            <a:off x="2171700" y="3143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B6A6206-DC9D-463C-9A6C-CA9409D8D314}"/>
              </a:ext>
            </a:extLst>
          </p:cNvPr>
          <p:cNvSpPr>
            <a:spLocks noGrp="1"/>
          </p:cNvSpPr>
          <p:nvPr/>
        </p:nvSpPr>
        <p:spPr>
          <a:xfrm>
            <a:off x="2362200" y="3143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B120245-1D07-4EF2-B2CA-15BB57A12AD3}"/>
              </a:ext>
            </a:extLst>
          </p:cNvPr>
          <p:cNvSpPr>
            <a:spLocks noGrp="1"/>
          </p:cNvSpPr>
          <p:nvPr/>
        </p:nvSpPr>
        <p:spPr>
          <a:xfrm>
            <a:off x="2552700" y="3143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9D8DA48-9A9D-41BB-B2BE-792F751865CB}"/>
              </a:ext>
            </a:extLst>
          </p:cNvPr>
          <p:cNvSpPr>
            <a:spLocks noGrp="1"/>
          </p:cNvSpPr>
          <p:nvPr/>
        </p:nvSpPr>
        <p:spPr>
          <a:xfrm>
            <a:off x="2743200" y="3143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2838FCC-05BC-4A1F-962A-0E1374E09E64}"/>
              </a:ext>
            </a:extLst>
          </p:cNvPr>
          <p:cNvSpPr>
            <a:spLocks noGrp="1"/>
          </p:cNvSpPr>
          <p:nvPr/>
        </p:nvSpPr>
        <p:spPr>
          <a:xfrm>
            <a:off x="2933700" y="3143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0BF5BD5-BCEE-4E6C-911A-F6DED849876C}"/>
              </a:ext>
            </a:extLst>
          </p:cNvPr>
          <p:cNvSpPr>
            <a:spLocks noGrp="1"/>
          </p:cNvSpPr>
          <p:nvPr/>
        </p:nvSpPr>
        <p:spPr>
          <a:xfrm>
            <a:off x="3124200" y="3143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041D709-324D-4431-9298-E66B9B9A7A5D}"/>
              </a:ext>
            </a:extLst>
          </p:cNvPr>
          <p:cNvSpPr>
            <a:spLocks noGrp="1"/>
          </p:cNvSpPr>
          <p:nvPr/>
        </p:nvSpPr>
        <p:spPr>
          <a:xfrm>
            <a:off x="3314700" y="3143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030A982-8F1C-4103-844D-D4FC237EEE82}"/>
              </a:ext>
            </a:extLst>
          </p:cNvPr>
          <p:cNvSpPr>
            <a:spLocks noGrp="1"/>
          </p:cNvSpPr>
          <p:nvPr/>
        </p:nvSpPr>
        <p:spPr>
          <a:xfrm>
            <a:off x="3505200" y="3143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9970754-9DC7-4A76-AC7C-99F978285D28}"/>
              </a:ext>
            </a:extLst>
          </p:cNvPr>
          <p:cNvSpPr>
            <a:spLocks noGrp="1"/>
          </p:cNvSpPr>
          <p:nvPr/>
        </p:nvSpPr>
        <p:spPr>
          <a:xfrm>
            <a:off x="3695700" y="3143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0286119-4216-4E06-92F7-77D129CD1605}"/>
              </a:ext>
            </a:extLst>
          </p:cNvPr>
          <p:cNvSpPr>
            <a:spLocks noGrp="1"/>
          </p:cNvSpPr>
          <p:nvPr/>
        </p:nvSpPr>
        <p:spPr>
          <a:xfrm>
            <a:off x="3886200" y="3143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3D2BB1-3734-4511-AE80-483E8F598383}"/>
              </a:ext>
            </a:extLst>
          </p:cNvPr>
          <p:cNvSpPr>
            <a:spLocks noGrp="1"/>
          </p:cNvSpPr>
          <p:nvPr/>
        </p:nvSpPr>
        <p:spPr>
          <a:xfrm>
            <a:off x="2171700" y="3333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763EE01-86D3-46A8-AC37-3FEF4BB01291}"/>
              </a:ext>
            </a:extLst>
          </p:cNvPr>
          <p:cNvSpPr>
            <a:spLocks noGrp="1"/>
          </p:cNvSpPr>
          <p:nvPr/>
        </p:nvSpPr>
        <p:spPr>
          <a:xfrm>
            <a:off x="2362200" y="3333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50590EE-FCB5-44C5-9227-FB947B9D608F}"/>
              </a:ext>
            </a:extLst>
          </p:cNvPr>
          <p:cNvSpPr>
            <a:spLocks noGrp="1"/>
          </p:cNvSpPr>
          <p:nvPr/>
        </p:nvSpPr>
        <p:spPr>
          <a:xfrm>
            <a:off x="2552700" y="3333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85BE4B8-42AE-429B-B91F-26EC5A3FBBB5}"/>
              </a:ext>
            </a:extLst>
          </p:cNvPr>
          <p:cNvSpPr>
            <a:spLocks noGrp="1"/>
          </p:cNvSpPr>
          <p:nvPr/>
        </p:nvSpPr>
        <p:spPr>
          <a:xfrm>
            <a:off x="2743200" y="3333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F0BFCD5-1870-45B2-94F0-115F279864C9}"/>
              </a:ext>
            </a:extLst>
          </p:cNvPr>
          <p:cNvSpPr>
            <a:spLocks noGrp="1"/>
          </p:cNvSpPr>
          <p:nvPr/>
        </p:nvSpPr>
        <p:spPr>
          <a:xfrm>
            <a:off x="2933700" y="3333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A588A82-C3C7-425D-94F8-8F2F122CCF2E}"/>
              </a:ext>
            </a:extLst>
          </p:cNvPr>
          <p:cNvSpPr>
            <a:spLocks noGrp="1"/>
          </p:cNvSpPr>
          <p:nvPr/>
        </p:nvSpPr>
        <p:spPr>
          <a:xfrm>
            <a:off x="3124200" y="3333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34ED11A-E896-4EE6-ADA1-1A6AF2A2DDEA}"/>
              </a:ext>
            </a:extLst>
          </p:cNvPr>
          <p:cNvSpPr>
            <a:spLocks noGrp="1"/>
          </p:cNvSpPr>
          <p:nvPr/>
        </p:nvSpPr>
        <p:spPr>
          <a:xfrm>
            <a:off x="3314700" y="3333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9CC3385-007D-4C62-92B1-D54C103EC289}"/>
              </a:ext>
            </a:extLst>
          </p:cNvPr>
          <p:cNvSpPr>
            <a:spLocks noGrp="1"/>
          </p:cNvSpPr>
          <p:nvPr/>
        </p:nvSpPr>
        <p:spPr>
          <a:xfrm>
            <a:off x="3505200" y="3333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551F074-6714-4222-B85C-3039EA8F8724}"/>
              </a:ext>
            </a:extLst>
          </p:cNvPr>
          <p:cNvSpPr>
            <a:spLocks noGrp="1"/>
          </p:cNvSpPr>
          <p:nvPr/>
        </p:nvSpPr>
        <p:spPr>
          <a:xfrm>
            <a:off x="3695700" y="3333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91EDB94-8A30-4CCF-81DC-C23FF349ABEB}"/>
              </a:ext>
            </a:extLst>
          </p:cNvPr>
          <p:cNvSpPr>
            <a:spLocks noGrp="1"/>
          </p:cNvSpPr>
          <p:nvPr/>
        </p:nvSpPr>
        <p:spPr>
          <a:xfrm>
            <a:off x="3886200" y="3333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3D44812-3B8F-4338-84FB-759A30A54052}"/>
              </a:ext>
            </a:extLst>
          </p:cNvPr>
          <p:cNvSpPr>
            <a:spLocks noGrp="1"/>
          </p:cNvSpPr>
          <p:nvPr/>
        </p:nvSpPr>
        <p:spPr>
          <a:xfrm>
            <a:off x="2171700" y="3524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A7BDD02-9F91-41F9-A551-26B82DAA717D}"/>
              </a:ext>
            </a:extLst>
          </p:cNvPr>
          <p:cNvSpPr>
            <a:spLocks noGrp="1"/>
          </p:cNvSpPr>
          <p:nvPr/>
        </p:nvSpPr>
        <p:spPr>
          <a:xfrm>
            <a:off x="2362200" y="3524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BF97F4A-19DE-4D10-BAA1-29A01C189DD0}"/>
              </a:ext>
            </a:extLst>
          </p:cNvPr>
          <p:cNvSpPr>
            <a:spLocks noGrp="1"/>
          </p:cNvSpPr>
          <p:nvPr/>
        </p:nvSpPr>
        <p:spPr>
          <a:xfrm>
            <a:off x="2552700" y="3524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1C4E0FB-3B52-4106-97EF-3B868AA10E5E}"/>
              </a:ext>
            </a:extLst>
          </p:cNvPr>
          <p:cNvSpPr>
            <a:spLocks noGrp="1"/>
          </p:cNvSpPr>
          <p:nvPr/>
        </p:nvSpPr>
        <p:spPr>
          <a:xfrm>
            <a:off x="2743200" y="3524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8293E8C-5153-4724-9525-07E8E9458EC1}"/>
              </a:ext>
            </a:extLst>
          </p:cNvPr>
          <p:cNvSpPr>
            <a:spLocks noGrp="1"/>
          </p:cNvSpPr>
          <p:nvPr/>
        </p:nvSpPr>
        <p:spPr>
          <a:xfrm>
            <a:off x="2933700" y="3524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E28970A-06DD-4AC7-8AA7-397C9C767533}"/>
              </a:ext>
            </a:extLst>
          </p:cNvPr>
          <p:cNvSpPr>
            <a:spLocks noGrp="1"/>
          </p:cNvSpPr>
          <p:nvPr/>
        </p:nvSpPr>
        <p:spPr>
          <a:xfrm>
            <a:off x="3124200" y="3524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FD99855-03F7-41DE-AA7F-FFE20D7D182B}"/>
              </a:ext>
            </a:extLst>
          </p:cNvPr>
          <p:cNvSpPr>
            <a:spLocks noGrp="1"/>
          </p:cNvSpPr>
          <p:nvPr/>
        </p:nvSpPr>
        <p:spPr>
          <a:xfrm>
            <a:off x="3314700" y="3524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16D8962-39ED-42E1-8B59-D03691689AD3}"/>
              </a:ext>
            </a:extLst>
          </p:cNvPr>
          <p:cNvSpPr>
            <a:spLocks noGrp="1"/>
          </p:cNvSpPr>
          <p:nvPr/>
        </p:nvSpPr>
        <p:spPr>
          <a:xfrm>
            <a:off x="3505200" y="3524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8EBFBD7-6242-44E7-90F5-99EA9753CA77}"/>
              </a:ext>
            </a:extLst>
          </p:cNvPr>
          <p:cNvSpPr>
            <a:spLocks noGrp="1"/>
          </p:cNvSpPr>
          <p:nvPr/>
        </p:nvSpPr>
        <p:spPr>
          <a:xfrm>
            <a:off x="3695700" y="3524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62845BE-9D1F-407A-87E6-CF3EC7ED66A6}"/>
              </a:ext>
            </a:extLst>
          </p:cNvPr>
          <p:cNvSpPr>
            <a:spLocks noGrp="1"/>
          </p:cNvSpPr>
          <p:nvPr/>
        </p:nvSpPr>
        <p:spPr>
          <a:xfrm>
            <a:off x="3886200" y="3524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6A67884-E9C3-4462-9C24-29D931FA81E1}"/>
              </a:ext>
            </a:extLst>
          </p:cNvPr>
          <p:cNvSpPr>
            <a:spLocks noGrp="1"/>
          </p:cNvSpPr>
          <p:nvPr/>
        </p:nvSpPr>
        <p:spPr>
          <a:xfrm>
            <a:off x="2171700" y="3714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6BDDDF0-DEC9-41D1-8A69-43F336488931}"/>
              </a:ext>
            </a:extLst>
          </p:cNvPr>
          <p:cNvSpPr>
            <a:spLocks noGrp="1"/>
          </p:cNvSpPr>
          <p:nvPr/>
        </p:nvSpPr>
        <p:spPr>
          <a:xfrm>
            <a:off x="2362200" y="3714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01F4339-5D8D-42E0-9EB6-2E0223504B97}"/>
              </a:ext>
            </a:extLst>
          </p:cNvPr>
          <p:cNvSpPr>
            <a:spLocks noGrp="1"/>
          </p:cNvSpPr>
          <p:nvPr/>
        </p:nvSpPr>
        <p:spPr>
          <a:xfrm>
            <a:off x="2552700" y="3714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FE84977-C4CE-4B63-A513-E3128551A0CE}"/>
              </a:ext>
            </a:extLst>
          </p:cNvPr>
          <p:cNvSpPr>
            <a:spLocks noGrp="1"/>
          </p:cNvSpPr>
          <p:nvPr/>
        </p:nvSpPr>
        <p:spPr>
          <a:xfrm>
            <a:off x="2743200" y="3714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3BF0C6E-B47A-404D-8E8D-F06C1EED0C5F}"/>
              </a:ext>
            </a:extLst>
          </p:cNvPr>
          <p:cNvSpPr>
            <a:spLocks noGrp="1"/>
          </p:cNvSpPr>
          <p:nvPr/>
        </p:nvSpPr>
        <p:spPr>
          <a:xfrm>
            <a:off x="2933700" y="3714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E90CFA2-D492-4E35-9051-BE16D9C2ADF6}"/>
              </a:ext>
            </a:extLst>
          </p:cNvPr>
          <p:cNvSpPr>
            <a:spLocks noGrp="1"/>
          </p:cNvSpPr>
          <p:nvPr/>
        </p:nvSpPr>
        <p:spPr>
          <a:xfrm>
            <a:off x="3124200" y="3714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D31EF5E-2365-4E12-9BBC-3A30D70FB20E}"/>
              </a:ext>
            </a:extLst>
          </p:cNvPr>
          <p:cNvSpPr>
            <a:spLocks noGrp="1"/>
          </p:cNvSpPr>
          <p:nvPr/>
        </p:nvSpPr>
        <p:spPr>
          <a:xfrm>
            <a:off x="3314700" y="3714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F8E05F4-83E4-47F6-914E-1606BFB85781}"/>
              </a:ext>
            </a:extLst>
          </p:cNvPr>
          <p:cNvSpPr>
            <a:spLocks noGrp="1"/>
          </p:cNvSpPr>
          <p:nvPr/>
        </p:nvSpPr>
        <p:spPr>
          <a:xfrm>
            <a:off x="3505200" y="3714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B048B33-74AA-4873-9F1C-E7F666D1E96A}"/>
              </a:ext>
            </a:extLst>
          </p:cNvPr>
          <p:cNvSpPr>
            <a:spLocks noGrp="1"/>
          </p:cNvSpPr>
          <p:nvPr/>
        </p:nvSpPr>
        <p:spPr>
          <a:xfrm>
            <a:off x="3695700" y="3714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6E5BF8E-016E-4DCF-96C8-EE8708FA4F20}"/>
              </a:ext>
            </a:extLst>
          </p:cNvPr>
          <p:cNvSpPr>
            <a:spLocks noGrp="1"/>
          </p:cNvSpPr>
          <p:nvPr/>
        </p:nvSpPr>
        <p:spPr>
          <a:xfrm>
            <a:off x="3886200" y="37147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591EA87-EEB5-476D-A25D-9D0D58D3C83B}"/>
              </a:ext>
            </a:extLst>
          </p:cNvPr>
          <p:cNvSpPr>
            <a:spLocks noGrp="1"/>
          </p:cNvSpPr>
          <p:nvPr/>
        </p:nvSpPr>
        <p:spPr>
          <a:xfrm>
            <a:off x="21717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34E2BFC-0239-4BF3-854A-C258589A0602}"/>
              </a:ext>
            </a:extLst>
          </p:cNvPr>
          <p:cNvSpPr>
            <a:spLocks noGrp="1"/>
          </p:cNvSpPr>
          <p:nvPr/>
        </p:nvSpPr>
        <p:spPr>
          <a:xfrm>
            <a:off x="23622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A1D02CA-2EBF-4E41-A0E7-7DCF3FBCE418}"/>
              </a:ext>
            </a:extLst>
          </p:cNvPr>
          <p:cNvSpPr>
            <a:spLocks noGrp="1"/>
          </p:cNvSpPr>
          <p:nvPr/>
        </p:nvSpPr>
        <p:spPr>
          <a:xfrm>
            <a:off x="25527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44E0C41-786E-4C34-9F88-312CF327DADB}"/>
              </a:ext>
            </a:extLst>
          </p:cNvPr>
          <p:cNvSpPr>
            <a:spLocks noGrp="1"/>
          </p:cNvSpPr>
          <p:nvPr/>
        </p:nvSpPr>
        <p:spPr>
          <a:xfrm>
            <a:off x="27432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C32FBFA-B0E5-4AD5-A041-EA5BE0CDE560}"/>
              </a:ext>
            </a:extLst>
          </p:cNvPr>
          <p:cNvSpPr>
            <a:spLocks noGrp="1"/>
          </p:cNvSpPr>
          <p:nvPr/>
        </p:nvSpPr>
        <p:spPr>
          <a:xfrm>
            <a:off x="29337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F3D0910-6B88-464C-B21E-15365E2C81B0}"/>
              </a:ext>
            </a:extLst>
          </p:cNvPr>
          <p:cNvSpPr>
            <a:spLocks noGrp="1"/>
          </p:cNvSpPr>
          <p:nvPr/>
        </p:nvSpPr>
        <p:spPr>
          <a:xfrm>
            <a:off x="31242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068FC05-69A2-4F5E-862F-F32AEB102220}"/>
              </a:ext>
            </a:extLst>
          </p:cNvPr>
          <p:cNvSpPr>
            <a:spLocks noGrp="1"/>
          </p:cNvSpPr>
          <p:nvPr/>
        </p:nvSpPr>
        <p:spPr>
          <a:xfrm>
            <a:off x="33147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F8088636-B015-4501-9B8D-E263F5787232}"/>
              </a:ext>
            </a:extLst>
          </p:cNvPr>
          <p:cNvSpPr>
            <a:spLocks noGrp="1"/>
          </p:cNvSpPr>
          <p:nvPr/>
        </p:nvSpPr>
        <p:spPr>
          <a:xfrm>
            <a:off x="35052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242733F-D251-49B9-991E-4F75CD789963}"/>
              </a:ext>
            </a:extLst>
          </p:cNvPr>
          <p:cNvSpPr>
            <a:spLocks noGrp="1"/>
          </p:cNvSpPr>
          <p:nvPr/>
        </p:nvSpPr>
        <p:spPr>
          <a:xfrm>
            <a:off x="3695700" y="39052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ED50A87-F8CC-4B3E-A01A-F7190EB118F4}"/>
              </a:ext>
            </a:extLst>
          </p:cNvPr>
          <p:cNvSpPr>
            <a:spLocks noGrp="1"/>
          </p:cNvSpPr>
          <p:nvPr/>
        </p:nvSpPr>
        <p:spPr>
          <a:xfrm>
            <a:off x="3886200" y="3905250"/>
            <a:ext cx="190500" cy="1905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414BA38-20B3-400C-B7E5-5BF56046F227}"/>
              </a:ext>
            </a:extLst>
          </p:cNvPr>
          <p:cNvSpPr>
            <a:spLocks noGrp="1"/>
          </p:cNvSpPr>
          <p:nvPr/>
        </p:nvSpPr>
        <p:spPr>
          <a:xfrm>
            <a:off x="21717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121943F7-4C07-4064-AEF2-EFAFFEE475E2}"/>
              </a:ext>
            </a:extLst>
          </p:cNvPr>
          <p:cNvSpPr>
            <a:spLocks noGrp="1"/>
          </p:cNvSpPr>
          <p:nvPr/>
        </p:nvSpPr>
        <p:spPr>
          <a:xfrm>
            <a:off x="23622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36CE91C4-14AE-4044-8716-D11F559E12DF}"/>
              </a:ext>
            </a:extLst>
          </p:cNvPr>
          <p:cNvSpPr>
            <a:spLocks noGrp="1"/>
          </p:cNvSpPr>
          <p:nvPr/>
        </p:nvSpPr>
        <p:spPr>
          <a:xfrm>
            <a:off x="25527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C0908742-BBD2-410B-88A2-BA7D7F4F34F9}"/>
              </a:ext>
            </a:extLst>
          </p:cNvPr>
          <p:cNvSpPr>
            <a:spLocks noGrp="1"/>
          </p:cNvSpPr>
          <p:nvPr/>
        </p:nvSpPr>
        <p:spPr>
          <a:xfrm>
            <a:off x="27432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04195682-1A92-4572-94E1-4D077BF8A90B}"/>
              </a:ext>
            </a:extLst>
          </p:cNvPr>
          <p:cNvSpPr>
            <a:spLocks noGrp="1"/>
          </p:cNvSpPr>
          <p:nvPr/>
        </p:nvSpPr>
        <p:spPr>
          <a:xfrm>
            <a:off x="29337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19F6734-0B6B-463A-906E-734896572A89}"/>
              </a:ext>
            </a:extLst>
          </p:cNvPr>
          <p:cNvSpPr>
            <a:spLocks noGrp="1"/>
          </p:cNvSpPr>
          <p:nvPr/>
        </p:nvSpPr>
        <p:spPr>
          <a:xfrm>
            <a:off x="31242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0A19A4D-6613-4D56-9AB1-3512AB99EBB3}"/>
              </a:ext>
            </a:extLst>
          </p:cNvPr>
          <p:cNvSpPr>
            <a:spLocks noGrp="1"/>
          </p:cNvSpPr>
          <p:nvPr/>
        </p:nvSpPr>
        <p:spPr>
          <a:xfrm>
            <a:off x="33147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0D7407C-7DCE-4AD8-986B-F4F7FB72B784}"/>
              </a:ext>
            </a:extLst>
          </p:cNvPr>
          <p:cNvSpPr>
            <a:spLocks noGrp="1"/>
          </p:cNvSpPr>
          <p:nvPr/>
        </p:nvSpPr>
        <p:spPr>
          <a:xfrm>
            <a:off x="35052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07CAC4B-E703-4A4F-8D49-3820DDE58E4F}"/>
              </a:ext>
            </a:extLst>
          </p:cNvPr>
          <p:cNvSpPr>
            <a:spLocks noGrp="1"/>
          </p:cNvSpPr>
          <p:nvPr/>
        </p:nvSpPr>
        <p:spPr>
          <a:xfrm>
            <a:off x="36957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85E4CD0C-FF3B-46DC-8534-51590B1D790F}"/>
              </a:ext>
            </a:extLst>
          </p:cNvPr>
          <p:cNvSpPr>
            <a:spLocks noGrp="1"/>
          </p:cNvSpPr>
          <p:nvPr/>
        </p:nvSpPr>
        <p:spPr>
          <a:xfrm>
            <a:off x="3886200" y="4095750"/>
            <a:ext cx="190500" cy="1905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AB55450-7807-4DB6-A30D-7013110B5CE2}"/>
              </a:ext>
            </a:extLst>
          </p:cNvPr>
          <p:cNvSpPr>
            <a:spLocks noGrp="1"/>
          </p:cNvSpPr>
          <p:nvPr/>
        </p:nvSpPr>
        <p:spPr>
          <a:xfrm>
            <a:off x="2171700" y="2381250"/>
            <a:ext cx="1905000" cy="1905000"/>
          </a:xfrm>
          <a:prstGeom prst="rect">
            <a:avLst/>
          </a:prstGeom>
          <a:noFill/>
          <a:ln w="9525">
            <a:solidFill>
              <a:srgbClr val="7E8D9B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01F44D1-F3A1-4D91-8D42-5337815C7D90}"/>
              </a:ext>
            </a:extLst>
          </p:cNvPr>
          <p:cNvSpPr>
            <a:spLocks noGrp="1"/>
          </p:cNvSpPr>
          <p:nvPr/>
        </p:nvSpPr>
        <p:spPr>
          <a:xfrm>
            <a:off x="2143125" y="20478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rPr>
              <a:t>Key：L 个 token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67BF163-785F-4B8A-84F8-B70230750246}"/>
              </a:ext>
            </a:extLst>
          </p:cNvPr>
          <p:cNvSpPr>
            <a:spLocks noGrp="1"/>
          </p:cNvSpPr>
          <p:nvPr/>
        </p:nvSpPr>
        <p:spPr>
          <a:xfrm>
            <a:off x="1076325" y="28289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rPr>
              <a:t>Query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8BBF06E-2AFB-4279-B942-B2ED953DE475}"/>
              </a:ext>
            </a:extLst>
          </p:cNvPr>
          <p:cNvSpPr>
            <a:spLocks noGrp="1"/>
          </p:cNvSpPr>
          <p:nvPr/>
        </p:nvSpPr>
        <p:spPr>
          <a:xfrm>
            <a:off x="1076325" y="31146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dirty="0">
                <a:solidFill>
                  <a:srgbClr val="737D89"/>
                </a:solidFill>
                <a:latin typeface="Noto Sans SC"/>
                <a:ea typeface="Noto Sans SC"/>
                <a:cs typeface="Noto Sans SC"/>
              </a:rPr>
              <a:t>L 个 token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626F8AFB-4EB8-4064-AEF1-1C144FD5F181}"/>
              </a:ext>
            </a:extLst>
          </p:cNvPr>
          <p:cNvSpPr>
            <a:spLocks noGrp="1"/>
          </p:cNvSpPr>
          <p:nvPr/>
        </p:nvSpPr>
        <p:spPr>
          <a:xfrm>
            <a:off x="1009650" y="4733925"/>
            <a:ext cx="47625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2625" b="1">
                <a:solidFill>
                  <a:srgbClr val="12161A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 dirty="0" err="1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T全量</a:t>
            </a:r>
            <a:r>
              <a:rPr sz="2625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(N) = </a:t>
            </a:r>
            <a:r>
              <a:rPr lang="en-US" altLang="zh-CN" sz="2625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O</a:t>
            </a:r>
            <a:r>
              <a:rPr sz="2625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(N²)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4EDFC6F-5B9C-4D18-B95E-E53F5B9F11FC}"/>
              </a:ext>
            </a:extLst>
          </p:cNvPr>
          <p:cNvSpPr>
            <a:spLocks noGrp="1"/>
          </p:cNvSpPr>
          <p:nvPr/>
        </p:nvSpPr>
        <p:spPr>
          <a:xfrm>
            <a:off x="6800850" y="26765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A06CCEE-A98F-47B6-B92B-B380FD5044F9}"/>
              </a:ext>
            </a:extLst>
          </p:cNvPr>
          <p:cNvSpPr>
            <a:spLocks noGrp="1"/>
          </p:cNvSpPr>
          <p:nvPr/>
        </p:nvSpPr>
        <p:spPr>
          <a:xfrm>
            <a:off x="6953250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0B608D4-80FF-455E-BD0D-22C21A6796D2}"/>
              </a:ext>
            </a:extLst>
          </p:cNvPr>
          <p:cNvSpPr>
            <a:spLocks noGrp="1"/>
          </p:cNvSpPr>
          <p:nvPr/>
        </p:nvSpPr>
        <p:spPr>
          <a:xfrm>
            <a:off x="7105650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EE9A482-9BB9-4316-808D-647E52E68D4D}"/>
              </a:ext>
            </a:extLst>
          </p:cNvPr>
          <p:cNvSpPr>
            <a:spLocks noGrp="1"/>
          </p:cNvSpPr>
          <p:nvPr/>
        </p:nvSpPr>
        <p:spPr>
          <a:xfrm>
            <a:off x="7258050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B54292C-7D6F-4387-8356-C9933B6D931F}"/>
              </a:ext>
            </a:extLst>
          </p:cNvPr>
          <p:cNvSpPr>
            <a:spLocks noGrp="1"/>
          </p:cNvSpPr>
          <p:nvPr/>
        </p:nvSpPr>
        <p:spPr>
          <a:xfrm>
            <a:off x="7410450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2B96F9B-FE4D-4D51-B8CC-F0A14009B332}"/>
              </a:ext>
            </a:extLst>
          </p:cNvPr>
          <p:cNvSpPr>
            <a:spLocks noGrp="1"/>
          </p:cNvSpPr>
          <p:nvPr/>
        </p:nvSpPr>
        <p:spPr>
          <a:xfrm>
            <a:off x="6800850" y="28289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39438FE-90EF-4E45-9D21-0237D9E08955}"/>
              </a:ext>
            </a:extLst>
          </p:cNvPr>
          <p:cNvSpPr>
            <a:spLocks noGrp="1"/>
          </p:cNvSpPr>
          <p:nvPr/>
        </p:nvSpPr>
        <p:spPr>
          <a:xfrm>
            <a:off x="6953250" y="28289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0628B56A-3BB1-4EF1-AB39-481173E0D7E3}"/>
              </a:ext>
            </a:extLst>
          </p:cNvPr>
          <p:cNvSpPr>
            <a:spLocks noGrp="1"/>
          </p:cNvSpPr>
          <p:nvPr/>
        </p:nvSpPr>
        <p:spPr>
          <a:xfrm>
            <a:off x="7105650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25329F4-C145-4A41-947F-72B15A1D6C1E}"/>
              </a:ext>
            </a:extLst>
          </p:cNvPr>
          <p:cNvSpPr>
            <a:spLocks noGrp="1"/>
          </p:cNvSpPr>
          <p:nvPr/>
        </p:nvSpPr>
        <p:spPr>
          <a:xfrm>
            <a:off x="7258050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09DEB25-57EA-4672-AB02-4838D6F8FA21}"/>
              </a:ext>
            </a:extLst>
          </p:cNvPr>
          <p:cNvSpPr>
            <a:spLocks noGrp="1"/>
          </p:cNvSpPr>
          <p:nvPr/>
        </p:nvSpPr>
        <p:spPr>
          <a:xfrm>
            <a:off x="7410450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9EFD61E-E9D9-4220-AD1F-1CC2335B7987}"/>
              </a:ext>
            </a:extLst>
          </p:cNvPr>
          <p:cNvSpPr>
            <a:spLocks noGrp="1"/>
          </p:cNvSpPr>
          <p:nvPr/>
        </p:nvSpPr>
        <p:spPr>
          <a:xfrm>
            <a:off x="6800850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18782809-9EA5-48F3-BA8C-A1FD62EB586B}"/>
              </a:ext>
            </a:extLst>
          </p:cNvPr>
          <p:cNvSpPr>
            <a:spLocks noGrp="1"/>
          </p:cNvSpPr>
          <p:nvPr/>
        </p:nvSpPr>
        <p:spPr>
          <a:xfrm>
            <a:off x="6953250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AEFE2A8-DB35-43D0-912D-C88978B8DE65}"/>
              </a:ext>
            </a:extLst>
          </p:cNvPr>
          <p:cNvSpPr>
            <a:spLocks noGrp="1"/>
          </p:cNvSpPr>
          <p:nvPr/>
        </p:nvSpPr>
        <p:spPr>
          <a:xfrm>
            <a:off x="7105650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DDFBD3C5-B3A8-43A0-BB70-EF14419AA40D}"/>
              </a:ext>
            </a:extLst>
          </p:cNvPr>
          <p:cNvSpPr>
            <a:spLocks noGrp="1"/>
          </p:cNvSpPr>
          <p:nvPr/>
        </p:nvSpPr>
        <p:spPr>
          <a:xfrm>
            <a:off x="7258050" y="29813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1E0A7F3-0A8B-43BA-AB9B-4B111C2BAB28}"/>
              </a:ext>
            </a:extLst>
          </p:cNvPr>
          <p:cNvSpPr>
            <a:spLocks noGrp="1"/>
          </p:cNvSpPr>
          <p:nvPr/>
        </p:nvSpPr>
        <p:spPr>
          <a:xfrm>
            <a:off x="7410450" y="29813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989BBBE-FD47-45C7-921C-3F61413E493F}"/>
              </a:ext>
            </a:extLst>
          </p:cNvPr>
          <p:cNvSpPr>
            <a:spLocks noGrp="1"/>
          </p:cNvSpPr>
          <p:nvPr/>
        </p:nvSpPr>
        <p:spPr>
          <a:xfrm>
            <a:off x="6800850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EA14955-2253-4E60-9FE0-054A56097D53}"/>
              </a:ext>
            </a:extLst>
          </p:cNvPr>
          <p:cNvSpPr>
            <a:spLocks noGrp="1"/>
          </p:cNvSpPr>
          <p:nvPr/>
        </p:nvSpPr>
        <p:spPr>
          <a:xfrm>
            <a:off x="6953250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F4133A7-B1E5-4660-A016-B3D7EE85AED0}"/>
              </a:ext>
            </a:extLst>
          </p:cNvPr>
          <p:cNvSpPr>
            <a:spLocks noGrp="1"/>
          </p:cNvSpPr>
          <p:nvPr/>
        </p:nvSpPr>
        <p:spPr>
          <a:xfrm>
            <a:off x="7105650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FDC8DA9-7691-4D24-8F18-600D84835460}"/>
              </a:ext>
            </a:extLst>
          </p:cNvPr>
          <p:cNvSpPr>
            <a:spLocks noGrp="1"/>
          </p:cNvSpPr>
          <p:nvPr/>
        </p:nvSpPr>
        <p:spPr>
          <a:xfrm>
            <a:off x="7258050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04FE2807-2EBD-4992-A365-CF9DD64416DD}"/>
              </a:ext>
            </a:extLst>
          </p:cNvPr>
          <p:cNvSpPr>
            <a:spLocks noGrp="1"/>
          </p:cNvSpPr>
          <p:nvPr/>
        </p:nvSpPr>
        <p:spPr>
          <a:xfrm>
            <a:off x="7410450" y="31337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2F7A16B8-26C5-434C-9808-3C2B70122006}"/>
              </a:ext>
            </a:extLst>
          </p:cNvPr>
          <p:cNvSpPr>
            <a:spLocks noGrp="1"/>
          </p:cNvSpPr>
          <p:nvPr/>
        </p:nvSpPr>
        <p:spPr>
          <a:xfrm>
            <a:off x="6800850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84EC35BD-1CBC-45CB-B868-C3B72D437BAC}"/>
              </a:ext>
            </a:extLst>
          </p:cNvPr>
          <p:cNvSpPr>
            <a:spLocks noGrp="1"/>
          </p:cNvSpPr>
          <p:nvPr/>
        </p:nvSpPr>
        <p:spPr>
          <a:xfrm>
            <a:off x="6953250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657A81B-33A8-413E-B32D-A4D476636B04}"/>
              </a:ext>
            </a:extLst>
          </p:cNvPr>
          <p:cNvSpPr>
            <a:spLocks noGrp="1"/>
          </p:cNvSpPr>
          <p:nvPr/>
        </p:nvSpPr>
        <p:spPr>
          <a:xfrm>
            <a:off x="7105650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91FD2904-2985-49E5-9455-6CE82D67AED0}"/>
              </a:ext>
            </a:extLst>
          </p:cNvPr>
          <p:cNvSpPr>
            <a:spLocks noGrp="1"/>
          </p:cNvSpPr>
          <p:nvPr/>
        </p:nvSpPr>
        <p:spPr>
          <a:xfrm>
            <a:off x="7258050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3E73EB2A-EFDB-4676-BBAF-65F8E244128D}"/>
              </a:ext>
            </a:extLst>
          </p:cNvPr>
          <p:cNvSpPr>
            <a:spLocks noGrp="1"/>
          </p:cNvSpPr>
          <p:nvPr/>
        </p:nvSpPr>
        <p:spPr>
          <a:xfrm>
            <a:off x="7410450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31CC086A-75CA-4B7B-913F-A78CFBF68BD8}"/>
              </a:ext>
            </a:extLst>
          </p:cNvPr>
          <p:cNvSpPr>
            <a:spLocks noGrp="1"/>
          </p:cNvSpPr>
          <p:nvPr/>
        </p:nvSpPr>
        <p:spPr>
          <a:xfrm>
            <a:off x="6800850" y="2676525"/>
            <a:ext cx="762000" cy="762000"/>
          </a:xfrm>
          <a:prstGeom prst="rect">
            <a:avLst/>
          </a:prstGeom>
          <a:noFill/>
          <a:ln w="9525">
            <a:solidFill>
              <a:srgbClr val="7E8D9B"/>
            </a:solidFill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E3FCB674-6233-436F-817F-FB97A218C0C6}"/>
              </a:ext>
            </a:extLst>
          </p:cNvPr>
          <p:cNvSpPr>
            <a:spLocks noGrp="1"/>
          </p:cNvSpPr>
          <p:nvPr/>
        </p:nvSpPr>
        <p:spPr>
          <a:xfrm>
            <a:off x="8410575" y="26765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14EC729F-3376-4B63-843E-333A04C7B45D}"/>
              </a:ext>
            </a:extLst>
          </p:cNvPr>
          <p:cNvSpPr>
            <a:spLocks noGrp="1"/>
          </p:cNvSpPr>
          <p:nvPr/>
        </p:nvSpPr>
        <p:spPr>
          <a:xfrm>
            <a:off x="8562975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6CC69D3E-3C0B-4662-9A7B-B17A5651D58B}"/>
              </a:ext>
            </a:extLst>
          </p:cNvPr>
          <p:cNvSpPr>
            <a:spLocks noGrp="1"/>
          </p:cNvSpPr>
          <p:nvPr/>
        </p:nvSpPr>
        <p:spPr>
          <a:xfrm>
            <a:off x="8715375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FD604671-F3F9-4473-87A6-E2D782631F17}"/>
              </a:ext>
            </a:extLst>
          </p:cNvPr>
          <p:cNvSpPr>
            <a:spLocks noGrp="1"/>
          </p:cNvSpPr>
          <p:nvPr/>
        </p:nvSpPr>
        <p:spPr>
          <a:xfrm>
            <a:off x="8867775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65A3FED-4D4D-43CE-9DB4-1B303BF0F653}"/>
              </a:ext>
            </a:extLst>
          </p:cNvPr>
          <p:cNvSpPr>
            <a:spLocks noGrp="1"/>
          </p:cNvSpPr>
          <p:nvPr/>
        </p:nvSpPr>
        <p:spPr>
          <a:xfrm>
            <a:off x="9020175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0BDBE33-3B7E-46D5-9E7C-1A72ABAD2BB6}"/>
              </a:ext>
            </a:extLst>
          </p:cNvPr>
          <p:cNvSpPr>
            <a:spLocks noGrp="1"/>
          </p:cNvSpPr>
          <p:nvPr/>
        </p:nvSpPr>
        <p:spPr>
          <a:xfrm>
            <a:off x="8410575" y="28289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08A1ADBD-B146-4396-AB68-7E1383D14C3C}"/>
              </a:ext>
            </a:extLst>
          </p:cNvPr>
          <p:cNvSpPr>
            <a:spLocks noGrp="1"/>
          </p:cNvSpPr>
          <p:nvPr/>
        </p:nvSpPr>
        <p:spPr>
          <a:xfrm>
            <a:off x="8562975" y="28289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BE4B81F5-4DB1-405C-8DA4-F5420FD07B7F}"/>
              </a:ext>
            </a:extLst>
          </p:cNvPr>
          <p:cNvSpPr>
            <a:spLocks noGrp="1"/>
          </p:cNvSpPr>
          <p:nvPr/>
        </p:nvSpPr>
        <p:spPr>
          <a:xfrm>
            <a:off x="8715375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1E646CA-7145-4C54-9BB4-0882863486AD}"/>
              </a:ext>
            </a:extLst>
          </p:cNvPr>
          <p:cNvSpPr>
            <a:spLocks noGrp="1"/>
          </p:cNvSpPr>
          <p:nvPr/>
        </p:nvSpPr>
        <p:spPr>
          <a:xfrm>
            <a:off x="8867775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3277191-D812-4A5C-A517-2FF7C7A95ED7}"/>
              </a:ext>
            </a:extLst>
          </p:cNvPr>
          <p:cNvSpPr>
            <a:spLocks noGrp="1"/>
          </p:cNvSpPr>
          <p:nvPr/>
        </p:nvSpPr>
        <p:spPr>
          <a:xfrm>
            <a:off x="9020175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6684CBC-28B6-4C4F-A9F5-4899DA2036A6}"/>
              </a:ext>
            </a:extLst>
          </p:cNvPr>
          <p:cNvSpPr>
            <a:spLocks noGrp="1"/>
          </p:cNvSpPr>
          <p:nvPr/>
        </p:nvSpPr>
        <p:spPr>
          <a:xfrm>
            <a:off x="8410575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6179E212-1E11-4E5F-AE8D-D39DC4E1AF10}"/>
              </a:ext>
            </a:extLst>
          </p:cNvPr>
          <p:cNvSpPr>
            <a:spLocks noGrp="1"/>
          </p:cNvSpPr>
          <p:nvPr/>
        </p:nvSpPr>
        <p:spPr>
          <a:xfrm>
            <a:off x="8562975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2B34BD84-09B6-4583-9CF1-66D2619A209D}"/>
              </a:ext>
            </a:extLst>
          </p:cNvPr>
          <p:cNvSpPr>
            <a:spLocks noGrp="1"/>
          </p:cNvSpPr>
          <p:nvPr/>
        </p:nvSpPr>
        <p:spPr>
          <a:xfrm>
            <a:off x="8715375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0CA53A6-F482-4FAA-AC83-97AA93F6D7AC}"/>
              </a:ext>
            </a:extLst>
          </p:cNvPr>
          <p:cNvSpPr>
            <a:spLocks noGrp="1"/>
          </p:cNvSpPr>
          <p:nvPr/>
        </p:nvSpPr>
        <p:spPr>
          <a:xfrm>
            <a:off x="8867775" y="29813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60D1C9F1-FD1D-4DE7-A1AD-957CE082B79E}"/>
              </a:ext>
            </a:extLst>
          </p:cNvPr>
          <p:cNvSpPr>
            <a:spLocks noGrp="1"/>
          </p:cNvSpPr>
          <p:nvPr/>
        </p:nvSpPr>
        <p:spPr>
          <a:xfrm>
            <a:off x="9020175" y="29813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13C18C1C-3480-4603-9337-9CF9C9E03CB9}"/>
              </a:ext>
            </a:extLst>
          </p:cNvPr>
          <p:cNvSpPr>
            <a:spLocks noGrp="1"/>
          </p:cNvSpPr>
          <p:nvPr/>
        </p:nvSpPr>
        <p:spPr>
          <a:xfrm>
            <a:off x="8410575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A90B2D4-012B-42EF-B259-923F1F42CCC0}"/>
              </a:ext>
            </a:extLst>
          </p:cNvPr>
          <p:cNvSpPr>
            <a:spLocks noGrp="1"/>
          </p:cNvSpPr>
          <p:nvPr/>
        </p:nvSpPr>
        <p:spPr>
          <a:xfrm>
            <a:off x="8562975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548EEA92-DB35-44BF-BA7E-0F47ADEDA32A}"/>
              </a:ext>
            </a:extLst>
          </p:cNvPr>
          <p:cNvSpPr>
            <a:spLocks noGrp="1"/>
          </p:cNvSpPr>
          <p:nvPr/>
        </p:nvSpPr>
        <p:spPr>
          <a:xfrm>
            <a:off x="8715375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449D7BE6-8774-4872-9859-4909D065D353}"/>
              </a:ext>
            </a:extLst>
          </p:cNvPr>
          <p:cNvSpPr>
            <a:spLocks noGrp="1"/>
          </p:cNvSpPr>
          <p:nvPr/>
        </p:nvSpPr>
        <p:spPr>
          <a:xfrm>
            <a:off x="8867775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0D2E37CA-9207-45EF-9E27-A912524D9A4E}"/>
              </a:ext>
            </a:extLst>
          </p:cNvPr>
          <p:cNvSpPr>
            <a:spLocks noGrp="1"/>
          </p:cNvSpPr>
          <p:nvPr/>
        </p:nvSpPr>
        <p:spPr>
          <a:xfrm>
            <a:off x="9020175" y="31337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1BEE3C6D-636D-4782-B677-7435D391526F}"/>
              </a:ext>
            </a:extLst>
          </p:cNvPr>
          <p:cNvSpPr>
            <a:spLocks noGrp="1"/>
          </p:cNvSpPr>
          <p:nvPr/>
        </p:nvSpPr>
        <p:spPr>
          <a:xfrm>
            <a:off x="84105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B1108573-B271-48E8-84F2-750FA120F21A}"/>
              </a:ext>
            </a:extLst>
          </p:cNvPr>
          <p:cNvSpPr>
            <a:spLocks noGrp="1"/>
          </p:cNvSpPr>
          <p:nvPr/>
        </p:nvSpPr>
        <p:spPr>
          <a:xfrm>
            <a:off x="85629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BBC2220-3713-4B6D-96A8-96196A4D7339}"/>
              </a:ext>
            </a:extLst>
          </p:cNvPr>
          <p:cNvSpPr>
            <a:spLocks noGrp="1"/>
          </p:cNvSpPr>
          <p:nvPr/>
        </p:nvSpPr>
        <p:spPr>
          <a:xfrm>
            <a:off x="87153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B719ECCD-1164-4F3B-BB57-0D97AE65E2F8}"/>
              </a:ext>
            </a:extLst>
          </p:cNvPr>
          <p:cNvSpPr>
            <a:spLocks noGrp="1"/>
          </p:cNvSpPr>
          <p:nvPr/>
        </p:nvSpPr>
        <p:spPr>
          <a:xfrm>
            <a:off x="88677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93738917-7B05-4F66-BBA5-B3278FBB79B7}"/>
              </a:ext>
            </a:extLst>
          </p:cNvPr>
          <p:cNvSpPr>
            <a:spLocks noGrp="1"/>
          </p:cNvSpPr>
          <p:nvPr/>
        </p:nvSpPr>
        <p:spPr>
          <a:xfrm>
            <a:off x="90201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4926F1B9-6392-422D-A313-88C52BCF465A}"/>
              </a:ext>
            </a:extLst>
          </p:cNvPr>
          <p:cNvSpPr>
            <a:spLocks noGrp="1"/>
          </p:cNvSpPr>
          <p:nvPr/>
        </p:nvSpPr>
        <p:spPr>
          <a:xfrm>
            <a:off x="8410575" y="2676525"/>
            <a:ext cx="762000" cy="762000"/>
          </a:xfrm>
          <a:prstGeom prst="rect">
            <a:avLst/>
          </a:prstGeom>
          <a:noFill/>
          <a:ln w="9525">
            <a:solidFill>
              <a:srgbClr val="7E8D9B"/>
            </a:solidFill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32707A22-E89D-4765-B4B4-093C4A7C14C8}"/>
              </a:ext>
            </a:extLst>
          </p:cNvPr>
          <p:cNvSpPr>
            <a:spLocks noGrp="1"/>
          </p:cNvSpPr>
          <p:nvPr/>
        </p:nvSpPr>
        <p:spPr>
          <a:xfrm>
            <a:off x="10544175" y="26765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7B4AC40-8BC6-485E-BE1D-B60D11C5026B}"/>
              </a:ext>
            </a:extLst>
          </p:cNvPr>
          <p:cNvSpPr>
            <a:spLocks noGrp="1"/>
          </p:cNvSpPr>
          <p:nvPr/>
        </p:nvSpPr>
        <p:spPr>
          <a:xfrm>
            <a:off x="10696575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3F8AD1A5-B911-46A1-BF15-C134498B7287}"/>
              </a:ext>
            </a:extLst>
          </p:cNvPr>
          <p:cNvSpPr>
            <a:spLocks noGrp="1"/>
          </p:cNvSpPr>
          <p:nvPr/>
        </p:nvSpPr>
        <p:spPr>
          <a:xfrm>
            <a:off x="10848975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0BDA505E-A5FF-4C30-A3F0-88AC090D9952}"/>
              </a:ext>
            </a:extLst>
          </p:cNvPr>
          <p:cNvSpPr>
            <a:spLocks noGrp="1"/>
          </p:cNvSpPr>
          <p:nvPr/>
        </p:nvSpPr>
        <p:spPr>
          <a:xfrm>
            <a:off x="11001375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882DC400-AB13-4CE3-897E-86CA8C657148}"/>
              </a:ext>
            </a:extLst>
          </p:cNvPr>
          <p:cNvSpPr>
            <a:spLocks noGrp="1"/>
          </p:cNvSpPr>
          <p:nvPr/>
        </p:nvSpPr>
        <p:spPr>
          <a:xfrm>
            <a:off x="11153775" y="26765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EC41D3AB-75E9-4FC4-844B-01F109748010}"/>
              </a:ext>
            </a:extLst>
          </p:cNvPr>
          <p:cNvSpPr>
            <a:spLocks noGrp="1"/>
          </p:cNvSpPr>
          <p:nvPr/>
        </p:nvSpPr>
        <p:spPr>
          <a:xfrm>
            <a:off x="10544175" y="28289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44EB1177-A686-4A45-8C71-EC972FD1B856}"/>
              </a:ext>
            </a:extLst>
          </p:cNvPr>
          <p:cNvSpPr>
            <a:spLocks noGrp="1"/>
          </p:cNvSpPr>
          <p:nvPr/>
        </p:nvSpPr>
        <p:spPr>
          <a:xfrm>
            <a:off x="10696575" y="28289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239B85A7-9767-4B3F-B470-AA0A2EAE2A3A}"/>
              </a:ext>
            </a:extLst>
          </p:cNvPr>
          <p:cNvSpPr>
            <a:spLocks noGrp="1"/>
          </p:cNvSpPr>
          <p:nvPr/>
        </p:nvSpPr>
        <p:spPr>
          <a:xfrm>
            <a:off x="10848975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984E404E-6189-4E66-876F-6A12474E3DAC}"/>
              </a:ext>
            </a:extLst>
          </p:cNvPr>
          <p:cNvSpPr>
            <a:spLocks noGrp="1"/>
          </p:cNvSpPr>
          <p:nvPr/>
        </p:nvSpPr>
        <p:spPr>
          <a:xfrm>
            <a:off x="11001375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031E43B7-C3AE-4C8D-A628-2303DA47A283}"/>
              </a:ext>
            </a:extLst>
          </p:cNvPr>
          <p:cNvSpPr>
            <a:spLocks noGrp="1"/>
          </p:cNvSpPr>
          <p:nvPr/>
        </p:nvSpPr>
        <p:spPr>
          <a:xfrm>
            <a:off x="11153775" y="28289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CBF047B1-078D-4D8C-B9B4-E19BD92FDBFB}"/>
              </a:ext>
            </a:extLst>
          </p:cNvPr>
          <p:cNvSpPr>
            <a:spLocks noGrp="1"/>
          </p:cNvSpPr>
          <p:nvPr/>
        </p:nvSpPr>
        <p:spPr>
          <a:xfrm>
            <a:off x="10544175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811B049B-BA75-453F-9A7A-D3F4A732588D}"/>
              </a:ext>
            </a:extLst>
          </p:cNvPr>
          <p:cNvSpPr>
            <a:spLocks noGrp="1"/>
          </p:cNvSpPr>
          <p:nvPr/>
        </p:nvSpPr>
        <p:spPr>
          <a:xfrm>
            <a:off x="10696575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055B4E1F-8C50-4DC4-8FEA-374E9DF0BB94}"/>
              </a:ext>
            </a:extLst>
          </p:cNvPr>
          <p:cNvSpPr>
            <a:spLocks noGrp="1"/>
          </p:cNvSpPr>
          <p:nvPr/>
        </p:nvSpPr>
        <p:spPr>
          <a:xfrm>
            <a:off x="10848975" y="29813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739F356A-A718-4A7D-8983-36D8BA6C8396}"/>
              </a:ext>
            </a:extLst>
          </p:cNvPr>
          <p:cNvSpPr>
            <a:spLocks noGrp="1"/>
          </p:cNvSpPr>
          <p:nvPr/>
        </p:nvSpPr>
        <p:spPr>
          <a:xfrm>
            <a:off x="11001375" y="29813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903C621F-D47A-4D4A-BC17-9770ACC0A142}"/>
              </a:ext>
            </a:extLst>
          </p:cNvPr>
          <p:cNvSpPr>
            <a:spLocks noGrp="1"/>
          </p:cNvSpPr>
          <p:nvPr/>
        </p:nvSpPr>
        <p:spPr>
          <a:xfrm>
            <a:off x="11153775" y="29813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379F1BF6-2F36-4029-9D55-0DA903684D5D}"/>
              </a:ext>
            </a:extLst>
          </p:cNvPr>
          <p:cNvSpPr>
            <a:spLocks noGrp="1"/>
          </p:cNvSpPr>
          <p:nvPr/>
        </p:nvSpPr>
        <p:spPr>
          <a:xfrm>
            <a:off x="10544175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19B4216D-AD12-4CC3-86B1-9662036C812A}"/>
              </a:ext>
            </a:extLst>
          </p:cNvPr>
          <p:cNvSpPr>
            <a:spLocks noGrp="1"/>
          </p:cNvSpPr>
          <p:nvPr/>
        </p:nvSpPr>
        <p:spPr>
          <a:xfrm>
            <a:off x="10696575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AE8B4431-C481-4206-ACAC-1B92FE0ACCC7}"/>
              </a:ext>
            </a:extLst>
          </p:cNvPr>
          <p:cNvSpPr>
            <a:spLocks noGrp="1"/>
          </p:cNvSpPr>
          <p:nvPr/>
        </p:nvSpPr>
        <p:spPr>
          <a:xfrm>
            <a:off x="10848975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68928AA0-8E53-4E43-B6DD-2731BF13E1DF}"/>
              </a:ext>
            </a:extLst>
          </p:cNvPr>
          <p:cNvSpPr>
            <a:spLocks noGrp="1"/>
          </p:cNvSpPr>
          <p:nvPr/>
        </p:nvSpPr>
        <p:spPr>
          <a:xfrm>
            <a:off x="11001375" y="31337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6E1C10CD-6E58-4B77-B20F-341F4AF137F6}"/>
              </a:ext>
            </a:extLst>
          </p:cNvPr>
          <p:cNvSpPr>
            <a:spLocks noGrp="1"/>
          </p:cNvSpPr>
          <p:nvPr/>
        </p:nvSpPr>
        <p:spPr>
          <a:xfrm>
            <a:off x="11153775" y="3133725"/>
            <a:ext cx="152400" cy="152400"/>
          </a:xfrm>
          <a:prstGeom prst="rect">
            <a:avLst/>
          </a:prstGeom>
          <a:solidFill>
            <a:srgbClr val="F0F1F2"/>
          </a:solidFill>
          <a:ln w="9525">
            <a:solidFill>
              <a:srgbClr val="FFFFFF"/>
            </a:solidFill>
          </a:ln>
        </p:spPr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0DA21798-39D9-4078-8206-21843EA2DA70}"/>
              </a:ext>
            </a:extLst>
          </p:cNvPr>
          <p:cNvSpPr>
            <a:spLocks noGrp="1"/>
          </p:cNvSpPr>
          <p:nvPr/>
        </p:nvSpPr>
        <p:spPr>
          <a:xfrm>
            <a:off x="105441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1378DAE0-4D8D-462E-9F3A-06B6394865F9}"/>
              </a:ext>
            </a:extLst>
          </p:cNvPr>
          <p:cNvSpPr>
            <a:spLocks noGrp="1"/>
          </p:cNvSpPr>
          <p:nvPr/>
        </p:nvSpPr>
        <p:spPr>
          <a:xfrm>
            <a:off x="106965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FBD8EA0-7D41-42AF-8D51-7419ED456F4E}"/>
              </a:ext>
            </a:extLst>
          </p:cNvPr>
          <p:cNvSpPr>
            <a:spLocks noGrp="1"/>
          </p:cNvSpPr>
          <p:nvPr/>
        </p:nvSpPr>
        <p:spPr>
          <a:xfrm>
            <a:off x="108489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74BF0DBA-0328-47BB-A2E3-12F6BB8C3C47}"/>
              </a:ext>
            </a:extLst>
          </p:cNvPr>
          <p:cNvSpPr>
            <a:spLocks noGrp="1"/>
          </p:cNvSpPr>
          <p:nvPr/>
        </p:nvSpPr>
        <p:spPr>
          <a:xfrm>
            <a:off x="110013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9DD5D9DA-66EA-4D74-B239-1710CC0966FD}"/>
              </a:ext>
            </a:extLst>
          </p:cNvPr>
          <p:cNvSpPr>
            <a:spLocks noGrp="1"/>
          </p:cNvSpPr>
          <p:nvPr/>
        </p:nvSpPr>
        <p:spPr>
          <a:xfrm>
            <a:off x="11153775" y="3286125"/>
            <a:ext cx="152400" cy="152400"/>
          </a:xfrm>
          <a:prstGeom prst="rect">
            <a:avLst/>
          </a:prstGeom>
          <a:solidFill>
            <a:srgbClr val="AEBFD0"/>
          </a:solidFill>
          <a:ln w="9525">
            <a:solidFill>
              <a:srgbClr val="FFFFFF"/>
            </a:solidFill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B56AA024-5728-4391-B3AF-84834A795A89}"/>
              </a:ext>
            </a:extLst>
          </p:cNvPr>
          <p:cNvSpPr>
            <a:spLocks noGrp="1"/>
          </p:cNvSpPr>
          <p:nvPr/>
        </p:nvSpPr>
        <p:spPr>
          <a:xfrm>
            <a:off x="10544175" y="2676525"/>
            <a:ext cx="762000" cy="762000"/>
          </a:xfrm>
          <a:prstGeom prst="rect">
            <a:avLst/>
          </a:prstGeom>
          <a:noFill/>
          <a:ln w="9525">
            <a:solidFill>
              <a:srgbClr val="7E8D9B"/>
            </a:solidFill>
          </a:ln>
        </p:spPr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36937551-1788-4479-BFDA-A2F003159C04}"/>
              </a:ext>
            </a:extLst>
          </p:cNvPr>
          <p:cNvSpPr>
            <a:spLocks noGrp="1"/>
          </p:cNvSpPr>
          <p:nvPr/>
        </p:nvSpPr>
        <p:spPr>
          <a:xfrm>
            <a:off x="6677025" y="228600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rPr>
              <a:t>第 1 轮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E80A6312-85F8-45C0-A6F6-12637D447508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rPr>
              <a:t>第 2 轮</a:t>
            </a: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4FBF2789-23A4-4CB3-B588-EEFECCC19122}"/>
              </a:ext>
            </a:extLst>
          </p:cNvPr>
          <p:cNvSpPr>
            <a:spLocks noGrp="1"/>
          </p:cNvSpPr>
          <p:nvPr/>
        </p:nvSpPr>
        <p:spPr>
          <a:xfrm>
            <a:off x="10420350" y="228600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737D89"/>
                </a:solidFill>
                <a:latin typeface="Noto Sans SC"/>
                <a:ea typeface="Noto Sans SC"/>
                <a:cs typeface="Noto Sans SC"/>
              </a:rPr>
              <a:t>第 K 轮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D61DABAF-79D2-4EE2-B9DD-0547DD6CDB9A}"/>
              </a:ext>
            </a:extLst>
          </p:cNvPr>
          <p:cNvSpPr>
            <a:spLocks noGrp="1"/>
          </p:cNvSpPr>
          <p:nvPr/>
        </p:nvSpPr>
        <p:spPr>
          <a:xfrm>
            <a:off x="7800975" y="2876550"/>
            <a:ext cx="4286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defPPr>
            <a:lvl1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1pPr>
            <a:lvl2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2pPr>
            <a:lvl3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3pPr>
            <a:lvl4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4pPr>
            <a:lvl5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5pPr>
            <a:lvl6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6pPr>
            <a:lvl7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7pPr>
            <a:lvl8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8pPr>
            <a:lvl9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5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737D89"/>
                </a:solidFill>
                <a:latin typeface="Inter"/>
                <a:ea typeface="Inter"/>
                <a:cs typeface="Inter"/>
              </a:rPr>
              <a:t>+</a:t>
            </a: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2148B65D-F792-4E0F-9B9D-7CEDE1BC6A00}"/>
              </a:ext>
            </a:extLst>
          </p:cNvPr>
          <p:cNvSpPr>
            <a:spLocks noGrp="1"/>
          </p:cNvSpPr>
          <p:nvPr/>
        </p:nvSpPr>
        <p:spPr>
          <a:xfrm>
            <a:off x="9286875" y="2876550"/>
            <a:ext cx="10953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defPPr>
            <a:lvl1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1pPr>
            <a:lvl2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2pPr>
            <a:lvl3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3pPr>
            <a:lvl4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4pPr>
            <a:lvl5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5pPr>
            <a:lvl6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6pPr>
            <a:lvl7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7pPr>
            <a:lvl8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8pPr>
            <a:lvl9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100" b="0">
                <a:solidFill>
                  <a:srgbClr val="737D8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737D89"/>
                </a:solidFill>
                <a:latin typeface="Inter"/>
                <a:ea typeface="Inter"/>
                <a:cs typeface="Inter"/>
              </a:rPr>
              <a:t>+  ⋯  +</a:t>
            </a: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3BB0B0A-9CA4-4EB4-A085-966F6B33041D}"/>
              </a:ext>
            </a:extLst>
          </p:cNvPr>
          <p:cNvSpPr>
            <a:spLocks noGrp="1"/>
          </p:cNvSpPr>
          <p:nvPr/>
        </p:nvSpPr>
        <p:spPr>
          <a:xfrm>
            <a:off x="6496050" y="3657600"/>
            <a:ext cx="5000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72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每轮</a:t>
            </a:r>
            <a:r>
              <a:rPr sz="1725" b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W × W，W ≤ Q + C + M + B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523F6CDC-86A9-4760-9C20-F80FAFB20584}"/>
              </a:ext>
            </a:extLst>
          </p:cNvPr>
          <p:cNvSpPr>
            <a:spLocks noGrp="1"/>
          </p:cNvSpPr>
          <p:nvPr/>
        </p:nvSpPr>
        <p:spPr>
          <a:xfrm>
            <a:off x="6486525" y="4143375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K = ⌈N/C⌉　　</a:t>
            </a:r>
            <a:r>
              <a:rPr sz="1875" b="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单轮成本</a:t>
            </a:r>
            <a:r>
              <a:rPr sz="1875" b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≤ F₀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221E3E83-F7BB-493E-9FCE-EE47C3EFB897}"/>
              </a:ext>
            </a:extLst>
          </p:cNvPr>
          <p:cNvSpPr>
            <a:spLocks noGrp="1"/>
          </p:cNvSpPr>
          <p:nvPr/>
        </p:nvSpPr>
        <p:spPr>
          <a:xfrm>
            <a:off x="6486525" y="4629150"/>
            <a:ext cx="50006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202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T记忆</a:t>
            </a:r>
            <a:r>
              <a:rPr sz="2025" b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(N) ≤ K·F₀ + </a:t>
            </a:r>
            <a:r>
              <a:rPr sz="2025" b="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F回答</a:t>
            </a:r>
            <a:endParaRPr sz="2025" b="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846EA0FE-813A-451E-B0ED-18ADED579C43}"/>
              </a:ext>
            </a:extLst>
          </p:cNvPr>
          <p:cNvSpPr>
            <a:spLocks noGrp="1"/>
          </p:cNvSpPr>
          <p:nvPr/>
        </p:nvSpPr>
        <p:spPr>
          <a:xfrm>
            <a:off x="6486525" y="5057775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75" b="0">
                <a:solidFill>
                  <a:srgbClr val="2E4D7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≤ (N/C + 1)·F₀ + </a:t>
            </a:r>
            <a:r>
              <a:rPr sz="1875" b="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F回答</a:t>
            </a:r>
            <a:endParaRPr sz="1875" b="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72EDFC19-37E4-494F-B8E9-B62AD223F7CA}"/>
              </a:ext>
            </a:extLst>
          </p:cNvPr>
          <p:cNvSpPr>
            <a:spLocks noGrp="1"/>
          </p:cNvSpPr>
          <p:nvPr/>
        </p:nvSpPr>
        <p:spPr>
          <a:xfrm>
            <a:off x="6486525" y="5457825"/>
            <a:ext cx="50006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defPPr>
            <a:lvl1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1pPr>
            <a:lvl2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2pPr>
            <a:lvl3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3pPr>
            <a:lvl4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4pPr>
            <a:lvl5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5pPr>
            <a:lvl6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6pPr>
            <a:lvl7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7pPr>
            <a:lvl8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8pPr>
            <a:lvl9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625" b="1">
                <a:solidFill>
                  <a:srgbClr val="2E4D72"/>
                </a:solidFill>
                <a:latin typeface="Inter"/>
                <a:ea typeface="Inter"/>
                <a:cs typeface="Inter"/>
              </a:defRPr>
            </a:pPr>
            <a:r>
              <a:rPr sz="2625" b="1" dirty="0">
                <a:solidFill>
                  <a:schemeClr val="tx1"/>
                </a:solidFill>
                <a:latin typeface="Inter"/>
                <a:ea typeface="Inter"/>
                <a:cs typeface="Inter"/>
              </a:rPr>
              <a:t>= O(N)</a:t>
            </a: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34565C61-FAB6-47EC-98B5-B0EE4D6B5CC7}"/>
              </a:ext>
            </a:extLst>
          </p:cNvPr>
          <p:cNvSpPr>
            <a:spLocks noGrp="1"/>
          </p:cNvSpPr>
          <p:nvPr/>
        </p:nvSpPr>
        <p:spPr>
          <a:xfrm>
            <a:off x="2347834" y="5991225"/>
            <a:ext cx="7794417" cy="3571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/>
          <a:lstStyle>
            <a:def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0">
                <a:solidFill>
                  <a:srgbClr val="3A414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dirty="0" err="1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固定模型、块长</a:t>
            </a:r>
            <a:r>
              <a:rPr sz="1575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575" b="0" dirty="0" err="1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C、记忆</a:t>
            </a:r>
            <a:r>
              <a:rPr sz="1575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575" b="0" dirty="0" err="1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M、问题</a:t>
            </a:r>
            <a:r>
              <a:rPr sz="1575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 Q </a:t>
            </a:r>
            <a:r>
              <a:rPr sz="1575" b="0" dirty="0" err="1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与输出预算</a:t>
            </a:r>
            <a:r>
              <a:rPr sz="1575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575" b="0" dirty="0" err="1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B：单轮矩阵有界，增长的只有轮数</a:t>
            </a:r>
            <a:r>
              <a:rPr lang="en-US" sz="1575" b="0" dirty="0" err="1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K</a:t>
            </a:r>
            <a:r>
              <a:rPr sz="1575" b="0" dirty="0">
                <a:solidFill>
                  <a:srgbClr val="3A4148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07" name="全局顶部细线">
            <a:extLst>
              <a:ext uri="{FF2B5EF4-FFF2-40B4-BE49-F238E27FC236}">
                <a16:creationId xmlns:a16="http://schemas.microsoft.com/office/drawing/2014/main" id="{992392F0-0B63-4693-6BEB-532829B864FF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209" name="文本 MemAgent  /  02 方法设计">
            <a:extLst>
              <a:ext uri="{FF2B5EF4-FFF2-40B4-BE49-F238E27FC236}">
                <a16:creationId xmlns:a16="http://schemas.microsoft.com/office/drawing/2014/main" id="{C618EEBE-A087-869F-5D9A-D3B457059627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02 方法设计</a:t>
            </a:r>
          </a:p>
        </p:txBody>
      </p:sp>
      <p:sp>
        <p:nvSpPr>
          <p:cNvPr id="203" name="TextBox 23">
            <a:extLst>
              <a:ext uri="{FF2B5EF4-FFF2-40B4-BE49-F238E27FC236}">
                <a16:creationId xmlns:a16="http://schemas.microsoft.com/office/drawing/2014/main" id="{05CF6DBA-10C4-AB8F-1A71-2E2467E328BF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5" name="全局右下角标">
            <a:extLst>
              <a:ext uri="{FF2B5EF4-FFF2-40B4-BE49-F238E27FC236}">
                <a16:creationId xmlns:a16="http://schemas.microsoft.com/office/drawing/2014/main" id="{A27100DD-7167-0290-6854-290B79988544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223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4D0A-0E70-E67C-C9F7-6032E593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EF0629-840E-2BD5-F309-B6318210AE45}"/>
              </a:ext>
            </a:extLst>
          </p:cNvPr>
          <p:cNvSpPr txBox="1"/>
          <p:nvPr/>
        </p:nvSpPr>
        <p:spPr>
          <a:xfrm>
            <a:off x="621019" y="749821"/>
            <a:ext cx="10725912" cy="479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Multi-Conv </a:t>
            </a:r>
            <a:r>
              <a:rPr sz="30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DAPO：一个奖励</a:t>
            </a:r>
            <a:r>
              <a:rPr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，</a:t>
            </a:r>
            <a:r>
              <a:rPr lang="zh-CN" altLang="en-US"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多条轨迹</a:t>
            </a:r>
            <a:endParaRPr sz="30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FB325BD-ECA7-D4C5-0F76-CDADD874A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23005"/>
            <a:ext cx="10504910" cy="5275628"/>
          </a:xfrm>
          <a:prstGeom prst="rect">
            <a:avLst/>
          </a:prstGeom>
        </p:spPr>
      </p:pic>
      <p:sp>
        <p:nvSpPr>
          <p:cNvPr id="18" name="全局顶部细线">
            <a:extLst>
              <a:ext uri="{FF2B5EF4-FFF2-40B4-BE49-F238E27FC236}">
                <a16:creationId xmlns:a16="http://schemas.microsoft.com/office/drawing/2014/main" id="{A2FADB95-B98B-A714-BB4E-06839181BFD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21" name="文本 MemAgent  /  02 方法设计">
            <a:extLst>
              <a:ext uri="{FF2B5EF4-FFF2-40B4-BE49-F238E27FC236}">
                <a16:creationId xmlns:a16="http://schemas.microsoft.com/office/drawing/2014/main" id="{F8B5D2C7-9396-F16E-AA2A-8EA26B42EFDB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02 方法设计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3650179D-6D69-5CF4-089B-9CD94F86534D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EF5892E3-1A51-4E1D-0405-3FCF3D339484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573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68096"/>
            <a:ext cx="10725912" cy="479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完整目标</a:t>
            </a:r>
            <a:r>
              <a:rPr lang="zh-CN" altLang="en-US"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优化目标：</a:t>
            </a:r>
            <a:endParaRPr sz="30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87A59EC-C0D8-1551-1940-09023214A0E5}"/>
                  </a:ext>
                </a:extLst>
              </p:cNvPr>
              <p:cNvSpPr txBox="1"/>
              <p:nvPr/>
            </p:nvSpPr>
            <p:spPr>
              <a:xfrm>
                <a:off x="2058851" y="1362053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800" i="1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 与标准答案等价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rgbClr val="12161A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87A59EC-C0D8-1551-1940-09023214A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851" y="1362053"/>
                <a:ext cx="60960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62F3E53-BC8F-BAA4-2C78-5C1E58C8DB0C}"/>
                  </a:ext>
                </a:extLst>
              </p:cNvPr>
              <p:cNvSpPr txBox="1"/>
              <p:nvPr/>
            </p:nvSpPr>
            <p:spPr>
              <a:xfrm>
                <a:off x="2910114" y="1920028"/>
                <a:ext cx="6096000" cy="130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800" i="1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0" smtClean="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acc>
                        <m:accPr>
                          <m:chr m:val="̅"/>
                          <m:ctrlP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solidFill>
                    <a:srgbClr val="12161A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62F3E53-BC8F-BAA4-2C78-5C1E58C8D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14" y="1920028"/>
                <a:ext cx="6096000" cy="13063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963BD77-DF51-B3D3-3B6C-75BF862388DA}"/>
                  </a:ext>
                </a:extLst>
              </p:cNvPr>
              <p:cNvSpPr txBox="1"/>
              <p:nvPr/>
            </p:nvSpPr>
            <p:spPr>
              <a:xfrm>
                <a:off x="2472508" y="3302924"/>
                <a:ext cx="8634909" cy="1935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zh-CN" altLang="en-US" sz="2800" i="1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zh-CN" altLang="en-US" sz="2800" i="1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  <m:e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</m:e>
                                  </m:nary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轨迹</m:t>
                              </m:r>
                            </m:lim>
                          </m:limLow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zh-CN" altLang="en-US" sz="2800" i="1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zh-CN" altLang="en-US" sz="2800">
                                              <a:solidFill>
                                                <a:srgbClr val="1216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800">
                                              <a:solidFill>
                                                <a:srgbClr val="1216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800">
                                              <a:solidFill>
                                                <a:srgbClr val="1216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</m:e>
                                  </m:nary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调用</m:t>
                              </m:r>
                            </m:lim>
                          </m:limLow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zh-CN" altLang="en-US" sz="2800" i="1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zh-CN" altLang="en-US" sz="2800" i="1">
                                              <a:solidFill>
                                                <a:srgbClr val="12161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2800">
                                                  <a:solidFill>
                                                    <a:srgbClr val="12161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800">
                                                  <a:solidFill>
                                                    <a:srgbClr val="12161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2800">
                                                  <a:solidFill>
                                                    <a:srgbClr val="12161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zh-CN" altLang="en-US" sz="2800">
                                                  <a:solidFill>
                                                    <a:srgbClr val="12161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zh-CN" altLang="en-US" sz="2800">
                                                  <a:solidFill>
                                                    <a:srgbClr val="12161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p>
                                    <m:e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</m:e>
                                  </m:nary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lim>
                          </m:limLow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b>
                                <m:sSubPr>
                                  <m:ctrlP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KL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rgbClr val="12161A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963BD77-DF51-B3D3-3B6C-75BF86238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508" y="3302924"/>
                <a:ext cx="8634909" cy="19355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B84B172-0A5A-3215-CADB-B3D8B72815DA}"/>
                  </a:ext>
                </a:extLst>
              </p:cNvPr>
              <p:cNvSpPr txBox="1"/>
              <p:nvPr/>
            </p:nvSpPr>
            <p:spPr>
              <a:xfrm>
                <a:off x="1091840" y="5315030"/>
                <a:ext cx="6096000" cy="1355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2800">
                          <a:solidFill>
                            <a:srgbClr val="1216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12161A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800">
                                  <a:solidFill>
                                    <a:srgbClr val="12161A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800" i="1">
                                      <a:solidFill>
                                        <a:srgbClr val="1216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2800">
                                          <a:solidFill>
                                            <a:srgbClr val="1216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800" dirty="0">
                  <a:solidFill>
                    <a:srgbClr val="12161A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B84B172-0A5A-3215-CADB-B3D8B7281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840" y="5315030"/>
                <a:ext cx="6096000" cy="1355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14">
            <a:extLst>
              <a:ext uri="{FF2B5EF4-FFF2-40B4-BE49-F238E27FC236}">
                <a16:creationId xmlns:a16="http://schemas.microsoft.com/office/drawing/2014/main" id="{83FD4E05-A195-9A6C-6249-8F5ED3448707}"/>
              </a:ext>
            </a:extLst>
          </p:cNvPr>
          <p:cNvSpPr txBox="1"/>
          <p:nvPr/>
        </p:nvSpPr>
        <p:spPr>
          <a:xfrm>
            <a:off x="958306" y="1479659"/>
            <a:ext cx="2331720" cy="304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1.</a:t>
            </a:r>
            <a:r>
              <a:rPr lang="zh-CN" altLang="en-US" sz="1800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最终</a:t>
            </a:r>
            <a:r>
              <a:rPr sz="1800" b="1" dirty="0" err="1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奖励</a:t>
            </a:r>
            <a:endParaRPr sz="1800" b="1" dirty="0">
              <a:solidFill>
                <a:srgbClr val="12161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EB541972-C58D-9BF2-5CE4-2194BA55D475}"/>
              </a:ext>
            </a:extLst>
          </p:cNvPr>
          <p:cNvSpPr txBox="1"/>
          <p:nvPr/>
        </p:nvSpPr>
        <p:spPr>
          <a:xfrm>
            <a:off x="958306" y="2435027"/>
            <a:ext cx="2331720" cy="304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2.</a:t>
            </a:r>
            <a:r>
              <a:rPr lang="zh-CN" altLang="en-US" sz="1800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组内优势</a:t>
            </a:r>
            <a:endParaRPr sz="1800" b="1" dirty="0">
              <a:solidFill>
                <a:srgbClr val="12161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" name="TextBox 14">
            <a:extLst>
              <a:ext uri="{FF2B5EF4-FFF2-40B4-BE49-F238E27FC236}">
                <a16:creationId xmlns:a16="http://schemas.microsoft.com/office/drawing/2014/main" id="{4E7B5FDB-3E7F-0DB6-D21A-3EA81AD8D54A}"/>
              </a:ext>
            </a:extLst>
          </p:cNvPr>
          <p:cNvSpPr txBox="1"/>
          <p:nvPr/>
        </p:nvSpPr>
        <p:spPr>
          <a:xfrm>
            <a:off x="892991" y="3966310"/>
            <a:ext cx="2331720" cy="304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3.</a:t>
            </a:r>
            <a:r>
              <a:rPr lang="zh-CN" altLang="en-US" sz="1800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完整目标</a:t>
            </a:r>
            <a:endParaRPr sz="1800" b="1" dirty="0">
              <a:solidFill>
                <a:srgbClr val="12161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7" name="全局顶部细线">
            <a:extLst>
              <a:ext uri="{FF2B5EF4-FFF2-40B4-BE49-F238E27FC236}">
                <a16:creationId xmlns:a16="http://schemas.microsoft.com/office/drawing/2014/main" id="{39A0F143-7D1D-CE63-3C6A-011CD787158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49" name="文本 MemAgent  /  02 方法设计">
            <a:extLst>
              <a:ext uri="{FF2B5EF4-FFF2-40B4-BE49-F238E27FC236}">
                <a16:creationId xmlns:a16="http://schemas.microsoft.com/office/drawing/2014/main" id="{6F426B58-A290-7F55-7305-1D38DB56D3DC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02 方法设计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13B03EB9-16B4-D462-BD66-54AD80616BC6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3E2460A3-5692-BDEE-9ED8-915671FD60E7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549021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实验设置：任务、模型与</a:t>
            </a:r>
            <a:r>
              <a:rPr lang="zh-CN" altLang="en-US"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预算</a:t>
            </a:r>
            <a:endParaRPr sz="30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971983"/>
            <a:ext cx="2743200" cy="31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 dirty="0">
                <a:solidFill>
                  <a:srgbClr val="12161A"/>
                </a:solidFill>
                <a:latin typeface="Noto Serif SC"/>
                <a:ea typeface="Noto Serif SC"/>
              </a:rPr>
              <a:t>Benchmark</a:t>
            </a:r>
            <a:endParaRPr sz="2000" b="1" dirty="0">
              <a:solidFill>
                <a:srgbClr val="12161A"/>
              </a:solidFill>
              <a:latin typeface="Noto Serif SC"/>
              <a:ea typeface="Noto Serif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49093" y="2967951"/>
            <a:ext cx="2743200" cy="31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 dirty="0">
                <a:solidFill>
                  <a:srgbClr val="12161A"/>
                </a:solidFill>
                <a:latin typeface="Noto Serif SC"/>
                <a:ea typeface="Noto Serif SC"/>
              </a:rPr>
              <a:t>测试对象</a:t>
            </a:r>
            <a:endParaRPr sz="2000" b="1" dirty="0">
              <a:solidFill>
                <a:srgbClr val="12161A"/>
              </a:solidFill>
              <a:latin typeface="Noto Serif SC"/>
              <a:ea typeface="Noto Serif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88505" y="2963411"/>
            <a:ext cx="851185" cy="31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 dirty="0">
                <a:solidFill>
                  <a:srgbClr val="12161A"/>
                </a:solidFill>
                <a:latin typeface="Noto Serif SC"/>
                <a:ea typeface="Noto Serif SC"/>
              </a:rPr>
              <a:t>特点</a:t>
            </a:r>
            <a:endParaRPr sz="2000" b="1" dirty="0">
              <a:solidFill>
                <a:srgbClr val="12161A"/>
              </a:solidFill>
              <a:latin typeface="Noto Serif SC"/>
              <a:ea typeface="Noto Serif SC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334512"/>
            <a:ext cx="7498080" cy="0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53568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rPr>
              <a:t>RULER-HQA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5074" y="3475777"/>
            <a:ext cx="1828800" cy="513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350" b="1" dirty="0">
                <a:solidFill>
                  <a:srgbClr val="12161A"/>
                </a:solidFill>
                <a:latin typeface="Noto Sans SC"/>
                <a:ea typeface="Noto Sans SC"/>
              </a:rPr>
              <a:t>RULER</a:t>
            </a:r>
            <a:r>
              <a:rPr lang="zh-CN" altLang="en-US" sz="1350" b="1" dirty="0">
                <a:solidFill>
                  <a:srgbClr val="12161A"/>
                </a:solidFill>
                <a:latin typeface="Noto Sans SC"/>
                <a:ea typeface="Noto Sans SC"/>
              </a:rPr>
              <a:t>进行长度构造（</a:t>
            </a:r>
            <a:r>
              <a:rPr lang="en-US" altLang="zh-CN" sz="1350" b="1" dirty="0">
                <a:solidFill>
                  <a:srgbClr val="12161A"/>
                </a:solidFill>
                <a:latin typeface="Noto Sans SC"/>
                <a:ea typeface="Noto Sans SC"/>
              </a:rPr>
              <a:t>MAX 3.5M</a:t>
            </a:r>
            <a:r>
              <a:rPr lang="zh-CN" altLang="en-US" sz="1350" b="1" dirty="0">
                <a:solidFill>
                  <a:srgbClr val="12161A"/>
                </a:solidFill>
                <a:latin typeface="Noto Sans SC"/>
                <a:ea typeface="Noto Sans SC"/>
              </a:rPr>
              <a:t>）</a:t>
            </a:r>
            <a:endParaRPr sz="1350" b="1" dirty="0">
              <a:solidFill>
                <a:srgbClr val="12161A"/>
              </a:solidFill>
              <a:latin typeface="Noto Sans SC"/>
              <a:ea typeface="Noto Sans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30179" y="3540302"/>
            <a:ext cx="1123948" cy="243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50" b="1" dirty="0">
                <a:solidFill>
                  <a:srgbClr val="12161A"/>
                </a:solidFill>
                <a:latin typeface="Noto Sans SC"/>
                <a:ea typeface="Noto Sans SC"/>
              </a:rPr>
              <a:t>长度外推</a:t>
            </a:r>
            <a:endParaRPr sz="1350" b="1" dirty="0">
              <a:solidFill>
                <a:srgbClr val="12161A"/>
              </a:solidFill>
              <a:latin typeface="Noto Sans SC"/>
              <a:ea typeface="Noto Sans SC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026027"/>
            <a:ext cx="7498080" cy="0"/>
          </a:xfrm>
          <a:prstGeom prst="line">
            <a:avLst/>
          </a:prstGeom>
          <a:ln w="7620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D46D463-392A-BA14-E75E-53D2C711020F}"/>
              </a:ext>
            </a:extLst>
          </p:cNvPr>
          <p:cNvGrpSpPr/>
          <p:nvPr/>
        </p:nvGrpSpPr>
        <p:grpSpPr>
          <a:xfrm>
            <a:off x="783005" y="4262005"/>
            <a:ext cx="5663014" cy="324063"/>
            <a:chOff x="731520" y="2876337"/>
            <a:chExt cx="5663014" cy="324063"/>
          </a:xfrm>
        </p:grpSpPr>
        <p:sp>
          <p:nvSpPr>
            <p:cNvPr id="16" name="TextBox 15"/>
            <p:cNvSpPr txBox="1"/>
            <p:nvPr/>
          </p:nvSpPr>
          <p:spPr>
            <a:xfrm>
              <a:off x="731520" y="2880360"/>
              <a:ext cx="26517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350" b="1" dirty="0">
                  <a:solidFill>
                    <a:srgbClr val="12161A"/>
                  </a:solidFill>
                  <a:latin typeface="Noto Sans SC"/>
                  <a:ea typeface="Noto Sans SC"/>
                  <a:cs typeface="Noto Sans SC"/>
                </a:rPr>
                <a:t>NIAH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94560" y="2893751"/>
              <a:ext cx="2560320" cy="2439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Level 1</a:t>
              </a:r>
              <a:r>
                <a:rPr lang="zh-CN" altLang="en-US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、</a:t>
              </a:r>
              <a:r>
                <a:rPr lang="en-US" altLang="zh-CN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 Level 2</a:t>
              </a:r>
              <a:r>
                <a:rPr lang="zh-CN" altLang="en-US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、</a:t>
              </a:r>
              <a:r>
                <a:rPr lang="en-US" altLang="zh-CN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 Level 3</a:t>
              </a:r>
              <a:endParaRPr sz="1350" b="1" dirty="0">
                <a:solidFill>
                  <a:srgbClr val="12161A"/>
                </a:solidFill>
                <a:latin typeface="Noto Sans SC"/>
                <a:ea typeface="Noto Sans SC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78694" y="2876337"/>
              <a:ext cx="1415840" cy="2466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精确信息保留</a:t>
              </a:r>
              <a:endParaRPr sz="1350" b="1" dirty="0">
                <a:solidFill>
                  <a:srgbClr val="12161A"/>
                </a:solidFill>
                <a:latin typeface="Noto Sans SC"/>
                <a:ea typeface="Noto Sans SC"/>
              </a:endParaRPr>
            </a:p>
          </p:txBody>
        </p:sp>
      </p:grpSp>
      <p:cxnSp>
        <p:nvCxnSpPr>
          <p:cNvPr id="19" name="Connector 18"/>
          <p:cNvCxnSpPr/>
          <p:nvPr/>
        </p:nvCxnSpPr>
        <p:spPr>
          <a:xfrm>
            <a:off x="731520" y="4734737"/>
            <a:ext cx="7498080" cy="0"/>
          </a:xfrm>
          <a:prstGeom prst="line">
            <a:avLst/>
          </a:prstGeom>
          <a:ln w="7620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28CB818-20F3-1A29-3608-2DD7FFB8B144}"/>
              </a:ext>
            </a:extLst>
          </p:cNvPr>
          <p:cNvGrpSpPr/>
          <p:nvPr/>
        </p:nvGrpSpPr>
        <p:grpSpPr>
          <a:xfrm>
            <a:off x="783005" y="4902059"/>
            <a:ext cx="5931642" cy="513987"/>
            <a:chOff x="731520" y="3668268"/>
            <a:chExt cx="5931642" cy="513987"/>
          </a:xfrm>
        </p:grpSpPr>
        <p:sp>
          <p:nvSpPr>
            <p:cNvPr id="20" name="TextBox 19"/>
            <p:cNvSpPr txBox="1"/>
            <p:nvPr/>
          </p:nvSpPr>
          <p:spPr>
            <a:xfrm>
              <a:off x="731520" y="3749040"/>
              <a:ext cx="26517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350" b="1">
                  <a:solidFill>
                    <a:srgbClr val="12161A"/>
                  </a:solidFill>
                  <a:latin typeface="Noto Sans SC"/>
                  <a:ea typeface="Noto Sans SC"/>
                  <a:cs typeface="Noto Sans SC"/>
                </a:rPr>
                <a:t>LongBench-QA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23589" y="3668268"/>
              <a:ext cx="2651760" cy="5139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2Wiki/HQA/</a:t>
              </a:r>
              <a:r>
                <a:rPr lang="en-US" altLang="zh-CN" sz="1350" b="1" dirty="0" err="1">
                  <a:solidFill>
                    <a:srgbClr val="12161A"/>
                  </a:solidFill>
                  <a:latin typeface="Noto Sans SC"/>
                  <a:ea typeface="Noto Sans SC"/>
                </a:rPr>
                <a:t>MiSIQue</a:t>
              </a:r>
              <a:r>
                <a:rPr lang="en-US" altLang="zh-CN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/</a:t>
              </a:r>
              <a:r>
                <a:rPr lang="en-US" altLang="zh-CN" sz="1350" b="1" dirty="0" err="1">
                  <a:solidFill>
                    <a:srgbClr val="12161A"/>
                  </a:solidFill>
                  <a:latin typeface="Noto Sans SC"/>
                  <a:ea typeface="Noto Sans SC"/>
                </a:rPr>
                <a:t>NarrativeQA</a:t>
              </a:r>
              <a:r>
                <a:rPr lang="en-US" altLang="zh-CN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/</a:t>
              </a:r>
              <a:r>
                <a:rPr lang="en-US" altLang="zh-CN" sz="1350" b="1" dirty="0" err="1">
                  <a:solidFill>
                    <a:srgbClr val="12161A"/>
                  </a:solidFill>
                  <a:latin typeface="Noto Sans SC"/>
                  <a:ea typeface="Noto Sans SC"/>
                </a:rPr>
                <a:t>Qasper</a:t>
              </a:r>
              <a:r>
                <a:rPr lang="zh-CN" altLang="en-US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）</a:t>
              </a:r>
              <a:endParaRPr sz="1350" b="1" dirty="0">
                <a:solidFill>
                  <a:srgbClr val="12161A"/>
                </a:solidFill>
                <a:latin typeface="Noto Sans SC"/>
                <a:ea typeface="Noto Sans SC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23435" y="3709686"/>
              <a:ext cx="1639727" cy="2439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多类型问答</a:t>
              </a:r>
              <a:endParaRPr sz="1350" b="1" dirty="0">
                <a:solidFill>
                  <a:srgbClr val="12161A"/>
                </a:solidFill>
                <a:latin typeface="Noto Sans SC"/>
                <a:ea typeface="Noto Sans SC"/>
              </a:endParaRPr>
            </a:p>
          </p:txBody>
        </p:sp>
      </p:grpSp>
      <p:cxnSp>
        <p:nvCxnSpPr>
          <p:cNvPr id="23" name="Connector 22"/>
          <p:cNvCxnSpPr/>
          <p:nvPr/>
        </p:nvCxnSpPr>
        <p:spPr>
          <a:xfrm>
            <a:off x="783005" y="5558490"/>
            <a:ext cx="7498080" cy="0"/>
          </a:xfrm>
          <a:prstGeom prst="line">
            <a:avLst/>
          </a:prstGeom>
          <a:ln w="7620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B4F915F-F2A8-21F7-A503-6F5CC6F1C90E}"/>
              </a:ext>
            </a:extLst>
          </p:cNvPr>
          <p:cNvGrpSpPr/>
          <p:nvPr/>
        </p:nvGrpSpPr>
        <p:grpSpPr>
          <a:xfrm>
            <a:off x="731520" y="5751318"/>
            <a:ext cx="7576135" cy="539778"/>
            <a:chOff x="731520" y="4593435"/>
            <a:chExt cx="7576135" cy="539778"/>
          </a:xfrm>
        </p:grpSpPr>
        <p:sp>
          <p:nvSpPr>
            <p:cNvPr id="24" name="TextBox 23"/>
            <p:cNvSpPr txBox="1"/>
            <p:nvPr/>
          </p:nvSpPr>
          <p:spPr>
            <a:xfrm>
              <a:off x="731520" y="4617720"/>
              <a:ext cx="2651760" cy="2439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1350" b="1" dirty="0" err="1">
                  <a:solidFill>
                    <a:srgbClr val="12161A"/>
                  </a:solidFill>
                  <a:latin typeface="Noto Sans SC"/>
                  <a:ea typeface="Noto Sans SC"/>
                  <a:cs typeface="Noto Sans SC"/>
                </a:rPr>
                <a:t>LongBench</a:t>
              </a:r>
              <a:r>
                <a:rPr lang="en-US" altLang="zh-CN" sz="1350" b="1" dirty="0">
                  <a:solidFill>
                    <a:srgbClr val="12161A"/>
                  </a:solidFill>
                  <a:latin typeface="Noto Sans SC"/>
                  <a:ea typeface="Noto Sans SC"/>
                  <a:cs typeface="Noto Sans SC"/>
                </a:rPr>
                <a:t>-SUM</a:t>
              </a:r>
              <a:endParaRPr lang="en-US" sz="1350" b="1" dirty="0">
                <a:solidFill>
                  <a:srgbClr val="12161A"/>
                </a:solidFill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26741" y="4593435"/>
              <a:ext cx="1828800" cy="2439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350" b="1" dirty="0" err="1">
                  <a:solidFill>
                    <a:srgbClr val="12161A"/>
                  </a:solidFill>
                  <a:latin typeface="Noto Sans SC"/>
                  <a:ea typeface="Noto Sans SC"/>
                </a:rPr>
                <a:t>GovReport</a:t>
              </a:r>
              <a:r>
                <a:rPr lang="en-US" altLang="zh-CN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 / </a:t>
              </a:r>
              <a:r>
                <a:rPr lang="en-US" altLang="zh-CN" sz="1350" b="1" dirty="0" err="1">
                  <a:solidFill>
                    <a:srgbClr val="12161A"/>
                  </a:solidFill>
                  <a:latin typeface="Noto Sans SC"/>
                  <a:ea typeface="Noto Sans SC"/>
                </a:rPr>
                <a:t>QMSum</a:t>
              </a:r>
              <a:endParaRPr lang="en-US" altLang="zh-CN" sz="1350" b="1" dirty="0">
                <a:solidFill>
                  <a:srgbClr val="12161A"/>
                </a:solidFill>
                <a:latin typeface="Noto Sans SC"/>
                <a:ea typeface="Noto Sans SC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53081" y="4611632"/>
              <a:ext cx="1828800" cy="2439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350" b="1" dirty="0">
                  <a:solidFill>
                    <a:srgbClr val="12161A"/>
                  </a:solidFill>
                  <a:latin typeface="Noto Sans SC"/>
                  <a:ea typeface="Noto Sans SC"/>
                </a:rPr>
                <a:t>摘要迁移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809575" y="5133213"/>
              <a:ext cx="7498080" cy="0"/>
            </a:xfrm>
            <a:prstGeom prst="line">
              <a:avLst/>
            </a:prstGeom>
            <a:ln w="7620">
              <a:solidFill>
                <a:srgbClr val="E2E4E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Connector 27"/>
          <p:cNvCxnSpPr>
            <a:cxnSpLocks/>
          </p:cNvCxnSpPr>
          <p:nvPr/>
        </p:nvCxnSpPr>
        <p:spPr>
          <a:xfrm>
            <a:off x="8321040" y="3078480"/>
            <a:ext cx="0" cy="3285877"/>
          </a:xfrm>
          <a:prstGeom prst="line">
            <a:avLst/>
          </a:prstGeom>
          <a:ln w="9525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 每轮预算：query 1024＋chun">
            <a:extLst>
              <a:ext uri="{FF2B5EF4-FFF2-40B4-BE49-F238E27FC236}">
                <a16:creationId xmlns:a16="http://schemas.microsoft.com/office/drawing/2014/main" id="{52956BCD-A590-022B-BE6B-FC818754BAF0}"/>
              </a:ext>
            </a:extLst>
          </p:cNvPr>
          <p:cNvSpPr>
            <a:spLocks noGrp="1"/>
          </p:cNvSpPr>
          <p:nvPr/>
        </p:nvSpPr>
        <p:spPr>
          <a:xfrm>
            <a:off x="6576060" y="2794074"/>
            <a:ext cx="232600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dirty="0">
                <a:solidFill>
                  <a:srgbClr val="12161A"/>
                </a:solidFill>
                <a:latin typeface="Noto Serif SC"/>
                <a:ea typeface="Noto Serif SC"/>
              </a:rPr>
              <a:t>评测标准</a:t>
            </a:r>
            <a:endParaRPr lang="en-US" altLang="zh-CN" sz="2000" dirty="0">
              <a:solidFill>
                <a:srgbClr val="12161A"/>
              </a:solidFill>
              <a:latin typeface="Noto Serif SC"/>
              <a:ea typeface="Noto Serif SC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5905F4EE-8EC5-798C-18F6-EFE4A4493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558" y="2967951"/>
            <a:ext cx="3159711" cy="3451505"/>
          </a:xfrm>
          <a:prstGeom prst="rect">
            <a:avLst/>
          </a:prstGeom>
        </p:spPr>
      </p:pic>
      <p:sp>
        <p:nvSpPr>
          <p:cNvPr id="61" name="文本 QA：sub_em　　摘要：ROUGE-">
            <a:extLst>
              <a:ext uri="{FF2B5EF4-FFF2-40B4-BE49-F238E27FC236}">
                <a16:creationId xmlns:a16="http://schemas.microsoft.com/office/drawing/2014/main" id="{F7F61902-1E0D-7B5B-1EA7-A4FCC389C1D5}"/>
              </a:ext>
            </a:extLst>
          </p:cNvPr>
          <p:cNvSpPr>
            <a:spLocks noGrp="1"/>
          </p:cNvSpPr>
          <p:nvPr/>
        </p:nvSpPr>
        <p:spPr>
          <a:xfrm>
            <a:off x="6651759" y="3483182"/>
            <a:ext cx="1247347" cy="37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30000"/>
              </a:lnSpc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dirty="0" err="1">
                <a:solidFill>
                  <a:srgbClr val="12161A"/>
                </a:solidFill>
                <a:latin typeface="Noto Sans SC"/>
                <a:ea typeface="Noto Sans SC"/>
                <a:cs typeface="+mn-cs"/>
              </a:rPr>
              <a:t>sub_em</a:t>
            </a:r>
            <a:r>
              <a:rPr lang="en-US" sz="1350" dirty="0" err="1">
                <a:solidFill>
                  <a:srgbClr val="12161A"/>
                </a:solidFill>
                <a:latin typeface="Noto Sans SC"/>
                <a:ea typeface="Noto Sans SC"/>
                <a:cs typeface="+mn-cs"/>
              </a:rPr>
              <a:t>,acc</a:t>
            </a:r>
            <a:r>
              <a:rPr sz="1350" dirty="0">
                <a:solidFill>
                  <a:srgbClr val="12161A"/>
                </a:solidFill>
                <a:latin typeface="Noto Sans SC"/>
                <a:ea typeface="Noto Sans SC"/>
                <a:cs typeface="+mn-cs"/>
              </a:rPr>
              <a:t>　</a:t>
            </a:r>
            <a:endParaRPr lang="en-US" sz="1350" dirty="0">
              <a:solidFill>
                <a:srgbClr val="12161A"/>
              </a:solidFill>
              <a:latin typeface="Noto Sans SC"/>
              <a:ea typeface="Noto Sans SC"/>
              <a:cs typeface="+mn-cs"/>
            </a:endParaRPr>
          </a:p>
        </p:txBody>
      </p:sp>
      <p:sp>
        <p:nvSpPr>
          <p:cNvPr id="63" name="文本 QA：sub_em　　摘要：ROUGE-">
            <a:extLst>
              <a:ext uri="{FF2B5EF4-FFF2-40B4-BE49-F238E27FC236}">
                <a16:creationId xmlns:a16="http://schemas.microsoft.com/office/drawing/2014/main" id="{FB1F4C82-1142-3C54-39A0-2D6E71F36166}"/>
              </a:ext>
            </a:extLst>
          </p:cNvPr>
          <p:cNvSpPr>
            <a:spLocks noGrp="1"/>
          </p:cNvSpPr>
          <p:nvPr/>
        </p:nvSpPr>
        <p:spPr>
          <a:xfrm>
            <a:off x="6649530" y="4151570"/>
            <a:ext cx="791027" cy="37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30000"/>
              </a:lnSpc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dirty="0" err="1">
                <a:solidFill>
                  <a:srgbClr val="12161A"/>
                </a:solidFill>
                <a:latin typeface="Noto Sans SC"/>
                <a:ea typeface="Noto Sans SC"/>
              </a:rPr>
              <a:t>sub_em,acc</a:t>
            </a:r>
            <a:r>
              <a:rPr lang="zh-CN" altLang="en-US" sz="1350" dirty="0">
                <a:solidFill>
                  <a:srgbClr val="12161A"/>
                </a:solidFill>
                <a:latin typeface="Noto Sans SC"/>
                <a:ea typeface="Noto Sans SC"/>
              </a:rPr>
              <a:t>　</a:t>
            </a:r>
            <a:endParaRPr lang="en-US" altLang="zh-CN" sz="1350" dirty="0">
              <a:solidFill>
                <a:srgbClr val="12161A"/>
              </a:solidFill>
              <a:latin typeface="Noto Sans SC"/>
              <a:ea typeface="Noto Sans SC"/>
            </a:endParaRPr>
          </a:p>
        </p:txBody>
      </p:sp>
      <p:sp>
        <p:nvSpPr>
          <p:cNvPr id="65" name="文本 QA：sub_em　　摘要：ROUGE-">
            <a:extLst>
              <a:ext uri="{FF2B5EF4-FFF2-40B4-BE49-F238E27FC236}">
                <a16:creationId xmlns:a16="http://schemas.microsoft.com/office/drawing/2014/main" id="{27B2FECC-10F0-009E-54AF-EF44461201F0}"/>
              </a:ext>
            </a:extLst>
          </p:cNvPr>
          <p:cNvSpPr>
            <a:spLocks noGrp="1"/>
          </p:cNvSpPr>
          <p:nvPr/>
        </p:nvSpPr>
        <p:spPr>
          <a:xfrm>
            <a:off x="6649529" y="4897769"/>
            <a:ext cx="791027" cy="37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30000"/>
              </a:lnSpc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dirty="0" err="1">
                <a:solidFill>
                  <a:srgbClr val="12161A"/>
                </a:solidFill>
                <a:latin typeface="Noto Sans SC"/>
                <a:ea typeface="Noto Sans SC"/>
              </a:rPr>
              <a:t>sub_em,acc</a:t>
            </a:r>
            <a:r>
              <a:rPr lang="zh-CN" altLang="en-US" sz="1350" dirty="0">
                <a:solidFill>
                  <a:srgbClr val="12161A"/>
                </a:solidFill>
                <a:latin typeface="Noto Sans SC"/>
                <a:ea typeface="Noto Sans SC"/>
              </a:rPr>
              <a:t>　</a:t>
            </a:r>
            <a:endParaRPr lang="en-US" altLang="zh-CN" sz="1350" dirty="0">
              <a:solidFill>
                <a:srgbClr val="12161A"/>
              </a:solidFill>
              <a:latin typeface="Noto Sans SC"/>
              <a:ea typeface="Noto Sans SC"/>
            </a:endParaRPr>
          </a:p>
        </p:txBody>
      </p:sp>
      <p:sp>
        <p:nvSpPr>
          <p:cNvPr id="67" name="文本 QA：sub_em　　摘要：ROUGE-">
            <a:extLst>
              <a:ext uri="{FF2B5EF4-FFF2-40B4-BE49-F238E27FC236}">
                <a16:creationId xmlns:a16="http://schemas.microsoft.com/office/drawing/2014/main" id="{59E9B0E4-E397-DC4D-4D38-71F1AF9FDE61}"/>
              </a:ext>
            </a:extLst>
          </p:cNvPr>
          <p:cNvSpPr>
            <a:spLocks noGrp="1"/>
          </p:cNvSpPr>
          <p:nvPr/>
        </p:nvSpPr>
        <p:spPr>
          <a:xfrm>
            <a:off x="6651759" y="5720400"/>
            <a:ext cx="791027" cy="37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30000"/>
              </a:lnSpc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dirty="0">
                <a:solidFill>
                  <a:srgbClr val="12161A"/>
                </a:solidFill>
                <a:latin typeface="Noto Sans SC"/>
                <a:ea typeface="Noto Sans SC"/>
                <a:cs typeface="+mn-cs"/>
              </a:rPr>
              <a:t>ROUGE-1/2/L recall</a:t>
            </a:r>
          </a:p>
        </p:txBody>
      </p:sp>
      <p:sp>
        <p:nvSpPr>
          <p:cNvPr id="69" name="全局顶部细线">
            <a:extLst>
              <a:ext uri="{FF2B5EF4-FFF2-40B4-BE49-F238E27FC236}">
                <a16:creationId xmlns:a16="http://schemas.microsoft.com/office/drawing/2014/main" id="{D2D5E243-1221-2538-7333-9159B1AC55E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71" name="文本 MemAgent  /  03 实验结果">
            <a:extLst>
              <a:ext uri="{FF2B5EF4-FFF2-40B4-BE49-F238E27FC236}">
                <a16:creationId xmlns:a16="http://schemas.microsoft.com/office/drawing/2014/main" id="{D67C334F-7A8B-E9BD-6246-B2394FE85E89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03 实验结果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697A6324-3566-45E1-9A36-E8AB572D121C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795FD25E-0583-AE43-4D29-397F87B3A68E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文本 每轮预算：query 1024＋chun">
            <a:extLst>
              <a:ext uri="{FF2B5EF4-FFF2-40B4-BE49-F238E27FC236}">
                <a16:creationId xmlns:a16="http://schemas.microsoft.com/office/drawing/2014/main" id="{19B72D19-901A-BFC0-1EA6-0709F8C3E594}"/>
              </a:ext>
            </a:extLst>
          </p:cNvPr>
          <p:cNvSpPr>
            <a:spLocks noGrp="1"/>
          </p:cNvSpPr>
          <p:nvPr/>
        </p:nvSpPr>
        <p:spPr>
          <a:xfrm>
            <a:off x="773481" y="2174716"/>
            <a:ext cx="876490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defRPr sz="18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12161A"/>
                </a:solidFill>
                <a:latin typeface="Noto Serif SC"/>
                <a:ea typeface="Noto Serif SC"/>
              </a:rPr>
              <a:t>每轮预算：query</a:t>
            </a:r>
            <a:r>
              <a:rPr sz="2000" dirty="0">
                <a:solidFill>
                  <a:srgbClr val="12161A"/>
                </a:solidFill>
                <a:latin typeface="Noto Serif SC"/>
                <a:ea typeface="Noto Serif SC"/>
              </a:rPr>
              <a:t> 1024＋chunk 5000＋memory 1024＋output 1024</a:t>
            </a:r>
            <a:r>
              <a:rPr lang="en-US" sz="2000" dirty="0">
                <a:solidFill>
                  <a:srgbClr val="12161A"/>
                </a:solidFill>
                <a:latin typeface="Noto Serif SC"/>
                <a:ea typeface="Noto Serif SC"/>
              </a:rPr>
              <a:t> =  8</a:t>
            </a:r>
            <a:r>
              <a:rPr lang="en-US" altLang="zh-CN" sz="2000" dirty="0">
                <a:solidFill>
                  <a:srgbClr val="12161A"/>
                </a:solidFill>
                <a:latin typeface="Noto Serif SC"/>
                <a:ea typeface="Noto Serif SC"/>
              </a:rPr>
              <a:t>K</a:t>
            </a:r>
            <a:endParaRPr sz="2000" dirty="0">
              <a:solidFill>
                <a:srgbClr val="12161A"/>
              </a:solidFill>
              <a:latin typeface="Noto Serif SC"/>
              <a:ea typeface="Noto Serif SC"/>
            </a:endParaRPr>
          </a:p>
        </p:txBody>
      </p:sp>
      <p:sp>
        <p:nvSpPr>
          <p:cNvPr id="29" name="文本 阶段 I：32,768 条，约 28–3">
            <a:extLst>
              <a:ext uri="{FF2B5EF4-FFF2-40B4-BE49-F238E27FC236}">
                <a16:creationId xmlns:a16="http://schemas.microsoft.com/office/drawing/2014/main" id="{1AD3C235-85FD-2E58-1024-418E220DCD41}"/>
              </a:ext>
            </a:extLst>
          </p:cNvPr>
          <p:cNvSpPr>
            <a:spLocks noGrp="1"/>
          </p:cNvSpPr>
          <p:nvPr/>
        </p:nvSpPr>
        <p:spPr>
          <a:xfrm>
            <a:off x="809575" y="1082957"/>
            <a:ext cx="820488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30000"/>
              </a:lnSpc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2161A"/>
                </a:solidFill>
                <a:latin typeface="Noto Sans SC"/>
                <a:ea typeface="Noto Sans SC"/>
              </a:rPr>
              <a:t>阶段</a:t>
            </a:r>
            <a:r>
              <a:rPr sz="2000" b="1" dirty="0">
                <a:solidFill>
                  <a:srgbClr val="12161A"/>
                </a:solidFill>
                <a:latin typeface="Noto Sans SC"/>
                <a:ea typeface="Noto Sans SC"/>
              </a:rPr>
              <a:t> I：</a:t>
            </a:r>
            <a:r>
              <a:rPr lang="en-US" altLang="zh-CN" sz="2000" b="1" dirty="0">
                <a:solidFill>
                  <a:srgbClr val="12161A"/>
                </a:solidFill>
                <a:latin typeface="Noto Sans SC"/>
                <a:ea typeface="Noto Sans SC"/>
              </a:rPr>
              <a:t>HQA   </a:t>
            </a:r>
            <a:r>
              <a:rPr sz="2000" b="1" dirty="0">
                <a:solidFill>
                  <a:srgbClr val="12161A"/>
                </a:solidFill>
                <a:latin typeface="Noto Sans SC"/>
                <a:ea typeface="Noto Sans SC"/>
              </a:rPr>
              <a:t>32768 </a:t>
            </a:r>
            <a:r>
              <a:rPr sz="2000" b="1" dirty="0" err="1">
                <a:solidFill>
                  <a:srgbClr val="12161A"/>
                </a:solidFill>
                <a:latin typeface="Noto Sans SC"/>
                <a:ea typeface="Noto Sans SC"/>
              </a:rPr>
              <a:t>条，约</a:t>
            </a:r>
            <a:r>
              <a:rPr sz="2000" b="1" dirty="0">
                <a:solidFill>
                  <a:srgbClr val="12161A"/>
                </a:solidFill>
                <a:latin typeface="Noto Sans SC"/>
                <a:ea typeface="Noto Sans SC"/>
              </a:rPr>
              <a:t> 28–32K </a:t>
            </a:r>
            <a:r>
              <a:rPr sz="2000" b="1" dirty="0" err="1">
                <a:solidFill>
                  <a:srgbClr val="12161A"/>
                </a:solidFill>
                <a:latin typeface="Noto Sans SC"/>
                <a:ea typeface="Noto Sans SC"/>
              </a:rPr>
              <a:t>合成</a:t>
            </a:r>
            <a:r>
              <a:rPr sz="2000" b="1" dirty="0">
                <a:solidFill>
                  <a:srgbClr val="12161A"/>
                </a:solidFill>
                <a:latin typeface="Noto Sans SC"/>
                <a:ea typeface="Noto Sans SC"/>
              </a:rPr>
              <a:t> QA</a:t>
            </a:r>
            <a:r>
              <a:rPr lang="zh-CN" altLang="en-US" sz="2000" b="1" dirty="0">
                <a:solidFill>
                  <a:srgbClr val="12161A"/>
                </a:solidFill>
                <a:latin typeface="Noto Sans SC"/>
                <a:ea typeface="Noto Sans SC"/>
              </a:rPr>
              <a:t>，数据过滤掉无用</a:t>
            </a:r>
            <a:r>
              <a:rPr lang="en-US" altLang="zh-CN" sz="2000" b="1" dirty="0">
                <a:solidFill>
                  <a:srgbClr val="12161A"/>
                </a:solidFill>
                <a:latin typeface="Noto Sans SC"/>
                <a:ea typeface="Noto Sans SC"/>
              </a:rPr>
              <a:t>QA</a:t>
            </a:r>
            <a:endParaRPr sz="2000" b="1" dirty="0">
              <a:solidFill>
                <a:srgbClr val="12161A"/>
              </a:solidFill>
              <a:latin typeface="Noto Sans SC"/>
              <a:ea typeface="Noto Sans SC"/>
            </a:endParaRPr>
          </a:p>
        </p:txBody>
      </p:sp>
      <p:sp>
        <p:nvSpPr>
          <p:cNvPr id="31" name="文本 阶段 II：2,560 条，最长 60K">
            <a:extLst>
              <a:ext uri="{FF2B5EF4-FFF2-40B4-BE49-F238E27FC236}">
                <a16:creationId xmlns:a16="http://schemas.microsoft.com/office/drawing/2014/main" id="{637B09BD-B4D1-2FD5-75C0-05D181B9168D}"/>
              </a:ext>
            </a:extLst>
          </p:cNvPr>
          <p:cNvSpPr>
            <a:spLocks noGrp="1"/>
          </p:cNvSpPr>
          <p:nvPr/>
        </p:nvSpPr>
        <p:spPr>
          <a:xfrm>
            <a:off x="779029" y="1627632"/>
            <a:ext cx="5797031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30000"/>
              </a:lnSpc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2161A"/>
                </a:solidFill>
                <a:latin typeface="Noto Sans SC"/>
                <a:ea typeface="Noto Sans SC"/>
              </a:rPr>
              <a:t>阶段</a:t>
            </a:r>
            <a:r>
              <a:rPr sz="2000" b="1" dirty="0">
                <a:solidFill>
                  <a:srgbClr val="12161A"/>
                </a:solidFill>
                <a:latin typeface="Noto Sans SC"/>
                <a:ea typeface="Noto Sans SC"/>
              </a:rPr>
              <a:t> </a:t>
            </a:r>
            <a:r>
              <a:rPr sz="2000" b="1" dirty="0" err="1">
                <a:solidFill>
                  <a:srgbClr val="12161A"/>
                </a:solidFill>
                <a:latin typeface="Noto Sans SC"/>
                <a:ea typeface="Noto Sans SC"/>
              </a:rPr>
              <a:t>II：</a:t>
            </a:r>
            <a:r>
              <a:rPr lang="en-US" altLang="zh-CN" sz="2000" b="1" dirty="0" err="1">
                <a:solidFill>
                  <a:srgbClr val="12161A"/>
                </a:solidFill>
                <a:latin typeface="Noto Sans SC"/>
                <a:ea typeface="Noto Sans SC"/>
              </a:rPr>
              <a:t>DocQA-RL</a:t>
            </a:r>
            <a:r>
              <a:rPr lang="en-US" altLang="zh-CN" sz="2000" b="1" dirty="0">
                <a:solidFill>
                  <a:srgbClr val="12161A"/>
                </a:solidFill>
                <a:latin typeface="Noto Sans SC"/>
                <a:ea typeface="Noto Sans SC"/>
              </a:rPr>
              <a:t>  </a:t>
            </a:r>
            <a:r>
              <a:rPr sz="2000" b="1" dirty="0">
                <a:solidFill>
                  <a:srgbClr val="12161A"/>
                </a:solidFill>
                <a:latin typeface="Noto Sans SC"/>
                <a:ea typeface="Noto Sans SC"/>
              </a:rPr>
              <a:t>2560 </a:t>
            </a:r>
            <a:r>
              <a:rPr sz="2000" b="1" dirty="0" err="1">
                <a:solidFill>
                  <a:srgbClr val="12161A"/>
                </a:solidFill>
                <a:latin typeface="Noto Sans SC"/>
                <a:ea typeface="Noto Sans SC"/>
              </a:rPr>
              <a:t>条，最长</a:t>
            </a:r>
            <a:r>
              <a:rPr sz="2000" b="1" dirty="0">
                <a:solidFill>
                  <a:srgbClr val="12161A"/>
                </a:solidFill>
                <a:latin typeface="Noto Sans SC"/>
                <a:ea typeface="Noto Sans SC"/>
              </a:rPr>
              <a:t> 60K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822655"/>
            <a:ext cx="10725912" cy="447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主实验：RULER-HQA</a:t>
            </a:r>
            <a:r>
              <a:rPr sz="2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 </a:t>
            </a:r>
          </a:p>
        </p:txBody>
      </p:sp>
      <p:pic>
        <p:nvPicPr>
          <p:cNvPr id="8" name="Picture 7" descr="tabl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42517"/>
            <a:ext cx="11692888" cy="3741724"/>
          </a:xfrm>
          <a:prstGeom prst="rect">
            <a:avLst/>
          </a:prstGeom>
        </p:spPr>
      </p:pic>
      <p:sp>
        <p:nvSpPr>
          <p:cNvPr id="15" name="全局顶部细线">
            <a:extLst>
              <a:ext uri="{FF2B5EF4-FFF2-40B4-BE49-F238E27FC236}">
                <a16:creationId xmlns:a16="http://schemas.microsoft.com/office/drawing/2014/main" id="{C96B7596-06F7-F8AF-DB36-AF6335AE80E5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17" name="文本 MemAgent  /  03 实验结果">
            <a:extLst>
              <a:ext uri="{FF2B5EF4-FFF2-40B4-BE49-F238E27FC236}">
                <a16:creationId xmlns:a16="http://schemas.microsoft.com/office/drawing/2014/main" id="{FF82192D-0B8E-4A5A-EDD4-C54E125EBC9F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03 实验结果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64E7F676-0BE5-EC2B-791A-DE1E4901EE70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9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F280854C-3A2D-4BE0-96B4-079B761CC821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68096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3.5M token </a:t>
            </a:r>
            <a:r>
              <a:rPr sz="30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上仍有</a:t>
            </a:r>
            <a:r>
              <a:rPr sz="30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 71 分</a:t>
            </a:r>
          </a:p>
        </p:txBody>
      </p:sp>
      <p:pic>
        <p:nvPicPr>
          <p:cNvPr id="8" name="Picture 7" descr="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2" y="1521460"/>
            <a:ext cx="11238358" cy="4567937"/>
          </a:xfrm>
          <a:prstGeom prst="rect">
            <a:avLst/>
          </a:prstGeom>
        </p:spPr>
      </p:pic>
      <p:sp>
        <p:nvSpPr>
          <p:cNvPr id="18" name="全局顶部细线">
            <a:extLst>
              <a:ext uri="{FF2B5EF4-FFF2-40B4-BE49-F238E27FC236}">
                <a16:creationId xmlns:a16="http://schemas.microsoft.com/office/drawing/2014/main" id="{C3C32808-45D1-A8A1-72FC-5F6A6C1C59CE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20" name="文本 MemAgent  /  03 实验结果">
            <a:extLst>
              <a:ext uri="{FF2B5EF4-FFF2-40B4-BE49-F238E27FC236}">
                <a16:creationId xmlns:a16="http://schemas.microsoft.com/office/drawing/2014/main" id="{1434972A-D147-87BE-BD28-547444AF123F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03 实验结果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32FA95B8-7CB2-70CE-02B4-47B7B5D67D26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8587802D-C768-E7D4-FCC4-D6E95098F1AC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732D-FC15-7E8E-FADA-B8304BEA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289FE4-0E2C-5035-77CC-38DA193BEBA9}"/>
              </a:ext>
            </a:extLst>
          </p:cNvPr>
          <p:cNvSpPr txBox="1"/>
          <p:nvPr/>
        </p:nvSpPr>
        <p:spPr>
          <a:xfrm>
            <a:off x="731520" y="539496"/>
            <a:ext cx="10725912" cy="447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主实验：</a:t>
            </a:r>
            <a:r>
              <a:rPr lang="en-US" altLang="zh-CN"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NIAH</a:t>
            </a:r>
            <a:endParaRPr sz="28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27D591-4E56-52DF-2F4B-04B7432D5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82" y="1057835"/>
            <a:ext cx="9596018" cy="5644717"/>
          </a:xfrm>
          <a:prstGeom prst="rect">
            <a:avLst/>
          </a:prstGeom>
        </p:spPr>
      </p:pic>
      <p:sp>
        <p:nvSpPr>
          <p:cNvPr id="9" name="全局顶部细线">
            <a:extLst>
              <a:ext uri="{FF2B5EF4-FFF2-40B4-BE49-F238E27FC236}">
                <a16:creationId xmlns:a16="http://schemas.microsoft.com/office/drawing/2014/main" id="{C6A309A2-493C-890F-CF65-B4CEF74D60D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11" name="文本 MemAgent  /  03 实验结果">
            <a:extLst>
              <a:ext uri="{FF2B5EF4-FFF2-40B4-BE49-F238E27FC236}">
                <a16:creationId xmlns:a16="http://schemas.microsoft.com/office/drawing/2014/main" id="{5BBDEC2C-DD83-1599-F62C-3CCCCC2BA548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03 实验结果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E0D389E5-B90E-DA09-0016-C92616FC9567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8A8DAA57-3418-EDF0-2F36-9701BFAF8DFF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2795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3C5F-BA98-19F1-4888-01C92A4D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1075E3-881F-DCE0-DF21-D3CA211F71AC}"/>
              </a:ext>
            </a:extLst>
          </p:cNvPr>
          <p:cNvSpPr txBox="1"/>
          <p:nvPr/>
        </p:nvSpPr>
        <p:spPr>
          <a:xfrm>
            <a:off x="731520" y="768096"/>
            <a:ext cx="10725912" cy="447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主实验：</a:t>
            </a:r>
            <a:r>
              <a:rPr lang="en-US"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LongBench-QA</a:t>
            </a:r>
            <a:r>
              <a:rPr sz="2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16EB22-2414-43A6-0A4F-51B89E439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665" y="1543565"/>
            <a:ext cx="9881638" cy="4171950"/>
          </a:xfrm>
          <a:prstGeom prst="rect">
            <a:avLst/>
          </a:prstGeom>
        </p:spPr>
      </p:pic>
      <p:sp>
        <p:nvSpPr>
          <p:cNvPr id="9" name="全局顶部细线">
            <a:extLst>
              <a:ext uri="{FF2B5EF4-FFF2-40B4-BE49-F238E27FC236}">
                <a16:creationId xmlns:a16="http://schemas.microsoft.com/office/drawing/2014/main" id="{FDBCFF52-394B-742D-C22A-1EF13EAF2F9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11" name="文本 MemAgent  /  03 实验结果">
            <a:extLst>
              <a:ext uri="{FF2B5EF4-FFF2-40B4-BE49-F238E27FC236}">
                <a16:creationId xmlns:a16="http://schemas.microsoft.com/office/drawing/2014/main" id="{C5E8BA1F-32FF-7530-92F6-242B6F961252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03 实验结果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C8499A9D-87B8-9605-16AF-3BB734D80F6B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全局右下角标">
            <a:extLst>
              <a:ext uri="{FF2B5EF4-FFF2-40B4-BE49-F238E27FC236}">
                <a16:creationId xmlns:a16="http://schemas.microsoft.com/office/drawing/2014/main" id="{E63E4C50-9BC8-2236-D08A-E7C202F8AE33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4422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E8E5-0608-7FCB-4B43-8FBB81BF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7906F8-38BA-9228-0442-C1398260738E}"/>
              </a:ext>
            </a:extLst>
          </p:cNvPr>
          <p:cNvSpPr txBox="1"/>
          <p:nvPr/>
        </p:nvSpPr>
        <p:spPr>
          <a:xfrm>
            <a:off x="731520" y="768096"/>
            <a:ext cx="10725912" cy="447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主实验：</a:t>
            </a:r>
            <a:r>
              <a:rPr lang="en-US"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LongBench-</a:t>
            </a:r>
            <a:r>
              <a:rPr lang="en-US" altLang="zh-CN"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SUM</a:t>
            </a:r>
            <a:r>
              <a:rPr sz="2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BB7137-904C-86C9-7803-818D7E07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20" y="1399033"/>
            <a:ext cx="10412380" cy="4800599"/>
          </a:xfrm>
          <a:prstGeom prst="rect">
            <a:avLst/>
          </a:prstGeom>
        </p:spPr>
      </p:pic>
      <p:sp>
        <p:nvSpPr>
          <p:cNvPr id="9" name="全局顶部细线">
            <a:extLst>
              <a:ext uri="{FF2B5EF4-FFF2-40B4-BE49-F238E27FC236}">
                <a16:creationId xmlns:a16="http://schemas.microsoft.com/office/drawing/2014/main" id="{481CE509-50E4-1BDD-2B0E-BCA3D1CFDE44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11" name="文本 MemAgent  /  03 实验结果">
            <a:extLst>
              <a:ext uri="{FF2B5EF4-FFF2-40B4-BE49-F238E27FC236}">
                <a16:creationId xmlns:a16="http://schemas.microsoft.com/office/drawing/2014/main" id="{81424121-F358-1685-5F62-B23335AD6408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03 实验结果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94059702-7A17-64C8-83D1-BCDDB3AA45FF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307FF023-B2F3-9D24-AD9C-12A288566B72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864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全局顶部细线">
            <a:extLst>
              <a:ext uri="{FF2B5EF4-FFF2-40B4-BE49-F238E27FC236}">
                <a16:creationId xmlns:a16="http://schemas.microsoft.com/office/drawing/2014/main" id="{2A04502C-95FA-4821-BECA-582A25F4575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3" name="文本 MemAgent  /  03 实验结果">
            <a:extLst>
              <a:ext uri="{FF2B5EF4-FFF2-40B4-BE49-F238E27FC236}">
                <a16:creationId xmlns:a16="http://schemas.microsoft.com/office/drawing/2014/main" id="{A9286B90-BA57-45C9-A38B-0EA3B55E2D68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03 实验结果</a:t>
            </a:r>
          </a:p>
        </p:txBody>
      </p:sp>
      <p:sp>
        <p:nvSpPr>
          <p:cNvPr id="4" name="文本 消融：流程有效，RL 仍然关键">
            <a:extLst>
              <a:ext uri="{FF2B5EF4-FFF2-40B4-BE49-F238E27FC236}">
                <a16:creationId xmlns:a16="http://schemas.microsoft.com/office/drawing/2014/main" id="{7B3F8EB3-EDE3-4F12-8E81-E6AFF69BD448}"/>
              </a:ext>
            </a:extLst>
          </p:cNvPr>
          <p:cNvSpPr>
            <a:spLocks noGrp="1"/>
          </p:cNvSpPr>
          <p:nvPr/>
        </p:nvSpPr>
        <p:spPr>
          <a:xfrm>
            <a:off x="609600" y="615059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</a:pPr>
            <a:r>
              <a:rPr lang="zh-CN" altLang="en-US" sz="3200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消融：流程 </a:t>
            </a:r>
            <a:r>
              <a:rPr lang="en-US" altLang="zh-CN" sz="3200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or RL </a:t>
            </a:r>
            <a:r>
              <a:rPr lang="zh-CN" altLang="en-US" sz="3200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B889F8-76ED-470E-A660-7F0453936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454" y="1428749"/>
            <a:ext cx="5122370" cy="43148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4826006-5C88-4425-9AFF-E8A71ED47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62877" y="1428749"/>
            <a:ext cx="5122370" cy="4314825"/>
          </a:xfrm>
          <a:prstGeom prst="rect">
            <a:avLst/>
          </a:prstGeom>
        </p:spPr>
      </p:pic>
      <p:sp>
        <p:nvSpPr>
          <p:cNvPr id="7" name="文本 未训练的记忆流程，仍会随长度增加而退化">
            <a:extLst>
              <a:ext uri="{FF2B5EF4-FFF2-40B4-BE49-F238E27FC236}">
                <a16:creationId xmlns:a16="http://schemas.microsoft.com/office/drawing/2014/main" id="{A0DC0386-8B85-42A3-B646-EFDDAF0626C7}"/>
              </a:ext>
            </a:extLst>
          </p:cNvPr>
          <p:cNvSpPr>
            <a:spLocks noGrp="1"/>
          </p:cNvSpPr>
          <p:nvPr/>
        </p:nvSpPr>
        <p:spPr>
          <a:xfrm>
            <a:off x="781454" y="6049008"/>
            <a:ext cx="10896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未训练的记忆流程，仍会随长度增加而退化</a:t>
            </a:r>
            <a:endParaRPr sz="2100" b="1" dirty="0">
              <a:solidFill>
                <a:srgbClr val="15365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38DF2306-7E68-B88E-EB5D-503B38B44D04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全局右下角标">
            <a:extLst>
              <a:ext uri="{FF2B5EF4-FFF2-40B4-BE49-F238E27FC236}">
                <a16:creationId xmlns:a16="http://schemas.microsoft.com/office/drawing/2014/main" id="{AC50CC21-9DB1-C0D0-00D5-DC3A6052DCC4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589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561303"/>
            <a:ext cx="10725912" cy="447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altLang="en-US" sz="2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消融</a:t>
            </a:r>
            <a:r>
              <a:rPr sz="2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：</a:t>
            </a:r>
            <a:r>
              <a:rPr lang="zh-CN" altLang="en-US" sz="2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记忆</a:t>
            </a:r>
            <a:r>
              <a:rPr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容量与</a:t>
            </a:r>
            <a:r>
              <a:rPr lang="zh-CN" altLang="en-US" sz="2800" b="1" dirty="0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证据</a:t>
            </a:r>
            <a:r>
              <a:rPr sz="2800" b="1" dirty="0" err="1">
                <a:solidFill>
                  <a:srgbClr val="12161A"/>
                </a:solidFill>
                <a:latin typeface="Noto Serif SC"/>
                <a:ea typeface="Noto Serif SC"/>
                <a:cs typeface="Noto Serif SC"/>
              </a:rPr>
              <a:t>位置</a:t>
            </a:r>
            <a:endParaRPr sz="2800" b="1" dirty="0">
              <a:solidFill>
                <a:srgbClr val="12161A"/>
              </a:solidFill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8" name="Picture 7" descr="fig9.png"/>
          <p:cNvPicPr>
            <a:picLocks noChangeAspect="1"/>
          </p:cNvPicPr>
          <p:nvPr/>
        </p:nvPicPr>
        <p:blipFill>
          <a:blip r:embed="rId3"/>
          <a:srcRect t="13110"/>
          <a:stretch>
            <a:fillRect/>
          </a:stretch>
        </p:blipFill>
        <p:spPr>
          <a:xfrm>
            <a:off x="222589" y="1109943"/>
            <a:ext cx="11746822" cy="2201489"/>
          </a:xfrm>
          <a:prstGeom prst="rect">
            <a:avLst/>
          </a:prstGeom>
        </p:spPr>
      </p:pic>
      <p:pic>
        <p:nvPicPr>
          <p:cNvPr id="10" name="Picture 9" descr="tabl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31" y="3504618"/>
            <a:ext cx="9908637" cy="3200982"/>
          </a:xfrm>
          <a:prstGeom prst="rect">
            <a:avLst/>
          </a:prstGeom>
        </p:spPr>
      </p:pic>
      <p:sp>
        <p:nvSpPr>
          <p:cNvPr id="13" name="全局顶部细线">
            <a:extLst>
              <a:ext uri="{FF2B5EF4-FFF2-40B4-BE49-F238E27FC236}">
                <a16:creationId xmlns:a16="http://schemas.microsoft.com/office/drawing/2014/main" id="{C59761A6-1F8C-0339-1458-19A2DD9F22E7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15" name="文本 MemAgent  /  03 实验结果">
            <a:extLst>
              <a:ext uri="{FF2B5EF4-FFF2-40B4-BE49-F238E27FC236}">
                <a16:creationId xmlns:a16="http://schemas.microsoft.com/office/drawing/2014/main" id="{BB59EA73-9755-A7B6-153A-1AD27A17E66F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03 实验结果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37D6C4E4-C4CC-39B1-A320-D162FFAF8458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全局右下角标">
            <a:extLst>
              <a:ext uri="{FF2B5EF4-FFF2-40B4-BE49-F238E27FC236}">
                <a16:creationId xmlns:a16="http://schemas.microsoft.com/office/drawing/2014/main" id="{0C7508A7-3050-064D-79A5-9E0D762D122B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全局顶部细线">
            <a:extLst>
              <a:ext uri="{FF2B5EF4-FFF2-40B4-BE49-F238E27FC236}">
                <a16:creationId xmlns:a16="http://schemas.microsoft.com/office/drawing/2014/main" id="{E37A1441-6D67-49F1-B07A-F7717756E30B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3" name="文本 MemAgent  /  附录补充">
            <a:extLst>
              <a:ext uri="{FF2B5EF4-FFF2-40B4-BE49-F238E27FC236}">
                <a16:creationId xmlns:a16="http://schemas.microsoft.com/office/drawing/2014/main" id="{A618DF29-442F-4747-9DCE-92F0C34BC170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附录补充</a:t>
            </a:r>
          </a:p>
        </p:txBody>
      </p:sp>
      <p:sp>
        <p:nvSpPr>
          <p:cNvPr id="4" name="文本 计算成本随文档长度线性增长">
            <a:extLst>
              <a:ext uri="{FF2B5EF4-FFF2-40B4-BE49-F238E27FC236}">
                <a16:creationId xmlns:a16="http://schemas.microsoft.com/office/drawing/2014/main" id="{9896D401-A1B4-4DEA-A174-2F59848D5CC2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计算成本随文档长度线性增长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126966-B272-4A81-93ED-52D1BA8E4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469289"/>
            <a:ext cx="7191375" cy="3871796"/>
          </a:xfrm>
          <a:prstGeom prst="rect">
            <a:avLst/>
          </a:prstGeom>
        </p:spPr>
      </p:pic>
      <p:sp>
        <p:nvSpPr>
          <p:cNvPr id="6" name="文本 固定每轮输入与输出预算">
            <a:extLst>
              <a:ext uri="{FF2B5EF4-FFF2-40B4-BE49-F238E27FC236}">
                <a16:creationId xmlns:a16="http://schemas.microsoft.com/office/drawing/2014/main" id="{9DFEC1B1-0A34-4BD8-BA57-ED5034403549}"/>
              </a:ext>
            </a:extLst>
          </p:cNvPr>
          <p:cNvSpPr>
            <a:spLocks noGrp="1"/>
          </p:cNvSpPr>
          <p:nvPr/>
        </p:nvSpPr>
        <p:spPr>
          <a:xfrm>
            <a:off x="8115300" y="1762125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固定每轮输入与输出预算</a:t>
            </a:r>
          </a:p>
        </p:txBody>
      </p:sp>
      <p:sp>
        <p:nvSpPr>
          <p:cNvPr id="7" name="文本 总成本随分块轮数增长">
            <a:extLst>
              <a:ext uri="{FF2B5EF4-FFF2-40B4-BE49-F238E27FC236}">
                <a16:creationId xmlns:a16="http://schemas.microsoft.com/office/drawing/2014/main" id="{D380C3E4-4E1F-46F3-9A34-219F4C7C20F4}"/>
              </a:ext>
            </a:extLst>
          </p:cNvPr>
          <p:cNvSpPr>
            <a:spLocks noGrp="1"/>
          </p:cNvSpPr>
          <p:nvPr/>
        </p:nvSpPr>
        <p:spPr>
          <a:xfrm>
            <a:off x="8115300" y="2819400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总成本随分块轮数增长</a:t>
            </a:r>
          </a:p>
        </p:txBody>
      </p:sp>
      <p:sp>
        <p:nvSpPr>
          <p:cNvPr id="8" name="文本 图中是 FLOPs 估算">
            <a:extLst>
              <a:ext uri="{FF2B5EF4-FFF2-40B4-BE49-F238E27FC236}">
                <a16:creationId xmlns:a16="http://schemas.microsoft.com/office/drawing/2014/main" id="{A6179B46-54EA-4064-AF4D-699231D77447}"/>
              </a:ext>
            </a:extLst>
          </p:cNvPr>
          <p:cNvSpPr>
            <a:spLocks noGrp="1"/>
          </p:cNvSpPr>
          <p:nvPr/>
        </p:nvSpPr>
        <p:spPr>
          <a:xfrm>
            <a:off x="8115300" y="3876675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图中是</a:t>
            </a:r>
            <a:r>
              <a:rPr sz="202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 FLOPs </a:t>
            </a:r>
            <a:r>
              <a:rPr sz="2025" b="0" dirty="0" err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估算</a:t>
            </a:r>
            <a:endParaRPr sz="202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文本 线性复杂度不等于低延迟">
            <a:extLst>
              <a:ext uri="{FF2B5EF4-FFF2-40B4-BE49-F238E27FC236}">
                <a16:creationId xmlns:a16="http://schemas.microsoft.com/office/drawing/2014/main" id="{33CB763C-D1A3-4F93-9160-D42E3822831D}"/>
              </a:ext>
            </a:extLst>
          </p:cNvPr>
          <p:cNvSpPr>
            <a:spLocks noGrp="1"/>
          </p:cNvSpPr>
          <p:nvPr/>
        </p:nvSpPr>
        <p:spPr>
          <a:xfrm>
            <a:off x="2650490" y="5438774"/>
            <a:ext cx="400558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线性复杂度不等于低延迟</a:t>
            </a:r>
            <a:endParaRPr sz="2100" b="1" dirty="0">
              <a:solidFill>
                <a:srgbClr val="15365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73BAEC82-0C0D-035D-5391-6DB345FCE0F0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全局右下角标">
            <a:extLst>
              <a:ext uri="{FF2B5EF4-FFF2-40B4-BE49-F238E27FC236}">
                <a16:creationId xmlns:a16="http://schemas.microsoft.com/office/drawing/2014/main" id="{061E869E-D037-55F0-0E7E-BC5CC2E98AF4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7208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全局顶部细线">
            <a:extLst>
              <a:ext uri="{FF2B5EF4-FFF2-40B4-BE49-F238E27FC236}">
                <a16:creationId xmlns:a16="http://schemas.microsoft.com/office/drawing/2014/main" id="{9CA02C11-120F-49B1-8D96-9EA547E04B11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3" name="文本 MemAgent  /  附录补充">
            <a:extLst>
              <a:ext uri="{FF2B5EF4-FFF2-40B4-BE49-F238E27FC236}">
                <a16:creationId xmlns:a16="http://schemas.microsoft.com/office/drawing/2014/main" id="{5000A92C-B79F-41B8-8E9A-6816F85A885C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附录补充</a:t>
            </a:r>
          </a:p>
        </p:txBody>
      </p:sp>
      <p:sp>
        <p:nvSpPr>
          <p:cNvPr id="4" name="文本 案例：新证据进入记忆后持续保留">
            <a:extLst>
              <a:ext uri="{FF2B5EF4-FFF2-40B4-BE49-F238E27FC236}">
                <a16:creationId xmlns:a16="http://schemas.microsoft.com/office/drawing/2014/main" id="{B135CF1F-F46C-466E-A13E-04AA2D0701C0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案例：新证据进入记忆后持续保留</a:t>
            </a:r>
          </a:p>
        </p:txBody>
      </p:sp>
      <p:sp>
        <p:nvSpPr>
          <p:cNvPr id="5" name="文本 问题：电影 Big Stone Gap ">
            <a:extLst>
              <a:ext uri="{FF2B5EF4-FFF2-40B4-BE49-F238E27FC236}">
                <a16:creationId xmlns:a16="http://schemas.microsoft.com/office/drawing/2014/main" id="{8EF2947C-5EC0-4283-BDFD-621506DB7371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rPr>
              <a:t>问题：电影 Big Stone Gap 的导演在纽约的哪里？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6D75FF-D760-4730-8271-AE274D488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3156411"/>
            <a:ext cx="10744200" cy="688052"/>
          </a:xfrm>
          <a:prstGeom prst="rect">
            <a:avLst/>
          </a:prstGeom>
        </p:spPr>
      </p:pic>
      <p:sp>
        <p:nvSpPr>
          <p:cNvPr id="7" name="文本 第三块同时出现电影与导演条目，随后保持答">
            <a:extLst>
              <a:ext uri="{FF2B5EF4-FFF2-40B4-BE49-F238E27FC236}">
                <a16:creationId xmlns:a16="http://schemas.microsoft.com/office/drawing/2014/main" id="{D9F86E67-EE20-430C-A0EC-732375AEED2F}"/>
              </a:ext>
            </a:extLst>
          </p:cNvPr>
          <p:cNvSpPr>
            <a:spLocks noGrp="1"/>
          </p:cNvSpPr>
          <p:nvPr/>
        </p:nvSpPr>
        <p:spPr>
          <a:xfrm>
            <a:off x="742950" y="4695825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rPr>
              <a:t>第三块同时出现电影与导演条目，随后保持答案线索</a:t>
            </a:r>
          </a:p>
        </p:txBody>
      </p:sp>
      <p:sp>
        <p:nvSpPr>
          <p:cNvPr id="8" name="文本 两条关键事实在同一块出现，不能视为跨块两">
            <a:extLst>
              <a:ext uri="{FF2B5EF4-FFF2-40B4-BE49-F238E27FC236}">
                <a16:creationId xmlns:a16="http://schemas.microsoft.com/office/drawing/2014/main" id="{6092425B-D916-44AF-A34D-B158DA6191C0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96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两条关键事实在同一块出现，不能视为跨块两跳的独立证据</a:t>
            </a: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4E051A58-C8C6-5603-F5C8-1DD90A6351F3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全局右下角标">
            <a:extLst>
              <a:ext uri="{FF2B5EF4-FFF2-40B4-BE49-F238E27FC236}">
                <a16:creationId xmlns:a16="http://schemas.microsoft.com/office/drawing/2014/main" id="{B5834404-E91F-BC45-5D1C-3D293242BA47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176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全局顶部细线">
            <a:extLst>
              <a:ext uri="{FF2B5EF4-FFF2-40B4-BE49-F238E27FC236}">
                <a16:creationId xmlns:a16="http://schemas.microsoft.com/office/drawing/2014/main" id="{E19DD393-DB25-4E3C-839C-DF9A3D072BA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3" name="文本 MemAgent  /  附录补充">
            <a:extLst>
              <a:ext uri="{FF2B5EF4-FFF2-40B4-BE49-F238E27FC236}">
                <a16:creationId xmlns:a16="http://schemas.microsoft.com/office/drawing/2014/main" id="{65D20A92-295B-460A-B578-7DB5E137808E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附录补充</a:t>
            </a:r>
          </a:p>
        </p:txBody>
      </p:sp>
      <p:sp>
        <p:nvSpPr>
          <p:cNvPr id="4" name="文本 失败：证据会丢失，也会提前漏记">
            <a:extLst>
              <a:ext uri="{FF2B5EF4-FFF2-40B4-BE49-F238E27FC236}">
                <a16:creationId xmlns:a16="http://schemas.microsoft.com/office/drawing/2014/main" id="{E6290534-52F0-486E-8706-36F50066707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失败：证据会丢失，也会提前漏记</a:t>
            </a:r>
          </a:p>
        </p:txBody>
      </p:sp>
      <p:sp>
        <p:nvSpPr>
          <p:cNvPr id="5" name="文本 F.1　Turn 289 已读到，Tur">
            <a:extLst>
              <a:ext uri="{FF2B5EF4-FFF2-40B4-BE49-F238E27FC236}">
                <a16:creationId xmlns:a16="http://schemas.microsoft.com/office/drawing/2014/main" id="{F3B68AC4-6AE5-4364-B572-7355C94289AD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rPr>
              <a:t>F.1　Turn 289 已读到，Turn 290 尾部截断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6A43BF-C266-4A84-A084-624A6E72B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852416"/>
            <a:ext cx="10744200" cy="867167"/>
          </a:xfrm>
          <a:prstGeom prst="rect">
            <a:avLst/>
          </a:prstGeom>
        </p:spPr>
      </p:pic>
      <p:sp>
        <p:nvSpPr>
          <p:cNvPr id="7" name="文本 F.2　Turn 143 未保留，Tur">
            <a:extLst>
              <a:ext uri="{FF2B5EF4-FFF2-40B4-BE49-F238E27FC236}">
                <a16:creationId xmlns:a16="http://schemas.microsoft.com/office/drawing/2014/main" id="{A2BDB7AB-4400-45CB-86B6-68094A22A081}"/>
              </a:ext>
            </a:extLst>
          </p:cNvPr>
          <p:cNvSpPr>
            <a:spLocks noGrp="1"/>
          </p:cNvSpPr>
          <p:nvPr/>
        </p:nvSpPr>
        <p:spPr>
          <a:xfrm>
            <a:off x="723900" y="3152775"/>
            <a:ext cx="107442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rPr>
              <a:t>F.2　Turn 143 未保留，Turn 215 才看到关联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906ED7-33C1-4EE3-A2F9-4042FF9B6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70998" y="3743325"/>
            <a:ext cx="9050003" cy="1381125"/>
          </a:xfrm>
          <a:prstGeom prst="rect">
            <a:avLst/>
          </a:prstGeom>
        </p:spPr>
      </p:pic>
      <p:sp>
        <p:nvSpPr>
          <p:cNvPr id="9" name="文本 读到后遭截断，与首次未识别为证据，是两类">
            <a:extLst>
              <a:ext uri="{FF2B5EF4-FFF2-40B4-BE49-F238E27FC236}">
                <a16:creationId xmlns:a16="http://schemas.microsoft.com/office/drawing/2014/main" id="{F5FDDD00-4804-4F73-B447-68FCDF3CB85E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96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读到后遭截断，与首次未识别为证据，是两类失败</a:t>
            </a: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25CEB1F2-DFA9-0D0B-4E38-745D177BF59B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全局右下角标">
            <a:extLst>
              <a:ext uri="{FF2B5EF4-FFF2-40B4-BE49-F238E27FC236}">
                <a16:creationId xmlns:a16="http://schemas.microsoft.com/office/drawing/2014/main" id="{62EBE9BA-26B3-87E2-9F91-1D3CDD028C2A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374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全局顶部细线">
            <a:extLst>
              <a:ext uri="{FF2B5EF4-FFF2-40B4-BE49-F238E27FC236}">
                <a16:creationId xmlns:a16="http://schemas.microsoft.com/office/drawing/2014/main" id="{07AFEFC0-5390-436E-B6F2-12DB35778A4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3" name="文本 MemAgent  /  附录补充">
            <a:extLst>
              <a:ext uri="{FF2B5EF4-FFF2-40B4-BE49-F238E27FC236}">
                <a16:creationId xmlns:a16="http://schemas.microsoft.com/office/drawing/2014/main" id="{0217895C-3EE9-4F17-9730-47DE53154D5C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附录补充</a:t>
            </a:r>
          </a:p>
        </p:txBody>
      </p:sp>
      <p:sp>
        <p:nvSpPr>
          <p:cNvPr id="4" name="文本 失败：保留事实，也可能坚持错误解释">
            <a:extLst>
              <a:ext uri="{FF2B5EF4-FFF2-40B4-BE49-F238E27FC236}">
                <a16:creationId xmlns:a16="http://schemas.microsoft.com/office/drawing/2014/main" id="{C9602B01-ADB1-4081-81A9-CE16E7945CD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失败：保留事实，也可能坚持错误解释</a:t>
            </a:r>
          </a:p>
        </p:txBody>
      </p:sp>
      <p:sp>
        <p:nvSpPr>
          <p:cNvPr id="5" name="文本 记忆中的正确事实：Brown Count">
            <a:extLst>
              <a:ext uri="{FF2B5EF4-FFF2-40B4-BE49-F238E27FC236}">
                <a16:creationId xmlns:a16="http://schemas.microsoft.com/office/drawing/2014/main" id="{E0E1BE5A-7F86-4BC4-A674-983B68DC2CC2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107442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rPr>
              <a:t>记忆中的正确事实：Brown County 人口 9,984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160CC0-255D-4B24-98F3-50732C18C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292114"/>
            <a:ext cx="10744200" cy="444971"/>
          </a:xfrm>
          <a:prstGeom prst="rect">
            <a:avLst/>
          </a:prstGeom>
        </p:spPr>
      </p:pic>
      <p:sp>
        <p:nvSpPr>
          <p:cNvPr id="7" name="文本 模型仍按 country（国家）解释问题">
            <a:extLst>
              <a:ext uri="{FF2B5EF4-FFF2-40B4-BE49-F238E27FC236}">
                <a16:creationId xmlns:a16="http://schemas.microsoft.com/office/drawing/2014/main" id="{E0441146-490D-410C-A292-26A0E7DEE25A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107442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rPr>
              <a:t>模型仍按 country（国家）解释问题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5262D9-91D7-4CDF-BB77-FF8671CEC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4134747"/>
            <a:ext cx="10744200" cy="960230"/>
          </a:xfrm>
          <a:prstGeom prst="rect">
            <a:avLst/>
          </a:prstGeom>
        </p:spPr>
      </p:pic>
      <p:sp>
        <p:nvSpPr>
          <p:cNvPr id="9" name="文本 Brown County 的 9,984">
            <a:extLst>
              <a:ext uri="{FF2B5EF4-FFF2-40B4-BE49-F238E27FC236}">
                <a16:creationId xmlns:a16="http://schemas.microsoft.com/office/drawing/2014/main" id="{352D634E-D977-4327-8AA4-E0D96DF26791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96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Brown County 的 9,984 已在记忆中，答案仍指向美国人口</a:t>
            </a: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F460C91D-027E-4080-F3CF-F3B1F3B474A3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全局右下角标">
            <a:extLst>
              <a:ext uri="{FF2B5EF4-FFF2-40B4-BE49-F238E27FC236}">
                <a16:creationId xmlns:a16="http://schemas.microsoft.com/office/drawing/2014/main" id="{47D0CB24-FE7D-4AF9-2DD3-F41FDF5FB116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9474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全局顶部细线">
            <a:extLst>
              <a:ext uri="{FF2B5EF4-FFF2-40B4-BE49-F238E27FC236}">
                <a16:creationId xmlns:a16="http://schemas.microsoft.com/office/drawing/2014/main" id="{7DD17DC8-326A-45B9-9FF3-FABE7E9B887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4" name="文本 B1　完整 RL 目标与共享优势">
            <a:extLst>
              <a:ext uri="{FF2B5EF4-FFF2-40B4-BE49-F238E27FC236}">
                <a16:creationId xmlns:a16="http://schemas.microsoft.com/office/drawing/2014/main" id="{9D1712A7-4EE3-4861-8781-71CEC2F1755F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B1　完整 RL 目标与共享优势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5EB885-8396-4648-B40E-22FD6FCFA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5323" y="1257300"/>
            <a:ext cx="10223254" cy="29337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58316F2-C494-49C6-A701-FFB80AAEB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2950" y="4747097"/>
            <a:ext cx="4857750" cy="3356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61E7B4-55F6-4B1C-A7CF-0A6B7AB8F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2700" y="4720059"/>
            <a:ext cx="5105400" cy="389682"/>
          </a:xfrm>
          <a:prstGeom prst="rect">
            <a:avLst/>
          </a:prstGeom>
        </p:spPr>
      </p:pic>
      <p:sp>
        <p:nvSpPr>
          <p:cNvPr id="8" name="文本 正文公式优化全部轮次；附录算法框存在简化">
            <a:extLst>
              <a:ext uri="{FF2B5EF4-FFF2-40B4-BE49-F238E27FC236}">
                <a16:creationId xmlns:a16="http://schemas.microsoft.com/office/drawing/2014/main" id="{3F6DC7FF-BF7E-436B-A814-D8FC676BC30F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96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正文公式优化全部轮次；附录算法框存在简化差异</a:t>
            </a: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0DD639E7-5ABC-85E1-8C60-1089FC1C35EB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全局右下角标">
            <a:extLst>
              <a:ext uri="{FF2B5EF4-FFF2-40B4-BE49-F238E27FC236}">
                <a16:creationId xmlns:a16="http://schemas.microsoft.com/office/drawing/2014/main" id="{AEBE24D2-5A45-6503-E2D8-49219F874556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文本 MemAgent  /  附录补充">
            <a:extLst>
              <a:ext uri="{FF2B5EF4-FFF2-40B4-BE49-F238E27FC236}">
                <a16:creationId xmlns:a16="http://schemas.microsoft.com/office/drawing/2014/main" id="{CE92C854-3543-45C1-00BA-E5112181A31A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附录补充</a:t>
            </a:r>
          </a:p>
        </p:txBody>
      </p:sp>
    </p:spTree>
    <p:extLst>
      <p:ext uri="{BB962C8B-B14F-4D97-AF65-F5344CB8AC3E}">
        <p14:creationId xmlns:p14="http://schemas.microsoft.com/office/powerpoint/2010/main" val="2026938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全局顶部细线">
            <a:extLst>
              <a:ext uri="{FF2B5EF4-FFF2-40B4-BE49-F238E27FC236}">
                <a16:creationId xmlns:a16="http://schemas.microsoft.com/office/drawing/2014/main" id="{16DC01C5-1B96-44F9-8AAD-D236E2299CA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4" name="文本 B2　形式化模型的条件与边界">
            <a:extLst>
              <a:ext uri="{FF2B5EF4-FFF2-40B4-BE49-F238E27FC236}">
                <a16:creationId xmlns:a16="http://schemas.microsoft.com/office/drawing/2014/main" id="{F629F829-E71C-4B7E-A13B-213178F03C8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B2　形式化模型的条件与边界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AEED7F-14D4-4463-A5F2-307C1B73A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7692" y="1276350"/>
            <a:ext cx="6096616" cy="27146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0DC2ED7-BB13-499D-92CE-E8CCD8F10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33650" y="4429125"/>
            <a:ext cx="7124700" cy="838200"/>
          </a:xfrm>
          <a:prstGeom prst="rect">
            <a:avLst/>
          </a:prstGeom>
        </p:spPr>
      </p:pic>
      <p:sp>
        <p:nvSpPr>
          <p:cNvPr id="7" name="文本 读写分解是作者建模视角，不能推出无损压缩">
            <a:extLst>
              <a:ext uri="{FF2B5EF4-FFF2-40B4-BE49-F238E27FC236}">
                <a16:creationId xmlns:a16="http://schemas.microsoft.com/office/drawing/2014/main" id="{4031413D-A4D3-4022-8182-B958377271F7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96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读写分解是作者建模视角，不能推出无损压缩保证</a:t>
            </a: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DD60710B-063B-2834-9B08-68606313E9C6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全局右下角标">
            <a:extLst>
              <a:ext uri="{FF2B5EF4-FFF2-40B4-BE49-F238E27FC236}">
                <a16:creationId xmlns:a16="http://schemas.microsoft.com/office/drawing/2014/main" id="{E6D2EAED-6408-F8A6-5A44-180935A57D12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文本 MemAgent  /  附录补充">
            <a:extLst>
              <a:ext uri="{FF2B5EF4-FFF2-40B4-BE49-F238E27FC236}">
                <a16:creationId xmlns:a16="http://schemas.microsoft.com/office/drawing/2014/main" id="{DC8B3E26-D80F-1305-23F4-3540C8D34BEC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附录补充</a:t>
            </a:r>
          </a:p>
        </p:txBody>
      </p:sp>
    </p:spTree>
    <p:extLst>
      <p:ext uri="{BB962C8B-B14F-4D97-AF65-F5344CB8AC3E}">
        <p14:creationId xmlns:p14="http://schemas.microsoft.com/office/powerpoint/2010/main" val="651513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全局顶部细线">
            <a:extLst>
              <a:ext uri="{FF2B5EF4-FFF2-40B4-BE49-F238E27FC236}">
                <a16:creationId xmlns:a16="http://schemas.microsoft.com/office/drawing/2014/main" id="{306D8D92-AD66-4585-9055-8AA2140EAA81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4" name="文本 B7　固定总预算下的容量取舍">
            <a:extLst>
              <a:ext uri="{FF2B5EF4-FFF2-40B4-BE49-F238E27FC236}">
                <a16:creationId xmlns:a16="http://schemas.microsoft.com/office/drawing/2014/main" id="{964D2EBA-80E7-418C-80B6-D3C58294540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 dirty="0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lang="en-US" dirty="0"/>
              <a:t>3</a:t>
            </a:r>
            <a:r>
              <a:rPr sz="3075" b="1" dirty="0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3075" b="1" dirty="0" err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固定总预算下的容量取舍</a:t>
            </a:r>
            <a:endParaRPr sz="3075" b="1" dirty="0">
              <a:solidFill>
                <a:srgbClr val="15365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2605C2-5E68-409A-ADF7-DC12D3D5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21507"/>
            <a:ext cx="10972800" cy="3519737"/>
          </a:xfrm>
          <a:prstGeom prst="rect">
            <a:avLst/>
          </a:prstGeom>
        </p:spPr>
      </p:pic>
      <p:sp>
        <p:nvSpPr>
          <p:cNvPr id="6" name="文本 memory＋chunk＝6024 to">
            <a:extLst>
              <a:ext uri="{FF2B5EF4-FFF2-40B4-BE49-F238E27FC236}">
                <a16:creationId xmlns:a16="http://schemas.microsoft.com/office/drawing/2014/main" id="{6C98374F-B65F-422D-ABDD-7C74E5634651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96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memory＋chunk＝6024 tokens；两项参数同时变化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D1BE5622-5569-A486-E5C2-31C0D78166AE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全局右下角标">
            <a:extLst>
              <a:ext uri="{FF2B5EF4-FFF2-40B4-BE49-F238E27FC236}">
                <a16:creationId xmlns:a16="http://schemas.microsoft.com/office/drawing/2014/main" id="{B6CD82C6-E44B-0061-7255-301563E4E1AF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文本 MemAgent  /  附录补充">
            <a:extLst>
              <a:ext uri="{FF2B5EF4-FFF2-40B4-BE49-F238E27FC236}">
                <a16:creationId xmlns:a16="http://schemas.microsoft.com/office/drawing/2014/main" id="{DA2E3ECD-A788-4125-0210-12EA337734E6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附录补充</a:t>
            </a:r>
          </a:p>
        </p:txBody>
      </p:sp>
    </p:spTree>
    <p:extLst>
      <p:ext uri="{BB962C8B-B14F-4D97-AF65-F5344CB8AC3E}">
        <p14:creationId xmlns:p14="http://schemas.microsoft.com/office/powerpoint/2010/main" val="1379308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全局顶部细线">
            <a:extLst>
              <a:ext uri="{FF2B5EF4-FFF2-40B4-BE49-F238E27FC236}">
                <a16:creationId xmlns:a16="http://schemas.microsoft.com/office/drawing/2014/main" id="{A0068CC8-16AD-4410-9B76-1312B9B1376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0972800" cy="47625"/>
          </a:xfrm>
          <a:prstGeom prst="rect">
            <a:avLst/>
          </a:prstGeom>
          <a:solidFill>
            <a:srgbClr val="15365B"/>
          </a:solidFill>
          <a:ln w="0">
            <a:noFill/>
          </a:ln>
        </p:spPr>
      </p:sp>
      <p:sp>
        <p:nvSpPr>
          <p:cNvPr id="4" name="文本 B8　与特定 RAG 配置的对照">
            <a:extLst>
              <a:ext uri="{FF2B5EF4-FFF2-40B4-BE49-F238E27FC236}">
                <a16:creationId xmlns:a16="http://schemas.microsoft.com/office/drawing/2014/main" id="{7E61798B-F538-4ED8-9571-BD22B9D0D0A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 dirty="0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lang="en-US" sz="3075" b="1" dirty="0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3075" b="1" dirty="0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3075" b="1" dirty="0" err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与特定</a:t>
            </a:r>
            <a:r>
              <a:rPr sz="3075" b="1" dirty="0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 RAG </a:t>
            </a:r>
            <a:r>
              <a:rPr sz="3075" b="1" dirty="0" err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配置的对照</a:t>
            </a:r>
            <a:endParaRPr sz="3075" b="1" dirty="0">
              <a:solidFill>
                <a:srgbClr val="15365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4B990C-D0B7-4240-848D-0466004A7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1043" y="1295400"/>
            <a:ext cx="10389914" cy="4171950"/>
          </a:xfrm>
          <a:prstGeom prst="rect">
            <a:avLst/>
          </a:prstGeom>
        </p:spPr>
      </p:pic>
      <p:sp>
        <p:nvSpPr>
          <p:cNvPr id="6" name="文本 3.5M、14B：MemAgent 71">
            <a:extLst>
              <a:ext uri="{FF2B5EF4-FFF2-40B4-BE49-F238E27FC236}">
                <a16:creationId xmlns:a16="http://schemas.microsoft.com/office/drawing/2014/main" id="{58F322F8-DBBF-4FEF-9DD7-1440F6984415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966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65B"/>
                </a:solidFill>
                <a:latin typeface="Microsoft YaHei"/>
                <a:ea typeface="Microsoft YaHei"/>
                <a:cs typeface="Microsoft YaHei"/>
              </a:rPr>
              <a:t>3.5M、14B：MemAgent 71.09；所列 RAG 最佳 66.41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7A76440B-6FAB-555C-3D05-823248FE9928}"/>
              </a:ext>
            </a:extLst>
          </p:cNvPr>
          <p:cNvSpPr txBox="1"/>
          <p:nvPr/>
        </p:nvSpPr>
        <p:spPr>
          <a:xfrm>
            <a:off x="11045952" y="6419088"/>
            <a:ext cx="566928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75" b="0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1275" dirty="0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275" b="0" dirty="0">
              <a:solidFill>
                <a:srgbClr val="7186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全局右下角标">
            <a:extLst>
              <a:ext uri="{FF2B5EF4-FFF2-40B4-BE49-F238E27FC236}">
                <a16:creationId xmlns:a16="http://schemas.microsoft.com/office/drawing/2014/main" id="{1D5C758D-C2ED-E4A5-0816-9FE6BF3CE294}"/>
              </a:ext>
            </a:extLst>
          </p:cNvPr>
          <p:cNvSpPr>
            <a:spLocks noGrp="1"/>
          </p:cNvSpPr>
          <p:nvPr/>
        </p:nvSpPr>
        <p:spPr>
          <a:xfrm>
            <a:off x="26670" y="6356604"/>
            <a:ext cx="495300" cy="495300"/>
          </a:xfrm>
          <a:prstGeom prst="rtTriangle">
            <a:avLst/>
          </a:prstGeom>
          <a:solidFill>
            <a:srgbClr val="E3EBF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文本 MemAgent  /  附录补充">
            <a:extLst>
              <a:ext uri="{FF2B5EF4-FFF2-40B4-BE49-F238E27FC236}">
                <a16:creationId xmlns:a16="http://schemas.microsoft.com/office/drawing/2014/main" id="{BC753300-32A9-F8C0-21B8-4B88B5CE94FF}"/>
              </a:ext>
            </a:extLst>
          </p:cNvPr>
          <p:cNvSpPr>
            <a:spLocks noGrp="1"/>
          </p:cNvSpPr>
          <p:nvPr/>
        </p:nvSpPr>
        <p:spPr>
          <a:xfrm>
            <a:off x="647700" y="1524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69B"/>
                </a:solidFill>
                <a:latin typeface="Microsoft YaHei"/>
                <a:ea typeface="Microsoft YaHei"/>
                <a:cs typeface="Microsoft YaHei"/>
              </a:rPr>
              <a:t>MemAgent  /  附录补充</a:t>
            </a:r>
          </a:p>
        </p:txBody>
      </p:sp>
    </p:spTree>
    <p:extLst>
      <p:ext uri="{BB962C8B-B14F-4D97-AF65-F5344CB8AC3E}">
        <p14:creationId xmlns:p14="http://schemas.microsoft.com/office/powerpoint/2010/main" val="2142667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4128</Words>
  <Application>Microsoft Office PowerPoint</Application>
  <PresentationFormat>宽屏</PresentationFormat>
  <Paragraphs>207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Noto Sans SC</vt:lpstr>
      <vt:lpstr>Noto Serif SC</vt:lpstr>
      <vt:lpstr>等线</vt:lpstr>
      <vt:lpstr>Microsoft YaHei</vt:lpstr>
      <vt:lpstr>Arial</vt:lpstr>
      <vt:lpstr>Calibri</vt:lpstr>
      <vt:lpstr>Cambria Math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Blueberry</dc:creator>
  <cp:keywords/>
  <dc:description>generated using python-pptx</dc:description>
  <cp:lastModifiedBy>宇航 寇</cp:lastModifiedBy>
  <cp:revision>8</cp:revision>
  <dcterms:created xsi:type="dcterms:W3CDTF">2013-01-27T09:14:16Z</dcterms:created>
  <dcterms:modified xsi:type="dcterms:W3CDTF">2026-10-28T17:38:03Z</dcterms:modified>
  <cp:category/>
</cp:coreProperties>
</file>