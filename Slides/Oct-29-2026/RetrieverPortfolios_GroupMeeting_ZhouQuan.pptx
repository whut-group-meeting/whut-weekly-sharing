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8" userDrawn="1">
          <p15:clr>
            <a:srgbClr val="A4A3A4"/>
          </p15:clr>
        </p15:guide>
        <p15:guide id="2" pos="289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88"/>
        <p:guide pos="289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the paper: ICML 2026, EPFL theory group with Google Research. One sentence up front: this paper turns adaptive RAG into an offline subset-selection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Frame the talk around these three questions; everything else is detail.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the corpus/support statistics to make heterogeneity concrete. The last bullet is the tension the paper exploits: we select by average, but we are judged per query.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Contrast the two families the paper argues against. Emphasise when the cost is paid: Adaptive-RAG pays a classification error; Vendi-RAG pays a serial search per query.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conceptual pivot of the talk. Say it twice: the quality of a set is its best-of-k score, and that automatically kills duplicates.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Give the definitions plainly; note that s is abstract here and fixed to Recall@k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Write the three lines on the board if asked. The key sentence: the max operator looks non-differentiable and unfriendly, but at the level of sets it is exactly submodular.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Two guarantees glued together: greedy gives 1 − 1/e on the empirical objective, a union bound gives uniform convergence. Do not dwell on the proof; stress that the constant is tight.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left to right along the figure. Emphasise the parallelism: nothing in the online path depends on the previous step, unlike Vendi-RAG.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honest reading: 282 of the 360 are one family sampled on a grid. Say this here, and come back to it in the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table is the mechanism evidence. Point at ranks 3–5 versus rank 2, then at the absence of 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Borrowed from RouterDC, applied to retrievers. The interesting bit is the supervision signal: retrieval recall, not answer 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Set the stage before the numbers: what is measured, and under which protocol. Point at the spread in supporting documents — it is why heterogeneity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Read the blue curve against the flat brown one. The red line is the per-query oracle — not deployable, but it shows how much room is left.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These two controls are what makes the retrieval result credible. If someone is sceptical in the room, this is the slide to return 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Do not read nine numbers aloud. The message: best single retrievers are dataset-dependent, the portfolio is not; and Vendi-RAG collapses on Gemma/HotpotQA (0.285, below no retrieval).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 explicit that this is an apples-to-apples control: the same hyper-parameter grid, chosen offline versus searched online, query by query.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Also note the missing number: the paper never reports routing accuracy itself, only these end-to-end curves.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where a group meeting earns its keep. Say the caveats yourself, before someone 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on the reusable idea, then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B6B6B"/>
                </a:solidFill>
                <a:latin typeface="Arial" panose="020B0604020202020204"/>
              </a:rPr>
              <a:t>ICML 2026  ·  PMLR 306  ·  arXiv:2605.31176</a:t>
            </a:r>
            <a:endParaRPr sz="1200" b="1">
              <a:solidFill>
                <a:srgbClr val="6B6B6B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1874519"/>
            <a:ext cx="10874959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4000" b="1">
                <a:solidFill>
                  <a:srgbClr val="141414"/>
                </a:solidFill>
                <a:latin typeface="Arial" panose="020B0604020202020204"/>
              </a:rPr>
              <a:t>Retriever Portfolios: A Principled Approach to Adaptive RAG</a:t>
            </a:r>
            <a:endParaRPr sz="4000" b="1">
              <a:solidFill>
                <a:srgbClr val="141414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64718" y="3611880"/>
            <a:ext cx="10874959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0">
                <a:solidFill>
                  <a:srgbClr val="252525"/>
                </a:solidFill>
                <a:latin typeface="Arial" panose="020B0604020202020204"/>
              </a:rPr>
              <a:t>Miltiadis Stouras  ·  Vincent Cohen-Addad  ·  Silvio Lattanzi  ·  Ola Svensson</a:t>
            </a:r>
            <a:endParaRPr sz="1800" b="0">
              <a:solidFill>
                <a:srgbClr val="252525"/>
              </a:solidFill>
              <a:latin typeface="Arial" panose="020B0604020202020204"/>
            </a:endParaRPr>
          </a:p>
          <a:p>
            <a:pPr algn="ctr"/>
            <a:r>
              <a:rPr sz="1800" b="0">
                <a:solidFill>
                  <a:srgbClr val="6B6B6B"/>
                </a:solidFill>
                <a:latin typeface="Arial" panose="020B0604020202020204"/>
              </a:rPr>
              <a:t>EPFL  ·  Google Research</a:t>
            </a:r>
            <a:endParaRPr sz="1800" b="0">
              <a:solidFill>
                <a:srgbClr val="6B6B6B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309360" y="5074920"/>
            <a:ext cx="52120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600" b="0">
                <a:solidFill>
                  <a:srgbClr val="252525"/>
                </a:solidFill>
                <a:latin typeface="Arial" panose="020B0604020202020204"/>
              </a:rPr>
              <a:t>Group Meeting  ·  Paper presentation</a:t>
            </a:r>
            <a:endParaRPr sz="1600" b="0">
              <a:solidFill>
                <a:srgbClr val="252525"/>
              </a:solidFill>
              <a:latin typeface="Arial" panose="020B0604020202020204"/>
            </a:endParaRPr>
          </a:p>
          <a:p>
            <a:pPr algn="r">
              <a:spcAft>
                <a:spcPts val="500"/>
              </a:spcAft>
            </a:pPr>
            <a:r>
              <a:rPr sz="1600" b="0">
                <a:solidFill>
                  <a:srgbClr val="252525"/>
                </a:solidFill>
                <a:latin typeface="Arial" panose="020B0604020202020204"/>
              </a:rPr>
              <a:t>Presenter: Zhou Quan</a:t>
            </a:r>
            <a:endParaRPr sz="1600" b="0">
              <a:solidFill>
                <a:srgbClr val="252525"/>
              </a:solidFill>
              <a:latin typeface="Arial" panose="020B0604020202020204"/>
            </a:endParaRPr>
          </a:p>
          <a:p>
            <a:pPr algn="r">
              <a:spcAft>
                <a:spcPts val="500"/>
              </a:spcAft>
            </a:pPr>
            <a:r>
              <a:rPr sz="1600" b="0">
                <a:solidFill>
                  <a:srgbClr val="6B6B6B"/>
                </a:solidFill>
                <a:latin typeface="Arial" panose="020B0604020202020204"/>
              </a:rPr>
              <a:t>2026.10</a:t>
            </a:r>
            <a:endParaRPr sz="1600" b="0">
              <a:solidFill>
                <a:srgbClr val="6B6B6B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018520" y="5923280"/>
            <a:ext cx="502920" cy="292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p>
            <a:pPr algn="r"/>
            <a:r>
              <a:rPr lang="en-US" sz="950" b="0">
                <a:solidFill>
                  <a:srgbClr val="6B6B6B"/>
                </a:solidFill>
                <a:latin typeface="Arial" panose="020B0604020202020204"/>
              </a:rPr>
              <a:t>1</a:t>
            </a:r>
            <a:endParaRPr lang="en-US" sz="950" b="0">
              <a:solidFill>
                <a:srgbClr val="6B6B6B"/>
              </a:solidFill>
              <a:latin typeface="Arial" panose="020B0604020202020204"/>
            </a:endParaRPr>
          </a:p>
          <a:p>
            <a:pPr algn="r"/>
            <a:endParaRPr sz="950" b="0">
              <a:solidFill>
                <a:srgbClr val="6B6B6B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110">
                <a:solidFill>
                  <a:srgbClr val="6B6B6B"/>
                </a:solidFill>
                <a:latin typeface="Arial" panose="020B0604020202020204"/>
              </a:rPr>
              <a:t>OVERVIEW</a:t>
            </a:r>
            <a:endParaRPr sz="1000" b="1" spc="110">
              <a:solidFill>
                <a:srgbClr val="6B6B6B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530352"/>
            <a:ext cx="1087495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141414"/>
                </a:solidFill>
                <a:latin typeface="Arial" panose="020B0604020202020204"/>
              </a:rPr>
              <a:t>Three questions this paper answers</a:t>
            </a:r>
            <a:endParaRPr sz="2900" b="1">
              <a:solidFill>
                <a:srgbClr val="141414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5668" y="1783080"/>
            <a:ext cx="10972800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0"/>
              </a:spcAft>
            </a:pPr>
            <a:r>
              <a:rPr sz="2100" b="1">
                <a:solidFill>
                  <a:srgbClr val="22304A"/>
                </a:solidFill>
                <a:latin typeface="Arial" panose="020B0604020202020204"/>
              </a:rPr>
              <a:t>1  </a:t>
            </a:r>
            <a:r>
              <a:rPr sz="2100" b="1">
                <a:solidFill>
                  <a:srgbClr val="252525"/>
                </a:solidFill>
                <a:latin typeface="Arial" panose="020B0604020202020204"/>
              </a:rPr>
              <a:t>Why</a:t>
            </a:r>
            <a:r>
              <a:rPr sz="2100" b="0">
                <a:solidFill>
                  <a:srgbClr val="252525"/>
                </a:solidFill>
                <a:latin typeface="Arial" panose="020B0604020202020204"/>
              </a:rPr>
              <a:t> does a single retriever fail? Queries are heterogeneous, and retrieval configurations specialise in different regions of the query space.</a:t>
            </a:r>
            <a:endParaRPr sz="2100" b="0">
              <a:solidFill>
                <a:srgbClr val="252525"/>
              </a:solidFill>
              <a:latin typeface="Arial" panose="020B0604020202020204"/>
            </a:endParaRPr>
          </a:p>
          <a:p>
            <a:pPr algn="l">
              <a:lnSpc>
                <a:spcPct val="112000"/>
              </a:lnSpc>
              <a:spcAft>
                <a:spcPts val="4000"/>
              </a:spcAft>
            </a:pPr>
            <a:r>
              <a:rPr sz="2100" b="1">
                <a:solidFill>
                  <a:srgbClr val="22304A"/>
                </a:solidFill>
                <a:latin typeface="Arial" panose="020B0604020202020204"/>
              </a:rPr>
              <a:t>2  </a:t>
            </a:r>
            <a:r>
              <a:rPr sz="2100" b="1">
                <a:solidFill>
                  <a:srgbClr val="252525"/>
                </a:solidFill>
                <a:latin typeface="Arial" panose="020B0604020202020204"/>
              </a:rPr>
              <a:t>How</a:t>
            </a:r>
            <a:r>
              <a:rPr sz="2100" b="0">
                <a:solidFill>
                  <a:srgbClr val="252525"/>
                </a:solidFill>
                <a:latin typeface="Arial" panose="020B0604020202020204"/>
              </a:rPr>
              <a:t> do you choose a set of retrievers rather than one — with a guarantee that the choice is close to optimal?</a:t>
            </a:r>
            <a:endParaRPr sz="2100" b="0">
              <a:solidFill>
                <a:srgbClr val="252525"/>
              </a:solidFill>
              <a:latin typeface="Arial" panose="020B0604020202020204"/>
            </a:endParaRPr>
          </a:p>
          <a:p>
            <a:pPr algn="l">
              <a:lnSpc>
                <a:spcPct val="112000"/>
              </a:lnSpc>
              <a:spcAft>
                <a:spcPts val="4000"/>
              </a:spcAft>
            </a:pPr>
            <a:r>
              <a:rPr sz="2100" b="1">
                <a:solidFill>
                  <a:srgbClr val="22304A"/>
                </a:solidFill>
                <a:latin typeface="Arial" panose="020B0604020202020204"/>
              </a:rPr>
              <a:t>3  </a:t>
            </a:r>
            <a:r>
              <a:rPr sz="2100" b="1">
                <a:solidFill>
                  <a:srgbClr val="252525"/>
                </a:solidFill>
                <a:latin typeface="Arial" panose="020B0604020202020204"/>
              </a:rPr>
              <a:t>Does</a:t>
            </a:r>
            <a:r>
              <a:rPr sz="2100" b="0">
                <a:solidFill>
                  <a:srgbClr val="252525"/>
                </a:solidFill>
                <a:latin typeface="Arial" panose="020B0604020202020204"/>
              </a:rPr>
              <a:t> it pay off end to end, and what does it cost compared with adapting retrieval per query?</a:t>
            </a:r>
            <a:endParaRPr sz="2100" b="0">
              <a:solidFill>
                <a:srgbClr val="252525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199632"/>
            <a:ext cx="12191695" cy="65836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</a:t>
            </a:r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52018" y="6336792"/>
            <a:ext cx="1087495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>
                <a:solidFill>
                  <a:srgbClr val="141414"/>
                </a:solidFill>
                <a:latin typeface="Arial" panose="020B0604020202020204"/>
              </a:rPr>
              <a:t>The answer: move adaptation from every query to a single offline selection step.</a:t>
            </a:r>
            <a:endParaRPr sz="1550" b="1">
              <a:solidFill>
                <a:srgbClr val="141414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064240" y="594360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>
                <a:solidFill>
                  <a:srgbClr val="6B6B6B"/>
                </a:solidFill>
                <a:latin typeface="Arial" panose="020B0604020202020204"/>
              </a:rPr>
              <a:t>2</a:t>
            </a:r>
            <a:endParaRPr sz="950" b="0">
              <a:solidFill>
                <a:srgbClr val="6B6B6B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110">
                <a:solidFill>
                  <a:srgbClr val="6B6B6B"/>
                </a:solidFill>
                <a:latin typeface="Arial" panose="020B0604020202020204"/>
              </a:rPr>
              <a:t>MOTIVATION</a:t>
            </a:r>
            <a:endParaRPr sz="1000" b="1" spc="110">
              <a:solidFill>
                <a:srgbClr val="6B6B6B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530352"/>
            <a:ext cx="1087495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141414"/>
                </a:solidFill>
                <a:latin typeface="Arial" panose="020B0604020202020204"/>
              </a:rPr>
              <a:t>RAG still ships one retriever for every query</a:t>
            </a:r>
            <a:endParaRPr sz="2900" b="1">
              <a:solidFill>
                <a:srgbClr val="141414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58368" y="1600200"/>
            <a:ext cx="580644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600"/>
              </a:spcAft>
            </a:pPr>
            <a:r>
              <a:rPr sz="1650" b="1">
                <a:solidFill>
                  <a:srgbClr val="252525"/>
                </a:solidFill>
                <a:latin typeface="Arial" panose="020B0604020202020204"/>
              </a:rPr>
              <a:t>Pipeline.</a:t>
            </a:r>
            <a:r>
              <a:rPr sz="1650" b="0">
                <a:solidFill>
                  <a:srgbClr val="252525"/>
                </a:solidFill>
                <a:latin typeface="Arial" panose="020B0604020202020204"/>
              </a:rPr>
              <a:t>  query → retriever → top-n chunks → LLM. The retriever, its hyper-parameters and n are tuned once on a dev set, then frozen.</a:t>
            </a:r>
            <a:endParaRPr sz="1650" b="0">
              <a:solidFill>
                <a:srgbClr val="252525"/>
              </a:solidFill>
              <a:latin typeface="Arial" panose="020B0604020202020204"/>
            </a:endParaRPr>
          </a:p>
          <a:p>
            <a:pPr algn="l">
              <a:lnSpc>
                <a:spcPct val="112000"/>
              </a:lnSpc>
              <a:spcAft>
                <a:spcPts val="1600"/>
              </a:spcAft>
            </a:pPr>
            <a:r>
              <a:rPr sz="1650" b="1">
                <a:solidFill>
                  <a:srgbClr val="252525"/>
                </a:solidFill>
                <a:latin typeface="Arial" panose="020B0604020202020204"/>
              </a:rPr>
              <a:t>Queries are not one distribution.</a:t>
            </a:r>
            <a:r>
              <a:rPr sz="1650" b="0">
                <a:solidFill>
                  <a:srgbClr val="252525"/>
                </a:solidFill>
                <a:latin typeface="Arial" panose="020B0604020202020204"/>
              </a:rPr>
              <a:t>  single-hop factoid questions, multi-hop composition, rare entities, domain jargon.</a:t>
            </a:r>
            <a:endParaRPr sz="1650" b="0">
              <a:solidFill>
                <a:srgbClr val="252525"/>
              </a:solidFill>
              <a:latin typeface="Arial" panose="020B0604020202020204"/>
            </a:endParaRPr>
          </a:p>
          <a:p>
            <a:pPr algn="l">
              <a:lnSpc>
                <a:spcPct val="112000"/>
              </a:lnSpc>
              <a:spcAft>
                <a:spcPts val="1600"/>
              </a:spcAft>
            </a:pPr>
            <a:r>
              <a:rPr sz="1650" b="1">
                <a:solidFill>
                  <a:srgbClr val="252525"/>
                </a:solidFill>
                <a:latin typeface="Arial" panose="020B0604020202020204"/>
              </a:rPr>
              <a:t>Configurations specialise.</a:t>
            </a:r>
            <a:r>
              <a:rPr sz="1650" b="0">
                <a:solidFill>
                  <a:srgbClr val="252525"/>
                </a:solidFill>
                <a:latin typeface="Arial" panose="020B0604020202020204"/>
              </a:rPr>
              <a:t>  lexical precision, diverse evidence, entity-graph expansion — different failure modes.</a:t>
            </a:r>
            <a:endParaRPr sz="1650" b="0">
              <a:solidFill>
                <a:srgbClr val="252525"/>
              </a:solidFill>
              <a:latin typeface="Arial" panose="020B0604020202020204"/>
            </a:endParaRPr>
          </a:p>
          <a:p>
            <a:pPr algn="l">
              <a:lnSpc>
                <a:spcPct val="112000"/>
              </a:lnSpc>
              <a:spcAft>
                <a:spcPts val="1600"/>
              </a:spcAft>
            </a:pPr>
            <a:r>
              <a:rPr sz="1650" b="1">
                <a:solidFill>
                  <a:srgbClr val="252525"/>
                </a:solidFill>
                <a:latin typeface="Arial" panose="020B0604020202020204"/>
              </a:rPr>
              <a:t>And the selection objective is wrong.</a:t>
            </a:r>
            <a:r>
              <a:rPr sz="1650" b="0">
                <a:solidFill>
                  <a:srgbClr val="252525"/>
                </a:solidFill>
                <a:latin typeface="Arial" panose="020B0604020202020204"/>
              </a:rPr>
              <a:t>  we pick by average score, but deploy by best-per-query.</a:t>
            </a:r>
            <a:endParaRPr sz="1650" b="0">
              <a:solidFill>
                <a:srgbClr val="252525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720840" y="1645920"/>
            <a:ext cx="4800600" cy="237744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0" y="1828800"/>
            <a:ext cx="4389120" cy="2057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500" b="1">
                <a:solidFill>
                  <a:srgbClr val="22304A"/>
                </a:solidFill>
                <a:latin typeface="Arial" panose="020B0604020202020204"/>
              </a:rPr>
              <a:t>The same system sees both</a:t>
            </a:r>
            <a:endParaRPr sz="1500" b="1">
              <a:solidFill>
                <a:srgbClr val="22304A"/>
              </a:solidFill>
              <a:latin typeface="Arial" panose="020B0604020202020204"/>
            </a:endParaRP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400" b="1">
                <a:solidFill>
                  <a:srgbClr val="22304A"/>
                </a:solidFill>
                <a:latin typeface="Arial" panose="020B0604020202020204"/>
              </a:rPr>
              <a:t>•  </a:t>
            </a:r>
            <a:r>
              <a:rPr sz="1400" b="0">
                <a:solidFill>
                  <a:srgbClr val="252525"/>
                </a:solidFill>
                <a:latin typeface="Arial" panose="020B0604020202020204"/>
              </a:rPr>
              <a:t>“Which year was X founded?”   One lexically similar passage is enough.</a:t>
            </a:r>
            <a:endParaRPr sz="1400" b="0">
              <a:solidFill>
                <a:srgbClr val="252525"/>
              </a:solidFill>
              <a:latin typeface="Arial" panose="020B0604020202020204"/>
            </a:endParaRP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400" b="1">
                <a:solidFill>
                  <a:srgbClr val="22304A"/>
                </a:solidFill>
                <a:latin typeface="Arial" panose="020B0604020202020204"/>
              </a:rPr>
              <a:t>•  </a:t>
            </a:r>
            <a:r>
              <a:rPr sz="1400" b="0">
                <a:solidFill>
                  <a:srgbClr val="252525"/>
                </a:solidFill>
                <a:latin typeface="Arial" panose="020B0604020202020204"/>
              </a:rPr>
              <a:t>“Are A and B from the same country?”   Two passages, plus a composition step.</a:t>
            </a:r>
            <a:endParaRPr sz="1400" b="0">
              <a:solidFill>
                <a:srgbClr val="252525"/>
              </a:solidFill>
              <a:latin typeface="Arial" panose="020B0604020202020204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Arial" panose="020B0604020202020204"/>
              </a:rPr>
              <a:t>A retriever tuned for the first is not tuned for the second.</a:t>
            </a:r>
            <a:endParaRPr sz="1400" b="0">
              <a:solidFill>
                <a:srgbClr val="6B6B6B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720840" y="4206240"/>
            <a:ext cx="4800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A93225"/>
                </a:solidFill>
                <a:latin typeface="Arial" panose="020B0604020202020204"/>
              </a:rPr>
              <a:t>One fixed configuration cannot be right for both.</a:t>
            </a:r>
            <a:endParaRPr sz="1600" b="1">
              <a:solidFill>
                <a:srgbClr val="A93225"/>
              </a:solidFill>
              <a:latin typeface="Arial" panose="020B060402020202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6199632"/>
            <a:ext cx="12191695" cy="65836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6336792"/>
            <a:ext cx="1087495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>
                <a:solidFill>
                  <a:srgbClr val="141414"/>
                </a:solidFill>
                <a:latin typeface="Arial" panose="020B0604020202020204"/>
              </a:rPr>
              <a:t>No single retriever is best for all queries — fixing one leaves accuracy on the table.</a:t>
            </a:r>
            <a:endParaRPr sz="1550" b="1">
              <a:solidFill>
                <a:srgbClr val="141414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64240" y="594360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>
                <a:solidFill>
                  <a:srgbClr val="6B6B6B"/>
                </a:solidFill>
                <a:latin typeface="Arial" panose="020B0604020202020204"/>
              </a:rPr>
              <a:t>3</a:t>
            </a:r>
            <a:endParaRPr sz="950" b="0">
              <a:solidFill>
                <a:srgbClr val="6B6B6B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110">
                <a:solidFill>
                  <a:srgbClr val="6B6B6B"/>
                </a:solidFill>
                <a:latin typeface="Arial" panose="020B0604020202020204"/>
              </a:rPr>
              <a:t>PRIOR WORK</a:t>
            </a:r>
            <a:endParaRPr sz="1000" b="1" spc="110">
              <a:solidFill>
                <a:srgbClr val="6B6B6B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530352"/>
            <a:ext cx="1087495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141414"/>
                </a:solidFill>
                <a:latin typeface="Arial" panose="020B0604020202020204"/>
              </a:rPr>
              <a:t>Adaptive retrieval exists — but adaptation is expensive</a:t>
            </a:r>
            <a:endParaRPr sz="2900" b="1">
              <a:solidFill>
                <a:srgbClr val="141414"/>
              </a:solidFill>
              <a:latin typeface="Arial" panose="020B0604020202020204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600200"/>
          <a:ext cx="10881360" cy="335089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85085"/>
                <a:gridCol w="2502712"/>
                <a:gridCol w="2937967"/>
                <a:gridCol w="3155594"/>
              </a:tblGrid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Method</a:t>
                      </a:r>
                      <a:endParaRPr sz="115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What adapts</a:t>
                      </a:r>
                      <a:endParaRPr sz="115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Decision space</a:t>
                      </a:r>
                      <a:endParaRPr sz="115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Cost of adapting</a:t>
                      </a:r>
                      <a:endParaRPr sz="115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22304A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Adaptive-RAG (2024)</a:t>
                      </a:r>
                      <a:endParaRPr sz="120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query-complexity classifier</a:t>
                      </a:r>
                      <a:endParaRPr sz="120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3 hand-built strategies</a:t>
                      </a:r>
                      <a:endParaRPr sz="120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cheap, but a tiny menu</a:t>
                      </a:r>
                      <a:endParaRPr sz="120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</a:tr>
              <a:tr h="570865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Self-RAG (2023)</a:t>
                      </a:r>
                      <a:endParaRPr sz="120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reflection tokens</a:t>
                      </a:r>
                      <a:endParaRPr sz="120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token-level retrieve / critique</a:t>
                      </a:r>
                      <a:endParaRPr sz="120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iterative generation</a:t>
                      </a:r>
                      <a:endParaRPr sz="120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4F5F7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52525"/>
                          </a:solidFill>
                          <a:highlight>
                            <a:srgbClr val="000000">
                              <a:alpha val="0"/>
                            </a:srgbClr>
                          </a:highlight>
                          <a:latin typeface="Arial" panose="020B0604020202020204"/>
                        </a:rPr>
                        <a:t>Vendi-RAG (2025)</a:t>
                      </a:r>
                      <a:endParaRPr sz="1200" b="0">
                        <a:solidFill>
                          <a:srgbClr val="252525"/>
                        </a:solidFill>
                        <a:highlight>
                          <a:srgbClr val="000000">
                            <a:alpha val="0"/>
                          </a:srgbClr>
                        </a:highlight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diversity parameter s</a:t>
                      </a:r>
                      <a:endParaRPr sz="120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continuous, one dimension</a:t>
                      </a:r>
                      <a:endParaRPr sz="120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serial retrieve → answer → judge</a:t>
                      </a:r>
                      <a:endParaRPr sz="120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MoR (2025)</a:t>
                      </a:r>
                      <a:endParaRPr sz="120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per-query mixture weights</a:t>
                      </a:r>
                      <a:endParaRPr sz="120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score fusion over a fixed set</a:t>
                      </a:r>
                      <a:endParaRPr sz="120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no subset selection</a:t>
                      </a:r>
                      <a:endParaRPr sz="120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4F5F7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This work</a:t>
                      </a:r>
                      <a:endParaRPr sz="1200" b="1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E8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which k, and which ℓ to run</a:t>
                      </a:r>
                      <a:endParaRPr sz="1200" b="1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E8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subset + routing</a:t>
                      </a:r>
                      <a:endParaRPr sz="1200" b="1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E8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offline; parallel inference</a:t>
                      </a:r>
                      <a:endParaRPr sz="1200" b="1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199632"/>
            <a:ext cx="12191695" cy="65836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36792"/>
            <a:ext cx="1087495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>
                <a:solidFill>
                  <a:srgbClr val="141414"/>
                </a:solidFill>
                <a:latin typeface="Arial" panose="020B0604020202020204"/>
              </a:rPr>
              <a:t>Two extremes: a tiny hand-built menu, or a per-query search loop. Both pay at inference time.</a:t>
            </a:r>
            <a:endParaRPr sz="1550" b="1">
              <a:solidFill>
                <a:srgbClr val="141414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064240" y="594360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>
                <a:solidFill>
                  <a:srgbClr val="6B6B6B"/>
                </a:solidFill>
                <a:latin typeface="Arial" panose="020B0604020202020204"/>
              </a:rPr>
              <a:t>4</a:t>
            </a:r>
            <a:endParaRPr sz="950" b="0">
              <a:solidFill>
                <a:srgbClr val="6B6B6B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110">
                <a:solidFill>
                  <a:srgbClr val="6B6B6B"/>
                </a:solidFill>
                <a:latin typeface="Arial" panose="020B0604020202020204"/>
              </a:rPr>
              <a:t>KEY IDEA</a:t>
            </a:r>
            <a:endParaRPr sz="1000" b="1" spc="110">
              <a:solidFill>
                <a:srgbClr val="6B6B6B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530352"/>
            <a:ext cx="1087495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141414"/>
                </a:solidFill>
                <a:latin typeface="Arial" panose="020B0604020202020204"/>
              </a:rPr>
              <a:t>Cover the query distribution — do not average over it</a:t>
            </a:r>
            <a:endParaRPr sz="2900" b="1">
              <a:solidFill>
                <a:srgbClr val="141414"/>
              </a:solidFill>
              <a:latin typeface="Arial" panose="020B0604020202020204"/>
            </a:endParaRPr>
          </a:p>
        </p:txBody>
      </p:sp>
      <p:pic>
        <p:nvPicPr>
          <p:cNvPr id="5" name="Picture 4" descr="fig1_portfoli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36133"/>
            <a:ext cx="8503920" cy="25226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281160" y="1600200"/>
            <a:ext cx="224028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50" b="0">
                <a:solidFill>
                  <a:srgbClr val="22304A"/>
                </a:solidFill>
                <a:latin typeface="Arial" panose="020B0604020202020204"/>
              </a:rPr>
              <a:t>Selection is not a ranking</a:t>
            </a:r>
            <a:endParaRPr sz="1450" b="0">
              <a:solidFill>
                <a:srgbClr val="22304A"/>
              </a:solidFill>
              <a:latin typeface="Arial" panose="020B0604020202020204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Arial" panose="020B0604020202020204"/>
              </a:rPr>
              <a:t>We do not want the best average retriever; we want a set whose best member is good for each query.</a:t>
            </a:r>
            <a:endParaRPr sz="1300" b="0">
              <a:solidFill>
                <a:srgbClr val="6B6B6B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58368" y="4206240"/>
            <a:ext cx="1088136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750" b="0">
                <a:solidFill>
                  <a:srgbClr val="252525"/>
                </a:solidFill>
                <a:latin typeface="Arial" panose="020B0604020202020204"/>
              </a:rPr>
              <a:t>A portfolio S is scored by its </a:t>
            </a:r>
            <a:r>
              <a:rPr sz="1750" b="1">
                <a:solidFill>
                  <a:srgbClr val="252525"/>
                </a:solidFill>
                <a:latin typeface="Arial" panose="020B0604020202020204"/>
              </a:rPr>
              <a:t>best</a:t>
            </a:r>
            <a:r>
              <a:rPr sz="1750" b="0">
                <a:solidFill>
                  <a:srgbClr val="252525"/>
                </a:solidFill>
                <a:latin typeface="Arial" panose="020B0604020202020204"/>
              </a:rPr>
              <a:t> member, not its mean:  for a random query, how good is the best retriever in S?</a:t>
            </a:r>
            <a:endParaRPr sz="1750" b="0">
              <a:solidFill>
                <a:srgbClr val="252525"/>
              </a:solidFill>
              <a:latin typeface="Arial" panose="020B0604020202020204"/>
            </a:endParaRP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750" b="0">
                <a:solidFill>
                  <a:srgbClr val="252525"/>
                </a:solidFill>
                <a:latin typeface="Arial" panose="020B0604020202020204"/>
              </a:rPr>
              <a:t>Two retrievers that behave alike contribute almost nothing to a maximum — so the objective prices redundancy at zero, automatically.</a:t>
            </a:r>
            <a:endParaRPr sz="1750" b="0">
              <a:solidFill>
                <a:srgbClr val="252525"/>
              </a:solidFill>
              <a:latin typeface="Arial" panose="020B060402020202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6199632"/>
            <a:ext cx="12191695" cy="65836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336792"/>
            <a:ext cx="1087495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>
                <a:solidFill>
                  <a:srgbClr val="141414"/>
                </a:solidFill>
                <a:latin typeface="Arial" panose="020B0604020202020204"/>
              </a:rPr>
              <a:t>max over members, not mean:   F(S) = E_q[ max over r in S of s(q, r) ]</a:t>
            </a:r>
            <a:endParaRPr sz="1550" b="1">
              <a:solidFill>
                <a:srgbClr val="141414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064240" y="594360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>
                <a:solidFill>
                  <a:srgbClr val="6B6B6B"/>
                </a:solidFill>
                <a:latin typeface="Arial" panose="020B0604020202020204"/>
              </a:rPr>
              <a:t>5</a:t>
            </a:r>
            <a:endParaRPr sz="950" b="0">
              <a:solidFill>
                <a:srgbClr val="6B6B6B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110">
                <a:solidFill>
                  <a:srgbClr val="6B6B6B"/>
                </a:solidFill>
                <a:latin typeface="Arial" panose="020B0604020202020204"/>
              </a:rPr>
              <a:t>FORMULATION</a:t>
            </a:r>
            <a:endParaRPr sz="1000" b="1" spc="110">
              <a:solidFill>
                <a:srgbClr val="6B6B6B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530352"/>
            <a:ext cx="1087495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141414"/>
                </a:solidFill>
                <a:latin typeface="Arial" panose="020B0604020202020204"/>
              </a:rPr>
              <a:t>Portfolio selection as set-function maximisation</a:t>
            </a:r>
            <a:endParaRPr sz="2900" b="1">
              <a:solidFill>
                <a:srgbClr val="141414"/>
              </a:solidFill>
              <a:latin typeface="Arial" panose="020B060402020202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5943600" cy="269748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737360"/>
            <a:ext cx="539496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700" b="1">
                <a:solidFill>
                  <a:srgbClr val="252525"/>
                </a:solidFill>
                <a:latin typeface="Arial" panose="020B0604020202020204"/>
              </a:rPr>
              <a:t>Pool</a:t>
            </a:r>
            <a:r>
              <a:rPr sz="1700" b="0">
                <a:solidFill>
                  <a:srgbClr val="252525"/>
                </a:solidFill>
                <a:latin typeface="Arial" panose="020B0604020202020204"/>
              </a:rPr>
              <a:t>  R = {r1, …, rm},  budget k</a:t>
            </a:r>
            <a:endParaRPr sz="1700" b="0">
              <a:solidFill>
                <a:srgbClr val="252525"/>
              </a:solidFill>
              <a:latin typeface="Arial" panose="020B0604020202020204"/>
            </a:endParaRP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700" b="1">
                <a:solidFill>
                  <a:srgbClr val="252525"/>
                </a:solidFill>
                <a:latin typeface="Arial" panose="020B0604020202020204"/>
              </a:rPr>
              <a:t>Portfolio</a:t>
            </a:r>
            <a:r>
              <a:rPr sz="1700" b="0">
                <a:solidFill>
                  <a:srgbClr val="252525"/>
                </a:solidFill>
                <a:latin typeface="Arial" panose="020B0604020202020204"/>
              </a:rPr>
              <a:t>  S ⊆ R,  |S| ≤ k</a:t>
            </a:r>
            <a:endParaRPr sz="1700" b="0">
              <a:solidFill>
                <a:srgbClr val="252525"/>
              </a:solidFill>
              <a:latin typeface="Arial" panose="020B0604020202020204"/>
            </a:endParaRP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700" b="1">
                <a:solidFill>
                  <a:srgbClr val="252525"/>
                </a:solidFill>
                <a:latin typeface="Arial" panose="020B0604020202020204"/>
              </a:rPr>
              <a:t>Score</a:t>
            </a:r>
            <a:r>
              <a:rPr sz="1700" b="0">
                <a:solidFill>
                  <a:srgbClr val="252525"/>
                </a:solidFill>
                <a:latin typeface="Arial" panose="020B0604020202020204"/>
              </a:rPr>
              <a:t>  s : Q × R → [0, 1]</a:t>
            </a:r>
            <a:endParaRPr sz="1700" b="0">
              <a:solidFill>
                <a:srgbClr val="252525"/>
              </a:solidFill>
              <a:latin typeface="Arial" panose="020B0604020202020204"/>
            </a:endParaRP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700" b="1">
                <a:solidFill>
                  <a:srgbClr val="252525"/>
                </a:solidFill>
                <a:latin typeface="Arial" panose="020B0604020202020204"/>
              </a:rPr>
              <a:t>Set score</a:t>
            </a:r>
            <a:r>
              <a:rPr sz="1700" b="0">
                <a:solidFill>
                  <a:srgbClr val="252525"/>
                </a:solidFill>
                <a:latin typeface="Arial" panose="020B0604020202020204"/>
              </a:rPr>
              <a:t>  score(q, S) = max_{r ∈ S} s(q, r)</a:t>
            </a:r>
            <a:endParaRPr sz="1700" b="0">
              <a:solidFill>
                <a:srgbClr val="252525"/>
              </a:solidFill>
              <a:latin typeface="Arial" panose="020B0604020202020204"/>
            </a:endParaRP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700" b="1">
                <a:solidFill>
                  <a:srgbClr val="252525"/>
                </a:solidFill>
                <a:latin typeface="Arial" panose="020B0604020202020204"/>
              </a:rPr>
              <a:t>Objective</a:t>
            </a:r>
            <a:r>
              <a:rPr sz="1700" b="0">
                <a:solidFill>
                  <a:srgbClr val="252525"/>
                </a:solidFill>
                <a:latin typeface="Arial" panose="020B0604020202020204"/>
              </a:rPr>
              <a:t>  F(S) = E_{q~D}[ score(q, S) ]</a:t>
            </a:r>
            <a:endParaRPr sz="1700" b="0">
              <a:solidFill>
                <a:srgbClr val="252525"/>
              </a:solidFill>
              <a:latin typeface="Arial" panose="020B0604020202020204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900" b="1">
                <a:solidFill>
                  <a:srgbClr val="22304A"/>
                </a:solidFill>
                <a:latin typeface="Arial" panose="020B0604020202020204"/>
              </a:rPr>
              <a:t>Goal</a:t>
            </a:r>
            <a:r>
              <a:rPr sz="1900" b="0">
                <a:solidFill>
                  <a:srgbClr val="22304A"/>
                </a:solidFill>
                <a:latin typeface="Arial" panose="020B0604020202020204"/>
              </a:rPr>
              <a:t>  max_{|S| ≤ k}  F(S)</a:t>
            </a:r>
            <a:endParaRPr sz="1900" b="0">
              <a:solidFill>
                <a:srgbClr val="22304A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03720" y="160020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500" b="0">
                <a:solidFill>
                  <a:srgbClr val="22304A"/>
                </a:solidFill>
                <a:latin typeface="Arial" panose="020B0604020202020204"/>
              </a:rPr>
              <a:t>Where it comes from</a:t>
            </a:r>
            <a:endParaRPr sz="1500" b="0">
              <a:solidFill>
                <a:srgbClr val="22304A"/>
              </a:solidFill>
              <a:latin typeface="Arial" panose="020B0604020202020204"/>
            </a:endParaRP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22304A"/>
                </a:solidFill>
                <a:latin typeface="Arial" panose="020B0604020202020204"/>
              </a:rPr>
              <a:t>•  </a:t>
            </a:r>
            <a:r>
              <a:rPr sz="1400" b="0">
                <a:solidFill>
                  <a:srgbClr val="252525"/>
                </a:solidFill>
                <a:latin typeface="Arial" panose="020B0604020202020204"/>
              </a:rPr>
              <a:t>Data-driven solution portfolios (Drygala et al., ITCS 2025)</a:t>
            </a:r>
            <a:endParaRPr sz="1400" b="0">
              <a:solidFill>
                <a:srgbClr val="252525"/>
              </a:solidFill>
              <a:latin typeface="Arial" panose="020B0604020202020204"/>
            </a:endParaRP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22304A"/>
                </a:solidFill>
                <a:latin typeface="Arial" panose="020B0604020202020204"/>
              </a:rPr>
              <a:t>•  </a:t>
            </a:r>
            <a:r>
              <a:rPr sz="1400" b="0">
                <a:solidFill>
                  <a:srgbClr val="252525"/>
                </a:solidFill>
                <a:latin typeface="Arial" panose="020B0604020202020204"/>
              </a:rPr>
              <a:t>Catalogue / segmentation problem (Kleinberg et al., 2004)</a:t>
            </a:r>
            <a:endParaRPr sz="1400" b="0">
              <a:solidFill>
                <a:srgbClr val="252525"/>
              </a:solidFill>
              <a:latin typeface="Arial" panose="020B0604020202020204"/>
            </a:endParaRPr>
          </a:p>
          <a:p>
            <a:pPr algn="l">
              <a:lnSpc>
                <a:spcPct val="112000"/>
              </a:lnSpc>
              <a:spcAft>
                <a:spcPts val="1600"/>
              </a:spcAft>
            </a:pPr>
            <a:r>
              <a:rPr sz="1400" b="1">
                <a:solidFill>
                  <a:srgbClr val="22304A"/>
                </a:solidFill>
                <a:latin typeface="Arial" panose="020B0604020202020204"/>
              </a:rPr>
              <a:t>•  </a:t>
            </a:r>
            <a:r>
              <a:rPr sz="1400" b="0">
                <a:solidFill>
                  <a:srgbClr val="252525"/>
                </a:solidFill>
                <a:latin typeface="Arial" panose="020B0604020202020204"/>
              </a:rPr>
              <a:t>Retrievers play the role of candidate algorithms; queries are problem instances.</a:t>
            </a:r>
            <a:endParaRPr sz="1400" b="0">
              <a:solidFill>
                <a:srgbClr val="252525"/>
              </a:solidFill>
              <a:latin typeface="Arial" panose="020B0604020202020204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252525"/>
                </a:solidFill>
                <a:latin typeface="Arial" panose="020B0604020202020204"/>
              </a:rPr>
              <a:t>In the paper, s(q, r) is instantiated as Recall@k against the gold supporting documents of each training query.</a:t>
            </a:r>
            <a:endParaRPr sz="1400" b="0">
              <a:solidFill>
                <a:srgbClr val="252525"/>
              </a:solidFill>
              <a:latin typeface="Arial" panose="020B060402020202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6199632"/>
            <a:ext cx="12191695" cy="65836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336792"/>
            <a:ext cx="1087495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>
                <a:solidFill>
                  <a:srgbClr val="141414"/>
                </a:solidFill>
                <a:latin typeface="Arial" panose="020B0604020202020204"/>
              </a:rPr>
              <a:t>Still a combinatorial problem — k-subsets of 360 candidates are hopeless without structure.</a:t>
            </a:r>
            <a:endParaRPr sz="1550" b="1">
              <a:solidFill>
                <a:srgbClr val="141414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8368" y="4526280"/>
            <a:ext cx="6035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50" b="0">
                <a:solidFill>
                  <a:srgbClr val="6B6B6B"/>
                </a:solidFill>
                <a:latin typeface="Arial" panose="020B0604020202020204"/>
              </a:rPr>
              <a:t>Read k as an engineering constraint: the number of retrievers you are willing to maintain and deploy.</a:t>
            </a:r>
            <a:endParaRPr sz="1450" b="0">
              <a:solidFill>
                <a:srgbClr val="6B6B6B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64240" y="594360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>
                <a:solidFill>
                  <a:srgbClr val="6B6B6B"/>
                </a:solidFill>
                <a:latin typeface="Arial" panose="020B0604020202020204"/>
              </a:rPr>
              <a:t>6</a:t>
            </a:r>
            <a:endParaRPr sz="950" b="0">
              <a:solidFill>
                <a:srgbClr val="6B6B6B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110">
                <a:solidFill>
                  <a:srgbClr val="6B6B6B"/>
                </a:solidFill>
                <a:latin typeface="Arial" panose="020B0604020202020204"/>
              </a:rPr>
              <a:t>THEORY (1/2)</a:t>
            </a:r>
            <a:endParaRPr sz="1000" b="1" spc="110">
              <a:solidFill>
                <a:srgbClr val="6B6B6B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530352"/>
            <a:ext cx="1087495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141414"/>
                </a:solidFill>
                <a:latin typeface="Arial" panose="020B0604020202020204"/>
              </a:rPr>
              <a:t>Why it is solvable: the objective is submodular</a:t>
            </a:r>
            <a:endParaRPr sz="2900" b="1">
              <a:solidFill>
                <a:srgbClr val="141414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58368" y="1600200"/>
            <a:ext cx="6400800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650" b="1">
                <a:solidFill>
                  <a:srgbClr val="252525"/>
                </a:solidFill>
                <a:latin typeface="Arial" panose="020B0604020202020204"/>
              </a:rPr>
              <a:t>Diminishing returns.</a:t>
            </a:r>
            <a:r>
              <a:rPr sz="1650" b="0">
                <a:solidFill>
                  <a:srgbClr val="252525"/>
                </a:solidFill>
                <a:latin typeface="Arial" panose="020B0604020202020204"/>
              </a:rPr>
              <a:t>  Adding a retriever helps a small portfolio at least as much as a large one.</a:t>
            </a:r>
            <a:endParaRPr sz="1650" b="0">
              <a:solidFill>
                <a:srgbClr val="252525"/>
              </a:solidFill>
              <a:latin typeface="Arial" panose="020B0604020202020204"/>
            </a:endParaRP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50" b="0">
                <a:solidFill>
                  <a:srgbClr val="252525"/>
                </a:solidFill>
                <a:latin typeface="Arial" panose="020B0604020202020204"/>
              </a:rPr>
              <a:t>Take A ⊆ B and fix r. Let v_A = max_{r'∈A} s(q,r') and v_B = max_{r'∈B} s(q,r'), so v_B ≥ v_A.</a:t>
            </a:r>
            <a:endParaRPr sz="1550" b="0">
              <a:solidFill>
                <a:srgbClr val="252525"/>
              </a:solidFill>
              <a:latin typeface="Arial" panose="020B0604020202020204"/>
            </a:endParaRP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50" b="0">
                <a:solidFill>
                  <a:srgbClr val="252525"/>
                </a:solidFill>
                <a:latin typeface="Arial" panose="020B0604020202020204"/>
              </a:rPr>
              <a:t>The marginal gain of r is  max(0, s(q,r) − v_A)  versus  max(0, s(q,r) − v_B).</a:t>
            </a:r>
            <a:endParaRPr sz="1550" b="0">
              <a:solidFill>
                <a:srgbClr val="252525"/>
              </a:solidFill>
              <a:latin typeface="Arial" panose="020B0604020202020204"/>
            </a:endParaRPr>
          </a:p>
          <a:p>
            <a:pPr algn="l">
              <a:lnSpc>
                <a:spcPct val="112000"/>
              </a:lnSpc>
              <a:spcAft>
                <a:spcPts val="1600"/>
              </a:spcAft>
            </a:pPr>
            <a:r>
              <a:rPr sz="1550" b="0">
                <a:solidFill>
                  <a:srgbClr val="252525"/>
                </a:solidFill>
                <a:latin typeface="Arial" panose="020B0604020202020204"/>
              </a:rPr>
              <a:t>Since v_B ≥ v_A, the first is at least the second — gains shrink as the set grows.</a:t>
            </a:r>
            <a:endParaRPr sz="1550" b="0">
              <a:solidFill>
                <a:srgbClr val="252525"/>
              </a:solidFill>
              <a:latin typeface="Arial" panose="020B0604020202020204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50" b="1">
                <a:solidFill>
                  <a:srgbClr val="252525"/>
                </a:solidFill>
                <a:latin typeface="Arial" panose="020B0604020202020204"/>
              </a:rPr>
              <a:t>max</a:t>
            </a:r>
            <a:r>
              <a:rPr sz="1650" b="0">
                <a:solidFill>
                  <a:srgbClr val="252525"/>
                </a:solidFill>
                <a:latin typeface="Arial" panose="020B0604020202020204"/>
              </a:rPr>
              <a:t> is monotone and submodular for every q; an expectation over q preserves both.</a:t>
            </a:r>
            <a:endParaRPr sz="1650" b="0">
              <a:solidFill>
                <a:srgbClr val="252525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0" y="1600200"/>
            <a:ext cx="4206240" cy="269748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43800" y="1783080"/>
            <a:ext cx="3749039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450" b="0">
                <a:solidFill>
                  <a:srgbClr val="22304A"/>
                </a:solidFill>
                <a:latin typeface="Arial" panose="020B0604020202020204"/>
              </a:rPr>
              <a:t>Why anyone should care</a:t>
            </a:r>
            <a:endParaRPr sz="1450" b="0">
              <a:solidFill>
                <a:srgbClr val="22304A"/>
              </a:solidFill>
              <a:latin typeface="Arial" panose="020B0604020202020204"/>
            </a:endParaRP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400" b="0">
                <a:solidFill>
                  <a:srgbClr val="252525"/>
                </a:solidFill>
                <a:latin typeface="Arial" panose="020B0604020202020204"/>
              </a:rPr>
              <a:t>Greedy is not a heuristic here — it has a worst-case approximation ratio.</a:t>
            </a:r>
            <a:endParaRPr sz="1400" b="0">
              <a:solidFill>
                <a:srgbClr val="252525"/>
              </a:solidFill>
              <a:latin typeface="Arial" panose="020B0604020202020204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252525"/>
                </a:solidFill>
                <a:latin typeface="Arial" panose="020B0604020202020204"/>
              </a:rPr>
              <a:t>Submodularity is exactly the property that makes a greedy scan over 360 candidates a principled algorithm rather than a hack.</a:t>
            </a:r>
            <a:endParaRPr sz="1400" b="0">
              <a:solidFill>
                <a:srgbClr val="252525"/>
              </a:solidFill>
              <a:latin typeface="Arial" panose="020B060402020202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6199632"/>
            <a:ext cx="12191695" cy="65836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336792"/>
            <a:ext cx="1087495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>
                <a:solidFill>
                  <a:srgbClr val="141414"/>
                </a:solidFill>
                <a:latin typeface="Arial" panose="020B0604020202020204"/>
              </a:rPr>
              <a:t>Submodular ⇒ greedy attains (1 − 1/e) of the empirical optimum (Nemhauser et al., 1978).</a:t>
            </a:r>
            <a:endParaRPr sz="1550" b="1">
              <a:solidFill>
                <a:srgbClr val="141414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064240" y="594360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>
                <a:solidFill>
                  <a:srgbClr val="6B6B6B"/>
                </a:solidFill>
                <a:latin typeface="Arial" panose="020B0604020202020204"/>
              </a:rPr>
              <a:t>7</a:t>
            </a:r>
            <a:endParaRPr sz="950" b="0">
              <a:solidFill>
                <a:srgbClr val="6B6B6B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110">
                <a:solidFill>
                  <a:srgbClr val="6B6B6B"/>
                </a:solidFill>
                <a:latin typeface="Arial" panose="020B0604020202020204"/>
              </a:rPr>
              <a:t>THEORY (2/2)</a:t>
            </a:r>
            <a:endParaRPr sz="1000" b="1" spc="110">
              <a:solidFill>
                <a:srgbClr val="6B6B6B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530352"/>
            <a:ext cx="1087495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141414"/>
                </a:solidFill>
                <a:latin typeface="Arial" panose="020B0604020202020204"/>
              </a:rPr>
              <a:t>Greedy selection, and a bound that survives sampling</a:t>
            </a:r>
            <a:endParaRPr sz="2900" b="1">
              <a:solidFill>
                <a:srgbClr val="141414"/>
              </a:solidFill>
              <a:latin typeface="Arial" panose="020B060402020202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6400800" cy="237744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691640"/>
            <a:ext cx="6035040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>
                <a:solidFill>
                  <a:srgbClr val="252525"/>
                </a:solidFill>
                <a:latin typeface="Consolas" panose="020B0609020204030204"/>
              </a:rPr>
              <a:t>sample N queries  Q ~ D^N ;  V[q] ← 0  for all q ∈ Q</a:t>
            </a:r>
            <a:endParaRPr sz="1150">
              <a:solidFill>
                <a:srgbClr val="252525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>
                <a:solidFill>
                  <a:srgbClr val="252525"/>
                </a:solidFill>
                <a:latin typeface="Consolas" panose="020B0609020204030204"/>
              </a:rPr>
              <a:t>S ← ∅</a:t>
            </a:r>
            <a:endParaRPr sz="1150">
              <a:solidFill>
                <a:srgbClr val="252525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>
                <a:solidFill>
                  <a:srgbClr val="252525"/>
                </a:solidFill>
                <a:latin typeface="Consolas" panose="020B0609020204030204"/>
              </a:rPr>
              <a:t>for i = 1 … k:</a:t>
            </a:r>
            <a:endParaRPr sz="1150">
              <a:solidFill>
                <a:srgbClr val="252525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>
                <a:solidFill>
                  <a:srgbClr val="252525"/>
                </a:solidFill>
                <a:latin typeface="Consolas" panose="020B0609020204030204"/>
              </a:rPr>
              <a:t>    r* ← argmax_{r ∈ R\S}  Σ_{q∈Q} max(0, s(q,r) − V[q])</a:t>
            </a:r>
            <a:endParaRPr sz="1150">
              <a:solidFill>
                <a:srgbClr val="252525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>
                <a:solidFill>
                  <a:srgbClr val="252525"/>
                </a:solidFill>
                <a:latin typeface="Consolas" panose="020B0609020204030204"/>
              </a:rPr>
              <a:t>    S ← S ∪ {r*}</a:t>
            </a:r>
            <a:endParaRPr sz="1150">
              <a:solidFill>
                <a:srgbClr val="252525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>
                <a:solidFill>
                  <a:srgbClr val="252525"/>
                </a:solidFill>
                <a:latin typeface="Consolas" panose="020B0609020204030204"/>
              </a:rPr>
              <a:t>    for q ∈ Q:  V[q] ← max(V[q], s(q, r*))</a:t>
            </a:r>
            <a:endParaRPr sz="1150">
              <a:solidFill>
                <a:srgbClr val="252525"/>
              </a:solidFill>
              <a:latin typeface="Consolas" panose="020B0609020204030204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>
                <a:solidFill>
                  <a:srgbClr val="252525"/>
                </a:solidFill>
                <a:latin typeface="Consolas" panose="020B0609020204030204"/>
              </a:rPr>
              <a:t>return S</a:t>
            </a:r>
            <a:endParaRPr sz="1150">
              <a:solidFill>
                <a:srgbClr val="252525"/>
              </a:solidFill>
              <a:latin typeface="Consolas" panose="020B0609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60920" y="1600200"/>
            <a:ext cx="4160520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6B6B6B"/>
                </a:solidFill>
                <a:latin typeface="Arial" panose="020B0604020202020204"/>
              </a:rPr>
              <a:t>Sample size</a:t>
            </a:r>
            <a:endParaRPr sz="1400" b="0">
              <a:solidFill>
                <a:srgbClr val="6B6B6B"/>
              </a:solidFill>
              <a:latin typeface="Arial" panose="020B0604020202020204"/>
            </a:endParaRP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550" b="0">
                <a:solidFill>
                  <a:srgbClr val="252525"/>
                </a:solidFill>
                <a:latin typeface="Arial" panose="020B0604020202020204"/>
              </a:rPr>
              <a:t>N = O( (k log|R| + log(1/δ)) / ε² )</a:t>
            </a:r>
            <a:endParaRPr sz="1550" b="0">
              <a:solidFill>
                <a:srgbClr val="252525"/>
              </a:solidFill>
              <a:latin typeface="Arial" panose="020B0604020202020204"/>
            </a:endParaRPr>
          </a:p>
          <a:p>
            <a:pPr algn="l">
              <a:lnSpc>
                <a:spcPct val="112000"/>
              </a:lnSpc>
              <a:spcAft>
                <a:spcPts val="1600"/>
              </a:spcAft>
            </a:pPr>
            <a:r>
              <a:rPr sz="1400" b="0">
                <a:solidFill>
                  <a:srgbClr val="252525"/>
                </a:solidFill>
                <a:latin typeface="Arial" panose="020B0604020202020204"/>
              </a:rPr>
              <a:t>Cost  O(k|R|N) score evaluations, O(N) memory — independent of how complex the query distribution is.</a:t>
            </a:r>
            <a:endParaRPr sz="1400" b="0">
              <a:solidFill>
                <a:srgbClr val="252525"/>
              </a:solidFill>
              <a:latin typeface="Arial" panose="020B0604020202020204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50" b="1">
                <a:solidFill>
                  <a:srgbClr val="22304A"/>
                </a:solidFill>
                <a:latin typeface="Arial" panose="020B0604020202020204"/>
              </a:rPr>
              <a:t>Theorem 3.1</a:t>
            </a:r>
            <a:endParaRPr sz="1450" b="1">
              <a:solidFill>
                <a:srgbClr val="22304A"/>
              </a:solidFill>
              <a:latin typeface="Arial" panose="020B0604020202020204"/>
            </a:endParaRP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550" b="0">
                <a:solidFill>
                  <a:srgbClr val="252525"/>
                </a:solidFill>
                <a:latin typeface="Arial" panose="020B0604020202020204"/>
              </a:rPr>
              <a:t>F(S) ≥ (1 − 1/e) · OPT − ε      w.p. 1 − δ</a:t>
            </a:r>
            <a:endParaRPr sz="1550" b="0">
              <a:solidFill>
                <a:srgbClr val="252525"/>
              </a:solidFill>
              <a:latin typeface="Arial" panose="020B0604020202020204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252525"/>
                </a:solidFill>
                <a:latin typeface="Arial" panose="020B0604020202020204"/>
              </a:rPr>
              <a:t>Tight: coverage functions admit no better polynomial-time ratio (Feige, 1998; Wolsey, 1982).</a:t>
            </a:r>
            <a:endParaRPr sz="1400" b="0">
              <a:solidFill>
                <a:srgbClr val="252525"/>
              </a:solidFill>
              <a:latin typeface="Arial" panose="020B060402020202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6199632"/>
            <a:ext cx="12191695" cy="65836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336792"/>
            <a:ext cx="1087495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>
                <a:solidFill>
                  <a:srgbClr val="141414"/>
                </a:solidFill>
                <a:latin typeface="Arial" panose="020B0604020202020204"/>
              </a:rPr>
              <a:t>1 − 1/e ≈ 0.63 is the worst case; at k = 5 the learned portfolio is close to the per-query oracle.</a:t>
            </a:r>
            <a:endParaRPr sz="1550" b="1">
              <a:solidFill>
                <a:srgbClr val="141414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064240" y="594360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>
                <a:solidFill>
                  <a:srgbClr val="6B6B6B"/>
                </a:solidFill>
                <a:latin typeface="Arial" panose="020B0604020202020204"/>
              </a:rPr>
              <a:t>8</a:t>
            </a:r>
            <a:endParaRPr sz="950" b="0">
              <a:solidFill>
                <a:srgbClr val="6B6B6B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110">
                <a:solidFill>
                  <a:srgbClr val="6B6B6B"/>
                </a:solidFill>
                <a:latin typeface="Arial" panose="020B0604020202020204"/>
              </a:rPr>
              <a:t>PIPELINE</a:t>
            </a:r>
            <a:endParaRPr sz="1000" b="1" spc="110">
              <a:solidFill>
                <a:srgbClr val="6B6B6B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530352"/>
            <a:ext cx="1087495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141414"/>
                </a:solidFill>
                <a:latin typeface="Arial" panose="020B0604020202020204"/>
              </a:rPr>
              <a:t>Offline portfolio, online router, parallel execution</a:t>
            </a:r>
            <a:endParaRPr sz="2900" b="1">
              <a:solidFill>
                <a:srgbClr val="141414"/>
              </a:solidFill>
              <a:latin typeface="Arial" panose="020B0604020202020204"/>
            </a:endParaRPr>
          </a:p>
        </p:txBody>
      </p:sp>
      <p:pic>
        <p:nvPicPr>
          <p:cNvPr id="5" name="Picture 4" descr="fig2_pipe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531362"/>
            <a:ext cx="10881360" cy="20579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3840480"/>
            <a:ext cx="1087495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i="1">
                <a:solidFill>
                  <a:srgbClr val="6B6B6B"/>
                </a:solidFill>
                <a:latin typeface="Arial" panose="020B0604020202020204"/>
              </a:rPr>
              <a:t>Figure 2 (paper): the router keeps the top-ℓ members; retrieval and answering run in parallel; a selector LLM merges the answers.</a:t>
            </a:r>
            <a:endParaRPr sz="1100" i="1">
              <a:solidFill>
                <a:srgbClr val="6B6B6B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58368" y="4389120"/>
            <a:ext cx="108813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50" b="1">
                <a:solidFill>
                  <a:srgbClr val="252525"/>
                </a:solidFill>
                <a:latin typeface="Arial" panose="020B0604020202020204"/>
              </a:rPr>
              <a:t>Offline:</a:t>
            </a:r>
            <a:r>
              <a:rPr sz="1550" b="0">
                <a:solidFill>
                  <a:srgbClr val="252525"/>
                </a:solidFill>
                <a:latin typeface="Arial" panose="020B0604020202020204"/>
              </a:rPr>
              <a:t> one selection over the whole candidate pool.     </a:t>
            </a:r>
            <a:r>
              <a:rPr sz="1550" b="1">
                <a:solidFill>
                  <a:srgbClr val="252525"/>
                </a:solidFill>
                <a:latin typeface="Arial" panose="020B0604020202020204"/>
              </a:rPr>
              <a:t>Online:</a:t>
            </a:r>
            <a:r>
              <a:rPr sz="1550" b="0">
                <a:solidFill>
                  <a:srgbClr val="252525"/>
                </a:solidFill>
                <a:latin typeface="Arial" panose="020B0604020202020204"/>
              </a:rPr>
              <a:t> one routing pass, ℓ retrievals and ℓ generations — all independent.</a:t>
            </a:r>
            <a:endParaRPr sz="1550" b="0">
              <a:solidFill>
                <a:srgbClr val="252525"/>
              </a:solidFill>
              <a:latin typeface="Arial" panose="020B060402020202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6199632"/>
            <a:ext cx="12191695" cy="65836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336792"/>
            <a:ext cx="1087495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>
                <a:solidFill>
                  <a:srgbClr val="141414"/>
                </a:solidFill>
                <a:latin typeface="Arial" panose="020B0604020202020204"/>
              </a:rPr>
              <a:t>Online cost has a ceiling: one router pass plus ℓ parallel branches.</a:t>
            </a:r>
            <a:endParaRPr sz="1550" b="1">
              <a:solidFill>
                <a:srgbClr val="141414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064240" y="594360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>
                <a:solidFill>
                  <a:srgbClr val="6B6B6B"/>
                </a:solidFill>
                <a:latin typeface="Arial" panose="020B0604020202020204"/>
              </a:rPr>
              <a:t>9</a:t>
            </a:r>
            <a:endParaRPr sz="950" b="0">
              <a:solidFill>
                <a:srgbClr val="6B6B6B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110">
                <a:solidFill>
                  <a:srgbClr val="6B6B6B"/>
                </a:solidFill>
                <a:latin typeface="Arial" panose="020B0604020202020204"/>
              </a:rPr>
              <a:t>CANDIDATES</a:t>
            </a:r>
            <a:endParaRPr sz="1000" b="1" spc="110">
              <a:solidFill>
                <a:srgbClr val="6B6B6B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530352"/>
            <a:ext cx="1087495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141414"/>
                </a:solidFill>
                <a:latin typeface="Arial" panose="020B0604020202020204"/>
              </a:rPr>
              <a:t>360 candidate retrievers, three families</a:t>
            </a:r>
            <a:endParaRPr sz="2900" b="1">
              <a:solidFill>
                <a:srgbClr val="141414"/>
              </a:solidFill>
              <a:latin typeface="Arial" panose="020B0604020202020204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600200"/>
          <a:ext cx="10881358" cy="213969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67458"/>
                <a:gridCol w="870508"/>
                <a:gridCol w="3917289"/>
                <a:gridCol w="4026103"/>
              </a:tblGrid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Family</a:t>
                      </a:r>
                      <a:endParaRPr sz="115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Count</a:t>
                      </a:r>
                      <a:endParaRPr sz="115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What varies</a:t>
                      </a:r>
                      <a:endParaRPr sz="115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Mechanism</a:t>
                      </a:r>
                      <a:endParaRPr sz="115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22304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Discounted Similarity</a:t>
                      </a:r>
                      <a:endParaRPr sz="120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282</a:t>
                      </a:r>
                      <a:endParaRPr sz="120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γ (14 values) × r (10 values) × 2 backbones</a:t>
                      </a:r>
                      <a:endParaRPr sz="120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down-weights chunks too similar to those already picked</a:t>
                      </a:r>
                      <a:endParaRPr sz="120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Vendi</a:t>
                      </a:r>
                      <a:endParaRPr sz="120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42</a:t>
                      </a:r>
                      <a:endParaRPr sz="120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s ∈ {0, 0.05, …, 1} × 2 backbones</a:t>
                      </a:r>
                      <a:endParaRPr sz="120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relevance–diversity trade-off through the Vendi score</a:t>
                      </a:r>
                      <a:endParaRPr sz="120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4F5F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Graph-dense</a:t>
                      </a:r>
                      <a:endParaRPr sz="120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36</a:t>
                      </a:r>
                      <a:endParaRPr sz="120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20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2</a:t>
                      </a:r>
                      <a:r>
                        <a:rPr sz="120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backbone × </a:t>
                      </a:r>
                      <a:r>
                        <a:rPr lang="en-US" sz="120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3</a:t>
                      </a:r>
                      <a:r>
                        <a:rPr sz="120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hops {1,3,5} × </a:t>
                      </a:r>
                      <a:r>
                        <a:rPr lang="en-US" sz="120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3</a:t>
                      </a:r>
                      <a:r>
                        <a:rPr sz="120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df × </a:t>
                      </a:r>
                      <a:r>
                        <a:rPr lang="en-US" sz="120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2</a:t>
                      </a:r>
                      <a:r>
                        <a:rPr sz="120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#candidates</a:t>
                      </a:r>
                      <a:endParaRPr sz="120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entity–chunk graph expansion, then dense re-ranking</a:t>
                      </a:r>
                      <a:endParaRPr sz="120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3977639"/>
            <a:ext cx="108813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50" b="0">
                <a:solidFill>
                  <a:srgbClr val="6B6B6B"/>
                </a:solidFill>
                <a:latin typeface="Arial" panose="020B0604020202020204"/>
              </a:rPr>
              <a:t>All candidates share one interface: query in, four chunks out. Two dense backbones (MPNet, E5), FAISS pre-filter of 1,000 candidates, 512-token chunks.</a:t>
            </a:r>
            <a:endParaRPr sz="1450" b="0">
              <a:solidFill>
                <a:srgbClr val="6B6B6B"/>
              </a:solidFill>
              <a:latin typeface="Arial" panose="020B060402020202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199632"/>
            <a:ext cx="12191695" cy="65836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336792"/>
            <a:ext cx="1087495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>
                <a:solidFill>
                  <a:srgbClr val="141414"/>
                </a:solidFill>
                <a:latin typeface="Arial" panose="020B0604020202020204"/>
              </a:rPr>
              <a:t>Diversity comes from family × embedding backbone × hyper-parameters — not from 360 ideas.</a:t>
            </a:r>
            <a:endParaRPr sz="1550" b="1">
              <a:solidFill>
                <a:srgbClr val="141414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064240" y="594360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>
                <a:solidFill>
                  <a:srgbClr val="6B6B6B"/>
                </a:solidFill>
                <a:latin typeface="Arial" panose="020B0604020202020204"/>
              </a:rPr>
              <a:t>10</a:t>
            </a:r>
            <a:endParaRPr sz="950" b="0">
              <a:solidFill>
                <a:srgbClr val="6B6B6B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110">
                <a:solidFill>
                  <a:srgbClr val="6B6B6B"/>
                </a:solidFill>
                <a:latin typeface="Arial" panose="020B0604020202020204"/>
              </a:rPr>
              <a:t>LEARNED PORTFOLIO</a:t>
            </a:r>
            <a:endParaRPr sz="1000" b="1" spc="110">
              <a:solidFill>
                <a:srgbClr val="6B6B6B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530352"/>
            <a:ext cx="1087495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141414"/>
                </a:solidFill>
                <a:latin typeface="Arial" panose="020B0604020202020204"/>
              </a:rPr>
              <a:t>What the greedy actually selects (Table 2)</a:t>
            </a:r>
            <a:endParaRPr sz="2900" b="1">
              <a:solidFill>
                <a:srgbClr val="141414"/>
              </a:solidFill>
              <a:latin typeface="Arial" panose="020B0604020202020204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600200"/>
          <a:ext cx="6766558" cy="28895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676656"/>
                <a:gridCol w="2571292"/>
                <a:gridCol w="1217980"/>
                <a:gridCol w="230063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Rank</a:t>
                      </a:r>
                      <a:endParaRPr sz="115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Retriever</a:t>
                      </a:r>
                      <a:endParaRPr sz="115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Avg. score</a:t>
                      </a:r>
                      <a:endParaRPr sz="115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Hyper-parameters</a:t>
                      </a:r>
                      <a:endParaRPr sz="115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22304A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1</a:t>
                      </a:r>
                      <a:endParaRPr sz="120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GraphDense / E5</a:t>
                      </a:r>
                      <a:endParaRPr sz="120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0.6058</a:t>
                      </a:r>
                      <a:endParaRPr sz="120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hops = 1, df = 500</a:t>
                      </a:r>
                      <a:endParaRPr sz="120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2</a:t>
                      </a:r>
                      <a:endParaRPr sz="120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Vendi / E5</a:t>
                      </a:r>
                      <a:endParaRPr sz="120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0.5421</a:t>
                      </a:r>
                      <a:endParaRPr sz="120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s = 0.05</a:t>
                      </a:r>
                      <a:endParaRPr sz="120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4F5F7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3</a:t>
                      </a:r>
                      <a:endParaRPr sz="120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GraphDense / E5</a:t>
                      </a:r>
                      <a:endParaRPr sz="120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0.5532</a:t>
                      </a:r>
                      <a:endParaRPr sz="120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hops = 3, df = 100</a:t>
                      </a:r>
                      <a:endParaRPr sz="120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4</a:t>
                      </a:r>
                      <a:endParaRPr sz="120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GraphDense / MPNet</a:t>
                      </a:r>
                      <a:endParaRPr sz="120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0.4985</a:t>
                      </a:r>
                      <a:endParaRPr sz="120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hops = 3, df = 100</a:t>
                      </a:r>
                      <a:endParaRPr sz="120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4F5F7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5</a:t>
                      </a:r>
                      <a:endParaRPr sz="120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Vendi / E5</a:t>
                      </a:r>
                      <a:endParaRPr sz="120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0.5223</a:t>
                      </a:r>
                      <a:endParaRPr sz="120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s = 0.20</a:t>
                      </a:r>
                      <a:endParaRPr sz="120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818120" y="1645920"/>
            <a:ext cx="3749039" cy="393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50" b="0">
                <a:solidFill>
                  <a:srgbClr val="22304A"/>
                </a:solidFill>
                <a:latin typeface="Arial" panose="020B0604020202020204"/>
              </a:rPr>
              <a:t>Ranks 3–5 have a lower solo score than rank 2</a:t>
            </a:r>
            <a:endParaRPr sz="1450" b="0">
              <a:solidFill>
                <a:srgbClr val="22304A"/>
              </a:solidFill>
              <a:latin typeface="Arial" panose="020B0604020202020204"/>
            </a:endParaRPr>
          </a:p>
          <a:p>
            <a:pPr algn="l">
              <a:lnSpc>
                <a:spcPct val="112000"/>
              </a:lnSpc>
              <a:spcAft>
                <a:spcPts val="1800"/>
              </a:spcAft>
            </a:pPr>
            <a:r>
              <a:rPr sz="1350" b="0">
                <a:solidFill>
                  <a:srgbClr val="252525"/>
                </a:solidFill>
                <a:latin typeface="Arial" panose="020B0604020202020204"/>
              </a:rPr>
              <a:t>Greedy buys marginal gain, not rank — each member covers queries the earlier ones miss.</a:t>
            </a:r>
            <a:endParaRPr sz="1350" b="0">
              <a:solidFill>
                <a:srgbClr val="252525"/>
              </a:solidFill>
              <a:latin typeface="Arial" panose="020B0604020202020204"/>
            </a:endParaRP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50" b="0">
                <a:solidFill>
                  <a:srgbClr val="A93225"/>
                </a:solidFill>
                <a:latin typeface="Arial" panose="020B0604020202020204"/>
              </a:rPr>
              <a:t>None of the 282 DS candidates is selected</a:t>
            </a:r>
            <a:endParaRPr sz="1450" b="0">
              <a:solidFill>
                <a:srgbClr val="A93225"/>
              </a:solidFill>
              <a:latin typeface="Arial" panose="020B0604020202020204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0">
                <a:solidFill>
                  <a:srgbClr val="252525"/>
                </a:solidFill>
                <a:latin typeface="Arial" panose="020B0604020202020204"/>
              </a:rPr>
              <a:t>Diversified-similarity behaviour is subsumed by Vendi; under a maximum it adds nothing.</a:t>
            </a:r>
            <a:endParaRPr sz="1350" b="0">
              <a:solidFill>
                <a:srgbClr val="252525"/>
              </a:solidFill>
              <a:latin typeface="Arial" panose="020B060402020202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199632"/>
            <a:ext cx="12191695" cy="65836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336792"/>
            <a:ext cx="1087495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>
                <a:solidFill>
                  <a:srgbClr val="141414"/>
                </a:solidFill>
                <a:latin typeface="Arial" panose="020B0604020202020204"/>
              </a:rPr>
              <a:t>A portfolio is not a leaderboard: members are chosen for what the others miss.</a:t>
            </a:r>
            <a:endParaRPr sz="1550" b="1">
              <a:solidFill>
                <a:srgbClr val="141414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064240" y="594360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>
                <a:solidFill>
                  <a:srgbClr val="6B6B6B"/>
                </a:solidFill>
                <a:latin typeface="Arial" panose="020B0604020202020204"/>
              </a:rPr>
              <a:t>11</a:t>
            </a:r>
            <a:endParaRPr sz="950" b="0">
              <a:solidFill>
                <a:srgbClr val="6B6B6B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110">
                <a:solidFill>
                  <a:srgbClr val="6B6B6B"/>
                </a:solidFill>
                <a:latin typeface="Arial" panose="020B0604020202020204"/>
              </a:rPr>
              <a:t>ROUTER</a:t>
            </a:r>
            <a:endParaRPr sz="1000" b="1" spc="110">
              <a:solidFill>
                <a:srgbClr val="6B6B6B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530352"/>
            <a:ext cx="1087495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141414"/>
                </a:solidFill>
                <a:latin typeface="Arial" panose="020B0604020202020204"/>
              </a:rPr>
              <a:t>A three-modal router, trained from retrieval recall</a:t>
            </a:r>
            <a:endParaRPr sz="2900" b="1">
              <a:solidFill>
                <a:srgbClr val="141414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58368" y="1600200"/>
            <a:ext cx="5760720" cy="393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300"/>
              </a:spcAft>
            </a:pPr>
            <a:r>
              <a:rPr sz="1550" b="1">
                <a:solidFill>
                  <a:srgbClr val="252525"/>
                </a:solidFill>
                <a:latin typeface="Arial" panose="020B0604020202020204"/>
              </a:rPr>
              <a:t>Representation.</a:t>
            </a:r>
            <a:r>
              <a:rPr sz="1550" b="0">
                <a:solidFill>
                  <a:srgbClr val="252525"/>
                </a:solidFill>
                <a:latin typeface="Arial" panose="020B0604020202020204"/>
              </a:rPr>
              <a:t>  query text (frozen FLAN-T5-Large) ⊕ MPNet embedding ⊕ E5 embedding → 256-d projections → MLP → L2 normalised.</a:t>
            </a:r>
            <a:endParaRPr sz="1550" b="0">
              <a:solidFill>
                <a:srgbClr val="252525"/>
              </a:solidFill>
              <a:latin typeface="Arial" panose="020B0604020202020204"/>
            </a:endParaRPr>
          </a:p>
          <a:p>
            <a:pPr algn="l">
              <a:lnSpc>
                <a:spcPct val="112000"/>
              </a:lnSpc>
              <a:spcAft>
                <a:spcPts val="1300"/>
              </a:spcAft>
            </a:pPr>
            <a:r>
              <a:rPr sz="1550" b="1">
                <a:solidFill>
                  <a:srgbClr val="252525"/>
                </a:solidFill>
                <a:latin typeface="Arial" panose="020B0604020202020204"/>
              </a:rPr>
              <a:t>Scoring.</a:t>
            </a:r>
            <a:r>
              <a:rPr sz="1550" b="0">
                <a:solidFill>
                  <a:srgbClr val="252525"/>
                </a:solidFill>
                <a:latin typeface="Arial" panose="020B0604020202020204"/>
              </a:rPr>
              <a:t>  one learnable prototype per portfolio member; score = cosine similarity.</a:t>
            </a:r>
            <a:endParaRPr sz="1550" b="0">
              <a:solidFill>
                <a:srgbClr val="252525"/>
              </a:solidFill>
              <a:latin typeface="Arial" panose="020B0604020202020204"/>
            </a:endParaRPr>
          </a:p>
          <a:p>
            <a:pPr algn="l">
              <a:lnSpc>
                <a:spcPct val="112000"/>
              </a:lnSpc>
              <a:spcAft>
                <a:spcPts val="1300"/>
              </a:spcAft>
            </a:pPr>
            <a:r>
              <a:rPr sz="1550" b="1">
                <a:solidFill>
                  <a:srgbClr val="252525"/>
                </a:solidFill>
                <a:latin typeface="Arial" panose="020B0604020202020204"/>
              </a:rPr>
              <a:t>Supervision.</a:t>
            </a:r>
            <a:r>
              <a:rPr sz="1550" b="0">
                <a:solidFill>
                  <a:srgbClr val="252525"/>
                </a:solidFill>
                <a:latin typeface="Arial" panose="020B0604020202020204"/>
              </a:rPr>
              <a:t>  winners W(q) = members with the best Recall@K on that training query.</a:t>
            </a:r>
            <a:endParaRPr sz="1550" b="0">
              <a:solidFill>
                <a:srgbClr val="252525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537960" y="1600200"/>
            <a:ext cx="4983480" cy="196596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1737360"/>
            <a:ext cx="457200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50" b="0">
                <a:solidFill>
                  <a:srgbClr val="22304A"/>
                </a:solidFill>
                <a:latin typeface="Arial" panose="020B0604020202020204"/>
              </a:rPr>
              <a:t>Multi-positive contrastive loss</a:t>
            </a:r>
            <a:endParaRPr sz="1350" b="0">
              <a:solidFill>
                <a:srgbClr val="22304A"/>
              </a:solidFill>
              <a:latin typeface="Arial" panose="020B0604020202020204"/>
            </a:endParaRP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52525"/>
                </a:solidFill>
                <a:latin typeface="Consolas" panose="020B0609020204030204"/>
              </a:rPr>
              <a:t>L(q) = − (1/|W|) Σ_{r∈W} log softmax_r( sim(q, r) )</a:t>
            </a:r>
            <a:endParaRPr sz="1200">
              <a:solidFill>
                <a:srgbClr val="252525"/>
              </a:solidFill>
              <a:latin typeface="Consolas" panose="020B0609020204030204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Arial" panose="020B0604020202020204"/>
              </a:rPr>
              <a:t>All tied-best retrievers are positives — no arbitrary argmax label.</a:t>
            </a:r>
            <a:endParaRPr sz="1300" b="0">
              <a:solidFill>
                <a:srgbClr val="6B6B6B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8368" y="4160520"/>
            <a:ext cx="576072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50" b="1">
                <a:solidFill>
                  <a:srgbClr val="252525"/>
                </a:solidFill>
                <a:latin typeface="Arial" panose="020B0604020202020204"/>
              </a:rPr>
              <a:t>Training details.</a:t>
            </a:r>
            <a:r>
              <a:rPr sz="1450" b="0">
                <a:solidFill>
                  <a:srgbClr val="252525"/>
                </a:solidFill>
                <a:latin typeface="Arial" panose="020B0604020202020204"/>
              </a:rPr>
              <a:t>  drop zero-recall queries and ties larger than 3; balanced batching by winner structure; only non-T5 weights are trained (AdamW, 3e-4, 10 epochs, batch 64).</a:t>
            </a:r>
            <a:endParaRPr sz="1450" b="0">
              <a:solidFill>
                <a:srgbClr val="252525"/>
              </a:solidFill>
              <a:latin typeface="Arial" panose="020B060402020202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6199632"/>
            <a:ext cx="12191695" cy="65836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6336792"/>
            <a:ext cx="1087495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>
                <a:solidFill>
                  <a:srgbClr val="141414"/>
                </a:solidFill>
                <a:latin typeface="Arial" panose="020B0604020202020204"/>
              </a:rPr>
              <a:t>It only has to rank k = 4 candidates — and its top-2 / top-3 are already close to the oracle.</a:t>
            </a:r>
            <a:endParaRPr sz="1550" b="1">
              <a:solidFill>
                <a:srgbClr val="141414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64240" y="594360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>
                <a:solidFill>
                  <a:srgbClr val="6B6B6B"/>
                </a:solidFill>
                <a:latin typeface="Arial" panose="020B0604020202020204"/>
              </a:rPr>
              <a:t>12</a:t>
            </a:r>
            <a:endParaRPr sz="950" b="0">
              <a:solidFill>
                <a:srgbClr val="6B6B6B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110">
                <a:solidFill>
                  <a:srgbClr val="6B6B6B"/>
                </a:solidFill>
                <a:latin typeface="Arial" panose="020B0604020202020204"/>
              </a:rPr>
              <a:t>SETUP</a:t>
            </a:r>
            <a:endParaRPr sz="1000" b="1" spc="110">
              <a:solidFill>
                <a:srgbClr val="6B6B6B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530352"/>
            <a:ext cx="1087495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141414"/>
                </a:solidFill>
                <a:latin typeface="Arial" panose="020B0604020202020204"/>
              </a:rPr>
              <a:t>Four benchmarks, two answer models, one protocol</a:t>
            </a:r>
            <a:endParaRPr sz="2900" b="1">
              <a:solidFill>
                <a:srgbClr val="141414"/>
              </a:solidFill>
              <a:latin typeface="Arial" panose="020B0604020202020204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600200"/>
          <a:ext cx="7680958" cy="291693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04288"/>
                <a:gridCol w="1228953"/>
                <a:gridCol w="1075334"/>
                <a:gridCol w="1689811"/>
                <a:gridCol w="1382572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Dataset</a:t>
                      </a:r>
                      <a:endParaRPr sz="105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Train</a:t>
                      </a:r>
                      <a:endParaRPr sz="105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Test</a:t>
                      </a:r>
                      <a:endParaRPr sz="105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Corpus chunks</a:t>
                      </a:r>
                      <a:endParaRPr sz="105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Avg. supporting docs</a:t>
                      </a:r>
                      <a:endParaRPr sz="105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22304A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HotpotQA</a:t>
                      </a:r>
                      <a:endParaRPr sz="120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88,066</a:t>
                      </a:r>
                      <a:endParaRPr sz="120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9,786</a:t>
                      </a:r>
                      <a:endParaRPr sz="120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5,233,329</a:t>
                      </a:r>
                      <a:endParaRPr sz="120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2.00</a:t>
                      </a:r>
                      <a:endParaRPr sz="120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MusiQue</a:t>
                      </a:r>
                      <a:endParaRPr sz="120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19,938</a:t>
                      </a:r>
                      <a:endParaRPr sz="120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2,417</a:t>
                      </a:r>
                      <a:endParaRPr sz="120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101,962</a:t>
                      </a:r>
                      <a:endParaRPr sz="120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2.37</a:t>
                      </a:r>
                      <a:endParaRPr sz="120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4F5F7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TriviaQA</a:t>
                      </a:r>
                      <a:endParaRPr sz="120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60,413</a:t>
                      </a:r>
                      <a:endParaRPr sz="120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8,837</a:t>
                      </a:r>
                      <a:endParaRPr sz="120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856,435</a:t>
                      </a:r>
                      <a:endParaRPr sz="120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11.86</a:t>
                      </a:r>
                      <a:endParaRPr sz="120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2WikiMultiHopQA</a:t>
                      </a:r>
                      <a:endParaRPr sz="120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167,454</a:t>
                      </a:r>
                      <a:endParaRPr sz="120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12,576</a:t>
                      </a:r>
                      <a:endParaRPr sz="120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384,857</a:t>
                      </a:r>
                      <a:endParaRPr sz="120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2.42</a:t>
                      </a:r>
                      <a:endParaRPr sz="120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4800600"/>
            <a:ext cx="76809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50" b="0">
                <a:solidFill>
                  <a:srgbClr val="6B6B6B"/>
                </a:solidFill>
                <a:latin typeface="Arial" panose="020B0604020202020204"/>
              </a:rPr>
              <a:t>Single-hop and multi-hop questions; corpora that differ by a factor of 50.</a:t>
            </a:r>
            <a:endParaRPr sz="1450" b="0">
              <a:solidFill>
                <a:srgbClr val="6B6B6B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778240" y="1600200"/>
            <a:ext cx="2788920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50" b="0">
                <a:solidFill>
                  <a:srgbClr val="22304A"/>
                </a:solidFill>
                <a:latin typeface="Arial" panose="020B0604020202020204"/>
              </a:rPr>
              <a:t>Protocol</a:t>
            </a:r>
            <a:endParaRPr sz="1350" b="0">
              <a:solidFill>
                <a:srgbClr val="22304A"/>
              </a:solidFill>
              <a:latin typeface="Arial" panose="020B0604020202020204"/>
            </a:endParaRP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50" b="0">
                <a:solidFill>
                  <a:srgbClr val="252525"/>
                </a:solidFill>
                <a:latin typeface="Arial" panose="020B0604020202020204"/>
              </a:rPr>
              <a:t>Answer models: Gemma-3-27B-It and Llama-3.1-70B-Instruct</a:t>
            </a:r>
            <a:endParaRPr sz="1250" b="0">
              <a:solidFill>
                <a:srgbClr val="252525"/>
              </a:solidFill>
              <a:latin typeface="Arial" panose="020B0604020202020204"/>
            </a:endParaRP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50" b="0">
                <a:solidFill>
                  <a:srgbClr val="252525"/>
                </a:solidFill>
                <a:latin typeface="Arial" panose="020B0604020202020204"/>
              </a:rPr>
              <a:t>Selector: an LLM judge over the ℓ candidate answers</a:t>
            </a:r>
            <a:endParaRPr sz="1250" b="0">
              <a:solidFill>
                <a:srgbClr val="252525"/>
              </a:solidFill>
              <a:latin typeface="Arial" panose="020B0604020202020204"/>
            </a:endParaRP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50" b="0">
                <a:solidFill>
                  <a:srgbClr val="252525"/>
                </a:solidFill>
                <a:latin typeface="Arial" panose="020B0604020202020204"/>
              </a:rPr>
              <a:t>Retrieval metrics: support Recall@k, support F1@k</a:t>
            </a:r>
            <a:endParaRPr sz="1250" b="0">
              <a:solidFill>
                <a:srgbClr val="252525"/>
              </a:solidFill>
              <a:latin typeface="Arial" panose="020B0604020202020204"/>
            </a:endParaRP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50" b="0">
                <a:solidFill>
                  <a:srgbClr val="252525"/>
                </a:solidFill>
                <a:latin typeface="Arial" panose="020B0604020202020204"/>
              </a:rPr>
              <a:t>End to end: Exact Match, tokens, wall-clock time</a:t>
            </a:r>
            <a:endParaRPr sz="1250" b="0">
              <a:solidFill>
                <a:srgbClr val="252525"/>
              </a:solidFill>
              <a:latin typeface="Arial" panose="020B060402020202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6199632"/>
            <a:ext cx="12191695" cy="65836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336792"/>
            <a:ext cx="1087495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>
                <a:solidFill>
                  <a:srgbClr val="141414"/>
                </a:solidFill>
                <a:latin typeface="Arial" panose="020B0604020202020204"/>
              </a:rPr>
              <a:t>Same corpus, chunking, prompts and answer model for every method — the comparison is controlled.</a:t>
            </a:r>
            <a:endParaRPr sz="1550" b="1">
              <a:solidFill>
                <a:srgbClr val="141414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064240" y="594360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>
                <a:solidFill>
                  <a:srgbClr val="6B6B6B"/>
                </a:solidFill>
                <a:latin typeface="Arial" panose="020B0604020202020204"/>
              </a:rPr>
              <a:t>13</a:t>
            </a:r>
            <a:endParaRPr sz="950" b="0">
              <a:solidFill>
                <a:srgbClr val="6B6B6B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110">
                <a:solidFill>
                  <a:srgbClr val="6B6B6B"/>
                </a:solidFill>
                <a:latin typeface="Arial" panose="020B0604020202020204"/>
              </a:rPr>
              <a:t>RESULTS · RETRIEVAL COVERAGE</a:t>
            </a:r>
            <a:endParaRPr sz="1000" b="1" spc="110">
              <a:solidFill>
                <a:srgbClr val="6B6B6B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530352"/>
            <a:ext cx="1087495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141414"/>
                </a:solidFill>
                <a:latin typeface="Arial" panose="020B0604020202020204"/>
              </a:rPr>
              <a:t>Portfolios close most of the coverage gap</a:t>
            </a:r>
            <a:endParaRPr sz="2900" b="1">
              <a:solidFill>
                <a:srgbClr val="141414"/>
              </a:solidFill>
              <a:latin typeface="Arial" panose="020B0604020202020204"/>
            </a:endParaRPr>
          </a:p>
        </p:txBody>
      </p:sp>
      <p:pic>
        <p:nvPicPr>
          <p:cNvPr id="5" name="Picture 4" descr="fig3_cover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5297" y="1494028"/>
            <a:ext cx="10327500" cy="3703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5257800"/>
            <a:ext cx="1087495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i="1">
                <a:solidFill>
                  <a:srgbClr val="6B6B6B"/>
                </a:solidFill>
                <a:latin typeface="Arial" panose="020B0604020202020204"/>
              </a:rPr>
              <a:t>Figure 3 (paper): best-of-k support score as the portfolio grows, averaged over the four QA benchmarks.</a:t>
            </a:r>
            <a:endParaRPr sz="1100" i="1">
              <a:solidFill>
                <a:srgbClr val="6B6B6B"/>
              </a:solidFill>
              <a:latin typeface="Arial" panose="020B060402020202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199632"/>
            <a:ext cx="12191695" cy="65836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336792"/>
            <a:ext cx="1087495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>
                <a:solidFill>
                  <a:srgbClr val="141414"/>
                </a:solidFill>
                <a:latin typeface="Arial" panose="020B0604020202020204"/>
              </a:rPr>
              <a:t>k = 5: recall 0.491 → 0.594 and F1 0.431 → 0.500, while the average-best baseline stays at 0.492.</a:t>
            </a:r>
            <a:endParaRPr sz="1550" b="1">
              <a:solidFill>
                <a:srgbClr val="141414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064240" y="594360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>
                <a:solidFill>
                  <a:srgbClr val="6B6B6B"/>
                </a:solidFill>
                <a:latin typeface="Arial" panose="020B0604020202020204"/>
              </a:rPr>
              <a:t>14</a:t>
            </a:r>
            <a:endParaRPr sz="950" b="0">
              <a:solidFill>
                <a:srgbClr val="6B6B6B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110">
                <a:solidFill>
                  <a:srgbClr val="6B6B6B"/>
                </a:solidFill>
                <a:latin typeface="Arial" panose="020B0604020202020204"/>
              </a:rPr>
              <a:t>RESULTS · CONTROLS</a:t>
            </a:r>
            <a:endParaRPr sz="1000" b="1" spc="110">
              <a:solidFill>
                <a:srgbClr val="6B6B6B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530352"/>
            <a:ext cx="1087495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141414"/>
                </a:solidFill>
                <a:latin typeface="Arial" panose="020B0604020202020204"/>
              </a:rPr>
              <a:t>Two controls rule out the obvious explanations</a:t>
            </a:r>
            <a:endParaRPr sz="2900" b="1">
              <a:solidFill>
                <a:srgbClr val="141414"/>
              </a:solidFill>
              <a:latin typeface="Arial" panose="020B060402020202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8368" y="1600200"/>
            <a:ext cx="5303520" cy="288036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7830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>
                <a:solidFill>
                  <a:srgbClr val="A93225"/>
                </a:solidFill>
                <a:latin typeface="Arial" panose="020B0604020202020204"/>
              </a:rPr>
              <a:t>It is not “take the best ones”</a:t>
            </a:r>
            <a:endParaRPr sz="1550" b="1">
              <a:solidFill>
                <a:srgbClr val="A93225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32688" y="2286000"/>
            <a:ext cx="21031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6B6B6B"/>
                </a:solidFill>
                <a:latin typeface="Arial" panose="020B0604020202020204"/>
              </a:rPr>
              <a:t>0.492</a:t>
            </a:r>
            <a:endParaRPr sz="3400" b="1">
              <a:solidFill>
                <a:srgbClr val="6B6B6B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32688" y="2944368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6B6B6B"/>
                </a:solidFill>
                <a:latin typeface="Arial" panose="020B0604020202020204"/>
              </a:rPr>
              <a:t>top-k by average score</a:t>
            </a:r>
            <a:endParaRPr sz="1150" b="0">
              <a:solidFill>
                <a:srgbClr val="6B6B6B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035808" y="2286000"/>
            <a:ext cx="548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6B6B6B"/>
                </a:solidFill>
                <a:latin typeface="Arial" panose="020B0604020202020204"/>
              </a:rPr>
              <a:t>→</a:t>
            </a:r>
            <a:endParaRPr sz="2600" b="1">
              <a:solidFill>
                <a:srgbClr val="6B6B6B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30168" y="2286000"/>
            <a:ext cx="1920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22304A"/>
                </a:solidFill>
                <a:latin typeface="Arial" panose="020B0604020202020204"/>
              </a:rPr>
              <a:t>0.594</a:t>
            </a:r>
            <a:endParaRPr sz="3400" b="1">
              <a:solidFill>
                <a:srgbClr val="22304A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630168" y="2944368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6B6B6B"/>
                </a:solidFill>
                <a:latin typeface="Arial" panose="020B0604020202020204"/>
              </a:rPr>
              <a:t>learned portfolio (k = 5)</a:t>
            </a:r>
            <a:endParaRPr sz="1150" b="0">
              <a:solidFill>
                <a:srgbClr val="6B6B6B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32688" y="3611880"/>
            <a:ext cx="47548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Arial" panose="020B0604020202020204"/>
              </a:rPr>
              <a:t>Support recall at k = 5. The average-score list is filled with near-duplicate configurations.</a:t>
            </a:r>
            <a:endParaRPr sz="1200" b="0">
              <a:solidFill>
                <a:srgbClr val="6B6B6B"/>
              </a:solidFill>
              <a:latin typeface="Arial" panose="020B060402020202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309360" y="1600200"/>
            <a:ext cx="5212080" cy="288036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65392" y="17830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>
                <a:solidFill>
                  <a:srgbClr val="A93225"/>
                </a:solidFill>
                <a:latin typeface="Arial" panose="020B0604020202020204"/>
              </a:rPr>
              <a:t>It is not “retrieve more”</a:t>
            </a:r>
            <a:endParaRPr sz="1550" b="1">
              <a:solidFill>
                <a:srgbClr val="A93225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565392" y="2212848"/>
            <a:ext cx="44805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A93225"/>
                </a:solidFill>
                <a:latin typeface="Arial" panose="020B0604020202020204"/>
              </a:rPr>
              <a:t>0.32 → 0.11</a:t>
            </a:r>
            <a:endParaRPr sz="3000" b="1">
              <a:solidFill>
                <a:srgbClr val="A93225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65392" y="2761488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6B6B6B"/>
                </a:solidFill>
                <a:latin typeface="Arial" panose="020B0604020202020204"/>
              </a:rPr>
              <a:t>support F1, one retriever with 4 → 20 documents</a:t>
            </a:r>
            <a:endParaRPr sz="1150" b="0">
              <a:solidFill>
                <a:srgbClr val="6B6B6B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565392" y="3200400"/>
            <a:ext cx="44805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22304A"/>
                </a:solidFill>
                <a:latin typeface="Arial" panose="020B0604020202020204"/>
              </a:rPr>
              <a:t>0.431 → 0.500</a:t>
            </a:r>
            <a:endParaRPr sz="3000" b="1">
              <a:solidFill>
                <a:srgbClr val="22304A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565392" y="3749039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6B6B6B"/>
                </a:solidFill>
                <a:latin typeface="Arial" panose="020B0604020202020204"/>
              </a:rPr>
              <a:t>support F1, learned portfolio, k = 1 → 5</a:t>
            </a:r>
            <a:endParaRPr sz="1150" b="0">
              <a:solidFill>
                <a:srgbClr val="6B6B6B"/>
              </a:solidFill>
              <a:latin typeface="Arial" panose="020B0604020202020204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0" y="6199632"/>
            <a:ext cx="12191695" cy="65836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6336792"/>
            <a:ext cx="1087495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>
                <a:solidFill>
                  <a:srgbClr val="141414"/>
                </a:solidFill>
                <a:latin typeface="Arial" panose="020B0604020202020204"/>
              </a:rPr>
              <a:t>Gains come from complementary failure modes, not from a larger context budget.</a:t>
            </a:r>
            <a:endParaRPr sz="1550" b="1">
              <a:solidFill>
                <a:srgbClr val="141414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064240" y="594360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>
                <a:solidFill>
                  <a:srgbClr val="6B6B6B"/>
                </a:solidFill>
                <a:latin typeface="Arial" panose="020B0604020202020204"/>
              </a:rPr>
              <a:t>15</a:t>
            </a:r>
            <a:endParaRPr sz="950" b="0">
              <a:solidFill>
                <a:srgbClr val="6B6B6B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110">
                <a:solidFill>
                  <a:srgbClr val="6B6B6B"/>
                </a:solidFill>
                <a:latin typeface="Arial" panose="020B0604020202020204"/>
              </a:rPr>
              <a:t>RESULTS · END TO END</a:t>
            </a:r>
            <a:endParaRPr sz="1000" b="1" spc="110">
              <a:solidFill>
                <a:srgbClr val="6B6B6B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530352"/>
            <a:ext cx="1087495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141414"/>
                </a:solidFill>
                <a:latin typeface="Arial" panose="020B0604020202020204"/>
              </a:rPr>
              <a:t>Exact Match across four benchmarks (Table 3)</a:t>
            </a:r>
            <a:endParaRPr sz="2900" b="1">
              <a:solidFill>
                <a:srgbClr val="141414"/>
              </a:solidFill>
              <a:latin typeface="Arial" panose="020B0604020202020204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481328"/>
          <a:ext cx="10913999" cy="415137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557119"/>
                <a:gridCol w="1044610"/>
                <a:gridCol w="1044610"/>
                <a:gridCol w="1044610"/>
                <a:gridCol w="1044610"/>
                <a:gridCol w="1044610"/>
                <a:gridCol w="1044610"/>
                <a:gridCol w="1044610"/>
                <a:gridCol w="1044610"/>
              </a:tblGrid>
              <a:tr h="347472">
                <a:tc rowSpan="2"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Method</a:t>
                      </a:r>
                      <a:endParaRPr sz="95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22304A"/>
                    </a:solidFill>
                  </a:tcPr>
                </a:tc>
                <a:tc gridSpan="4"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Gemma-3-27B-It</a:t>
                      </a:r>
                      <a:endParaRPr sz="95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22304A"/>
                    </a:solidFill>
                  </a:tcPr>
                </a:tc>
                <a:tc hMerge="1">
                  <a:tcPr marL="82296" marR="54864" marT="18288" marB="18288" anchor="ctr">
                    <a:solidFill>
                      <a:srgbClr val="22304A"/>
                    </a:solidFill>
                  </a:tcPr>
                </a:tc>
                <a:tc hMerge="1">
                  <a:tcPr marL="82296" marR="54864" marT="18288" marB="18288" anchor="ctr">
                    <a:solidFill>
                      <a:srgbClr val="22304A"/>
                    </a:solidFill>
                  </a:tcPr>
                </a:tc>
                <a:tc hMerge="1">
                  <a:tcPr marL="82296" marR="54864" marT="18288" marB="18288" anchor="ctr">
                    <a:solidFill>
                      <a:srgbClr val="22304A"/>
                    </a:solidFill>
                  </a:tcPr>
                </a:tc>
                <a:tc gridSpan="4"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Llama-3.1-70B-Instruct</a:t>
                      </a:r>
                      <a:endParaRPr sz="95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22304A"/>
                    </a:solidFill>
                  </a:tcPr>
                </a:tc>
                <a:tc hMerge="1">
                  <a:tcPr marL="82296" marR="54864" marT="18288" marB="18288" anchor="ctr">
                    <a:solidFill>
                      <a:srgbClr val="22304A"/>
                    </a:solidFill>
                  </a:tcPr>
                </a:tc>
                <a:tc hMerge="1">
                  <a:tcPr marL="82296" marR="54864" marT="18288" marB="18288" anchor="ctr">
                    <a:solidFill>
                      <a:srgbClr val="22304A"/>
                    </a:solidFill>
                  </a:tcPr>
                </a:tc>
                <a:tc hMerge="1">
                  <a:tcPr marL="82296" marR="54864" marT="18288" marB="18288" anchor="ctr">
                    <a:solidFill>
                      <a:srgbClr val="22304A"/>
                    </a:solidFill>
                  </a:tcPr>
                </a:tc>
              </a:tr>
              <a:tr h="347472">
                <a:tc vMerge="1">
                  <a:tcPr marL="82296" marR="54864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HotpotQA</a:t>
                      </a:r>
                      <a:endParaRPr sz="95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MusiQue</a:t>
                      </a:r>
                      <a:endParaRPr sz="95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TriviaQA</a:t>
                      </a:r>
                      <a:endParaRPr sz="95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2Wiki</a:t>
                      </a:r>
                      <a:endParaRPr sz="95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HotpotQA</a:t>
                      </a:r>
                      <a:endParaRPr sz="95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MusiQue</a:t>
                      </a:r>
                      <a:endParaRPr sz="95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TriviaQA</a:t>
                      </a:r>
                      <a:endParaRPr sz="95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2Wiki</a:t>
                      </a:r>
                      <a:endParaRPr sz="95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2230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No retrieval</a:t>
                      </a:r>
                      <a:endParaRPr sz="105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0.3256</a:t>
                      </a:r>
                      <a:endParaRPr sz="105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0.0608</a:t>
                      </a:r>
                      <a:endParaRPr sz="105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0.6530</a:t>
                      </a:r>
                      <a:endParaRPr sz="105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0.2264</a:t>
                      </a:r>
                      <a:endParaRPr sz="105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0.3483</a:t>
                      </a:r>
                      <a:endParaRPr sz="105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0.0588</a:t>
                      </a:r>
                      <a:endParaRPr sz="105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0.6947</a:t>
                      </a:r>
                      <a:endParaRPr sz="105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0.1920</a:t>
                      </a:r>
                      <a:endParaRPr sz="105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4F5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Nearest neighbour</a:t>
                      </a:r>
                      <a:endParaRPr sz="105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0.3945</a:t>
                      </a:r>
                      <a:endParaRPr sz="105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0.1291</a:t>
                      </a:r>
                      <a:endParaRPr sz="105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0.6592</a:t>
                      </a:r>
                      <a:endParaRPr sz="105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0.2408</a:t>
                      </a:r>
                      <a:endParaRPr sz="105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0.4763</a:t>
                      </a:r>
                      <a:endParaRPr sz="105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0.1394</a:t>
                      </a:r>
                      <a:endParaRPr sz="105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0.7022</a:t>
                      </a:r>
                      <a:endParaRPr sz="105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0.2921</a:t>
                      </a:r>
                      <a:endParaRPr sz="105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Best DS</a:t>
                      </a:r>
                      <a:endParaRPr sz="105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52525"/>
                          </a:solidFill>
                          <a:highlight>
                            <a:srgbClr val="FFFF00"/>
                          </a:highlight>
                          <a:latin typeface="Arial" panose="020B0604020202020204"/>
                        </a:rPr>
                        <a:t>0.5128</a:t>
                      </a:r>
                      <a:endParaRPr sz="1050" b="0">
                        <a:solidFill>
                          <a:srgbClr val="252525"/>
                        </a:solidFill>
                        <a:highlight>
                          <a:srgbClr val="FFFF00"/>
                        </a:highlight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0.1394</a:t>
                      </a:r>
                      <a:endParaRPr sz="105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0.6867</a:t>
                      </a:r>
                      <a:endParaRPr sz="105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0.3544</a:t>
                      </a:r>
                      <a:endParaRPr sz="105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0.4345</a:t>
                      </a:r>
                      <a:endParaRPr sz="105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0.1092</a:t>
                      </a:r>
                      <a:endParaRPr sz="105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0.6318</a:t>
                      </a:r>
                      <a:endParaRPr sz="105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0.2443</a:t>
                      </a:r>
                      <a:endParaRPr sz="105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4F5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Best Vendi</a:t>
                      </a:r>
                      <a:endParaRPr sz="105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0.5111</a:t>
                      </a:r>
                      <a:endParaRPr sz="105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52525"/>
                          </a:solidFill>
                          <a:highlight>
                            <a:srgbClr val="FFFF00"/>
                          </a:highlight>
                          <a:latin typeface="Arial" panose="020B0604020202020204"/>
                        </a:rPr>
                        <a:t>0.1427</a:t>
                      </a:r>
                      <a:endParaRPr sz="1050" b="0">
                        <a:solidFill>
                          <a:srgbClr val="252525"/>
                        </a:solidFill>
                        <a:highlight>
                          <a:srgbClr val="FFFF00"/>
                        </a:highlight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52525"/>
                          </a:solidFill>
                          <a:highlight>
                            <a:srgbClr val="FFFF00"/>
                          </a:highlight>
                          <a:latin typeface="Arial" panose="020B0604020202020204"/>
                        </a:rPr>
                        <a:t>0.6868</a:t>
                      </a:r>
                      <a:endParaRPr sz="1050" b="0">
                        <a:solidFill>
                          <a:srgbClr val="252525"/>
                        </a:solidFill>
                        <a:highlight>
                          <a:srgbClr val="FFFF00"/>
                        </a:highlight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52525"/>
                          </a:solidFill>
                          <a:highlight>
                            <a:srgbClr val="FFFF00"/>
                          </a:highlight>
                          <a:latin typeface="Arial" panose="020B0604020202020204"/>
                        </a:rPr>
                        <a:t>0.3562</a:t>
                      </a:r>
                      <a:endParaRPr sz="1050" b="0">
                        <a:solidFill>
                          <a:srgbClr val="252525"/>
                        </a:solidFill>
                        <a:highlight>
                          <a:srgbClr val="FFFF00"/>
                        </a:highlight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0.4331</a:t>
                      </a:r>
                      <a:endParaRPr sz="105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0.1121</a:t>
                      </a:r>
                      <a:endParaRPr sz="105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0.6249</a:t>
                      </a:r>
                      <a:endParaRPr sz="105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0.2445</a:t>
                      </a:r>
                      <a:endParaRPr sz="105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Best GraphDense</a:t>
                      </a:r>
                      <a:endParaRPr sz="105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0.4628</a:t>
                      </a:r>
                      <a:endParaRPr sz="105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0.1134</a:t>
                      </a:r>
                      <a:endParaRPr sz="105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0.6704</a:t>
                      </a:r>
                      <a:endParaRPr sz="105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0.3407</a:t>
                      </a:r>
                      <a:endParaRPr sz="105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0.3978</a:t>
                      </a:r>
                      <a:endParaRPr sz="105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0.0873</a:t>
                      </a:r>
                      <a:endParaRPr sz="105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0.5961</a:t>
                      </a:r>
                      <a:endParaRPr sz="105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0.2387</a:t>
                      </a:r>
                      <a:endParaRPr sz="105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4F5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Vendi-RAG (T = 20)</a:t>
                      </a:r>
                      <a:endParaRPr sz="105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0.2853</a:t>
                      </a:r>
                      <a:endParaRPr sz="105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0.1307</a:t>
                      </a:r>
                      <a:endParaRPr sz="105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0.6727</a:t>
                      </a:r>
                      <a:endParaRPr sz="105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0.2560</a:t>
                      </a:r>
                      <a:endParaRPr sz="105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52525"/>
                          </a:solidFill>
                          <a:highlight>
                            <a:srgbClr val="FFFF00"/>
                          </a:highlight>
                          <a:latin typeface="Arial" panose="020B0604020202020204"/>
                        </a:rPr>
                        <a:t>0.4830</a:t>
                      </a:r>
                      <a:endParaRPr sz="1050" b="0">
                        <a:solidFill>
                          <a:srgbClr val="252525"/>
                        </a:solidFill>
                        <a:highlight>
                          <a:srgbClr val="FFFF00"/>
                        </a:highlight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52525"/>
                          </a:solidFill>
                          <a:highlight>
                            <a:srgbClr val="FFFF00"/>
                          </a:highlight>
                          <a:latin typeface="Arial" panose="020B0604020202020204"/>
                        </a:rPr>
                        <a:t>0.2060</a:t>
                      </a:r>
                      <a:endParaRPr sz="1050" b="0">
                        <a:solidFill>
                          <a:srgbClr val="252525"/>
                        </a:solidFill>
                        <a:highlight>
                          <a:srgbClr val="FFFF00"/>
                        </a:highlight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52525"/>
                          </a:solidFill>
                          <a:highlight>
                            <a:srgbClr val="FFFF00"/>
                          </a:highlight>
                          <a:latin typeface="Arial" panose="020B0604020202020204"/>
                        </a:rPr>
                        <a:t>0.7040</a:t>
                      </a:r>
                      <a:endParaRPr sz="1050" b="0">
                        <a:solidFill>
                          <a:srgbClr val="252525"/>
                        </a:solidFill>
                        <a:highlight>
                          <a:srgbClr val="FFFF00"/>
                        </a:highlight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0.2900</a:t>
                      </a:r>
                      <a:endParaRPr sz="105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Vendi-portfolio (k5, ℓ2)</a:t>
                      </a:r>
                      <a:endParaRPr sz="105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0.3927</a:t>
                      </a:r>
                      <a:endParaRPr sz="105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0.1262</a:t>
                      </a:r>
                      <a:endParaRPr sz="105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0.6720</a:t>
                      </a:r>
                      <a:endParaRPr sz="105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0.2341</a:t>
                      </a:r>
                      <a:endParaRPr sz="105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0.4825</a:t>
                      </a:r>
                      <a:endParaRPr sz="105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0.1427</a:t>
                      </a:r>
                      <a:endParaRPr sz="105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0.6956</a:t>
                      </a:r>
                      <a:endParaRPr sz="105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52525"/>
                          </a:solidFill>
                          <a:highlight>
                            <a:srgbClr val="FFFF00"/>
                          </a:highlight>
                          <a:latin typeface="Arial" panose="020B0604020202020204"/>
                        </a:rPr>
                        <a:t>0.3080</a:t>
                      </a:r>
                      <a:endParaRPr sz="1050" b="0">
                        <a:solidFill>
                          <a:srgbClr val="252525"/>
                        </a:solidFill>
                        <a:highlight>
                          <a:srgbClr val="FFFF00"/>
                        </a:highlight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F4F5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All-pool (k4, ℓ2)</a:t>
                      </a:r>
                      <a:endParaRPr sz="1050" b="1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E8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0.5523</a:t>
                      </a:r>
                      <a:endParaRPr sz="105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E8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0.1725</a:t>
                      </a:r>
                      <a:endParaRPr sz="105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E8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0000"/>
                          </a:solidFill>
                          <a:latin typeface="Arial" panose="020B0604020202020204"/>
                        </a:rPr>
                        <a:t>0.6937</a:t>
                      </a:r>
                      <a:endParaRPr sz="1050" b="1">
                        <a:solidFill>
                          <a:srgbClr val="FF0000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E8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0.4052</a:t>
                      </a:r>
                      <a:endParaRPr sz="105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E8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0000"/>
                          </a:solidFill>
                          <a:latin typeface="Arial" panose="020B0604020202020204"/>
                        </a:rPr>
                        <a:t>0.5897</a:t>
                      </a:r>
                      <a:endParaRPr sz="1050" b="1">
                        <a:solidFill>
                          <a:srgbClr val="FF0000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E8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0.1820</a:t>
                      </a:r>
                      <a:endParaRPr sz="105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E8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0000"/>
                          </a:solidFill>
                          <a:latin typeface="Arial" panose="020B0604020202020204"/>
                        </a:rPr>
                        <a:t>0.7073</a:t>
                      </a:r>
                      <a:endParaRPr sz="1050" b="1">
                        <a:solidFill>
                          <a:srgbClr val="FF0000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E8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0.4139</a:t>
                      </a:r>
                      <a:endParaRPr sz="105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E8EEF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All-pool (k4, ℓ3)</a:t>
                      </a:r>
                      <a:endParaRPr sz="1050" b="1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E8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0000"/>
                          </a:solidFill>
                          <a:latin typeface="Arial" panose="020B0604020202020204"/>
                        </a:rPr>
                        <a:t>0.5579</a:t>
                      </a:r>
                      <a:endParaRPr sz="1050" b="1">
                        <a:solidFill>
                          <a:srgbClr val="FF0000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E8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0000"/>
                          </a:solidFill>
                          <a:latin typeface="Arial" panose="020B0604020202020204"/>
                        </a:rPr>
                        <a:t>0.1949</a:t>
                      </a:r>
                      <a:endParaRPr sz="1050" b="1">
                        <a:solidFill>
                          <a:srgbClr val="FF0000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E8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0.6898</a:t>
                      </a:r>
                      <a:endParaRPr sz="105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E8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0000"/>
                          </a:solidFill>
                          <a:latin typeface="Arial" panose="020B0604020202020204"/>
                        </a:rPr>
                        <a:t>0.4142</a:t>
                      </a:r>
                      <a:endParaRPr sz="1050" b="1">
                        <a:solidFill>
                          <a:srgbClr val="FF0000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E8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0.5827</a:t>
                      </a:r>
                      <a:endParaRPr sz="105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E8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0000"/>
                          </a:solidFill>
                          <a:latin typeface="Arial" panose="020B0604020202020204"/>
                        </a:rPr>
                        <a:t>0.2089</a:t>
                      </a:r>
                      <a:endParaRPr sz="1050" b="1">
                        <a:solidFill>
                          <a:srgbClr val="FF0000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E8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52525"/>
                          </a:solidFill>
                          <a:latin typeface="Arial" panose="020B0604020202020204"/>
                        </a:rPr>
                        <a:t>0.6859</a:t>
                      </a:r>
                      <a:endParaRPr sz="1050" b="0">
                        <a:solidFill>
                          <a:srgbClr val="252525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E8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0000"/>
                          </a:solidFill>
                          <a:latin typeface="Arial" panose="020B0604020202020204"/>
                        </a:rPr>
                        <a:t>0.4187</a:t>
                      </a:r>
                      <a:endParaRPr sz="1050" b="1">
                        <a:solidFill>
                          <a:srgbClr val="FF0000"/>
                        </a:solidFill>
                        <a:latin typeface="Arial" panose="020B0604020202020204"/>
                      </a:endParaRPr>
                    </a:p>
                  </a:txBody>
                  <a:tcPr marL="82296" marR="54864" marT="18288" marB="18288" anchor="ctr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199632"/>
            <a:ext cx="12191695" cy="65836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36792"/>
            <a:ext cx="1087495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>
                <a:solidFill>
                  <a:srgbClr val="141414"/>
                </a:solidFill>
                <a:latin typeface="Arial" panose="020B0604020202020204"/>
              </a:rPr>
              <a:t>Average EM: 0.464 (Gemma) / 0.474 (Llama) vs. 0.424 best single retriever and 0.336 / 0.421 for per-query tuning.</a:t>
            </a:r>
            <a:endParaRPr sz="1550" b="1">
              <a:solidFill>
                <a:srgbClr val="141414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064240" y="594360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>
                <a:solidFill>
                  <a:srgbClr val="6B6B6B"/>
                </a:solidFill>
                <a:latin typeface="Arial" panose="020B0604020202020204"/>
              </a:rPr>
              <a:t>16</a:t>
            </a:r>
            <a:endParaRPr sz="950" b="0">
              <a:solidFill>
                <a:srgbClr val="6B6B6B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110">
                <a:solidFill>
                  <a:srgbClr val="6B6B6B"/>
                </a:solidFill>
                <a:latin typeface="Arial" panose="020B0604020202020204"/>
              </a:rPr>
              <a:t>RESULTS · EFFICIENCY</a:t>
            </a:r>
            <a:endParaRPr sz="1000" b="1" spc="110">
              <a:solidFill>
                <a:srgbClr val="6B6B6B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530352"/>
            <a:ext cx="1087495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141414"/>
                </a:solidFill>
                <a:latin typeface="Arial" panose="020B0604020202020204"/>
              </a:rPr>
              <a:t>Same search space, but searched offline</a:t>
            </a:r>
            <a:endParaRPr sz="2900" b="1">
              <a:solidFill>
                <a:srgbClr val="141414"/>
              </a:solidFill>
              <a:latin typeface="Arial" panose="020B0604020202020204"/>
            </a:endParaRPr>
          </a:p>
        </p:txBody>
      </p:sp>
      <p:pic>
        <p:nvPicPr>
          <p:cNvPr id="5" name="Picture 4" descr="fig4_efficienc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605" y="1417320"/>
            <a:ext cx="6657285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92440" y="1554480"/>
            <a:ext cx="342900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50" b="0">
                <a:solidFill>
                  <a:srgbClr val="22304A"/>
                </a:solidFill>
                <a:latin typeface="Arial" panose="020B0604020202020204"/>
              </a:rPr>
              <a:t>Controlled comparison</a:t>
            </a:r>
            <a:endParaRPr sz="1450" b="0">
              <a:solidFill>
                <a:srgbClr val="22304A"/>
              </a:solidFill>
              <a:latin typeface="Arial" panose="020B0604020202020204"/>
            </a:endParaRPr>
          </a:p>
          <a:p>
            <a:pPr algn="l">
              <a:lnSpc>
                <a:spcPct val="112000"/>
              </a:lnSpc>
              <a:spcAft>
                <a:spcPts val="1600"/>
              </a:spcAft>
            </a:pPr>
            <a:r>
              <a:rPr sz="1350" b="0">
                <a:solidFill>
                  <a:srgbClr val="252525"/>
                </a:solidFill>
                <a:latin typeface="Arial" panose="020B0604020202020204"/>
              </a:rPr>
              <a:t>MPNet + Vendi only — exactly the s-grid Vendi-RAG searches at inference time.</a:t>
            </a:r>
            <a:endParaRPr sz="1350" b="0">
              <a:solidFill>
                <a:srgbClr val="252525"/>
              </a:solidFill>
              <a:latin typeface="Arial" panose="020B0604020202020204"/>
            </a:endParaRP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350" b="1">
                <a:solidFill>
                  <a:srgbClr val="252525"/>
                </a:solidFill>
                <a:latin typeface="Arial" panose="020B0604020202020204"/>
              </a:rPr>
              <a:t>Gemma.</a:t>
            </a:r>
            <a:r>
              <a:rPr sz="1350" b="0">
                <a:solidFill>
                  <a:srgbClr val="252525"/>
                </a:solidFill>
                <a:latin typeface="Arial" panose="020B0604020202020204"/>
              </a:rPr>
              <a:t>  The fixed portfolio is better at lower cost.</a:t>
            </a:r>
            <a:endParaRPr sz="1350" b="0">
              <a:solidFill>
                <a:srgbClr val="252525"/>
              </a:solidFill>
              <a:latin typeface="Arial" panose="020B0604020202020204"/>
            </a:endParaRPr>
          </a:p>
          <a:p>
            <a:pPr algn="l">
              <a:lnSpc>
                <a:spcPct val="112000"/>
              </a:lnSpc>
              <a:spcAft>
                <a:spcPts val="1600"/>
              </a:spcAft>
            </a:pPr>
            <a:r>
              <a:rPr sz="1350" b="1">
                <a:solidFill>
                  <a:srgbClr val="252525"/>
                </a:solidFill>
                <a:latin typeface="Arial" panose="020B0604020202020204"/>
              </a:rPr>
              <a:t>Llama.</a:t>
            </a:r>
            <a:r>
              <a:rPr sz="1350" b="0">
                <a:solidFill>
                  <a:srgbClr val="252525"/>
                </a:solidFill>
                <a:latin typeface="Arial" panose="020B0604020202020204"/>
              </a:rPr>
              <a:t>  Per-query search can match it, but only after a large increase in tokens and latency.</a:t>
            </a:r>
            <a:endParaRPr sz="1350" b="0">
              <a:solidFill>
                <a:srgbClr val="252525"/>
              </a:solidFill>
              <a:latin typeface="Arial" panose="020B0604020202020204"/>
            </a:endParaRP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250" b="0">
                <a:solidFill>
                  <a:srgbClr val="6B6B6B"/>
                </a:solidFill>
                <a:latin typeface="Arial" panose="020B0604020202020204"/>
              </a:rPr>
              <a:t>Authors note this is a controlled setting, not a full comparison.</a:t>
            </a:r>
            <a:endParaRPr sz="1250" b="0">
              <a:solidFill>
                <a:srgbClr val="6B6B6B"/>
              </a:solidFill>
              <a:latin typeface="Arial" panose="020B0604020202020204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Arial" panose="020B0604020202020204"/>
              </a:rPr>
              <a:t>Figure 4 (paper): tokens and wall-clock time against EM.</a:t>
            </a:r>
            <a:endParaRPr sz="1100" b="0">
              <a:solidFill>
                <a:srgbClr val="6B6B6B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064240" y="594360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>
                <a:solidFill>
                  <a:srgbClr val="6B6B6B"/>
                </a:solidFill>
                <a:latin typeface="Arial" panose="020B0604020202020204"/>
              </a:rPr>
              <a:t>17</a:t>
            </a:r>
            <a:endParaRPr sz="950" b="0">
              <a:solidFill>
                <a:srgbClr val="6B6B6B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110">
                <a:solidFill>
                  <a:srgbClr val="6B6B6B"/>
                </a:solidFill>
                <a:latin typeface="Arial" panose="020B0604020202020204"/>
              </a:rPr>
              <a:t>RESULTS · ROUTING</a:t>
            </a:r>
            <a:endParaRPr sz="1000" b="1" spc="110">
              <a:solidFill>
                <a:srgbClr val="6B6B6B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530352"/>
            <a:ext cx="1087495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141414"/>
                </a:solidFill>
                <a:latin typeface="Arial" panose="020B0604020202020204"/>
              </a:rPr>
              <a:t>Routing matters — and top-2/3 nearly reach the oracle</a:t>
            </a:r>
            <a:endParaRPr sz="2900" b="1">
              <a:solidFill>
                <a:srgbClr val="141414"/>
              </a:solidFill>
              <a:latin typeface="Arial" panose="020B0604020202020204"/>
            </a:endParaRPr>
          </a:p>
        </p:txBody>
      </p:sp>
      <p:pic>
        <p:nvPicPr>
          <p:cNvPr id="5" name="Picture 4" descr="fig5_rout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603" y="1463040"/>
            <a:ext cx="6005209" cy="4434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01560" y="1554480"/>
            <a:ext cx="4069080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50" b="1">
                <a:solidFill>
                  <a:srgbClr val="A93225"/>
                </a:solidFill>
                <a:latin typeface="Arial" panose="020B0604020202020204"/>
              </a:rPr>
              <a:t>Random routing gets worse as k grows</a:t>
            </a:r>
            <a:endParaRPr sz="1450" b="1">
              <a:solidFill>
                <a:srgbClr val="A93225"/>
              </a:solidFill>
              <a:latin typeface="Arial" panose="020B0604020202020204"/>
            </a:endParaRPr>
          </a:p>
          <a:p>
            <a:pPr algn="l">
              <a:lnSpc>
                <a:spcPct val="112000"/>
              </a:lnSpc>
              <a:spcAft>
                <a:spcPts val="1600"/>
              </a:spcAft>
            </a:pPr>
            <a:r>
              <a:rPr sz="1350" b="0">
                <a:solidFill>
                  <a:srgbClr val="252525"/>
                </a:solidFill>
                <a:latin typeface="Arial" panose="020B0604020202020204"/>
              </a:rPr>
              <a:t>Picking a member at random sometimes picks one that is wrong for the query.</a:t>
            </a:r>
            <a:endParaRPr sz="1350" b="0">
              <a:solidFill>
                <a:srgbClr val="252525"/>
              </a:solidFill>
              <a:latin typeface="Arial" panose="020B0604020202020204"/>
            </a:endParaRPr>
          </a:p>
          <a:p>
            <a:pPr algn="l">
              <a:lnSpc>
                <a:spcPct val="112000"/>
              </a:lnSpc>
              <a:spcAft>
                <a:spcPts val="1600"/>
              </a:spcAft>
            </a:pPr>
            <a:r>
              <a:rPr sz="1350" b="1">
                <a:solidFill>
                  <a:srgbClr val="252525"/>
                </a:solidFill>
                <a:latin typeface="Arial" panose="020B0604020202020204"/>
              </a:rPr>
              <a:t>Top-1 beats the best single retriever</a:t>
            </a:r>
            <a:r>
              <a:rPr sz="1350" b="0">
                <a:solidFill>
                  <a:srgbClr val="252525"/>
                </a:solidFill>
                <a:latin typeface="Arial" panose="020B0604020202020204"/>
              </a:rPr>
              <a:t> once k &gt; 1 — the router is not just defaulting to the strongest average member.</a:t>
            </a:r>
            <a:endParaRPr sz="1350" b="0">
              <a:solidFill>
                <a:srgbClr val="252525"/>
              </a:solidFill>
              <a:latin typeface="Arial" panose="020B0604020202020204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1">
                <a:solidFill>
                  <a:srgbClr val="252525"/>
                </a:solidFill>
                <a:latin typeface="Arial" panose="020B0604020202020204"/>
              </a:rPr>
              <a:t>Top-2 and top-3 track the oracle</a:t>
            </a:r>
            <a:r>
              <a:rPr sz="1350" b="0">
                <a:solidFill>
                  <a:srgbClr val="252525"/>
                </a:solidFill>
                <a:latin typeface="Arial" panose="020B0604020202020204"/>
              </a:rPr>
              <a:t>, which is why executing ℓ &gt; 1 and letting a selector decide is worth the extra calls.</a:t>
            </a:r>
            <a:endParaRPr sz="1350" b="0">
              <a:solidFill>
                <a:srgbClr val="252525"/>
              </a:solidFill>
              <a:latin typeface="Arial" panose="020B060402020202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199632"/>
            <a:ext cx="12191695" cy="65836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336792"/>
            <a:ext cx="1087495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>
                <a:solidFill>
                  <a:srgbClr val="141414"/>
                </a:solidFill>
                <a:latin typeface="Arial" panose="020B0604020202020204"/>
              </a:rPr>
              <a:t>The router's short list is calibrated — the selector is not a patch, it is the design.</a:t>
            </a:r>
            <a:endParaRPr sz="1550" b="1">
              <a:solidFill>
                <a:srgbClr val="141414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064240" y="594360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>
                <a:solidFill>
                  <a:srgbClr val="6B6B6B"/>
                </a:solidFill>
                <a:latin typeface="Arial" panose="020B0604020202020204"/>
              </a:rPr>
              <a:t>18</a:t>
            </a:r>
            <a:endParaRPr sz="950" b="0">
              <a:solidFill>
                <a:srgbClr val="6B6B6B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110">
                <a:solidFill>
                  <a:srgbClr val="6B6B6B"/>
                </a:solidFill>
                <a:latin typeface="Arial" panose="020B0604020202020204"/>
              </a:rPr>
              <a:t>DISCUSSION</a:t>
            </a:r>
            <a:endParaRPr sz="1000" b="1" spc="110">
              <a:solidFill>
                <a:srgbClr val="6B6B6B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530352"/>
            <a:ext cx="1087495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141414"/>
                </a:solidFill>
                <a:latin typeface="Arial" panose="020B0604020202020204"/>
              </a:rPr>
              <a:t>What holds, and what to watch</a:t>
            </a:r>
            <a:endParaRPr sz="2900" b="1">
              <a:solidFill>
                <a:srgbClr val="141414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900" b="1">
                <a:solidFill>
                  <a:srgbClr val="141414"/>
                </a:solidFill>
                <a:latin typeface="Arial" panose="020B0604020202020204"/>
              </a:rPr>
              <a:t>The contribution is a re-framing: pay for adaptation once, offline, instead of on every query.</a:t>
            </a:r>
            <a:endParaRPr sz="1900" b="1">
              <a:solidFill>
                <a:srgbClr val="141414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2542032"/>
            <a:ext cx="5257800" cy="3383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600"/>
              </a:spcAft>
            </a:pPr>
            <a:r>
              <a:rPr sz="1450" b="1">
                <a:solidFill>
                  <a:srgbClr val="1B6E45"/>
                </a:solidFill>
                <a:latin typeface="Arial" panose="020B0604020202020204"/>
              </a:rPr>
              <a:t>Strength.</a:t>
            </a:r>
            <a:r>
              <a:rPr sz="1450" b="0">
                <a:solidFill>
                  <a:srgbClr val="1B6E45"/>
                </a:solidFill>
                <a:latin typeface="Arial" panose="020B0604020202020204"/>
              </a:rPr>
              <a:t>  The objective matches the deployment question — best member, not average.</a:t>
            </a:r>
            <a:endParaRPr sz="1450" b="0">
              <a:solidFill>
                <a:srgbClr val="1B6E45"/>
              </a:solidFill>
              <a:latin typeface="Arial" panose="020B0604020202020204"/>
            </a:endParaRPr>
          </a:p>
          <a:p>
            <a:pPr algn="l">
              <a:lnSpc>
                <a:spcPct val="112000"/>
              </a:lnSpc>
              <a:spcAft>
                <a:spcPts val="1600"/>
              </a:spcAft>
            </a:pPr>
            <a:r>
              <a:rPr sz="1450" b="1">
                <a:solidFill>
                  <a:srgbClr val="1B6E45"/>
                </a:solidFill>
                <a:latin typeface="Arial" panose="020B0604020202020204"/>
              </a:rPr>
              <a:t>Strength.</a:t>
            </a:r>
            <a:r>
              <a:rPr sz="1450" b="0">
                <a:solidFill>
                  <a:srgbClr val="1B6E45"/>
                </a:solidFill>
                <a:latin typeface="Arial" panose="020B0604020202020204"/>
              </a:rPr>
              <a:t>  A guarantee plus two controls that exclude the cheap explanations.</a:t>
            </a:r>
            <a:endParaRPr sz="1450" b="0">
              <a:solidFill>
                <a:srgbClr val="1B6E45"/>
              </a:solidFill>
              <a:latin typeface="Arial" panose="020B0604020202020204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50" b="1">
                <a:solidFill>
                  <a:srgbClr val="1B6E45"/>
                </a:solidFill>
                <a:latin typeface="Arial" panose="020B0604020202020204"/>
              </a:rPr>
              <a:t>Strength.</a:t>
            </a:r>
            <a:r>
              <a:rPr sz="1450" b="0">
                <a:solidFill>
                  <a:srgbClr val="1B6E45"/>
                </a:solidFill>
                <a:latin typeface="Arial" panose="020B0604020202020204"/>
              </a:rPr>
              <a:t>  Cost becomes bounded and parallel, which is what serving needs.</a:t>
            </a:r>
            <a:endParaRPr sz="1450" b="0">
              <a:solidFill>
                <a:srgbClr val="1B6E45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172200" y="2542032"/>
            <a:ext cx="5349240" cy="3383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450" b="1">
                <a:solidFill>
                  <a:srgbClr val="A93225"/>
                </a:solidFill>
                <a:latin typeface="Arial" panose="020B0604020202020204"/>
              </a:rPr>
              <a:t>Caveat.</a:t>
            </a:r>
            <a:r>
              <a:rPr sz="1450" b="0">
                <a:solidFill>
                  <a:srgbClr val="A93225"/>
                </a:solidFill>
                <a:latin typeface="Arial" panose="020B0604020202020204"/>
              </a:rPr>
              <a:t>  Optimises Recall@k, reports EM — a proxy gap.</a:t>
            </a:r>
            <a:endParaRPr sz="1450" b="0">
              <a:solidFill>
                <a:srgbClr val="A93225"/>
              </a:solidFill>
              <a:latin typeface="Arial" panose="020B0604020202020204"/>
            </a:endParaRP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450" b="1">
                <a:solidFill>
                  <a:srgbClr val="A93225"/>
                </a:solidFill>
                <a:latin typeface="Arial" panose="020B0604020202020204"/>
              </a:rPr>
              <a:t>Caveat.</a:t>
            </a:r>
            <a:r>
              <a:rPr sz="1450" b="0">
                <a:solidFill>
                  <a:srgbClr val="A93225"/>
                </a:solidFill>
                <a:latin typeface="Arial" panose="020B0604020202020204"/>
              </a:rPr>
              <a:t>  282 of 360 candidates are one family; no family ablation.</a:t>
            </a:r>
            <a:endParaRPr sz="1450" b="0">
              <a:solidFill>
                <a:srgbClr val="A93225"/>
              </a:solidFill>
              <a:latin typeface="Arial" panose="020B0604020202020204"/>
            </a:endParaRP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450" b="1">
                <a:solidFill>
                  <a:srgbClr val="A93225"/>
                </a:solidFill>
                <a:latin typeface="Arial" panose="020B0604020202020204"/>
              </a:rPr>
              <a:t>Caveat.</a:t>
            </a:r>
            <a:r>
              <a:rPr sz="1450" b="0">
                <a:solidFill>
                  <a:srgbClr val="A93225"/>
                </a:solidFill>
                <a:latin typeface="Arial" panose="020B0604020202020204"/>
              </a:rPr>
              <a:t>  No end-to-end comparison with Adaptive-RAG, Self-RAG or MoR.</a:t>
            </a:r>
            <a:endParaRPr sz="1450" b="0">
              <a:solidFill>
                <a:srgbClr val="A93225"/>
              </a:solidFill>
              <a:latin typeface="Arial" panose="020B0604020202020204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50" b="1">
                <a:solidFill>
                  <a:srgbClr val="A93225"/>
                </a:solidFill>
                <a:latin typeface="Arial" panose="020B0604020202020204"/>
              </a:rPr>
              <a:t>Caveat.</a:t>
            </a:r>
            <a:r>
              <a:rPr sz="1450" b="0">
                <a:solidFill>
                  <a:srgbClr val="A93225"/>
                </a:solidFill>
                <a:latin typeface="Arial" panose="020B0604020202020204"/>
              </a:rPr>
              <a:t>  Offline cost (N × 360 scores), single seed, no error bars.</a:t>
            </a:r>
            <a:endParaRPr sz="1450" b="0">
              <a:solidFill>
                <a:srgbClr val="A93225"/>
              </a:solidFill>
              <a:latin typeface="Arial" panose="020B060402020202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6199632"/>
            <a:ext cx="12191695" cy="65836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336792"/>
            <a:ext cx="1087495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>
                <a:solidFill>
                  <a:srgbClr val="141414"/>
                </a:solidFill>
                <a:latin typeface="Arial" panose="020B0604020202020204"/>
              </a:rPr>
              <a:t>Core insight: adaptive retrieval is a subset-selection problem before it is a search problem.</a:t>
            </a:r>
            <a:endParaRPr sz="1550" b="1">
              <a:solidFill>
                <a:srgbClr val="141414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064240" y="594360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>
                <a:solidFill>
                  <a:srgbClr val="6B6B6B"/>
                </a:solidFill>
                <a:latin typeface="Arial" panose="020B0604020202020204"/>
              </a:rPr>
              <a:t>19</a:t>
            </a:r>
            <a:endParaRPr sz="950" b="0">
              <a:solidFill>
                <a:srgbClr val="6B6B6B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110">
                <a:solidFill>
                  <a:srgbClr val="6B6B6B"/>
                </a:solidFill>
                <a:latin typeface="Arial" panose="020B0604020202020204"/>
              </a:rPr>
              <a:t>TAKEAWAYS</a:t>
            </a:r>
            <a:endParaRPr sz="1000" b="1" spc="110">
              <a:solidFill>
                <a:srgbClr val="6B6B6B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530352"/>
            <a:ext cx="1087495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141414"/>
                </a:solidFill>
                <a:latin typeface="Arial" panose="020B0604020202020204"/>
              </a:rPr>
              <a:t>Three things worth remembering</a:t>
            </a:r>
            <a:endParaRPr sz="2900" b="1">
              <a:solidFill>
                <a:srgbClr val="141414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58368" y="1783080"/>
            <a:ext cx="10607040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400"/>
              </a:spcAft>
            </a:pPr>
            <a:r>
              <a:rPr sz="2100" b="1">
                <a:solidFill>
                  <a:srgbClr val="22304A"/>
                </a:solidFill>
                <a:latin typeface="Arial" panose="020B0604020202020204"/>
              </a:rPr>
              <a:t>1  </a:t>
            </a:r>
            <a:r>
              <a:rPr sz="2100" b="1">
                <a:solidFill>
                  <a:srgbClr val="252525"/>
                </a:solidFill>
                <a:latin typeface="Arial" panose="020B0604020202020204"/>
              </a:rPr>
              <a:t>Reframe.</a:t>
            </a:r>
            <a:r>
              <a:rPr sz="2100" b="0">
                <a:solidFill>
                  <a:srgbClr val="252525"/>
                </a:solidFill>
                <a:latin typeface="Arial" panose="020B0604020202020204"/>
              </a:rPr>
              <a:t>  Choose a portfolio offline; route to a few members online.</a:t>
            </a:r>
            <a:endParaRPr sz="2100" b="0">
              <a:solidFill>
                <a:srgbClr val="252525"/>
              </a:solidFill>
              <a:latin typeface="Arial" panose="020B0604020202020204"/>
            </a:endParaRPr>
          </a:p>
          <a:p>
            <a:pPr algn="l">
              <a:lnSpc>
                <a:spcPct val="112000"/>
              </a:lnSpc>
              <a:spcAft>
                <a:spcPts val="3400"/>
              </a:spcAft>
            </a:pPr>
            <a:r>
              <a:rPr sz="2100" b="1">
                <a:solidFill>
                  <a:srgbClr val="22304A"/>
                </a:solidFill>
                <a:latin typeface="Arial" panose="020B0604020202020204"/>
              </a:rPr>
              <a:t>2  </a:t>
            </a:r>
            <a:r>
              <a:rPr sz="2100" b="1">
                <a:solidFill>
                  <a:srgbClr val="252525"/>
                </a:solidFill>
                <a:latin typeface="Arial" panose="020B0604020202020204"/>
              </a:rPr>
              <a:t>Guarantee.</a:t>
            </a:r>
            <a:r>
              <a:rPr sz="2100" b="0">
                <a:solidFill>
                  <a:srgbClr val="252525"/>
                </a:solidFill>
                <a:latin typeface="Arial" panose="020B0604020202020204"/>
              </a:rPr>
              <a:t>  The best-of-k objective is submodular, so greedy is (1 − 1/e) − ε, and the constant is tight.</a:t>
            </a:r>
            <a:endParaRPr sz="2100" b="0">
              <a:solidFill>
                <a:srgbClr val="252525"/>
              </a:solidFill>
              <a:latin typeface="Arial" panose="020B0604020202020204"/>
            </a:endParaRPr>
          </a:p>
          <a:p>
            <a:pPr algn="l">
              <a:lnSpc>
                <a:spcPct val="112000"/>
              </a:lnSpc>
              <a:spcAft>
                <a:spcPts val="3400"/>
              </a:spcAft>
            </a:pPr>
            <a:r>
              <a:rPr sz="2100" b="1">
                <a:solidFill>
                  <a:srgbClr val="22304A"/>
                </a:solidFill>
                <a:latin typeface="Arial" panose="020B0604020202020204"/>
              </a:rPr>
              <a:t>3  </a:t>
            </a:r>
            <a:r>
              <a:rPr sz="2100" b="1">
                <a:solidFill>
                  <a:srgbClr val="252525"/>
                </a:solidFill>
                <a:latin typeface="Arial" panose="020B0604020202020204"/>
              </a:rPr>
              <a:t>Evidence.</a:t>
            </a:r>
            <a:r>
              <a:rPr sz="2100" b="0">
                <a:solidFill>
                  <a:srgbClr val="252525"/>
                </a:solidFill>
                <a:latin typeface="Arial" panose="020B0604020202020204"/>
              </a:rPr>
              <a:t>  Coverage up, EM up, cost down against per-query search — with two controls that rule out “more context”.</a:t>
            </a:r>
            <a:endParaRPr sz="2100" b="0">
              <a:solidFill>
                <a:srgbClr val="252525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199632"/>
            <a:ext cx="12191695" cy="65836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36792"/>
            <a:ext cx="1087495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>
                <a:solidFill>
                  <a:srgbClr val="141414"/>
                </a:solidFill>
                <a:latin typeface="Arial" panose="020B0604020202020204"/>
              </a:rPr>
              <a:t>Reusable idea: amortise the adaptation, keep inference parallel and bounded.</a:t>
            </a:r>
            <a:endParaRPr sz="1550" b="1">
              <a:solidFill>
                <a:srgbClr val="141414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064240" y="594360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>
                <a:solidFill>
                  <a:srgbClr val="6B6B6B"/>
                </a:solidFill>
                <a:latin typeface="Arial" panose="020B0604020202020204"/>
              </a:rPr>
              <a:t>20</a:t>
            </a:r>
            <a:endParaRPr sz="950" b="0">
              <a:solidFill>
                <a:srgbClr val="6B6B6B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11785</Words>
  <Application>WPS 演示</Application>
  <PresentationFormat>On-screen Show (4:3)</PresentationFormat>
  <Paragraphs>686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1" baseType="lpstr">
      <vt:lpstr>Arial</vt:lpstr>
      <vt:lpstr>宋体</vt:lpstr>
      <vt:lpstr>Wingdings</vt:lpstr>
      <vt:lpstr>Arial</vt:lpstr>
      <vt:lpstr>Consolas</vt:lpstr>
      <vt:lpstr>Calibri</vt:lpstr>
      <vt:lpstr>微软雅黑</vt:lpstr>
      <vt:lpstr>Arial Unicode MS</vt:lpstr>
      <vt:lpstr>Wingdings</vt:lpstr>
      <vt:lpstr>荆南缘默体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Retriever Portfolios: A Principled Approach to Adaptive RAG</dc:title>
  <dc:creator>Zhou Quan</dc:creator>
  <dc:description>generated using python-pptx</dc:description>
  <dc:subject>Group meeting paper presentation, 2026.10</dc:subject>
  <cp:lastModifiedBy>曹仓舒</cp:lastModifiedBy>
  <cp:revision>10</cp:revision>
  <dcterms:created xsi:type="dcterms:W3CDTF">2013-01-27T09:14:00Z</dcterms:created>
  <dcterms:modified xsi:type="dcterms:W3CDTF">2026-10-28T08:55:41Z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C8589E6E75DF454890808D86355F549F_12</vt:lpwstr>
  </property>
  <property fmtid="{D5CDD505-2E9C-101B-9397-08002B2CF9AE}" pid="3" name="KSOProductBuildVer">
    <vt:lpwstr>2052-12.1.0.21915</vt:lpwstr>
  </property>
</Properties>
</file>