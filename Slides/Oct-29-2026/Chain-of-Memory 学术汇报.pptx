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50" userDrawn="1">
          <p15:clr>
            <a:srgbClr val="747775"/>
          </p15:clr>
        </p15:guide>
        <p15:guide id="2" pos="285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50"/>
        <p:guide pos="285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2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png"/><Relationship Id="rId8" Type="http://schemas.openxmlformats.org/officeDocument/2006/relationships/tags" Target="../tags/tag10.xml"/><Relationship Id="rId7" Type="http://schemas.openxmlformats.org/officeDocument/2006/relationships/image" Target="../media/image7.png"/><Relationship Id="rId6" Type="http://schemas.openxmlformats.org/officeDocument/2006/relationships/tags" Target="../tags/tag9.xml"/><Relationship Id="rId5" Type="http://schemas.openxmlformats.org/officeDocument/2006/relationships/tags" Target="../tags/tag8.xml"/><Relationship Id="rId4" Type="http://schemas.openxmlformats.org/officeDocument/2006/relationships/tags" Target="../tags/tag7.xml"/><Relationship Id="rId3" Type="http://schemas.openxmlformats.org/officeDocument/2006/relationships/image" Target="../media/image6.png"/><Relationship Id="rId2" Type="http://schemas.openxmlformats.org/officeDocument/2006/relationships/tags" Target="../tags/tag6.xml"/><Relationship Id="rId12" Type="http://schemas.openxmlformats.org/officeDocument/2006/relationships/notesSlide" Target="../notesSlides/notesSlide6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9.png"/><Relationship Id="rId1" Type="http://schemas.openxmlformats.org/officeDocument/2006/relationships/tags" Target="../tags/tag5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1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16.png"/><Relationship Id="rId4" Type="http://schemas.openxmlformats.org/officeDocument/2006/relationships/tags" Target="../tags/tag13.xml"/><Relationship Id="rId3" Type="http://schemas.openxmlformats.org/officeDocument/2006/relationships/image" Target="../media/image6.png"/><Relationship Id="rId2" Type="http://schemas.openxmlformats.org/officeDocument/2006/relationships/tags" Target="../tags/tag12.xml"/><Relationship Id="rId1" Type="http://schemas.openxmlformats.org/officeDocument/2006/relationships/tags" Target="../tags/tag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3.xml"/><Relationship Id="rId6" Type="http://schemas.openxmlformats.org/officeDocument/2006/relationships/slideLayout" Target="../slideLayouts/slideLayout12.xml"/><Relationship Id="rId5" Type="http://schemas.openxmlformats.org/officeDocument/2006/relationships/tags" Target="../tags/tag16.xml"/><Relationship Id="rId4" Type="http://schemas.openxmlformats.org/officeDocument/2006/relationships/image" Target="../media/image7.png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270000" y="1778000"/>
            <a:ext cx="9779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6000"/>
              </a:lnSpc>
              <a:defRPr/>
            </a:pPr>
            <a:r>
              <a:rPr lang="en-US" sz="3200" b="1" i="0" u="none" strike="noStrike">
                <a:solidFill>
                  <a:srgbClr val="11141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Chain-of-Memory: Lightweight Memory Construction with Dynamic Evolution for LLM Agents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523">
            <a:off x="1270004" y="3498850"/>
            <a:ext cx="965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1A3664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 txBox="1"/>
          <p:nvPr/>
        </p:nvSpPr>
        <p:spPr>
          <a:xfrm>
            <a:off x="1270000" y="37592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2000"/>
              </a:lnSpc>
              <a:defRPr/>
            </a:pPr>
            <a:r>
              <a:rPr lang="en-US" altLang="zh-CN" sz="2000" b="0" i="0" u="none" strike="noStrike">
                <a:solidFill>
                  <a:srgbClr val="3C42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Presenter</a:t>
            </a:r>
            <a:r>
              <a:rPr lang="zh-CN" altLang="en-US" sz="2000" b="0" i="0" u="none" strike="noStrike">
                <a:solidFill>
                  <a:srgbClr val="3C42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：</a:t>
            </a:r>
            <a:r>
              <a:rPr lang="en-US" altLang="zh-CN" sz="2000" b="0" i="0" u="none" strike="noStrike">
                <a:solidFill>
                  <a:srgbClr val="3C42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Jin Huihui</a:t>
            </a:r>
            <a:endParaRPr lang="en-US" altLang="zh-CN" sz="2000" b="0" i="0" u="none" strike="noStrike">
              <a:solidFill>
                <a:srgbClr val="3C42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5" name="AutoShape 5"/>
          <p:cNvSpPr txBox="1"/>
          <p:nvPr/>
        </p:nvSpPr>
        <p:spPr>
          <a:xfrm>
            <a:off x="1270000" y="4445000"/>
            <a:ext cx="8128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3000"/>
              </a:lnSpc>
              <a:defRPr/>
            </a:pPr>
            <a:r>
              <a:rPr lang="en-US" altLang="zh-CN" sz="1700" b="0" i="0" u="none" strike="noStrike">
                <a:solidFill>
                  <a:srgbClr val="6E747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July 2-7, 2026 ©2026 Association for Computational Linguistics</a:t>
            </a:r>
            <a:endParaRPr lang="en-US" altLang="zh-CN" sz="1700" b="0" i="0" u="none" strike="noStrike">
              <a:solidFill>
                <a:srgbClr val="6E747E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762000" y="381000"/>
            <a:ext cx="1041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2000"/>
              </a:lnSpc>
              <a:defRPr/>
            </a:pPr>
            <a:r>
              <a:rPr lang="en-US" sz="2800" b="1" i="0" u="none" strike="noStrike">
                <a:solidFill>
                  <a:srgbClr val="11141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Empirical Limitations of the Existing Paradigm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092">
            <a:off x="762004" y="11620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1A3664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 txBox="1"/>
          <p:nvPr/>
        </p:nvSpPr>
        <p:spPr>
          <a:xfrm>
            <a:off x="762000" y="1422400"/>
            <a:ext cx="952881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4000"/>
              </a:lnSpc>
              <a:defRPr/>
            </a:pPr>
            <a:r>
              <a:rPr lang="en-US" sz="1700" b="0" i="0" u="none" strike="noStrike">
                <a:solidFill>
                  <a:srgbClr val="3C42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(a) </a:t>
            </a:r>
            <a:r>
              <a:rPr lang="en-US" altLang="zh-CN" sz="1700">
                <a:solidFill>
                  <a:srgbClr val="3C42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Expensive Construction: Complex structures (e.g., graphs/trees) incur high costs with marginal benefits.</a:t>
            </a:r>
            <a:endParaRPr lang="en-US" altLang="zh-CN" sz="1700">
              <a:solidFill>
                <a:srgbClr val="3C42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indent="0" algn="l">
              <a:lnSpc>
                <a:spcPct val="113000"/>
              </a:lnSpc>
            </a:pPr>
            <a:r>
              <a:rPr lang="en-US" sz="1700" b="0" i="0" u="none" strike="noStrike">
                <a:solidFill>
                  <a:srgbClr val="3C42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(b) </a:t>
            </a:r>
            <a:r>
              <a:rPr lang="en-US" altLang="zh-CN" sz="1700">
                <a:solidFill>
                  <a:srgbClr val="3C42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Naive Utilization: Retrieved fragments are merely concatenated into prompts without logical structures.</a:t>
            </a:r>
            <a:endParaRPr lang="zh-CN" altLang="en-US" sz="1700" b="0" i="0" u="none" strike="noStrike">
              <a:solidFill>
                <a:srgbClr val="3C42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/>
          <a:srcRect l="35" r="35"/>
          <a:stretch>
            <a:fillRect/>
          </a:stretch>
        </p:blipFill>
        <p:spPr>
          <a:xfrm>
            <a:off x="762000" y="2222500"/>
            <a:ext cx="10668000" cy="4165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762000" y="381000"/>
            <a:ext cx="1041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2000"/>
              </a:lnSpc>
              <a:defRPr/>
            </a:pPr>
            <a:r>
              <a:rPr lang="en-US" sz="2800" b="1" i="0" u="none" strike="noStrike">
                <a:solidFill>
                  <a:srgbClr val="11141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Core Claim and Contributions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092">
            <a:off x="762004" y="11620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1A3664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 txBox="1"/>
          <p:nvPr/>
        </p:nvSpPr>
        <p:spPr>
          <a:xfrm>
            <a:off x="3252470" y="5414010"/>
            <a:ext cx="5433695" cy="108521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3000"/>
              </a:lnSpc>
            </a:pPr>
            <a:endParaRPr lang="en-US" sz="1900" b="0" i="0" u="none" strike="noStrike">
              <a:solidFill>
                <a:srgbClr val="3C42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indent="0" algn="ctr">
              <a:lnSpc>
                <a:spcPct val="113000"/>
              </a:lnSpc>
            </a:pPr>
            <a:r>
              <a:rPr lang="en-US" sz="1900" b="0" i="0" u="none" strike="noStrike">
                <a:solidFill>
                  <a:srgbClr val="3C42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200" b="0" i="0" u="none" strike="noStrike">
                <a:solidFill>
                  <a:srgbClr val="3C42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Accuracy gains </a:t>
            </a:r>
            <a:r>
              <a:rPr lang="en-US" sz="2200" b="1" i="0" u="none" strike="noStrike">
                <a:solidFill>
                  <a:srgbClr val="3C42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7.5%–10.4%</a:t>
            </a:r>
            <a:endParaRPr lang="en-US" sz="2200" b="1" i="0" u="none" strike="noStrike">
              <a:solidFill>
                <a:srgbClr val="3C42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indent="0" algn="ctr">
              <a:lnSpc>
                <a:spcPct val="113000"/>
              </a:lnSpc>
            </a:pPr>
            <a:endParaRPr lang="en-US" sz="900" b="0" i="0" u="none" strike="noStrike">
              <a:solidFill>
                <a:srgbClr val="3C42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indent="0" algn="ctr">
              <a:lnSpc>
                <a:spcPct val="113000"/>
              </a:lnSpc>
            </a:pPr>
            <a:r>
              <a:rPr lang="en-US" sz="1900" b="0" i="0" u="none" strike="noStrike">
                <a:solidFill>
                  <a:srgbClr val="3C42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200" b="0" i="0" u="none" strike="noStrike">
                <a:solidFill>
                  <a:srgbClr val="3C42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Cost drops to </a:t>
            </a:r>
            <a:r>
              <a:rPr lang="en-US" sz="2200" b="1" i="0" u="none" strike="noStrike">
                <a:solidFill>
                  <a:srgbClr val="3C42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~2.7%</a:t>
            </a:r>
            <a:r>
              <a:rPr lang="en-US" sz="2200" b="0" i="0" u="none" strike="noStrike">
                <a:solidFill>
                  <a:srgbClr val="3C42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tokens and </a:t>
            </a:r>
            <a:r>
              <a:rPr lang="en-US" sz="2200" b="1" i="0" u="none" strike="noStrike">
                <a:solidFill>
                  <a:srgbClr val="3C42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6.0%</a:t>
            </a:r>
            <a:r>
              <a:rPr lang="en-US" sz="2200" b="0" i="0" u="none" strike="noStrike">
                <a:solidFill>
                  <a:srgbClr val="3C42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latency</a:t>
            </a:r>
            <a:endParaRPr lang="en-US" sz="2200" b="0" i="0" u="none" strike="noStrike">
              <a:solidFill>
                <a:srgbClr val="3C42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61365" y="1632585"/>
            <a:ext cx="106680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100" b="1">
                <a:solidFill>
                  <a:srgbClr val="3C42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CoM(Chain-of-Memory)</a:t>
            </a:r>
            <a:endParaRPr lang="en-US" altLang="zh-CN" sz="2100" b="1">
              <a:solidFill>
                <a:srgbClr val="3C42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endParaRPr lang="en-US" altLang="zh-CN" sz="900" b="1">
              <a:solidFill>
                <a:srgbClr val="3C42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r>
              <a:rPr lang="en-US" altLang="zh-CN" sz="2100" b="1">
                <a:solidFill>
                  <a:srgbClr val="3C42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 Paradigm Shift to Lightweight Construction paired with Systematic Dynamic Utilization.</a:t>
            </a:r>
            <a:endParaRPr lang="en-US" altLang="zh-CN" sz="2100" b="1" i="0" u="none" strike="noStrike">
              <a:solidFill>
                <a:srgbClr val="3C42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endParaRPr lang="zh-CN" altLang="en-US" sz="2100" b="1"/>
          </a:p>
        </p:txBody>
      </p:sp>
      <p:sp>
        <p:nvSpPr>
          <p:cNvPr id="7" name="文本框 6"/>
          <p:cNvSpPr txBox="1"/>
          <p:nvPr>
            <p:custDataLst>
              <p:tags r:id="rId1"/>
            </p:custDataLst>
          </p:nvPr>
        </p:nvSpPr>
        <p:spPr>
          <a:xfrm>
            <a:off x="6949440" y="3015615"/>
            <a:ext cx="40697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Dynamic Memory Chain Evolution</a:t>
            </a:r>
            <a:endParaRPr lang="en-US" altLang="zh-CN" sz="2000"/>
          </a:p>
        </p:txBody>
      </p:sp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6949440" y="3571240"/>
            <a:ext cx="3828415" cy="15532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900">
                <a:solidFill>
                  <a:srgbClr val="3C42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Retrieved fragments organized into coherent inference paths.</a:t>
            </a:r>
            <a:endParaRPr lang="en-US" sz="1900">
              <a:solidFill>
                <a:srgbClr val="3C42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endParaRPr lang="en-US" altLang="en-US" sz="1900">
              <a:solidFill>
                <a:srgbClr val="3C42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r>
              <a:rPr lang="en-US" sz="1900">
                <a:solidFill>
                  <a:srgbClr val="3C42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Adaptive truncation prunes irrelevant noise.</a:t>
            </a:r>
            <a:endParaRPr lang="en-US" altLang="en-US" sz="1900">
              <a:solidFill>
                <a:srgbClr val="3C42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1" name="文本框 10"/>
          <p:cNvSpPr txBox="1"/>
          <p:nvPr>
            <p:custDataLst>
              <p:tags r:id="rId3"/>
            </p:custDataLst>
          </p:nvPr>
        </p:nvSpPr>
        <p:spPr>
          <a:xfrm>
            <a:off x="1047750" y="3015615"/>
            <a:ext cx="43122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Memory Construction and Retrieval</a:t>
            </a:r>
            <a:endParaRPr lang="en-US" altLang="zh-CN" sz="2000"/>
          </a:p>
        </p:txBody>
      </p:sp>
      <p:sp>
        <p:nvSpPr>
          <p:cNvPr id="12" name="文本框 11"/>
          <p:cNvSpPr txBox="1"/>
          <p:nvPr>
            <p:custDataLst>
              <p:tags r:id="rId4"/>
            </p:custDataLst>
          </p:nvPr>
        </p:nvSpPr>
        <p:spPr>
          <a:xfrm>
            <a:off x="1047750" y="3571240"/>
            <a:ext cx="4070350" cy="15532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900">
                <a:solidFill>
                  <a:srgbClr val="3C42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Rapid access via semantic similarity (Top-K).</a:t>
            </a:r>
            <a:endParaRPr lang="en-US" altLang="zh-CN" sz="1900">
              <a:solidFill>
                <a:srgbClr val="3C42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endParaRPr lang="en-US" altLang="zh-CN" sz="1900">
              <a:solidFill>
                <a:srgbClr val="3C42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r>
              <a:rPr lang="en-US" altLang="zh-CN" sz="1900">
                <a:solidFill>
                  <a:srgbClr val="3C42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Avoids the heavy burden of graph/tree-based modeling.</a:t>
            </a:r>
            <a:endParaRPr lang="en-US" altLang="zh-CN" sz="1900">
              <a:solidFill>
                <a:srgbClr val="3C42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762000" y="381000"/>
            <a:ext cx="1041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2000"/>
              </a:lnSpc>
              <a:defRPr/>
            </a:pPr>
            <a:r>
              <a:rPr lang="en-US" sz="2800" b="1" i="0" u="none" strike="noStrike">
                <a:solidFill>
                  <a:srgbClr val="11141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CoM Framework Overview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092">
            <a:off x="762004" y="11620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1A3664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091565"/>
            <a:ext cx="12192000" cy="467487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15635"/>
            <a:ext cx="12192000" cy="114236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762000" y="381000"/>
            <a:ext cx="1041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2000"/>
              </a:lnSpc>
              <a:defRPr/>
            </a:pPr>
            <a:r>
              <a:rPr lang="en-US" sz="2800" b="1" i="0" u="none" strike="noStrike">
                <a:solidFill>
                  <a:srgbClr val="11141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Stage 1: Lightweight Memory Construction and Retrieval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092">
            <a:off x="762004" y="11620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1A3664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9" name="AutoShape 9"/>
          <p:cNvSpPr/>
          <p:nvPr/>
        </p:nvSpPr>
        <p:spPr>
          <a:xfrm>
            <a:off x="762000" y="1778000"/>
            <a:ext cx="4508500" cy="4216400"/>
          </a:xfrm>
          <a:prstGeom prst="roundRect">
            <a:avLst>
              <a:gd name="adj" fmla="val 361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1A3664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 txBox="1"/>
          <p:nvPr/>
        </p:nvSpPr>
        <p:spPr>
          <a:xfrm>
            <a:off x="1079500" y="2057400"/>
            <a:ext cx="3873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A366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NOTATION</a:t>
            </a:r>
            <a:endParaRPr lang="en-US" sz="11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AutoShape 11"/>
              <p:cNvSpPr txBox="1"/>
              <p:nvPr/>
            </p:nvSpPr>
            <p:spPr>
              <a:xfrm>
                <a:off x="1079500" y="2565400"/>
                <a:ext cx="3873500" cy="31750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ctr" anchorCtr="0"/>
              <a:lstStyle/>
              <a:p>
                <a:pPr marL="0" indent="0" algn="ctr">
                  <a:lnSpc>
                    <a:spcPct val="113000"/>
                  </a:lnSpc>
                  <a:defRPr/>
                </a:pPr>
                <a:r>
                  <a:rPr lang="en-US" sz="1100" b="1" i="0" u="none" strike="noStrike">
                    <a:solidFill>
                      <a:srgbClr val="6E747E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  <a:sym typeface="Times New Roman" panose="02020603050405020304"/>
                  </a:rPr>
                  <a:t>MEMORY NODE</a:t>
                </a:r>
                <a:endParaRPr lang="en-US" sz="1100"/>
              </a:p>
              <a:p>
                <a:pPr marL="0" indent="0" algn="ctr">
                  <a:lnSpc>
                    <a:spcPct val="113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1800">
                              <a:solidFill>
                                <a:srgbClr val="111418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  <a:sym typeface="Times New Roman" panose="02020603050405020304"/>
                            </a:rPr>
                            <m:t>𝑚</m:t>
                          </m:r>
                        </m:e>
                        <m:sub>
                          <m:r>
                            <a:rPr sz="1800">
                              <a:solidFill>
                                <a:srgbClr val="111418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  <a:sym typeface="Times New Roman" panose="02020603050405020304"/>
                            </a:rPr>
                            <m:t>𝑖</m:t>
                          </m:r>
                          <m:r>
                            <a:rPr sz="1800">
                              <a:solidFill>
                                <a:srgbClr val="111418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  <a:sym typeface="Times New Roman" panose="02020603050405020304"/>
                            </a:rPr>
                            <m:t>,</m:t>
                          </m:r>
                          <m:r>
                            <a:rPr sz="1800">
                              <a:solidFill>
                                <a:srgbClr val="111418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  <a:sym typeface="Times New Roman" panose="02020603050405020304"/>
                            </a:rPr>
                            <m:t>𝑗</m:t>
                          </m:r>
                        </m:sub>
                      </m:sSub>
                      <m:r>
                        <a:rPr sz="1800">
                          <a:solidFill>
                            <a:srgbClr val="111418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m:t>=</m:t>
                      </m:r>
                      <m:d>
                        <m:dPr>
                          <m:sepChr m:val=","/>
                          <m:ctrlPr>
                            <a:rPr/>
                          </m:ctrlPr>
                        </m:dPr>
                        <m:e>
                          <m:r>
                            <a:rPr sz="1800">
                              <a:solidFill>
                                <a:srgbClr val="111418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  <a:sym typeface="Times New Roman" panose="02020603050405020304"/>
                            </a:rPr>
                            <m:t>𝑥</m:t>
                          </m:r>
                        </m:e>
                        <m:e>
                          <m:r>
                            <a:rPr sz="1800">
                              <a:solidFill>
                                <a:srgbClr val="111418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  <a:sym typeface="Times New Roman" panose="02020603050405020304"/>
                            </a:rPr>
                            <m:t>𝜏</m:t>
                          </m:r>
                        </m:e>
                        <m:e>
                          <m:r>
                            <a:rPr sz="1800">
                              <a:solidFill>
                                <a:srgbClr val="111418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  <a:sym typeface="Times New Roman" panose="02020603050405020304"/>
                            </a:rPr>
                            <m:t>𝜌</m:t>
                          </m:r>
                        </m:e>
                        <m:e>
                          <m:r>
                            <a:rPr sz="1800">
                              <a:solidFill>
                                <a:srgbClr val="111418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  <a:sym typeface="Times New Roman" panose="02020603050405020304"/>
                            </a:rPr>
                            <m:t>𝑒</m:t>
                          </m:r>
                        </m:e>
                      </m:d>
                    </m:oMath>
                  </m:oMathPara>
                </a14:m>
                <a:endParaRPr sz="1800">
                  <a:solidFill>
                    <a:srgbClr val="111418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endParaRPr>
              </a:p>
              <a:p>
                <a:pPr marL="0" indent="0" algn="ctr">
                  <a:lnSpc>
                    <a:spcPct val="113000"/>
                  </a:lnSpc>
                </a:pPr>
              </a:p>
              <a:p>
                <a:pPr marL="0" indent="0" algn="ctr">
                  <a:lnSpc>
                    <a:spcPct val="113000"/>
                  </a:lnSpc>
                </a:pPr>
                <a:r>
                  <a:rPr lang="en-US" sz="1100" b="1" i="0" u="none" strike="noStrike">
                    <a:solidFill>
                      <a:srgbClr val="6E747E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  <a:sym typeface="Times New Roman" panose="02020603050405020304"/>
                  </a:rPr>
                  <a:t>INDEX SET</a:t>
                </a:r>
                <a:endParaRPr lang="en-US" sz="1100" b="1" i="0" u="none" strike="noStrike">
                  <a:solidFill>
                    <a:srgbClr val="6E747E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endParaRPr>
              </a:p>
              <a:p>
                <a:pPr marL="0" indent="0" algn="ctr">
                  <a:lnSpc>
                    <a:spcPct val="113000"/>
                  </a:lnSpc>
                </a:pPr>
                <a:r>
                  <a:rPr lang="en-US" altLang="zh-CN" sz="1800" i="0" u="none" strike="noStrike">
                    <a:solidFill>
                      <a:schemeClr val="tx1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  <a:sym typeface="Times New Roman" panose="02020603050405020304"/>
                  </a:rPr>
                  <a:t>𝑀</a:t>
                </a:r>
                <a:r>
                  <a:rPr lang="en-US" altLang="zh-CN" sz="1800" i="0" u="none" strike="noStrike">
                    <a:solidFill>
                      <a:schemeClr val="tx1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  <a:sym typeface="Times New Roman" panose="02020603050405020304"/>
                  </a:rPr>
                  <a:t> = 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1800"/>
                        </m:ctrlPr>
                      </m:sSubPr>
                      <m:e>
                        <m:r>
                          <a:rPr sz="1800">
                            <a:solidFill>
                              <a:srgbClr val="111418"/>
                            </a:solidFill>
                            <a:latin typeface="Times New Roman" panose="02020603050405020304"/>
                            <a:ea typeface="Times New Roman" panose="02020603050405020304"/>
                            <a:cs typeface="Times New Roman" panose="02020603050405020304"/>
                            <a:sym typeface="Times New Roman" panose="02020603050405020304"/>
                          </a:rPr>
                          <m:t>𝑚</m:t>
                        </m:r>
                      </m:e>
                      <m:sub>
                        <m:r>
                          <a:rPr sz="1800">
                            <a:solidFill>
                              <a:srgbClr val="111418"/>
                            </a:solidFill>
                            <a:latin typeface="Times New Roman" panose="02020603050405020304"/>
                            <a:ea typeface="Times New Roman" panose="02020603050405020304"/>
                            <a:cs typeface="Times New Roman" panose="02020603050405020304"/>
                            <a:sym typeface="Times New Roman" panose="02020603050405020304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1800" i="0" u="none" strike="noStrike">
                    <a:solidFill>
                      <a:schemeClr val="tx1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  <a:sym typeface="Times New Roman" panose="02020603050405020304"/>
                  </a:rPr>
                  <a:t>, . . .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1800"/>
                        </m:ctrlPr>
                      </m:sSubPr>
                      <m:e>
                        <m:r>
                          <a:rPr sz="1800">
                            <a:solidFill>
                              <a:srgbClr val="111418"/>
                            </a:solidFill>
                            <a:latin typeface="Times New Roman" panose="02020603050405020304"/>
                            <a:ea typeface="Times New Roman" panose="02020603050405020304"/>
                            <a:cs typeface="Times New Roman" panose="02020603050405020304"/>
                            <a:sym typeface="Times New Roman" panose="02020603050405020304"/>
                          </a:rPr>
                          <m:t>𝑚</m:t>
                        </m:r>
                      </m:e>
                      <m:sub>
                        <m:r>
                          <a:rPr sz="1800">
                            <a:solidFill>
                              <a:srgbClr val="111418"/>
                            </a:solidFill>
                            <a:latin typeface="Times New Roman" panose="02020603050405020304"/>
                            <a:ea typeface="Times New Roman" panose="02020603050405020304"/>
                            <a:cs typeface="Times New Roman" panose="02020603050405020304"/>
                            <a:sym typeface="Times New Roman" panose="02020603050405020304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sz="1800" i="0" u="none" strike="noStrike">
                    <a:solidFill>
                      <a:schemeClr val="tx1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  <a:sym typeface="Times New Roman" panose="02020603050405020304"/>
                  </a:rPr>
                  <a:t>}</a:t>
                </a:r>
                <a:endParaRPr lang="en-US" altLang="zh-CN" sz="1800" i="0" u="none" strike="noStrike">
                  <a:solidFill>
                    <a:schemeClr val="tx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endParaRPr>
              </a:p>
              <a:p>
                <a:pPr marL="0" indent="0" algn="ctr">
                  <a:lnSpc>
                    <a:spcPct val="113000"/>
                  </a:lnSpc>
                </a:pPr>
                <a:endParaRPr lang="en-US" altLang="zh-CN" sz="1100" i="0" u="none" strike="noStrike">
                  <a:solidFill>
                    <a:schemeClr val="tx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endParaRPr>
              </a:p>
              <a:p>
                <a:pPr marL="0" indent="0" algn="ctr">
                  <a:lnSpc>
                    <a:spcPct val="113000"/>
                  </a:lnSpc>
                </a:pPr>
                <a:r>
                  <a:rPr lang="en-US" sz="1100" b="1" i="0" u="none" strike="noStrike">
                    <a:solidFill>
                      <a:srgbClr val="6E747E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  <a:sym typeface="Times New Roman" panose="02020603050405020304"/>
                  </a:rPr>
                  <a:t>RETRIEVAL SCORE</a:t>
                </a:r>
                <a:endParaRPr lang="en-US" sz="1100" b="1" i="0" u="none" strike="noStrike">
                  <a:solidFill>
                    <a:srgbClr val="6E747E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endParaRPr>
              </a:p>
              <a:p>
                <a:pPr marL="0" indent="0" algn="ctr">
                  <a:lnSpc>
                    <a:spcPct val="113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1800">
                              <a:solidFill>
                                <a:srgbClr val="111418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  <a:sym typeface="Times New Roman" panose="02020603050405020304"/>
                            </a:rPr>
                            <m:t>𝑠</m:t>
                          </m:r>
                        </m:e>
                        <m:sub>
                          <m:r>
                            <a:rPr sz="1800">
                              <a:solidFill>
                                <a:srgbClr val="111418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  <a:sym typeface="Times New Roman" panose="02020603050405020304"/>
                            </a:rPr>
                            <m:t>𝑖</m:t>
                          </m:r>
                        </m:sub>
                      </m:sSub>
                      <m:r>
                        <a:rPr sz="1800">
                          <a:solidFill>
                            <a:srgbClr val="111418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m:t>=</m:t>
                      </m:r>
                      <m:r>
                        <m:rPr>
                          <m:sty m:val="p"/>
                        </m:rPr>
                        <a:rPr sz="1800">
                          <a:solidFill>
                            <a:srgbClr val="111418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m:t>cos</m:t>
                      </m:r>
                      <m:d>
                        <m:dPr>
                          <m:sepChr m:val=","/>
                          <m:ctrlPr>
                            <a:rPr/>
                          </m:ctrlPr>
                        </m:dPr>
                        <m:e>
                          <m:r>
                            <a:rPr sz="1800">
                              <a:solidFill>
                                <a:srgbClr val="111418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  <a:sym typeface="Times New Roman" panose="02020603050405020304"/>
                            </a:rPr>
                            <m:t>𝑞</m:t>
                          </m:r>
                        </m:e>
                        <m:e>
                          <m:sSub>
                            <m:sSubPr>
                              <m:ctrlPr>
                                <a:rPr/>
                              </m:ctrlPr>
                            </m:sSubPr>
                            <m:e>
                              <m:r>
                                <a:rPr sz="1800">
                                  <a:solidFill>
                                    <a:srgbClr val="111418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  <a:sym typeface="Times New Roman" panose="02020603050405020304"/>
                                </a:rPr>
                                <m:t>𝑒</m:t>
                              </m:r>
                            </m:e>
                            <m:sub>
                              <m:r>
                                <a:rPr sz="1800">
                                  <a:solidFill>
                                    <a:srgbClr val="111418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  <a:sym typeface="Times New Roman" panose="02020603050405020304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</a:p>
            </p:txBody>
          </p:sp>
        </mc:Choice>
        <mc:Fallback>
          <p:sp>
            <p:nvSpPr>
              <p:cNvPr id="11" name="AutoShape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500" y="2565400"/>
                <a:ext cx="3873500" cy="317500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  <a:ln w="12700" cap="flat" cmpd="sng">
                <a:noFill/>
                <a:prstDash val="solid"/>
                <a:rou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510030"/>
            <a:ext cx="3505200" cy="46291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762000" y="381000"/>
            <a:ext cx="1041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2000"/>
              </a:lnSpc>
              <a:defRPr/>
            </a:pPr>
            <a:r>
              <a:rPr lang="en-US" sz="2800" b="1" i="0" u="none" strike="noStrike">
                <a:solidFill>
                  <a:srgbClr val="11141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Stage 2: Dynamic Memory Chain Evolution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092">
            <a:off x="762004" y="11620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1A3664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9" name="AutoShape 9"/>
          <p:cNvSpPr/>
          <p:nvPr>
            <p:custDataLst>
              <p:tags r:id="rId1"/>
            </p:custDataLst>
          </p:nvPr>
        </p:nvSpPr>
        <p:spPr>
          <a:xfrm>
            <a:off x="762000" y="2111375"/>
            <a:ext cx="5588000" cy="1968500"/>
          </a:xfrm>
          <a:prstGeom prst="roundRect">
            <a:avLst>
              <a:gd name="adj" fmla="val 7741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1A3664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 txBox="1"/>
          <p:nvPr>
            <p:custDataLst>
              <p:tags r:id="rId2"/>
            </p:custDataLst>
          </p:nvPr>
        </p:nvSpPr>
        <p:spPr>
          <a:xfrm>
            <a:off x="1079500" y="2339975"/>
            <a:ext cx="4953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200" b="1" i="0" u="none" strike="noStrike">
                <a:solidFill>
                  <a:srgbClr val="6E747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门控</a:t>
            </a:r>
            <a:r>
              <a:rPr lang="zh-CN" altLang="en-US" sz="1200" b="1" i="0" u="none" strike="noStrike">
                <a:solidFill>
                  <a:srgbClr val="6E747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分数</a:t>
            </a:r>
            <a:endParaRPr lang="zh-CN" altLang="en-US" sz="1200" b="1" i="0" u="none" strike="noStrike">
              <a:solidFill>
                <a:srgbClr val="6E747E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AutoShape 11"/>
              <p:cNvSpPr txBox="1"/>
              <p:nvPr/>
            </p:nvSpPr>
            <p:spPr>
              <a:xfrm>
                <a:off x="1079500" y="2695575"/>
                <a:ext cx="4953000" cy="5588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ctr" anchorCtr="0"/>
              <a:lstStyle/>
              <a:p>
                <a:pPr marL="0" indent="0" algn="ctr">
                  <a:lnSpc>
                    <a:spcPct val="125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2000">
                              <a:solidFill>
                                <a:srgbClr val="111418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  <a:sym typeface="Times New Roman" panose="02020603050405020304"/>
                            </a:rPr>
                            <m:t>𝑆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sz="2000">
                              <a:solidFill>
                                <a:srgbClr val="111418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  <a:sym typeface="Times New Roman" panose="02020603050405020304"/>
                            </a:rPr>
                            <m:t>g</m:t>
                          </m:r>
                          <m:r>
                            <m:rPr>
                              <m:sty m:val="p"/>
                            </m:rPr>
                            <a:rPr sz="2000">
                              <a:solidFill>
                                <a:srgbClr val="111418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  <a:sym typeface="Times New Roman" panose="02020603050405020304"/>
                            </a:rPr>
                            <m:t>a</m:t>
                          </m:r>
                          <m:r>
                            <m:rPr>
                              <m:sty m:val="p"/>
                            </m:rPr>
                            <a:rPr sz="2000">
                              <a:solidFill>
                                <a:srgbClr val="111418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  <a:sym typeface="Times New Roman" panose="02020603050405020304"/>
                            </a:rPr>
                            <m:t>t</m:t>
                          </m:r>
                          <m:r>
                            <m:rPr>
                              <m:sty m:val="p"/>
                            </m:rPr>
                            <a:rPr sz="2000">
                              <a:solidFill>
                                <a:srgbClr val="111418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  <a:sym typeface="Times New Roman" panose="02020603050405020304"/>
                            </a:rPr>
                            <m:t>e</m:t>
                          </m:r>
                        </m:sub>
                      </m:sSub>
                      <m:d>
                        <m:dPr>
                          <m:sepChr m:val=","/>
                          <m:ctrlPr>
                            <a:rPr/>
                          </m:ctrlPr>
                        </m:dPr>
                        <m:e>
                          <m:r>
                            <a:rPr sz="2000">
                              <a:solidFill>
                                <a:srgbClr val="111418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  <a:sym typeface="Times New Roman" panose="02020603050405020304"/>
                            </a:rPr>
                            <m:t>𝑚</m:t>
                          </m:r>
                        </m:e>
                      </m:d>
                      <m:r>
                        <a:rPr sz="2000">
                          <a:solidFill>
                            <a:srgbClr val="111418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m:t>=</m:t>
                      </m:r>
                      <m:r>
                        <m:rPr>
                          <m:sty m:val="p"/>
                        </m:rPr>
                        <a:rPr sz="2000">
                          <a:solidFill>
                            <a:srgbClr val="111418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m:t>cos</m:t>
                      </m:r>
                      <m:d>
                        <m:dPr>
                          <m:sepChr m:val=","/>
                          <m:ctrlPr>
                            <a:rPr/>
                          </m:ctrlPr>
                        </m:dPr>
                        <m:e>
                          <m:r>
                            <a:rPr sz="2000">
                              <a:solidFill>
                                <a:srgbClr val="111418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  <a:sym typeface="Times New Roman" panose="02020603050405020304"/>
                            </a:rPr>
                            <m:t>𝑚</m:t>
                          </m:r>
                        </m:e>
                        <m:e>
                          <m:r>
                            <a:rPr sz="2000">
                              <a:solidFill>
                                <a:srgbClr val="111418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  <a:sym typeface="Times New Roman" panose="02020603050405020304"/>
                            </a:rPr>
                            <m:t>𝑞</m:t>
                          </m:r>
                        </m:e>
                      </m:d>
                      <m:r>
                        <a:rPr sz="2000">
                          <a:solidFill>
                            <a:srgbClr val="111418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m:t>×</m:t>
                      </m:r>
                      <m:r>
                        <m:rPr>
                          <m:sty m:val="p"/>
                        </m:rPr>
                        <a:rPr sz="2000">
                          <a:solidFill>
                            <a:srgbClr val="111418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m:t>cos</m:t>
                      </m:r>
                      <m:d>
                        <m:dPr>
                          <m:sepChr m:val=","/>
                          <m:ctrlPr>
                            <a:rPr/>
                          </m:ctrlPr>
                        </m:dPr>
                        <m:e>
                          <m:r>
                            <a:rPr sz="2000">
                              <a:solidFill>
                                <a:srgbClr val="111418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  <a:sym typeface="Times New Roman" panose="02020603050405020304"/>
                            </a:rPr>
                            <m:t>𝑚</m:t>
                          </m:r>
                        </m:e>
                        <m:e>
                          <m:sSubSup>
                            <m:sSubSupPr>
                              <m:ctrlPr>
                                <a:rPr/>
                              </m:ctrlPr>
                            </m:sSubSupPr>
                            <m:e>
                              <m:r>
                                <a:rPr sz="2000">
                                  <a:solidFill>
                                    <a:srgbClr val="111418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  <a:sym typeface="Times New Roman" panose="02020603050405020304"/>
                                </a:rPr>
                                <m:t>𝐶</m:t>
                              </m:r>
                            </m:e>
                            <m:sub>
                              <m:r>
                                <a:rPr sz="2000">
                                  <a:solidFill>
                                    <a:srgbClr val="111418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  <a:sym typeface="Times New Roman" panose="02020603050405020304"/>
                                </a:rPr>
                                <m:t>𝑧</m:t>
                              </m:r>
                            </m:sub>
                            <m:sup>
                              <m:d>
                                <m:dPr>
                                  <m:sepChr m:val=","/>
                                  <m:ctrlPr>
                                    <a:rPr/>
                                  </m:ctrlPr>
                                </m:dPr>
                                <m:e>
                                  <m:r>
                                    <a:rPr sz="2000">
                                      <a:solidFill>
                                        <a:srgbClr val="111418"/>
                                      </a:solidFill>
                                      <a:latin typeface="Times New Roman" panose="02020603050405020304"/>
                                      <a:ea typeface="Times New Roman" panose="02020603050405020304"/>
                                      <a:cs typeface="Times New Roman" panose="02020603050405020304"/>
                                      <a:sym typeface="Times New Roman" panose="02020603050405020304"/>
                                    </a:rPr>
                                    <m:t>𝑡</m:t>
                                  </m:r>
                                </m:e>
                              </m:d>
                            </m:sup>
                          </m:sSubSup>
                        </m:e>
                      </m:d>
                    </m:oMath>
                  </m:oMathPara>
                </a14:m>
                <a:endParaRPr lang="en-US" sz="1100"/>
              </a:p>
            </p:txBody>
          </p:sp>
        </mc:Choice>
        <mc:Fallback>
          <p:sp>
            <p:nvSpPr>
              <p:cNvPr id="11" name="AutoShape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500" y="2695575"/>
                <a:ext cx="4953000" cy="55880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  <a:ln w="12700" cap="flat" cmpd="sng">
                <a:noFill/>
                <a:prstDash val="solid"/>
                <a:rou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AutoShape 12"/>
          <p:cNvSpPr txBox="1"/>
          <p:nvPr>
            <p:custDataLst>
              <p:tags r:id="rId4"/>
            </p:custDataLst>
          </p:nvPr>
        </p:nvSpPr>
        <p:spPr>
          <a:xfrm>
            <a:off x="1079500" y="3381375"/>
            <a:ext cx="4953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E747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global relevance × contextual consistency</a:t>
            </a:r>
            <a:endParaRPr lang="en-US" sz="1100"/>
          </a:p>
        </p:txBody>
      </p:sp>
      <p:sp>
        <p:nvSpPr>
          <p:cNvPr id="13" name="AutoShape 13"/>
          <p:cNvSpPr/>
          <p:nvPr>
            <p:custDataLst>
              <p:tags r:id="rId5"/>
            </p:custDataLst>
          </p:nvPr>
        </p:nvSpPr>
        <p:spPr>
          <a:xfrm>
            <a:off x="762000" y="4359275"/>
            <a:ext cx="5588000" cy="1968500"/>
          </a:xfrm>
          <a:prstGeom prst="roundRect">
            <a:avLst>
              <a:gd name="adj" fmla="val 7741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1A3664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 txBox="1"/>
          <p:nvPr>
            <p:custDataLst>
              <p:tags r:id="rId6"/>
            </p:custDataLst>
          </p:nvPr>
        </p:nvSpPr>
        <p:spPr>
          <a:xfrm>
            <a:off x="1079500" y="4587875"/>
            <a:ext cx="4953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200" b="1" i="0" u="none" strike="noStrike">
                <a:solidFill>
                  <a:srgbClr val="6E747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自适应</a:t>
            </a:r>
            <a:r>
              <a:rPr lang="zh-CN" altLang="en-US" sz="1200" b="1" i="0" u="none" strike="noStrike">
                <a:solidFill>
                  <a:srgbClr val="6E747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截断</a:t>
            </a:r>
            <a:endParaRPr lang="zh-CN" altLang="en-US" sz="1200" b="1" i="0" u="none" strike="noStrike">
              <a:solidFill>
                <a:srgbClr val="6E747E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AutoShape 15"/>
              <p:cNvSpPr txBox="1"/>
              <p:nvPr/>
            </p:nvSpPr>
            <p:spPr>
              <a:xfrm>
                <a:off x="1079500" y="4943475"/>
                <a:ext cx="4953000" cy="5588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ctr" anchorCtr="0"/>
              <a:lstStyle/>
              <a:p>
                <a:pPr marL="0" indent="0" algn="ctr">
                  <a:lnSpc>
                    <a:spcPct val="125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/>
                          </m:ctrlPr>
                        </m:sSubSupPr>
                        <m:e>
                          <m:r>
                            <a:rPr sz="2000">
                              <a:solidFill>
                                <a:srgbClr val="111418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  <a:sym typeface="Times New Roman" panose="02020603050405020304"/>
                            </a:rPr>
                            <m:t>𝑠</m:t>
                          </m:r>
                        </m:e>
                        <m:sub>
                          <m:r>
                            <a:rPr sz="2000">
                              <a:solidFill>
                                <a:srgbClr val="111418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  <a:sym typeface="Times New Roman" panose="02020603050405020304"/>
                            </a:rPr>
                            <m:t>𝑡</m:t>
                          </m:r>
                        </m:sub>
                        <m:sup>
                          <m:r>
                            <a:rPr sz="2000">
                              <a:solidFill>
                                <a:srgbClr val="111418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  <a:sym typeface="Times New Roman" panose="02020603050405020304"/>
                            </a:rPr>
                            <m:t>∗</m:t>
                          </m:r>
                        </m:sup>
                      </m:sSubSup>
                      <m:r>
                        <a:rPr sz="2000">
                          <a:solidFill>
                            <a:srgbClr val="111418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m:t>&lt;</m:t>
                      </m:r>
                      <m:r>
                        <a:rPr sz="2000">
                          <a:solidFill>
                            <a:srgbClr val="111418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m:t>𝛽</m:t>
                      </m:r>
                      <m:r>
                        <a:rPr sz="2000">
                          <a:solidFill>
                            <a:srgbClr val="111418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m:t>⋅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2000">
                              <a:solidFill>
                                <a:srgbClr val="111418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  <a:sym typeface="Times New Roman" panose="02020603050405020304"/>
                            </a:rPr>
                            <m:t>𝑠</m:t>
                          </m:r>
                        </m:e>
                        <m:sub>
                          <m:r>
                            <a:rPr sz="2000">
                              <a:solidFill>
                                <a:srgbClr val="111418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  <a:sym typeface="Times New Roman" panose="02020603050405020304"/>
                            </a:rPr>
                            <m:t>𝑡</m:t>
                          </m:r>
                          <m:r>
                            <a:rPr sz="2000">
                              <a:solidFill>
                                <a:srgbClr val="111418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  <a:sym typeface="Times New Roman" panose="02020603050405020304"/>
                            </a:rPr>
                            <m:t>−</m:t>
                          </m:r>
                          <m:r>
                            <a:rPr sz="2000">
                              <a:solidFill>
                                <a:srgbClr val="111418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  <a:sym typeface="Times New Roman" panose="02020603050405020304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100"/>
              </a:p>
            </p:txBody>
          </p:sp>
        </mc:Choice>
        <mc:Fallback>
          <p:sp>
            <p:nvSpPr>
              <p:cNvPr id="15" name="AutoShape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500" y="4943475"/>
                <a:ext cx="4953000" cy="558800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  <a:ln w="12700" cap="flat" cmpd="sng">
                <a:noFill/>
                <a:prstDash val="solid"/>
                <a:rou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AutoShape 16"/>
          <p:cNvSpPr txBox="1"/>
          <p:nvPr>
            <p:custDataLst>
              <p:tags r:id="rId8"/>
            </p:custDataLst>
          </p:nvPr>
        </p:nvSpPr>
        <p:spPr>
          <a:xfrm>
            <a:off x="1079500" y="5629275"/>
            <a:ext cx="4953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E747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sharp attenuation halts expansion; β = 0.5</a:t>
            </a:r>
            <a:endParaRPr lang="en-US" sz="1100"/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81165" y="1959610"/>
            <a:ext cx="4648835" cy="2120265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937895" y="1347470"/>
            <a:ext cx="57721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>
                <a:solidFill>
                  <a:srgbClr val="3C42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Top-L nodes anchor L independent memory chains.</a:t>
            </a:r>
            <a:endParaRPr lang="en-US" altLang="en-US" sz="2000">
              <a:solidFill>
                <a:srgbClr val="3C42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71410" y="4422775"/>
            <a:ext cx="2314575" cy="1600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AutoShape 2"/>
          <p:cNvSpPr txBox="1"/>
          <p:nvPr/>
        </p:nvSpPr>
        <p:spPr>
          <a:xfrm>
            <a:off x="762000" y="381000"/>
            <a:ext cx="1041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2000"/>
              </a:lnSpc>
              <a:defRPr/>
            </a:pPr>
            <a:r>
              <a:rPr lang="en-US" sz="2800" b="1" i="0" u="none" strike="noStrike">
                <a:solidFill>
                  <a:srgbClr val="11141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Complexity and Efficiency Design</a:t>
            </a:r>
            <a:endParaRPr lang="en-US" sz="1100"/>
          </a:p>
        </p:txBody>
      </p:sp>
      <p:cxnSp>
        <p:nvCxnSpPr>
          <p:cNvPr id="23" name="Connector 3"/>
          <p:cNvCxnSpPr/>
          <p:nvPr/>
        </p:nvCxnSpPr>
        <p:spPr>
          <a:xfrm rot="-4092">
            <a:off x="762004" y="11620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1A3664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24" name="AutoShape 4"/>
          <p:cNvSpPr/>
          <p:nvPr/>
        </p:nvSpPr>
        <p:spPr>
          <a:xfrm>
            <a:off x="779780" y="1936750"/>
            <a:ext cx="4826000" cy="3518535"/>
          </a:xfrm>
          <a:prstGeom prst="roundRect">
            <a:avLst>
              <a:gd name="adj" fmla="val 3614"/>
            </a:avLst>
          </a:prstGeom>
          <a:solidFill>
            <a:srgbClr val="F4F7FB">
              <a:alpha val="100000"/>
            </a:srgbClr>
          </a:solidFill>
          <a:ln w="12700" cap="flat" cmpd="sng">
            <a:solidFill>
              <a:srgbClr val="1A3664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9"/>
          <p:cNvSpPr/>
          <p:nvPr/>
        </p:nvSpPr>
        <p:spPr>
          <a:xfrm>
            <a:off x="5842000" y="1498600"/>
            <a:ext cx="5588000" cy="1968500"/>
          </a:xfrm>
          <a:prstGeom prst="roundRect">
            <a:avLst>
              <a:gd name="adj" fmla="val 7741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1A3664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10"/>
          <p:cNvSpPr txBox="1"/>
          <p:nvPr/>
        </p:nvSpPr>
        <p:spPr>
          <a:xfrm>
            <a:off x="6159500" y="1727200"/>
            <a:ext cx="4953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6E747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</a:t>
            </a:r>
            <a:r>
              <a:rPr lang="zh-CN" altLang="en-US" sz="1200" b="1" i="0" u="none" strike="noStrike">
                <a:solidFill>
                  <a:srgbClr val="6E747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条链的最坏情况</a:t>
            </a:r>
            <a:r>
              <a:rPr lang="zh-CN" altLang="en-US" sz="1200" b="1" i="0" u="none" strike="noStrike">
                <a:solidFill>
                  <a:srgbClr val="6E747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复杂度</a:t>
            </a:r>
            <a:endParaRPr lang="zh-CN" altLang="en-US" sz="1200" b="1" i="0" u="none" strike="noStrike">
              <a:solidFill>
                <a:srgbClr val="6E747E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AutoShape 11"/>
              <p:cNvSpPr txBox="1"/>
              <p:nvPr/>
            </p:nvSpPr>
            <p:spPr>
              <a:xfrm>
                <a:off x="6159500" y="2133600"/>
                <a:ext cx="4953000" cy="6350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ctr" anchorCtr="0"/>
              <a:lstStyle/>
              <a:p>
                <a:pPr marL="0" indent="0" algn="ctr">
                  <a:lnSpc>
                    <a:spcPct val="125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2600">
                          <a:solidFill>
                            <a:srgbClr val="111418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m:t>𝑂</m:t>
                      </m:r>
                      <m:d>
                        <m:dPr>
                          <m:sepChr m:val=","/>
                          <m:ctrlPr>
                            <a:rPr/>
                          </m:ctrlPr>
                        </m:dPr>
                        <m:e>
                          <m:r>
                            <a:rPr sz="2600">
                              <a:solidFill>
                                <a:srgbClr val="111418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  <a:sym typeface="Times New Roman" panose="02020603050405020304"/>
                            </a:rPr>
                            <m:t>𝐿</m:t>
                          </m:r>
                          <m:sSup>
                            <m:sSupPr>
                              <m:ctrlPr>
                                <a:rPr/>
                              </m:ctrlPr>
                            </m:sSupPr>
                            <m:e>
                              <m:r>
                                <a:rPr sz="2600">
                                  <a:solidFill>
                                    <a:srgbClr val="111418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  <a:sym typeface="Times New Roman" panose="02020603050405020304"/>
                                </a:rPr>
                                <m:t>𝐾</m:t>
                              </m:r>
                            </m:e>
                            <m:sup>
                              <m:r>
                                <a:rPr sz="2600">
                                  <a:solidFill>
                                    <a:srgbClr val="111418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  <a:sym typeface="Times New Roman" panose="02020603050405020304"/>
                                </a:rPr>
                                <m:t>2</m:t>
                              </m:r>
                            </m:sup>
                          </m:sSup>
                          <m:r>
                            <a:rPr sz="2600">
                              <a:solidFill>
                                <a:srgbClr val="111418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  <a:sym typeface="Times New Roman" panose="02020603050405020304"/>
                            </a:rPr>
                            <m:t>𝑑</m:t>
                          </m:r>
                        </m:e>
                      </m:d>
                    </m:oMath>
                  </m:oMathPara>
                </a14:m>
                <a:endParaRPr lang="en-US" sz="1100"/>
              </a:p>
            </p:txBody>
          </p:sp>
        </mc:Choice>
        <mc:Fallback>
          <p:sp>
            <p:nvSpPr>
              <p:cNvPr id="30" name="AutoShape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9500" y="2133600"/>
                <a:ext cx="4953000" cy="63500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  <a:ln w="12700" cap="flat" cmpd="sng">
                <a:noFill/>
                <a:prstDash val="solid"/>
                <a:rou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AutoShape 12"/>
          <p:cNvSpPr txBox="1"/>
          <p:nvPr/>
        </p:nvSpPr>
        <p:spPr>
          <a:xfrm>
            <a:off x="6159500" y="2870200"/>
            <a:ext cx="4953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E747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if truncation never triggers</a:t>
            </a:r>
            <a:endParaRPr lang="en-US" sz="1100"/>
          </a:p>
        </p:txBody>
      </p:sp>
      <p:sp>
        <p:nvSpPr>
          <p:cNvPr id="32" name="AutoShape 13"/>
          <p:cNvSpPr/>
          <p:nvPr/>
        </p:nvSpPr>
        <p:spPr>
          <a:xfrm>
            <a:off x="5842000" y="3746500"/>
            <a:ext cx="5588000" cy="1968500"/>
          </a:xfrm>
          <a:prstGeom prst="roundRect">
            <a:avLst>
              <a:gd name="adj" fmla="val 7741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1A3664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14"/>
          <p:cNvSpPr txBox="1"/>
          <p:nvPr/>
        </p:nvSpPr>
        <p:spPr>
          <a:xfrm>
            <a:off x="6159500" y="3975100"/>
            <a:ext cx="4953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200" b="1" i="0" u="none" strike="noStrike">
                <a:solidFill>
                  <a:srgbClr val="6E747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若设置最大链长</a:t>
            </a:r>
            <a:r>
              <a:rPr lang="en-US" sz="1200" b="1" i="0" u="none" strike="noStrike">
                <a:solidFill>
                  <a:srgbClr val="6E747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T</a:t>
            </a:r>
            <a:endParaRPr lang="en-US" sz="11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AutoShape 15"/>
              <p:cNvSpPr txBox="1"/>
              <p:nvPr/>
            </p:nvSpPr>
            <p:spPr>
              <a:xfrm>
                <a:off x="6159500" y="4381500"/>
                <a:ext cx="4953000" cy="6350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ctr" anchorCtr="0"/>
              <a:lstStyle/>
              <a:p>
                <a:pPr marL="0" indent="0" algn="ctr">
                  <a:lnSpc>
                    <a:spcPct val="125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2600">
                          <a:solidFill>
                            <a:srgbClr val="111418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m:t>𝑂</m:t>
                      </m:r>
                      <m:d>
                        <m:dPr>
                          <m:sepChr m:val=","/>
                          <m:ctrlPr>
                            <a:rPr/>
                          </m:ctrlPr>
                        </m:dPr>
                        <m:e>
                          <m:r>
                            <a:rPr sz="2600">
                              <a:solidFill>
                                <a:srgbClr val="111418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  <a:sym typeface="Times New Roman" panose="02020603050405020304"/>
                            </a:rPr>
                            <m:t>𝐿𝑇𝐾𝑑</m:t>
                          </m:r>
                        </m:e>
                      </m:d>
                    </m:oMath>
                  </m:oMathPara>
                </a14:m>
                <a:endParaRPr lang="en-US" sz="1100"/>
              </a:p>
            </p:txBody>
          </p:sp>
        </mc:Choice>
        <mc:Fallback>
          <p:sp>
            <p:nvSpPr>
              <p:cNvPr id="34" name="AutoShape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9500" y="4381500"/>
                <a:ext cx="4953000" cy="63500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  <a:ln w="12700" cap="flat" cmpd="sng">
                <a:noFill/>
                <a:prstDash val="solid"/>
                <a:rou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AutoShape 16"/>
          <p:cNvSpPr txBox="1"/>
          <p:nvPr/>
        </p:nvSpPr>
        <p:spPr>
          <a:xfrm>
            <a:off x="6159500" y="5118100"/>
            <a:ext cx="4953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E747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where T ≤ K</a:t>
            </a:r>
            <a:endParaRPr lang="en-US" sz="1100"/>
          </a:p>
        </p:txBody>
      </p:sp>
      <p:sp>
        <p:nvSpPr>
          <p:cNvPr id="36" name="AutoShape 8"/>
          <p:cNvSpPr txBox="1"/>
          <p:nvPr/>
        </p:nvSpPr>
        <p:spPr>
          <a:xfrm>
            <a:off x="1145540" y="3714750"/>
            <a:ext cx="3183255" cy="45783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1000"/>
              </a:lnSpc>
              <a:defRPr/>
            </a:pPr>
            <a:r>
              <a:rPr lang="en-US" altLang="zh-CN" sz="1700" b="0" i="0" u="none" strike="noStrike">
                <a:solidFill>
                  <a:srgbClr val="3C42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 be the embedding dimension</a:t>
            </a:r>
            <a:endParaRPr lang="en-US" altLang="zh-CN" sz="1700" b="0" i="0" u="none" strike="noStrike">
              <a:solidFill>
                <a:srgbClr val="3C42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38" name="AutoShape 8"/>
          <p:cNvSpPr txBox="1"/>
          <p:nvPr/>
        </p:nvSpPr>
        <p:spPr>
          <a:xfrm>
            <a:off x="1135380" y="2374900"/>
            <a:ext cx="3850005" cy="45783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1000"/>
              </a:lnSpc>
              <a:defRPr/>
            </a:pPr>
            <a:r>
              <a:rPr lang="en-US" altLang="zh-CN" sz="1700" b="0" i="0" u="none" strike="noStrike">
                <a:solidFill>
                  <a:srgbClr val="3C42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K be the size of the retrieved candidate pool</a:t>
            </a:r>
            <a:endParaRPr lang="en-US" altLang="zh-CN" sz="1700" b="0" i="0" u="none" strike="noStrike">
              <a:solidFill>
                <a:srgbClr val="3C42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39" name="AutoShape 8"/>
          <p:cNvSpPr txBox="1"/>
          <p:nvPr/>
        </p:nvSpPr>
        <p:spPr>
          <a:xfrm>
            <a:off x="1135380" y="3044825"/>
            <a:ext cx="4150995" cy="45783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1000"/>
              </a:lnSpc>
              <a:defRPr/>
            </a:pPr>
            <a:r>
              <a:rPr lang="en-US" altLang="zh-CN" sz="1700" b="0" i="0" u="none" strike="noStrike">
                <a:solidFill>
                  <a:srgbClr val="3C42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 be the number of initialized memory chains</a:t>
            </a:r>
            <a:endParaRPr lang="en-US" altLang="zh-CN" sz="1700" b="0" i="0" u="none" strike="noStrike">
              <a:solidFill>
                <a:srgbClr val="3C42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2" name="AutoShape 8"/>
              <p:cNvSpPr txBox="1"/>
              <p:nvPr/>
            </p:nvSpPr>
            <p:spPr>
              <a:xfrm>
                <a:off x="1135380" y="4440555"/>
                <a:ext cx="4150360" cy="457835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ctr" anchorCtr="0"/>
              <a:lstStyle/>
              <a:p>
                <a:pPr marL="0" indent="0" algn="l">
                  <a:lnSpc>
                    <a:spcPct val="121000"/>
                  </a:lnSpc>
                  <a:defRPr/>
                </a:pPr>
                <a:r>
                  <a:rPr lang="en-US" sz="1700">
                    <a:solidFill>
                      <a:srgbClr val="3C424C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  <a:sym typeface="Times New Roman" panose="02020603050405020304"/>
                  </a:rPr>
                  <a:t>One chain scans at most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grow m:val="on"/>
                        <m:limLoc m:val="undOvr"/>
                        <m:ctrlPr>
                          <a:rPr sz="1700"/>
                        </m:ctrlPr>
                      </m:naryPr>
                      <m:sub>
                        <m:r>
                          <a:rPr sz="1700">
                            <a:solidFill>
                              <a:srgbClr val="3C424C"/>
                            </a:solidFill>
                            <a:latin typeface="Times New Roman" panose="02020603050405020304"/>
                            <a:ea typeface="Times New Roman" panose="02020603050405020304"/>
                            <a:cs typeface="Times New Roman" panose="02020603050405020304"/>
                            <a:sym typeface="Times New Roman" panose="02020603050405020304"/>
                          </a:rPr>
                          <m:t>𝑡</m:t>
                        </m:r>
                        <m:r>
                          <a:rPr sz="1700">
                            <a:solidFill>
                              <a:srgbClr val="3C424C"/>
                            </a:solidFill>
                            <a:latin typeface="Times New Roman" panose="02020603050405020304"/>
                            <a:ea typeface="Times New Roman" panose="02020603050405020304"/>
                            <a:cs typeface="Times New Roman" panose="02020603050405020304"/>
                            <a:sym typeface="Times New Roman" panose="02020603050405020304"/>
                          </a:rPr>
                          <m:t>=</m:t>
                        </m:r>
                        <m:r>
                          <a:rPr sz="1700">
                            <a:solidFill>
                              <a:srgbClr val="3C424C"/>
                            </a:solidFill>
                            <a:latin typeface="Times New Roman" panose="02020603050405020304"/>
                            <a:ea typeface="Times New Roman" panose="02020603050405020304"/>
                            <a:cs typeface="Times New Roman" panose="02020603050405020304"/>
                            <a:sym typeface="Times New Roman" panose="02020603050405020304"/>
                          </a:rPr>
                          <m:t>1</m:t>
                        </m:r>
                      </m:sub>
                      <m:sup>
                        <m:r>
                          <a:rPr sz="1700">
                            <a:solidFill>
                              <a:srgbClr val="3C424C"/>
                            </a:solidFill>
                            <a:latin typeface="Times New Roman" panose="02020603050405020304"/>
                            <a:ea typeface="Times New Roman" panose="02020603050405020304"/>
                            <a:cs typeface="Times New Roman" panose="02020603050405020304"/>
                            <a:sym typeface="Times New Roman" panose="02020603050405020304"/>
                          </a:rPr>
                          <m:t>𝐾</m:t>
                        </m:r>
                        <m:r>
                          <a:rPr sz="1700">
                            <a:solidFill>
                              <a:srgbClr val="3C424C"/>
                            </a:solidFill>
                            <a:latin typeface="Times New Roman" panose="02020603050405020304"/>
                            <a:ea typeface="Times New Roman" panose="02020603050405020304"/>
                            <a:cs typeface="Times New Roman" panose="02020603050405020304"/>
                            <a:sym typeface="Times New Roman" panose="02020603050405020304"/>
                          </a:rPr>
                          <m:t>−</m:t>
                        </m:r>
                        <m:r>
                          <a:rPr sz="1700">
                            <a:solidFill>
                              <a:srgbClr val="3C424C"/>
                            </a:solidFill>
                            <a:latin typeface="Times New Roman" panose="02020603050405020304"/>
                            <a:ea typeface="Times New Roman" panose="02020603050405020304"/>
                            <a:cs typeface="Times New Roman" panose="02020603050405020304"/>
                            <a:sym typeface="Times New Roman" panose="02020603050405020304"/>
                          </a:rPr>
                          <m:t>1</m:t>
                        </m:r>
                      </m:sup>
                      <m:e>
                        <m:d>
                          <m:dPr>
                            <m:sepChr m:val=","/>
                            <m:ctrlPr>
                              <a:rPr sz="1700"/>
                            </m:ctrlPr>
                          </m:dPr>
                          <m:e>
                            <m:r>
                              <a:rPr sz="1700">
                                <a:solidFill>
                                  <a:srgbClr val="3C424C"/>
                                </a:solidFill>
                                <a:latin typeface="Times New Roman" panose="02020603050405020304"/>
                                <a:ea typeface="Times New Roman" panose="02020603050405020304"/>
                                <a:cs typeface="Times New Roman" panose="02020603050405020304"/>
                                <a:sym typeface="Times New Roman" panose="02020603050405020304"/>
                              </a:rPr>
                              <m:t>𝐾</m:t>
                            </m:r>
                            <m:r>
                              <a:rPr sz="1700">
                                <a:solidFill>
                                  <a:srgbClr val="3C424C"/>
                                </a:solidFill>
                                <a:latin typeface="Times New Roman" panose="02020603050405020304"/>
                                <a:ea typeface="Times New Roman" panose="02020603050405020304"/>
                                <a:cs typeface="Times New Roman" panose="02020603050405020304"/>
                                <a:sym typeface="Times New Roman" panose="02020603050405020304"/>
                              </a:rPr>
                              <m:t>−</m:t>
                            </m:r>
                            <m:r>
                              <a:rPr sz="1700">
                                <a:solidFill>
                                  <a:srgbClr val="3C424C"/>
                                </a:solidFill>
                                <a:latin typeface="Times New Roman" panose="02020603050405020304"/>
                                <a:ea typeface="Times New Roman" panose="02020603050405020304"/>
                                <a:cs typeface="Times New Roman" panose="02020603050405020304"/>
                                <a:sym typeface="Times New Roman" panose="02020603050405020304"/>
                              </a:rPr>
                              <m:t>𝑡</m:t>
                            </m:r>
                          </m:e>
                        </m:d>
                      </m:e>
                    </m:nary>
                  </m:oMath>
                </a14:m>
                <a:r>
                  <a:rPr lang="en-US" sz="1700">
                    <a:solidFill>
                      <a:srgbClr val="3C424C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  <a:sym typeface="Times New Roman" panose="02020603050405020304"/>
                  </a:rPr>
                  <a:t> candidates → </a:t>
                </a:r>
                <a14:m>
                  <m:oMath xmlns:m="http://schemas.openxmlformats.org/officeDocument/2006/math">
                    <m:r>
                      <a:rPr sz="1700">
                        <a:solidFill>
                          <a:srgbClr val="3C424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rPr>
                      <m:t>𝑂</m:t>
                    </m:r>
                    <m:d>
                      <m:dPr>
                        <m:sepChr m:val=","/>
                        <m:ctrlPr>
                          <a:rPr sz="1700"/>
                        </m:ctrlPr>
                      </m:dPr>
                      <m:e>
                        <m:sSup>
                          <m:sSupPr>
                            <m:ctrlPr>
                              <a:rPr sz="1700"/>
                            </m:ctrlPr>
                          </m:sSupPr>
                          <m:e>
                            <m:r>
                              <a:rPr sz="1700">
                                <a:solidFill>
                                  <a:srgbClr val="3C424C"/>
                                </a:solidFill>
                                <a:latin typeface="Times New Roman" panose="02020603050405020304"/>
                                <a:ea typeface="Times New Roman" panose="02020603050405020304"/>
                                <a:cs typeface="Times New Roman" panose="02020603050405020304"/>
                                <a:sym typeface="Times New Roman" panose="02020603050405020304"/>
                              </a:rPr>
                              <m:t>𝐾</m:t>
                            </m:r>
                          </m:e>
                          <m:sup>
                            <m:r>
                              <a:rPr sz="1700">
                                <a:solidFill>
                                  <a:srgbClr val="3C424C"/>
                                </a:solidFill>
                                <a:latin typeface="Times New Roman" panose="02020603050405020304"/>
                                <a:ea typeface="Times New Roman" panose="02020603050405020304"/>
                                <a:cs typeface="Times New Roman" panose="02020603050405020304"/>
                                <a:sym typeface="Times New Roman" panose="02020603050405020304"/>
                              </a:rPr>
                              <m:t>2</m:t>
                            </m:r>
                          </m:sup>
                        </m:sSup>
                        <m:r>
                          <a:rPr sz="1700">
                            <a:solidFill>
                              <a:srgbClr val="3C424C"/>
                            </a:solidFill>
                            <a:latin typeface="Times New Roman" panose="02020603050405020304"/>
                            <a:ea typeface="Times New Roman" panose="02020603050405020304"/>
                            <a:cs typeface="Times New Roman" panose="02020603050405020304"/>
                            <a:sym typeface="Times New Roman" panose="02020603050405020304"/>
                          </a:rPr>
                          <m:t>𝑑</m:t>
                        </m:r>
                      </m:e>
                    </m:d>
                  </m:oMath>
                </a14:m>
                <a:r>
                  <a:rPr lang="en-US" sz="1700">
                    <a:solidFill>
                      <a:srgbClr val="3C424C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  <a:sym typeface="Times New Roman" panose="02020603050405020304"/>
                  </a:rPr>
                  <a:t> vector operations.</a:t>
                </a:r>
                <a:endParaRPr lang="en-US" altLang="zh-CN" sz="1700" b="0" i="0" u="none" strike="noStrike">
                  <a:solidFill>
                    <a:srgbClr val="3C424C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endParaRPr>
              </a:p>
            </p:txBody>
          </p:sp>
        </mc:Choice>
        <mc:Fallback>
          <p:sp>
            <p:nvSpPr>
              <p:cNvPr id="42" name="AutoShape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5380" y="4440555"/>
                <a:ext cx="4150360" cy="457835"/>
              </a:xfrm>
              <a:prstGeom prst="rect">
                <a:avLst/>
              </a:prstGeom>
              <a:blipFill rotWithShape="1">
                <a:blip r:embed="rId3"/>
                <a:stretch>
                  <a:fillRect t="-26075" b="-26214"/>
                </a:stretch>
              </a:blipFill>
              <a:ln w="12700" cap="flat" cmpd="sng">
                <a:noFill/>
                <a:prstDash val="solid"/>
                <a:rou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762000" y="381000"/>
            <a:ext cx="1041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2000"/>
              </a:lnSpc>
              <a:defRPr/>
            </a:pPr>
            <a:r>
              <a:rPr lang="en-US" sz="2800" b="1" i="0" u="none" strike="noStrike">
                <a:solidFill>
                  <a:srgbClr val="11141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Experimental Setup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092">
            <a:off x="762004" y="11620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1A3664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rcRect t="102" b="102"/>
          <a:stretch>
            <a:fillRect/>
          </a:stretch>
        </p:blipFill>
        <p:spPr>
          <a:xfrm>
            <a:off x="762000" y="1651000"/>
            <a:ext cx="5080000" cy="3886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 txBox="1"/>
          <p:nvPr/>
        </p:nvSpPr>
        <p:spPr>
          <a:xfrm>
            <a:off x="6350000" y="1651000"/>
            <a:ext cx="5207000" cy="431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700" b="1" i="0" u="none" strike="noStrike">
                <a:solidFill>
                  <a:srgbClr val="1A366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LongMemEval</a:t>
            </a:r>
            <a:r>
              <a:rPr lang="en-US" sz="1700" b="0" i="0" u="none" strike="noStrike">
                <a:solidFill>
                  <a:srgbClr val="3C42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500 QA; average context ≈115k tokens.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700" b="1" i="0" u="none" strike="noStrike">
                <a:solidFill>
                  <a:srgbClr val="1A366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LoCoMo</a:t>
            </a:r>
            <a:r>
              <a:rPr lang="en-US" sz="1700" b="0" i="0" u="none" strike="noStrike">
                <a:solidFill>
                  <a:srgbClr val="3C42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1,986 QA; average ≈26k tokens; 446 Adversarial excluded.</a:t>
            </a:r>
            <a:endParaRPr lang="en-US" sz="1700" b="0" i="0" u="none" strike="noStrike">
              <a:solidFill>
                <a:srgbClr val="3C42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700" b="1" i="0" u="none" strike="noStrike">
                <a:solidFill>
                  <a:srgbClr val="1A366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Tasks</a:t>
            </a:r>
            <a:r>
              <a:rPr lang="en-US" sz="1700" b="0" i="0" u="none" strike="noStrike">
                <a:solidFill>
                  <a:srgbClr val="3C42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four unified categories: single-hop, multi-hop, temporal, knowledge.</a:t>
            </a:r>
            <a:endParaRPr lang="en-US" sz="1700" b="0" i="0" u="none" strike="noStrike">
              <a:solidFill>
                <a:srgbClr val="3C42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700" b="1" i="0" u="none" strike="noStrike">
                <a:solidFill>
                  <a:srgbClr val="1A366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Baselines</a:t>
            </a:r>
            <a:r>
              <a:rPr lang="en-US" sz="1700" b="0" i="0" u="none" strike="noStrike">
                <a:solidFill>
                  <a:srgbClr val="3C42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Full Context, Naive RAG, LangMem, A-Mem, Mem0.</a:t>
            </a:r>
            <a:endParaRPr lang="en-US" sz="1700" b="0" i="0" u="none" strike="noStrike">
              <a:solidFill>
                <a:srgbClr val="3C42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700" b="1" i="0" u="none" strike="noStrike">
                <a:solidFill>
                  <a:srgbClr val="1A366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Metrics</a:t>
            </a:r>
            <a:r>
              <a:rPr lang="en-US" sz="1700" b="0" i="0" u="none" strike="noStrike">
                <a:solidFill>
                  <a:srgbClr val="3C42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ACC, Token, Runtime; backbones GPT-4o-mini and Qwen3-32B.</a:t>
            </a:r>
            <a:endParaRPr lang="en-US" sz="1700" b="0" i="0" u="none" strike="noStrike">
              <a:solidFill>
                <a:srgbClr val="3C42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762000" y="381000"/>
            <a:ext cx="1041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2000"/>
              </a:lnSpc>
              <a:defRPr/>
            </a:pPr>
            <a:r>
              <a:rPr lang="en-US" sz="2800" b="1" i="0" u="none" strike="noStrike">
                <a:solidFill>
                  <a:srgbClr val="11141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Main Results: Accuracy</a:t>
            </a:r>
            <a:endParaRPr lang="en-US" sz="110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030" y="921385"/>
            <a:ext cx="9679305" cy="593661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762000" y="381000"/>
            <a:ext cx="1041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2000"/>
              </a:lnSpc>
              <a:defRPr/>
            </a:pPr>
            <a:r>
              <a:rPr lang="en-US" sz="2800" b="1" i="0" u="none" strike="noStrike">
                <a:solidFill>
                  <a:srgbClr val="11141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Ablation: Framework Components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092">
            <a:off x="762004" y="11620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1A3664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 txBox="1"/>
          <p:nvPr/>
        </p:nvSpPr>
        <p:spPr>
          <a:xfrm>
            <a:off x="762000" y="1422400"/>
            <a:ext cx="10668000" cy="787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4000"/>
              </a:lnSpc>
              <a:defRPr/>
            </a:pPr>
            <a:r>
              <a:rPr lang="en-US" altLang="zh-CN" sz="1500" b="0" i="0" u="none" strike="noStrike">
                <a:solidFill>
                  <a:srgbClr val="3C42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w/o Framework (Full-Context)                                 w/o DMCE (RAG-turn)                                   w/o APT (No Truncation)</a:t>
            </a:r>
            <a:endParaRPr lang="en-US" altLang="zh-CN" sz="1500" b="0" i="0" u="none" strike="noStrike">
              <a:solidFill>
                <a:srgbClr val="3C42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/>
          <a:srcRect t="7" b="7"/>
          <a:stretch>
            <a:fillRect/>
          </a:stretch>
        </p:blipFill>
        <p:spPr>
          <a:xfrm>
            <a:off x="762000" y="2349500"/>
            <a:ext cx="10668000" cy="4127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762000" y="381000"/>
            <a:ext cx="1041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2000"/>
              </a:lnSpc>
              <a:defRPr/>
            </a:pPr>
            <a:r>
              <a:rPr lang="en-US" sz="2800" b="1" i="0" u="none" strike="noStrike">
                <a:solidFill>
                  <a:srgbClr val="11141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Ablation: Gating Formulation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092">
            <a:off x="762004" y="11620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1A3664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7" name="AutoShape 9"/>
          <p:cNvSpPr/>
          <p:nvPr>
            <p:custDataLst>
              <p:tags r:id="rId1"/>
            </p:custDataLst>
          </p:nvPr>
        </p:nvSpPr>
        <p:spPr>
          <a:xfrm>
            <a:off x="5715000" y="4491355"/>
            <a:ext cx="5588000" cy="1968500"/>
          </a:xfrm>
          <a:prstGeom prst="roundRect">
            <a:avLst>
              <a:gd name="adj" fmla="val 7741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1A3664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10"/>
          <p:cNvSpPr txBox="1"/>
          <p:nvPr>
            <p:custDataLst>
              <p:tags r:id="rId2"/>
            </p:custDataLst>
          </p:nvPr>
        </p:nvSpPr>
        <p:spPr>
          <a:xfrm>
            <a:off x="6032500" y="4719955"/>
            <a:ext cx="4953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200" b="1" i="0" u="none" strike="noStrike">
                <a:solidFill>
                  <a:srgbClr val="6E747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门控</a:t>
            </a:r>
            <a:r>
              <a:rPr lang="zh-CN" altLang="en-US" sz="1200" b="1" i="0" u="none" strike="noStrike">
                <a:solidFill>
                  <a:srgbClr val="6E747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分数</a:t>
            </a:r>
            <a:endParaRPr lang="zh-CN" altLang="en-US" sz="1200" b="1" i="0" u="none" strike="noStrike">
              <a:solidFill>
                <a:srgbClr val="6E747E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AutoShape 11"/>
              <p:cNvSpPr txBox="1"/>
              <p:nvPr/>
            </p:nvSpPr>
            <p:spPr>
              <a:xfrm>
                <a:off x="6032500" y="5075555"/>
                <a:ext cx="4953000" cy="5588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ctr" anchorCtr="0"/>
              <a:lstStyle/>
              <a:p>
                <a:pPr marL="0" indent="0" algn="ctr">
                  <a:lnSpc>
                    <a:spcPct val="125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2000">
                              <a:solidFill>
                                <a:srgbClr val="111418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  <a:sym typeface="Times New Roman" panose="02020603050405020304"/>
                            </a:rPr>
                            <m:t>𝑆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sz="2000">
                              <a:solidFill>
                                <a:srgbClr val="111418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  <a:sym typeface="Times New Roman" panose="02020603050405020304"/>
                            </a:rPr>
                            <m:t>g</m:t>
                          </m:r>
                          <m:r>
                            <m:rPr>
                              <m:sty m:val="p"/>
                            </m:rPr>
                            <a:rPr sz="2000">
                              <a:solidFill>
                                <a:srgbClr val="111418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  <a:sym typeface="Times New Roman" panose="02020603050405020304"/>
                            </a:rPr>
                            <m:t>a</m:t>
                          </m:r>
                          <m:r>
                            <m:rPr>
                              <m:sty m:val="p"/>
                            </m:rPr>
                            <a:rPr sz="2000">
                              <a:solidFill>
                                <a:srgbClr val="111418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  <a:sym typeface="Times New Roman" panose="02020603050405020304"/>
                            </a:rPr>
                            <m:t>t</m:t>
                          </m:r>
                          <m:r>
                            <m:rPr>
                              <m:sty m:val="p"/>
                            </m:rPr>
                            <a:rPr sz="2000">
                              <a:solidFill>
                                <a:srgbClr val="111418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  <a:sym typeface="Times New Roman" panose="02020603050405020304"/>
                            </a:rPr>
                            <m:t>e</m:t>
                          </m:r>
                        </m:sub>
                      </m:sSub>
                      <m:d>
                        <m:dPr>
                          <m:sepChr m:val=","/>
                          <m:ctrlPr>
                            <a:rPr/>
                          </m:ctrlPr>
                        </m:dPr>
                        <m:e>
                          <m:r>
                            <a:rPr sz="2000">
                              <a:solidFill>
                                <a:srgbClr val="111418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  <a:sym typeface="Times New Roman" panose="02020603050405020304"/>
                            </a:rPr>
                            <m:t>𝑚</m:t>
                          </m:r>
                        </m:e>
                      </m:d>
                      <m:r>
                        <a:rPr sz="2000">
                          <a:solidFill>
                            <a:srgbClr val="111418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m:t>=</m:t>
                      </m:r>
                      <m:r>
                        <m:rPr>
                          <m:sty m:val="p"/>
                        </m:rPr>
                        <a:rPr sz="2000">
                          <a:solidFill>
                            <a:srgbClr val="111418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m:t>cos</m:t>
                      </m:r>
                      <m:d>
                        <m:dPr>
                          <m:sepChr m:val=","/>
                          <m:ctrlPr>
                            <a:rPr/>
                          </m:ctrlPr>
                        </m:dPr>
                        <m:e>
                          <m:r>
                            <a:rPr sz="2000">
                              <a:solidFill>
                                <a:srgbClr val="111418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  <a:sym typeface="Times New Roman" panose="02020603050405020304"/>
                            </a:rPr>
                            <m:t>𝑚</m:t>
                          </m:r>
                        </m:e>
                        <m:e>
                          <m:r>
                            <a:rPr sz="2000">
                              <a:solidFill>
                                <a:srgbClr val="111418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  <a:sym typeface="Times New Roman" panose="02020603050405020304"/>
                            </a:rPr>
                            <m:t>𝑞</m:t>
                          </m:r>
                        </m:e>
                      </m:d>
                      <m:r>
                        <a:rPr sz="2000">
                          <a:solidFill>
                            <a:srgbClr val="111418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m:t>×</m:t>
                      </m:r>
                      <m:r>
                        <m:rPr>
                          <m:sty m:val="p"/>
                        </m:rPr>
                        <a:rPr sz="2000">
                          <a:solidFill>
                            <a:srgbClr val="111418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m:t>cos</m:t>
                      </m:r>
                      <m:d>
                        <m:dPr>
                          <m:sepChr m:val=","/>
                          <m:ctrlPr>
                            <a:rPr/>
                          </m:ctrlPr>
                        </m:dPr>
                        <m:e>
                          <m:r>
                            <a:rPr sz="2000">
                              <a:solidFill>
                                <a:srgbClr val="111418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  <a:sym typeface="Times New Roman" panose="02020603050405020304"/>
                            </a:rPr>
                            <m:t>𝑚</m:t>
                          </m:r>
                        </m:e>
                        <m:e>
                          <m:sSubSup>
                            <m:sSubSupPr>
                              <m:ctrlPr>
                                <a:rPr/>
                              </m:ctrlPr>
                            </m:sSubSupPr>
                            <m:e>
                              <m:r>
                                <a:rPr sz="2000">
                                  <a:solidFill>
                                    <a:srgbClr val="111418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  <a:sym typeface="Times New Roman" panose="02020603050405020304"/>
                                </a:rPr>
                                <m:t>𝐶</m:t>
                              </m:r>
                            </m:e>
                            <m:sub>
                              <m:r>
                                <a:rPr sz="2000">
                                  <a:solidFill>
                                    <a:srgbClr val="111418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  <a:sym typeface="Times New Roman" panose="02020603050405020304"/>
                                </a:rPr>
                                <m:t>𝑧</m:t>
                              </m:r>
                            </m:sub>
                            <m:sup>
                              <m:d>
                                <m:dPr>
                                  <m:sepChr m:val=","/>
                                  <m:ctrlPr>
                                    <a:rPr/>
                                  </m:ctrlPr>
                                </m:dPr>
                                <m:e>
                                  <m:r>
                                    <a:rPr sz="2000">
                                      <a:solidFill>
                                        <a:srgbClr val="111418"/>
                                      </a:solidFill>
                                      <a:latin typeface="Times New Roman" panose="02020603050405020304"/>
                                      <a:ea typeface="Times New Roman" panose="02020603050405020304"/>
                                      <a:cs typeface="Times New Roman" panose="02020603050405020304"/>
                                      <a:sym typeface="Times New Roman" panose="02020603050405020304"/>
                                    </a:rPr>
                                    <m:t>𝑡</m:t>
                                  </m:r>
                                </m:e>
                              </m:d>
                            </m:sup>
                          </m:sSubSup>
                        </m:e>
                      </m:d>
                    </m:oMath>
                  </m:oMathPara>
                </a14:m>
                <a:endParaRPr lang="en-US" sz="1100"/>
              </a:p>
            </p:txBody>
          </p:sp>
        </mc:Choice>
        <mc:Fallback>
          <p:sp>
            <p:nvSpPr>
              <p:cNvPr id="13" name="AutoShape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2500" y="5075555"/>
                <a:ext cx="4953000" cy="55880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  <a:ln w="12700" cap="flat" cmpd="sng">
                <a:noFill/>
                <a:prstDash val="solid"/>
                <a:rou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AutoShape 12"/>
          <p:cNvSpPr txBox="1"/>
          <p:nvPr>
            <p:custDataLst>
              <p:tags r:id="rId4"/>
            </p:custDataLst>
          </p:nvPr>
        </p:nvSpPr>
        <p:spPr>
          <a:xfrm>
            <a:off x="6032500" y="5761355"/>
            <a:ext cx="4953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E747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global relevance × contextual consistency</a:t>
            </a:r>
            <a:endParaRPr lang="en-US" sz="1100"/>
          </a:p>
        </p:txBody>
      </p:sp>
      <p:pic>
        <p:nvPicPr>
          <p:cNvPr id="15" name="Picture 4"/>
          <p:cNvPicPr>
            <a:picLocks noChangeAspect="1"/>
          </p:cNvPicPr>
          <p:nvPr/>
        </p:nvPicPr>
        <p:blipFill>
          <a:blip r:embed="rId5"/>
          <a:srcRect t="19" b="19"/>
          <a:stretch>
            <a:fillRect/>
          </a:stretch>
        </p:blipFill>
        <p:spPr>
          <a:xfrm>
            <a:off x="762000" y="1572895"/>
            <a:ext cx="5461000" cy="27559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762000" y="381000"/>
            <a:ext cx="1041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2000"/>
              </a:lnSpc>
              <a:defRPr/>
            </a:pPr>
            <a:r>
              <a:rPr lang="en-US" sz="2800" b="1" i="0" u="none" strike="noStrike">
                <a:solidFill>
                  <a:srgbClr val="11141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Hyperparameter: Retrieval Size k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092">
            <a:off x="762004" y="11620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1A3664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rcRect l="89" r="89"/>
          <a:stretch>
            <a:fillRect/>
          </a:stretch>
        </p:blipFill>
        <p:spPr>
          <a:xfrm>
            <a:off x="762000" y="1778000"/>
            <a:ext cx="4826000" cy="3657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 txBox="1"/>
          <p:nvPr/>
        </p:nvSpPr>
        <p:spPr>
          <a:xfrm>
            <a:off x="6096000" y="2381885"/>
            <a:ext cx="5715000" cy="242887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700" b="0" i="0" u="none" strike="noStrike">
                <a:solidFill>
                  <a:srgbClr val="3C42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k ∈ {1, 5, 10, 20, 50}.</a:t>
            </a:r>
            <a:endParaRPr lang="en-US" sz="1700" b="0" i="0" u="none" strike="noStrike">
              <a:solidFill>
                <a:srgbClr val="3C42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indent="0" algn="l">
              <a:lnSpc>
                <a:spcPct val="108000"/>
              </a:lnSpc>
              <a:defRPr/>
            </a:pP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700" b="1" i="0" u="none" strike="noStrike">
                <a:solidFill>
                  <a:srgbClr val="3C42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Runtime</a:t>
            </a:r>
            <a:r>
              <a:rPr lang="en-US" sz="1700" b="0" i="0" u="none" strike="noStrike">
                <a:solidFill>
                  <a:srgbClr val="3C42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is dominated by LLM inference and network overhead.</a:t>
            </a:r>
            <a:endParaRPr lang="en-US" sz="1700" b="0" i="0" u="none" strike="noStrike">
              <a:solidFill>
                <a:srgbClr val="3C42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762000" y="381000"/>
            <a:ext cx="1041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2000"/>
              </a:lnSpc>
              <a:defRPr/>
            </a:pPr>
            <a:r>
              <a:rPr lang="en-US" sz="2800" b="1" i="0" u="none" strike="noStrike">
                <a:solidFill>
                  <a:srgbClr val="11141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Hyperparameter: Truncation Threshold β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092">
            <a:off x="762004" y="11620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1A3664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rcRect l="88" r="88"/>
          <a:stretch>
            <a:fillRect/>
          </a:stretch>
        </p:blipFill>
        <p:spPr>
          <a:xfrm>
            <a:off x="762000" y="1576070"/>
            <a:ext cx="6350000" cy="24003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 txBox="1"/>
          <p:nvPr/>
        </p:nvSpPr>
        <p:spPr>
          <a:xfrm>
            <a:off x="1062990" y="4371340"/>
            <a:ext cx="4782185" cy="20281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700" b="0" i="0" u="none" strike="noStrike">
                <a:solidFill>
                  <a:srgbClr val="3C42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β = 0.3 / 0.5 / 0.7.</a:t>
            </a:r>
            <a:endParaRPr lang="en-US" sz="1700" b="0" i="0" u="none" strike="noStrike">
              <a:solidFill>
                <a:srgbClr val="3C42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indent="0" algn="l">
              <a:lnSpc>
                <a:spcPct val="108000"/>
              </a:lnSpc>
              <a:defRPr/>
            </a:pP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700" b="0" i="0" u="none" strike="noStrike">
                <a:solidFill>
                  <a:srgbClr val="3C42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Too small under-truncates; too large stops expansion too early.</a:t>
            </a:r>
            <a:endParaRPr lang="en-US" sz="1700" b="0" i="0" u="none" strike="noStrike">
              <a:solidFill>
                <a:srgbClr val="3C42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3" name="AutoShape 13"/>
          <p:cNvSpPr/>
          <p:nvPr>
            <p:custDataLst>
              <p:tags r:id="rId2"/>
            </p:custDataLst>
          </p:nvPr>
        </p:nvSpPr>
        <p:spPr>
          <a:xfrm>
            <a:off x="6096000" y="4250690"/>
            <a:ext cx="5588000" cy="1968500"/>
          </a:xfrm>
          <a:prstGeom prst="roundRect">
            <a:avLst>
              <a:gd name="adj" fmla="val 7741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1A3664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 txBox="1"/>
          <p:nvPr>
            <p:custDataLst>
              <p:tags r:id="rId3"/>
            </p:custDataLst>
          </p:nvPr>
        </p:nvSpPr>
        <p:spPr>
          <a:xfrm>
            <a:off x="6413500" y="4479290"/>
            <a:ext cx="4953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200" b="1" i="0" u="none" strike="noStrike">
                <a:solidFill>
                  <a:srgbClr val="6E747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自适应</a:t>
            </a:r>
            <a:r>
              <a:rPr lang="zh-CN" altLang="en-US" sz="1200" b="1" i="0" u="none" strike="noStrike">
                <a:solidFill>
                  <a:srgbClr val="6E747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截断</a:t>
            </a:r>
            <a:endParaRPr lang="zh-CN" altLang="en-US" sz="1200" b="1" i="0" u="none" strike="noStrike">
              <a:solidFill>
                <a:srgbClr val="6E747E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AutoShape 15"/>
              <p:cNvSpPr txBox="1"/>
              <p:nvPr/>
            </p:nvSpPr>
            <p:spPr>
              <a:xfrm>
                <a:off x="6413500" y="4834890"/>
                <a:ext cx="4953000" cy="5588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ctr" anchorCtr="0"/>
              <a:lstStyle/>
              <a:p>
                <a:pPr marL="0" indent="0" algn="ctr">
                  <a:lnSpc>
                    <a:spcPct val="125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/>
                          </m:ctrlPr>
                        </m:sSubSupPr>
                        <m:e>
                          <m:r>
                            <a:rPr sz="2000">
                              <a:solidFill>
                                <a:srgbClr val="111418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  <a:sym typeface="Times New Roman" panose="02020603050405020304"/>
                            </a:rPr>
                            <m:t>𝑠</m:t>
                          </m:r>
                        </m:e>
                        <m:sub>
                          <m:r>
                            <a:rPr sz="2000">
                              <a:solidFill>
                                <a:srgbClr val="111418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  <a:sym typeface="Times New Roman" panose="02020603050405020304"/>
                            </a:rPr>
                            <m:t>𝑡</m:t>
                          </m:r>
                        </m:sub>
                        <m:sup>
                          <m:r>
                            <a:rPr sz="2000">
                              <a:solidFill>
                                <a:srgbClr val="111418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  <a:sym typeface="Times New Roman" panose="02020603050405020304"/>
                            </a:rPr>
                            <m:t>∗</m:t>
                          </m:r>
                        </m:sup>
                      </m:sSubSup>
                      <m:r>
                        <a:rPr sz="2000">
                          <a:solidFill>
                            <a:srgbClr val="111418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m:t>&lt;</m:t>
                      </m:r>
                      <m:r>
                        <a:rPr sz="2000">
                          <a:solidFill>
                            <a:srgbClr val="111418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m:t>𝛽</m:t>
                      </m:r>
                      <m:r>
                        <a:rPr sz="2000">
                          <a:solidFill>
                            <a:srgbClr val="111418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m:t>⋅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2000">
                              <a:solidFill>
                                <a:srgbClr val="111418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  <a:sym typeface="Times New Roman" panose="02020603050405020304"/>
                            </a:rPr>
                            <m:t>𝑠</m:t>
                          </m:r>
                        </m:e>
                        <m:sub>
                          <m:r>
                            <a:rPr sz="2000">
                              <a:solidFill>
                                <a:srgbClr val="111418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  <a:sym typeface="Times New Roman" panose="02020603050405020304"/>
                            </a:rPr>
                            <m:t>𝑡</m:t>
                          </m:r>
                          <m:r>
                            <a:rPr sz="2000">
                              <a:solidFill>
                                <a:srgbClr val="111418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  <a:sym typeface="Times New Roman" panose="02020603050405020304"/>
                            </a:rPr>
                            <m:t>−</m:t>
                          </m:r>
                          <m:r>
                            <a:rPr sz="2000">
                              <a:solidFill>
                                <a:srgbClr val="111418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  <a:sym typeface="Times New Roman" panose="02020603050405020304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100"/>
              </a:p>
            </p:txBody>
          </p:sp>
        </mc:Choice>
        <mc:Fallback>
          <p:sp>
            <p:nvSpPr>
              <p:cNvPr id="15" name="AutoShape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3500" y="4834890"/>
                <a:ext cx="4953000" cy="55880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  <a:ln w="12700" cap="flat" cmpd="sng">
                <a:noFill/>
                <a:prstDash val="solid"/>
                <a:rou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AutoShape 16"/>
          <p:cNvSpPr txBox="1"/>
          <p:nvPr>
            <p:custDataLst>
              <p:tags r:id="rId5"/>
            </p:custDataLst>
          </p:nvPr>
        </p:nvSpPr>
        <p:spPr>
          <a:xfrm>
            <a:off x="6413500" y="5520690"/>
            <a:ext cx="4953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E747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sharp attenuation halts expansion; 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762000" y="381000"/>
            <a:ext cx="1041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2000"/>
              </a:lnSpc>
              <a:defRPr/>
            </a:pPr>
            <a:r>
              <a:rPr lang="en-US" sz="2800" b="1" i="0" u="none" strike="noStrike">
                <a:solidFill>
                  <a:srgbClr val="11141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Upper-Bound Analysis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092">
            <a:off x="762004" y="11620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1A3664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 txBox="1"/>
          <p:nvPr/>
        </p:nvSpPr>
        <p:spPr>
          <a:xfrm>
            <a:off x="931545" y="1397000"/>
            <a:ext cx="1032891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4000"/>
              </a:lnSpc>
              <a:defRPr/>
            </a:pPr>
            <a:r>
              <a:rPr lang="en-US" sz="1700" b="1">
                <a:solidFill>
                  <a:srgbClr val="1A366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Baselines</a:t>
            </a:r>
            <a:r>
              <a:rPr lang="en-US" sz="1700">
                <a:solidFill>
                  <a:srgbClr val="3C42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Full context, </a:t>
            </a:r>
            <a:r>
              <a:rPr lang="en-US" sz="1700">
                <a:solidFill>
                  <a:srgbClr val="3C42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Evidence Only.</a:t>
            </a:r>
            <a:endParaRPr lang="en-US" sz="1700">
              <a:solidFill>
                <a:srgbClr val="3C42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indent="0" algn="l">
              <a:lnSpc>
                <a:spcPct val="104000"/>
              </a:lnSpc>
              <a:defRPr/>
            </a:pPr>
            <a:endParaRPr lang="en-US" sz="800" b="0" i="0" u="none" strike="noStrike">
              <a:solidFill>
                <a:srgbClr val="3C42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indent="0" algn="l">
              <a:lnSpc>
                <a:spcPct val="104000"/>
              </a:lnSpc>
              <a:defRPr/>
            </a:pPr>
            <a:r>
              <a:rPr lang="en-US" sz="1700" b="0" i="0" u="none" strike="noStrike">
                <a:solidFill>
                  <a:srgbClr val="3C42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CoM </a:t>
            </a:r>
            <a:r>
              <a:rPr lang="en-US" sz="1700" b="1" i="0" u="none" strike="noStrike">
                <a:solidFill>
                  <a:srgbClr val="3C42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76.40%</a:t>
            </a:r>
            <a:r>
              <a:rPr lang="en-US" sz="1700" b="0" i="0" u="none" strike="noStrike">
                <a:solidFill>
                  <a:srgbClr val="3C42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approaches the reasoning ceiling.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/>
          <a:srcRect l="16" r="16"/>
          <a:stretch>
            <a:fillRect/>
          </a:stretch>
        </p:blipFill>
        <p:spPr>
          <a:xfrm>
            <a:off x="762000" y="2387600"/>
            <a:ext cx="10668000" cy="34671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 txBox="1"/>
          <p:nvPr/>
        </p:nvSpPr>
        <p:spPr>
          <a:xfrm>
            <a:off x="931545" y="5969000"/>
            <a:ext cx="9137015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4000"/>
              </a:lnSpc>
              <a:defRPr/>
            </a:pPr>
            <a:r>
              <a:rPr lang="en-US" sz="1900" b="1" i="0" u="none" strike="noStrike">
                <a:solidFill>
                  <a:srgbClr val="1A366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vs Gemini: ≈14× fewer tokens and ≈4× lower latency.</a:t>
            </a:r>
            <a:endParaRPr lang="en-US" sz="1900" b="1" i="0" u="none" strike="noStrike">
              <a:solidFill>
                <a:srgbClr val="1A3664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762000" y="381000"/>
            <a:ext cx="1041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2000"/>
              </a:lnSpc>
              <a:defRPr/>
            </a:pPr>
            <a:r>
              <a:rPr lang="en-US" sz="2800" b="1" i="0" u="none" strike="noStrike">
                <a:solidFill>
                  <a:srgbClr val="11141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Error Analysis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092">
            <a:off x="762004" y="11620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1A3664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2920" y="1520825"/>
            <a:ext cx="7781290" cy="50901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762000" y="381000"/>
            <a:ext cx="1041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2000"/>
              </a:lnSpc>
              <a:defRPr/>
            </a:pPr>
            <a:r>
              <a:rPr lang="en-US" sz="2800" b="1" i="0" u="none" strike="noStrike">
                <a:solidFill>
                  <a:srgbClr val="11141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Conclusion and Limitations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092">
            <a:off x="762004" y="11620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1A3664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 txBox="1"/>
          <p:nvPr/>
        </p:nvSpPr>
        <p:spPr>
          <a:xfrm>
            <a:off x="762000" y="1651000"/>
            <a:ext cx="5207000" cy="419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800" b="1" i="0" u="none" strike="noStrike">
                <a:solidFill>
                  <a:srgbClr val="1A366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Conclusion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800" b="0" i="0" u="none" strike="noStrike">
                <a:solidFill>
                  <a:srgbClr val="3C42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Lightweight construction + dynamic memory chain + adaptive truncation bridge the gap between retrieved evidence and reasoning.</a:t>
            </a:r>
            <a:endParaRPr lang="en-US" sz="1800" b="0" i="0" u="none" strike="noStrike">
              <a:solidFill>
                <a:srgbClr val="3C42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indent="0" algn="l">
              <a:lnSpc>
                <a:spcPct val="117000"/>
              </a:lnSpc>
            </a:pPr>
            <a:endParaRPr lang="en-US" sz="1000" b="0" i="0" u="none" strike="noStrike">
              <a:solidFill>
                <a:srgbClr val="3C42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800" b="0" i="0" u="none" strike="noStrike">
                <a:solidFill>
                  <a:srgbClr val="3C42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Effective agent memory does not require increasingly complex construction.</a:t>
            </a:r>
            <a:endParaRPr lang="en-US" sz="1800" b="0" i="0" u="none" strike="noStrike">
              <a:solidFill>
                <a:srgbClr val="3C42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cxnSp>
        <p:nvCxnSpPr>
          <p:cNvPr id="5" name="Connector 5"/>
          <p:cNvCxnSpPr/>
          <p:nvPr/>
        </p:nvCxnSpPr>
        <p:spPr>
          <a:xfrm rot="5388910">
            <a:off x="4381500" y="3613160"/>
            <a:ext cx="393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CED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 txBox="1"/>
          <p:nvPr/>
        </p:nvSpPr>
        <p:spPr>
          <a:xfrm>
            <a:off x="6858000" y="1651000"/>
            <a:ext cx="4826000" cy="419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800" b="1" i="0" u="none" strike="noStrike">
                <a:solidFill>
                  <a:srgbClr val="1A366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Limitations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800" b="0" i="0" u="none" strike="noStrike">
                <a:solidFill>
                  <a:srgbClr val="3C42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Relies on embedding-based semantic similarity.</a:t>
            </a:r>
            <a:endParaRPr lang="en-US" sz="1800" b="0" i="0" u="none" strike="noStrike">
              <a:solidFill>
                <a:srgbClr val="3C42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indent="0" algn="l">
              <a:lnSpc>
                <a:spcPct val="117000"/>
              </a:lnSpc>
            </a:pPr>
            <a:endParaRPr lang="en-US" sz="1000" b="0" i="0" u="none" strike="noStrike">
              <a:solidFill>
                <a:srgbClr val="3C42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800" b="0" i="0" u="none" strike="noStrike">
                <a:solidFill>
                  <a:srgbClr val="3C42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Truncation may discard weak long-chain evidence.</a:t>
            </a:r>
            <a:endParaRPr lang="en-US" sz="1800" b="0" i="0" u="none" strike="noStrike">
              <a:solidFill>
                <a:srgbClr val="3C42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indent="0" algn="l">
              <a:lnSpc>
                <a:spcPct val="117000"/>
              </a:lnSpc>
            </a:pPr>
            <a:endParaRPr lang="en-US" sz="1000" b="0" i="0" u="none" strike="noStrike">
              <a:solidFill>
                <a:srgbClr val="3C42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800" b="0" i="0" u="none" strike="noStrike">
                <a:solidFill>
                  <a:srgbClr val="3C424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Textual memory only; multi-modal and open environments remain for future work.</a:t>
            </a:r>
            <a:endParaRPr lang="en-US" sz="1800" b="0" i="0" u="none" strike="noStrike">
              <a:solidFill>
                <a:srgbClr val="3C424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78.95,&quot;left&quot;:82.5,&quot;top&quot;:234.55,&quot;width&quot;:785.15}"/>
</p:tagLst>
</file>

<file path=ppt/tags/tag2.xml><?xml version="1.0" encoding="utf-8"?>
<p:tagLst xmlns:p="http://schemas.openxmlformats.org/presentationml/2006/main">
  <p:tag name="KSO_WM_DIAGRAM_VIRTUALLY_FRAME" val="{&quot;height&quot;:178.95,&quot;left&quot;:82.5,&quot;top&quot;:234.55,&quot;width&quot;:785.15}"/>
</p:tagLst>
</file>

<file path=ppt/tags/tag3.xml><?xml version="1.0" encoding="utf-8"?>
<p:tagLst xmlns:p="http://schemas.openxmlformats.org/presentationml/2006/main">
  <p:tag name="KSO_WM_DIAGRAM_VIRTUALLY_FRAME" val="{&quot;height&quot;:178.95,&quot;left&quot;:82.5,&quot;top&quot;:234.55,&quot;width&quot;:785.15}"/>
</p:tagLst>
</file>

<file path=ppt/tags/tag4.xml><?xml version="1.0" encoding="utf-8"?>
<p:tagLst xmlns:p="http://schemas.openxmlformats.org/presentationml/2006/main">
  <p:tag name="KSO_WM_DIAGRAM_VIRTUALLY_FRAME" val="{&quot;height&quot;:178.95,&quot;left&quot;:82.5,&quot;top&quot;:234.55,&quot;width&quot;:785.15}"/>
</p:tagLst>
</file>

<file path=ppt/tags/tag5.xml><?xml version="1.0" encoding="utf-8"?>
<p:tagLst xmlns:p="http://schemas.openxmlformats.org/presentationml/2006/main">
  <p:tag name="KSO_WM_DIAGRAM_VIRTUALLY_FRAME" val="{&quot;height&quot;:405.5,&quot;left&quot;:60,&quot;top&quot;:119,&quot;width&quot;:440}"/>
</p:tagLst>
</file>

<file path=ppt/tags/tag6.xml><?xml version="1.0" encoding="utf-8"?>
<p:tagLst xmlns:p="http://schemas.openxmlformats.org/presentationml/2006/main">
  <p:tag name="KSO_WM_DIAGRAM_VIRTUALLY_FRAME" val="{&quot;height&quot;:405.5,&quot;left&quot;:60,&quot;top&quot;:119,&quot;width&quot;:440}"/>
</p:tagLst>
</file>

<file path=ppt/tags/tag7.xml><?xml version="1.0" encoding="utf-8"?>
<p:tagLst xmlns:p="http://schemas.openxmlformats.org/presentationml/2006/main">
  <p:tag name="KSO_WM_DIAGRAM_VIRTUALLY_FRAME" val="{&quot;height&quot;:405.5,&quot;left&quot;:60,&quot;top&quot;:119,&quot;width&quot;:440}"/>
</p:tagLst>
</file>

<file path=ppt/tags/tag8.xml><?xml version="1.0" encoding="utf-8"?>
<p:tagLst xmlns:p="http://schemas.openxmlformats.org/presentationml/2006/main">
  <p:tag name="KSO_WM_DIAGRAM_VIRTUALLY_FRAME" val="{&quot;height&quot;:405.5,&quot;left&quot;:60,&quot;top&quot;:119,&quot;width&quot;:440}"/>
</p:tagLst>
</file>

<file path=ppt/tags/tag9.xml><?xml version="1.0" encoding="utf-8"?>
<p:tagLst xmlns:p="http://schemas.openxmlformats.org/presentationml/2006/main">
  <p:tag name="KSO_WM_DIAGRAM_VIRTUALLY_FRAME" val="{&quot;height&quot;:405.5,&quot;left&quot;:60,&quot;top&quot;:119,&quot;width&quot;:440}"/>
</p:tagLst>
</file>

<file path=ppt/tags/tag10.xml><?xml version="1.0" encoding="utf-8"?>
<p:tagLst xmlns:p="http://schemas.openxmlformats.org/presentationml/2006/main">
  <p:tag name="KSO_WM_DIAGRAM_VIRTUALLY_FRAME" val="{&quot;height&quot;:405.5,&quot;left&quot;:60,&quot;top&quot;:119,&quot;width&quot;:440}"/>
</p:tagLst>
</file>

<file path=ppt/tags/tag11.xml><?xml version="1.0" encoding="utf-8"?>
<p:tagLst xmlns:p="http://schemas.openxmlformats.org/presentationml/2006/main">
  <p:tag name="KSO_WM_DIAGRAM_VIRTUALLY_FRAME" val="{&quot;height&quot;:405.5,&quot;left&quot;:60,&quot;top&quot;:119,&quot;width&quot;:440}"/>
</p:tagLst>
</file>

<file path=ppt/tags/tag12.xml><?xml version="1.0" encoding="utf-8"?>
<p:tagLst xmlns:p="http://schemas.openxmlformats.org/presentationml/2006/main">
  <p:tag name="KSO_WM_DIAGRAM_VIRTUALLY_FRAME" val="{&quot;height&quot;:405.5,&quot;left&quot;:60,&quot;top&quot;:119,&quot;width&quot;:440}"/>
</p:tagLst>
</file>

<file path=ppt/tags/tag13.xml><?xml version="1.0" encoding="utf-8"?>
<p:tagLst xmlns:p="http://schemas.openxmlformats.org/presentationml/2006/main">
  <p:tag name="KSO_WM_DIAGRAM_VIRTUALLY_FRAME" val="{&quot;height&quot;:405.5,&quot;left&quot;:60,&quot;top&quot;:119,&quot;width&quot;:440}"/>
</p:tagLst>
</file>

<file path=ppt/tags/tag14.xml><?xml version="1.0" encoding="utf-8"?>
<p:tagLst xmlns:p="http://schemas.openxmlformats.org/presentationml/2006/main">
  <p:tag name="KSO_WM_DIAGRAM_VIRTUALLY_FRAME" val="{&quot;height&quot;:405.5,&quot;left&quot;:60,&quot;top&quot;:119,&quot;width&quot;:440}"/>
</p:tagLst>
</file>

<file path=ppt/tags/tag15.xml><?xml version="1.0" encoding="utf-8"?>
<p:tagLst xmlns:p="http://schemas.openxmlformats.org/presentationml/2006/main">
  <p:tag name="KSO_WM_DIAGRAM_VIRTUALLY_FRAME" val="{&quot;height&quot;:405.5,&quot;left&quot;:60,&quot;top&quot;:119,&quot;width&quot;:440}"/>
</p:tagLst>
</file>

<file path=ppt/tags/tag16.xml><?xml version="1.0" encoding="utf-8"?>
<p:tagLst xmlns:p="http://schemas.openxmlformats.org/presentationml/2006/main">
  <p:tag name="KSO_WM_DIAGRAM_VIRTUALLY_FRAME" val="{&quot;height&quot;:405.5,&quot;left&quot;:60,&quot;top&quot;:119,&quot;width&quot;:440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3188</Words>
  <Application>WPS 演示</Application>
  <PresentationFormat/>
  <Paragraphs>151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16</vt:i4>
      </vt:variant>
    </vt:vector>
  </HeadingPairs>
  <TitlesOfParts>
    <vt:vector size="28" baseType="lpstr">
      <vt:lpstr>Arial</vt:lpstr>
      <vt:lpstr>宋体</vt:lpstr>
      <vt:lpstr>Wingdings</vt:lpstr>
      <vt:lpstr>Arial</vt:lpstr>
      <vt:lpstr>Times New Roman</vt:lpstr>
      <vt:lpstr>微软雅黑</vt:lpstr>
      <vt:lpstr>Arial Unicode MS</vt:lpstr>
      <vt:lpstr>Cambria Math</vt:lpstr>
      <vt:lpstr>BatangChe</vt:lpstr>
      <vt:lpstr>FFont-Family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金辉辉</cp:lastModifiedBy>
  <cp:revision>9</cp:revision>
  <dcterms:created xsi:type="dcterms:W3CDTF">2026-10-28T00:48:00Z</dcterms:created>
  <dcterms:modified xsi:type="dcterms:W3CDTF">2026-10-28T09:35:14Z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{"Label":"1","ContentProducer":"001191110102MACQD9K64010000","ProduceID":"7701374894887358889","ReservedCode1":"","ContentPropagator":"","PropagateID":"","ReservedCode2":""}</vt:lpwstr>
  </property>
  <property fmtid="{D5CDD505-2E9C-101B-9397-08002B2CF9AE}" pid="3" name="ICV">
    <vt:lpwstr>FF3FE40304A1414A9660A378520AA7FF_12</vt:lpwstr>
  </property>
  <property fmtid="{D5CDD505-2E9C-101B-9397-08002B2CF9AE}" pid="4" name="KSOProductBuildVer">
    <vt:lpwstr>2052-12.1.0.29161</vt:lpwstr>
  </property>
</Properties>
</file>