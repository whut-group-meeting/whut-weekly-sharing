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7" r:id="rId3"/>
    <p:sldId id="258" r:id="rId4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9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9459" name="备注占位符 2"/>
          <p:cNvSpPr>
            <a:spLocks noGrp="1"/>
          </p:cNvSpPr>
          <p:nvPr>
            <p:ph type="body"/>
          </p:nvPr>
        </p:nvSpPr>
        <p:spPr>
          <a:xfrm>
            <a:off x="987425" y="3201988"/>
            <a:ext cx="7897813" cy="3033712"/>
          </a:xfrm>
        </p:spPr>
        <p:txBody>
          <a:bodyPr wrap="square" lIns="90553" tIns="45277" rIns="90553" bIns="45277" anchor="t" anchorCtr="0"/>
          <a:lstStyle/>
          <a:p>
            <a:pPr lvl="0" defTabSz="91440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946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591175" y="6402388"/>
            <a:ext cx="4276725" cy="336550"/>
          </a:xfrm>
          <a:prstGeom prst="rect">
            <a:avLst/>
          </a:prstGeom>
          <a:noFill/>
          <a:ln w="9525">
            <a:noFill/>
          </a:ln>
        </p:spPr>
        <p:txBody>
          <a:bodyPr lIns="90553" tIns="45277" rIns="90553" bIns="45277" anchor="b" anchorCtr="0"/>
          <a:lstStyle/>
          <a:p>
            <a:pPr lvl="0" algn="r" eaLnBrk="1" hangingPunct="1"/>
            <a:fld id="{9A0DB2DC-4C9A-4742-B13C-FB6460FD3503}" type="slidenum">
              <a:rPr lang="zh-CN" altLang="en-US" sz="1200" b="0" dirty="0"/>
            </a:fld>
            <a:endParaRPr lang="zh-CN" altLang="en-US" sz="1200" b="0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9459" name="备注占位符 2"/>
          <p:cNvSpPr>
            <a:spLocks noGrp="1"/>
          </p:cNvSpPr>
          <p:nvPr>
            <p:ph type="body"/>
          </p:nvPr>
        </p:nvSpPr>
        <p:spPr>
          <a:xfrm>
            <a:off x="987425" y="3201988"/>
            <a:ext cx="7897813" cy="3033712"/>
          </a:xfrm>
        </p:spPr>
        <p:txBody>
          <a:bodyPr wrap="square" lIns="90553" tIns="45277" rIns="90553" bIns="45277" anchor="t" anchorCtr="0"/>
          <a:lstStyle/>
          <a:p>
            <a:pPr lvl="0" defTabSz="91440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946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591175" y="6402388"/>
            <a:ext cx="4276725" cy="336550"/>
          </a:xfrm>
          <a:prstGeom prst="rect">
            <a:avLst/>
          </a:prstGeom>
          <a:noFill/>
          <a:ln w="9525">
            <a:noFill/>
          </a:ln>
        </p:spPr>
        <p:txBody>
          <a:bodyPr lIns="90553" tIns="45277" rIns="90553" bIns="45277" anchor="b" anchorCtr="0"/>
          <a:lstStyle/>
          <a:p>
            <a:pPr lvl="0" algn="r" eaLnBrk="1" hangingPunct="1"/>
            <a:fld id="{9A0DB2DC-4C9A-4742-B13C-FB6460FD3503}" type="slidenum">
              <a:rPr lang="zh-CN" altLang="en-US" sz="1200" b="0" dirty="0"/>
            </a:fld>
            <a:endParaRPr lang="zh-CN" altLang="en-US" sz="1200" b="0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9459" name="备注占位符 2"/>
          <p:cNvSpPr>
            <a:spLocks noGrp="1"/>
          </p:cNvSpPr>
          <p:nvPr>
            <p:ph type="body"/>
          </p:nvPr>
        </p:nvSpPr>
        <p:spPr>
          <a:xfrm>
            <a:off x="987425" y="3201988"/>
            <a:ext cx="7897813" cy="3033712"/>
          </a:xfrm>
        </p:spPr>
        <p:txBody>
          <a:bodyPr wrap="square" lIns="90553" tIns="45277" rIns="90553" bIns="45277" anchor="t" anchorCtr="0"/>
          <a:lstStyle/>
          <a:p>
            <a:pPr lvl="0" defTabSz="91440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946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591175" y="6402388"/>
            <a:ext cx="4276725" cy="336550"/>
          </a:xfrm>
          <a:prstGeom prst="rect">
            <a:avLst/>
          </a:prstGeom>
          <a:noFill/>
          <a:ln w="9525">
            <a:noFill/>
          </a:ln>
        </p:spPr>
        <p:txBody>
          <a:bodyPr lIns="90553" tIns="45277" rIns="90553" bIns="45277" anchor="b" anchorCtr="0"/>
          <a:lstStyle/>
          <a:p>
            <a:pPr lvl="0" algn="r" eaLnBrk="1" hangingPunct="1"/>
            <a:fld id="{9A0DB2DC-4C9A-4742-B13C-FB6460FD3503}" type="slidenum">
              <a:rPr lang="zh-CN" altLang="en-US" sz="1200" b="0" dirty="0"/>
            </a:fld>
            <a:endParaRPr lang="zh-CN" altLang="en-US" sz="1200" b="0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9459" name="备注占位符 2"/>
          <p:cNvSpPr>
            <a:spLocks noGrp="1"/>
          </p:cNvSpPr>
          <p:nvPr>
            <p:ph type="body"/>
          </p:nvPr>
        </p:nvSpPr>
        <p:spPr>
          <a:xfrm>
            <a:off x="987425" y="3201988"/>
            <a:ext cx="7897813" cy="3033712"/>
          </a:xfrm>
        </p:spPr>
        <p:txBody>
          <a:bodyPr wrap="square" lIns="90553" tIns="45277" rIns="90553" bIns="45277" anchor="t" anchorCtr="0"/>
          <a:lstStyle/>
          <a:p>
            <a:pPr lvl="0" defTabSz="91440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946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591175" y="6402388"/>
            <a:ext cx="4276725" cy="336550"/>
          </a:xfrm>
          <a:prstGeom prst="rect">
            <a:avLst/>
          </a:prstGeom>
          <a:noFill/>
          <a:ln w="9525">
            <a:noFill/>
          </a:ln>
        </p:spPr>
        <p:txBody>
          <a:bodyPr lIns="90553" tIns="45277" rIns="90553" bIns="45277" anchor="b" anchorCtr="0"/>
          <a:lstStyle/>
          <a:p>
            <a:pPr lvl="0" algn="r" eaLnBrk="1" hangingPunct="1"/>
            <a:fld id="{9A0DB2DC-4C9A-4742-B13C-FB6460FD3503}" type="slidenum">
              <a:rPr lang="zh-CN" altLang="en-US" sz="1200" b="0" dirty="0"/>
            </a:fld>
            <a:endParaRPr lang="zh-CN" altLang="en-US" sz="1200" b="0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9459" name="备注占位符 2"/>
          <p:cNvSpPr>
            <a:spLocks noGrp="1"/>
          </p:cNvSpPr>
          <p:nvPr>
            <p:ph type="body"/>
          </p:nvPr>
        </p:nvSpPr>
        <p:spPr>
          <a:xfrm>
            <a:off x="987425" y="3201988"/>
            <a:ext cx="7897813" cy="3033712"/>
          </a:xfrm>
        </p:spPr>
        <p:txBody>
          <a:bodyPr wrap="square" lIns="90553" tIns="45277" rIns="90553" bIns="45277" anchor="t" anchorCtr="0"/>
          <a:lstStyle/>
          <a:p>
            <a:pPr lvl="0" defTabSz="91440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946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591175" y="6402388"/>
            <a:ext cx="4276725" cy="336550"/>
          </a:xfrm>
          <a:prstGeom prst="rect">
            <a:avLst/>
          </a:prstGeom>
          <a:noFill/>
          <a:ln w="9525">
            <a:noFill/>
          </a:ln>
        </p:spPr>
        <p:txBody>
          <a:bodyPr lIns="90553" tIns="45277" rIns="90553" bIns="45277" anchor="b" anchorCtr="0"/>
          <a:lstStyle/>
          <a:p>
            <a:pPr lvl="0" algn="r" eaLnBrk="1" hangingPunct="1"/>
            <a:fld id="{9A0DB2DC-4C9A-4742-B13C-FB6460FD3503}" type="slidenum">
              <a:rPr lang="zh-CN" altLang="en-US" sz="1200" b="0" dirty="0"/>
            </a:fld>
            <a:endParaRPr lang="zh-CN" altLang="en-US" sz="1200" b="0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9459" name="备注占位符 2"/>
          <p:cNvSpPr>
            <a:spLocks noGrp="1"/>
          </p:cNvSpPr>
          <p:nvPr>
            <p:ph type="body"/>
          </p:nvPr>
        </p:nvSpPr>
        <p:spPr>
          <a:xfrm>
            <a:off x="987425" y="3201988"/>
            <a:ext cx="7897813" cy="3033712"/>
          </a:xfrm>
        </p:spPr>
        <p:txBody>
          <a:bodyPr wrap="square" lIns="90553" tIns="45277" rIns="90553" bIns="45277" anchor="t" anchorCtr="0"/>
          <a:lstStyle/>
          <a:p>
            <a:pPr lvl="0" defTabSz="91440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946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591175" y="6402388"/>
            <a:ext cx="4276725" cy="336550"/>
          </a:xfrm>
          <a:prstGeom prst="rect">
            <a:avLst/>
          </a:prstGeom>
          <a:noFill/>
          <a:ln w="9525">
            <a:noFill/>
          </a:ln>
        </p:spPr>
        <p:txBody>
          <a:bodyPr lIns="90553" tIns="45277" rIns="90553" bIns="45277" anchor="b" anchorCtr="0"/>
          <a:lstStyle/>
          <a:p>
            <a:pPr lvl="0" algn="r" eaLnBrk="1" hangingPunct="1"/>
            <a:fld id="{9A0DB2DC-4C9A-4742-B13C-FB6460FD3503}" type="slidenum">
              <a:rPr lang="zh-CN" altLang="en-US" sz="1200" b="0" dirty="0"/>
            </a:fld>
            <a:endParaRPr lang="zh-CN" altLang="en-US" sz="1200" b="0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9459" name="备注占位符 2"/>
          <p:cNvSpPr>
            <a:spLocks noGrp="1"/>
          </p:cNvSpPr>
          <p:nvPr>
            <p:ph type="body"/>
          </p:nvPr>
        </p:nvSpPr>
        <p:spPr>
          <a:xfrm>
            <a:off x="987425" y="3201988"/>
            <a:ext cx="7897813" cy="3033712"/>
          </a:xfrm>
        </p:spPr>
        <p:txBody>
          <a:bodyPr wrap="square" lIns="90553" tIns="45277" rIns="90553" bIns="45277" anchor="t" anchorCtr="0"/>
          <a:lstStyle/>
          <a:p>
            <a:pPr lvl="0" defTabSz="91440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946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591175" y="6402388"/>
            <a:ext cx="4276725" cy="336550"/>
          </a:xfrm>
          <a:prstGeom prst="rect">
            <a:avLst/>
          </a:prstGeom>
          <a:noFill/>
          <a:ln w="9525">
            <a:noFill/>
          </a:ln>
        </p:spPr>
        <p:txBody>
          <a:bodyPr lIns="90553" tIns="45277" rIns="90553" bIns="45277" anchor="b" anchorCtr="0"/>
          <a:lstStyle/>
          <a:p>
            <a:pPr lvl="0" algn="r" eaLnBrk="1" hangingPunct="1"/>
            <a:fld id="{9A0DB2DC-4C9A-4742-B13C-FB6460FD3503}" type="slidenum">
              <a:rPr lang="zh-CN" altLang="en-US" sz="1200" b="0" dirty="0"/>
            </a:fld>
            <a:endParaRPr lang="zh-CN" altLang="en-US" sz="1200" b="0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55955" y="740410"/>
            <a:ext cx="10880725" cy="1325245"/>
          </a:xfrm>
        </p:spPr>
        <p:txBody>
          <a:bodyPr>
            <a:normAutofit/>
          </a:bodyPr>
          <a:p>
            <a:pPr marL="0" indent="0" algn="just" latinLnBrk="0"/>
            <a:r>
              <a:rPr lang="en-US" altLang="zh-CN" sz="300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3000">
                <a:latin typeface="Times New Roman" panose="02020603050405020304" pitchFamily="18" charset="0"/>
                <a:cs typeface="Times New Roman" panose="02020603050405020304" pitchFamily="18" charset="0"/>
              </a:rPr>
              <a:t>oVer: Intervention-Driven auto Debugging for LLM Multi-Agent Systems</a:t>
            </a:r>
            <a:endParaRPr lang="en-US" altLang="zh-CN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内容占位符 2"/>
          <p:cNvSpPr>
            <a:spLocks noGrp="1"/>
          </p:cNvSpPr>
          <p:nvPr/>
        </p:nvSpPr>
        <p:spPr>
          <a:xfrm>
            <a:off x="1342390" y="2473325"/>
            <a:ext cx="9610725" cy="1401445"/>
          </a:xfrm>
          <a:prstGeom prst="rect">
            <a:avLst/>
          </a:prstGeom>
          <a:noFill/>
          <a:ln w="9525">
            <a:noFill/>
          </a:ln>
        </p:spPr>
        <p:txBody>
          <a:bodyPr lIns="77925" tIns="38963" rIns="77925" bIns="38963"/>
          <a:lstStyle>
            <a:lvl1pPr marL="157480" indent="-157480" algn="l" defTabSz="631825" rtl="0" eaLnBrk="0" fontAlgn="base" hangingPunct="0">
              <a:lnSpc>
                <a:spcPct val="90000"/>
              </a:lnSpc>
              <a:spcBef>
                <a:spcPts val="69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900" kern="1200">
                <a:solidFill>
                  <a:sysClr val="windowText" lastClr="000000"/>
                </a:solidFill>
                <a:latin typeface="等线" panose="02010600030101010101" charset="-122"/>
                <a:ea typeface="+mn-ea"/>
                <a:cs typeface="等线" panose="02010600030101010101" charset="-122"/>
              </a:defRPr>
            </a:lvl1pPr>
            <a:lvl2pPr marL="474980" indent="-157480" algn="l" defTabSz="631825" rtl="0" eaLnBrk="0" fontAlgn="base" hangingPunct="0">
              <a:lnSpc>
                <a:spcPct val="90000"/>
              </a:lnSpc>
              <a:spcBef>
                <a:spcPts val="34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 kern="1200">
                <a:solidFill>
                  <a:sysClr val="windowText" lastClr="000000"/>
                </a:solidFill>
                <a:latin typeface="等线" panose="02010600030101010101" charset="-122"/>
                <a:ea typeface="+mn-ea"/>
                <a:cs typeface="等线" panose="02010600030101010101" charset="-122"/>
              </a:defRPr>
            </a:lvl2pPr>
            <a:lvl3pPr marL="790575" indent="-157480" algn="l" defTabSz="631825" rtl="0" eaLnBrk="0" fontAlgn="base" hangingPunct="0">
              <a:lnSpc>
                <a:spcPct val="90000"/>
              </a:lnSpc>
              <a:spcBef>
                <a:spcPts val="34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ysClr val="windowText" lastClr="000000"/>
                </a:solidFill>
                <a:latin typeface="等线" panose="02010600030101010101" charset="-122"/>
                <a:ea typeface="+mn-ea"/>
                <a:cs typeface="等线" panose="02010600030101010101" charset="-122"/>
              </a:defRPr>
            </a:lvl3pPr>
            <a:lvl4pPr marL="1106805" indent="-157480" algn="l" defTabSz="631825" rtl="0" eaLnBrk="0" fontAlgn="base" hangingPunct="0">
              <a:lnSpc>
                <a:spcPct val="90000"/>
              </a:lnSpc>
              <a:spcBef>
                <a:spcPts val="34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200" kern="1200">
                <a:solidFill>
                  <a:sysClr val="windowText" lastClr="000000"/>
                </a:solidFill>
                <a:latin typeface="等线" panose="02010600030101010101" charset="-122"/>
                <a:ea typeface="+mn-ea"/>
                <a:cs typeface="等线" panose="02010600030101010101" charset="-122"/>
              </a:defRPr>
            </a:lvl4pPr>
            <a:lvl5pPr marL="1424305" indent="-157480" algn="l" defTabSz="631825" rtl="0" eaLnBrk="0" fontAlgn="base" hangingPunct="0">
              <a:lnSpc>
                <a:spcPct val="90000"/>
              </a:lnSpc>
              <a:spcBef>
                <a:spcPts val="34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200" kern="1200">
                <a:solidFill>
                  <a:sysClr val="windowText" lastClr="000000"/>
                </a:solidFill>
                <a:latin typeface="等线" panose="02010600030101010101" charset="-122"/>
                <a:ea typeface="+mn-ea"/>
                <a:cs typeface="等线" panose="02010600030101010101" charset="-122"/>
              </a:defRPr>
            </a:lvl5pPr>
            <a:lvl6pPr marL="1741170" indent="-158115" algn="l" defTabSz="633095" rtl="0" eaLnBrk="1" latinLnBrk="0" hangingPunct="1">
              <a:lnSpc>
                <a:spcPct val="90000"/>
              </a:lnSpc>
              <a:spcBef>
                <a:spcPts val="345"/>
              </a:spcBef>
              <a:buFont typeface="Arial" panose="020B0604020202020204" pitchFamily="34" charset="0"/>
              <a:buChar char="•"/>
              <a:defRPr sz="1200" kern="1200">
                <a:solidFill>
                  <a:sysClr val="windowText" lastClr="000000"/>
                </a:solidFill>
                <a:latin typeface="等线" panose="02010600030101010101" charset="-122"/>
                <a:ea typeface="+mn-ea"/>
                <a:cs typeface="+mn-ea"/>
              </a:defRPr>
            </a:lvl6pPr>
            <a:lvl7pPr marL="2057400" indent="-158115" algn="l" defTabSz="633095" rtl="0" eaLnBrk="1" latinLnBrk="0" hangingPunct="1">
              <a:lnSpc>
                <a:spcPct val="90000"/>
              </a:lnSpc>
              <a:spcBef>
                <a:spcPts val="345"/>
              </a:spcBef>
              <a:buFont typeface="Arial" panose="020B0604020202020204" pitchFamily="34" charset="0"/>
              <a:buChar char="•"/>
              <a:defRPr sz="1200" kern="1200">
                <a:solidFill>
                  <a:sysClr val="windowText" lastClr="000000"/>
                </a:solidFill>
                <a:latin typeface="等线" panose="02010600030101010101" charset="-122"/>
                <a:ea typeface="+mn-ea"/>
                <a:cs typeface="+mn-ea"/>
              </a:defRPr>
            </a:lvl7pPr>
            <a:lvl8pPr marL="2374265" indent="-158115" algn="l" defTabSz="633095" rtl="0" eaLnBrk="1" latinLnBrk="0" hangingPunct="1">
              <a:lnSpc>
                <a:spcPct val="90000"/>
              </a:lnSpc>
              <a:spcBef>
                <a:spcPts val="345"/>
              </a:spcBef>
              <a:buFont typeface="Arial" panose="020B0604020202020204" pitchFamily="34" charset="0"/>
              <a:buChar char="•"/>
              <a:defRPr sz="1200" kern="1200">
                <a:solidFill>
                  <a:sysClr val="windowText" lastClr="000000"/>
                </a:solidFill>
                <a:latin typeface="等线" panose="02010600030101010101" charset="-122"/>
                <a:ea typeface="+mn-ea"/>
                <a:cs typeface="+mn-ea"/>
              </a:defRPr>
            </a:lvl8pPr>
            <a:lvl9pPr marL="2691130" indent="-158115" algn="l" defTabSz="633095" rtl="0" eaLnBrk="1" latinLnBrk="0" hangingPunct="1">
              <a:lnSpc>
                <a:spcPct val="90000"/>
              </a:lnSpc>
              <a:spcBef>
                <a:spcPts val="345"/>
              </a:spcBef>
              <a:buFont typeface="Arial" panose="020B0604020202020204" pitchFamily="34" charset="0"/>
              <a:buChar char="•"/>
              <a:defRPr sz="1200" kern="1200">
                <a:solidFill>
                  <a:sysClr val="windowText" lastClr="000000"/>
                </a:solidFill>
                <a:latin typeface="等线" panose="02010600030101010101" charset="-122"/>
                <a:ea typeface="+mn-ea"/>
                <a:cs typeface="+mn-ea"/>
              </a:defRPr>
            </a:lvl9pPr>
          </a:lstStyle>
          <a:p>
            <a:pPr marL="0" indent="0" algn="ctr" latinLnBrk="0">
              <a:lnSpc>
                <a:spcPts val="2000"/>
              </a:lnSpc>
              <a:spcBef>
                <a:spcPts val="0"/>
              </a:spcBef>
              <a:buNone/>
            </a:pP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Ming Ma , Jue Zhang, Fangkai Yang3,</a:t>
            </a:r>
            <a:endParaRPr lang="en-US" altLang="zh-CN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 latinLnBrk="0">
              <a:lnSpc>
                <a:spcPts val="2000"/>
              </a:lnSpc>
              <a:spcBef>
                <a:spcPts val="0"/>
              </a:spcBef>
              <a:buNone/>
            </a:pP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Yu Kang, Qingwei Lin, Saravan Rajmohan, Dongmei Zhang</a:t>
            </a:r>
            <a:endParaRPr lang="en-US" altLang="zh-CN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 latinLnBrk="0">
              <a:lnSpc>
                <a:spcPts val="2000"/>
              </a:lnSpc>
              <a:spcBef>
                <a:spcPts val="0"/>
              </a:spcBef>
              <a:buNone/>
            </a:pPr>
            <a:endParaRPr lang="en-US" altLang="zh-CN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 latinLnBrk="0">
              <a:lnSpc>
                <a:spcPts val="2000"/>
              </a:lnSpc>
              <a:spcBef>
                <a:spcPts val="0"/>
              </a:spcBef>
              <a:buNone/>
            </a:pP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ICLR</a:t>
            </a:r>
            <a:endParaRPr lang="en-US" altLang="zh-CN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 latinLnBrk="0">
              <a:lnSpc>
                <a:spcPts val="2000"/>
              </a:lnSpc>
              <a:spcBef>
                <a:spcPts val="0"/>
              </a:spcBef>
              <a:buNone/>
            </a:pPr>
            <a:endParaRPr lang="en-US" altLang="zh-CN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 latinLnBrk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26 Jan 2026</a:t>
            </a:r>
            <a:endParaRPr lang="en-US" altLang="zh-CN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186613" y="119016"/>
            <a:ext cx="2693670" cy="9124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5335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Outline</a:t>
            </a:r>
            <a:endParaRPr kumimoji="0" lang="zh-CN" altLang="en-US" sz="5335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62803" y="229077"/>
            <a:ext cx="11265647" cy="7480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lvl="0">
              <a:defRPr/>
            </a:pPr>
            <a:r>
              <a:rPr lang="en-US" altLang="zh-CN" sz="4265" b="1" dirty="0">
                <a:solidFill>
                  <a:srgbClr val="00489A"/>
                </a:solidFill>
                <a:latin typeface="微软雅黑" panose="020B0503020204020204" charset="-122"/>
                <a:ea typeface="微软雅黑" panose="020B0503020204020204" charset="-122"/>
                <a:sym typeface="Source Han Serif SC" panose="02020400000000000000" pitchFamily="18" charset="-122"/>
              </a:rPr>
              <a:t>Research Background</a:t>
            </a:r>
            <a:endParaRPr lang="en-US" altLang="zh-CN" sz="4265" b="1" dirty="0">
              <a:solidFill>
                <a:srgbClr val="00489A"/>
              </a:solidFill>
              <a:latin typeface="微软雅黑" panose="020B0503020204020204" charset="-122"/>
              <a:ea typeface="微软雅黑" panose="020B0503020204020204" charset="-122"/>
              <a:sym typeface="Source Han Serif SC" panose="02020400000000000000" pitchFamily="18" charset="-122"/>
            </a:endParaRPr>
          </a:p>
        </p:txBody>
      </p:sp>
      <p:cxnSp>
        <p:nvCxnSpPr>
          <p:cNvPr id="11" name="直接连接符 34"/>
          <p:cNvCxnSpPr/>
          <p:nvPr/>
        </p:nvCxnSpPr>
        <p:spPr>
          <a:xfrm>
            <a:off x="1052389" y="1134291"/>
            <a:ext cx="11139611" cy="0"/>
          </a:xfrm>
          <a:prstGeom prst="line">
            <a:avLst/>
          </a:prstGeom>
          <a:ln>
            <a:solidFill>
              <a:srgbClr val="0548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-12483" y="1134291"/>
            <a:ext cx="1064872" cy="0"/>
          </a:xfrm>
          <a:prstGeom prst="line">
            <a:avLst/>
          </a:prstGeom>
          <a:ln w="57150">
            <a:solidFill>
              <a:srgbClr val="0548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361950" y="2344420"/>
            <a:ext cx="10393680" cy="3510915"/>
          </a:xfrm>
          <a:prstGeom prst="rect">
            <a:avLst/>
          </a:prstGeom>
        </p:spPr>
        <p:txBody>
          <a:bodyPr wrap="square">
            <a:noAutofit/>
          </a:bodyPr>
          <a:p>
            <a:pPr algn="just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The rapid advancement of Large Language Models (LLMs) has led to the widespread development and deployment of multi-agent architectures, where agents of different roles work collaboratively to solve complex, real-world tasks.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As these systems transition into production, debugging their failures becomes inevitable; however, unlike conventional software crashes, these failures represent "silent errors" where the system executes without interruption but produces incorrect or unsatisfactory results.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Multi-agent sessions often involve many rounds of LLM calls, generating long and highly complicated interaction logs that track inter-agent information flow, making manual inspection extremely labor-intensive.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186613" y="119016"/>
            <a:ext cx="2693670" cy="9124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5335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Outline</a:t>
            </a:r>
            <a:endParaRPr kumimoji="0" lang="zh-CN" altLang="en-US" sz="5335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62803" y="229077"/>
            <a:ext cx="11265647" cy="7480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lvl="0">
              <a:defRPr/>
            </a:pPr>
            <a:r>
              <a:rPr lang="en-US" altLang="zh-CN" sz="4265" b="1" dirty="0">
                <a:solidFill>
                  <a:srgbClr val="00489A"/>
                </a:solidFill>
                <a:latin typeface="微软雅黑" panose="020B0503020204020204" charset="-122"/>
                <a:ea typeface="微软雅黑" panose="020B0503020204020204" charset="-122"/>
                <a:sym typeface="Source Han Serif SC" panose="02020400000000000000" pitchFamily="18" charset="-122"/>
              </a:rPr>
              <a:t>Current Limitations</a:t>
            </a:r>
            <a:endParaRPr lang="en-US" altLang="zh-CN" sz="4265" b="1" dirty="0">
              <a:solidFill>
                <a:srgbClr val="00489A"/>
              </a:solidFill>
              <a:latin typeface="微软雅黑" panose="020B0503020204020204" charset="-122"/>
              <a:ea typeface="微软雅黑" panose="020B0503020204020204" charset="-122"/>
              <a:sym typeface="Source Han Serif SC" panose="02020400000000000000" pitchFamily="18" charset="-122"/>
            </a:endParaRPr>
          </a:p>
        </p:txBody>
      </p:sp>
      <p:cxnSp>
        <p:nvCxnSpPr>
          <p:cNvPr id="11" name="直接连接符 34"/>
          <p:cNvCxnSpPr/>
          <p:nvPr/>
        </p:nvCxnSpPr>
        <p:spPr>
          <a:xfrm>
            <a:off x="1052389" y="1134291"/>
            <a:ext cx="11139611" cy="0"/>
          </a:xfrm>
          <a:prstGeom prst="line">
            <a:avLst/>
          </a:prstGeom>
          <a:ln>
            <a:solidFill>
              <a:srgbClr val="0548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-12483" y="1134291"/>
            <a:ext cx="1064872" cy="0"/>
          </a:xfrm>
          <a:prstGeom prst="line">
            <a:avLst/>
          </a:prstGeom>
          <a:ln w="57150">
            <a:solidFill>
              <a:srgbClr val="0548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361950" y="2597150"/>
            <a:ext cx="10393680" cy="2814320"/>
          </a:xfrm>
          <a:prstGeom prst="rect">
            <a:avLst/>
          </a:prstGeom>
        </p:spPr>
        <p:txBody>
          <a:bodyPr wrap="square">
            <a:noAutofit/>
          </a:bodyPr>
          <a:p>
            <a:pPr algn="just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The prevailing practice relies on using LLMs to perform log-based analysis to attribute failures to a specific agent and step, but this log-only paradigm lacks execution-based validation.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Enforcing a single-step or single-agent attribution is often ill-posed because multi-agent systems employ trial-and-error loops (like ReAct) with multiple potential failure points.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Failures frequently stem from coordination issues or misalignment between agents, making it ambiguous and inappropriate to assign fault to just one step or agent.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186613" y="119016"/>
            <a:ext cx="2693670" cy="9124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5335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Outline</a:t>
            </a:r>
            <a:endParaRPr kumimoji="0" lang="zh-CN" altLang="en-US" sz="5335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62803" y="229077"/>
            <a:ext cx="11265647" cy="7480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lvl="0">
              <a:defRPr/>
            </a:pPr>
            <a:r>
              <a:rPr lang="en-US" altLang="zh-CN" sz="4265" b="1" dirty="0">
                <a:solidFill>
                  <a:srgbClr val="00489A"/>
                </a:solidFill>
                <a:latin typeface="微软雅黑" panose="020B0503020204020204" charset="-122"/>
                <a:ea typeface="微软雅黑" panose="020B0503020204020204" charset="-122"/>
                <a:sym typeface="Source Han Serif SC" panose="02020400000000000000" pitchFamily="18" charset="-122"/>
              </a:rPr>
              <a:t>Contributions</a:t>
            </a:r>
            <a:endParaRPr lang="en-US" altLang="zh-CN" sz="4265" b="1" dirty="0">
              <a:solidFill>
                <a:srgbClr val="00489A"/>
              </a:solidFill>
              <a:latin typeface="微软雅黑" panose="020B0503020204020204" charset="-122"/>
              <a:ea typeface="微软雅黑" panose="020B0503020204020204" charset="-122"/>
              <a:sym typeface="Source Han Serif SC" panose="02020400000000000000" pitchFamily="18" charset="-122"/>
            </a:endParaRPr>
          </a:p>
        </p:txBody>
      </p:sp>
      <p:cxnSp>
        <p:nvCxnSpPr>
          <p:cNvPr id="11" name="直接连接符 34"/>
          <p:cNvCxnSpPr/>
          <p:nvPr/>
        </p:nvCxnSpPr>
        <p:spPr>
          <a:xfrm>
            <a:off x="1052389" y="1134291"/>
            <a:ext cx="11139611" cy="0"/>
          </a:xfrm>
          <a:prstGeom prst="line">
            <a:avLst/>
          </a:prstGeom>
          <a:ln>
            <a:solidFill>
              <a:srgbClr val="0548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-12483" y="1134291"/>
            <a:ext cx="1064872" cy="0"/>
          </a:xfrm>
          <a:prstGeom prst="line">
            <a:avLst/>
          </a:prstGeom>
          <a:ln w="57150">
            <a:solidFill>
              <a:srgbClr val="0548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361950" y="2344420"/>
            <a:ext cx="10393680" cy="2956560"/>
          </a:xfrm>
          <a:prstGeom prst="rect">
            <a:avLst/>
          </a:prstGeom>
        </p:spPr>
        <p:txBody>
          <a:bodyPr wrap="square">
            <a:noAutofit/>
          </a:bodyPr>
          <a:p>
            <a:pPr algn="just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(i) We propose DoVer, an intervention-driven framework for automatically debugging failures in LLM-based multi-agent systems; 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(ii) We identify and analyze the challenges posed by uncertain ground-truth annotations in log-based failure attribution; 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(iii) We demonstrate experimentally that DoVer not only recovers a significant portion of failure cases but also enables explicit validation and refutation of failure attribution hypotheses.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186613" y="119016"/>
            <a:ext cx="2693670" cy="9124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5335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Outline</a:t>
            </a:r>
            <a:endParaRPr kumimoji="0" lang="zh-CN" altLang="en-US" sz="5335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62803" y="229077"/>
            <a:ext cx="11265647" cy="7480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lvl="0">
              <a:defRPr/>
            </a:pPr>
            <a:r>
              <a:rPr lang="en-US" altLang="zh-CN" sz="4265" b="1" dirty="0">
                <a:solidFill>
                  <a:srgbClr val="00489A"/>
                </a:solidFill>
                <a:latin typeface="微软雅黑" panose="020B0503020204020204" charset="-122"/>
                <a:ea typeface="微软雅黑" panose="020B0503020204020204" charset="-122"/>
                <a:sym typeface="Source Han Serif SC" panose="02020400000000000000" pitchFamily="18" charset="-122"/>
              </a:rPr>
              <a:t>Failure trace of Case 3 inWW-HC</a:t>
            </a:r>
            <a:endParaRPr lang="en-US" altLang="zh-CN" sz="4265" b="1" dirty="0">
              <a:solidFill>
                <a:srgbClr val="00489A"/>
              </a:solidFill>
              <a:latin typeface="微软雅黑" panose="020B0503020204020204" charset="-122"/>
              <a:ea typeface="微软雅黑" panose="020B0503020204020204" charset="-122"/>
              <a:sym typeface="Source Han Serif SC" panose="02020400000000000000" pitchFamily="18" charset="-122"/>
            </a:endParaRPr>
          </a:p>
        </p:txBody>
      </p:sp>
      <p:cxnSp>
        <p:nvCxnSpPr>
          <p:cNvPr id="11" name="直接连接符 34"/>
          <p:cNvCxnSpPr/>
          <p:nvPr/>
        </p:nvCxnSpPr>
        <p:spPr>
          <a:xfrm>
            <a:off x="1052389" y="1134291"/>
            <a:ext cx="11139611" cy="0"/>
          </a:xfrm>
          <a:prstGeom prst="line">
            <a:avLst/>
          </a:prstGeom>
          <a:ln>
            <a:solidFill>
              <a:srgbClr val="0548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-12483" y="1134291"/>
            <a:ext cx="1064872" cy="0"/>
          </a:xfrm>
          <a:prstGeom prst="line">
            <a:avLst/>
          </a:prstGeom>
          <a:ln w="57150">
            <a:solidFill>
              <a:srgbClr val="0548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898525" y="6212840"/>
            <a:ext cx="10393680" cy="550545"/>
          </a:xfrm>
          <a:prstGeom prst="rect">
            <a:avLst/>
          </a:prstGeom>
        </p:spPr>
        <p:txBody>
          <a:bodyPr wrap="square">
            <a:noAutofit/>
          </a:bodyPr>
          <a:p>
            <a:pPr algn="just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Figure 1: Failure trace of Case 3 inWW-HC, illustrating ambiguity in failure attribution.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2915" y="1236980"/>
            <a:ext cx="11527155" cy="497586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186613" y="119016"/>
            <a:ext cx="2693670" cy="9124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5335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Outline</a:t>
            </a:r>
            <a:endParaRPr kumimoji="0" lang="zh-CN" altLang="en-US" sz="5335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62803" y="229077"/>
            <a:ext cx="11265647" cy="7480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lvl="0">
              <a:defRPr/>
            </a:pPr>
            <a:r>
              <a:rPr lang="en-US" altLang="zh-CN" sz="4265" b="1" dirty="0">
                <a:solidFill>
                  <a:srgbClr val="00489A"/>
                </a:solidFill>
                <a:latin typeface="微软雅黑" panose="020B0503020204020204" charset="-122"/>
                <a:ea typeface="微软雅黑" panose="020B0503020204020204" charset="-122"/>
                <a:sym typeface="Source Han Serif SC" panose="02020400000000000000" pitchFamily="18" charset="-122"/>
              </a:rPr>
              <a:t>DoVer Debugging Pipeline.</a:t>
            </a:r>
            <a:endParaRPr lang="en-US" altLang="zh-CN" sz="4265" b="1" dirty="0">
              <a:solidFill>
                <a:srgbClr val="00489A"/>
              </a:solidFill>
              <a:latin typeface="微软雅黑" panose="020B0503020204020204" charset="-122"/>
              <a:ea typeface="微软雅黑" panose="020B0503020204020204" charset="-122"/>
              <a:sym typeface="Source Han Serif SC" panose="02020400000000000000" pitchFamily="18" charset="-122"/>
            </a:endParaRPr>
          </a:p>
        </p:txBody>
      </p:sp>
      <p:cxnSp>
        <p:nvCxnSpPr>
          <p:cNvPr id="11" name="直接连接符 34"/>
          <p:cNvCxnSpPr/>
          <p:nvPr/>
        </p:nvCxnSpPr>
        <p:spPr>
          <a:xfrm>
            <a:off x="1052389" y="1134291"/>
            <a:ext cx="11139611" cy="0"/>
          </a:xfrm>
          <a:prstGeom prst="line">
            <a:avLst/>
          </a:prstGeom>
          <a:ln>
            <a:solidFill>
              <a:srgbClr val="0548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-12483" y="1134291"/>
            <a:ext cx="1064872" cy="0"/>
          </a:xfrm>
          <a:prstGeom prst="line">
            <a:avLst/>
          </a:prstGeom>
          <a:ln w="57150">
            <a:solidFill>
              <a:srgbClr val="0548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361950" y="5909945"/>
            <a:ext cx="10393680" cy="712470"/>
          </a:xfrm>
          <a:prstGeom prst="rect">
            <a:avLst/>
          </a:prstGeom>
        </p:spPr>
        <p:txBody>
          <a:bodyPr wrap="square">
            <a:noAutofit/>
          </a:bodyPr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Figure 2: DoVer (Do–then–Verify) Debugging Pipeline.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6690" y="1532890"/>
            <a:ext cx="11676380" cy="379222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186613" y="119016"/>
            <a:ext cx="2693670" cy="9124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5335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Outline</a:t>
            </a:r>
            <a:endParaRPr kumimoji="0" lang="zh-CN" altLang="en-US" sz="5335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62803" y="229077"/>
            <a:ext cx="11265647" cy="7480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lvl="0">
              <a:defRPr/>
            </a:pPr>
            <a:r>
              <a:rPr lang="en-US" altLang="zh-CN" sz="4265" b="1" dirty="0">
                <a:solidFill>
                  <a:srgbClr val="00489A"/>
                </a:solidFill>
                <a:latin typeface="微软雅黑" panose="020B0503020204020204" charset="-122"/>
                <a:ea typeface="微软雅黑" panose="020B0503020204020204" charset="-122"/>
                <a:sym typeface="Source Han Serif SC" panose="02020400000000000000" pitchFamily="18" charset="-122"/>
              </a:rPr>
              <a:t>E</a:t>
            </a:r>
            <a:r>
              <a:rPr lang="en-US" altLang="zh-CN" sz="4265" b="1" dirty="0">
                <a:solidFill>
                  <a:srgbClr val="00489A"/>
                </a:solidFill>
                <a:latin typeface="微软雅黑" panose="020B0503020204020204" charset="-122"/>
                <a:ea typeface="微软雅黑" panose="020B0503020204020204" charset="-122"/>
                <a:sym typeface="Source Han Serif SC" panose="02020400000000000000" pitchFamily="18" charset="-122"/>
              </a:rPr>
              <a:t>xperiment</a:t>
            </a:r>
            <a:endParaRPr lang="en-US" altLang="zh-CN" sz="4265" b="1" dirty="0">
              <a:solidFill>
                <a:srgbClr val="00489A"/>
              </a:solidFill>
              <a:latin typeface="微软雅黑" panose="020B0503020204020204" charset="-122"/>
              <a:ea typeface="微软雅黑" panose="020B0503020204020204" charset="-122"/>
              <a:sym typeface="Source Han Serif SC" panose="02020400000000000000" pitchFamily="18" charset="-122"/>
            </a:endParaRPr>
          </a:p>
        </p:txBody>
      </p:sp>
      <p:cxnSp>
        <p:nvCxnSpPr>
          <p:cNvPr id="11" name="直接连接符 34"/>
          <p:cNvCxnSpPr/>
          <p:nvPr/>
        </p:nvCxnSpPr>
        <p:spPr>
          <a:xfrm>
            <a:off x="1052389" y="1134291"/>
            <a:ext cx="11139611" cy="0"/>
          </a:xfrm>
          <a:prstGeom prst="line">
            <a:avLst/>
          </a:prstGeom>
          <a:ln>
            <a:solidFill>
              <a:srgbClr val="0548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-12483" y="1134291"/>
            <a:ext cx="1064872" cy="0"/>
          </a:xfrm>
          <a:prstGeom prst="line">
            <a:avLst/>
          </a:prstGeom>
          <a:ln w="57150">
            <a:solidFill>
              <a:srgbClr val="0548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534035" y="5855335"/>
            <a:ext cx="10393680" cy="692785"/>
          </a:xfrm>
          <a:prstGeom prst="rect">
            <a:avLst/>
          </a:prstGeom>
        </p:spPr>
        <p:txBody>
          <a:bodyPr wrap="square">
            <a:noAutofit/>
          </a:bodyPr>
          <a:p>
            <a:pPr algn="just"/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2690" y="1501140"/>
            <a:ext cx="9544050" cy="20574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6990" y="4389120"/>
            <a:ext cx="9610725" cy="204787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186613" y="119016"/>
            <a:ext cx="2693670" cy="9124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5335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Outline</a:t>
            </a:r>
            <a:endParaRPr kumimoji="0" lang="zh-CN" altLang="en-US" sz="5335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62803" y="229077"/>
            <a:ext cx="11265647" cy="7480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lvl="0">
              <a:defRPr/>
            </a:pPr>
            <a:r>
              <a:rPr lang="en-US" altLang="zh-CN" sz="4265" b="1" dirty="0">
                <a:solidFill>
                  <a:srgbClr val="00489A"/>
                </a:solidFill>
                <a:latin typeface="微软雅黑" panose="020B0503020204020204" charset="-122"/>
                <a:ea typeface="微软雅黑" panose="020B0503020204020204" charset="-122"/>
                <a:sym typeface="Source Han Serif SC" panose="02020400000000000000" pitchFamily="18" charset="-122"/>
              </a:rPr>
              <a:t>Experiment</a:t>
            </a:r>
            <a:endParaRPr lang="en-US" altLang="zh-CN" sz="4265" b="1" dirty="0">
              <a:solidFill>
                <a:srgbClr val="00489A"/>
              </a:solidFill>
              <a:latin typeface="微软雅黑" panose="020B0503020204020204" charset="-122"/>
              <a:ea typeface="微软雅黑" panose="020B0503020204020204" charset="-122"/>
              <a:sym typeface="Source Han Serif SC" panose="02020400000000000000" pitchFamily="18" charset="-122"/>
            </a:endParaRPr>
          </a:p>
        </p:txBody>
      </p:sp>
      <p:cxnSp>
        <p:nvCxnSpPr>
          <p:cNvPr id="11" name="直接连接符 34"/>
          <p:cNvCxnSpPr/>
          <p:nvPr/>
        </p:nvCxnSpPr>
        <p:spPr>
          <a:xfrm>
            <a:off x="1052389" y="1134291"/>
            <a:ext cx="11139611" cy="0"/>
          </a:xfrm>
          <a:prstGeom prst="line">
            <a:avLst/>
          </a:prstGeom>
          <a:ln>
            <a:solidFill>
              <a:srgbClr val="0548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-12483" y="1134291"/>
            <a:ext cx="1064872" cy="0"/>
          </a:xfrm>
          <a:prstGeom prst="line">
            <a:avLst/>
          </a:prstGeom>
          <a:ln w="57150">
            <a:solidFill>
              <a:srgbClr val="0548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462915" y="5535295"/>
            <a:ext cx="10393680" cy="875665"/>
          </a:xfrm>
          <a:prstGeom prst="rect">
            <a:avLst/>
          </a:prstGeom>
        </p:spPr>
        <p:txBody>
          <a:bodyPr wrap="square">
            <a:noAutofit/>
          </a:bodyPr>
          <a:p>
            <a:pPr algn="just"/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6810" y="1587500"/>
            <a:ext cx="9553575" cy="208597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810" y="4818380"/>
            <a:ext cx="9552940" cy="1847850"/>
          </a:xfrm>
          <a:prstGeom prst="rect">
            <a:avLst/>
          </a:prstGeom>
        </p:spPr>
      </p:pic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2165</Words>
  <Application>WPS 演示</Application>
  <PresentationFormat>宽屏</PresentationFormat>
  <Paragraphs>61</Paragraphs>
  <Slides>8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2" baseType="lpstr">
      <vt:lpstr>Arial</vt:lpstr>
      <vt:lpstr>宋体</vt:lpstr>
      <vt:lpstr>Wingdings</vt:lpstr>
      <vt:lpstr>Wingdings</vt:lpstr>
      <vt:lpstr>Times New Roman</vt:lpstr>
      <vt:lpstr>等线</vt:lpstr>
      <vt:lpstr>微软雅黑</vt:lpstr>
      <vt:lpstr>Source Han Serif SC</vt:lpstr>
      <vt:lpstr>Arial Unicode MS</vt:lpstr>
      <vt:lpstr>Calibri</vt:lpstr>
      <vt:lpstr>Source Han Serif SC</vt:lpstr>
      <vt:lpstr>Source Han Serif SC Heavy</vt:lpstr>
      <vt:lpstr>Prima Serif Std Roman</vt:lpstr>
      <vt:lpstr>WPS</vt:lpstr>
      <vt:lpstr>DoVer: Intervention-Driven auto Debugging for LLM Multi-Agent Systems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墨染</cp:lastModifiedBy>
  <cp:revision>159</cp:revision>
  <dcterms:created xsi:type="dcterms:W3CDTF">2019-06-19T02:08:00Z</dcterms:created>
  <dcterms:modified xsi:type="dcterms:W3CDTF">2026-07-23T10:37:21Z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737935CDA3EC48088162853CED26CC59_11</vt:lpwstr>
  </property>
</Properties>
</file>