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432" autoAdjust="0"/>
  </p:normalViewPr>
  <p:slideViewPr>
    <p:cSldViewPr snapToGrid="0">
      <p:cViewPr varScale="1">
        <p:scale>
          <a:sx n="94" d="100"/>
          <a:sy n="94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C3D26-C1CD-409A-A92B-1787629610F9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BD607-822A-4E91-BB43-95DA927A9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107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357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345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989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102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413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723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562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859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911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487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4501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87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2287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BD607-822A-4E91-BB43-95DA927A92E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843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52454B-C284-4D59-12C8-8B9F01F78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C4C156-BAB0-E182-5928-90F749F30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80E579-5BCE-5DBC-9569-EF7AD267B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8CEF-66A7-41CB-8C72-D0BC40EC8195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AAC30B-B336-BF1E-8709-F2A5493AF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0B07ED-3C63-9B91-DE7C-AEA6FE70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53AC-37F9-4F7D-A88F-17733C7A73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399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85DEA-85CC-A965-2BEA-611BA4ED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8843E4-25A5-0F24-382F-64BCEA057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0AB6E-99AB-8D4A-7BA2-9B7F2031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8CEF-66A7-41CB-8C72-D0BC40EC8195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FE7364-DEF0-28AB-70FD-452DBF131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A11C6C-91CF-47B6-A041-F52B5313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53AC-37F9-4F7D-A88F-17733C7A73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613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6508E-74C8-A7B1-7E8F-48ADC411A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74C144-E60D-27D3-F816-4CD8E1BBE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48E5EB-D666-1AFD-BF60-DDE7CE2C3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8CEF-66A7-41CB-8C72-D0BC40EC8195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64D8C6-F91E-4C74-8CD2-4F545809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2E7B98-9A76-DBE9-40A0-462F32909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53AC-37F9-4F7D-A88F-17733C7A73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576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EBC22-AB34-C48D-0C5E-D4EDDAB41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A8B625-DD22-5202-AF63-DE70F4AC2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E24433-F598-87D7-5018-56579FF9F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ACFC9F-9A37-8DC1-01E2-FACBB530B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8CEF-66A7-41CB-8C72-D0BC40EC8195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F8DAB0-83F5-B95F-74FE-7DA2CF153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F65B55-8FE4-D733-CB34-DFB7DA4D2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53AC-37F9-4F7D-A88F-17733C7A73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14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4162E-861F-85AF-50FF-2048AC7FF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4BAC60-20A0-6734-9DEA-9EFA4DDF7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A88942-C15A-ECC2-F0A2-55934FDF3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7FDFAE-8304-7024-60FE-2771D1AC3C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7841A5-F356-87FD-0D9F-382BAFD4DE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F6840B1-2474-00F1-9BA8-C641BB795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8CEF-66A7-41CB-8C72-D0BC40EC8195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8BC42B2-82AF-2BBC-1B7D-8C5C2853E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E9E954-7E7A-1D11-EFC5-D6DB2EA88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53AC-37F9-4F7D-A88F-17733C7A73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77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10A2A-D706-6331-A9D4-5CB77CCFC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4EF2CD6-9F95-A291-5249-170081B59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8CEF-66A7-41CB-8C72-D0BC40EC8195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0818F7-33F8-0AC3-A4D0-3671EDFE5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65064E-D99A-B743-99A7-D45250F8A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53AC-37F9-4F7D-A88F-17733C7A73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60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992B59-9DB1-9E17-8941-68F2FE0CE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8CEF-66A7-41CB-8C72-D0BC40EC8195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EAD19F-2160-E0E8-3226-82670557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68ED76-855E-7BB1-CBEA-A1E4A7D5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53AC-37F9-4F7D-A88F-17733C7A73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00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32713E-7D43-8DC6-497C-C9BA7BFB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742EFC-A2BC-C9AB-87F5-BD4856CEA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4C95BC-7824-FF7A-8FA1-C58B036D5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AC0495-44A1-42D0-5000-5B295E86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8CEF-66A7-41CB-8C72-D0BC40EC8195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6FDAD5-9F63-FFB5-E17A-6465FA79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09ABAB-FCFB-D9ED-A580-11E51527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53AC-37F9-4F7D-A88F-17733C7A73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727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224097-1F21-BB57-E854-F965686CA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1874226-8033-128C-C17E-4FF060C043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DD4BF5-1A0E-97A3-0BCF-B295D6753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FEDE65-6E6D-872C-356D-2DDAF3470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8CEF-66A7-41CB-8C72-D0BC40EC8195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024396-2B6A-3EC3-BB90-36C7B5F95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B99C71-C097-C759-25F1-A9D95E3A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53AC-37F9-4F7D-A88F-17733C7A73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77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819B1-C4B2-5FBC-C32B-4D22BD98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6AD0E2-95A2-6EDE-F926-1451D1402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7265D2-C27F-630C-B848-9CEF94A35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8CEF-66A7-41CB-8C72-D0BC40EC8195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A10C2E-C7B0-4C79-6C44-A88DF77A0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84E31B-C98B-48CB-832E-29CAC7C0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53AC-37F9-4F7D-A88F-17733C7A73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3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917CE2-C564-AE86-48D4-8B3BD64363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130A68-27CF-54D2-471E-7516A5CA1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218DD7-C9F2-CF3B-4C95-2319E809F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8CEF-66A7-41CB-8C72-D0BC40EC8195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F33D6F-373B-730D-3783-C67412CDA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8BA4ED-A345-6705-8A12-4E0882715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53AC-37F9-4F7D-A88F-17733C7A73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708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AB2E4E9-E719-C7CA-C493-4F0DD0AE4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34C370-2296-5273-A4E3-F0A40F882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28C265-EA6B-93CC-C95C-E3D2A473AA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D8CEF-66A7-41CB-8C72-D0BC40EC8195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841F-8657-DA20-3E90-5587B1ADF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CCDF8B-6328-BAB9-020F-1AE4425B8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153AC-37F9-4F7D-A88F-17733C7A73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701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290312-BFA3-B0D4-BC7D-DFECB7BD5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70127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Reflective Multi-Agent Collaboration based on Large Language Models</a:t>
            </a:r>
            <a:endParaRPr lang="zh-CN" altLang="en-US" sz="4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D9F746-21DC-9F6C-9B98-3709E0761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84376"/>
            <a:ext cx="9144000" cy="1973424"/>
          </a:xfrm>
        </p:spPr>
        <p:txBody>
          <a:bodyPr>
            <a:normAutofit/>
          </a:bodyPr>
          <a:lstStyle/>
          <a:p>
            <a:r>
              <a:rPr lang="en-US" altLang="zh-CN" dirty="0"/>
              <a:t>Xiaohe Bo, </a:t>
            </a:r>
            <a:r>
              <a:rPr lang="en-US" altLang="zh-CN" dirty="0" err="1"/>
              <a:t>Zeyu</a:t>
            </a:r>
            <a:r>
              <a:rPr lang="en-US" altLang="zh-CN" dirty="0"/>
              <a:t> Zhang, </a:t>
            </a:r>
            <a:r>
              <a:rPr lang="en-US" altLang="zh-CN" dirty="0" err="1"/>
              <a:t>Quanyu</a:t>
            </a:r>
            <a:r>
              <a:rPr lang="en-US" altLang="zh-CN" dirty="0"/>
              <a:t> Dai, </a:t>
            </a:r>
            <a:r>
              <a:rPr lang="en-US" altLang="zh-CN" dirty="0" err="1"/>
              <a:t>Xueyang</a:t>
            </a:r>
            <a:r>
              <a:rPr lang="en-US" altLang="zh-CN" dirty="0"/>
              <a:t> Feng, Lei Wang, Rui Li, Xu Chen1,Ji-Rong Wen </a:t>
            </a:r>
          </a:p>
          <a:p>
            <a:r>
              <a:rPr lang="en-US" altLang="zh-CN" dirty="0" err="1"/>
              <a:t>NeurIPS</a:t>
            </a:r>
            <a:r>
              <a:rPr lang="en-US" altLang="zh-CN" dirty="0"/>
              <a:t> 2024</a:t>
            </a:r>
          </a:p>
          <a:p>
            <a:r>
              <a:rPr lang="en-US" altLang="zh-CN" dirty="0"/>
              <a:t>2025/12/28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4586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9C135-B21E-8BDE-E6C4-AC92E78C1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1" dirty="0"/>
              <a:t>大模型驱动的多智能体协作中的反思机制</a:t>
            </a:r>
          </a:p>
        </p:txBody>
      </p:sp>
    </p:spTree>
    <p:extLst>
      <p:ext uri="{BB962C8B-B14F-4D97-AF65-F5344CB8AC3E}">
        <p14:creationId xmlns:p14="http://schemas.microsoft.com/office/powerpoint/2010/main" val="3436405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006B9-D401-A120-661B-D4709D1F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研究背景</a:t>
            </a:r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61E249-A9A8-74CF-89B7-F7CF7D992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905"/>
            <a:ext cx="10515600" cy="4712057"/>
          </a:xfrm>
        </p:spPr>
        <p:txBody>
          <a:bodyPr>
            <a:normAutofit/>
          </a:bodyPr>
          <a:lstStyle/>
          <a:p>
            <a:r>
              <a:rPr lang="zh-CN" altLang="en-US" b="1" dirty="0"/>
              <a:t>单智能体</a:t>
            </a:r>
            <a:r>
              <a:rPr lang="zh-CN" altLang="en-US" dirty="0"/>
              <a:t>：在各类下游任务中取得了良好的效果。</a:t>
            </a:r>
            <a:endParaRPr lang="en-US" altLang="zh-CN" dirty="0"/>
          </a:p>
          <a:p>
            <a:r>
              <a:rPr lang="zh-CN" altLang="en-US" b="1" dirty="0"/>
              <a:t>多智能体</a:t>
            </a:r>
            <a:r>
              <a:rPr lang="zh-CN" altLang="en-US" dirty="0"/>
              <a:t>：应对更为复杂的任务场景。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b="1" dirty="0"/>
              <a:t>多智能体合作框架</a:t>
            </a:r>
            <a:r>
              <a:rPr lang="zh-CN" altLang="en-US" dirty="0"/>
              <a:t>：提升多智能体系统在各类任务上的表现。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964FEB7E-BADE-1247-10EE-BE34E34B6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384" y="3032448"/>
            <a:ext cx="6979232" cy="326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04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5C9D6-986A-F934-C8B7-30FC0719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研究动机</a:t>
            </a:r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AB9AD-49CB-E355-ECEB-487D3B6E1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协作能力差</a:t>
            </a:r>
            <a:r>
              <a:rPr lang="zh-CN" altLang="en-US" dirty="0"/>
              <a:t>：受限于大模型的上下文理解能力以及分工合作的复杂性，这类框架并不能充分发挥智能体的协作能力。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计算资源损耗大</a:t>
            </a:r>
            <a:r>
              <a:rPr lang="zh-CN" altLang="en-US" dirty="0"/>
              <a:t>：对此，一个自然的想法是收集大量合作数据，选取其中的正样本对系统中的智能体进行监督微调，但这会导致难以接受的计算资源损耗，并对大语言模型的通用能力产生影响。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811BF4-F546-682C-A46E-4ADDF2B4773B}"/>
              </a:ext>
            </a:extLst>
          </p:cNvPr>
          <p:cNvSpPr/>
          <p:nvPr/>
        </p:nvSpPr>
        <p:spPr>
          <a:xfrm>
            <a:off x="1039585" y="4945223"/>
            <a:ext cx="10112829" cy="9424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提出借助智能体的</a:t>
            </a:r>
            <a:r>
              <a:rPr lang="zh-CN" altLang="en-US" sz="2800" b="1" dirty="0">
                <a:solidFill>
                  <a:schemeClr val="tx1"/>
                </a:solidFill>
              </a:rPr>
              <a:t>自我反思机制</a:t>
            </a:r>
            <a:r>
              <a:rPr lang="zh-CN" altLang="en-US" sz="2800" dirty="0">
                <a:solidFill>
                  <a:schemeClr val="tx1"/>
                </a:solidFill>
              </a:rPr>
              <a:t>优化多智能体协作过程。</a:t>
            </a:r>
          </a:p>
        </p:txBody>
      </p:sp>
    </p:spTree>
    <p:extLst>
      <p:ext uri="{BB962C8B-B14F-4D97-AF65-F5344CB8AC3E}">
        <p14:creationId xmlns:p14="http://schemas.microsoft.com/office/powerpoint/2010/main" val="220747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1DF1C-5F61-2EBB-D8C7-AB408C02E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合作模式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ABD3E7-D4D4-774F-812D-0D5F9871B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8882"/>
            <a:ext cx="10601131" cy="4628081"/>
          </a:xfrm>
        </p:spPr>
        <p:txBody>
          <a:bodyPr/>
          <a:lstStyle/>
          <a:p>
            <a:r>
              <a:rPr lang="zh-CN" altLang="en-US" dirty="0"/>
              <a:t>师生合作模式和合作型辩论的合作模式：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智能体按照预先设定的顺序依次进行问题的回答，并通过共享消息池实现信息交流，均采用户安全匹配作为评价指标。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7B4FE19-CF04-4282-902C-1BD5EC33B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526" y="2992898"/>
            <a:ext cx="8622034" cy="339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416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9FF5E-BC7C-99FA-470D-19D8CCE8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案例分析</a:t>
            </a:r>
          </a:p>
        </p:txBody>
      </p:sp>
      <p:pic>
        <p:nvPicPr>
          <p:cNvPr id="5" name="内容占位符 4" descr="图形用户界面, 文本, 应用程序, Word&#10;&#10;AI 生成的内容可能不正确。">
            <a:extLst>
              <a:ext uri="{FF2B5EF4-FFF2-40B4-BE49-F238E27FC236}">
                <a16:creationId xmlns:a16="http://schemas.microsoft.com/office/drawing/2014/main" id="{46D2178C-A579-7666-4CB7-4FCB97D65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88669" y="1438183"/>
            <a:ext cx="8214661" cy="526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371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34E82-123E-07DC-E701-BC42917EC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方法介绍</a:t>
            </a:r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0B9665-D924-FCB2-96E1-0D0DB574D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238"/>
            <a:ext cx="10515600" cy="4702726"/>
          </a:xfrm>
        </p:spPr>
        <p:txBody>
          <a:bodyPr/>
          <a:lstStyle/>
          <a:p>
            <a:r>
              <a:rPr lang="zh-CN" altLang="en-US" dirty="0"/>
              <a:t>智能体决策过程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智能体反思过程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短时记忆更新过程</a:t>
            </a:r>
          </a:p>
        </p:txBody>
      </p:sp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C857B008-90F9-C102-B9BD-F9C0E2C09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861" y="1253331"/>
            <a:ext cx="6191716" cy="4351338"/>
          </a:xfrm>
          <a:prstGeom prst="rect">
            <a:avLst/>
          </a:prstGeom>
        </p:spPr>
      </p:pic>
      <p:pic>
        <p:nvPicPr>
          <p:cNvPr id="13" name="图片 12" descr="文本, 信件&#10;&#10;AI 生成的内容可能不正确。">
            <a:extLst>
              <a:ext uri="{FF2B5EF4-FFF2-40B4-BE49-F238E27FC236}">
                <a16:creationId xmlns:a16="http://schemas.microsoft.com/office/drawing/2014/main" id="{FBF11A9D-8D60-584E-39F9-B871AD023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51" y="2141474"/>
            <a:ext cx="4487421" cy="111783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F099AF1-D97E-617B-20CE-523D22328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89" y="4226621"/>
            <a:ext cx="4313145" cy="50551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1FE3247-B22A-EFFA-7EAD-6601311973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89" y="5699444"/>
            <a:ext cx="5782482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73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FF47C-D2A2-1D28-3EF1-BBC9D425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研究背景</a:t>
            </a:r>
            <a:r>
              <a:rPr lang="en-US" altLang="zh-CN" b="1" dirty="0"/>
              <a:t>2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2B3406-2C25-704D-D9FC-BF434A670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Retroformer</a:t>
            </a:r>
            <a:r>
              <a:rPr lang="zh-CN" altLang="en-US" dirty="0"/>
              <a:t>提出将开源的语言模型作为反思器，利用来自环境的数值反馈作为监督信号，在单智能体场景下对反思器进行微调。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C9830AC3-97EC-E6FA-6288-43638D37C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270" y="2846002"/>
            <a:ext cx="6913459" cy="346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7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EA8E3-E201-DADF-D69C-00B510A1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研究动机</a:t>
            </a:r>
            <a:r>
              <a:rPr lang="en-US" altLang="zh-CN" b="1" dirty="0"/>
              <a:t>2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92E9F4-D479-3273-07B7-BC30C73F4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386527" cy="4486275"/>
          </a:xfrm>
        </p:spPr>
        <p:txBody>
          <a:bodyPr/>
          <a:lstStyle/>
          <a:p>
            <a:r>
              <a:rPr lang="zh-CN" altLang="en-US" dirty="0"/>
              <a:t>扩展到多智能体场景下存在的问题：</a:t>
            </a:r>
          </a:p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只能对多个智能体反思带来的整体效果进行评价，而无法对单个智能体的反思进行打分</a:t>
            </a:r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在多智能体系统中，待微调的反思器数量会随环境中智能体的数量线性增长，这对实际场景下的应用提出了挑战。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07841F-81C1-6439-856D-1BA245FAA247}"/>
              </a:ext>
            </a:extLst>
          </p:cNvPr>
          <p:cNvSpPr/>
          <p:nvPr/>
        </p:nvSpPr>
        <p:spPr>
          <a:xfrm>
            <a:off x="838200" y="4254761"/>
            <a:ext cx="10515600" cy="19222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</a:rPr>
              <a:t>针对以上挑战，本文提出：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zh-CN" altLang="en-US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1. </a:t>
            </a:r>
            <a:r>
              <a:rPr lang="zh-CN" altLang="en-US" sz="2000" dirty="0">
                <a:solidFill>
                  <a:schemeClr val="tx1"/>
                </a:solidFill>
              </a:rPr>
              <a:t>构造</a:t>
            </a:r>
            <a:r>
              <a:rPr lang="zh-CN" altLang="en-US" sz="2000" b="1" dirty="0">
                <a:solidFill>
                  <a:schemeClr val="tx1"/>
                </a:solidFill>
              </a:rPr>
              <a:t>反事实奖励</a:t>
            </a:r>
            <a:r>
              <a:rPr lang="zh-CN" altLang="en-US" sz="2000" dirty="0">
                <a:solidFill>
                  <a:schemeClr val="tx1"/>
                </a:solidFill>
              </a:rPr>
              <a:t>对单个智能体的反思进行打分，以此作为反思器微调的监督信号。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zh-CN" altLang="en-US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2. </a:t>
            </a:r>
            <a:r>
              <a:rPr lang="zh-CN" altLang="en-US" sz="2000" dirty="0">
                <a:solidFill>
                  <a:schemeClr val="tx1"/>
                </a:solidFill>
              </a:rPr>
              <a:t>微调</a:t>
            </a:r>
            <a:r>
              <a:rPr lang="zh-CN" altLang="en-US" sz="2000" b="1" dirty="0">
                <a:solidFill>
                  <a:schemeClr val="tx1"/>
                </a:solidFill>
              </a:rPr>
              <a:t>共享反思器</a:t>
            </a:r>
            <a:r>
              <a:rPr lang="zh-CN" altLang="en-US" sz="2000" dirty="0">
                <a:solidFill>
                  <a:schemeClr val="tx1"/>
                </a:solidFill>
              </a:rPr>
              <a:t>，在保证个性化反思能力的同时，减少计算资源需求，增加训练稳定性。</a:t>
            </a:r>
          </a:p>
        </p:txBody>
      </p:sp>
    </p:spTree>
    <p:extLst>
      <p:ext uri="{BB962C8B-B14F-4D97-AF65-F5344CB8AC3E}">
        <p14:creationId xmlns:p14="http://schemas.microsoft.com/office/powerpoint/2010/main" val="2672660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6371A-CCC5-1BDA-0576-8F9699E0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方法介绍</a:t>
            </a:r>
            <a:r>
              <a:rPr lang="en-US" altLang="zh-CN" b="1" dirty="0"/>
              <a:t>2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B5B555-DC96-B09E-44A7-CE9A904BD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反事实奖励构造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共享反思器的训练数据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 descr="图形用户界面, 表格&#10;&#10;AI 生成的内容可能不正确。">
            <a:extLst>
              <a:ext uri="{FF2B5EF4-FFF2-40B4-BE49-F238E27FC236}">
                <a16:creationId xmlns:a16="http://schemas.microsoft.com/office/drawing/2014/main" id="{746F155C-44A3-CA80-2E8D-A1ECEC22D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736" y="1185738"/>
            <a:ext cx="4313147" cy="4343435"/>
          </a:xfrm>
          <a:prstGeom prst="rect">
            <a:avLst/>
          </a:prstGeom>
        </p:spPr>
      </p:pic>
      <p:pic>
        <p:nvPicPr>
          <p:cNvPr id="9" name="图片 8" descr="文本, 信件&#10;&#10;AI 生成的内容可能不正确。">
            <a:extLst>
              <a:ext uri="{FF2B5EF4-FFF2-40B4-BE49-F238E27FC236}">
                <a16:creationId xmlns:a16="http://schemas.microsoft.com/office/drawing/2014/main" id="{6DA2C119-674C-65DB-C390-8DE64799E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290" y="2246262"/>
            <a:ext cx="1866402" cy="23654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5D1B404-6527-9C3D-DC3D-A5FCE7B2F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529173"/>
            <a:ext cx="6830378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413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5F4E4-F992-B141-64B3-7406890B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方法介绍</a:t>
            </a:r>
            <a:r>
              <a:rPr lang="en-US" altLang="zh-CN" b="1" dirty="0"/>
              <a:t>3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3D48BA-876F-2CB5-BF1F-12D3B29B7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参考标准的</a:t>
            </a:r>
            <a:r>
              <a:rPr lang="en-US" altLang="zh-CN" dirty="0"/>
              <a:t>RLHF</a:t>
            </a:r>
            <a:r>
              <a:rPr lang="zh-CN" altLang="en-US" dirty="0"/>
              <a:t>流程进行共享反思器的微调：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监督微调过程：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训练反事实奖励模型：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近端策略优化：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57558E09-8718-6FB2-DF03-4D013610B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207" y="2677887"/>
            <a:ext cx="5706626" cy="8810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A93EEF2-11DB-9F2D-E635-D70B5C1BE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13" y="3839591"/>
            <a:ext cx="4772691" cy="571580"/>
          </a:xfrm>
          <a:prstGeom prst="rect">
            <a:avLst/>
          </a:prstGeom>
        </p:spPr>
      </p:pic>
      <p:pic>
        <p:nvPicPr>
          <p:cNvPr id="11" name="图片 10" descr="徽标&#10;&#10;AI 生成的内容可能不正确。">
            <a:extLst>
              <a:ext uri="{FF2B5EF4-FFF2-40B4-BE49-F238E27FC236}">
                <a16:creationId xmlns:a16="http://schemas.microsoft.com/office/drawing/2014/main" id="{7B0BC165-8043-FF0B-645B-DF01695A6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4644" y="4827277"/>
            <a:ext cx="7211431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09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3CD8F-4482-52E0-2538-EA2EAEB4E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数据集</a:t>
            </a:r>
          </a:p>
        </p:txBody>
      </p:sp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3D6614FA-7099-542B-4AFC-211BC0ECD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5779" y="1690688"/>
            <a:ext cx="10430069" cy="468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084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ED0F3-F1EA-9C4B-64BE-9A96783F0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基准模型</a:t>
            </a:r>
          </a:p>
        </p:txBody>
      </p:sp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78228B71-831F-9785-FB05-AD92E93AF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13406"/>
            <a:ext cx="10356979" cy="510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17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C0312-CC44-B514-3A8E-1B0CF7EF0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主要实验</a:t>
            </a:r>
          </a:p>
        </p:txBody>
      </p:sp>
      <p:pic>
        <p:nvPicPr>
          <p:cNvPr id="9" name="内容占位符 8" descr="图表, 折线图&#10;&#10;AI 生成的内容可能不正确。">
            <a:extLst>
              <a:ext uri="{FF2B5EF4-FFF2-40B4-BE49-F238E27FC236}">
                <a16:creationId xmlns:a16="http://schemas.microsoft.com/office/drawing/2014/main" id="{F21266B1-0054-10FF-C1EE-CA60895F7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14229"/>
            <a:ext cx="10515600" cy="312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97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8A10C-14E8-A975-D79E-3107F9AA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消融实验</a:t>
            </a:r>
          </a:p>
        </p:txBody>
      </p:sp>
      <p:pic>
        <p:nvPicPr>
          <p:cNvPr id="5" name="内容占位符 4" descr="图表, 折线图&#10;&#10;AI 生成的内容可能不正确。">
            <a:extLst>
              <a:ext uri="{FF2B5EF4-FFF2-40B4-BE49-F238E27FC236}">
                <a16:creationId xmlns:a16="http://schemas.microsoft.com/office/drawing/2014/main" id="{3196B62B-B94E-9742-46E6-5D876810E2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241978"/>
            <a:ext cx="10515600" cy="312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55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7BE5A-C802-8EE3-DD00-C160F1D0C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864A88-8529-D7DA-2E2F-7F3B8118A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本文深入研究了基于大语言模型的多智能体反思机制，并提出了一个即插即用的反思器</a:t>
            </a:r>
            <a:r>
              <a:rPr lang="en-US" altLang="zh-CN" dirty="0"/>
              <a:t>COPPER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为了缓解多智能体系统中的信用分配问题，本文提出构建反事实奖励，用来度量每个智能体反思对集体利益的贡献大小。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此外，本文还提出了反思器共享机制，将所有智能体的反思器进行统一，在减少计算资源需求的同时，使得训练更加鲁棒。</a:t>
            </a:r>
          </a:p>
        </p:txBody>
      </p:sp>
    </p:spTree>
    <p:extLst>
      <p:ext uri="{BB962C8B-B14F-4D97-AF65-F5344CB8AC3E}">
        <p14:creationId xmlns:p14="http://schemas.microsoft.com/office/powerpoint/2010/main" val="2621966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A7559-8C49-22F1-3DFA-AD46CAC97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algn="ctr"/>
            <a:r>
              <a:rPr lang="en-US" altLang="zh-CN" b="1" dirty="0"/>
              <a:t>Thank you for listening!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18031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587</Words>
  <Application>Microsoft Office PowerPoint</Application>
  <PresentationFormat>宽屏</PresentationFormat>
  <Paragraphs>81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等线 Light</vt:lpstr>
      <vt:lpstr>Arial</vt:lpstr>
      <vt:lpstr>Wingdings</vt:lpstr>
      <vt:lpstr>Office 主题​​</vt:lpstr>
      <vt:lpstr>Reflective Multi-Agent Collaboration based on Large Language Models</vt:lpstr>
      <vt:lpstr>大模型驱动的多智能体协作中的反思机制</vt:lpstr>
      <vt:lpstr>研究背景1</vt:lpstr>
      <vt:lpstr>研究动机1</vt:lpstr>
      <vt:lpstr>合作模式</vt:lpstr>
      <vt:lpstr>案例分析</vt:lpstr>
      <vt:lpstr>方法介绍1</vt:lpstr>
      <vt:lpstr>研究背景2</vt:lpstr>
      <vt:lpstr>研究动机2</vt:lpstr>
      <vt:lpstr>方法介绍2</vt:lpstr>
      <vt:lpstr>方法介绍3</vt:lpstr>
      <vt:lpstr>数据集</vt:lpstr>
      <vt:lpstr>基准模型</vt:lpstr>
      <vt:lpstr>主要实验</vt:lpstr>
      <vt:lpstr>消融实验</vt:lpstr>
      <vt:lpstr>总结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凯文 王</dc:creator>
  <cp:lastModifiedBy>凯文 王</cp:lastModifiedBy>
  <cp:revision>7</cp:revision>
  <dcterms:created xsi:type="dcterms:W3CDTF">2025-12-28T10:27:46Z</dcterms:created>
  <dcterms:modified xsi:type="dcterms:W3CDTF">2026-01-04T11:48:07Z</dcterms:modified>
</cp:coreProperties>
</file>