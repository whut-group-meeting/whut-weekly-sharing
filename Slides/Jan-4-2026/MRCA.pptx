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9"/>
  </p:notesMasterIdLst>
  <p:sldIdLst>
    <p:sldId id="317" r:id="rId2"/>
    <p:sldId id="261" r:id="rId3"/>
    <p:sldId id="287" r:id="rId4"/>
    <p:sldId id="262" r:id="rId5"/>
    <p:sldId id="319" r:id="rId6"/>
    <p:sldId id="327" r:id="rId7"/>
    <p:sldId id="320" r:id="rId8"/>
    <p:sldId id="321" r:id="rId9"/>
    <p:sldId id="323" r:id="rId10"/>
    <p:sldId id="322" r:id="rId11"/>
    <p:sldId id="324" r:id="rId12"/>
    <p:sldId id="328" r:id="rId13"/>
    <p:sldId id="329" r:id="rId14"/>
    <p:sldId id="330" r:id="rId15"/>
    <p:sldId id="325" r:id="rId16"/>
    <p:sldId id="326" r:id="rId17"/>
    <p:sldId id="316"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160" autoAdjust="0"/>
    <p:restoredTop sz="89766" autoAdjust="0"/>
  </p:normalViewPr>
  <p:slideViewPr>
    <p:cSldViewPr snapToGrid="0">
      <p:cViewPr varScale="1">
        <p:scale>
          <a:sx n="148" d="100"/>
          <a:sy n="148" d="100"/>
        </p:scale>
        <p:origin x="47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7D1BDD-2F86-4A15-997E-3530A21F45DD}" type="datetimeFigureOut">
              <a:rPr lang="zh-CN" altLang="en-US" smtClean="0"/>
              <a:t>2026/1/4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C1106B-E74A-40D0-89DA-4B97D19F2007}" type="slidenum">
              <a:rPr lang="zh-CN" altLang="en-US" smtClean="0"/>
              <a:t>‹#›</a:t>
            </a:fld>
            <a:endParaRPr lang="zh-CN" altLang="en-US"/>
          </a:p>
        </p:txBody>
      </p:sp>
    </p:spTree>
    <p:extLst>
      <p:ext uri="{BB962C8B-B14F-4D97-AF65-F5344CB8AC3E}">
        <p14:creationId xmlns:p14="http://schemas.microsoft.com/office/powerpoint/2010/main" val="207654959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76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276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FF77161D-F726-4F09-A214-150D4D3153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11C4144A-A2F0-4E06-BAA5-EC5CF11B6FC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多模态数据利用不足；当前的</a:t>
            </a:r>
            <a:r>
              <a:rPr lang="en-US" altLang="zh-CN" dirty="0"/>
              <a:t>RCA</a:t>
            </a:r>
            <a:r>
              <a:rPr lang="zh-CN" altLang="en-US" dirty="0"/>
              <a:t>方法忽视了异常检测的重要性；服务层面的粗粒度根本原因定位</a:t>
            </a:r>
          </a:p>
        </p:txBody>
      </p:sp>
      <p:sp>
        <p:nvSpPr>
          <p:cNvPr id="35844" name="灯片编号占位符 3">
            <a:extLst>
              <a:ext uri="{FF2B5EF4-FFF2-40B4-BE49-F238E27FC236}">
                <a16:creationId xmlns:a16="http://schemas.microsoft.com/office/drawing/2014/main" id="{9CD099AE-BF07-4C46-9801-B81CC4F3F28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8738531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0FB8D-3A20-6FFE-15CC-92AAFA147231}"/>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21DEDDA7-0A71-A5CF-D900-34317DF6B2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73162742-7A2C-7DF1-2B96-0D56042937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B48A197F-4EFE-0D05-E4D4-FD662083A73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032140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55D6A586-2420-4DA3-B020-5DF784EB299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CA64C8CB-2914-43BD-9747-02EFFCF7534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dirty="0"/>
              <a:t>VAE</a:t>
            </a:r>
            <a:r>
              <a:rPr lang="zh-CN" altLang="en-US" dirty="0"/>
              <a:t>包括编码器和解码器</a:t>
            </a:r>
            <a:endParaRPr lang="en-US" altLang="zh-CN" dirty="0"/>
          </a:p>
          <a:p>
            <a:pPr eaLnBrk="1" hangingPunct="1">
              <a:spcBef>
                <a:spcPct val="0"/>
              </a:spcBef>
            </a:pPr>
            <a:r>
              <a:rPr lang="zh-CN" altLang="en-US" dirty="0"/>
              <a:t>编码器将输入数据映射到潜在空间分布（通常是高斯分布），而解码器则将潜在空间点映射回原始数据。</a:t>
            </a:r>
            <a:endParaRPr lang="en-US" altLang="zh-CN" dirty="0"/>
          </a:p>
          <a:p>
            <a:pPr eaLnBrk="1" hangingPunct="1">
              <a:spcBef>
                <a:spcPct val="0"/>
              </a:spcBef>
            </a:pPr>
            <a:r>
              <a:rPr lang="zh-CN" altLang="en-US" dirty="0"/>
              <a:t>当系统正常运行时，我们利用历史数据的日志和痕迹来训练</a:t>
            </a:r>
            <a:r>
              <a:rPr lang="en-US" altLang="zh-CN" dirty="0"/>
              <a:t>VAE</a:t>
            </a:r>
            <a:r>
              <a:rPr lang="zh-CN" altLang="en-US" dirty="0"/>
              <a:t>模型，以获得方差和均值。然后在线阶段的数据输入</a:t>
            </a:r>
            <a:r>
              <a:rPr lang="en-US" altLang="zh-CN" dirty="0"/>
              <a:t>VAE</a:t>
            </a:r>
            <a:r>
              <a:rPr lang="zh-CN" altLang="en-US" dirty="0"/>
              <a:t>计算重建</a:t>
            </a:r>
            <a:r>
              <a:rPr lang="zh-CN" altLang="en-US"/>
              <a:t>误差。</a:t>
            </a:r>
            <a:r>
              <a:rPr lang="en-US" altLang="zh-CN"/>
              <a:t>+</a:t>
            </a:r>
            <a:endParaRPr lang="zh-CN" altLang="en-US" dirty="0"/>
          </a:p>
        </p:txBody>
      </p:sp>
      <p:sp>
        <p:nvSpPr>
          <p:cNvPr id="37892" name="灯片编号占位符 3">
            <a:extLst>
              <a:ext uri="{FF2B5EF4-FFF2-40B4-BE49-F238E27FC236}">
                <a16:creationId xmlns:a16="http://schemas.microsoft.com/office/drawing/2014/main" id="{B90EE796-BFE8-40EE-8395-1A332A5FFB2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660617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B2FF9-87F9-15EE-225E-42A6ADB0D30B}"/>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4B50B2FE-F56F-F23C-F83B-14D875F486C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6ADE6974-A324-444F-083A-C928CC36024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当系统正常运行时，根据时间窗口大小 </a:t>
            </a:r>
            <a:r>
              <a:rPr lang="en-US" altLang="zh-CN" dirty="0"/>
              <a:t>T</a:t>
            </a:r>
            <a:r>
              <a:rPr lang="zh-CN" altLang="en-US" dirty="0"/>
              <a:t>，这些数据被输入</a:t>
            </a:r>
            <a:r>
              <a:rPr lang="en-US" altLang="zh-CN" dirty="0"/>
              <a:t>VAE</a:t>
            </a:r>
            <a:r>
              <a:rPr lang="zh-CN" altLang="en-US" dirty="0"/>
              <a:t>模型进行训练。</a:t>
            </a:r>
            <a:endParaRPr lang="en-US" altLang="zh-CN" dirty="0"/>
          </a:p>
          <a:p>
            <a:pPr eaLnBrk="1" hangingPunct="1">
              <a:spcBef>
                <a:spcPct val="0"/>
              </a:spcBef>
            </a:pPr>
            <a:r>
              <a:rPr lang="zh-CN" altLang="en-US" dirty="0"/>
              <a:t>当异常发生时，数据分布会发生显著变化。一旦发生异常，由于异常数据与正常数据的差异，</a:t>
            </a:r>
            <a:r>
              <a:rPr lang="en-US" altLang="zh-CN" dirty="0"/>
              <a:t>VAE</a:t>
            </a:r>
            <a:r>
              <a:rPr lang="zh-CN" altLang="en-US" dirty="0"/>
              <a:t>很难重建异常数据，这意味着重建概率显著降低。</a:t>
            </a:r>
            <a:endParaRPr lang="en-US" altLang="zh-CN" dirty="0"/>
          </a:p>
          <a:p>
            <a:pPr eaLnBrk="1" hangingPunct="1">
              <a:spcBef>
                <a:spcPct val="0"/>
              </a:spcBef>
            </a:pPr>
            <a:r>
              <a:rPr lang="zh-CN" altLang="en-US" dirty="0"/>
              <a:t>需要为重建概率设定一个阈值</a:t>
            </a:r>
            <a:r>
              <a:rPr lang="en-US" altLang="zh-CN" dirty="0"/>
              <a:t>ε</a:t>
            </a:r>
            <a:r>
              <a:rPr lang="zh-CN" altLang="en-US" dirty="0"/>
              <a:t>。当任意服务的重建概率低于该阈值时，系统将生成异常警报</a:t>
            </a:r>
            <a:br>
              <a:rPr lang="en-US" altLang="zh-CN" dirty="0"/>
            </a:br>
            <a:endParaRPr lang="zh-CN" altLang="en-US" dirty="0"/>
          </a:p>
        </p:txBody>
      </p:sp>
      <p:sp>
        <p:nvSpPr>
          <p:cNvPr id="37892" name="灯片编号占位符 3">
            <a:extLst>
              <a:ext uri="{FF2B5EF4-FFF2-40B4-BE49-F238E27FC236}">
                <a16:creationId xmlns:a16="http://schemas.microsoft.com/office/drawing/2014/main" id="{65D2D8E0-4FB8-B89E-C98B-33CBEF59A0D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403001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56354-4CE1-394F-9172-DA5B43739AD0}"/>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CCDC9CFF-4855-03C7-5DB7-185937872F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8F106011-B87A-3E27-1E65-BB8D41419C5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下一步是获取不同服务的重建概率，可以对异常服务进行排名。重建概率越低，异常分数越高</a:t>
            </a:r>
            <a:endParaRPr lang="en-US" altLang="zh-CN" dirty="0"/>
          </a:p>
          <a:p>
            <a:pPr eaLnBrk="1" hangingPunct="1">
              <a:spcBef>
                <a:spcPct val="0"/>
              </a:spcBef>
            </a:pPr>
            <a:r>
              <a:rPr lang="zh-CN" altLang="en-US" dirty="0"/>
              <a:t>同时，我们可以引入注意力机制，增强</a:t>
            </a:r>
            <a:r>
              <a:rPr lang="en-US" altLang="zh-CN" dirty="0"/>
              <a:t>VAE</a:t>
            </a:r>
            <a:r>
              <a:rPr lang="zh-CN" altLang="en-US" dirty="0"/>
              <a:t>模型的特异模式识别能力。</a:t>
            </a:r>
            <a:endParaRPr lang="en-US" altLang="zh-CN" dirty="0"/>
          </a:p>
          <a:p>
            <a:pPr eaLnBrk="1" hangingPunct="1">
              <a:spcBef>
                <a:spcPct val="0"/>
              </a:spcBef>
            </a:pPr>
            <a:r>
              <a:rPr lang="zh-CN" altLang="en-US" dirty="0"/>
              <a:t>例如，当异常发生时，模型可以特别关注那些在正常模式下从未出现过的日志模板，或者那些在正常模式下通常频繁出现但突然显著减少的日志模板。</a:t>
            </a:r>
            <a:endParaRPr lang="en-US" altLang="zh-CN" dirty="0"/>
          </a:p>
          <a:p>
            <a:pPr eaLnBrk="1" hangingPunct="1">
              <a:spcBef>
                <a:spcPct val="0"/>
              </a:spcBef>
            </a:pPr>
            <a:r>
              <a:rPr lang="zh-CN" altLang="en-US" dirty="0"/>
              <a:t>此外，我们将从列表中移除重建概率高于</a:t>
            </a:r>
            <a:r>
              <a:rPr lang="en-US" altLang="zh-CN" dirty="0"/>
              <a:t>ξ</a:t>
            </a:r>
            <a:r>
              <a:rPr lang="zh-CN" altLang="en-US" dirty="0"/>
              <a:t>的正常服务</a:t>
            </a:r>
          </a:p>
        </p:txBody>
      </p:sp>
      <p:sp>
        <p:nvSpPr>
          <p:cNvPr id="37892" name="灯片编号占位符 3">
            <a:extLst>
              <a:ext uri="{FF2B5EF4-FFF2-40B4-BE49-F238E27FC236}">
                <a16:creationId xmlns:a16="http://schemas.microsoft.com/office/drawing/2014/main" id="{20135E3E-AD4C-EA6A-4C3D-FECFB35AE8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993087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A9BD3-9F86-1BC8-18E9-8516FCBBF81B}"/>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D2469867-F299-DA6D-2A6A-72376C3F9F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02CD40E1-7695-ADF6-5B70-2B63EEE875D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通过数据分析揭示因果关系</a:t>
            </a:r>
            <a:endParaRPr lang="en-US" altLang="zh-CN" dirty="0"/>
          </a:p>
          <a:p>
            <a:pPr eaLnBrk="1" hangingPunct="1">
              <a:spcBef>
                <a:spcPct val="0"/>
              </a:spcBef>
            </a:pPr>
            <a:r>
              <a:rPr lang="zh-CN" altLang="en-US" dirty="0"/>
              <a:t>本文采用</a:t>
            </a:r>
            <a:r>
              <a:rPr lang="en-US" altLang="zh-CN" dirty="0"/>
              <a:t>Granger</a:t>
            </a:r>
            <a:r>
              <a:rPr lang="zh-CN" altLang="en-US" dirty="0"/>
              <a:t>算法进行因果分析，因为它能通过统计检验准确确定时间序列间的因果关系。</a:t>
            </a:r>
            <a:endParaRPr lang="en-US" altLang="zh-CN" dirty="0"/>
          </a:p>
          <a:p>
            <a:pPr eaLnBrk="1" hangingPunct="1">
              <a:spcBef>
                <a:spcPct val="0"/>
              </a:spcBef>
            </a:pPr>
            <a:r>
              <a:rPr lang="zh-CN" altLang="en-US" dirty="0"/>
              <a:t>格兰杰的核心原则是，如果过去的时间序列</a:t>
            </a:r>
            <a:r>
              <a:rPr lang="en-US" altLang="zh-CN" dirty="0"/>
              <a:t>X</a:t>
            </a:r>
            <a:r>
              <a:rPr lang="zh-CN" altLang="en-US" dirty="0"/>
              <a:t>值显著提升了当前时间序列</a:t>
            </a:r>
            <a:r>
              <a:rPr lang="en-US" altLang="zh-CN" dirty="0" err="1"/>
              <a:t>Yt</a:t>
            </a:r>
            <a:r>
              <a:rPr lang="zh-CN" altLang="en-US" dirty="0"/>
              <a:t>值的预测，则</a:t>
            </a:r>
            <a:r>
              <a:rPr lang="en-US" altLang="zh-CN" dirty="0" err="1"/>
              <a:t>Xt</a:t>
            </a:r>
            <a:r>
              <a:rPr lang="zh-CN" altLang="en-US" dirty="0"/>
              <a:t>会导致</a:t>
            </a:r>
            <a:r>
              <a:rPr lang="en-US" altLang="zh-CN" dirty="0" err="1"/>
              <a:t>Yt</a:t>
            </a:r>
            <a:r>
              <a:rPr lang="zh-CN" altLang="en-US" dirty="0"/>
              <a:t>。</a:t>
            </a:r>
          </a:p>
        </p:txBody>
      </p:sp>
      <p:sp>
        <p:nvSpPr>
          <p:cNvPr id="37892" name="灯片编号占位符 3">
            <a:extLst>
              <a:ext uri="{FF2B5EF4-FFF2-40B4-BE49-F238E27FC236}">
                <a16:creationId xmlns:a16="http://schemas.microsoft.com/office/drawing/2014/main" id="{2EA17EC5-9F44-D0BD-97C6-AE3DB7212AC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217154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D8D7C-47A6-975A-4169-95DB17A8E6B2}"/>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786566F2-09F3-30A9-41A7-E47C194C1D4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FF31FE40-1DF4-31FE-1674-3F7E006D7F2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a:p>
            <a:pPr eaLnBrk="1" hangingPunct="1">
              <a:spcBef>
                <a:spcPct val="0"/>
              </a:spcBef>
            </a:pPr>
            <a:r>
              <a:rPr lang="zh-CN" altLang="en-US" dirty="0"/>
              <a:t>我们可以从</a:t>
            </a:r>
            <a:r>
              <a:rPr lang="en-US" altLang="zh-CN" dirty="0"/>
              <a:t>F</a:t>
            </a:r>
            <a:r>
              <a:rPr lang="zh-CN" altLang="en-US" dirty="0"/>
              <a:t>分布估计原假设的概率，如果概率低于显著水平</a:t>
            </a:r>
            <a:r>
              <a:rPr lang="en-US" altLang="zh-CN" dirty="0"/>
              <a:t>γ</a:t>
            </a:r>
            <a:r>
              <a:rPr lang="zh-CN" altLang="en-US" dirty="0"/>
              <a:t>，则表明从</a:t>
            </a:r>
            <a:r>
              <a:rPr lang="en-US" altLang="zh-CN" dirty="0" err="1"/>
              <a:t>xt</a:t>
            </a:r>
            <a:r>
              <a:rPr lang="zh-CN" altLang="en-US" dirty="0"/>
              <a:t>到</a:t>
            </a:r>
            <a:r>
              <a:rPr lang="en-US" altLang="zh-CN" dirty="0" err="1"/>
              <a:t>yt</a:t>
            </a:r>
            <a:r>
              <a:rPr lang="zh-CN" altLang="en-US" dirty="0"/>
              <a:t>存在</a:t>
            </a:r>
            <a:r>
              <a:rPr lang="en-US" altLang="zh-CN" dirty="0"/>
              <a:t>Granger</a:t>
            </a:r>
            <a:r>
              <a:rPr lang="zh-CN" altLang="en-US" dirty="0"/>
              <a:t>因果关系。</a:t>
            </a:r>
          </a:p>
        </p:txBody>
      </p:sp>
      <p:sp>
        <p:nvSpPr>
          <p:cNvPr id="37892" name="灯片编号占位符 3">
            <a:extLst>
              <a:ext uri="{FF2B5EF4-FFF2-40B4-BE49-F238E27FC236}">
                <a16:creationId xmlns:a16="http://schemas.microsoft.com/office/drawing/2014/main" id="{3D20ECE0-C5EE-09CC-20D9-39E7A5C3B0B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40656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58BC7-6B63-5A67-75D4-0BD6EF70B477}"/>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C86935B3-CCCB-9A02-021A-E3D2DF0B8A0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4FD01C9A-3263-2BAE-7EBD-914013ED5B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马尔可夫决策过程（</a:t>
            </a:r>
            <a:r>
              <a:rPr lang="en-US" altLang="zh-CN" dirty="0"/>
              <a:t>MDP</a:t>
            </a:r>
            <a:r>
              <a:rPr lang="zh-CN" altLang="en-US" dirty="0"/>
              <a:t>）</a:t>
            </a:r>
            <a:r>
              <a:rPr lang="en-US" altLang="zh-CN" dirty="0"/>
              <a:t>[17]</a:t>
            </a:r>
            <a:r>
              <a:rPr lang="zh-CN" altLang="en-US" dirty="0"/>
              <a:t>：在展开因果图时，在任何给定时刻，行为对环境的影响仅与当前状态相关，且与之前状态无关。</a:t>
            </a:r>
            <a:endParaRPr lang="en-US" altLang="zh-CN" dirty="0"/>
          </a:p>
          <a:p>
            <a:pPr eaLnBrk="1" hangingPunct="1">
              <a:spcBef>
                <a:spcPct val="0"/>
              </a:spcBef>
            </a:pPr>
            <a:r>
              <a:rPr lang="zh-CN" altLang="en-US" dirty="0"/>
              <a:t>包含当前因果图的节点数、边、层数和服务数。</a:t>
            </a:r>
            <a:endParaRPr lang="en-US" altLang="zh-CN" dirty="0"/>
          </a:p>
          <a:p>
            <a:pPr eaLnBrk="1" hangingPunct="1">
              <a:spcBef>
                <a:spcPct val="0"/>
              </a:spcBef>
            </a:pPr>
            <a:r>
              <a:rPr lang="zh-CN" altLang="en-US" dirty="0"/>
              <a:t>行为，前 </a:t>
            </a:r>
            <a:r>
              <a:rPr lang="en-US" altLang="zh-CN" dirty="0"/>
              <a:t>m </a:t>
            </a:r>
            <a:r>
              <a:rPr lang="zh-CN" altLang="en-US" dirty="0"/>
              <a:t>个动作 </a:t>
            </a:r>
            <a:r>
              <a:rPr lang="en-US" altLang="zh-CN" dirty="0"/>
              <a:t>ai </a:t>
            </a:r>
            <a:r>
              <a:rPr lang="zh-CN" altLang="en-US" dirty="0"/>
              <a:t>表示当前节点作时第 </a:t>
            </a:r>
            <a:r>
              <a:rPr lang="en-US" altLang="zh-CN" dirty="0" err="1"/>
              <a:t>i</a:t>
            </a:r>
            <a:r>
              <a:rPr lang="en-US" altLang="zh-CN" dirty="0"/>
              <a:t> </a:t>
            </a:r>
            <a:r>
              <a:rPr lang="zh-CN" altLang="en-US" dirty="0"/>
              <a:t>个节点的扩展。最后一个是停止扩展</a:t>
            </a:r>
            <a:endParaRPr lang="en-US" altLang="zh-CN" dirty="0"/>
          </a:p>
          <a:p>
            <a:pPr eaLnBrk="1" hangingPunct="1">
              <a:spcBef>
                <a:spcPct val="0"/>
              </a:spcBef>
            </a:pPr>
            <a:r>
              <a:rPr lang="zh-CN" altLang="en-US" dirty="0"/>
              <a:t>奖励机制：一个是图的复杂度，另一个是</a:t>
            </a:r>
            <a:r>
              <a:rPr lang="en-US" altLang="zh-CN" dirty="0"/>
              <a:t>RCA</a:t>
            </a:r>
            <a:r>
              <a:rPr lang="zh-CN" altLang="en-US" dirty="0"/>
              <a:t>的准确性</a:t>
            </a:r>
          </a:p>
        </p:txBody>
      </p:sp>
      <p:sp>
        <p:nvSpPr>
          <p:cNvPr id="37892" name="灯片编号占位符 3">
            <a:extLst>
              <a:ext uri="{FF2B5EF4-FFF2-40B4-BE49-F238E27FC236}">
                <a16:creationId xmlns:a16="http://schemas.microsoft.com/office/drawing/2014/main" id="{B6CF418D-2DA4-83B3-5701-32A2277B81E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9722557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CAFC7-936C-93B4-C260-5A153863922D}"/>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DAA5025B-9872-54CB-D44C-188C1AC9C6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887B5406-085B-2D45-511F-5BBF8A6913D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C2DBD308-8819-097F-0F84-32F5DDDCDDA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46006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FC866-8667-EF5F-EE75-CBD781DDB635}"/>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34983095-3CBE-FCFC-C87A-E6EBB8494B0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4E3BA4B9-F0F1-1860-BCA3-D6D5BCC5F26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获得因果图后，我们可以通过分析节点间的关系来进行剪枝。在涉及时间关系的因果图中，因果事件必须发生在结果事件之前。</a:t>
            </a:r>
            <a:endParaRPr lang="en-US" altLang="zh-CN" dirty="0"/>
          </a:p>
          <a:p>
            <a:pPr eaLnBrk="1" hangingPunct="1">
              <a:spcBef>
                <a:spcPct val="0"/>
              </a:spcBef>
            </a:pPr>
            <a:endParaRPr lang="en-US" altLang="zh-CN" dirty="0"/>
          </a:p>
          <a:p>
            <a:pPr eaLnBrk="1" hangingPunct="1">
              <a:spcBef>
                <a:spcPct val="0"/>
              </a:spcBef>
            </a:pPr>
            <a:r>
              <a:rPr lang="zh-CN" altLang="en-US" dirty="0"/>
              <a:t>因此，我们可以通过移除因果图中父节点，只留下根节点和孤立节点，来识别可能导致异常的根服务。</a:t>
            </a:r>
            <a:endParaRPr lang="en-US" altLang="zh-CN" dirty="0"/>
          </a:p>
          <a:p>
            <a:pPr eaLnBrk="1" hangingPunct="1">
              <a:spcBef>
                <a:spcPct val="0"/>
              </a:spcBef>
            </a:pPr>
            <a:endParaRPr lang="en-US" altLang="zh-CN" dirty="0"/>
          </a:p>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01A6F4AA-9E47-055E-D816-BDE28059883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0261755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896BD-3B86-CE73-5CFB-086F0C30B93D}"/>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D8B9D816-DE35-2535-9FB3-AC3810B3E09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38A68C3A-0DCB-967C-3D8C-04734E0A35D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dirty="0"/>
              <a:t>RQ1</a:t>
            </a:r>
            <a:r>
              <a:rPr lang="zh-CN" altLang="en-US" dirty="0"/>
              <a:t>：多模态数据对异常检测有多大益处？</a:t>
            </a:r>
            <a:endParaRPr lang="en-US" altLang="zh-CN" dirty="0"/>
          </a:p>
          <a:p>
            <a:pPr eaLnBrk="1" hangingPunct="1">
              <a:spcBef>
                <a:spcPct val="0"/>
              </a:spcBef>
            </a:pPr>
            <a:r>
              <a:rPr lang="en-US" altLang="zh-CN" dirty="0"/>
              <a:t>RQ2</a:t>
            </a:r>
            <a:r>
              <a:rPr lang="zh-CN" altLang="en-US" dirty="0"/>
              <a:t>：</a:t>
            </a:r>
            <a:r>
              <a:rPr lang="en-US" altLang="zh-CN" dirty="0"/>
              <a:t>MRCA</a:t>
            </a:r>
            <a:r>
              <a:rPr lang="zh-CN" altLang="en-US" dirty="0"/>
              <a:t>在指标级和服务级表现如何？</a:t>
            </a:r>
            <a:endParaRPr lang="en-US" altLang="zh-CN" dirty="0"/>
          </a:p>
          <a:p>
            <a:pPr eaLnBrk="1" hangingPunct="1">
              <a:spcBef>
                <a:spcPct val="0"/>
              </a:spcBef>
            </a:pPr>
            <a:r>
              <a:rPr lang="en-US" altLang="zh-CN" dirty="0"/>
              <a:t>RQ3</a:t>
            </a:r>
            <a:r>
              <a:rPr lang="zh-CN" altLang="en-US" dirty="0"/>
              <a:t>：不同的数据源和剪枝模块对</a:t>
            </a:r>
            <a:r>
              <a:rPr lang="en-US" altLang="zh-CN" dirty="0"/>
              <a:t>RCA</a:t>
            </a:r>
            <a:r>
              <a:rPr lang="zh-CN" altLang="en-US" dirty="0"/>
              <a:t>贡献有多大？</a:t>
            </a:r>
            <a:endParaRPr lang="en-US" altLang="zh-CN" dirty="0"/>
          </a:p>
          <a:p>
            <a:pPr eaLnBrk="1" hangingPunct="1">
              <a:spcBef>
                <a:spcPct val="0"/>
              </a:spcBef>
            </a:pPr>
            <a:r>
              <a:rPr lang="en-US" altLang="zh-CN" dirty="0"/>
              <a:t>RQ4</a:t>
            </a:r>
            <a:r>
              <a:rPr lang="zh-CN" altLang="en-US" dirty="0"/>
              <a:t>：</a:t>
            </a:r>
            <a:r>
              <a:rPr lang="en-US" altLang="zh-CN" dirty="0"/>
              <a:t>MRCA</a:t>
            </a:r>
            <a:r>
              <a:rPr lang="zh-CN" altLang="en-US" dirty="0"/>
              <a:t>的剪枝模块能否降低</a:t>
            </a:r>
            <a:r>
              <a:rPr lang="en-US" altLang="zh-CN" dirty="0"/>
              <a:t>RCA</a:t>
            </a:r>
            <a:r>
              <a:rPr lang="zh-CN" altLang="en-US" dirty="0"/>
              <a:t>的时间成本？</a:t>
            </a:r>
          </a:p>
        </p:txBody>
      </p:sp>
      <p:sp>
        <p:nvSpPr>
          <p:cNvPr id="37892" name="灯片编号占位符 3">
            <a:extLst>
              <a:ext uri="{FF2B5EF4-FFF2-40B4-BE49-F238E27FC236}">
                <a16:creationId xmlns:a16="http://schemas.microsoft.com/office/drawing/2014/main" id="{9ED1E8CD-9000-A5FB-F3A4-1E57AE2AF83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787010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292DF-EB9B-FD82-AD23-FCAD314C5B05}"/>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1AB8E1E6-36D1-899B-0C41-75B3A0FA3A0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9B041EA7-C38D-20CC-6B0D-66E2D6BD0E9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lang="en-US" altLang="zh-CN" dirty="0"/>
              <a:t>RQ1</a:t>
            </a:r>
            <a:r>
              <a:rPr lang="zh-CN" altLang="en-US" dirty="0"/>
              <a:t>：多模态数据对异常检测有多大益处？</a:t>
            </a:r>
            <a:endParaRPr lang="en-US" altLang="zh-CN" dirty="0"/>
          </a:p>
          <a:p>
            <a:pPr eaLnBrk="1" hangingPunct="1">
              <a:spcBef>
                <a:spcPct val="0"/>
              </a:spcBef>
            </a:pPr>
            <a:r>
              <a:rPr lang="zh-CN" altLang="en-US" dirty="0"/>
              <a:t>它提出了一种动态因果分析方法，不依赖预设拓扑，能够快速识别云服务中的问题服务。</a:t>
            </a:r>
            <a:endParaRPr lang="en-US" altLang="zh-CN" dirty="0"/>
          </a:p>
          <a:p>
            <a:pPr eaLnBrk="1" hangingPunct="1">
              <a:spcBef>
                <a:spcPct val="0"/>
              </a:spcBef>
            </a:pPr>
            <a:r>
              <a:rPr lang="zh-CN" altLang="en-US" dirty="0"/>
              <a:t>它结合了路径条件时间序列算法和时间因果导向随机漫步方法</a:t>
            </a:r>
            <a:endParaRPr lang="en-US" altLang="zh-CN" dirty="0"/>
          </a:p>
          <a:p>
            <a:pPr eaLnBrk="1" hangingPunct="1">
              <a:spcBef>
                <a:spcPct val="0"/>
              </a:spcBef>
            </a:pPr>
            <a:r>
              <a:rPr lang="zh-CN" altLang="en-US" dirty="0"/>
              <a:t>它利用强化学习制定服务依赖图的剪枝策略</a:t>
            </a:r>
            <a:endParaRPr lang="en-US" altLang="zh-CN" dirty="0"/>
          </a:p>
          <a:p>
            <a:pPr eaLnBrk="1" hangingPunct="1">
              <a:spcBef>
                <a:spcPct val="0"/>
              </a:spcBef>
            </a:pPr>
            <a:r>
              <a:rPr lang="zh-CN" altLang="en-US" dirty="0"/>
              <a:t>它通过分析事件模式并对比正常与故障作阶段，应用多模态数据以精准定位根本原因。</a:t>
            </a:r>
            <a:endParaRPr lang="en-US" altLang="zh-CN" dirty="0"/>
          </a:p>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9870F209-3EA4-C950-6BE7-8B4547651ED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8566597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B1F6-A66A-50BB-442F-CA6CCCA2B2EA}"/>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59292D85-EEDF-B924-C256-EAC3C8E3F0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12E7168A-55AB-62B3-8841-8D2A81C3321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lang="en-US" altLang="zh-CN" dirty="0"/>
              <a:t>RQ2</a:t>
            </a:r>
            <a:r>
              <a:rPr lang="zh-CN" altLang="en-US" dirty="0"/>
              <a:t>：</a:t>
            </a:r>
            <a:r>
              <a:rPr lang="en-US" altLang="zh-CN" dirty="0"/>
              <a:t>MRCA</a:t>
            </a:r>
            <a:r>
              <a:rPr lang="zh-CN" altLang="en-US" dirty="0"/>
              <a:t>在指标级和服务级表现如何？</a:t>
            </a:r>
            <a:endParaRPr lang="en-US" altLang="zh-CN" dirty="0"/>
          </a:p>
          <a:p>
            <a:pPr eaLnBrk="1" hangingPunct="1">
              <a:spcBef>
                <a:spcPct val="0"/>
              </a:spcBef>
            </a:pPr>
            <a:r>
              <a:rPr lang="zh-CN" altLang="en-US" dirty="0"/>
              <a:t>移除日志建模模块</a:t>
            </a:r>
            <a:endParaRPr lang="en-US" altLang="zh-CN" dirty="0"/>
          </a:p>
          <a:p>
            <a:pPr eaLnBrk="1" hangingPunct="1">
              <a:spcBef>
                <a:spcPct val="0"/>
              </a:spcBef>
            </a:pPr>
            <a:r>
              <a:rPr lang="zh-CN" altLang="en-US" dirty="0"/>
              <a:t>移除链路建模</a:t>
            </a:r>
            <a:endParaRPr lang="en-US" altLang="zh-CN" dirty="0"/>
          </a:p>
          <a:p>
            <a:pPr eaLnBrk="1" hangingPunct="1">
              <a:spcBef>
                <a:spcPct val="0"/>
              </a:spcBef>
            </a:pPr>
            <a:r>
              <a:rPr lang="zh-CN" altLang="en-US" dirty="0"/>
              <a:t>移除注意力机制</a:t>
            </a:r>
            <a:endParaRPr lang="en-US" altLang="zh-CN" dirty="0"/>
          </a:p>
          <a:p>
            <a:pPr eaLnBrk="1" hangingPunct="1">
              <a:spcBef>
                <a:spcPct val="0"/>
              </a:spcBef>
            </a:pPr>
            <a:r>
              <a:rPr lang="zh-CN" altLang="en-US" dirty="0"/>
              <a:t>把注意力从日志转移到链路</a:t>
            </a:r>
          </a:p>
        </p:txBody>
      </p:sp>
      <p:sp>
        <p:nvSpPr>
          <p:cNvPr id="37892" name="灯片编号占位符 3">
            <a:extLst>
              <a:ext uri="{FF2B5EF4-FFF2-40B4-BE49-F238E27FC236}">
                <a16:creationId xmlns:a16="http://schemas.microsoft.com/office/drawing/2014/main" id="{D7BF1894-5905-A448-0367-860FA604878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0790188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DFD86-BC02-F84F-547F-95AF20E8E778}"/>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EBE15EB3-4D57-D99C-57E0-3F475F42432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04DFD680-C3F4-1962-B036-C5D3FC38FF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lang="en-US" altLang="zh-CN" dirty="0"/>
              <a:t>RQ3</a:t>
            </a:r>
            <a:r>
              <a:rPr lang="zh-CN" altLang="en-US" dirty="0"/>
              <a:t>：不同的数据源和剪枝模块对</a:t>
            </a:r>
            <a:r>
              <a:rPr lang="en-US" altLang="zh-CN" dirty="0"/>
              <a:t>RCA</a:t>
            </a:r>
            <a:r>
              <a:rPr lang="zh-CN" altLang="en-US" dirty="0"/>
              <a:t>贡献有多大？</a:t>
            </a:r>
            <a:endParaRPr lang="en-US" altLang="zh-CN" dirty="0"/>
          </a:p>
          <a:p>
            <a:pPr eaLnBrk="1" hangingPunct="1">
              <a:spcBef>
                <a:spcPct val="0"/>
              </a:spcBef>
            </a:pPr>
            <a:r>
              <a:rPr lang="zh-CN" altLang="en-US" dirty="0"/>
              <a:t>它引入了一个小窗口长尾延迟的网络服务延迟问题，并提出了一种成本效益高的无监督算法，通过统计检验比较跨多个指标的时间序列数据来检测根本原因。</a:t>
            </a:r>
          </a:p>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71B7AC6A-0782-C597-091F-FFFAACE64F0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886671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6CC1B-5C44-46BA-A148-B9700CA857B5}"/>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F064A95B-5A63-2C9C-B548-226D1F7E25F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C1BC3569-31C0-4703-2AA2-407F6C46266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lang="en-US" altLang="zh-CN" dirty="0"/>
              <a:t>RQ4</a:t>
            </a:r>
            <a:r>
              <a:rPr lang="zh-CN" altLang="en-US" dirty="0"/>
              <a:t>：</a:t>
            </a:r>
            <a:r>
              <a:rPr lang="en-US" altLang="zh-CN" dirty="0"/>
              <a:t>MRCA</a:t>
            </a:r>
            <a:r>
              <a:rPr lang="zh-CN" altLang="en-US" dirty="0"/>
              <a:t>的剪枝模块能否降低</a:t>
            </a:r>
            <a:r>
              <a:rPr lang="en-US" altLang="zh-CN" dirty="0"/>
              <a:t>RCA</a:t>
            </a:r>
            <a:r>
              <a:rPr lang="zh-CN" altLang="en-US" dirty="0"/>
              <a:t>的时间成本？</a:t>
            </a:r>
          </a:p>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6A99D5C5-A08A-383A-1DAE-9CF0DDFAD5E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2308443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49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849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29</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spTree>
      <p:nvGrpSpPr>
        <p:cNvPr id="1" name=""/>
        <p:cNvGrpSpPr/>
        <p:nvPr/>
      </p:nvGrpSpPr>
      <p:grpSpPr>
        <a:xfrm>
          <a:off x="0" y="0"/>
          <a:ext cx="0" cy="0"/>
          <a:chOff x="0" y="0"/>
          <a:chExt cx="0" cy="0"/>
        </a:xfrm>
      </p:grpSpPr>
      <p:pic>
        <p:nvPicPr>
          <p:cNvPr id="4" name="图片 1">
            <a:extLst>
              <a:ext uri="{FF2B5EF4-FFF2-40B4-BE49-F238E27FC236}">
                <a16:creationId xmlns:a16="http://schemas.microsoft.com/office/drawing/2014/main" id="{08B5DF1E-CA87-4F2D-A7E9-75739DFD5F8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1619"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Text Placeholder 2"/>
          <p:cNvSpPr>
            <a:spLocks noGrp="1"/>
          </p:cNvSpPr>
          <p:nvPr>
            <p:ph type="subTitle" idx="1"/>
          </p:nvPr>
        </p:nvSpPr>
        <p:spPr>
          <a:xfrm>
            <a:off x="3452812" y="2878932"/>
            <a:ext cx="2947988" cy="273844"/>
          </a:xfrm>
          <a:prstGeom prst="rect">
            <a:avLst/>
          </a:prstGeom>
          <a:noFill/>
          <a:ln w="9525">
            <a:noFill/>
            <a:miter/>
          </a:ln>
        </p:spPr>
        <p:txBody>
          <a:bodyPr anchor="t"/>
          <a:lstStyle>
            <a:lvl1pPr marL="64294" lvl="0" indent="-64294" algn="ctr">
              <a:buNone/>
              <a:defRPr sz="1350" kern="1200">
                <a:solidFill>
                  <a:srgbClr val="6C6F72"/>
                </a:solidFill>
              </a:defRPr>
            </a:lvl1pPr>
            <a:lvl2pPr marL="0" lvl="1" indent="0" algn="ctr">
              <a:buNone/>
              <a:defRPr sz="1350" kern="1200">
                <a:solidFill>
                  <a:srgbClr val="6C6F72"/>
                </a:solidFill>
              </a:defRPr>
            </a:lvl2pPr>
            <a:lvl3pPr marL="685800" lvl="2" indent="-685800" algn="ctr">
              <a:buNone/>
              <a:defRPr sz="1350" kern="1200">
                <a:solidFill>
                  <a:srgbClr val="6C6F72"/>
                </a:solidFill>
              </a:defRPr>
            </a:lvl3pPr>
            <a:lvl4pPr marL="1028700" lvl="3" indent="-1028700" algn="ctr">
              <a:buNone/>
              <a:defRPr sz="1350" kern="1200">
                <a:solidFill>
                  <a:srgbClr val="6C6F72"/>
                </a:solidFill>
              </a:defRPr>
            </a:lvl4pPr>
            <a:lvl5pPr marL="1371600" lvl="4" indent="-1371600" algn="ctr">
              <a:buNone/>
              <a:defRPr sz="1350" kern="1200">
                <a:solidFill>
                  <a:srgbClr val="6C6F72"/>
                </a:solidFill>
              </a:defRPr>
            </a:lvl5pPr>
          </a:lstStyle>
          <a:p>
            <a:pPr lvl="0"/>
            <a:r>
              <a:rPr lang="zh-CN" altLang="en-US" dirty="0"/>
              <a:t>单击此处编辑母版副标题样式</a:t>
            </a:r>
          </a:p>
        </p:txBody>
      </p:sp>
      <p:sp>
        <p:nvSpPr>
          <p:cNvPr id="11273" name="Title Placeholder 1"/>
          <p:cNvSpPr>
            <a:spLocks noGrp="1"/>
          </p:cNvSpPr>
          <p:nvPr>
            <p:ph type="ctrTitle"/>
          </p:nvPr>
        </p:nvSpPr>
        <p:spPr>
          <a:xfrm>
            <a:off x="3440907" y="1431132"/>
            <a:ext cx="2961085" cy="1373981"/>
          </a:xfrm>
          <a:prstGeom prst="rect">
            <a:avLst/>
          </a:prstGeom>
          <a:noFill/>
          <a:ln w="9525">
            <a:noFill/>
            <a:miter/>
          </a:ln>
        </p:spPr>
        <p:txBody>
          <a:bodyPr anchor="b"/>
          <a:lstStyle>
            <a:lvl1pPr lvl="0" algn="ctr">
              <a:lnSpc>
                <a:spcPct val="110000"/>
              </a:lnSpc>
              <a:defRPr sz="2700" kern="1200"/>
            </a:lvl1pPr>
          </a:lstStyle>
          <a:p>
            <a:pPr lvl="0"/>
            <a:r>
              <a:rPr lang="zh-CN" altLang="en-US" dirty="0"/>
              <a:t>单击此处编辑母版标题样式</a:t>
            </a:r>
          </a:p>
        </p:txBody>
      </p:sp>
      <p:sp>
        <p:nvSpPr>
          <p:cNvPr id="5" name="Date Placeholder 3">
            <a:extLst>
              <a:ext uri="{FF2B5EF4-FFF2-40B4-BE49-F238E27FC236}">
                <a16:creationId xmlns:a16="http://schemas.microsoft.com/office/drawing/2014/main" id="{C92A2FB7-5EF9-4B4C-8B50-6C91CD0D8A96}"/>
              </a:ext>
            </a:extLst>
          </p:cNvPr>
          <p:cNvSpPr>
            <a:spLocks noGrp="1"/>
          </p:cNvSpPr>
          <p:nvPr>
            <p:ph type="dt" sz="half" idx="10"/>
          </p:nvPr>
        </p:nvSpPr>
        <p:spPr>
          <a:xfrm>
            <a:off x="457200" y="4683919"/>
            <a:ext cx="2133600" cy="357188"/>
          </a:xfrm>
        </p:spPr>
        <p:txBody>
          <a:bodyPr rtlCol="0"/>
          <a:lstStyle>
            <a:lvl1pPr algn="l" fontAlgn="auto">
              <a:spcBef>
                <a:spcPts val="0"/>
              </a:spcBef>
              <a:spcAft>
                <a:spcPts val="0"/>
              </a:spcAft>
              <a:defRPr sz="900">
                <a:solidFill>
                  <a:schemeClr val="bg1">
                    <a:lumMod val="65000"/>
                  </a:schemeClr>
                </a:solidFill>
                <a:latin typeface="+mn-lt"/>
                <a:ea typeface="+mn-ea"/>
              </a:defRPr>
            </a:lvl1pPr>
          </a:lstStyle>
          <a:p>
            <a:pPr>
              <a:defRPr/>
            </a:pPr>
            <a:fld id="{3635A771-F006-476C-801A-C0C821B8BC29}" type="datetimeFigureOut">
              <a:rPr lang="zh-CN" altLang="en-US"/>
              <a:pPr>
                <a:defRPr/>
              </a:pPr>
              <a:t>2026/1/4</a:t>
            </a:fld>
            <a:endParaRPr lang="zh-CN" altLang="en-US"/>
          </a:p>
        </p:txBody>
      </p:sp>
      <p:sp>
        <p:nvSpPr>
          <p:cNvPr id="6" name="Footer Placeholder 4">
            <a:extLst>
              <a:ext uri="{FF2B5EF4-FFF2-40B4-BE49-F238E27FC236}">
                <a16:creationId xmlns:a16="http://schemas.microsoft.com/office/drawing/2014/main" id="{F61BB459-94D5-4258-AD50-47FFED348B2D}"/>
              </a:ext>
            </a:extLst>
          </p:cNvPr>
          <p:cNvSpPr>
            <a:spLocks noGrp="1"/>
          </p:cNvSpPr>
          <p:nvPr>
            <p:ph type="ftr" sz="quarter" idx="11"/>
          </p:nvPr>
        </p:nvSpPr>
        <p:spPr>
          <a:xfrm>
            <a:off x="3124200" y="4683919"/>
            <a:ext cx="2895600" cy="357188"/>
          </a:xfrm>
        </p:spPr>
        <p:txBody>
          <a:bodyPr/>
          <a:lstStyle>
            <a:lvl1pPr algn="l">
              <a:defRPr sz="1350">
                <a:solidFill>
                  <a:schemeClr val="tx1"/>
                </a:solidFill>
              </a:defRPr>
            </a:lvl1pPr>
          </a:lstStyle>
          <a:p>
            <a:pPr>
              <a:defRPr/>
            </a:pPr>
            <a:endParaRPr lang="zh-CN" altLang="en-US"/>
          </a:p>
        </p:txBody>
      </p:sp>
      <p:sp>
        <p:nvSpPr>
          <p:cNvPr id="7" name="Slide Number Placeholder 5">
            <a:extLst>
              <a:ext uri="{FF2B5EF4-FFF2-40B4-BE49-F238E27FC236}">
                <a16:creationId xmlns:a16="http://schemas.microsoft.com/office/drawing/2014/main" id="{12F0EE10-A4FF-4725-BCB0-889A3F54DBCC}"/>
              </a:ext>
            </a:extLst>
          </p:cNvPr>
          <p:cNvSpPr>
            <a:spLocks noGrp="1"/>
          </p:cNvSpPr>
          <p:nvPr>
            <p:ph type="sldNum" sz="quarter" idx="12"/>
          </p:nvPr>
        </p:nvSpPr>
        <p:spPr>
          <a:xfrm>
            <a:off x="6553200" y="4683919"/>
            <a:ext cx="2133600" cy="357188"/>
          </a:xfrm>
        </p:spPr>
        <p:txBody>
          <a:bodyPr/>
          <a:lstStyle>
            <a:lvl1pPr>
              <a:defRPr/>
            </a:lvl1pPr>
          </a:lstStyle>
          <a:p>
            <a:pPr>
              <a:defRPr/>
            </a:pPr>
            <a:fld id="{F7EAFFE3-5D96-4A57-AFB6-87EC306C7F51}" type="slidenum">
              <a:rPr lang="zh-CN" altLang="en-US"/>
              <a:pPr>
                <a:defRPr/>
              </a:pPr>
              <a:t>‹#›</a:t>
            </a:fld>
            <a:endParaRPr lang="zh-CN" altLang="en-US"/>
          </a:p>
        </p:txBody>
      </p:sp>
    </p:spTree>
    <p:extLst>
      <p:ext uri="{BB962C8B-B14F-4D97-AF65-F5344CB8AC3E}">
        <p14:creationId xmlns:p14="http://schemas.microsoft.com/office/powerpoint/2010/main" val="22052376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523876" y="981076"/>
            <a:ext cx="8061722" cy="3650456"/>
          </a:xfrm>
          <a:prstGeom prst="rect">
            <a:avLst/>
          </a:prstGeom>
        </p:spPr>
        <p:txBody>
          <a:bodyPr/>
          <a:lstStyle/>
          <a:p>
            <a:pPr lvl="0"/>
            <a:r>
              <a:rPr lang="zh-CN" altLang="en-US"/>
              <a:t>单击此处编辑母版文本样式</a:t>
            </a:r>
          </a:p>
          <a:p>
            <a:pPr lvl="1"/>
            <a:r>
              <a:rPr lang="zh-CN" altLang="en-US"/>
              <a:t>第二级</a:t>
            </a:r>
          </a:p>
        </p:txBody>
      </p:sp>
      <p:sp>
        <p:nvSpPr>
          <p:cNvPr id="4" name="日期占位符 3">
            <a:extLst>
              <a:ext uri="{FF2B5EF4-FFF2-40B4-BE49-F238E27FC236}">
                <a16:creationId xmlns:a16="http://schemas.microsoft.com/office/drawing/2014/main" id="{559065E4-8ECF-4878-9D93-67A77318AA0B}"/>
              </a:ext>
            </a:extLst>
          </p:cNvPr>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BB0F55AF-7C8C-434F-9EEF-80DA5D25AB8D}" type="datetimeFigureOut">
              <a:rPr lang="zh-CN" altLang="en-US"/>
              <a:pPr>
                <a:defRPr/>
              </a:pPr>
              <a:t>2026/1/4</a:t>
            </a:fld>
            <a:endParaRPr lang="zh-CN" altLang="en-US"/>
          </a:p>
        </p:txBody>
      </p:sp>
      <p:sp>
        <p:nvSpPr>
          <p:cNvPr id="5" name="页脚占位符 4">
            <a:extLst>
              <a:ext uri="{FF2B5EF4-FFF2-40B4-BE49-F238E27FC236}">
                <a16:creationId xmlns:a16="http://schemas.microsoft.com/office/drawing/2014/main" id="{6D72AF2D-C97B-459C-8F44-56580C810928}"/>
              </a:ext>
            </a:extLst>
          </p:cNvPr>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6" name="灯片编号占位符 5">
            <a:extLst>
              <a:ext uri="{FF2B5EF4-FFF2-40B4-BE49-F238E27FC236}">
                <a16:creationId xmlns:a16="http://schemas.microsoft.com/office/drawing/2014/main" id="{C13E30F9-6619-40AB-8F6F-884DDE79AE65}"/>
              </a:ext>
            </a:extLst>
          </p:cNvPr>
          <p:cNvSpPr>
            <a:spLocks noGrp="1"/>
          </p:cNvSpPr>
          <p:nvPr>
            <p:ph type="sldNum" sz="quarter" idx="12"/>
          </p:nvPr>
        </p:nvSpPr>
        <p:spPr/>
        <p:txBody>
          <a:bodyPr/>
          <a:lstStyle>
            <a:lvl1pPr>
              <a:defRPr/>
            </a:lvl1pPr>
          </a:lstStyle>
          <a:p>
            <a:pPr>
              <a:defRPr/>
            </a:pPr>
            <a:fld id="{83A84667-012C-4ACA-9A7F-F89290D317DF}" type="slidenum">
              <a:rPr lang="zh-CN" altLang="en-US"/>
              <a:pPr>
                <a:defRPr/>
              </a:pPr>
              <a:t>‹#›</a:t>
            </a:fld>
            <a:endParaRPr lang="zh-CN" altLang="en-US"/>
          </a:p>
        </p:txBody>
      </p:sp>
    </p:spTree>
    <p:extLst>
      <p:ext uri="{BB962C8B-B14F-4D97-AF65-F5344CB8AC3E}">
        <p14:creationId xmlns:p14="http://schemas.microsoft.com/office/powerpoint/2010/main" val="391084944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6"/>
            <a:ext cx="7886700" cy="2139553"/>
          </a:xfrm>
          <a:prstGeom prst="rect">
            <a:avLst/>
          </a:prstGeom>
        </p:spPr>
        <p:txBody>
          <a:bodyPr anchor="b"/>
          <a:lstStyle>
            <a:lvl1pPr>
              <a:defRPr sz="4500">
                <a:solidFill>
                  <a:schemeClr val="bg1">
                    <a:lumMod val="50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9"/>
            <a:ext cx="7886700" cy="1125140"/>
          </a:xfrm>
          <a:prstGeom prst="rect">
            <a:avLst/>
          </a:prstGeom>
        </p:spPr>
        <p:txBody>
          <a:bodyPr/>
          <a:lstStyle>
            <a:lvl1pPr marL="0" indent="0">
              <a:buNone/>
              <a:defRPr sz="1800">
                <a:solidFill>
                  <a:schemeClr val="bg1">
                    <a:lumMod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883F07B-9A0E-4CEA-A5BF-0B67D3024D45}"/>
              </a:ext>
            </a:extLst>
          </p:cNvPr>
          <p:cNvSpPr>
            <a:spLocks noGrp="1"/>
          </p:cNvSpPr>
          <p:nvPr>
            <p:ph type="dt" sz="half" idx="10"/>
          </p:nvPr>
        </p:nvSpPr>
        <p:spPr/>
        <p:txBody>
          <a:bodyPr rtlCol="0"/>
          <a:lstStyle>
            <a:lvl1pPr fontAlgn="auto">
              <a:spcBef>
                <a:spcPts val="0"/>
              </a:spcBef>
              <a:spcAft>
                <a:spcPts val="0"/>
              </a:spcAft>
              <a:defRPr>
                <a:solidFill>
                  <a:schemeClr val="tx1">
                    <a:tint val="75000"/>
                  </a:schemeClr>
                </a:solidFill>
                <a:latin typeface="+mn-lt"/>
                <a:ea typeface="+mn-ea"/>
              </a:defRPr>
            </a:lvl1pPr>
          </a:lstStyle>
          <a:p>
            <a:pPr>
              <a:defRPr/>
            </a:pPr>
            <a:fld id="{E95C96BA-32C1-4655-9C97-C23405013FD0}" type="datetimeFigureOut">
              <a:rPr lang="zh-CN" altLang="en-US"/>
              <a:pPr>
                <a:defRPr/>
              </a:pPr>
              <a:t>2026/1/4</a:t>
            </a:fld>
            <a:endParaRPr lang="zh-CN" altLang="en-US"/>
          </a:p>
        </p:txBody>
      </p:sp>
      <p:sp>
        <p:nvSpPr>
          <p:cNvPr id="5" name="页脚占位符 4">
            <a:extLst>
              <a:ext uri="{FF2B5EF4-FFF2-40B4-BE49-F238E27FC236}">
                <a16:creationId xmlns:a16="http://schemas.microsoft.com/office/drawing/2014/main" id="{9F4A4847-5284-44C8-B084-5F9EE03AFD4E}"/>
              </a:ext>
            </a:extLst>
          </p:cNvPr>
          <p:cNvSpPr>
            <a:spLocks noGrp="1"/>
          </p:cNvSpPr>
          <p:nvPr>
            <p:ph type="ftr" sz="quarter" idx="11"/>
          </p:nvPr>
        </p:nvSpPr>
        <p:spPr/>
        <p:txBody>
          <a:bodyPr/>
          <a:lstStyle>
            <a:lvl1pPr>
              <a:defRPr>
                <a:solidFill>
                  <a:srgbClr val="919293"/>
                </a:solidFill>
                <a:latin typeface="Calibri" panose="020F0502020204030204" pitchFamily="34" charset="0"/>
              </a:defRPr>
            </a:lvl1pPr>
          </a:lstStyle>
          <a:p>
            <a:pPr>
              <a:defRPr/>
            </a:pPr>
            <a:endParaRPr lang="en-US" altLang="zh-CN"/>
          </a:p>
        </p:txBody>
      </p:sp>
      <p:sp>
        <p:nvSpPr>
          <p:cNvPr id="6" name="灯片编号占位符 5">
            <a:extLst>
              <a:ext uri="{FF2B5EF4-FFF2-40B4-BE49-F238E27FC236}">
                <a16:creationId xmlns:a16="http://schemas.microsoft.com/office/drawing/2014/main" id="{69337540-9EC1-415D-8182-D55A989CC53A}"/>
              </a:ext>
            </a:extLst>
          </p:cNvPr>
          <p:cNvSpPr>
            <a:spLocks noGrp="1"/>
          </p:cNvSpPr>
          <p:nvPr>
            <p:ph type="sldNum" sz="quarter" idx="12"/>
          </p:nvPr>
        </p:nvSpPr>
        <p:spPr/>
        <p:txBody>
          <a:bodyPr/>
          <a:lstStyle>
            <a:lvl1pPr>
              <a:defRPr>
                <a:solidFill>
                  <a:srgbClr val="898989"/>
                </a:solidFill>
              </a:defRPr>
            </a:lvl1pPr>
          </a:lstStyle>
          <a:p>
            <a:pPr>
              <a:defRPr/>
            </a:pPr>
            <a:fld id="{5636C0A8-69B2-4071-870C-FCD8DDD95144}" type="slidenum">
              <a:rPr lang="zh-CN" altLang="en-US"/>
              <a:pPr>
                <a:defRPr/>
              </a:pPr>
              <a:t>‹#›</a:t>
            </a:fld>
            <a:endParaRPr lang="zh-CN" altLang="en-US"/>
          </a:p>
        </p:txBody>
      </p:sp>
    </p:spTree>
    <p:extLst>
      <p:ext uri="{BB962C8B-B14F-4D97-AF65-F5344CB8AC3E}">
        <p14:creationId xmlns:p14="http://schemas.microsoft.com/office/powerpoint/2010/main" val="226387261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a:extLst>
              <a:ext uri="{FF2B5EF4-FFF2-40B4-BE49-F238E27FC236}">
                <a16:creationId xmlns:a16="http://schemas.microsoft.com/office/drawing/2014/main" id="{0BAC8DEA-8FE8-43A0-81F2-BC394F7F8B4A}"/>
              </a:ext>
            </a:extLst>
          </p:cNvPr>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93A40236-AF37-4727-9512-DA66FB42B0DE}" type="datetimeFigureOut">
              <a:rPr lang="zh-CN" altLang="en-US"/>
              <a:pPr>
                <a:defRPr/>
              </a:pPr>
              <a:t>2026/1/4</a:t>
            </a:fld>
            <a:endParaRPr lang="zh-CN" altLang="en-US"/>
          </a:p>
        </p:txBody>
      </p:sp>
      <p:sp>
        <p:nvSpPr>
          <p:cNvPr id="6" name="页脚占位符 5">
            <a:extLst>
              <a:ext uri="{FF2B5EF4-FFF2-40B4-BE49-F238E27FC236}">
                <a16:creationId xmlns:a16="http://schemas.microsoft.com/office/drawing/2014/main" id="{F8EC7EE2-BA64-4C57-9648-8784923E1475}"/>
              </a:ext>
            </a:extLst>
          </p:cNvPr>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a:extLst>
              <a:ext uri="{FF2B5EF4-FFF2-40B4-BE49-F238E27FC236}">
                <a16:creationId xmlns:a16="http://schemas.microsoft.com/office/drawing/2014/main" id="{80847370-D685-4E30-BC20-374F2ADDE869}"/>
              </a:ext>
            </a:extLst>
          </p:cNvPr>
          <p:cNvSpPr>
            <a:spLocks noGrp="1"/>
          </p:cNvSpPr>
          <p:nvPr>
            <p:ph type="sldNum" sz="quarter" idx="12"/>
          </p:nvPr>
        </p:nvSpPr>
        <p:spPr/>
        <p:txBody>
          <a:bodyPr/>
          <a:lstStyle>
            <a:lvl1pPr>
              <a:defRPr/>
            </a:lvl1pPr>
          </a:lstStyle>
          <a:p>
            <a:pPr>
              <a:defRPr/>
            </a:pPr>
            <a:fld id="{B79110E9-3CBC-4FF8-AEB5-E87072A4E625}" type="slidenum">
              <a:rPr lang="zh-CN" altLang="en-US"/>
              <a:pPr>
                <a:defRPr/>
              </a:pPr>
              <a:t>‹#›</a:t>
            </a:fld>
            <a:endParaRPr lang="zh-CN" altLang="en-US"/>
          </a:p>
        </p:txBody>
      </p:sp>
    </p:spTree>
    <p:extLst>
      <p:ext uri="{BB962C8B-B14F-4D97-AF65-F5344CB8AC3E}">
        <p14:creationId xmlns:p14="http://schemas.microsoft.com/office/powerpoint/2010/main" val="256797262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6"/>
            <a:ext cx="7886700" cy="994172"/>
          </a:xfrm>
          <a:prstGeom prst="rect">
            <a:avLst/>
          </a:prstGeo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2" y="1260872"/>
            <a:ext cx="3887391"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2" y="1878806"/>
            <a:ext cx="3887391" cy="2763441"/>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日期占位符 6">
            <a:extLst>
              <a:ext uri="{FF2B5EF4-FFF2-40B4-BE49-F238E27FC236}">
                <a16:creationId xmlns:a16="http://schemas.microsoft.com/office/drawing/2014/main" id="{F17B4768-3F86-4F17-9C59-CC5A1F096DC6}"/>
              </a:ext>
            </a:extLst>
          </p:cNvPr>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8B68149F-0C9C-491B-8EAE-33DEE6AEAEC4}" type="datetimeFigureOut">
              <a:rPr lang="zh-CN" altLang="en-US"/>
              <a:pPr>
                <a:defRPr/>
              </a:pPr>
              <a:t>2026/1/4</a:t>
            </a:fld>
            <a:endParaRPr lang="zh-CN" altLang="en-US"/>
          </a:p>
        </p:txBody>
      </p:sp>
      <p:sp>
        <p:nvSpPr>
          <p:cNvPr id="8" name="页脚占位符 7">
            <a:extLst>
              <a:ext uri="{FF2B5EF4-FFF2-40B4-BE49-F238E27FC236}">
                <a16:creationId xmlns:a16="http://schemas.microsoft.com/office/drawing/2014/main" id="{16D68552-43A3-4FAC-80D6-433E207254E0}"/>
              </a:ext>
            </a:extLst>
          </p:cNvPr>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9" name="灯片编号占位符 8">
            <a:extLst>
              <a:ext uri="{FF2B5EF4-FFF2-40B4-BE49-F238E27FC236}">
                <a16:creationId xmlns:a16="http://schemas.microsoft.com/office/drawing/2014/main" id="{1EF63411-83D3-4117-A3C0-561318B177B8}"/>
              </a:ext>
            </a:extLst>
          </p:cNvPr>
          <p:cNvSpPr>
            <a:spLocks noGrp="1"/>
          </p:cNvSpPr>
          <p:nvPr>
            <p:ph type="sldNum" sz="quarter" idx="12"/>
          </p:nvPr>
        </p:nvSpPr>
        <p:spPr/>
        <p:txBody>
          <a:bodyPr/>
          <a:lstStyle>
            <a:lvl1pPr>
              <a:defRPr/>
            </a:lvl1pPr>
          </a:lstStyle>
          <a:p>
            <a:pPr>
              <a:defRPr/>
            </a:pPr>
            <a:fld id="{001CD988-AABA-4271-BA70-01B6F9A87373}" type="slidenum">
              <a:rPr lang="zh-CN" altLang="en-US"/>
              <a:pPr>
                <a:defRPr/>
              </a:pPr>
              <a:t>‹#›</a:t>
            </a:fld>
            <a:endParaRPr lang="zh-CN" altLang="en-US"/>
          </a:p>
        </p:txBody>
      </p:sp>
    </p:spTree>
    <p:extLst>
      <p:ext uri="{BB962C8B-B14F-4D97-AF65-F5344CB8AC3E}">
        <p14:creationId xmlns:p14="http://schemas.microsoft.com/office/powerpoint/2010/main" val="384289191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日期占位符 2">
            <a:extLst>
              <a:ext uri="{FF2B5EF4-FFF2-40B4-BE49-F238E27FC236}">
                <a16:creationId xmlns:a16="http://schemas.microsoft.com/office/drawing/2014/main" id="{6C40A243-47A1-400C-8AC2-F4E95E27FE79}"/>
              </a:ext>
            </a:extLst>
          </p:cNvPr>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75E18762-3EDF-4983-98E8-301F9D5D9E69}" type="datetimeFigureOut">
              <a:rPr lang="zh-CN" altLang="en-US"/>
              <a:pPr>
                <a:defRPr/>
              </a:pPr>
              <a:t>2026/1/4</a:t>
            </a:fld>
            <a:endParaRPr lang="zh-CN" altLang="en-US"/>
          </a:p>
        </p:txBody>
      </p:sp>
      <p:sp>
        <p:nvSpPr>
          <p:cNvPr id="4" name="页脚占位符 3">
            <a:extLst>
              <a:ext uri="{FF2B5EF4-FFF2-40B4-BE49-F238E27FC236}">
                <a16:creationId xmlns:a16="http://schemas.microsoft.com/office/drawing/2014/main" id="{1010A770-B15F-4350-A74B-CEDDBAC0B7E0}"/>
              </a:ext>
            </a:extLst>
          </p:cNvPr>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5" name="灯片编号占位符 4">
            <a:extLst>
              <a:ext uri="{FF2B5EF4-FFF2-40B4-BE49-F238E27FC236}">
                <a16:creationId xmlns:a16="http://schemas.microsoft.com/office/drawing/2014/main" id="{6182A826-8A4D-4516-B14C-54AC46723977}"/>
              </a:ext>
            </a:extLst>
          </p:cNvPr>
          <p:cNvSpPr>
            <a:spLocks noGrp="1"/>
          </p:cNvSpPr>
          <p:nvPr>
            <p:ph type="sldNum" sz="quarter" idx="12"/>
          </p:nvPr>
        </p:nvSpPr>
        <p:spPr/>
        <p:txBody>
          <a:bodyPr/>
          <a:lstStyle>
            <a:lvl1pPr>
              <a:defRPr/>
            </a:lvl1pPr>
          </a:lstStyle>
          <a:p>
            <a:pPr>
              <a:defRPr/>
            </a:pPr>
            <a:fld id="{B34624B3-7BC5-45F9-833A-20BAD35DEC91}" type="slidenum">
              <a:rPr lang="zh-CN" altLang="en-US"/>
              <a:pPr>
                <a:defRPr/>
              </a:pPr>
              <a:t>‹#›</a:t>
            </a:fld>
            <a:endParaRPr lang="zh-CN" altLang="en-US"/>
          </a:p>
        </p:txBody>
      </p:sp>
    </p:spTree>
    <p:extLst>
      <p:ext uri="{BB962C8B-B14F-4D97-AF65-F5344CB8AC3E}">
        <p14:creationId xmlns:p14="http://schemas.microsoft.com/office/powerpoint/2010/main" val="229967438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71"/>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1"/>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6242D90-57D4-44D2-963E-4A6D8C428BB0}"/>
              </a:ext>
            </a:extLst>
          </p:cNvPr>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2A31A2A3-44CF-4E76-A66E-423BD30FDCE3}" type="datetimeFigureOut">
              <a:rPr lang="zh-CN" altLang="en-US"/>
              <a:pPr>
                <a:defRPr/>
              </a:pPr>
              <a:t>2026/1/4</a:t>
            </a:fld>
            <a:endParaRPr lang="zh-CN" altLang="en-US"/>
          </a:p>
        </p:txBody>
      </p:sp>
      <p:sp>
        <p:nvSpPr>
          <p:cNvPr id="6" name="页脚占位符 5">
            <a:extLst>
              <a:ext uri="{FF2B5EF4-FFF2-40B4-BE49-F238E27FC236}">
                <a16:creationId xmlns:a16="http://schemas.microsoft.com/office/drawing/2014/main" id="{1746B0E4-A264-4F1D-94C8-A998192352DA}"/>
              </a:ext>
            </a:extLst>
          </p:cNvPr>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a:extLst>
              <a:ext uri="{FF2B5EF4-FFF2-40B4-BE49-F238E27FC236}">
                <a16:creationId xmlns:a16="http://schemas.microsoft.com/office/drawing/2014/main" id="{9000C5CC-B043-4289-AC24-6343A38F63A9}"/>
              </a:ext>
            </a:extLst>
          </p:cNvPr>
          <p:cNvSpPr>
            <a:spLocks noGrp="1"/>
          </p:cNvSpPr>
          <p:nvPr>
            <p:ph type="sldNum" sz="quarter" idx="12"/>
          </p:nvPr>
        </p:nvSpPr>
        <p:spPr/>
        <p:txBody>
          <a:bodyPr/>
          <a:lstStyle>
            <a:lvl1pPr>
              <a:defRPr/>
            </a:lvl1pPr>
          </a:lstStyle>
          <a:p>
            <a:pPr>
              <a:defRPr/>
            </a:pPr>
            <a:fld id="{495FBAC3-CA8D-4FBA-AF42-538D64ADB8A2}" type="slidenum">
              <a:rPr lang="zh-CN" altLang="en-US"/>
              <a:pPr>
                <a:defRPr/>
              </a:pPr>
              <a:t>‹#›</a:t>
            </a:fld>
            <a:endParaRPr lang="zh-CN" altLang="en-US"/>
          </a:p>
        </p:txBody>
      </p:sp>
    </p:spTree>
    <p:extLst>
      <p:ext uri="{BB962C8B-B14F-4D97-AF65-F5344CB8AC3E}">
        <p14:creationId xmlns:p14="http://schemas.microsoft.com/office/powerpoint/2010/main" val="3447107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71"/>
            <a:ext cx="4629150" cy="3655219"/>
          </a:xfrm>
          <a:prstGeom prst="rect">
            <a:avLst/>
          </a:prstGeom>
        </p:spPr>
        <p:txBody>
          <a:bodyPr vert="horz" lIns="91440" tIns="45720" rIns="91440" bIns="45720" rtlCol="0" anchor="t">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29841" y="1543051"/>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5B8D98C-E735-4F16-8CA8-45197572C8B3}"/>
              </a:ext>
            </a:extLst>
          </p:cNvPr>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9C8A9873-664C-4AEF-AE6F-EDD2894100DF}" type="datetimeFigureOut">
              <a:rPr lang="zh-CN" altLang="en-US"/>
              <a:pPr>
                <a:defRPr/>
              </a:pPr>
              <a:t>2026/1/4</a:t>
            </a:fld>
            <a:endParaRPr lang="zh-CN" altLang="en-US"/>
          </a:p>
        </p:txBody>
      </p:sp>
      <p:sp>
        <p:nvSpPr>
          <p:cNvPr id="6" name="页脚占位符 5">
            <a:extLst>
              <a:ext uri="{FF2B5EF4-FFF2-40B4-BE49-F238E27FC236}">
                <a16:creationId xmlns:a16="http://schemas.microsoft.com/office/drawing/2014/main" id="{BD9C8F45-2D90-4641-8D79-27CAE2827BDE}"/>
              </a:ext>
            </a:extLst>
          </p:cNvPr>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a:extLst>
              <a:ext uri="{FF2B5EF4-FFF2-40B4-BE49-F238E27FC236}">
                <a16:creationId xmlns:a16="http://schemas.microsoft.com/office/drawing/2014/main" id="{C283672B-9D47-4F5E-BFB7-5FFD5A830F6E}"/>
              </a:ext>
            </a:extLst>
          </p:cNvPr>
          <p:cNvSpPr>
            <a:spLocks noGrp="1"/>
          </p:cNvSpPr>
          <p:nvPr>
            <p:ph type="sldNum" sz="quarter" idx="12"/>
          </p:nvPr>
        </p:nvSpPr>
        <p:spPr/>
        <p:txBody>
          <a:bodyPr/>
          <a:lstStyle>
            <a:lvl1pPr>
              <a:defRPr/>
            </a:lvl1pPr>
          </a:lstStyle>
          <a:p>
            <a:pPr>
              <a:defRPr/>
            </a:pPr>
            <a:fld id="{7D5D5C9C-7908-44C0-BFF0-3D9BEF03216D}" type="slidenum">
              <a:rPr lang="zh-CN" altLang="en-US"/>
              <a:pPr>
                <a:defRPr/>
              </a:pPr>
              <a:t>‹#›</a:t>
            </a:fld>
            <a:endParaRPr lang="zh-CN" altLang="en-US"/>
          </a:p>
        </p:txBody>
      </p:sp>
    </p:spTree>
    <p:extLst>
      <p:ext uri="{BB962C8B-B14F-4D97-AF65-F5344CB8AC3E}">
        <p14:creationId xmlns:p14="http://schemas.microsoft.com/office/powerpoint/2010/main" val="280938681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23876" y="981076"/>
            <a:ext cx="8061722" cy="365045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a:extLst>
              <a:ext uri="{FF2B5EF4-FFF2-40B4-BE49-F238E27FC236}">
                <a16:creationId xmlns:a16="http://schemas.microsoft.com/office/drawing/2014/main" id="{50D86E20-5F8D-49C6-AF55-35BA99AA4E5C}"/>
              </a:ext>
            </a:extLst>
          </p:cNvPr>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AC57DBCE-8C4D-485F-8120-71058D8DF911}" type="datetimeFigureOut">
              <a:rPr lang="zh-CN" altLang="en-US"/>
              <a:pPr>
                <a:defRPr/>
              </a:pPr>
              <a:t>2026/1/4</a:t>
            </a:fld>
            <a:endParaRPr lang="zh-CN" altLang="en-US"/>
          </a:p>
        </p:txBody>
      </p:sp>
      <p:sp>
        <p:nvSpPr>
          <p:cNvPr id="5" name="页脚占位符 4">
            <a:extLst>
              <a:ext uri="{FF2B5EF4-FFF2-40B4-BE49-F238E27FC236}">
                <a16:creationId xmlns:a16="http://schemas.microsoft.com/office/drawing/2014/main" id="{08B61E13-6006-43C4-BA20-2C3A3EE8D721}"/>
              </a:ext>
            </a:extLst>
          </p:cNvPr>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6" name="灯片编号占位符 5">
            <a:extLst>
              <a:ext uri="{FF2B5EF4-FFF2-40B4-BE49-F238E27FC236}">
                <a16:creationId xmlns:a16="http://schemas.microsoft.com/office/drawing/2014/main" id="{611617C6-576E-4926-AF8F-0A87399DAFCD}"/>
              </a:ext>
            </a:extLst>
          </p:cNvPr>
          <p:cNvSpPr>
            <a:spLocks noGrp="1"/>
          </p:cNvSpPr>
          <p:nvPr>
            <p:ph type="sldNum" sz="quarter" idx="12"/>
          </p:nvPr>
        </p:nvSpPr>
        <p:spPr/>
        <p:txBody>
          <a:bodyPr/>
          <a:lstStyle>
            <a:lvl1pPr>
              <a:defRPr/>
            </a:lvl1pPr>
          </a:lstStyle>
          <a:p>
            <a:pPr>
              <a:defRPr/>
            </a:pPr>
            <a:fld id="{5DB91BBE-B70E-4969-8233-69CEDE8997F8}" type="slidenum">
              <a:rPr lang="zh-CN" altLang="en-US"/>
              <a:pPr>
                <a:defRPr/>
              </a:pPr>
              <a:t>‹#›</a:t>
            </a:fld>
            <a:endParaRPr lang="zh-CN" altLang="en-US"/>
          </a:p>
        </p:txBody>
      </p:sp>
    </p:spTree>
    <p:extLst>
      <p:ext uri="{BB962C8B-B14F-4D97-AF65-F5344CB8AC3E}">
        <p14:creationId xmlns:p14="http://schemas.microsoft.com/office/powerpoint/2010/main" val="399609966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5"/>
            <a:ext cx="1971675" cy="4358879"/>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2" y="273845"/>
            <a:ext cx="5800725" cy="4358879"/>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extLst>
      <p:ext uri="{BB962C8B-B14F-4D97-AF65-F5344CB8AC3E}">
        <p14:creationId xmlns:p14="http://schemas.microsoft.com/office/powerpoint/2010/main" val="358490429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D41BCC1-B904-4405-BF47-128476DE2AD2}"/>
              </a:ext>
            </a:extLst>
          </p:cNvPr>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36FF6F94-A737-4432-A9DC-130A95CCF9BC}" type="datetimeFigureOut">
              <a:rPr lang="zh-CN" altLang="en-US"/>
              <a:pPr>
                <a:defRPr/>
              </a:pPr>
              <a:t>2026/1/4</a:t>
            </a:fld>
            <a:endParaRPr lang="zh-CN" altLang="en-US"/>
          </a:p>
        </p:txBody>
      </p:sp>
      <p:sp>
        <p:nvSpPr>
          <p:cNvPr id="3" name="页脚占位符 2">
            <a:extLst>
              <a:ext uri="{FF2B5EF4-FFF2-40B4-BE49-F238E27FC236}">
                <a16:creationId xmlns:a16="http://schemas.microsoft.com/office/drawing/2014/main" id="{F99156EF-ADB2-4A34-9B96-2CF9360BFF5F}"/>
              </a:ext>
            </a:extLst>
          </p:cNvPr>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4" name="灯片编号占位符 3">
            <a:extLst>
              <a:ext uri="{FF2B5EF4-FFF2-40B4-BE49-F238E27FC236}">
                <a16:creationId xmlns:a16="http://schemas.microsoft.com/office/drawing/2014/main" id="{A50DC61F-7975-4A9A-B571-6A251EC9C7E0}"/>
              </a:ext>
            </a:extLst>
          </p:cNvPr>
          <p:cNvSpPr>
            <a:spLocks noGrp="1"/>
          </p:cNvSpPr>
          <p:nvPr>
            <p:ph type="sldNum" sz="quarter" idx="12"/>
          </p:nvPr>
        </p:nvSpPr>
        <p:spPr/>
        <p:txBody>
          <a:bodyPr/>
          <a:lstStyle>
            <a:lvl1pPr>
              <a:defRPr/>
            </a:lvl1pPr>
          </a:lstStyle>
          <a:p>
            <a:pPr>
              <a:defRPr/>
            </a:pPr>
            <a:fld id="{7FBB6A8E-2C65-4CA5-8B62-FDC3161C7866}" type="slidenum">
              <a:rPr lang="zh-CN" altLang="en-US"/>
              <a:pPr>
                <a:defRPr/>
              </a:pPr>
              <a:t>‹#›</a:t>
            </a:fld>
            <a:endParaRPr lang="zh-CN" altLang="en-US"/>
          </a:p>
        </p:txBody>
      </p:sp>
    </p:spTree>
    <p:extLst>
      <p:ext uri="{BB962C8B-B14F-4D97-AF65-F5344CB8AC3E}">
        <p14:creationId xmlns:p14="http://schemas.microsoft.com/office/powerpoint/2010/main" val="397096146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组合 8">
            <a:extLst>
              <a:ext uri="{FF2B5EF4-FFF2-40B4-BE49-F238E27FC236}">
                <a16:creationId xmlns:a16="http://schemas.microsoft.com/office/drawing/2014/main" id="{31C698DC-0FE1-4541-8A48-229265A4686D}"/>
              </a:ext>
            </a:extLst>
          </p:cNvPr>
          <p:cNvGrpSpPr>
            <a:grpSpLocks/>
          </p:cNvGrpSpPr>
          <p:nvPr/>
        </p:nvGrpSpPr>
        <p:grpSpPr bwMode="auto">
          <a:xfrm>
            <a:off x="0" y="0"/>
            <a:ext cx="9144000" cy="5143500"/>
            <a:chOff x="0" y="1"/>
            <a:chExt cx="12192000" cy="6857999"/>
          </a:xfrm>
        </p:grpSpPr>
        <p:pic>
          <p:nvPicPr>
            <p:cNvPr id="1030" name="图片 6">
              <a:extLst>
                <a:ext uri="{FF2B5EF4-FFF2-40B4-BE49-F238E27FC236}">
                  <a16:creationId xmlns:a16="http://schemas.microsoft.com/office/drawing/2014/main" id="{1483920D-7775-49C9-B877-025BD8C39619}"/>
                </a:ext>
              </a:extLst>
            </p:cNvPr>
            <p:cNvPicPr>
              <a:picLocks noChangeAspect="1"/>
            </p:cNvPicPr>
            <p:nvPr userDrawn="1"/>
          </p:nvPicPr>
          <p:blipFill>
            <a:blip r:embed="rId13">
              <a:extLst>
                <a:ext uri="{28A0092B-C50C-407E-A947-70E740481C1C}">
                  <a14:useLocalDpi xmlns:a14="http://schemas.microsoft.com/office/drawing/2010/main" val="0"/>
                </a:ext>
              </a:extLst>
            </a:blip>
            <a:srcRect t="6718" b="67133"/>
            <a:stretch>
              <a:fillRect/>
            </a:stretch>
          </p:blipFill>
          <p:spPr bwMode="auto">
            <a:xfrm>
              <a:off x="3048" y="1"/>
              <a:ext cx="12188952"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6D593AB5-66DB-495E-A99A-C7286347753B}"/>
                </a:ext>
              </a:extLst>
            </p:cNvPr>
            <p:cNvSpPr/>
            <p:nvPr/>
          </p:nvSpPr>
          <p:spPr>
            <a:xfrm>
              <a:off x="0" y="1828801"/>
              <a:ext cx="12192000" cy="5029199"/>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924" eaLnBrk="1" fontAlgn="auto" hangingPunct="1">
                <a:spcBef>
                  <a:spcPts val="0"/>
                </a:spcBef>
                <a:spcAft>
                  <a:spcPts val="0"/>
                </a:spcAft>
                <a:defRPr/>
              </a:pPr>
              <a:endParaRPr lang="zh-CN" altLang="en-US" sz="1800"/>
            </a:p>
          </p:txBody>
        </p:sp>
      </p:grpSp>
      <p:sp>
        <p:nvSpPr>
          <p:cNvPr id="4" name="Date Placeholder 3">
            <a:extLst>
              <a:ext uri="{FF2B5EF4-FFF2-40B4-BE49-F238E27FC236}">
                <a16:creationId xmlns:a16="http://schemas.microsoft.com/office/drawing/2014/main" id="{752F7988-2047-44A2-B60F-4A0E18F061AF}"/>
              </a:ext>
            </a:extLst>
          </p:cNvPr>
          <p:cNvSpPr>
            <a:spLocks noGrp="1"/>
          </p:cNvSpPr>
          <p:nvPr>
            <p:ph type="dt" sz="half" idx="2"/>
          </p:nvPr>
        </p:nvSpPr>
        <p:spPr>
          <a:xfrm>
            <a:off x="628650" y="4767263"/>
            <a:ext cx="2057400" cy="273844"/>
          </a:xfrm>
          <a:prstGeom prst="rect">
            <a:avLst/>
          </a:prstGeom>
        </p:spPr>
        <p:txBody>
          <a:bodyPr vert="horz" wrap="square" lIns="91440" tIns="45720" rIns="91440" bIns="45720" numCol="1" anchor="ctr" anchorCtr="0" compatLnSpc="1">
            <a:prstTxWarp prst="textNoShape">
              <a:avLst/>
            </a:prstTxWarp>
          </a:bodyPr>
          <a:lstStyle>
            <a:lvl1pPr eaLnBrk="1" hangingPunct="1">
              <a:defRPr sz="900">
                <a:solidFill>
                  <a:srgbClr val="A6A6A6"/>
                </a:solidFill>
                <a:ea typeface="幼圆" panose="02010509060101010101" pitchFamily="49" charset="-122"/>
              </a:defRPr>
            </a:lvl1pPr>
          </a:lstStyle>
          <a:p>
            <a:pPr>
              <a:defRPr/>
            </a:pPr>
            <a:r>
              <a:rPr lang="en-US" altLang="zh-CN"/>
              <a:t>2022/8/29</a:t>
            </a:r>
            <a:endParaRPr lang="zh-CN" altLang="en-US"/>
          </a:p>
        </p:txBody>
      </p:sp>
      <p:sp>
        <p:nvSpPr>
          <p:cNvPr id="5" name="Footer Placeholder 4">
            <a:extLst>
              <a:ext uri="{FF2B5EF4-FFF2-40B4-BE49-F238E27FC236}">
                <a16:creationId xmlns:a16="http://schemas.microsoft.com/office/drawing/2014/main" id="{CFFCE4B9-6B58-4BEE-BAD5-A3B8FF9C6B2A}"/>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rgbClr val="373A3B"/>
                </a:solidFill>
                <a:latin typeface="+mn-lt"/>
                <a:ea typeface="+mn-ea"/>
              </a:defRPr>
            </a:lvl1pPr>
          </a:lstStyle>
          <a:p>
            <a:pPr>
              <a:defRPr/>
            </a:pPr>
            <a:endParaRPr lang="en-US" altLang="zh-CN"/>
          </a:p>
        </p:txBody>
      </p:sp>
      <p:sp>
        <p:nvSpPr>
          <p:cNvPr id="6" name="Slide Number Placeholder 5">
            <a:extLst>
              <a:ext uri="{FF2B5EF4-FFF2-40B4-BE49-F238E27FC236}">
                <a16:creationId xmlns:a16="http://schemas.microsoft.com/office/drawing/2014/main" id="{318CEE16-8EC2-48CF-911B-65A46CFEF4F9}"/>
              </a:ext>
            </a:extLst>
          </p:cNvPr>
          <p:cNvSpPr>
            <a:spLocks noGrp="1"/>
          </p:cNvSpPr>
          <p:nvPr>
            <p:ph type="sldNum" sz="quarter" idx="4"/>
          </p:nvPr>
        </p:nvSpPr>
        <p:spPr>
          <a:xfrm>
            <a:off x="6457950" y="4767263"/>
            <a:ext cx="2057400" cy="273844"/>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A6A6A6"/>
                </a:solidFill>
                <a:ea typeface="幼圆" panose="02010509060101010101" pitchFamily="49" charset="-122"/>
              </a:defRPr>
            </a:lvl1pPr>
          </a:lstStyle>
          <a:p>
            <a:pPr>
              <a:defRPr/>
            </a:pPr>
            <a:r>
              <a:rPr lang="en-US" altLang="zh-CN"/>
              <a:t>‹#›</a:t>
            </a:r>
            <a:endParaRPr lang="zh-CN" altLang="en-US"/>
          </a:p>
        </p:txBody>
      </p:sp>
    </p:spTree>
    <p:extLst>
      <p:ext uri="{BB962C8B-B14F-4D97-AF65-F5344CB8AC3E}">
        <p14:creationId xmlns:p14="http://schemas.microsoft.com/office/powerpoint/2010/main" val="84401914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4610" rtl="0" eaLnBrk="0" fontAlgn="base" hangingPunct="0">
        <a:lnSpc>
          <a:spcPct val="90000"/>
        </a:lnSpc>
        <a:spcBef>
          <a:spcPct val="0"/>
        </a:spcBef>
        <a:spcAft>
          <a:spcPct val="0"/>
        </a:spcAft>
        <a:defRPr sz="2100" kern="1200">
          <a:solidFill>
            <a:schemeClr val="accent1"/>
          </a:solidFill>
          <a:latin typeface="+mj-lt"/>
          <a:ea typeface="+mj-ea"/>
          <a:cs typeface="+mj-cs"/>
        </a:defRPr>
      </a:lvl1pPr>
      <a:lvl2pPr algn="l" defTabSz="68461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2pPr>
      <a:lvl3pPr algn="l" defTabSz="68461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3pPr>
      <a:lvl4pPr algn="l" defTabSz="68461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4pPr>
      <a:lvl5pPr algn="l" defTabSz="68461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5pPr>
      <a:lvl6pPr marL="342900" algn="l" defTabSz="68461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6pPr>
      <a:lvl7pPr marL="685800" algn="l" defTabSz="68461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7pPr>
      <a:lvl8pPr marL="1028700" algn="l" defTabSz="68461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8pPr>
      <a:lvl9pPr marL="1371600" algn="l" defTabSz="68461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9pPr>
    </p:titleStyle>
    <p:bodyStyle>
      <a:lvl1pPr marL="321469" indent="-257175" algn="l" defTabSz="684610" rtl="0" eaLnBrk="0" fontAlgn="base" hangingPunct="0">
        <a:lnSpc>
          <a:spcPct val="90000"/>
        </a:lnSpc>
        <a:spcBef>
          <a:spcPts val="1350"/>
        </a:spcBef>
        <a:spcAft>
          <a:spcPct val="0"/>
        </a:spcAft>
        <a:buClr>
          <a:srgbClr val="A95E40"/>
        </a:buClr>
        <a:buSzPct val="75000"/>
        <a:buFont typeface="Arial" panose="020B0604020202020204" pitchFamily="34" charset="0"/>
        <a:buChar char="•"/>
        <a:defRPr sz="1800" kern="1200">
          <a:solidFill>
            <a:srgbClr val="A95E40"/>
          </a:solidFill>
          <a:latin typeface="+mn-lt"/>
          <a:ea typeface="+mn-ea"/>
          <a:cs typeface="+mn-cs"/>
        </a:defRPr>
      </a:lvl1pPr>
      <a:lvl2pPr marL="266700" indent="-266700" algn="l" defTabSz="684610" rtl="0" eaLnBrk="0" fontAlgn="base" hangingPunct="0">
        <a:lnSpc>
          <a:spcPct val="130000"/>
        </a:lnSpc>
        <a:spcBef>
          <a:spcPts val="375"/>
        </a:spcBef>
        <a:spcAft>
          <a:spcPct val="0"/>
        </a:spcAft>
        <a:buFont typeface="Calibri" panose="020F0502020204030204" pitchFamily="34" charset="0"/>
        <a:buChar char=" "/>
        <a:defRPr kern="1200">
          <a:solidFill>
            <a:srgbClr val="7F7F7F"/>
          </a:solidFill>
          <a:latin typeface="+mn-lt"/>
          <a:ea typeface="+mn-ea"/>
          <a:cs typeface="+mn-cs"/>
        </a:defRPr>
      </a:lvl2pPr>
      <a:lvl3pPr marL="857250" indent="-171450" algn="l" defTabSz="684610" rtl="0" eaLnBrk="0" fontAlgn="base" hangingPunct="0">
        <a:lnSpc>
          <a:spcPct val="90000"/>
        </a:lnSpc>
        <a:spcBef>
          <a:spcPts val="375"/>
        </a:spcBef>
        <a:spcAft>
          <a:spcPct val="0"/>
        </a:spcAft>
        <a:buFont typeface="Arial" panose="020B0604020202020204" pitchFamily="34" charset="0"/>
        <a:buChar char="•"/>
        <a:defRPr sz="1500" kern="1200">
          <a:solidFill>
            <a:srgbClr val="7F7F7F"/>
          </a:solidFill>
          <a:latin typeface="+mn-lt"/>
          <a:ea typeface="+mn-ea"/>
          <a:cs typeface="+mn-cs"/>
        </a:defRPr>
      </a:lvl3pPr>
      <a:lvl4pPr marL="1200150" indent="-171450" algn="l" defTabSz="684610" rtl="0" eaLnBrk="0" fontAlgn="base" hangingPunct="0">
        <a:lnSpc>
          <a:spcPct val="90000"/>
        </a:lnSpc>
        <a:spcBef>
          <a:spcPts val="375"/>
        </a:spcBef>
        <a:spcAft>
          <a:spcPct val="0"/>
        </a:spcAft>
        <a:buFont typeface="Arial" panose="020B0604020202020204" pitchFamily="34" charset="0"/>
        <a:buChar char="•"/>
        <a:defRPr kern="1200">
          <a:solidFill>
            <a:srgbClr val="7F7F7F"/>
          </a:solidFill>
          <a:latin typeface="+mn-lt"/>
          <a:ea typeface="+mn-ea"/>
          <a:cs typeface="+mn-cs"/>
        </a:defRPr>
      </a:lvl4pPr>
      <a:lvl5pPr marL="1543050" indent="-171450" algn="l" defTabSz="684610" rtl="0" eaLnBrk="0" fontAlgn="base" hangingPunct="0">
        <a:lnSpc>
          <a:spcPct val="90000"/>
        </a:lnSpc>
        <a:spcBef>
          <a:spcPts val="375"/>
        </a:spcBef>
        <a:spcAft>
          <a:spcPct val="0"/>
        </a:spcAft>
        <a:buFont typeface="Arial" panose="020B0604020202020204" pitchFamily="34" charset="0"/>
        <a:buChar char="•"/>
        <a:defRPr kern="1200">
          <a:solidFill>
            <a:srgbClr val="7F7F7F"/>
          </a:solidFill>
          <a:latin typeface="+mn-lt"/>
          <a:ea typeface="+mn-ea"/>
          <a:cs typeface="+mn-cs"/>
        </a:defRPr>
      </a:lvl5pPr>
      <a:lvl6pPr marL="1885950" indent="-171450" algn="l" defTabSz="685324"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324"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324"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324"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p:bodyStyle>
    <p:otherStyle>
      <a:defPPr>
        <a:defRPr lang="en-US"/>
      </a:defPPr>
      <a:lvl1pPr marL="0" algn="l" defTabSz="685324" rtl="0" eaLnBrk="1" latinLnBrk="0" hangingPunct="1">
        <a:defRPr sz="1350" kern="1200">
          <a:solidFill>
            <a:schemeClr val="tx1"/>
          </a:solidFill>
          <a:latin typeface="+mn-lt"/>
          <a:ea typeface="+mn-ea"/>
          <a:cs typeface="+mn-cs"/>
        </a:defRPr>
      </a:lvl1pPr>
      <a:lvl2pPr marL="342900" algn="l" defTabSz="685324" rtl="0" eaLnBrk="1" latinLnBrk="0" hangingPunct="1">
        <a:defRPr sz="1350" kern="1200">
          <a:solidFill>
            <a:schemeClr val="tx1"/>
          </a:solidFill>
          <a:latin typeface="+mn-lt"/>
          <a:ea typeface="+mn-ea"/>
          <a:cs typeface="+mn-cs"/>
        </a:defRPr>
      </a:lvl2pPr>
      <a:lvl3pPr marL="685800" algn="l" defTabSz="685324" rtl="0" eaLnBrk="1" latinLnBrk="0" hangingPunct="1">
        <a:defRPr sz="1350" kern="1200">
          <a:solidFill>
            <a:schemeClr val="tx1"/>
          </a:solidFill>
          <a:latin typeface="+mn-lt"/>
          <a:ea typeface="+mn-ea"/>
          <a:cs typeface="+mn-cs"/>
        </a:defRPr>
      </a:lvl3pPr>
      <a:lvl4pPr marL="1028700" algn="l" defTabSz="685324" rtl="0" eaLnBrk="1" latinLnBrk="0" hangingPunct="1">
        <a:defRPr sz="1350" kern="1200">
          <a:solidFill>
            <a:schemeClr val="tx1"/>
          </a:solidFill>
          <a:latin typeface="+mn-lt"/>
          <a:ea typeface="+mn-ea"/>
          <a:cs typeface="+mn-cs"/>
        </a:defRPr>
      </a:lvl4pPr>
      <a:lvl5pPr marL="1371600" algn="l" defTabSz="685324" rtl="0" eaLnBrk="1" latinLnBrk="0" hangingPunct="1">
        <a:defRPr sz="1350" kern="1200">
          <a:solidFill>
            <a:schemeClr val="tx1"/>
          </a:solidFill>
          <a:latin typeface="+mn-lt"/>
          <a:ea typeface="+mn-ea"/>
          <a:cs typeface="+mn-cs"/>
        </a:defRPr>
      </a:lvl5pPr>
      <a:lvl6pPr marL="1714500" algn="l" defTabSz="685324" rtl="0" eaLnBrk="1" latinLnBrk="0" hangingPunct="1">
        <a:defRPr sz="1350" kern="1200">
          <a:solidFill>
            <a:schemeClr val="tx1"/>
          </a:solidFill>
          <a:latin typeface="+mn-lt"/>
          <a:ea typeface="+mn-ea"/>
          <a:cs typeface="+mn-cs"/>
        </a:defRPr>
      </a:lvl6pPr>
      <a:lvl7pPr marL="2057400" algn="l" defTabSz="685324" rtl="0" eaLnBrk="1" latinLnBrk="0" hangingPunct="1">
        <a:defRPr sz="1350" kern="1200">
          <a:solidFill>
            <a:schemeClr val="tx1"/>
          </a:solidFill>
          <a:latin typeface="+mn-lt"/>
          <a:ea typeface="+mn-ea"/>
          <a:cs typeface="+mn-cs"/>
        </a:defRPr>
      </a:lvl7pPr>
      <a:lvl8pPr marL="2400300" algn="l" defTabSz="685324" rtl="0" eaLnBrk="1" latinLnBrk="0" hangingPunct="1">
        <a:defRPr sz="1350" kern="1200">
          <a:solidFill>
            <a:schemeClr val="tx1"/>
          </a:solidFill>
          <a:latin typeface="+mn-lt"/>
          <a:ea typeface="+mn-ea"/>
          <a:cs typeface="+mn-cs"/>
        </a:defRPr>
      </a:lvl8pPr>
      <a:lvl9pPr marL="2743200" algn="l" defTabSz="685324"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ideo" Target="NULL" TargetMode="Externa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等腰三角形 8"/>
          <p:cNvSpPr/>
          <p:nvPr/>
        </p:nvSpPr>
        <p:spPr>
          <a:xfrm rot="1650064">
            <a:off x="6818085" y="670620"/>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 name="等腰三角形 9"/>
          <p:cNvSpPr/>
          <p:nvPr/>
        </p:nvSpPr>
        <p:spPr>
          <a:xfrm rot="12132218">
            <a:off x="4937314" y="278512"/>
            <a:ext cx="292713" cy="591282"/>
          </a:xfrm>
          <a:prstGeom prst="triangle">
            <a:avLst/>
          </a:prstGeom>
          <a:solidFill>
            <a:srgbClr val="FC6E5B">
              <a:alpha val="31000"/>
            </a:srgb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1" name="任意多边形 80"/>
          <p:cNvSpPr/>
          <p:nvPr/>
        </p:nvSpPr>
        <p:spPr>
          <a:xfrm rot="8289040">
            <a:off x="7578328" y="683419"/>
            <a:ext cx="1860947" cy="146447"/>
          </a:xfrm>
          <a:custGeom>
            <a:avLst/>
            <a:gdLst>
              <a:gd name="connsiteX0" fmla="*/ 0 w 2481081"/>
              <a:gd name="connsiteY0" fmla="*/ 194529 h 194529"/>
              <a:gd name="connsiteX1" fmla="*/ 174230 w 2481081"/>
              <a:gd name="connsiteY1" fmla="*/ 0 h 194529"/>
              <a:gd name="connsiteX2" fmla="*/ 2263889 w 2481081"/>
              <a:gd name="connsiteY2" fmla="*/ 0 h 194529"/>
              <a:gd name="connsiteX3" fmla="*/ 2481081 w 2481081"/>
              <a:gd name="connsiteY3" fmla="*/ 194529 h 194529"/>
            </a:gdLst>
            <a:ahLst/>
            <a:cxnLst>
              <a:cxn ang="0">
                <a:pos x="connsiteX0" y="connsiteY0"/>
              </a:cxn>
              <a:cxn ang="0">
                <a:pos x="connsiteX1" y="connsiteY1"/>
              </a:cxn>
              <a:cxn ang="0">
                <a:pos x="connsiteX2" y="connsiteY2"/>
              </a:cxn>
              <a:cxn ang="0">
                <a:pos x="connsiteX3" y="connsiteY3"/>
              </a:cxn>
            </a:cxnLst>
            <a:rect l="l" t="t" r="r" b="b"/>
            <a:pathLst>
              <a:path w="2481081" h="194529">
                <a:moveTo>
                  <a:pt x="0" y="194529"/>
                </a:moveTo>
                <a:lnTo>
                  <a:pt x="174230" y="0"/>
                </a:lnTo>
                <a:lnTo>
                  <a:pt x="2263889" y="0"/>
                </a:lnTo>
                <a:lnTo>
                  <a:pt x="2481081"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3" name="任意多边形 72"/>
          <p:cNvSpPr/>
          <p:nvPr/>
        </p:nvSpPr>
        <p:spPr>
          <a:xfrm rot="8289040">
            <a:off x="7637860" y="503635"/>
            <a:ext cx="1614488" cy="33338"/>
          </a:xfrm>
          <a:custGeom>
            <a:avLst/>
            <a:gdLst>
              <a:gd name="connsiteX0" fmla="*/ 51045 w 2151533"/>
              <a:gd name="connsiteY0" fmla="*/ 45719 h 45719"/>
              <a:gd name="connsiteX1" fmla="*/ 0 w 2151533"/>
              <a:gd name="connsiteY1" fmla="*/ 0 h 45719"/>
              <a:gd name="connsiteX2" fmla="*/ 2151533 w 2151533"/>
              <a:gd name="connsiteY2" fmla="*/ 0 h 45719"/>
              <a:gd name="connsiteX3" fmla="*/ 2151533 w 21515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151533" h="45719">
                <a:moveTo>
                  <a:pt x="51045" y="45719"/>
                </a:moveTo>
                <a:lnTo>
                  <a:pt x="0" y="0"/>
                </a:lnTo>
                <a:lnTo>
                  <a:pt x="2151533" y="0"/>
                </a:lnTo>
                <a:lnTo>
                  <a:pt x="2151533" y="45719"/>
                </a:lnTo>
                <a:close/>
              </a:path>
            </a:pathLst>
          </a:custGeom>
          <a:solidFill>
            <a:srgbClr val="79C7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7" name="任意多边形 46"/>
          <p:cNvSpPr/>
          <p:nvPr/>
        </p:nvSpPr>
        <p:spPr>
          <a:xfrm rot="8289040">
            <a:off x="7946231" y="1422798"/>
            <a:ext cx="1404938" cy="34528"/>
          </a:xfrm>
          <a:custGeom>
            <a:avLst/>
            <a:gdLst>
              <a:gd name="connsiteX0" fmla="*/ 0 w 1873652"/>
              <a:gd name="connsiteY0" fmla="*/ 45719 h 45719"/>
              <a:gd name="connsiteX1" fmla="*/ 40948 w 1873652"/>
              <a:gd name="connsiteY1" fmla="*/ 0 h 45719"/>
              <a:gd name="connsiteX2" fmla="*/ 1873652 w 1873652"/>
              <a:gd name="connsiteY2" fmla="*/ 0 h 45719"/>
              <a:gd name="connsiteX3" fmla="*/ 1873652 w 187365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73652" h="45719">
                <a:moveTo>
                  <a:pt x="0" y="45719"/>
                </a:moveTo>
                <a:lnTo>
                  <a:pt x="40948" y="0"/>
                </a:lnTo>
                <a:lnTo>
                  <a:pt x="1873652" y="0"/>
                </a:lnTo>
                <a:lnTo>
                  <a:pt x="1873652" y="45719"/>
                </a:lnTo>
                <a:close/>
              </a:path>
            </a:pathLst>
          </a:custGeom>
          <a:solidFill>
            <a:srgbClr val="FC6E5B">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6" name="任意多边形 75"/>
          <p:cNvSpPr/>
          <p:nvPr/>
        </p:nvSpPr>
        <p:spPr>
          <a:xfrm rot="8289040">
            <a:off x="7749778" y="1759744"/>
            <a:ext cx="1643063" cy="115491"/>
          </a:xfrm>
          <a:custGeom>
            <a:avLst/>
            <a:gdLst>
              <a:gd name="connsiteX0" fmla="*/ 0 w 2190050"/>
              <a:gd name="connsiteY0" fmla="*/ 155058 h 155058"/>
              <a:gd name="connsiteX1" fmla="*/ 138878 w 2190050"/>
              <a:gd name="connsiteY1" fmla="*/ 0 h 155058"/>
              <a:gd name="connsiteX2" fmla="*/ 2016928 w 2190050"/>
              <a:gd name="connsiteY2" fmla="*/ 0 h 155058"/>
              <a:gd name="connsiteX3" fmla="*/ 2190050 w 2190050"/>
              <a:gd name="connsiteY3" fmla="*/ 155058 h 155058"/>
            </a:gdLst>
            <a:ahLst/>
            <a:cxnLst>
              <a:cxn ang="0">
                <a:pos x="connsiteX0" y="connsiteY0"/>
              </a:cxn>
              <a:cxn ang="0">
                <a:pos x="connsiteX1" y="connsiteY1"/>
              </a:cxn>
              <a:cxn ang="0">
                <a:pos x="connsiteX2" y="connsiteY2"/>
              </a:cxn>
              <a:cxn ang="0">
                <a:pos x="connsiteX3" y="connsiteY3"/>
              </a:cxn>
            </a:cxnLst>
            <a:rect l="l" t="t" r="r" b="b"/>
            <a:pathLst>
              <a:path w="2190050" h="155058">
                <a:moveTo>
                  <a:pt x="0" y="155058"/>
                </a:moveTo>
                <a:lnTo>
                  <a:pt x="138878" y="0"/>
                </a:lnTo>
                <a:lnTo>
                  <a:pt x="2016928" y="0"/>
                </a:lnTo>
                <a:lnTo>
                  <a:pt x="2190050" y="155058"/>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5" name="任意多边形 44"/>
          <p:cNvSpPr/>
          <p:nvPr/>
        </p:nvSpPr>
        <p:spPr>
          <a:xfrm rot="8289040">
            <a:off x="8521304" y="1850231"/>
            <a:ext cx="744140" cy="34529"/>
          </a:xfrm>
          <a:custGeom>
            <a:avLst/>
            <a:gdLst>
              <a:gd name="connsiteX0" fmla="*/ 0 w 991862"/>
              <a:gd name="connsiteY0" fmla="*/ 45719 h 45719"/>
              <a:gd name="connsiteX1" fmla="*/ 40948 w 991862"/>
              <a:gd name="connsiteY1" fmla="*/ 0 h 45719"/>
              <a:gd name="connsiteX2" fmla="*/ 991862 w 991862"/>
              <a:gd name="connsiteY2" fmla="*/ 0 h 45719"/>
              <a:gd name="connsiteX3" fmla="*/ 991862 w 99186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991862" h="45719">
                <a:moveTo>
                  <a:pt x="0" y="45719"/>
                </a:moveTo>
                <a:lnTo>
                  <a:pt x="40948" y="0"/>
                </a:lnTo>
                <a:lnTo>
                  <a:pt x="991862" y="0"/>
                </a:lnTo>
                <a:lnTo>
                  <a:pt x="99186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 name="组合 163"/>
          <p:cNvGrpSpPr/>
          <p:nvPr/>
        </p:nvGrpSpPr>
        <p:grpSpPr bwMode="auto">
          <a:xfrm>
            <a:off x="8003382" y="2431256"/>
            <a:ext cx="721519" cy="838200"/>
            <a:chOff x="10670736" y="3241053"/>
            <a:chExt cx="962659" cy="1118718"/>
          </a:xfrm>
        </p:grpSpPr>
        <p:sp>
          <p:nvSpPr>
            <p:cNvPr id="16" name="等腰三角形 1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等腰三角形 16"/>
            <p:cNvSpPr/>
            <p:nvPr/>
          </p:nvSpPr>
          <p:spPr>
            <a:xfrm rot="20901646">
              <a:off x="10936527" y="3445371"/>
              <a:ext cx="696868"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24" name="等腰三角形 23"/>
          <p:cNvSpPr/>
          <p:nvPr/>
        </p:nvSpPr>
        <p:spPr>
          <a:xfrm rot="14549936" flipH="1">
            <a:off x="5116580" y="3430487"/>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0" name="等腰三角形 29"/>
          <p:cNvSpPr/>
          <p:nvPr/>
        </p:nvSpPr>
        <p:spPr>
          <a:xfrm rot="14549936" flipH="1">
            <a:off x="4147800" y="3563063"/>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1" name="等腰三角形 30"/>
          <p:cNvSpPr/>
          <p:nvPr/>
        </p:nvSpPr>
        <p:spPr>
          <a:xfrm rot="14549936" flipH="1">
            <a:off x="5551738" y="3580769"/>
            <a:ext cx="333809" cy="574152"/>
          </a:xfrm>
          <a:prstGeom prst="triangle">
            <a:avLst/>
          </a:prstGeom>
          <a:solidFill>
            <a:srgbClr val="FC6E5B"/>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3" name="组合 10"/>
          <p:cNvGrpSpPr/>
          <p:nvPr/>
        </p:nvGrpSpPr>
        <p:grpSpPr bwMode="auto">
          <a:xfrm>
            <a:off x="720329" y="1735932"/>
            <a:ext cx="620315" cy="692944"/>
            <a:chOff x="1354861" y="2750116"/>
            <a:chExt cx="828164" cy="924005"/>
          </a:xfrm>
        </p:grpSpPr>
        <p:sp>
          <p:nvSpPr>
            <p:cNvPr id="33" name="直角三角形 32"/>
            <p:cNvSpPr/>
            <p:nvPr/>
          </p:nvSpPr>
          <p:spPr>
            <a:xfrm rot="3161904">
              <a:off x="1665936" y="3157032"/>
              <a:ext cx="517570" cy="516609"/>
            </a:xfrm>
            <a:prstGeom prst="rtTriangle">
              <a:avLst/>
            </a:prstGeom>
            <a:solidFill>
              <a:srgbClr val="66BFBC">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4" name="直角三角形 33"/>
            <p:cNvSpPr/>
            <p:nvPr/>
          </p:nvSpPr>
          <p:spPr>
            <a:xfrm rot="3161904" flipH="1">
              <a:off x="1354381" y="2750596"/>
              <a:ext cx="517570" cy="516609"/>
            </a:xfrm>
            <a:prstGeom prst="rtTriangle">
              <a:avLst/>
            </a:prstGeom>
            <a:solidFill>
              <a:srgbClr val="66BFB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39" name="直角三角形 38"/>
          <p:cNvSpPr/>
          <p:nvPr/>
        </p:nvSpPr>
        <p:spPr>
          <a:xfrm rot="3176496">
            <a:off x="2666724" y="3947868"/>
            <a:ext cx="230419" cy="230418"/>
          </a:xfrm>
          <a:prstGeom prst="rtTriangle">
            <a:avLst/>
          </a:prstGeom>
          <a:solidFill>
            <a:srgbClr val="66BFBC">
              <a:alpha val="6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0" name="直角三角形 39"/>
          <p:cNvSpPr/>
          <p:nvPr/>
        </p:nvSpPr>
        <p:spPr>
          <a:xfrm rot="3176496" flipH="1">
            <a:off x="2545217" y="3786292"/>
            <a:ext cx="230419" cy="230418"/>
          </a:xfrm>
          <a:prstGeom prst="rtTriangle">
            <a:avLst/>
          </a:prstGeom>
          <a:solidFill>
            <a:srgbClr val="66BFBC">
              <a:alpha val="9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2" name="等腰三角形 81"/>
          <p:cNvSpPr/>
          <p:nvPr/>
        </p:nvSpPr>
        <p:spPr>
          <a:xfrm rot="8943941">
            <a:off x="2458504" y="963636"/>
            <a:ext cx="646247" cy="809888"/>
          </a:xfrm>
          <a:prstGeom prst="triangle">
            <a:avLst/>
          </a:prstGeom>
          <a:solidFill>
            <a:srgbClr val="FC6E5B">
              <a:alpha val="62000"/>
            </a:srgbClr>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3" name="椭圆 82"/>
          <p:cNvSpPr/>
          <p:nvPr/>
        </p:nvSpPr>
        <p:spPr>
          <a:xfrm>
            <a:off x="1959685" y="1250983"/>
            <a:ext cx="582704" cy="644636"/>
          </a:xfrm>
          <a:prstGeom prst="ellipse">
            <a:avLst/>
          </a:prstGeom>
          <a:solidFill>
            <a:srgbClr val="FBC75D">
              <a:alpha val="56000"/>
            </a:srgb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8" name="等腰三角形 87"/>
          <p:cNvSpPr/>
          <p:nvPr/>
        </p:nvSpPr>
        <p:spPr>
          <a:xfrm rot="7669978">
            <a:off x="1265381" y="1570446"/>
            <a:ext cx="227435" cy="216216"/>
          </a:xfrm>
          <a:prstGeom prst="triangle">
            <a:avLst/>
          </a:prstGeom>
          <a:solidFill>
            <a:srgbClr val="8CC066">
              <a:alpha val="62000"/>
            </a:srgbClr>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8" name="任意多边形 77"/>
          <p:cNvSpPr/>
          <p:nvPr/>
        </p:nvSpPr>
        <p:spPr>
          <a:xfrm rot="8289040">
            <a:off x="5639991" y="4461273"/>
            <a:ext cx="2016919" cy="145256"/>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6" name="任意多边形 65"/>
          <p:cNvSpPr/>
          <p:nvPr/>
        </p:nvSpPr>
        <p:spPr>
          <a:xfrm rot="8289040">
            <a:off x="6201967" y="4785122"/>
            <a:ext cx="1087040" cy="33338"/>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4" name="任意多边形 63"/>
          <p:cNvSpPr/>
          <p:nvPr/>
        </p:nvSpPr>
        <p:spPr>
          <a:xfrm rot="8289040">
            <a:off x="6536532" y="4701779"/>
            <a:ext cx="1332310" cy="34528"/>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0" name="任意多边形 69"/>
          <p:cNvSpPr/>
          <p:nvPr/>
        </p:nvSpPr>
        <p:spPr>
          <a:xfrm rot="8289040">
            <a:off x="5232798" y="4589860"/>
            <a:ext cx="1674019" cy="34528"/>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2" name="任意多边形 71"/>
          <p:cNvSpPr/>
          <p:nvPr/>
        </p:nvSpPr>
        <p:spPr>
          <a:xfrm rot="8289040">
            <a:off x="4748212" y="4879181"/>
            <a:ext cx="806054" cy="33338"/>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0" name="任意多边形 79"/>
          <p:cNvSpPr/>
          <p:nvPr/>
        </p:nvSpPr>
        <p:spPr>
          <a:xfrm rot="8289040">
            <a:off x="-406004" y="4099322"/>
            <a:ext cx="2983707" cy="94059"/>
          </a:xfrm>
          <a:custGeom>
            <a:avLst/>
            <a:gdLst>
              <a:gd name="connsiteX0" fmla="*/ 139966 w 3978903"/>
              <a:gd name="connsiteY0" fmla="*/ 125361 h 125361"/>
              <a:gd name="connsiteX1" fmla="*/ 0 w 3978903"/>
              <a:gd name="connsiteY1" fmla="*/ 0 h 125361"/>
              <a:gd name="connsiteX2" fmla="*/ 3939559 w 3978903"/>
              <a:gd name="connsiteY2" fmla="*/ 0 h 125361"/>
              <a:gd name="connsiteX3" fmla="*/ 3978903 w 3978903"/>
              <a:gd name="connsiteY3" fmla="*/ 35238 h 125361"/>
              <a:gd name="connsiteX4" fmla="*/ 3898184 w 3978903"/>
              <a:gd name="connsiteY4" fmla="*/ 125361 h 12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8903" h="125361">
                <a:moveTo>
                  <a:pt x="139966" y="125361"/>
                </a:moveTo>
                <a:lnTo>
                  <a:pt x="0" y="0"/>
                </a:lnTo>
                <a:lnTo>
                  <a:pt x="3939559" y="0"/>
                </a:lnTo>
                <a:lnTo>
                  <a:pt x="3978903" y="35238"/>
                </a:lnTo>
                <a:lnTo>
                  <a:pt x="3898184" y="125361"/>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6" name="任意多边形 55"/>
          <p:cNvSpPr/>
          <p:nvPr/>
        </p:nvSpPr>
        <p:spPr>
          <a:xfrm rot="8289040">
            <a:off x="-426244" y="3720704"/>
            <a:ext cx="3161110" cy="34528"/>
          </a:xfrm>
          <a:custGeom>
            <a:avLst/>
            <a:gdLst>
              <a:gd name="connsiteX0" fmla="*/ 0 w 4213929"/>
              <a:gd name="connsiteY0" fmla="*/ 45719 h 45719"/>
              <a:gd name="connsiteX1" fmla="*/ 0 w 4213929"/>
              <a:gd name="connsiteY1" fmla="*/ 0 h 45719"/>
              <a:gd name="connsiteX2" fmla="*/ 4213929 w 4213929"/>
              <a:gd name="connsiteY2" fmla="*/ 0 h 45719"/>
              <a:gd name="connsiteX3" fmla="*/ 4172980 w 4213929"/>
              <a:gd name="connsiteY3" fmla="*/ 45719 h 45719"/>
            </a:gdLst>
            <a:ahLst/>
            <a:cxnLst>
              <a:cxn ang="0">
                <a:pos x="connsiteX0" y="connsiteY0"/>
              </a:cxn>
              <a:cxn ang="0">
                <a:pos x="connsiteX1" y="connsiteY1"/>
              </a:cxn>
              <a:cxn ang="0">
                <a:pos x="connsiteX2" y="connsiteY2"/>
              </a:cxn>
              <a:cxn ang="0">
                <a:pos x="connsiteX3" y="connsiteY3"/>
              </a:cxn>
            </a:cxnLst>
            <a:rect l="l" t="t" r="r" b="b"/>
            <a:pathLst>
              <a:path w="4213929" h="45719">
                <a:moveTo>
                  <a:pt x="0" y="45719"/>
                </a:moveTo>
                <a:lnTo>
                  <a:pt x="0" y="0"/>
                </a:lnTo>
                <a:lnTo>
                  <a:pt x="4213929" y="0"/>
                </a:lnTo>
                <a:lnTo>
                  <a:pt x="4172980"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4" name="任意多边形 53"/>
          <p:cNvSpPr/>
          <p:nvPr/>
        </p:nvSpPr>
        <p:spPr>
          <a:xfrm rot="8289040">
            <a:off x="-200025" y="3527823"/>
            <a:ext cx="1385888" cy="34528"/>
          </a:xfrm>
          <a:custGeom>
            <a:avLst/>
            <a:gdLst>
              <a:gd name="connsiteX0" fmla="*/ 0 w 1847733"/>
              <a:gd name="connsiteY0" fmla="*/ 45719 h 45719"/>
              <a:gd name="connsiteX1" fmla="*/ 0 w 1847733"/>
              <a:gd name="connsiteY1" fmla="*/ 0 h 45719"/>
              <a:gd name="connsiteX2" fmla="*/ 1847733 w 1847733"/>
              <a:gd name="connsiteY2" fmla="*/ 0 h 45719"/>
              <a:gd name="connsiteX3" fmla="*/ 1806784 w 18477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47733" h="45719">
                <a:moveTo>
                  <a:pt x="0" y="45719"/>
                </a:moveTo>
                <a:lnTo>
                  <a:pt x="0" y="0"/>
                </a:lnTo>
                <a:lnTo>
                  <a:pt x="1847733" y="0"/>
                </a:lnTo>
                <a:lnTo>
                  <a:pt x="1806784"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任意多边形 51"/>
          <p:cNvSpPr/>
          <p:nvPr/>
        </p:nvSpPr>
        <p:spPr>
          <a:xfrm rot="8289040">
            <a:off x="-221457" y="3196829"/>
            <a:ext cx="1557338" cy="34528"/>
          </a:xfrm>
          <a:custGeom>
            <a:avLst/>
            <a:gdLst>
              <a:gd name="connsiteX0" fmla="*/ 0 w 2076814"/>
              <a:gd name="connsiteY0" fmla="*/ 45719 h 45719"/>
              <a:gd name="connsiteX1" fmla="*/ 0 w 2076814"/>
              <a:gd name="connsiteY1" fmla="*/ 0 h 45719"/>
              <a:gd name="connsiteX2" fmla="*/ 2076814 w 2076814"/>
              <a:gd name="connsiteY2" fmla="*/ 0 h 45719"/>
              <a:gd name="connsiteX3" fmla="*/ 2035866 w 2076814"/>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076814" h="45719">
                <a:moveTo>
                  <a:pt x="0" y="45719"/>
                </a:moveTo>
                <a:lnTo>
                  <a:pt x="0" y="0"/>
                </a:lnTo>
                <a:lnTo>
                  <a:pt x="2076814" y="0"/>
                </a:lnTo>
                <a:lnTo>
                  <a:pt x="2035866"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0" name="任意多边形 59"/>
          <p:cNvSpPr/>
          <p:nvPr/>
        </p:nvSpPr>
        <p:spPr>
          <a:xfrm rot="8289040">
            <a:off x="211931" y="4530329"/>
            <a:ext cx="1824038" cy="34528"/>
          </a:xfrm>
          <a:custGeom>
            <a:avLst/>
            <a:gdLst>
              <a:gd name="connsiteX0" fmla="*/ 0 w 2432620"/>
              <a:gd name="connsiteY0" fmla="*/ 45719 h 45719"/>
              <a:gd name="connsiteX1" fmla="*/ 0 w 2432620"/>
              <a:gd name="connsiteY1" fmla="*/ 0 h 45719"/>
              <a:gd name="connsiteX2" fmla="*/ 2381575 w 2432620"/>
              <a:gd name="connsiteY2" fmla="*/ 0 h 45719"/>
              <a:gd name="connsiteX3" fmla="*/ 2432620 w 243262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432620" h="45719">
                <a:moveTo>
                  <a:pt x="0" y="45719"/>
                </a:moveTo>
                <a:lnTo>
                  <a:pt x="0" y="0"/>
                </a:lnTo>
                <a:lnTo>
                  <a:pt x="2381575" y="0"/>
                </a:lnTo>
                <a:lnTo>
                  <a:pt x="2432620"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0" name="任意多边形 89"/>
          <p:cNvSpPr/>
          <p:nvPr/>
        </p:nvSpPr>
        <p:spPr>
          <a:xfrm rot="8289040">
            <a:off x="2164557" y="4819650"/>
            <a:ext cx="989410" cy="71438"/>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1" name="任意多边形 90"/>
          <p:cNvSpPr/>
          <p:nvPr/>
        </p:nvSpPr>
        <p:spPr>
          <a:xfrm rot="8289040">
            <a:off x="2439591" y="4979194"/>
            <a:ext cx="533400" cy="16669"/>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2" name="任意多边形 91"/>
          <p:cNvSpPr/>
          <p:nvPr/>
        </p:nvSpPr>
        <p:spPr>
          <a:xfrm rot="8289040">
            <a:off x="2603898" y="4937523"/>
            <a:ext cx="653653" cy="16669"/>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3" name="任意多边形 92"/>
          <p:cNvSpPr/>
          <p:nvPr/>
        </p:nvSpPr>
        <p:spPr>
          <a:xfrm rot="8289040">
            <a:off x="1964531" y="4882754"/>
            <a:ext cx="820341" cy="16669"/>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4" name="任意多边形 93"/>
          <p:cNvSpPr/>
          <p:nvPr/>
        </p:nvSpPr>
        <p:spPr>
          <a:xfrm rot="8289040">
            <a:off x="1726406" y="5024438"/>
            <a:ext cx="395288" cy="16669"/>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4" name="等腰三角形 103"/>
          <p:cNvSpPr/>
          <p:nvPr/>
        </p:nvSpPr>
        <p:spPr>
          <a:xfrm rot="8791815">
            <a:off x="3510890" y="415254"/>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5" name="等腰三角形 104"/>
          <p:cNvSpPr/>
          <p:nvPr/>
        </p:nvSpPr>
        <p:spPr>
          <a:xfrm rot="10800000">
            <a:off x="3735451" y="543949"/>
            <a:ext cx="1030688" cy="1037132"/>
          </a:xfrm>
          <a:prstGeom prst="triangle">
            <a:avLst/>
          </a:prstGeom>
          <a:solidFill>
            <a:srgbClr val="66BFBC"/>
          </a:solidFill>
          <a:ln>
            <a:noFill/>
          </a:ln>
          <a:effectLst>
            <a:softEdge rad="3683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6" name="等腰三角形 105"/>
          <p:cNvSpPr/>
          <p:nvPr/>
        </p:nvSpPr>
        <p:spPr>
          <a:xfrm rot="8791815">
            <a:off x="6009085" y="823912"/>
            <a:ext cx="205978"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7" name="等腰三角形 106"/>
          <p:cNvSpPr/>
          <p:nvPr/>
        </p:nvSpPr>
        <p:spPr>
          <a:xfrm rot="8791815">
            <a:off x="6568679" y="35266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8" name="等腰三角形 107"/>
          <p:cNvSpPr/>
          <p:nvPr/>
        </p:nvSpPr>
        <p:spPr>
          <a:xfrm rot="8791815">
            <a:off x="5689998" y="4532710"/>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9" name="等腰三角形 108"/>
          <p:cNvSpPr/>
          <p:nvPr/>
        </p:nvSpPr>
        <p:spPr>
          <a:xfrm rot="8791815">
            <a:off x="4199335" y="4115991"/>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0" name="等腰三角形 109"/>
          <p:cNvSpPr/>
          <p:nvPr/>
        </p:nvSpPr>
        <p:spPr>
          <a:xfrm rot="8791815">
            <a:off x="3458766" y="3836194"/>
            <a:ext cx="205978" cy="100013"/>
          </a:xfrm>
          <a:prstGeom prs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1" name="等腰三角形 110"/>
          <p:cNvSpPr/>
          <p:nvPr/>
        </p:nvSpPr>
        <p:spPr>
          <a:xfrm rot="8791815">
            <a:off x="4926530" y="3899794"/>
            <a:ext cx="517410" cy="580007"/>
          </a:xfrm>
          <a:prstGeom prst="triangle">
            <a:avLst/>
          </a:prstGeom>
          <a:solidFill>
            <a:srgbClr val="8CC066"/>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2" name="等腰三角形 111"/>
          <p:cNvSpPr/>
          <p:nvPr/>
        </p:nvSpPr>
        <p:spPr>
          <a:xfrm rot="12808185" flipH="1">
            <a:off x="4394598" y="4475560"/>
            <a:ext cx="205978" cy="98822"/>
          </a:xfrm>
          <a:prstGeom prs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3" name="等腰三角形 112"/>
          <p:cNvSpPr/>
          <p:nvPr/>
        </p:nvSpPr>
        <p:spPr>
          <a:xfrm rot="8791815">
            <a:off x="1835944" y="4321969"/>
            <a:ext cx="205979"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5" name="等腰三角形 114"/>
          <p:cNvSpPr/>
          <p:nvPr/>
        </p:nvSpPr>
        <p:spPr>
          <a:xfrm rot="9746558" flipV="1">
            <a:off x="7453390" y="3395174"/>
            <a:ext cx="180053" cy="364038"/>
          </a:xfrm>
          <a:prstGeom prst="triangle">
            <a:avLst>
              <a:gd name="adj" fmla="val 41342"/>
            </a:avLst>
          </a:pr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7" name="直角三角形 116"/>
          <p:cNvSpPr/>
          <p:nvPr/>
        </p:nvSpPr>
        <p:spPr>
          <a:xfrm rot="11669251" flipH="1">
            <a:off x="8460582" y="4707732"/>
            <a:ext cx="160735" cy="160735"/>
          </a:xfrm>
          <a:prstGeom prst="rtTriangle">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1" name="直角三角形 120"/>
          <p:cNvSpPr/>
          <p:nvPr/>
        </p:nvSpPr>
        <p:spPr>
          <a:xfrm rot="8729171" flipH="1">
            <a:off x="3640133" y="4237150"/>
            <a:ext cx="1302486" cy="536711"/>
          </a:xfrm>
          <a:prstGeom prst="rtTriangle">
            <a:avLst/>
          </a:prstGeom>
          <a:solidFill>
            <a:srgbClr val="FBC75D"/>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2" name="直角三角形 121"/>
          <p:cNvSpPr/>
          <p:nvPr/>
        </p:nvSpPr>
        <p:spPr>
          <a:xfrm rot="1054849">
            <a:off x="7460457" y="1371601"/>
            <a:ext cx="117872" cy="145256"/>
          </a:xfrm>
          <a:prstGeom prst="rtTriangle">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5" name="直角三角形 124"/>
          <p:cNvSpPr/>
          <p:nvPr/>
        </p:nvSpPr>
        <p:spPr>
          <a:xfrm rot="11669251" flipH="1">
            <a:off x="8715375" y="4249341"/>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6" name="直角三角形 125"/>
          <p:cNvSpPr/>
          <p:nvPr/>
        </p:nvSpPr>
        <p:spPr>
          <a:xfrm rot="9930749">
            <a:off x="8058150" y="4216004"/>
            <a:ext cx="160735" cy="159544"/>
          </a:xfrm>
          <a:prstGeom prst="r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7" name="直角三角形 126"/>
          <p:cNvSpPr/>
          <p:nvPr/>
        </p:nvSpPr>
        <p:spPr>
          <a:xfrm rot="11669251" flipH="1">
            <a:off x="7781925" y="4777979"/>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8" name="直角三角形 127"/>
          <p:cNvSpPr/>
          <p:nvPr/>
        </p:nvSpPr>
        <p:spPr>
          <a:xfrm rot="9930749">
            <a:off x="8785622" y="3448050"/>
            <a:ext cx="160734" cy="160735"/>
          </a:xfrm>
          <a:prstGeom prst="r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9" name="直角三角形 128"/>
          <p:cNvSpPr/>
          <p:nvPr/>
        </p:nvSpPr>
        <p:spPr>
          <a:xfrm rot="11669251" flipH="1">
            <a:off x="8337947" y="3655219"/>
            <a:ext cx="160734" cy="160735"/>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45" name="任意多边形 144"/>
          <p:cNvSpPr/>
          <p:nvPr/>
        </p:nvSpPr>
        <p:spPr>
          <a:xfrm rot="10011152">
            <a:off x="2789370" y="625995"/>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3" name="任意多边形 152"/>
          <p:cNvSpPr/>
          <p:nvPr/>
        </p:nvSpPr>
        <p:spPr>
          <a:xfrm rot="17730414">
            <a:off x="5966738" y="660491"/>
            <a:ext cx="848059" cy="70666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4" name="任意多边形 153"/>
          <p:cNvSpPr/>
          <p:nvPr/>
        </p:nvSpPr>
        <p:spPr>
          <a:xfrm rot="10011152">
            <a:off x="6686551" y="644129"/>
            <a:ext cx="183356"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6" name="任意多边形 155"/>
          <p:cNvSpPr/>
          <p:nvPr/>
        </p:nvSpPr>
        <p:spPr>
          <a:xfrm rot="10011152">
            <a:off x="7405688" y="760810"/>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7" name="任意多边形 156"/>
          <p:cNvSpPr/>
          <p:nvPr/>
        </p:nvSpPr>
        <p:spPr>
          <a:xfrm rot="10011152">
            <a:off x="4468152" y="340245"/>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8" name="任意多边形 157"/>
          <p:cNvSpPr/>
          <p:nvPr/>
        </p:nvSpPr>
        <p:spPr>
          <a:xfrm rot="10011152">
            <a:off x="3036043" y="825417"/>
            <a:ext cx="707769" cy="952955"/>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FBC75D"/>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1" name="任意多边形 160"/>
          <p:cNvSpPr/>
          <p:nvPr/>
        </p:nvSpPr>
        <p:spPr>
          <a:xfrm rot="17840340">
            <a:off x="2689682" y="3005288"/>
            <a:ext cx="808761" cy="673914"/>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3" name="任意多边形 162"/>
          <p:cNvSpPr/>
          <p:nvPr/>
        </p:nvSpPr>
        <p:spPr>
          <a:xfrm rot="10011152">
            <a:off x="3321844" y="4398169"/>
            <a:ext cx="183356" cy="153591"/>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4" name="组合 164"/>
          <p:cNvGrpSpPr/>
          <p:nvPr/>
        </p:nvGrpSpPr>
        <p:grpSpPr bwMode="auto">
          <a:xfrm rot="11957288">
            <a:off x="1591867" y="1173957"/>
            <a:ext cx="431006" cy="498872"/>
            <a:chOff x="10670736" y="3241053"/>
            <a:chExt cx="917923" cy="1060882"/>
          </a:xfrm>
        </p:grpSpPr>
        <p:sp>
          <p:nvSpPr>
            <p:cNvPr id="166" name="等腰三角形 16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7" name="等腰三角形 16"/>
            <p:cNvSpPr/>
            <p:nvPr/>
          </p:nvSpPr>
          <p:spPr>
            <a:xfrm rot="20901646">
              <a:off x="10891792" y="3387535"/>
              <a:ext cx="696867"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grpSp>
        <p:nvGrpSpPr>
          <p:cNvPr id="55" name="组合 54"/>
          <p:cNvGrpSpPr/>
          <p:nvPr/>
        </p:nvGrpSpPr>
        <p:grpSpPr>
          <a:xfrm>
            <a:off x="3329517" y="3787579"/>
            <a:ext cx="1990725" cy="328613"/>
            <a:chOff x="3576638" y="3250844"/>
            <a:chExt cx="1990725" cy="328613"/>
          </a:xfrm>
        </p:grpSpPr>
        <p:grpSp>
          <p:nvGrpSpPr>
            <p:cNvPr id="6" name="组合 85"/>
            <p:cNvGrpSpPr/>
            <p:nvPr/>
          </p:nvGrpSpPr>
          <p:grpSpPr bwMode="auto">
            <a:xfrm>
              <a:off x="4685110" y="3250844"/>
              <a:ext cx="327422" cy="328613"/>
              <a:chOff x="5477628" y="816362"/>
              <a:chExt cx="1120629" cy="1120629"/>
            </a:xfrm>
          </p:grpSpPr>
          <p:sp>
            <p:nvSpPr>
              <p:cNvPr id="87" name="椭圆 86"/>
              <p:cNvSpPr/>
              <p:nvPr/>
            </p:nvSpPr>
            <p:spPr>
              <a:xfrm>
                <a:off x="5477628" y="816362"/>
                <a:ext cx="1120629" cy="1120629"/>
              </a:xfrm>
              <a:prstGeom prst="ellipse">
                <a:avLst/>
              </a:prstGeom>
              <a:pattFill prst="wdUpDiag">
                <a:fgClr>
                  <a:srgbClr val="FACA5E"/>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9" name="椭圆 88"/>
              <p:cNvSpPr/>
              <p:nvPr/>
            </p:nvSpPr>
            <p:spPr>
              <a:xfrm>
                <a:off x="5563202" y="897567"/>
                <a:ext cx="949481" cy="954160"/>
              </a:xfrm>
              <a:prstGeom prst="ellipse">
                <a:avLst/>
              </a:prstGeom>
              <a:solidFill>
                <a:srgbClr val="FACA5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7" name="组合 94"/>
              <p:cNvGrpSpPr>
                <a:grpSpLocks noChangeAspect="1"/>
              </p:cNvGrpSpPr>
              <p:nvPr/>
            </p:nvGrpSpPr>
            <p:grpSpPr>
              <a:xfrm>
                <a:off x="5768479" y="1056071"/>
                <a:ext cx="566457" cy="566457"/>
                <a:chOff x="6267960" y="2101505"/>
                <a:chExt cx="731377" cy="731377"/>
              </a:xfrm>
              <a:solidFill>
                <a:schemeClr val="bg1"/>
              </a:solidFill>
            </p:grpSpPr>
            <p:sp>
              <p:nvSpPr>
                <p:cNvPr id="97" name="Freeform 578"/>
                <p:cNvSpPr/>
                <p:nvPr/>
              </p:nvSpPr>
              <p:spPr bwMode="auto">
                <a:xfrm>
                  <a:off x="6859409" y="2488832"/>
                  <a:ext cx="97373" cy="194024"/>
                </a:xfrm>
                <a:custGeom>
                  <a:avLst/>
                  <a:gdLst>
                    <a:gd name="T0" fmla="*/ 0 w 57"/>
                    <a:gd name="T1" fmla="*/ 99 h 114"/>
                    <a:gd name="T2" fmla="*/ 22 w 57"/>
                    <a:gd name="T3" fmla="*/ 114 h 114"/>
                    <a:gd name="T4" fmla="*/ 57 w 57"/>
                    <a:gd name="T5" fmla="*/ 0 h 114"/>
                    <a:gd name="T6" fmla="*/ 31 w 57"/>
                    <a:gd name="T7" fmla="*/ 0 h 114"/>
                    <a:gd name="T8" fmla="*/ 0 w 57"/>
                    <a:gd name="T9" fmla="*/ 99 h 114"/>
                  </a:gdLst>
                  <a:ahLst/>
                  <a:cxnLst>
                    <a:cxn ang="0">
                      <a:pos x="T0" y="T1"/>
                    </a:cxn>
                    <a:cxn ang="0">
                      <a:pos x="T2" y="T3"/>
                    </a:cxn>
                    <a:cxn ang="0">
                      <a:pos x="T4" y="T5"/>
                    </a:cxn>
                    <a:cxn ang="0">
                      <a:pos x="T6" y="T7"/>
                    </a:cxn>
                    <a:cxn ang="0">
                      <a:pos x="T8" y="T9"/>
                    </a:cxn>
                  </a:cxnLst>
                  <a:rect l="0" t="0" r="r" b="b"/>
                  <a:pathLst>
                    <a:path w="57" h="114">
                      <a:moveTo>
                        <a:pt x="0" y="99"/>
                      </a:moveTo>
                      <a:cubicBezTo>
                        <a:pt x="22" y="114"/>
                        <a:pt x="22" y="114"/>
                        <a:pt x="22" y="114"/>
                      </a:cubicBezTo>
                      <a:cubicBezTo>
                        <a:pt x="44" y="82"/>
                        <a:pt x="57" y="42"/>
                        <a:pt x="57" y="0"/>
                      </a:cubicBezTo>
                      <a:cubicBezTo>
                        <a:pt x="31" y="0"/>
                        <a:pt x="31" y="0"/>
                        <a:pt x="31" y="0"/>
                      </a:cubicBezTo>
                      <a:cubicBezTo>
                        <a:pt x="31" y="37"/>
                        <a:pt x="20" y="71"/>
                        <a:pt x="0" y="99"/>
                      </a:cubicBez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00" name="Freeform 579"/>
                <p:cNvSpPr/>
                <p:nvPr/>
              </p:nvSpPr>
              <p:spPr bwMode="auto">
                <a:xfrm>
                  <a:off x="6637976" y="2101505"/>
                  <a:ext cx="361361" cy="362804"/>
                </a:xfrm>
                <a:custGeom>
                  <a:avLst/>
                  <a:gdLst>
                    <a:gd name="T0" fmla="*/ 187 w 212"/>
                    <a:gd name="T1" fmla="*/ 213 h 213"/>
                    <a:gd name="T2" fmla="*/ 212 w 212"/>
                    <a:gd name="T3" fmla="*/ 213 h 213"/>
                    <a:gd name="T4" fmla="*/ 0 w 212"/>
                    <a:gd name="T5" fmla="*/ 0 h 213"/>
                    <a:gd name="T6" fmla="*/ 0 w 212"/>
                    <a:gd name="T7" fmla="*/ 25 h 213"/>
                    <a:gd name="T8" fmla="*/ 0 w 212"/>
                    <a:gd name="T9" fmla="*/ 52 h 213"/>
                    <a:gd name="T10" fmla="*/ 0 w 212"/>
                    <a:gd name="T11" fmla="*/ 213 h 213"/>
                    <a:gd name="T12" fmla="*/ 160 w 212"/>
                    <a:gd name="T13" fmla="*/ 213 h 213"/>
                    <a:gd name="T14" fmla="*/ 187 w 212"/>
                    <a:gd name="T15" fmla="*/ 213 h 2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2" h="213">
                      <a:moveTo>
                        <a:pt x="187" y="213"/>
                      </a:moveTo>
                      <a:cubicBezTo>
                        <a:pt x="212" y="213"/>
                        <a:pt x="212" y="213"/>
                        <a:pt x="212" y="213"/>
                      </a:cubicBezTo>
                      <a:cubicBezTo>
                        <a:pt x="187" y="7"/>
                        <a:pt x="0" y="0"/>
                        <a:pt x="0" y="0"/>
                      </a:cubicBezTo>
                      <a:cubicBezTo>
                        <a:pt x="0" y="25"/>
                        <a:pt x="0" y="25"/>
                        <a:pt x="0" y="25"/>
                      </a:cubicBezTo>
                      <a:cubicBezTo>
                        <a:pt x="0" y="52"/>
                        <a:pt x="0" y="52"/>
                        <a:pt x="0" y="52"/>
                      </a:cubicBezTo>
                      <a:cubicBezTo>
                        <a:pt x="0" y="213"/>
                        <a:pt x="0" y="213"/>
                        <a:pt x="0" y="213"/>
                      </a:cubicBezTo>
                      <a:cubicBezTo>
                        <a:pt x="160" y="213"/>
                        <a:pt x="160" y="213"/>
                        <a:pt x="160" y="213"/>
                      </a:cubicBezTo>
                      <a:lnTo>
                        <a:pt x="187" y="213"/>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01" name="Freeform 580"/>
                <p:cNvSpPr/>
                <p:nvPr/>
              </p:nvSpPr>
              <p:spPr bwMode="auto">
                <a:xfrm>
                  <a:off x="6267960" y="2144060"/>
                  <a:ext cx="605154" cy="688822"/>
                </a:xfrm>
                <a:custGeom>
                  <a:avLst/>
                  <a:gdLst>
                    <a:gd name="T0" fmla="*/ 202 w 355"/>
                    <a:gd name="T1" fmla="*/ 202 h 404"/>
                    <a:gd name="T2" fmla="*/ 202 w 355"/>
                    <a:gd name="T3" fmla="*/ 26 h 404"/>
                    <a:gd name="T4" fmla="*/ 202 w 355"/>
                    <a:gd name="T5" fmla="*/ 0 h 404"/>
                    <a:gd name="T6" fmla="*/ 0 w 355"/>
                    <a:gd name="T7" fmla="*/ 202 h 404"/>
                    <a:gd name="T8" fmla="*/ 202 w 355"/>
                    <a:gd name="T9" fmla="*/ 404 h 404"/>
                    <a:gd name="T10" fmla="*/ 355 w 355"/>
                    <a:gd name="T11" fmla="*/ 335 h 404"/>
                    <a:gd name="T12" fmla="*/ 335 w 355"/>
                    <a:gd name="T13" fmla="*/ 317 h 404"/>
                    <a:gd name="T14" fmla="*/ 202 w 355"/>
                    <a:gd name="T15" fmla="*/ 202 h 4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5" h="404">
                      <a:moveTo>
                        <a:pt x="202" y="202"/>
                      </a:moveTo>
                      <a:cubicBezTo>
                        <a:pt x="202" y="26"/>
                        <a:pt x="202" y="26"/>
                        <a:pt x="202" y="26"/>
                      </a:cubicBezTo>
                      <a:cubicBezTo>
                        <a:pt x="202" y="0"/>
                        <a:pt x="202" y="0"/>
                        <a:pt x="202" y="0"/>
                      </a:cubicBezTo>
                      <a:cubicBezTo>
                        <a:pt x="91" y="0"/>
                        <a:pt x="0" y="90"/>
                        <a:pt x="0" y="202"/>
                      </a:cubicBezTo>
                      <a:cubicBezTo>
                        <a:pt x="0" y="314"/>
                        <a:pt x="91" y="404"/>
                        <a:pt x="202" y="404"/>
                      </a:cubicBezTo>
                      <a:cubicBezTo>
                        <a:pt x="263" y="404"/>
                        <a:pt x="318" y="377"/>
                        <a:pt x="355" y="335"/>
                      </a:cubicBezTo>
                      <a:cubicBezTo>
                        <a:pt x="335" y="317"/>
                        <a:pt x="335" y="317"/>
                        <a:pt x="335" y="317"/>
                      </a:cubicBezTo>
                      <a:lnTo>
                        <a:pt x="202" y="202"/>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grpSp>
        </p:grpSp>
        <p:grpSp>
          <p:nvGrpSpPr>
            <p:cNvPr id="8" name="组合 101"/>
            <p:cNvGrpSpPr/>
            <p:nvPr/>
          </p:nvGrpSpPr>
          <p:grpSpPr bwMode="auto">
            <a:xfrm>
              <a:off x="5239941" y="3250844"/>
              <a:ext cx="327422" cy="328613"/>
              <a:chOff x="5477628" y="2367482"/>
              <a:chExt cx="1120629" cy="1120629"/>
            </a:xfrm>
          </p:grpSpPr>
          <p:sp>
            <p:nvSpPr>
              <p:cNvPr id="114" name="椭圆 113"/>
              <p:cNvSpPr/>
              <p:nvPr/>
            </p:nvSpPr>
            <p:spPr>
              <a:xfrm>
                <a:off x="5477628" y="2367482"/>
                <a:ext cx="1120629" cy="1120629"/>
              </a:xfrm>
              <a:prstGeom prst="ellipse">
                <a:avLst/>
              </a:prstGeom>
              <a:pattFill prst="wdUpDiag">
                <a:fgClr>
                  <a:srgbClr val="FD6D5C"/>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6" name="椭圆 115"/>
              <p:cNvSpPr/>
              <p:nvPr/>
            </p:nvSpPr>
            <p:spPr>
              <a:xfrm>
                <a:off x="5563202" y="2456808"/>
                <a:ext cx="949481" cy="954160"/>
              </a:xfrm>
              <a:prstGeom prst="ellipse">
                <a:avLst/>
              </a:prstGeom>
              <a:solidFill>
                <a:srgbClr val="FD6D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11" name="组合 117"/>
              <p:cNvGrpSpPr>
                <a:grpSpLocks noChangeAspect="1"/>
              </p:cNvGrpSpPr>
              <p:nvPr/>
            </p:nvGrpSpPr>
            <p:grpSpPr>
              <a:xfrm>
                <a:off x="5795817" y="2669148"/>
                <a:ext cx="556960" cy="512269"/>
                <a:chOff x="8374817" y="3976831"/>
                <a:chExt cx="719115" cy="661413"/>
              </a:xfrm>
              <a:solidFill>
                <a:schemeClr val="bg1"/>
              </a:solidFill>
            </p:grpSpPr>
            <p:sp>
              <p:nvSpPr>
                <p:cNvPr id="119" name="Freeform 44"/>
                <p:cNvSpPr/>
                <p:nvPr/>
              </p:nvSpPr>
              <p:spPr bwMode="auto">
                <a:xfrm>
                  <a:off x="9018919" y="4072040"/>
                  <a:ext cx="75013" cy="68522"/>
                </a:xfrm>
                <a:custGeom>
                  <a:avLst/>
                  <a:gdLst>
                    <a:gd name="T0" fmla="*/ 28 w 44"/>
                    <a:gd name="T1" fmla="*/ 11 h 40"/>
                    <a:gd name="T2" fmla="*/ 0 w 44"/>
                    <a:gd name="T3" fmla="*/ 18 h 40"/>
                    <a:gd name="T4" fmla="*/ 31 w 44"/>
                    <a:gd name="T5" fmla="*/ 40 h 40"/>
                    <a:gd name="T6" fmla="*/ 28 w 44"/>
                    <a:gd name="T7" fmla="*/ 11 h 40"/>
                  </a:gdLst>
                  <a:ahLst/>
                  <a:cxnLst>
                    <a:cxn ang="0">
                      <a:pos x="T0" y="T1"/>
                    </a:cxn>
                    <a:cxn ang="0">
                      <a:pos x="T2" y="T3"/>
                    </a:cxn>
                    <a:cxn ang="0">
                      <a:pos x="T4" y="T5"/>
                    </a:cxn>
                    <a:cxn ang="0">
                      <a:pos x="T6" y="T7"/>
                    </a:cxn>
                  </a:cxnLst>
                  <a:rect l="0" t="0" r="r" b="b"/>
                  <a:pathLst>
                    <a:path w="44" h="40">
                      <a:moveTo>
                        <a:pt x="28" y="11"/>
                      </a:moveTo>
                      <a:cubicBezTo>
                        <a:pt x="13" y="0"/>
                        <a:pt x="0" y="18"/>
                        <a:pt x="0" y="18"/>
                      </a:cubicBezTo>
                      <a:cubicBezTo>
                        <a:pt x="31" y="40"/>
                        <a:pt x="31" y="40"/>
                        <a:pt x="31" y="40"/>
                      </a:cubicBezTo>
                      <a:cubicBezTo>
                        <a:pt x="31" y="40"/>
                        <a:pt x="44" y="22"/>
                        <a:pt x="28" y="11"/>
                      </a:cubicBez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0" name="Freeform 45"/>
                <p:cNvSpPr/>
                <p:nvPr/>
              </p:nvSpPr>
              <p:spPr bwMode="auto">
                <a:xfrm>
                  <a:off x="8831387" y="4116759"/>
                  <a:ext cx="230088" cy="284184"/>
                </a:xfrm>
                <a:custGeom>
                  <a:avLst/>
                  <a:gdLst>
                    <a:gd name="T0" fmla="*/ 187 w 319"/>
                    <a:gd name="T1" fmla="*/ 85 h 394"/>
                    <a:gd name="T2" fmla="*/ 156 w 319"/>
                    <a:gd name="T3" fmla="*/ 125 h 394"/>
                    <a:gd name="T4" fmla="*/ 104 w 319"/>
                    <a:gd name="T5" fmla="*/ 198 h 394"/>
                    <a:gd name="T6" fmla="*/ 0 w 319"/>
                    <a:gd name="T7" fmla="*/ 342 h 394"/>
                    <a:gd name="T8" fmla="*/ 74 w 319"/>
                    <a:gd name="T9" fmla="*/ 394 h 394"/>
                    <a:gd name="T10" fmla="*/ 104 w 319"/>
                    <a:gd name="T11" fmla="*/ 352 h 394"/>
                    <a:gd name="T12" fmla="*/ 130 w 319"/>
                    <a:gd name="T13" fmla="*/ 314 h 394"/>
                    <a:gd name="T14" fmla="*/ 156 w 319"/>
                    <a:gd name="T15" fmla="*/ 276 h 394"/>
                    <a:gd name="T16" fmla="*/ 319 w 319"/>
                    <a:gd name="T17" fmla="*/ 52 h 394"/>
                    <a:gd name="T18" fmla="*/ 248 w 319"/>
                    <a:gd name="T19" fmla="*/ 0 h 394"/>
                    <a:gd name="T20" fmla="*/ 187 w 319"/>
                    <a:gd name="T21" fmla="*/ 85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394">
                      <a:moveTo>
                        <a:pt x="187" y="85"/>
                      </a:moveTo>
                      <a:lnTo>
                        <a:pt x="156" y="125"/>
                      </a:lnTo>
                      <a:lnTo>
                        <a:pt x="104" y="198"/>
                      </a:lnTo>
                      <a:lnTo>
                        <a:pt x="0" y="342"/>
                      </a:lnTo>
                      <a:lnTo>
                        <a:pt x="74" y="394"/>
                      </a:lnTo>
                      <a:lnTo>
                        <a:pt x="104" y="352"/>
                      </a:lnTo>
                      <a:lnTo>
                        <a:pt x="130" y="314"/>
                      </a:lnTo>
                      <a:lnTo>
                        <a:pt x="156" y="276"/>
                      </a:lnTo>
                      <a:lnTo>
                        <a:pt x="319" y="52"/>
                      </a:lnTo>
                      <a:lnTo>
                        <a:pt x="248" y="0"/>
                      </a:lnTo>
                      <a:lnTo>
                        <a:pt x="187" y="85"/>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3" name="Freeform 46"/>
                <p:cNvSpPr/>
                <p:nvPr/>
              </p:nvSpPr>
              <p:spPr bwMode="auto">
                <a:xfrm>
                  <a:off x="8374817" y="3976831"/>
                  <a:ext cx="569090" cy="661413"/>
                </a:xfrm>
                <a:custGeom>
                  <a:avLst/>
                  <a:gdLst>
                    <a:gd name="T0" fmla="*/ 312 w 334"/>
                    <a:gd name="T1" fmla="*/ 348 h 388"/>
                    <a:gd name="T2" fmla="*/ 293 w 334"/>
                    <a:gd name="T3" fmla="*/ 366 h 388"/>
                    <a:gd name="T4" fmla="*/ 40 w 334"/>
                    <a:gd name="T5" fmla="*/ 366 h 388"/>
                    <a:gd name="T6" fmla="*/ 22 w 334"/>
                    <a:gd name="T7" fmla="*/ 348 h 388"/>
                    <a:gd name="T8" fmla="*/ 22 w 334"/>
                    <a:gd name="T9" fmla="*/ 41 h 388"/>
                    <a:gd name="T10" fmla="*/ 40 w 334"/>
                    <a:gd name="T11" fmla="*/ 23 h 388"/>
                    <a:gd name="T12" fmla="*/ 293 w 334"/>
                    <a:gd name="T13" fmla="*/ 23 h 388"/>
                    <a:gd name="T14" fmla="*/ 312 w 334"/>
                    <a:gd name="T15" fmla="*/ 41 h 388"/>
                    <a:gd name="T16" fmla="*/ 312 w 334"/>
                    <a:gd name="T17" fmla="*/ 140 h 388"/>
                    <a:gd name="T18" fmla="*/ 334 w 334"/>
                    <a:gd name="T19" fmla="*/ 109 h 388"/>
                    <a:gd name="T20" fmla="*/ 334 w 334"/>
                    <a:gd name="T21" fmla="*/ 21 h 388"/>
                    <a:gd name="T22" fmla="*/ 313 w 334"/>
                    <a:gd name="T23" fmla="*/ 0 h 388"/>
                    <a:gd name="T24" fmla="*/ 21 w 334"/>
                    <a:gd name="T25" fmla="*/ 0 h 388"/>
                    <a:gd name="T26" fmla="*/ 0 w 334"/>
                    <a:gd name="T27" fmla="*/ 21 h 388"/>
                    <a:gd name="T28" fmla="*/ 0 w 334"/>
                    <a:gd name="T29" fmla="*/ 368 h 388"/>
                    <a:gd name="T30" fmla="*/ 21 w 334"/>
                    <a:gd name="T31" fmla="*/ 388 h 388"/>
                    <a:gd name="T32" fmla="*/ 313 w 334"/>
                    <a:gd name="T33" fmla="*/ 388 h 388"/>
                    <a:gd name="T34" fmla="*/ 334 w 334"/>
                    <a:gd name="T35" fmla="*/ 368 h 388"/>
                    <a:gd name="T36" fmla="*/ 334 w 334"/>
                    <a:gd name="T37" fmla="*/ 223 h 388"/>
                    <a:gd name="T38" fmla="*/ 312 w 334"/>
                    <a:gd name="T39" fmla="*/ 254 h 388"/>
                    <a:gd name="T40" fmla="*/ 312 w 334"/>
                    <a:gd name="T41" fmla="*/ 34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4" h="388">
                      <a:moveTo>
                        <a:pt x="312" y="348"/>
                      </a:moveTo>
                      <a:cubicBezTo>
                        <a:pt x="312" y="358"/>
                        <a:pt x="303" y="366"/>
                        <a:pt x="293" y="366"/>
                      </a:cubicBezTo>
                      <a:cubicBezTo>
                        <a:pt x="40" y="366"/>
                        <a:pt x="40" y="366"/>
                        <a:pt x="40" y="366"/>
                      </a:cubicBezTo>
                      <a:cubicBezTo>
                        <a:pt x="30" y="366"/>
                        <a:pt x="22" y="358"/>
                        <a:pt x="22" y="348"/>
                      </a:cubicBezTo>
                      <a:cubicBezTo>
                        <a:pt x="22" y="41"/>
                        <a:pt x="22" y="41"/>
                        <a:pt x="22" y="41"/>
                      </a:cubicBezTo>
                      <a:cubicBezTo>
                        <a:pt x="22" y="31"/>
                        <a:pt x="30" y="23"/>
                        <a:pt x="40" y="23"/>
                      </a:cubicBezTo>
                      <a:cubicBezTo>
                        <a:pt x="293" y="23"/>
                        <a:pt x="293" y="23"/>
                        <a:pt x="293" y="23"/>
                      </a:cubicBezTo>
                      <a:cubicBezTo>
                        <a:pt x="303" y="23"/>
                        <a:pt x="312" y="31"/>
                        <a:pt x="312" y="41"/>
                      </a:cubicBezTo>
                      <a:cubicBezTo>
                        <a:pt x="312" y="140"/>
                        <a:pt x="312" y="140"/>
                        <a:pt x="312" y="140"/>
                      </a:cubicBezTo>
                      <a:cubicBezTo>
                        <a:pt x="334" y="109"/>
                        <a:pt x="334" y="109"/>
                        <a:pt x="334" y="109"/>
                      </a:cubicBezTo>
                      <a:cubicBezTo>
                        <a:pt x="334" y="21"/>
                        <a:pt x="334" y="21"/>
                        <a:pt x="334" y="21"/>
                      </a:cubicBezTo>
                      <a:cubicBezTo>
                        <a:pt x="334" y="10"/>
                        <a:pt x="325" y="0"/>
                        <a:pt x="313" y="0"/>
                      </a:cubicBezTo>
                      <a:cubicBezTo>
                        <a:pt x="21" y="0"/>
                        <a:pt x="21" y="0"/>
                        <a:pt x="21" y="0"/>
                      </a:cubicBezTo>
                      <a:cubicBezTo>
                        <a:pt x="9" y="0"/>
                        <a:pt x="0" y="10"/>
                        <a:pt x="0" y="21"/>
                      </a:cubicBezTo>
                      <a:cubicBezTo>
                        <a:pt x="0" y="368"/>
                        <a:pt x="0" y="368"/>
                        <a:pt x="0" y="368"/>
                      </a:cubicBezTo>
                      <a:cubicBezTo>
                        <a:pt x="0" y="379"/>
                        <a:pt x="9" y="388"/>
                        <a:pt x="21" y="388"/>
                      </a:cubicBezTo>
                      <a:cubicBezTo>
                        <a:pt x="313" y="388"/>
                        <a:pt x="313" y="388"/>
                        <a:pt x="313" y="388"/>
                      </a:cubicBezTo>
                      <a:cubicBezTo>
                        <a:pt x="325" y="388"/>
                        <a:pt x="334" y="379"/>
                        <a:pt x="334" y="368"/>
                      </a:cubicBezTo>
                      <a:cubicBezTo>
                        <a:pt x="334" y="223"/>
                        <a:pt x="334" y="223"/>
                        <a:pt x="334" y="223"/>
                      </a:cubicBezTo>
                      <a:cubicBezTo>
                        <a:pt x="312" y="254"/>
                        <a:pt x="312" y="254"/>
                        <a:pt x="312" y="254"/>
                      </a:cubicBezTo>
                      <a:lnTo>
                        <a:pt x="312" y="348"/>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4" name="Freeform 47"/>
                <p:cNvSpPr/>
                <p:nvPr/>
              </p:nvSpPr>
              <p:spPr bwMode="auto">
                <a:xfrm>
                  <a:off x="8806142" y="4377142"/>
                  <a:ext cx="67800" cy="77177"/>
                </a:xfrm>
                <a:custGeom>
                  <a:avLst/>
                  <a:gdLst>
                    <a:gd name="T0" fmla="*/ 21 w 94"/>
                    <a:gd name="T1" fmla="*/ 0 h 107"/>
                    <a:gd name="T2" fmla="*/ 0 w 94"/>
                    <a:gd name="T3" fmla="*/ 107 h 107"/>
                    <a:gd name="T4" fmla="*/ 94 w 94"/>
                    <a:gd name="T5" fmla="*/ 52 h 107"/>
                    <a:gd name="T6" fmla="*/ 21 w 94"/>
                    <a:gd name="T7" fmla="*/ 0 h 107"/>
                  </a:gdLst>
                  <a:ahLst/>
                  <a:cxnLst>
                    <a:cxn ang="0">
                      <a:pos x="T0" y="T1"/>
                    </a:cxn>
                    <a:cxn ang="0">
                      <a:pos x="T2" y="T3"/>
                    </a:cxn>
                    <a:cxn ang="0">
                      <a:pos x="T4" y="T5"/>
                    </a:cxn>
                    <a:cxn ang="0">
                      <a:pos x="T6" y="T7"/>
                    </a:cxn>
                  </a:cxnLst>
                  <a:rect l="0" t="0" r="r" b="b"/>
                  <a:pathLst>
                    <a:path w="94" h="107">
                      <a:moveTo>
                        <a:pt x="21" y="0"/>
                      </a:moveTo>
                      <a:lnTo>
                        <a:pt x="0" y="107"/>
                      </a:lnTo>
                      <a:lnTo>
                        <a:pt x="94" y="52"/>
                      </a:lnTo>
                      <a:lnTo>
                        <a:pt x="21" y="0"/>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0" name="Rectangle 48"/>
                <p:cNvSpPr>
                  <a:spLocks noChangeArrowheads="1"/>
                </p:cNvSpPr>
                <p:nvPr/>
              </p:nvSpPr>
              <p:spPr bwMode="auto">
                <a:xfrm>
                  <a:off x="8459928" y="4504808"/>
                  <a:ext cx="228646" cy="34621"/>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1" name="Rectangle 49"/>
                <p:cNvSpPr>
                  <a:spLocks noChangeArrowheads="1"/>
                </p:cNvSpPr>
                <p:nvPr/>
              </p:nvSpPr>
              <p:spPr bwMode="auto">
                <a:xfrm>
                  <a:off x="8459928" y="4428352"/>
                  <a:ext cx="228646" cy="33900"/>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2" name="Rectangle 50"/>
                <p:cNvSpPr>
                  <a:spLocks noChangeArrowheads="1"/>
                </p:cNvSpPr>
                <p:nvPr/>
              </p:nvSpPr>
              <p:spPr bwMode="auto">
                <a:xfrm>
                  <a:off x="8459928" y="4354782"/>
                  <a:ext cx="228646" cy="32458"/>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3" name="Rectangle 51"/>
                <p:cNvSpPr>
                  <a:spLocks noChangeArrowheads="1"/>
                </p:cNvSpPr>
                <p:nvPr/>
              </p:nvSpPr>
              <p:spPr bwMode="auto">
                <a:xfrm>
                  <a:off x="8459928" y="4278326"/>
                  <a:ext cx="228646" cy="32458"/>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4" name="Rectangle 52"/>
                <p:cNvSpPr>
                  <a:spLocks noChangeArrowheads="1"/>
                </p:cNvSpPr>
                <p:nvPr/>
              </p:nvSpPr>
              <p:spPr bwMode="auto">
                <a:xfrm>
                  <a:off x="8459928" y="4201870"/>
                  <a:ext cx="228646" cy="33900"/>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5" name="Rectangle 53"/>
                <p:cNvSpPr>
                  <a:spLocks noChangeArrowheads="1"/>
                </p:cNvSpPr>
                <p:nvPr/>
              </p:nvSpPr>
              <p:spPr bwMode="auto">
                <a:xfrm>
                  <a:off x="8459928" y="4124694"/>
                  <a:ext cx="228646" cy="34621"/>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grpSp>
        </p:grpSp>
        <p:grpSp>
          <p:nvGrpSpPr>
            <p:cNvPr id="14" name="组合 135"/>
            <p:cNvGrpSpPr/>
            <p:nvPr/>
          </p:nvGrpSpPr>
          <p:grpSpPr bwMode="auto">
            <a:xfrm>
              <a:off x="3576638" y="3250844"/>
              <a:ext cx="327422" cy="328613"/>
              <a:chOff x="5477628" y="2052505"/>
              <a:chExt cx="1120629" cy="1120629"/>
            </a:xfrm>
          </p:grpSpPr>
          <p:sp>
            <p:nvSpPr>
              <p:cNvPr id="137" name="椭圆 136"/>
              <p:cNvSpPr/>
              <p:nvPr/>
            </p:nvSpPr>
            <p:spPr>
              <a:xfrm>
                <a:off x="5477628" y="2052505"/>
                <a:ext cx="1120629" cy="1120629"/>
              </a:xfrm>
              <a:prstGeom prst="ellipse">
                <a:avLst/>
              </a:prstGeom>
              <a:pattFill prst="wdUpDiag">
                <a:fgClr>
                  <a:srgbClr val="6080A6"/>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6741" name="组合 137"/>
              <p:cNvGrpSpPr/>
              <p:nvPr/>
            </p:nvGrpSpPr>
            <p:grpSpPr bwMode="auto">
              <a:xfrm>
                <a:off x="5561692" y="2136569"/>
                <a:ext cx="952500" cy="952500"/>
                <a:chOff x="5561693" y="2132697"/>
                <a:chExt cx="952500" cy="952500"/>
              </a:xfrm>
            </p:grpSpPr>
            <p:sp>
              <p:nvSpPr>
                <p:cNvPr id="139" name="椭圆 138"/>
                <p:cNvSpPr/>
                <p:nvPr/>
              </p:nvSpPr>
              <p:spPr>
                <a:xfrm>
                  <a:off x="5563205" y="2133899"/>
                  <a:ext cx="949476" cy="950098"/>
                </a:xfrm>
                <a:prstGeom prst="ellipse">
                  <a:avLst/>
                </a:prstGeom>
                <a:solidFill>
                  <a:srgbClr val="6080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19" name="组合 139"/>
                <p:cNvGrpSpPr>
                  <a:grpSpLocks noChangeAspect="1"/>
                </p:cNvGrpSpPr>
                <p:nvPr/>
              </p:nvGrpSpPr>
              <p:grpSpPr>
                <a:xfrm>
                  <a:off x="5786662" y="2400413"/>
                  <a:ext cx="502563" cy="417068"/>
                  <a:chOff x="9404083" y="1238855"/>
                  <a:chExt cx="801342" cy="665020"/>
                </a:xfrm>
                <a:solidFill>
                  <a:schemeClr val="bg1"/>
                </a:solidFill>
              </p:grpSpPr>
              <p:sp>
                <p:nvSpPr>
                  <p:cNvPr id="141" name="Freeform 583"/>
                  <p:cNvSpPr/>
                  <p:nvPr/>
                </p:nvSpPr>
                <p:spPr bwMode="auto">
                  <a:xfrm>
                    <a:off x="9404083" y="1238855"/>
                    <a:ext cx="801342" cy="308708"/>
                  </a:xfrm>
                  <a:custGeom>
                    <a:avLst/>
                    <a:gdLst>
                      <a:gd name="T0" fmla="*/ 924 w 1111"/>
                      <a:gd name="T1" fmla="*/ 0 h 428"/>
                      <a:gd name="T2" fmla="*/ 958 w 1111"/>
                      <a:gd name="T3" fmla="*/ 55 h 428"/>
                      <a:gd name="T4" fmla="*/ 542 w 1111"/>
                      <a:gd name="T5" fmla="*/ 281 h 428"/>
                      <a:gd name="T6" fmla="*/ 0 w 1111"/>
                      <a:gd name="T7" fmla="*/ 355 h 428"/>
                      <a:gd name="T8" fmla="*/ 3 w 1111"/>
                      <a:gd name="T9" fmla="*/ 428 h 428"/>
                      <a:gd name="T10" fmla="*/ 570 w 1111"/>
                      <a:gd name="T11" fmla="*/ 355 h 428"/>
                      <a:gd name="T12" fmla="*/ 986 w 1111"/>
                      <a:gd name="T13" fmla="*/ 121 h 428"/>
                      <a:gd name="T14" fmla="*/ 1021 w 1111"/>
                      <a:gd name="T15" fmla="*/ 184 h 428"/>
                      <a:gd name="T16" fmla="*/ 1111 w 1111"/>
                      <a:gd name="T17" fmla="*/ 0 h 428"/>
                      <a:gd name="T18" fmla="*/ 924 w 1111"/>
                      <a:gd name="T19"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1" h="428">
                        <a:moveTo>
                          <a:pt x="924" y="0"/>
                        </a:moveTo>
                        <a:lnTo>
                          <a:pt x="958" y="55"/>
                        </a:lnTo>
                        <a:lnTo>
                          <a:pt x="542" y="281"/>
                        </a:lnTo>
                        <a:lnTo>
                          <a:pt x="0" y="355"/>
                        </a:lnTo>
                        <a:lnTo>
                          <a:pt x="3" y="428"/>
                        </a:lnTo>
                        <a:lnTo>
                          <a:pt x="570" y="355"/>
                        </a:lnTo>
                        <a:lnTo>
                          <a:pt x="986" y="121"/>
                        </a:lnTo>
                        <a:lnTo>
                          <a:pt x="1021" y="184"/>
                        </a:lnTo>
                        <a:lnTo>
                          <a:pt x="1111" y="0"/>
                        </a:lnTo>
                        <a:lnTo>
                          <a:pt x="924" y="0"/>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2" name="Freeform 584"/>
                  <p:cNvSpPr/>
                  <p:nvPr/>
                </p:nvSpPr>
                <p:spPr bwMode="auto">
                  <a:xfrm>
                    <a:off x="9915470" y="1392487"/>
                    <a:ext cx="208450" cy="511387"/>
                  </a:xfrm>
                  <a:custGeom>
                    <a:avLst/>
                    <a:gdLst>
                      <a:gd name="T0" fmla="*/ 0 w 289"/>
                      <a:gd name="T1" fmla="*/ 709 h 709"/>
                      <a:gd name="T2" fmla="*/ 289 w 289"/>
                      <a:gd name="T3" fmla="*/ 709 h 709"/>
                      <a:gd name="T4" fmla="*/ 289 w 289"/>
                      <a:gd name="T5" fmla="*/ 0 h 709"/>
                      <a:gd name="T6" fmla="*/ 0 w 289"/>
                      <a:gd name="T7" fmla="*/ 161 h 709"/>
                      <a:gd name="T8" fmla="*/ 0 w 289"/>
                      <a:gd name="T9" fmla="*/ 709 h 709"/>
                    </a:gdLst>
                    <a:ahLst/>
                    <a:cxnLst>
                      <a:cxn ang="0">
                        <a:pos x="T0" y="T1"/>
                      </a:cxn>
                      <a:cxn ang="0">
                        <a:pos x="T2" y="T3"/>
                      </a:cxn>
                      <a:cxn ang="0">
                        <a:pos x="T4" y="T5"/>
                      </a:cxn>
                      <a:cxn ang="0">
                        <a:pos x="T6" y="T7"/>
                      </a:cxn>
                      <a:cxn ang="0">
                        <a:pos x="T8" y="T9"/>
                      </a:cxn>
                    </a:cxnLst>
                    <a:rect l="0" t="0" r="r" b="b"/>
                    <a:pathLst>
                      <a:path w="289" h="709">
                        <a:moveTo>
                          <a:pt x="0" y="709"/>
                        </a:moveTo>
                        <a:lnTo>
                          <a:pt x="289" y="709"/>
                        </a:lnTo>
                        <a:lnTo>
                          <a:pt x="289" y="0"/>
                        </a:lnTo>
                        <a:lnTo>
                          <a:pt x="0" y="161"/>
                        </a:lnTo>
                        <a:lnTo>
                          <a:pt x="0" y="709"/>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3" name="Freeform 585"/>
                  <p:cNvSpPr/>
                  <p:nvPr/>
                </p:nvSpPr>
                <p:spPr bwMode="auto">
                  <a:xfrm>
                    <a:off x="9663743" y="1528809"/>
                    <a:ext cx="180320" cy="375065"/>
                  </a:xfrm>
                  <a:custGeom>
                    <a:avLst/>
                    <a:gdLst>
                      <a:gd name="T0" fmla="*/ 0 w 250"/>
                      <a:gd name="T1" fmla="*/ 520 h 520"/>
                      <a:gd name="T2" fmla="*/ 250 w 250"/>
                      <a:gd name="T3" fmla="*/ 520 h 520"/>
                      <a:gd name="T4" fmla="*/ 250 w 250"/>
                      <a:gd name="T5" fmla="*/ 0 h 520"/>
                      <a:gd name="T6" fmla="*/ 0 w 250"/>
                      <a:gd name="T7" fmla="*/ 42 h 520"/>
                      <a:gd name="T8" fmla="*/ 0 w 250"/>
                      <a:gd name="T9" fmla="*/ 520 h 520"/>
                    </a:gdLst>
                    <a:ahLst/>
                    <a:cxnLst>
                      <a:cxn ang="0">
                        <a:pos x="T0" y="T1"/>
                      </a:cxn>
                      <a:cxn ang="0">
                        <a:pos x="T2" y="T3"/>
                      </a:cxn>
                      <a:cxn ang="0">
                        <a:pos x="T4" y="T5"/>
                      </a:cxn>
                      <a:cxn ang="0">
                        <a:pos x="T6" y="T7"/>
                      </a:cxn>
                      <a:cxn ang="0">
                        <a:pos x="T8" y="T9"/>
                      </a:cxn>
                    </a:cxnLst>
                    <a:rect l="0" t="0" r="r" b="b"/>
                    <a:pathLst>
                      <a:path w="250" h="520">
                        <a:moveTo>
                          <a:pt x="0" y="520"/>
                        </a:moveTo>
                        <a:lnTo>
                          <a:pt x="250" y="520"/>
                        </a:lnTo>
                        <a:lnTo>
                          <a:pt x="250" y="0"/>
                        </a:lnTo>
                        <a:lnTo>
                          <a:pt x="0" y="42"/>
                        </a:lnTo>
                        <a:lnTo>
                          <a:pt x="0" y="520"/>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4" name="Freeform 586"/>
                  <p:cNvSpPr/>
                  <p:nvPr/>
                </p:nvSpPr>
                <p:spPr bwMode="auto">
                  <a:xfrm>
                    <a:off x="9404083" y="1569922"/>
                    <a:ext cx="189697" cy="333953"/>
                  </a:xfrm>
                  <a:custGeom>
                    <a:avLst/>
                    <a:gdLst>
                      <a:gd name="T0" fmla="*/ 0 w 263"/>
                      <a:gd name="T1" fmla="*/ 463 h 463"/>
                      <a:gd name="T2" fmla="*/ 263 w 263"/>
                      <a:gd name="T3" fmla="*/ 463 h 463"/>
                      <a:gd name="T4" fmla="*/ 263 w 263"/>
                      <a:gd name="T5" fmla="*/ 0 h 463"/>
                      <a:gd name="T6" fmla="*/ 0 w 263"/>
                      <a:gd name="T7" fmla="*/ 30 h 463"/>
                      <a:gd name="T8" fmla="*/ 0 w 263"/>
                      <a:gd name="T9" fmla="*/ 463 h 463"/>
                    </a:gdLst>
                    <a:ahLst/>
                    <a:cxnLst>
                      <a:cxn ang="0">
                        <a:pos x="T0" y="T1"/>
                      </a:cxn>
                      <a:cxn ang="0">
                        <a:pos x="T2" y="T3"/>
                      </a:cxn>
                      <a:cxn ang="0">
                        <a:pos x="T4" y="T5"/>
                      </a:cxn>
                      <a:cxn ang="0">
                        <a:pos x="T6" y="T7"/>
                      </a:cxn>
                      <a:cxn ang="0">
                        <a:pos x="T8" y="T9"/>
                      </a:cxn>
                    </a:cxnLst>
                    <a:rect l="0" t="0" r="r" b="b"/>
                    <a:pathLst>
                      <a:path w="263" h="463">
                        <a:moveTo>
                          <a:pt x="0" y="463"/>
                        </a:moveTo>
                        <a:lnTo>
                          <a:pt x="263" y="463"/>
                        </a:lnTo>
                        <a:lnTo>
                          <a:pt x="263" y="0"/>
                        </a:lnTo>
                        <a:lnTo>
                          <a:pt x="0" y="30"/>
                        </a:lnTo>
                        <a:lnTo>
                          <a:pt x="0" y="463"/>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grpSp>
          </p:grpSp>
        </p:grpSp>
        <p:grpSp>
          <p:nvGrpSpPr>
            <p:cNvPr id="22" name="组合 145"/>
            <p:cNvGrpSpPr/>
            <p:nvPr/>
          </p:nvGrpSpPr>
          <p:grpSpPr bwMode="auto">
            <a:xfrm>
              <a:off x="4131469" y="3250844"/>
              <a:ext cx="327422" cy="328613"/>
              <a:chOff x="5477628" y="3606228"/>
              <a:chExt cx="1120629" cy="1120629"/>
            </a:xfrm>
          </p:grpSpPr>
          <p:sp>
            <p:nvSpPr>
              <p:cNvPr id="147" name="椭圆 146"/>
              <p:cNvSpPr/>
              <p:nvPr/>
            </p:nvSpPr>
            <p:spPr>
              <a:xfrm>
                <a:off x="5477628" y="3606228"/>
                <a:ext cx="1120629" cy="1120629"/>
              </a:xfrm>
              <a:prstGeom prst="ellipse">
                <a:avLst/>
              </a:prstGeom>
              <a:pattFill prst="wdUpDiag">
                <a:fgClr>
                  <a:srgbClr val="66BFBC"/>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6737" name="组合 147"/>
              <p:cNvGrpSpPr/>
              <p:nvPr/>
            </p:nvGrpSpPr>
            <p:grpSpPr bwMode="auto">
              <a:xfrm>
                <a:off x="5561692" y="3690292"/>
                <a:ext cx="952500" cy="952500"/>
                <a:chOff x="5561693" y="3690293"/>
                <a:chExt cx="952500" cy="952500"/>
              </a:xfrm>
            </p:grpSpPr>
            <p:sp>
              <p:nvSpPr>
                <p:cNvPr id="149" name="椭圆 148"/>
                <p:cNvSpPr/>
                <p:nvPr/>
              </p:nvSpPr>
              <p:spPr>
                <a:xfrm>
                  <a:off x="5563205" y="3691495"/>
                  <a:ext cx="949476" cy="950098"/>
                </a:xfrm>
                <a:prstGeom prst="ellips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5" name="组合 149"/>
                <p:cNvGrpSpPr>
                  <a:grpSpLocks noChangeAspect="1"/>
                </p:cNvGrpSpPr>
                <p:nvPr/>
              </p:nvGrpSpPr>
              <p:grpSpPr>
                <a:xfrm>
                  <a:off x="5786679" y="3839402"/>
                  <a:ext cx="502529" cy="654282"/>
                  <a:chOff x="3196030" y="1160235"/>
                  <a:chExt cx="582794" cy="758785"/>
                </a:xfrm>
                <a:solidFill>
                  <a:schemeClr val="bg1"/>
                </a:solidFill>
              </p:grpSpPr>
              <p:sp>
                <p:nvSpPr>
                  <p:cNvPr id="151" name="Freeform 634"/>
                  <p:cNvSpPr>
                    <a:spLocks noEditPoints="1"/>
                  </p:cNvSpPr>
                  <p:nvPr/>
                </p:nvSpPr>
                <p:spPr bwMode="auto">
                  <a:xfrm>
                    <a:off x="3243635" y="1160235"/>
                    <a:ext cx="535189" cy="533747"/>
                  </a:xfrm>
                  <a:custGeom>
                    <a:avLst/>
                    <a:gdLst>
                      <a:gd name="T0" fmla="*/ 225 w 314"/>
                      <a:gd name="T1" fmla="*/ 39 h 313"/>
                      <a:gd name="T2" fmla="*/ 34 w 314"/>
                      <a:gd name="T3" fmla="*/ 89 h 313"/>
                      <a:gd name="T4" fmla="*/ 62 w 314"/>
                      <a:gd name="T5" fmla="*/ 264 h 313"/>
                      <a:gd name="T6" fmla="*/ 84 w 314"/>
                      <a:gd name="T7" fmla="*/ 280 h 313"/>
                      <a:gd name="T8" fmla="*/ 110 w 314"/>
                      <a:gd name="T9" fmla="*/ 292 h 313"/>
                      <a:gd name="T10" fmla="*/ 275 w 314"/>
                      <a:gd name="T11" fmla="*/ 230 h 313"/>
                      <a:gd name="T12" fmla="*/ 225 w 314"/>
                      <a:gd name="T13" fmla="*/ 39 h 313"/>
                      <a:gd name="T14" fmla="*/ 229 w 314"/>
                      <a:gd name="T15" fmla="*/ 203 h 313"/>
                      <a:gd name="T16" fmla="*/ 111 w 314"/>
                      <a:gd name="T17" fmla="*/ 234 h 313"/>
                      <a:gd name="T18" fmla="*/ 79 w 314"/>
                      <a:gd name="T19" fmla="*/ 116 h 313"/>
                      <a:gd name="T20" fmla="*/ 198 w 314"/>
                      <a:gd name="T21" fmla="*/ 84 h 313"/>
                      <a:gd name="T22" fmla="*/ 229 w 314"/>
                      <a:gd name="T23" fmla="*/ 203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4" h="313">
                        <a:moveTo>
                          <a:pt x="225" y="39"/>
                        </a:moveTo>
                        <a:cubicBezTo>
                          <a:pt x="158" y="0"/>
                          <a:pt x="72" y="23"/>
                          <a:pt x="34" y="89"/>
                        </a:cubicBezTo>
                        <a:cubicBezTo>
                          <a:pt x="0" y="148"/>
                          <a:pt x="13" y="221"/>
                          <a:pt x="62" y="264"/>
                        </a:cubicBezTo>
                        <a:cubicBezTo>
                          <a:pt x="69" y="270"/>
                          <a:pt x="76" y="275"/>
                          <a:pt x="84" y="280"/>
                        </a:cubicBezTo>
                        <a:cubicBezTo>
                          <a:pt x="92" y="285"/>
                          <a:pt x="101" y="289"/>
                          <a:pt x="110" y="292"/>
                        </a:cubicBezTo>
                        <a:cubicBezTo>
                          <a:pt x="171" y="313"/>
                          <a:pt x="241" y="288"/>
                          <a:pt x="275" y="230"/>
                        </a:cubicBezTo>
                        <a:cubicBezTo>
                          <a:pt x="314" y="163"/>
                          <a:pt x="291" y="77"/>
                          <a:pt x="225" y="39"/>
                        </a:cubicBezTo>
                        <a:close/>
                        <a:moveTo>
                          <a:pt x="229" y="203"/>
                        </a:moveTo>
                        <a:cubicBezTo>
                          <a:pt x="205" y="244"/>
                          <a:pt x="152" y="259"/>
                          <a:pt x="111" y="234"/>
                        </a:cubicBezTo>
                        <a:cubicBezTo>
                          <a:pt x="69" y="210"/>
                          <a:pt x="55" y="157"/>
                          <a:pt x="79" y="116"/>
                        </a:cubicBezTo>
                        <a:cubicBezTo>
                          <a:pt x="103" y="74"/>
                          <a:pt x="157" y="60"/>
                          <a:pt x="198" y="84"/>
                        </a:cubicBezTo>
                        <a:cubicBezTo>
                          <a:pt x="239" y="108"/>
                          <a:pt x="254" y="162"/>
                          <a:pt x="229" y="203"/>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2" name="Oval 635"/>
                  <p:cNvSpPr>
                    <a:spLocks noChangeArrowheads="1"/>
                  </p:cNvSpPr>
                  <p:nvPr/>
                </p:nvSpPr>
                <p:spPr bwMode="auto">
                  <a:xfrm>
                    <a:off x="3465068" y="1327572"/>
                    <a:ext cx="85111" cy="87275"/>
                  </a:xfrm>
                  <a:prstGeom prst="ellipse">
                    <a:avLst/>
                  </a:pr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5" name="Freeform 636"/>
                  <p:cNvSpPr/>
                  <p:nvPr/>
                </p:nvSpPr>
                <p:spPr bwMode="auto">
                  <a:xfrm>
                    <a:off x="3507623" y="1422781"/>
                    <a:ext cx="92324" cy="98816"/>
                  </a:xfrm>
                  <a:custGeom>
                    <a:avLst/>
                    <a:gdLst>
                      <a:gd name="T0" fmla="*/ 13 w 54"/>
                      <a:gd name="T1" fmla="*/ 0 h 58"/>
                      <a:gd name="T2" fmla="*/ 0 w 54"/>
                      <a:gd name="T3" fmla="*/ 11 h 58"/>
                      <a:gd name="T4" fmla="*/ 13 w 54"/>
                      <a:gd name="T5" fmla="*/ 40 h 58"/>
                      <a:gd name="T6" fmla="*/ 0 w 54"/>
                      <a:gd name="T7" fmla="*/ 58 h 58"/>
                      <a:gd name="T8" fmla="*/ 4 w 54"/>
                      <a:gd name="T9" fmla="*/ 58 h 58"/>
                      <a:gd name="T10" fmla="*/ 44 w 54"/>
                      <a:gd name="T11" fmla="*/ 16 h 58"/>
                      <a:gd name="T12" fmla="*/ 13 w 54"/>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54" h="58">
                        <a:moveTo>
                          <a:pt x="13" y="0"/>
                        </a:moveTo>
                        <a:cubicBezTo>
                          <a:pt x="0" y="11"/>
                          <a:pt x="0" y="11"/>
                          <a:pt x="0" y="11"/>
                        </a:cubicBezTo>
                        <a:cubicBezTo>
                          <a:pt x="13" y="40"/>
                          <a:pt x="13" y="40"/>
                          <a:pt x="13" y="40"/>
                        </a:cubicBezTo>
                        <a:cubicBezTo>
                          <a:pt x="0" y="58"/>
                          <a:pt x="0" y="58"/>
                          <a:pt x="0" y="58"/>
                        </a:cubicBezTo>
                        <a:cubicBezTo>
                          <a:pt x="4" y="58"/>
                          <a:pt x="4" y="58"/>
                          <a:pt x="4" y="58"/>
                        </a:cubicBezTo>
                        <a:cubicBezTo>
                          <a:pt x="54" y="58"/>
                          <a:pt x="44" y="29"/>
                          <a:pt x="44" y="16"/>
                        </a:cubicBezTo>
                        <a:cubicBezTo>
                          <a:pt x="44" y="6"/>
                          <a:pt x="24" y="2"/>
                          <a:pt x="13" y="0"/>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9" name="Freeform 637"/>
                  <p:cNvSpPr/>
                  <p:nvPr/>
                </p:nvSpPr>
                <p:spPr bwMode="auto">
                  <a:xfrm>
                    <a:off x="3416021" y="1422781"/>
                    <a:ext cx="91603" cy="98816"/>
                  </a:xfrm>
                  <a:custGeom>
                    <a:avLst/>
                    <a:gdLst>
                      <a:gd name="T0" fmla="*/ 54 w 54"/>
                      <a:gd name="T1" fmla="*/ 11 h 58"/>
                      <a:gd name="T2" fmla="*/ 41 w 54"/>
                      <a:gd name="T3" fmla="*/ 0 h 58"/>
                      <a:gd name="T4" fmla="*/ 11 w 54"/>
                      <a:gd name="T5" fmla="*/ 16 h 58"/>
                      <a:gd name="T6" fmla="*/ 50 w 54"/>
                      <a:gd name="T7" fmla="*/ 58 h 58"/>
                      <a:gd name="T8" fmla="*/ 54 w 54"/>
                      <a:gd name="T9" fmla="*/ 58 h 58"/>
                      <a:gd name="T10" fmla="*/ 41 w 54"/>
                      <a:gd name="T11" fmla="*/ 40 h 58"/>
                      <a:gd name="T12" fmla="*/ 54 w 54"/>
                      <a:gd name="T13" fmla="*/ 11 h 58"/>
                    </a:gdLst>
                    <a:ahLst/>
                    <a:cxnLst>
                      <a:cxn ang="0">
                        <a:pos x="T0" y="T1"/>
                      </a:cxn>
                      <a:cxn ang="0">
                        <a:pos x="T2" y="T3"/>
                      </a:cxn>
                      <a:cxn ang="0">
                        <a:pos x="T4" y="T5"/>
                      </a:cxn>
                      <a:cxn ang="0">
                        <a:pos x="T6" y="T7"/>
                      </a:cxn>
                      <a:cxn ang="0">
                        <a:pos x="T8" y="T9"/>
                      </a:cxn>
                      <a:cxn ang="0">
                        <a:pos x="T10" y="T11"/>
                      </a:cxn>
                      <a:cxn ang="0">
                        <a:pos x="T12" y="T13"/>
                      </a:cxn>
                    </a:cxnLst>
                    <a:rect l="0" t="0" r="r" b="b"/>
                    <a:pathLst>
                      <a:path w="54" h="58">
                        <a:moveTo>
                          <a:pt x="54" y="11"/>
                        </a:moveTo>
                        <a:cubicBezTo>
                          <a:pt x="41" y="0"/>
                          <a:pt x="41" y="0"/>
                          <a:pt x="41" y="0"/>
                        </a:cubicBezTo>
                        <a:cubicBezTo>
                          <a:pt x="30" y="2"/>
                          <a:pt x="11" y="6"/>
                          <a:pt x="11" y="16"/>
                        </a:cubicBezTo>
                        <a:cubicBezTo>
                          <a:pt x="11" y="29"/>
                          <a:pt x="0" y="58"/>
                          <a:pt x="50" y="58"/>
                        </a:cubicBezTo>
                        <a:cubicBezTo>
                          <a:pt x="54" y="58"/>
                          <a:pt x="54" y="58"/>
                          <a:pt x="54" y="58"/>
                        </a:cubicBezTo>
                        <a:cubicBezTo>
                          <a:pt x="41" y="40"/>
                          <a:pt x="41" y="40"/>
                          <a:pt x="41" y="40"/>
                        </a:cubicBezTo>
                        <a:lnTo>
                          <a:pt x="54" y="11"/>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60" name="Freeform 638"/>
                  <p:cNvSpPr/>
                  <p:nvPr/>
                </p:nvSpPr>
                <p:spPr bwMode="auto">
                  <a:xfrm>
                    <a:off x="3196030" y="1626181"/>
                    <a:ext cx="225039" cy="292839"/>
                  </a:xfrm>
                  <a:custGeom>
                    <a:avLst/>
                    <a:gdLst>
                      <a:gd name="T0" fmla="*/ 85 w 132"/>
                      <a:gd name="T1" fmla="*/ 0 h 172"/>
                      <a:gd name="T2" fmla="*/ 12 w 132"/>
                      <a:gd name="T3" fmla="*/ 125 h 172"/>
                      <a:gd name="T4" fmla="*/ 25 w 132"/>
                      <a:gd name="T5" fmla="*/ 158 h 172"/>
                      <a:gd name="T6" fmla="*/ 58 w 132"/>
                      <a:gd name="T7" fmla="*/ 156 h 172"/>
                      <a:gd name="T8" fmla="*/ 132 w 132"/>
                      <a:gd name="T9" fmla="*/ 28 h 172"/>
                      <a:gd name="T10" fmla="*/ 105 w 132"/>
                      <a:gd name="T11" fmla="*/ 19 h 172"/>
                      <a:gd name="T12" fmla="*/ 85 w 132"/>
                      <a:gd name="T13" fmla="*/ 0 h 172"/>
                    </a:gdLst>
                    <a:ahLst/>
                    <a:cxnLst>
                      <a:cxn ang="0">
                        <a:pos x="T0" y="T1"/>
                      </a:cxn>
                      <a:cxn ang="0">
                        <a:pos x="T2" y="T3"/>
                      </a:cxn>
                      <a:cxn ang="0">
                        <a:pos x="T4" y="T5"/>
                      </a:cxn>
                      <a:cxn ang="0">
                        <a:pos x="T6" y="T7"/>
                      </a:cxn>
                      <a:cxn ang="0">
                        <a:pos x="T8" y="T9"/>
                      </a:cxn>
                      <a:cxn ang="0">
                        <a:pos x="T10" y="T11"/>
                      </a:cxn>
                      <a:cxn ang="0">
                        <a:pos x="T12" y="T13"/>
                      </a:cxn>
                    </a:cxnLst>
                    <a:rect l="0" t="0" r="r" b="b"/>
                    <a:pathLst>
                      <a:path w="132" h="172">
                        <a:moveTo>
                          <a:pt x="85" y="0"/>
                        </a:moveTo>
                        <a:cubicBezTo>
                          <a:pt x="12" y="125"/>
                          <a:pt x="12" y="125"/>
                          <a:pt x="12" y="125"/>
                        </a:cubicBezTo>
                        <a:cubicBezTo>
                          <a:pt x="12" y="125"/>
                          <a:pt x="0" y="144"/>
                          <a:pt x="25" y="158"/>
                        </a:cubicBezTo>
                        <a:cubicBezTo>
                          <a:pt x="49" y="172"/>
                          <a:pt x="58" y="156"/>
                          <a:pt x="58" y="156"/>
                        </a:cubicBezTo>
                        <a:cubicBezTo>
                          <a:pt x="132" y="28"/>
                          <a:pt x="132" y="28"/>
                          <a:pt x="132" y="28"/>
                        </a:cubicBezTo>
                        <a:cubicBezTo>
                          <a:pt x="132" y="28"/>
                          <a:pt x="119" y="27"/>
                          <a:pt x="105" y="19"/>
                        </a:cubicBezTo>
                        <a:cubicBezTo>
                          <a:pt x="92" y="11"/>
                          <a:pt x="85" y="0"/>
                          <a:pt x="85" y="0"/>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grpSp>
          </p:grpSp>
        </p:grpSp>
      </p:grpSp>
      <p:sp>
        <p:nvSpPr>
          <p:cNvPr id="162" name="等腰三角形 161"/>
          <p:cNvSpPr/>
          <p:nvPr/>
        </p:nvSpPr>
        <p:spPr>
          <a:xfrm rot="1650064">
            <a:off x="7255663" y="2696716"/>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0" name="标题 1"/>
          <p:cNvSpPr txBox="1"/>
          <p:nvPr/>
        </p:nvSpPr>
        <p:spPr>
          <a:xfrm>
            <a:off x="611171" y="1173805"/>
            <a:ext cx="7429578" cy="1321094"/>
          </a:xfrm>
          <a:prstGeom prst="rect">
            <a:avLst/>
          </a:prstGeom>
          <a:noFill/>
          <a:ln>
            <a:noFill/>
          </a:ln>
          <a:effectLst/>
        </p:spPr>
        <p:txBody>
          <a:bodyPr vert="horz" wrap="square" lIns="0" tIns="0" rIns="0" bIns="0" rtlCol="0" anchor="ctr"/>
          <a:lstStyle/>
          <a:p>
            <a:pPr>
              <a:lnSpc>
                <a:spcPct val="130000"/>
              </a:lnSpc>
            </a:pPr>
            <a:r>
              <a:rPr kumimoji="1" lang="en-US" altLang="zh-CN" sz="2800" b="1" dirty="0">
                <a:ln w="12700">
                  <a:noFill/>
                </a:ln>
                <a:solidFill>
                  <a:srgbClr val="002060"/>
                </a:solidFill>
                <a:latin typeface="仿宋" panose="02010609060101010101" charset="-122"/>
                <a:ea typeface="仿宋" panose="02010609060101010101" charset="-122"/>
                <a:cs typeface="OPPOSans H" panose="00020600040101010101" charset="-122"/>
              </a:rPr>
              <a:t>MRCA: Metric-level Root Cause Analysis for Microservices </a:t>
            </a:r>
            <a:r>
              <a:rPr kumimoji="1" lang="en-US" altLang="zh-CN" sz="2800" b="1">
                <a:ln w="12700">
                  <a:noFill/>
                </a:ln>
                <a:solidFill>
                  <a:srgbClr val="002060"/>
                </a:solidFill>
                <a:latin typeface="仿宋" panose="02010609060101010101" charset="-122"/>
                <a:ea typeface="仿宋" panose="02010609060101010101" charset="-122"/>
                <a:cs typeface="OPPOSans H" panose="00020600040101010101" charset="-122"/>
              </a:rPr>
              <a:t>via Multi-Modal </a:t>
            </a:r>
            <a:r>
              <a:rPr kumimoji="1" lang="en-US" altLang="zh-CN" sz="2800" b="1" dirty="0">
                <a:ln w="12700">
                  <a:noFill/>
                </a:ln>
                <a:solidFill>
                  <a:srgbClr val="002060"/>
                </a:solidFill>
                <a:latin typeface="仿宋" panose="02010609060101010101" charset="-122"/>
                <a:ea typeface="仿宋" panose="02010609060101010101" charset="-122"/>
                <a:cs typeface="OPPOSans H" panose="00020600040101010101" charset="-122"/>
              </a:rPr>
              <a:t>Data</a:t>
            </a:r>
          </a:p>
        </p:txBody>
      </p:sp>
      <p:sp>
        <p:nvSpPr>
          <p:cNvPr id="51" name="标题 1"/>
          <p:cNvSpPr txBox="1"/>
          <p:nvPr/>
        </p:nvSpPr>
        <p:spPr>
          <a:xfrm>
            <a:off x="590934" y="2628455"/>
            <a:ext cx="5292000" cy="36000"/>
          </a:xfrm>
          <a:prstGeom prst="rect">
            <a:avLst/>
          </a:prstGeom>
          <a:gradFill>
            <a:gsLst>
              <a:gs pos="0">
                <a:schemeClr val="accent1">
                  <a:lumMod val="60000"/>
                  <a:lumOff val="40000"/>
                </a:schemeClr>
              </a:gs>
              <a:gs pos="100000">
                <a:schemeClr val="accent2">
                  <a:lumMod val="60000"/>
                  <a:lumOff val="40000"/>
                  <a:alpha val="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3" name="文本框 52"/>
          <p:cNvSpPr txBox="1"/>
          <p:nvPr/>
        </p:nvSpPr>
        <p:spPr>
          <a:xfrm>
            <a:off x="534182" y="2818402"/>
            <a:ext cx="6012856" cy="584775"/>
          </a:xfrm>
          <a:prstGeom prst="rect">
            <a:avLst/>
          </a:prstGeom>
          <a:noFill/>
        </p:spPr>
        <p:txBody>
          <a:bodyPr wrap="square" rtlCol="0">
            <a:spAutoFit/>
          </a:bodyPr>
          <a:lstStyle/>
          <a:p>
            <a:r>
              <a:rPr lang="en-US" altLang="zh-CN" sz="1600" dirty="0" err="1"/>
              <a:t>Yidan</a:t>
            </a:r>
            <a:r>
              <a:rPr lang="en-US" altLang="zh-CN" sz="1600" dirty="0"/>
              <a:t> Wang</a:t>
            </a:r>
            <a:r>
              <a:rPr lang="zh-CN" altLang="en-US" sz="1600" dirty="0"/>
              <a:t>、</a:t>
            </a:r>
            <a:r>
              <a:rPr lang="en-US" altLang="zh-CN" sz="1600" dirty="0" err="1"/>
              <a:t>Zhouruixing</a:t>
            </a:r>
            <a:r>
              <a:rPr lang="en-US" altLang="zh-CN" sz="1600" dirty="0"/>
              <a:t> Zhu</a:t>
            </a:r>
            <a:r>
              <a:rPr lang="zh-CN" altLang="en-US" sz="1600" dirty="0"/>
              <a:t>、</a:t>
            </a:r>
            <a:r>
              <a:rPr lang="en-US" altLang="zh-CN" sz="1600" dirty="0" err="1"/>
              <a:t>Qiuai</a:t>
            </a:r>
            <a:r>
              <a:rPr lang="en-US" altLang="zh-CN" sz="1600" dirty="0"/>
              <a:t> Fu</a:t>
            </a:r>
            <a:r>
              <a:rPr lang="zh-CN" altLang="en-US" sz="1600" dirty="0"/>
              <a:t>、</a:t>
            </a:r>
            <a:r>
              <a:rPr lang="en-US" altLang="zh-CN" sz="1600" dirty="0"/>
              <a:t>Yuchi Ma</a:t>
            </a:r>
            <a:r>
              <a:rPr lang="zh-CN" altLang="en-US" sz="1600" dirty="0"/>
              <a:t>、</a:t>
            </a:r>
            <a:r>
              <a:rPr lang="en-US" altLang="zh-CN" sz="1600" dirty="0" err="1"/>
              <a:t>Pinjia</a:t>
            </a:r>
            <a:r>
              <a:rPr lang="en-US" altLang="zh-CN" sz="1600" dirty="0"/>
              <a:t> He</a:t>
            </a:r>
            <a:r>
              <a:rPr lang="en-US" altLang="zh-CN" sz="1600" baseline="30000" dirty="0"/>
              <a:t>∗</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E1FFEC00-19A9-4651-9121-0D15CA950DCB}"/>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16" name="矩形 15">
            <a:extLst>
              <a:ext uri="{FF2B5EF4-FFF2-40B4-BE49-F238E27FC236}">
                <a16:creationId xmlns:a16="http://schemas.microsoft.com/office/drawing/2014/main" id="{D71C9EF7-54E7-40B4-BCF1-2AE090FF9AE4}"/>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17" name="矩形 16">
            <a:extLst>
              <a:ext uri="{FF2B5EF4-FFF2-40B4-BE49-F238E27FC236}">
                <a16:creationId xmlns:a16="http://schemas.microsoft.com/office/drawing/2014/main" id="{A4C46B7E-8DDA-488A-9D12-A1CC90C27A8C}"/>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18" name="矩形 17">
            <a:extLst>
              <a:ext uri="{FF2B5EF4-FFF2-40B4-BE49-F238E27FC236}">
                <a16:creationId xmlns:a16="http://schemas.microsoft.com/office/drawing/2014/main" id="{EA9B725E-62C2-4631-BEC8-008F5667D697}"/>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26" name="文本框 25">
            <a:extLst>
              <a:ext uri="{FF2B5EF4-FFF2-40B4-BE49-F238E27FC236}">
                <a16:creationId xmlns:a16="http://schemas.microsoft.com/office/drawing/2014/main" id="{BFC36D7A-717F-40C3-9B0F-0CF53D0A52B7}"/>
              </a:ext>
            </a:extLst>
          </p:cNvPr>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Limitation</a:t>
            </a:r>
            <a:endParaRPr lang="zh-CN" altLang="en-US" dirty="0">
              <a:solidFill>
                <a:srgbClr val="E5DEDB">
                  <a:lumMod val="10000"/>
                  <a:alpha val="85000"/>
                </a:srgbClr>
              </a:solidFill>
              <a:latin typeface="Times New Roman" panose="02020603050405020304" pitchFamily="18" charset="0"/>
              <a:ea typeface="幼圆"/>
              <a:cs typeface="Times New Roman" panose="02020603050405020304" pitchFamily="18" charset="0"/>
            </a:endParaRPr>
          </a:p>
        </p:txBody>
      </p:sp>
      <p:sp>
        <p:nvSpPr>
          <p:cNvPr id="4" name="文本框 3">
            <a:extLst>
              <a:ext uri="{FF2B5EF4-FFF2-40B4-BE49-F238E27FC236}">
                <a16:creationId xmlns:a16="http://schemas.microsoft.com/office/drawing/2014/main" id="{A33A5650-452D-0F0E-183B-BDB3393BE2F6}"/>
              </a:ext>
            </a:extLst>
          </p:cNvPr>
          <p:cNvSpPr txBox="1"/>
          <p:nvPr/>
        </p:nvSpPr>
        <p:spPr>
          <a:xfrm>
            <a:off x="813586" y="1060501"/>
            <a:ext cx="7009613" cy="12890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fr-FR" altLang="zh-CN" dirty="0">
                <a:latin typeface="Times New Roman" panose="02020603050405020304" pitchFamily="18" charset="0"/>
                <a:cs typeface="Times New Roman" panose="02020603050405020304" pitchFamily="18" charset="0"/>
              </a:rPr>
              <a:t>Insufficient exploitation on multi-modal data</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Current RCA methods overlook the importance of anomaly detection</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Coarse-grained root cause localization at the service level</a:t>
            </a:r>
            <a:endParaRPr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5519FB95-057D-E264-4649-2B3DA1BA2223}"/>
              </a:ext>
            </a:extLst>
          </p:cNvPr>
          <p:cNvPicPr>
            <a:picLocks noChangeAspect="1"/>
          </p:cNvPicPr>
          <p:nvPr/>
        </p:nvPicPr>
        <p:blipFill>
          <a:blip r:embed="rId3"/>
          <a:stretch>
            <a:fillRect/>
          </a:stretch>
        </p:blipFill>
        <p:spPr>
          <a:xfrm>
            <a:off x="0" y="2910450"/>
            <a:ext cx="9144000" cy="1873652"/>
          </a:xfrm>
          <a:prstGeom prst="rect">
            <a:avLst/>
          </a:prstGeom>
        </p:spPr>
      </p:pic>
    </p:spTree>
    <p:extLst>
      <p:ext uri="{BB962C8B-B14F-4D97-AF65-F5344CB8AC3E}">
        <p14:creationId xmlns:p14="http://schemas.microsoft.com/office/powerpoint/2010/main" val="414294159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1D41D-B9FC-52B4-31C2-8DA3264C2067}"/>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D570767D-53F7-686D-925F-16BFF246B927}"/>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16" name="矩形 15">
            <a:extLst>
              <a:ext uri="{FF2B5EF4-FFF2-40B4-BE49-F238E27FC236}">
                <a16:creationId xmlns:a16="http://schemas.microsoft.com/office/drawing/2014/main" id="{01B6DD11-1EFD-981C-0A7C-80DA97072061}"/>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17" name="矩形 16">
            <a:extLst>
              <a:ext uri="{FF2B5EF4-FFF2-40B4-BE49-F238E27FC236}">
                <a16:creationId xmlns:a16="http://schemas.microsoft.com/office/drawing/2014/main" id="{8E447CAD-2C5D-84AC-74E1-E721DD5438EF}"/>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18" name="矩形 17">
            <a:extLst>
              <a:ext uri="{FF2B5EF4-FFF2-40B4-BE49-F238E27FC236}">
                <a16:creationId xmlns:a16="http://schemas.microsoft.com/office/drawing/2014/main" id="{3B28BC54-7B53-A528-1A6C-BB5A2A43C594}"/>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26" name="文本框 25">
            <a:extLst>
              <a:ext uri="{FF2B5EF4-FFF2-40B4-BE49-F238E27FC236}">
                <a16:creationId xmlns:a16="http://schemas.microsoft.com/office/drawing/2014/main" id="{5D79C5A2-5476-0D1B-B51A-966625E30237}"/>
              </a:ext>
            </a:extLst>
          </p:cNvPr>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Overview</a:t>
            </a:r>
            <a:endParaRPr lang="zh-CN" altLang="en-US" dirty="0">
              <a:solidFill>
                <a:srgbClr val="E5DEDB">
                  <a:lumMod val="10000"/>
                  <a:alpha val="85000"/>
                </a:srgbClr>
              </a:solidFill>
              <a:latin typeface="Times New Roman" panose="02020603050405020304" pitchFamily="18" charset="0"/>
              <a:ea typeface="幼圆"/>
              <a:cs typeface="Times New Roman" panose="02020603050405020304" pitchFamily="18" charset="0"/>
            </a:endParaRPr>
          </a:p>
        </p:txBody>
      </p:sp>
      <p:pic>
        <p:nvPicPr>
          <p:cNvPr id="3" name="图片 2">
            <a:extLst>
              <a:ext uri="{FF2B5EF4-FFF2-40B4-BE49-F238E27FC236}">
                <a16:creationId xmlns:a16="http://schemas.microsoft.com/office/drawing/2014/main" id="{A7EF5712-2E66-6FF4-7081-81C0E039AD29}"/>
              </a:ext>
            </a:extLst>
          </p:cNvPr>
          <p:cNvPicPr>
            <a:picLocks noChangeAspect="1"/>
          </p:cNvPicPr>
          <p:nvPr/>
        </p:nvPicPr>
        <p:blipFill>
          <a:blip r:embed="rId3"/>
          <a:stretch>
            <a:fillRect/>
          </a:stretch>
        </p:blipFill>
        <p:spPr>
          <a:xfrm>
            <a:off x="0" y="1065027"/>
            <a:ext cx="9144000" cy="4263642"/>
          </a:xfrm>
          <a:prstGeom prst="rect">
            <a:avLst/>
          </a:prstGeom>
        </p:spPr>
      </p:pic>
    </p:spTree>
    <p:extLst>
      <p:ext uri="{BB962C8B-B14F-4D97-AF65-F5344CB8AC3E}">
        <p14:creationId xmlns:p14="http://schemas.microsoft.com/office/powerpoint/2010/main" val="178098139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332298AE-D5FF-4504-9E2C-3B63B8B2A927}"/>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49" name="矩形 48">
            <a:extLst>
              <a:ext uri="{FF2B5EF4-FFF2-40B4-BE49-F238E27FC236}">
                <a16:creationId xmlns:a16="http://schemas.microsoft.com/office/drawing/2014/main" id="{DE15805F-DB7D-40AC-8AE7-C7AACCA11F08}"/>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2" name="矩形 51">
            <a:extLst>
              <a:ext uri="{FF2B5EF4-FFF2-40B4-BE49-F238E27FC236}">
                <a16:creationId xmlns:a16="http://schemas.microsoft.com/office/drawing/2014/main" id="{2BCC1B0B-7004-4674-A770-6654501A4436}"/>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3" name="矩形 52">
            <a:extLst>
              <a:ext uri="{FF2B5EF4-FFF2-40B4-BE49-F238E27FC236}">
                <a16:creationId xmlns:a16="http://schemas.microsoft.com/office/drawing/2014/main" id="{200DCE8C-BEA1-4CB0-BB9E-36825CA0133B}"/>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5" name="文本框 54">
            <a:extLst>
              <a:ext uri="{FF2B5EF4-FFF2-40B4-BE49-F238E27FC236}">
                <a16:creationId xmlns:a16="http://schemas.microsoft.com/office/drawing/2014/main" id="{A59BD3CF-9B85-4B93-8D57-8EFAEDC0BAA0}"/>
              </a:ext>
            </a:extLst>
          </p:cNvPr>
          <p:cNvSpPr txBox="1"/>
          <p:nvPr/>
        </p:nvSpPr>
        <p:spPr bwMode="auto">
          <a:xfrm>
            <a:off x="813585" y="287917"/>
            <a:ext cx="5008611"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Anomaly Detection</a:t>
            </a:r>
            <a:endParaRPr lang="zh-CN" altLang="en-US" dirty="0">
              <a:solidFill>
                <a:srgbClr val="E5DEDB">
                  <a:lumMod val="10000"/>
                  <a:alpha val="85000"/>
                </a:srgbClr>
              </a:solidFill>
              <a:latin typeface="Times New Roman" panose="02020603050405020304" pitchFamily="18" charset="0"/>
              <a:ea typeface="幼圆"/>
              <a:cs typeface="Times New Roman" panose="02020603050405020304" pitchFamily="18" charset="0"/>
            </a:endParaRPr>
          </a:p>
        </p:txBody>
      </p:sp>
      <p:sp>
        <p:nvSpPr>
          <p:cNvPr id="12" name="文本框 11">
            <a:extLst>
              <a:ext uri="{FF2B5EF4-FFF2-40B4-BE49-F238E27FC236}">
                <a16:creationId xmlns:a16="http://schemas.microsoft.com/office/drawing/2014/main" id="{4079985B-9C77-52CE-8364-7781AE799DFD}"/>
              </a:ext>
            </a:extLst>
          </p:cNvPr>
          <p:cNvSpPr txBox="1"/>
          <p:nvPr/>
        </p:nvSpPr>
        <p:spPr>
          <a:xfrm>
            <a:off x="816229" y="1003679"/>
            <a:ext cx="4572000" cy="36933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VAE consists of two parts: encoder and decoder.</a:t>
            </a:r>
          </a:p>
        </p:txBody>
      </p:sp>
      <p:sp>
        <p:nvSpPr>
          <p:cNvPr id="14" name="文本框 13">
            <a:extLst>
              <a:ext uri="{FF2B5EF4-FFF2-40B4-BE49-F238E27FC236}">
                <a16:creationId xmlns:a16="http://schemas.microsoft.com/office/drawing/2014/main" id="{91E8CBCE-D02D-6247-B8E7-AC271209A405}"/>
              </a:ext>
            </a:extLst>
          </p:cNvPr>
          <p:cNvSpPr txBox="1"/>
          <p:nvPr/>
        </p:nvSpPr>
        <p:spPr>
          <a:xfrm>
            <a:off x="813585" y="2791132"/>
            <a:ext cx="7183464" cy="1200329"/>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We use the logs and traces of the historical data when the system is running normally to train the VAE model to obtain the variance and mean. </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Then input the data in the online stage into the VAE to calculate the reconstruction error.</a:t>
            </a:r>
          </a:p>
        </p:txBody>
      </p:sp>
      <p:sp>
        <p:nvSpPr>
          <p:cNvPr id="16" name="文本框 15">
            <a:extLst>
              <a:ext uri="{FF2B5EF4-FFF2-40B4-BE49-F238E27FC236}">
                <a16:creationId xmlns:a16="http://schemas.microsoft.com/office/drawing/2014/main" id="{8AADB5A7-2356-4B3A-2172-8B87DFD28D16}"/>
              </a:ext>
            </a:extLst>
          </p:cNvPr>
          <p:cNvSpPr txBox="1"/>
          <p:nvPr/>
        </p:nvSpPr>
        <p:spPr>
          <a:xfrm>
            <a:off x="813585" y="1706038"/>
            <a:ext cx="7348780" cy="646331"/>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The encoder maps input data to a latent space distribution (usually Gaussian), </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while the decoder maps latent space points back to the original data.</a:t>
            </a:r>
          </a:p>
        </p:txBody>
      </p:sp>
    </p:spTree>
    <p:extLst>
      <p:ext uri="{BB962C8B-B14F-4D97-AF65-F5344CB8AC3E}">
        <p14:creationId xmlns:p14="http://schemas.microsoft.com/office/powerpoint/2010/main" val="318923304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E6E74-9D59-C63C-D557-4C6C38AF6C68}"/>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BF1A1BB6-5A0C-66DC-8703-03F817E836F9}"/>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49" name="矩形 48">
            <a:extLst>
              <a:ext uri="{FF2B5EF4-FFF2-40B4-BE49-F238E27FC236}">
                <a16:creationId xmlns:a16="http://schemas.microsoft.com/office/drawing/2014/main" id="{4381A1C7-BF12-0DE2-57E7-26D9CFCC1F3E}"/>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2" name="矩形 51">
            <a:extLst>
              <a:ext uri="{FF2B5EF4-FFF2-40B4-BE49-F238E27FC236}">
                <a16:creationId xmlns:a16="http://schemas.microsoft.com/office/drawing/2014/main" id="{8FEC8177-F1FD-5FC1-E46F-257E883662A1}"/>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3" name="矩形 52">
            <a:extLst>
              <a:ext uri="{FF2B5EF4-FFF2-40B4-BE49-F238E27FC236}">
                <a16:creationId xmlns:a16="http://schemas.microsoft.com/office/drawing/2014/main" id="{A2B330E2-D294-299E-A128-E2AC087B2FD9}"/>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5" name="文本框 54">
            <a:extLst>
              <a:ext uri="{FF2B5EF4-FFF2-40B4-BE49-F238E27FC236}">
                <a16:creationId xmlns:a16="http://schemas.microsoft.com/office/drawing/2014/main" id="{606A9414-F297-9617-82EC-FCDD881773A1}"/>
              </a:ext>
            </a:extLst>
          </p:cNvPr>
          <p:cNvSpPr txBox="1"/>
          <p:nvPr/>
        </p:nvSpPr>
        <p:spPr bwMode="auto">
          <a:xfrm>
            <a:off x="813585" y="287917"/>
            <a:ext cx="5008611"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Anomaly Detection</a:t>
            </a:r>
            <a:endParaRPr lang="zh-CN" altLang="en-US" dirty="0">
              <a:solidFill>
                <a:srgbClr val="E5DEDB">
                  <a:lumMod val="10000"/>
                  <a:alpha val="85000"/>
                </a:srgbClr>
              </a:solidFill>
              <a:latin typeface="Times New Roman" panose="02020603050405020304" pitchFamily="18" charset="0"/>
              <a:ea typeface="幼圆"/>
              <a:cs typeface="Times New Roman" panose="02020603050405020304" pitchFamily="18" charset="0"/>
            </a:endParaRPr>
          </a:p>
        </p:txBody>
      </p:sp>
      <p:sp>
        <p:nvSpPr>
          <p:cNvPr id="12" name="文本框 11">
            <a:extLst>
              <a:ext uri="{FF2B5EF4-FFF2-40B4-BE49-F238E27FC236}">
                <a16:creationId xmlns:a16="http://schemas.microsoft.com/office/drawing/2014/main" id="{34161D97-49E5-3E1A-47AB-C58F8D29FAB5}"/>
              </a:ext>
            </a:extLst>
          </p:cNvPr>
          <p:cNvSpPr txBox="1"/>
          <p:nvPr/>
        </p:nvSpPr>
        <p:spPr>
          <a:xfrm>
            <a:off x="875646" y="3433037"/>
            <a:ext cx="7392707" cy="923330"/>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We need to set a threshold ε for the reconstruction probability. </a:t>
            </a:r>
          </a:p>
          <a:p>
            <a:r>
              <a:rPr lang="en-US" altLang="zh-CN" dirty="0">
                <a:latin typeface="Times New Roman" panose="02020603050405020304" pitchFamily="18" charset="0"/>
                <a:cs typeface="Times New Roman" panose="02020603050405020304" pitchFamily="18" charset="0"/>
              </a:rPr>
              <a:t>When the reconstruction probability of any service is lower than this threshold, the system will generate an anomaly alert.</a:t>
            </a:r>
            <a:endParaRPr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31FC8F1-6B6B-8266-F964-ADFBEA71ACDD}"/>
                  </a:ext>
                </a:extLst>
              </p:cNvPr>
              <p:cNvSpPr txBox="1"/>
              <p:nvPr/>
            </p:nvSpPr>
            <p:spPr>
              <a:xfrm>
                <a:off x="875646" y="957092"/>
                <a:ext cx="7392707" cy="665695"/>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We use the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ℱ</m:t>
                    </m:r>
                    <m:r>
                      <a:rPr lang="en-US" altLang="zh-CN" i="1" dirty="0" smtClean="0">
                        <a:latin typeface="Cambria Math" panose="02040503050406030204" pitchFamily="18" charset="0"/>
                        <a:cs typeface="Times New Roman" panose="02020603050405020304" pitchFamily="18" charset="0"/>
                      </a:rPr>
                      <m:t>=</m:t>
                    </m:r>
                    <m:sSubSup>
                      <m:sSubSupPr>
                        <m:ctrlPr>
                          <a:rPr lang="en-US" altLang="zh-CN" i="1" dirty="0">
                            <a:latin typeface="Cambria Math" panose="02040503050406030204" pitchFamily="18" charset="0"/>
                            <a:cs typeface="Times New Roman" panose="02020603050405020304" pitchFamily="18" charset="0"/>
                          </a:rPr>
                        </m:ctrlPr>
                      </m:sSubSupPr>
                      <m:e>
                        <m:d>
                          <m:dPr>
                            <m:begChr m:val="{"/>
                            <m:endChr m:val="}"/>
                            <m:ctrlPr>
                              <a:rPr lang="en-US" altLang="zh-CN" i="1" dirty="0">
                                <a:latin typeface="Cambria Math" panose="02040503050406030204" pitchFamily="18" charset="0"/>
                                <a:cs typeface="Times New Roman" panose="02020603050405020304" pitchFamily="18" charset="0"/>
                              </a:rPr>
                            </m:ctrlPr>
                          </m:dPr>
                          <m:e>
                            <m:sSub>
                              <m:sSubPr>
                                <m:ctrlPr>
                                  <a:rPr lang="en-US" altLang="zh-CN" i="1" dirty="0">
                                    <a:latin typeface="Cambria Math" panose="02040503050406030204" pitchFamily="18" charset="0"/>
                                    <a:cs typeface="Times New Roman" panose="02020603050405020304" pitchFamily="18" charset="0"/>
                                  </a:rPr>
                                </m:ctrlPr>
                              </m:sSubPr>
                              <m:e>
                                <m:r>
                                  <a:rPr lang="en-US" altLang="zh-CN" i="1" dirty="0">
                                    <a:latin typeface="Cambria Math" panose="02040503050406030204" pitchFamily="18" charset="0"/>
                                    <a:cs typeface="Times New Roman" panose="02020603050405020304" pitchFamily="18" charset="0"/>
                                  </a:rPr>
                                  <m:t>ℱ</m:t>
                                </m:r>
                              </m:e>
                              <m:sub>
                                <m:r>
                                  <a:rPr lang="en-US" altLang="zh-CN" i="1" dirty="0">
                                    <a:latin typeface="Cambria Math" panose="02040503050406030204" pitchFamily="18" charset="0"/>
                                    <a:cs typeface="Times New Roman" panose="02020603050405020304" pitchFamily="18" charset="0"/>
                                  </a:rPr>
                                  <m:t>𝓀</m:t>
                                </m:r>
                              </m:sub>
                            </m:sSub>
                          </m:e>
                        </m:d>
                      </m:e>
                      <m:sub>
                        <m:r>
                          <a:rPr lang="en-US" altLang="zh-CN" i="1" dirty="0">
                            <a:latin typeface="Cambria Math" panose="02040503050406030204" pitchFamily="18" charset="0"/>
                            <a:cs typeface="Times New Roman" panose="02020603050405020304" pitchFamily="18" charset="0"/>
                          </a:rPr>
                          <m:t>𝑘</m:t>
                        </m:r>
                        <m:r>
                          <a:rPr lang="en-US" altLang="zh-CN" i="1" dirty="0">
                            <a:latin typeface="Cambria Math" panose="02040503050406030204" pitchFamily="18" charset="0"/>
                            <a:cs typeface="Times New Roman" panose="02020603050405020304" pitchFamily="18" charset="0"/>
                          </a:rPr>
                          <m:t>=1</m:t>
                        </m:r>
                      </m:sub>
                      <m:sup>
                        <m:r>
                          <a:rPr lang="en-US" altLang="zh-CN" i="1" dirty="0">
                            <a:latin typeface="Cambria Math" panose="02040503050406030204" pitchFamily="18" charset="0"/>
                            <a:cs typeface="Times New Roman" panose="02020603050405020304" pitchFamily="18" charset="0"/>
                          </a:rPr>
                          <m:t>𝒦</m:t>
                        </m:r>
                      </m:sup>
                    </m:sSubSup>
                  </m:oMath>
                </a14:m>
                <a:r>
                  <a:rPr lang="en-US" altLang="zh-CN" dirty="0">
                    <a:latin typeface="Times New Roman" panose="02020603050405020304" pitchFamily="18" charset="0"/>
                    <a:cs typeface="Times New Roman" panose="02020603050405020304" pitchFamily="18" charset="0"/>
                  </a:rPr>
                  <a:t> when the system is running normally according to the time window size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𝑇</m:t>
                    </m:r>
                  </m:oMath>
                </a14:m>
                <a:r>
                  <a:rPr lang="en-US" altLang="zh-CN" dirty="0">
                    <a:latin typeface="Times New Roman" panose="02020603050405020304" pitchFamily="18" charset="0"/>
                    <a:cs typeface="Times New Roman" panose="02020603050405020304" pitchFamily="18" charset="0"/>
                  </a:rPr>
                  <a:t>. These data are input into the VAE model to train it.</a:t>
                </a:r>
                <a:endParaRPr lang="zh-CN" altLang="en-US" dirty="0">
                  <a:latin typeface="Times New Roman" panose="02020603050405020304" pitchFamily="18" charset="0"/>
                  <a:cs typeface="Times New Roman" panose="02020603050405020304" pitchFamily="18" charset="0"/>
                </a:endParaRPr>
              </a:p>
            </p:txBody>
          </p:sp>
        </mc:Choice>
        <mc:Fallback xmlns="">
          <p:sp>
            <p:nvSpPr>
              <p:cNvPr id="2" name="文本框 1">
                <a:extLst>
                  <a:ext uri="{FF2B5EF4-FFF2-40B4-BE49-F238E27FC236}">
                    <a16:creationId xmlns:a16="http://schemas.microsoft.com/office/drawing/2014/main" id="{B31FC8F1-6B6B-8266-F964-ADFBEA71ACDD}"/>
                  </a:ext>
                </a:extLst>
              </p:cNvPr>
              <p:cNvSpPr txBox="1">
                <a:spLocks noRot="1" noChangeAspect="1" noMove="1" noResize="1" noEditPoints="1" noAdjustHandles="1" noChangeArrowheads="1" noChangeShapeType="1" noTextEdit="1"/>
              </p:cNvSpPr>
              <p:nvPr/>
            </p:nvSpPr>
            <p:spPr>
              <a:xfrm>
                <a:off x="875646" y="957092"/>
                <a:ext cx="7392707" cy="665695"/>
              </a:xfrm>
              <a:prstGeom prst="rect">
                <a:avLst/>
              </a:prstGeom>
              <a:blipFill>
                <a:blip r:embed="rId3"/>
                <a:stretch>
                  <a:fillRect l="-743" t="-1835" b="-13761"/>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993A8C13-1EF9-07DE-D08E-40CA45D782CE}"/>
              </a:ext>
            </a:extLst>
          </p:cNvPr>
          <p:cNvSpPr txBox="1"/>
          <p:nvPr/>
        </p:nvSpPr>
        <p:spPr>
          <a:xfrm>
            <a:off x="875645" y="1927747"/>
            <a:ext cx="7392707" cy="1200329"/>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When an anomaly occurs, there are significant changes in the data distribution. Once an abnormality occurs, due to the difference between abnormal data and normal data, it is difficult for VAE to reconstruct abnormal data, which means the reconstruction probability </a:t>
            </a:r>
            <a:r>
              <a:rPr lang="en-US" altLang="zh-CN" b="1" dirty="0">
                <a:latin typeface="Times New Roman" panose="02020603050405020304" pitchFamily="18" charset="0"/>
                <a:cs typeface="Times New Roman" panose="02020603050405020304" pitchFamily="18" charset="0"/>
              </a:rPr>
              <a:t>decreases</a:t>
            </a:r>
            <a:r>
              <a:rPr lang="en-US" altLang="zh-CN" dirty="0">
                <a:latin typeface="Times New Roman" panose="02020603050405020304" pitchFamily="18" charset="0"/>
                <a:cs typeface="Times New Roman" panose="02020603050405020304" pitchFamily="18" charset="0"/>
              </a:rPr>
              <a:t> significantly.</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684628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0A916-5339-53ED-7494-8A2EF3D33643}"/>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6E5C2056-DD64-DE64-1122-6EB948D85A12}"/>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49" name="矩形 48">
            <a:extLst>
              <a:ext uri="{FF2B5EF4-FFF2-40B4-BE49-F238E27FC236}">
                <a16:creationId xmlns:a16="http://schemas.microsoft.com/office/drawing/2014/main" id="{83E08214-20FB-3D87-95FB-EDCB509FB2A6}"/>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2" name="矩形 51">
            <a:extLst>
              <a:ext uri="{FF2B5EF4-FFF2-40B4-BE49-F238E27FC236}">
                <a16:creationId xmlns:a16="http://schemas.microsoft.com/office/drawing/2014/main" id="{19465587-0EC3-175D-FC66-6216CC1DB1FD}"/>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3" name="矩形 52">
            <a:extLst>
              <a:ext uri="{FF2B5EF4-FFF2-40B4-BE49-F238E27FC236}">
                <a16:creationId xmlns:a16="http://schemas.microsoft.com/office/drawing/2014/main" id="{E6902E32-32BC-0F91-5855-5D61CD131101}"/>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5" name="文本框 54">
            <a:extLst>
              <a:ext uri="{FF2B5EF4-FFF2-40B4-BE49-F238E27FC236}">
                <a16:creationId xmlns:a16="http://schemas.microsoft.com/office/drawing/2014/main" id="{61B3DAEC-B1C3-56BE-C82E-33E881F4F6CB}"/>
              </a:ext>
            </a:extLst>
          </p:cNvPr>
          <p:cNvSpPr txBox="1"/>
          <p:nvPr/>
        </p:nvSpPr>
        <p:spPr bwMode="auto">
          <a:xfrm>
            <a:off x="813585" y="287917"/>
            <a:ext cx="5008611"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Anomaly Detection</a:t>
            </a:r>
            <a:endParaRPr lang="zh-CN" altLang="en-US" dirty="0">
              <a:solidFill>
                <a:srgbClr val="E5DEDB">
                  <a:lumMod val="10000"/>
                  <a:alpha val="85000"/>
                </a:srgbClr>
              </a:solidFill>
              <a:latin typeface="Times New Roman" panose="02020603050405020304" pitchFamily="18" charset="0"/>
              <a:ea typeface="幼圆"/>
              <a:cs typeface="Times New Roman" panose="02020603050405020304" pitchFamily="18" charset="0"/>
            </a:endParaRPr>
          </a:p>
        </p:txBody>
      </p:sp>
      <p:sp>
        <p:nvSpPr>
          <p:cNvPr id="3" name="文本框 2">
            <a:extLst>
              <a:ext uri="{FF2B5EF4-FFF2-40B4-BE49-F238E27FC236}">
                <a16:creationId xmlns:a16="http://schemas.microsoft.com/office/drawing/2014/main" id="{FBC02CE3-F6FD-15F9-0DE5-1CDB48D36AEA}"/>
              </a:ext>
            </a:extLst>
          </p:cNvPr>
          <p:cNvSpPr txBox="1"/>
          <p:nvPr/>
        </p:nvSpPr>
        <p:spPr>
          <a:xfrm>
            <a:off x="789529" y="957092"/>
            <a:ext cx="7347081" cy="923330"/>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he next step is to obtain the reconstruction probabilities of different services, the abnormal services can be ranked. </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The lower the reconstruction probability, the higher the anomaly score.</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850C973-ACB4-DBB5-A362-F2A2643C6CC1}"/>
                  </a:ext>
                </a:extLst>
              </p:cNvPr>
              <p:cNvSpPr txBox="1"/>
              <p:nvPr/>
            </p:nvSpPr>
            <p:spPr>
              <a:xfrm>
                <a:off x="813585" y="3263078"/>
                <a:ext cx="7715649" cy="923330"/>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Besides, we will remove the normal service from the list which has a reconstruction probability higher than ξ. </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After the above processing, we get a ranking list </a:t>
                </a:r>
                <a14:m>
                  <m:oMath xmlns:m="http://schemas.openxmlformats.org/officeDocument/2006/math">
                    <m:r>
                      <a:rPr lang="zh-CN" altLang="en-US" i="1" dirty="0" smtClean="0">
                        <a:latin typeface="Cambria Math" panose="02040503050406030204" pitchFamily="18" charset="0"/>
                        <a:cs typeface="Times New Roman" panose="02020603050405020304" pitchFamily="18" charset="0"/>
                      </a:rPr>
                      <m:t>𝐿𝑖𝑠</m:t>
                    </m:r>
                    <m:sSub>
                      <m:sSubPr>
                        <m:ctrlPr>
                          <a:rPr lang="en-US" altLang="zh-CN" b="0" i="1" dirty="0" smtClean="0">
                            <a:latin typeface="Cambria Math" panose="02040503050406030204" pitchFamily="18" charset="0"/>
                            <a:cs typeface="Times New Roman" panose="02020603050405020304" pitchFamily="18" charset="0"/>
                          </a:rPr>
                        </m:ctrlPr>
                      </m:sSubPr>
                      <m:e>
                        <m:r>
                          <a:rPr lang="zh-CN" altLang="en-US" i="1" dirty="0" smtClean="0">
                            <a:latin typeface="Cambria Math" panose="02040503050406030204" pitchFamily="18" charset="0"/>
                            <a:cs typeface="Times New Roman" panose="02020603050405020304" pitchFamily="18" charset="0"/>
                          </a:rPr>
                          <m:t>𝑡</m:t>
                        </m:r>
                      </m:e>
                      <m:sub>
                        <m:r>
                          <a:rPr lang="zh-CN" altLang="en-US" i="1" dirty="0">
                            <a:latin typeface="Cambria Math" panose="02040503050406030204" pitchFamily="18" charset="0"/>
                            <a:cs typeface="Times New Roman" panose="02020603050405020304" pitchFamily="18" charset="0"/>
                          </a:rPr>
                          <m:t>𝑖𝑛𝑖𝑡𝑖𝑎𝑙</m:t>
                        </m:r>
                      </m:sub>
                    </m:sSub>
                    <m:r>
                      <a:rPr lang="zh-CN" altLang="en-US" i="1" dirty="0" smtClean="0">
                        <a:latin typeface="Cambria Math" panose="02040503050406030204" pitchFamily="18" charset="0"/>
                        <a:cs typeface="Times New Roman" panose="02020603050405020304" pitchFamily="18" charset="0"/>
                      </a:rPr>
                      <m:t>= {</m:t>
                    </m:r>
                    <m:sSub>
                      <m:sSubPr>
                        <m:ctrlPr>
                          <a:rPr lang="en-US" altLang="zh-CN" b="0" i="1" dirty="0" smtClean="0">
                            <a:latin typeface="Cambria Math" panose="02040503050406030204" pitchFamily="18" charset="0"/>
                            <a:cs typeface="Times New Roman" panose="02020603050405020304" pitchFamily="18" charset="0"/>
                          </a:rPr>
                        </m:ctrlPr>
                      </m:sSubPr>
                      <m:e>
                        <m:r>
                          <a:rPr lang="zh-CN" altLang="en-US" i="1" dirty="0" smtClean="0">
                            <a:latin typeface="Cambria Math" panose="02040503050406030204" pitchFamily="18" charset="0"/>
                            <a:cs typeface="Times New Roman" panose="02020603050405020304" pitchFamily="18" charset="0"/>
                          </a:rPr>
                          <m:t>𝑋</m:t>
                        </m:r>
                      </m:e>
                      <m:sub>
                        <m:r>
                          <a:rPr lang="zh-CN" altLang="en-US" i="1" dirty="0" smtClean="0">
                            <a:latin typeface="Cambria Math" panose="02040503050406030204" pitchFamily="18" charset="0"/>
                            <a:cs typeface="Times New Roman" panose="02020603050405020304" pitchFamily="18" charset="0"/>
                          </a:rPr>
                          <m:t>𝑚</m:t>
                        </m:r>
                      </m:sub>
                    </m:sSub>
                    <m:r>
                      <a:rPr lang="zh-CN" altLang="en-US" i="1" dirty="0" smtClean="0">
                        <a:latin typeface="Cambria Math" panose="02040503050406030204" pitchFamily="18" charset="0"/>
                        <a:cs typeface="Times New Roman" panose="02020603050405020304" pitchFamily="18" charset="0"/>
                      </a:rPr>
                      <m:t>,</m:t>
                    </m:r>
                    <m:sSub>
                      <m:sSubPr>
                        <m:ctrlPr>
                          <a:rPr lang="en-US" altLang="zh-CN" b="0" i="1" dirty="0" smtClean="0">
                            <a:latin typeface="Cambria Math" panose="02040503050406030204" pitchFamily="18" charset="0"/>
                            <a:cs typeface="Times New Roman" panose="02020603050405020304" pitchFamily="18" charset="0"/>
                          </a:rPr>
                        </m:ctrlPr>
                      </m:sSubPr>
                      <m:e>
                        <m:r>
                          <a:rPr lang="zh-CN" altLang="en-US" i="1" dirty="0" smtClean="0">
                            <a:latin typeface="Cambria Math" panose="02040503050406030204" pitchFamily="18" charset="0"/>
                            <a:cs typeface="Times New Roman" panose="02020603050405020304" pitchFamily="18" charset="0"/>
                          </a:rPr>
                          <m:t>𝑋</m:t>
                        </m:r>
                      </m:e>
                      <m:sub>
                        <m:r>
                          <a:rPr lang="zh-CN" altLang="en-US" i="1" dirty="0" smtClean="0">
                            <a:latin typeface="Cambria Math" panose="02040503050406030204" pitchFamily="18" charset="0"/>
                            <a:cs typeface="Times New Roman" panose="02020603050405020304" pitchFamily="18" charset="0"/>
                          </a:rPr>
                          <m:t>𝑛</m:t>
                        </m:r>
                      </m:sub>
                    </m:sSub>
                    <m:r>
                      <a:rPr lang="zh-CN" altLang="en-US" i="1" dirty="0" smtClean="0">
                        <a:latin typeface="Cambria Math" panose="02040503050406030204" pitchFamily="18" charset="0"/>
                        <a:cs typeface="Times New Roman" panose="02020603050405020304" pitchFamily="18" charset="0"/>
                      </a:rPr>
                      <m:t>, …}.</m:t>
                    </m:r>
                  </m:oMath>
                </a14:m>
                <a:endParaRPr lang="zh-CN" altLang="en-US" dirty="0">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A850C973-ACB4-DBB5-A362-F2A2643C6CC1}"/>
                  </a:ext>
                </a:extLst>
              </p:cNvPr>
              <p:cNvSpPr txBox="1">
                <a:spLocks noRot="1" noChangeAspect="1" noMove="1" noResize="1" noEditPoints="1" noAdjustHandles="1" noChangeArrowheads="1" noChangeShapeType="1" noTextEdit="1"/>
              </p:cNvSpPr>
              <p:nvPr/>
            </p:nvSpPr>
            <p:spPr>
              <a:xfrm>
                <a:off x="813585" y="3263078"/>
                <a:ext cx="7715649" cy="923330"/>
              </a:xfrm>
              <a:prstGeom prst="rect">
                <a:avLst/>
              </a:prstGeom>
              <a:blipFill>
                <a:blip r:embed="rId3"/>
                <a:stretch>
                  <a:fillRect l="-632" t="-3289" b="-9211"/>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D3DB35E3-D0E8-7508-F764-28E2B53744FB}"/>
              </a:ext>
            </a:extLst>
          </p:cNvPr>
          <p:cNvSpPr txBox="1"/>
          <p:nvPr/>
        </p:nvSpPr>
        <p:spPr>
          <a:xfrm>
            <a:off x="813585" y="2248584"/>
            <a:ext cx="7347081" cy="646331"/>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Meanwhile, we can incorporate an attention mechanism to enhance the specific pattern recognition ability of the VAE model.</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763062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A1AD2-29FC-EF22-B046-EC32FA5B6B6A}"/>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366C9466-ED0F-C0A3-F8B3-061B9E875AD0}"/>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49" name="矩形 48">
            <a:extLst>
              <a:ext uri="{FF2B5EF4-FFF2-40B4-BE49-F238E27FC236}">
                <a16:creationId xmlns:a16="http://schemas.microsoft.com/office/drawing/2014/main" id="{BF1493EF-A747-3BB2-8890-C93E2BEB46CC}"/>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2" name="矩形 51">
            <a:extLst>
              <a:ext uri="{FF2B5EF4-FFF2-40B4-BE49-F238E27FC236}">
                <a16:creationId xmlns:a16="http://schemas.microsoft.com/office/drawing/2014/main" id="{C6948824-C4FC-B750-9AC6-B5323F4426E0}"/>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3" name="矩形 52">
            <a:extLst>
              <a:ext uri="{FF2B5EF4-FFF2-40B4-BE49-F238E27FC236}">
                <a16:creationId xmlns:a16="http://schemas.microsoft.com/office/drawing/2014/main" id="{A6F0C687-BBD1-B589-61A5-6DE2407BD156}"/>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5" name="文本框 54">
            <a:extLst>
              <a:ext uri="{FF2B5EF4-FFF2-40B4-BE49-F238E27FC236}">
                <a16:creationId xmlns:a16="http://schemas.microsoft.com/office/drawing/2014/main" id="{99F1E82A-8B28-C6BD-C090-FE730BF17C6E}"/>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Causal Graphs Construction via Granger Algorithm</a:t>
            </a:r>
            <a:endParaRPr lang="zh-CN" altLang="en-US" dirty="0">
              <a:solidFill>
                <a:srgbClr val="E5DEDB">
                  <a:lumMod val="10000"/>
                  <a:alpha val="85000"/>
                </a:srgbClr>
              </a:solidFill>
              <a:latin typeface="Times New Roman" panose="02020603050405020304" pitchFamily="18" charset="0"/>
              <a:ea typeface="幼圆"/>
              <a:cs typeface="Times New Roman" panose="02020603050405020304" pitchFamily="18" charset="0"/>
            </a:endParaRPr>
          </a:p>
        </p:txBody>
      </p:sp>
      <p:pic>
        <p:nvPicPr>
          <p:cNvPr id="7" name="图片 6">
            <a:extLst>
              <a:ext uri="{FF2B5EF4-FFF2-40B4-BE49-F238E27FC236}">
                <a16:creationId xmlns:a16="http://schemas.microsoft.com/office/drawing/2014/main" id="{7F4423FB-DC7F-6AFC-57E1-52CB4F809CE3}"/>
              </a:ext>
            </a:extLst>
          </p:cNvPr>
          <p:cNvPicPr>
            <a:picLocks noChangeAspect="1"/>
          </p:cNvPicPr>
          <p:nvPr/>
        </p:nvPicPr>
        <p:blipFill>
          <a:blip r:embed="rId3"/>
          <a:stretch>
            <a:fillRect/>
          </a:stretch>
        </p:blipFill>
        <p:spPr>
          <a:xfrm>
            <a:off x="813585" y="1817457"/>
            <a:ext cx="5458363" cy="3092558"/>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E8EC58DE-A4EC-0B00-F232-AED37777A53C}"/>
                  </a:ext>
                </a:extLst>
              </p:cNvPr>
              <p:cNvSpPr txBox="1"/>
              <p:nvPr/>
            </p:nvSpPr>
            <p:spPr>
              <a:xfrm>
                <a:off x="813585" y="960354"/>
                <a:ext cx="7080142" cy="646331"/>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Granger</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s core principle is that </a:t>
                </a:r>
                <a14:m>
                  <m:oMath xmlns:m="http://schemas.openxmlformats.org/officeDocument/2006/math">
                    <m:sSub>
                      <m:sSubPr>
                        <m:ctrlPr>
                          <a:rPr lang="en-US" altLang="zh-CN" b="0" i="1" dirty="0" smtClean="0">
                            <a:latin typeface="Cambria Math" panose="02040503050406030204" pitchFamily="18" charset="0"/>
                            <a:cs typeface="Times New Roman" panose="02020603050405020304" pitchFamily="18" charset="0"/>
                          </a:rPr>
                        </m:ctrlPr>
                      </m:sSubPr>
                      <m:e>
                        <m:r>
                          <a:rPr lang="zh-CN" altLang="en-US" i="1" dirty="0" smtClean="0">
                            <a:latin typeface="Cambria Math" panose="02040503050406030204" pitchFamily="18" charset="0"/>
                            <a:cs typeface="Times New Roman" panose="02020603050405020304" pitchFamily="18" charset="0"/>
                          </a:rPr>
                          <m:t>𝑋</m:t>
                        </m:r>
                      </m:e>
                      <m:sub>
                        <m:r>
                          <a:rPr lang="zh-CN" altLang="en-US" i="1" dirty="0" smtClean="0">
                            <a:latin typeface="Cambria Math" panose="02040503050406030204" pitchFamily="18" charset="0"/>
                            <a:cs typeface="Times New Roman" panose="02020603050405020304" pitchFamily="18" charset="0"/>
                          </a:rPr>
                          <m:t>𝑡</m:t>
                        </m:r>
                      </m:sub>
                    </m:sSub>
                  </m:oMath>
                </a14:m>
                <a:r>
                  <a:rPr lang="zh-CN" altLang="en-US" dirty="0">
                    <a:latin typeface="Times New Roman" panose="02020603050405020304" pitchFamily="18" charset="0"/>
                    <a:cs typeface="Times New Roman" panose="02020603050405020304" pitchFamily="18" charset="0"/>
                  </a:rPr>
                  <a:t> causes </a:t>
                </a:r>
                <a14:m>
                  <m:oMath xmlns:m="http://schemas.openxmlformats.org/officeDocument/2006/math">
                    <m:sSub>
                      <m:sSubPr>
                        <m:ctrlPr>
                          <a:rPr lang="en-US" altLang="zh-CN" b="0" i="1" dirty="0" smtClean="0">
                            <a:latin typeface="Cambria Math" panose="02040503050406030204" pitchFamily="18" charset="0"/>
                            <a:cs typeface="Times New Roman" panose="02020603050405020304" pitchFamily="18" charset="0"/>
                          </a:rPr>
                        </m:ctrlPr>
                      </m:sSubPr>
                      <m:e>
                        <m:r>
                          <a:rPr lang="zh-CN" altLang="en-US" i="1" dirty="0" smtClean="0">
                            <a:latin typeface="Cambria Math" panose="02040503050406030204" pitchFamily="18" charset="0"/>
                            <a:cs typeface="Times New Roman" panose="02020603050405020304" pitchFamily="18" charset="0"/>
                          </a:rPr>
                          <m:t>𝑌</m:t>
                        </m:r>
                      </m:e>
                      <m:sub>
                        <m:r>
                          <a:rPr lang="zh-CN" altLang="en-US" i="1" dirty="0" smtClean="0">
                            <a:latin typeface="Cambria Math" panose="02040503050406030204" pitchFamily="18" charset="0"/>
                            <a:cs typeface="Times New Roman" panose="02020603050405020304" pitchFamily="18" charset="0"/>
                          </a:rPr>
                          <m:t>𝑡</m:t>
                        </m:r>
                      </m:sub>
                    </m:sSub>
                  </m:oMath>
                </a14:m>
                <a:r>
                  <a:rPr lang="zh-CN" altLang="en-US" dirty="0">
                    <a:latin typeface="Times New Roman" panose="02020603050405020304" pitchFamily="18" charset="0"/>
                    <a:cs typeface="Times New Roman" panose="02020603050405020304" pitchFamily="18" charset="0"/>
                  </a:rPr>
                  <a:t> if past values of time series X significantly improve the prediction of the current value of time series </a:t>
                </a:r>
                <a14:m>
                  <m:oMath xmlns:m="http://schemas.openxmlformats.org/officeDocument/2006/math">
                    <m:sSub>
                      <m:sSubPr>
                        <m:ctrlPr>
                          <a:rPr lang="en-US" altLang="zh-CN" b="0" i="1" dirty="0" smtClean="0">
                            <a:latin typeface="Cambria Math" panose="02040503050406030204" pitchFamily="18" charset="0"/>
                            <a:cs typeface="Times New Roman" panose="02020603050405020304" pitchFamily="18" charset="0"/>
                          </a:rPr>
                        </m:ctrlPr>
                      </m:sSubPr>
                      <m:e>
                        <m:r>
                          <a:rPr lang="zh-CN" altLang="en-US" i="1" dirty="0" smtClean="0">
                            <a:latin typeface="Cambria Math" panose="02040503050406030204" pitchFamily="18" charset="0"/>
                            <a:cs typeface="Times New Roman" panose="02020603050405020304" pitchFamily="18" charset="0"/>
                          </a:rPr>
                          <m:t>𝑌</m:t>
                        </m:r>
                      </m:e>
                      <m:sub>
                        <m:r>
                          <a:rPr lang="zh-CN" altLang="en-US" i="1" dirty="0" smtClean="0">
                            <a:latin typeface="Cambria Math" panose="02040503050406030204" pitchFamily="18" charset="0"/>
                            <a:cs typeface="Times New Roman" panose="02020603050405020304" pitchFamily="18" charset="0"/>
                          </a:rPr>
                          <m:t>𝑡</m:t>
                        </m:r>
                      </m:sub>
                    </m:sSub>
                  </m:oMath>
                </a14:m>
                <a:r>
                  <a:rPr lang="zh-CN" altLang="en-US" dirty="0">
                    <a:latin typeface="Times New Roman" panose="02020603050405020304" pitchFamily="18" charset="0"/>
                    <a:cs typeface="Times New Roman" panose="02020603050405020304" pitchFamily="18" charset="0"/>
                  </a:rPr>
                  <a:t>.</a:t>
                </a:r>
              </a:p>
            </p:txBody>
          </p:sp>
        </mc:Choice>
        <mc:Fallback xmlns="">
          <p:sp>
            <p:nvSpPr>
              <p:cNvPr id="9" name="文本框 8">
                <a:extLst>
                  <a:ext uri="{FF2B5EF4-FFF2-40B4-BE49-F238E27FC236}">
                    <a16:creationId xmlns:a16="http://schemas.microsoft.com/office/drawing/2014/main" id="{E8EC58DE-A4EC-0B00-F232-AED37777A53C}"/>
                  </a:ext>
                </a:extLst>
              </p:cNvPr>
              <p:cNvSpPr txBox="1">
                <a:spLocks noRot="1" noChangeAspect="1" noMove="1" noResize="1" noEditPoints="1" noAdjustHandles="1" noChangeArrowheads="1" noChangeShapeType="1" noTextEdit="1"/>
              </p:cNvSpPr>
              <p:nvPr/>
            </p:nvSpPr>
            <p:spPr>
              <a:xfrm>
                <a:off x="813585" y="960354"/>
                <a:ext cx="7080142" cy="646331"/>
              </a:xfrm>
              <a:prstGeom prst="rect">
                <a:avLst/>
              </a:prstGeom>
              <a:blipFill>
                <a:blip r:embed="rId4"/>
                <a:stretch>
                  <a:fillRect l="-688" t="-5660" r="-172" b="-14151"/>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468C8FBF-154B-D0ED-D36C-2332EAD1527A}"/>
              </a:ext>
            </a:extLst>
          </p:cNvPr>
          <p:cNvSpPr txBox="1"/>
          <p:nvPr/>
        </p:nvSpPr>
        <p:spPr>
          <a:xfrm>
            <a:off x="6271948" y="2745939"/>
            <a:ext cx="2925935" cy="369332"/>
          </a:xfrm>
          <a:prstGeom prst="rect">
            <a:avLst/>
          </a:prstGeom>
          <a:noFill/>
        </p:spPr>
        <p:txBody>
          <a:bodyPr wrap="square">
            <a:spAutoFit/>
          </a:bodyPr>
          <a:lstStyle/>
          <a:p>
            <a:r>
              <a:rPr lang="zh-CN" altLang="en-US" dirty="0">
                <a:latin typeface="Microsoft YaHei" panose="020B0503020204020204" pitchFamily="34" charset="-122"/>
                <a:ea typeface="Microsoft YaHei" panose="020B0503020204020204" pitchFamily="34" charset="-122"/>
              </a:rPr>
              <a:t>("用户服务", "CPU使用率")</a:t>
            </a:r>
          </a:p>
        </p:txBody>
      </p:sp>
      <p:sp>
        <p:nvSpPr>
          <p:cNvPr id="5" name="文本框 4">
            <a:extLst>
              <a:ext uri="{FF2B5EF4-FFF2-40B4-BE49-F238E27FC236}">
                <a16:creationId xmlns:a16="http://schemas.microsoft.com/office/drawing/2014/main" id="{2018C97B-3A31-8894-E2E9-90977819D1C4}"/>
              </a:ext>
            </a:extLst>
          </p:cNvPr>
          <p:cNvSpPr txBox="1"/>
          <p:nvPr/>
        </p:nvSpPr>
        <p:spPr>
          <a:xfrm>
            <a:off x="6271948" y="4183146"/>
            <a:ext cx="4572000" cy="369332"/>
          </a:xfrm>
          <a:prstGeom prst="rect">
            <a:avLst/>
          </a:prstGeom>
          <a:noFill/>
        </p:spPr>
        <p:txBody>
          <a:bodyPr wrap="square">
            <a:spAutoFit/>
          </a:bodyPr>
          <a:lstStyle/>
          <a:p>
            <a:r>
              <a:rPr lang="zh-CN" altLang="en-US" dirty="0">
                <a:latin typeface="Microsoft YaHei" panose="020B0503020204020204" pitchFamily="34" charset="-122"/>
                <a:ea typeface="Microsoft YaHei" panose="020B0503020204020204" pitchFamily="34" charset="-122"/>
              </a:rPr>
              <a:t>("订单服务", "响应延迟")</a:t>
            </a:r>
          </a:p>
        </p:txBody>
      </p:sp>
    </p:spTree>
    <p:extLst>
      <p:ext uri="{BB962C8B-B14F-4D97-AF65-F5344CB8AC3E}">
        <p14:creationId xmlns:p14="http://schemas.microsoft.com/office/powerpoint/2010/main" val="265728094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A107E-FE05-1311-E7B8-1CCD0634D883}"/>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2DA49FE6-BC8A-E4F7-9F28-0385B7362683}"/>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49" name="矩形 48">
            <a:extLst>
              <a:ext uri="{FF2B5EF4-FFF2-40B4-BE49-F238E27FC236}">
                <a16:creationId xmlns:a16="http://schemas.microsoft.com/office/drawing/2014/main" id="{47F42B8D-BFA7-A440-0E1F-6E5D8285B760}"/>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2" name="矩形 51">
            <a:extLst>
              <a:ext uri="{FF2B5EF4-FFF2-40B4-BE49-F238E27FC236}">
                <a16:creationId xmlns:a16="http://schemas.microsoft.com/office/drawing/2014/main" id="{0B7BF1BC-A2DD-0329-1A9A-9248FC3914C2}"/>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3" name="矩形 52">
            <a:extLst>
              <a:ext uri="{FF2B5EF4-FFF2-40B4-BE49-F238E27FC236}">
                <a16:creationId xmlns:a16="http://schemas.microsoft.com/office/drawing/2014/main" id="{8B4C2DB8-525E-828E-9AEE-4E507163AA32}"/>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5" name="文本框 54">
            <a:extLst>
              <a:ext uri="{FF2B5EF4-FFF2-40B4-BE49-F238E27FC236}">
                <a16:creationId xmlns:a16="http://schemas.microsoft.com/office/drawing/2014/main" id="{3B09C2E1-9473-8D36-D422-F949531EB66A}"/>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Causal Graphs Construction via Granger Algorithm</a:t>
            </a:r>
            <a:endParaRPr lang="zh-CN" altLang="en-US" dirty="0">
              <a:solidFill>
                <a:srgbClr val="E5DEDB">
                  <a:lumMod val="10000"/>
                  <a:alpha val="85000"/>
                </a:srgbClr>
              </a:solidFill>
              <a:latin typeface="Times New Roman" panose="02020603050405020304" pitchFamily="18" charset="0"/>
              <a:ea typeface="幼圆"/>
              <a:cs typeface="Times New Roman" panose="02020603050405020304" pitchFamily="18" charset="0"/>
            </a:endParaRPr>
          </a:p>
        </p:txBody>
      </p:sp>
      <p:pic>
        <p:nvPicPr>
          <p:cNvPr id="11" name="图片 10">
            <a:extLst>
              <a:ext uri="{FF2B5EF4-FFF2-40B4-BE49-F238E27FC236}">
                <a16:creationId xmlns:a16="http://schemas.microsoft.com/office/drawing/2014/main" id="{A4216A76-EE14-20C1-8EFD-9346BF3891BF}"/>
              </a:ext>
            </a:extLst>
          </p:cNvPr>
          <p:cNvPicPr>
            <a:picLocks noChangeAspect="1"/>
          </p:cNvPicPr>
          <p:nvPr/>
        </p:nvPicPr>
        <p:blipFill>
          <a:blip r:embed="rId3"/>
          <a:stretch>
            <a:fillRect/>
          </a:stretch>
        </p:blipFill>
        <p:spPr>
          <a:xfrm>
            <a:off x="2119754" y="3407222"/>
            <a:ext cx="4975611" cy="967916"/>
          </a:xfrm>
          <a:prstGeom prst="rect">
            <a:avLst/>
          </a:prstGeom>
        </p:spPr>
      </p:pic>
      <p:pic>
        <p:nvPicPr>
          <p:cNvPr id="2" name="图片 1">
            <a:extLst>
              <a:ext uri="{FF2B5EF4-FFF2-40B4-BE49-F238E27FC236}">
                <a16:creationId xmlns:a16="http://schemas.microsoft.com/office/drawing/2014/main" id="{A70866A8-29F5-4BB3-E463-39029B9CE75D}"/>
              </a:ext>
            </a:extLst>
          </p:cNvPr>
          <p:cNvPicPr>
            <a:picLocks noChangeAspect="1"/>
          </p:cNvPicPr>
          <p:nvPr/>
        </p:nvPicPr>
        <p:blipFill>
          <a:blip r:embed="rId4"/>
          <a:stretch>
            <a:fillRect/>
          </a:stretch>
        </p:blipFill>
        <p:spPr>
          <a:xfrm>
            <a:off x="2096703" y="1168582"/>
            <a:ext cx="4950593" cy="1764740"/>
          </a:xfrm>
          <a:prstGeom prst="rect">
            <a:avLst/>
          </a:prstGeom>
        </p:spPr>
      </p:pic>
    </p:spTree>
    <p:extLst>
      <p:ext uri="{BB962C8B-B14F-4D97-AF65-F5344CB8AC3E}">
        <p14:creationId xmlns:p14="http://schemas.microsoft.com/office/powerpoint/2010/main" val="79184087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6899C-CFC4-1118-B405-A5F12635D9FD}"/>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57BD208B-6B48-44B4-B2B5-2C515CDF9DC2}"/>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49" name="矩形 48">
            <a:extLst>
              <a:ext uri="{FF2B5EF4-FFF2-40B4-BE49-F238E27FC236}">
                <a16:creationId xmlns:a16="http://schemas.microsoft.com/office/drawing/2014/main" id="{204A1252-D7F8-7692-7AFC-BF90080883F5}"/>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2" name="矩形 51">
            <a:extLst>
              <a:ext uri="{FF2B5EF4-FFF2-40B4-BE49-F238E27FC236}">
                <a16:creationId xmlns:a16="http://schemas.microsoft.com/office/drawing/2014/main" id="{AD3215A4-7646-B272-DC30-373F0729591F}"/>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3" name="矩形 52">
            <a:extLst>
              <a:ext uri="{FF2B5EF4-FFF2-40B4-BE49-F238E27FC236}">
                <a16:creationId xmlns:a16="http://schemas.microsoft.com/office/drawing/2014/main" id="{862E9829-D2A8-F043-613B-F5BA4C8260A3}"/>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5" name="文本框 54">
            <a:extLst>
              <a:ext uri="{FF2B5EF4-FFF2-40B4-BE49-F238E27FC236}">
                <a16:creationId xmlns:a16="http://schemas.microsoft.com/office/drawing/2014/main" id="{4A8B79E6-852C-905A-CCC3-949BCADEE195}"/>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Learning Termination Strategy via Q-learning</a:t>
            </a:r>
            <a:endParaRPr lang="zh-CN" altLang="en-US" dirty="0">
              <a:solidFill>
                <a:srgbClr val="E5DEDB">
                  <a:lumMod val="10000"/>
                  <a:alpha val="85000"/>
                </a:srgbClr>
              </a:solidFill>
              <a:latin typeface="Times New Roman" panose="02020603050405020304" pitchFamily="18" charset="0"/>
              <a:ea typeface="幼圆"/>
              <a:cs typeface="Times New Roman" panose="02020603050405020304" pitchFamily="18" charset="0"/>
            </a:endParaRPr>
          </a:p>
        </p:txBody>
      </p:sp>
      <p:sp>
        <p:nvSpPr>
          <p:cNvPr id="3" name="文本框 2">
            <a:extLst>
              <a:ext uri="{FF2B5EF4-FFF2-40B4-BE49-F238E27FC236}">
                <a16:creationId xmlns:a16="http://schemas.microsoft.com/office/drawing/2014/main" id="{5E5BAC72-50F8-5573-673B-57A3EA091626}"/>
              </a:ext>
            </a:extLst>
          </p:cNvPr>
          <p:cNvSpPr txBox="1"/>
          <p:nvPr/>
        </p:nvSpPr>
        <p:spPr>
          <a:xfrm>
            <a:off x="813585" y="957092"/>
            <a:ext cx="6649770" cy="923330"/>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Markov Decision Process (MDP): When expanding causal graphs, at any given moment, the impact of actions on the environment is only related to the current state and is independent of previous states.</a:t>
            </a:r>
          </a:p>
        </p:txBody>
      </p:sp>
      <p:pic>
        <p:nvPicPr>
          <p:cNvPr id="4" name="图片 3">
            <a:extLst>
              <a:ext uri="{FF2B5EF4-FFF2-40B4-BE49-F238E27FC236}">
                <a16:creationId xmlns:a16="http://schemas.microsoft.com/office/drawing/2014/main" id="{8052CBE5-D81C-9512-89B6-7E72BF3B12DD}"/>
              </a:ext>
            </a:extLst>
          </p:cNvPr>
          <p:cNvPicPr>
            <a:picLocks noChangeAspect="1"/>
          </p:cNvPicPr>
          <p:nvPr/>
        </p:nvPicPr>
        <p:blipFill>
          <a:blip r:embed="rId3"/>
          <a:stretch>
            <a:fillRect/>
          </a:stretch>
        </p:blipFill>
        <p:spPr>
          <a:xfrm>
            <a:off x="813585" y="2087932"/>
            <a:ext cx="4044892" cy="2581459"/>
          </a:xfrm>
          <a:prstGeom prst="rect">
            <a:avLst/>
          </a:prstGeom>
        </p:spPr>
      </p:pic>
    </p:spTree>
    <p:extLst>
      <p:ext uri="{BB962C8B-B14F-4D97-AF65-F5344CB8AC3E}">
        <p14:creationId xmlns:p14="http://schemas.microsoft.com/office/powerpoint/2010/main" val="356650253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2B656-663B-E14D-DD48-CEC31D8D1CDE}"/>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F774BE6A-DAFD-2D2A-4206-8C2645CD895A}"/>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49" name="矩形 48">
            <a:extLst>
              <a:ext uri="{FF2B5EF4-FFF2-40B4-BE49-F238E27FC236}">
                <a16:creationId xmlns:a16="http://schemas.microsoft.com/office/drawing/2014/main" id="{2DFFD380-9904-C19F-AFD7-02EA5A93D077}"/>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2" name="矩形 51">
            <a:extLst>
              <a:ext uri="{FF2B5EF4-FFF2-40B4-BE49-F238E27FC236}">
                <a16:creationId xmlns:a16="http://schemas.microsoft.com/office/drawing/2014/main" id="{767BA795-5AFB-9254-C4BB-C9D26BFE6E1D}"/>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3" name="矩形 52">
            <a:extLst>
              <a:ext uri="{FF2B5EF4-FFF2-40B4-BE49-F238E27FC236}">
                <a16:creationId xmlns:a16="http://schemas.microsoft.com/office/drawing/2014/main" id="{34FD800C-F9D4-B6AE-9E07-87E8834FD6B9}"/>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5" name="文本框 54">
            <a:extLst>
              <a:ext uri="{FF2B5EF4-FFF2-40B4-BE49-F238E27FC236}">
                <a16:creationId xmlns:a16="http://schemas.microsoft.com/office/drawing/2014/main" id="{0505BC1C-91F1-BC83-D0CA-E9032B047ACC}"/>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Learning Termination Strategy via Q-learning</a:t>
            </a:r>
            <a:endParaRPr lang="zh-CN" altLang="en-US" dirty="0">
              <a:solidFill>
                <a:srgbClr val="E5DEDB">
                  <a:lumMod val="10000"/>
                  <a:alpha val="85000"/>
                </a:srgbClr>
              </a:solidFill>
              <a:latin typeface="Times New Roman" panose="02020603050405020304" pitchFamily="18" charset="0"/>
              <a:ea typeface="幼圆"/>
              <a:cs typeface="Times New Roman" panose="02020603050405020304" pitchFamily="18" charset="0"/>
            </a:endParaRPr>
          </a:p>
        </p:txBody>
      </p:sp>
      <p:pic>
        <p:nvPicPr>
          <p:cNvPr id="2" name="图片 1">
            <a:extLst>
              <a:ext uri="{FF2B5EF4-FFF2-40B4-BE49-F238E27FC236}">
                <a16:creationId xmlns:a16="http://schemas.microsoft.com/office/drawing/2014/main" id="{E16325F2-A35B-62F2-3523-355F1588DC6A}"/>
              </a:ext>
            </a:extLst>
          </p:cNvPr>
          <p:cNvPicPr>
            <a:picLocks noChangeAspect="1"/>
          </p:cNvPicPr>
          <p:nvPr/>
        </p:nvPicPr>
        <p:blipFill>
          <a:blip r:embed="rId3"/>
          <a:stretch>
            <a:fillRect/>
          </a:stretch>
        </p:blipFill>
        <p:spPr>
          <a:xfrm>
            <a:off x="813584" y="855631"/>
            <a:ext cx="6976779" cy="3432238"/>
          </a:xfrm>
          <a:prstGeom prst="rect">
            <a:avLst/>
          </a:prstGeom>
        </p:spPr>
      </p:pic>
      <p:pic>
        <p:nvPicPr>
          <p:cNvPr id="3" name="图片 2">
            <a:extLst>
              <a:ext uri="{FF2B5EF4-FFF2-40B4-BE49-F238E27FC236}">
                <a16:creationId xmlns:a16="http://schemas.microsoft.com/office/drawing/2014/main" id="{D665855F-B8EE-DABA-1D04-45C36081C78B}"/>
              </a:ext>
            </a:extLst>
          </p:cNvPr>
          <p:cNvPicPr>
            <a:picLocks noChangeAspect="1"/>
          </p:cNvPicPr>
          <p:nvPr/>
        </p:nvPicPr>
        <p:blipFill>
          <a:blip r:embed="rId4"/>
          <a:stretch>
            <a:fillRect/>
          </a:stretch>
        </p:blipFill>
        <p:spPr>
          <a:xfrm>
            <a:off x="813584" y="4380819"/>
            <a:ext cx="6894240" cy="692571"/>
          </a:xfrm>
          <a:prstGeom prst="rect">
            <a:avLst/>
          </a:prstGeom>
        </p:spPr>
      </p:pic>
    </p:spTree>
    <p:extLst>
      <p:ext uri="{BB962C8B-B14F-4D97-AF65-F5344CB8AC3E}">
        <p14:creationId xmlns:p14="http://schemas.microsoft.com/office/powerpoint/2010/main" val="368388684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C6DE4-1834-7E29-BDB7-A6FD00CB9DDD}"/>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F121D5BE-F10B-0F81-EDA3-563D16E668D3}"/>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49" name="矩形 48">
            <a:extLst>
              <a:ext uri="{FF2B5EF4-FFF2-40B4-BE49-F238E27FC236}">
                <a16:creationId xmlns:a16="http://schemas.microsoft.com/office/drawing/2014/main" id="{083E5142-11B7-166E-0CF1-F81C3506F283}"/>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2" name="矩形 51">
            <a:extLst>
              <a:ext uri="{FF2B5EF4-FFF2-40B4-BE49-F238E27FC236}">
                <a16:creationId xmlns:a16="http://schemas.microsoft.com/office/drawing/2014/main" id="{C02C9722-5CE2-5F49-98AA-7A5D012A49E3}"/>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3" name="矩形 52">
            <a:extLst>
              <a:ext uri="{FF2B5EF4-FFF2-40B4-BE49-F238E27FC236}">
                <a16:creationId xmlns:a16="http://schemas.microsoft.com/office/drawing/2014/main" id="{5DF0CEE0-2D16-03F9-CF4F-4C0500EBE727}"/>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5" name="文本框 54">
            <a:extLst>
              <a:ext uri="{FF2B5EF4-FFF2-40B4-BE49-F238E27FC236}">
                <a16:creationId xmlns:a16="http://schemas.microsoft.com/office/drawing/2014/main" id="{D2BC3F82-903B-8D5A-0F08-68A960550DE6}"/>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Prune Strategy</a:t>
            </a:r>
            <a:endParaRPr lang="zh-CN" altLang="en-US" dirty="0">
              <a:solidFill>
                <a:srgbClr val="E5DEDB">
                  <a:lumMod val="10000"/>
                  <a:alpha val="85000"/>
                </a:srgbClr>
              </a:solidFill>
              <a:latin typeface="Times New Roman" panose="02020603050405020304" pitchFamily="18" charset="0"/>
              <a:ea typeface="幼圆"/>
              <a:cs typeface="Times New Roman" panose="02020603050405020304" pitchFamily="18" charset="0"/>
            </a:endParaRPr>
          </a:p>
        </p:txBody>
      </p:sp>
      <p:sp>
        <p:nvSpPr>
          <p:cNvPr id="3" name="文本框 2">
            <a:extLst>
              <a:ext uri="{FF2B5EF4-FFF2-40B4-BE49-F238E27FC236}">
                <a16:creationId xmlns:a16="http://schemas.microsoft.com/office/drawing/2014/main" id="{145338E1-4A54-FAD9-EF6F-EDBD616AD9D4}"/>
              </a:ext>
            </a:extLst>
          </p:cNvPr>
          <p:cNvSpPr txBox="1"/>
          <p:nvPr/>
        </p:nvSpPr>
        <p:spPr>
          <a:xfrm>
            <a:off x="813585" y="957092"/>
            <a:ext cx="6323846" cy="1200329"/>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After obtaining the causal graph, we can perform pruning by analyzing the relationships between nodes. </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In a causal graph involving </a:t>
            </a:r>
            <a:r>
              <a:rPr lang="zh-CN" altLang="en-US" b="1" dirty="0">
                <a:latin typeface="Times New Roman" panose="02020603050405020304" pitchFamily="18" charset="0"/>
                <a:cs typeface="Times New Roman" panose="02020603050405020304" pitchFamily="18" charset="0"/>
              </a:rPr>
              <a:t>time relationships</a:t>
            </a:r>
            <a:r>
              <a:rPr lang="zh-CN" altLang="en-US" dirty="0">
                <a:latin typeface="Times New Roman" panose="02020603050405020304" pitchFamily="18" charset="0"/>
                <a:cs typeface="Times New Roman" panose="02020603050405020304" pitchFamily="18" charset="0"/>
              </a:rPr>
              <a:t>, the cause event must occur before the effect event.</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2ECF5F5-266A-9C31-EBBA-351E3CC0111D}"/>
                  </a:ext>
                </a:extLst>
              </p:cNvPr>
              <p:cNvSpPr txBox="1"/>
              <p:nvPr/>
            </p:nvSpPr>
            <p:spPr>
              <a:xfrm>
                <a:off x="772120" y="2198779"/>
                <a:ext cx="6935703" cy="1242391"/>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Thus, we can identify the root service that may cause the anomaly by removing the nodes with parents in the causeand-effect graph, leaving only the root node and orphan nodes. </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Ultimately, we can get the </a:t>
                </a:r>
                <a14:m>
                  <m:oMath xmlns:m="http://schemas.openxmlformats.org/officeDocument/2006/math">
                    <m:r>
                      <a:rPr lang="zh-CN" altLang="en-US" i="1" dirty="0" smtClean="0">
                        <a:latin typeface="Cambria Math" panose="02040503050406030204" pitchFamily="18" charset="0"/>
                        <a:cs typeface="Times New Roman" panose="02020603050405020304" pitchFamily="18" charset="0"/>
                      </a:rPr>
                      <m:t>𝐿𝑖𝑠</m:t>
                    </m:r>
                    <m:sSub>
                      <m:sSubPr>
                        <m:ctrlPr>
                          <a:rPr lang="en-US" altLang="zh-CN" b="0" i="1" dirty="0" smtClean="0">
                            <a:latin typeface="Cambria Math" panose="02040503050406030204" pitchFamily="18" charset="0"/>
                            <a:cs typeface="Times New Roman" panose="02020603050405020304" pitchFamily="18" charset="0"/>
                          </a:rPr>
                        </m:ctrlPr>
                      </m:sSubPr>
                      <m:e>
                        <m:r>
                          <a:rPr lang="zh-CN" altLang="en-US" i="1" dirty="0" smtClean="0">
                            <a:latin typeface="Cambria Math" panose="02040503050406030204" pitchFamily="18" charset="0"/>
                            <a:cs typeface="Times New Roman" panose="02020603050405020304" pitchFamily="18" charset="0"/>
                          </a:rPr>
                          <m:t>𝑡</m:t>
                        </m:r>
                      </m:e>
                      <m:sub>
                        <m:r>
                          <a:rPr lang="zh-CN" altLang="en-US" i="1" dirty="0" smtClean="0">
                            <a:latin typeface="Cambria Math" panose="02040503050406030204" pitchFamily="18" charset="0"/>
                            <a:cs typeface="Times New Roman" panose="02020603050405020304" pitchFamily="18" charset="0"/>
                          </a:rPr>
                          <m:t>𝑓𝑖𝑛𝑎𝑙</m:t>
                        </m:r>
                      </m:sub>
                    </m:sSub>
                    <m:r>
                      <a:rPr lang="zh-CN" altLang="en-US" i="1" dirty="0">
                        <a:latin typeface="Cambria Math" panose="02040503050406030204" pitchFamily="18" charset="0"/>
                        <a:cs typeface="Times New Roman" panose="02020603050405020304" pitchFamily="18" charset="0"/>
                      </a:rPr>
                      <m:t>=</m:t>
                    </m:r>
                    <m:d>
                      <m:dPr>
                        <m:ctrlPr>
                          <a:rPr lang="zh-CN" altLang="en-US" i="1" dirty="0">
                            <a:latin typeface="Cambria Math" panose="02040503050406030204" pitchFamily="18" charset="0"/>
                            <a:cs typeface="Times New Roman" panose="02020603050405020304" pitchFamily="18" charset="0"/>
                          </a:rPr>
                        </m:ctrlPr>
                      </m:dPr>
                      <m:e>
                        <m:sSub>
                          <m:sSubPr>
                            <m:ctrlPr>
                              <a:rPr lang="en-US" altLang="zh-CN" b="0" i="1" dirty="0" smtClean="0">
                                <a:latin typeface="Cambria Math" panose="02040503050406030204" pitchFamily="18" charset="0"/>
                                <a:cs typeface="Times New Roman" panose="02020603050405020304" pitchFamily="18" charset="0"/>
                              </a:rPr>
                            </m:ctrlPr>
                          </m:sSubPr>
                          <m:e>
                            <m:r>
                              <a:rPr lang="zh-CN" altLang="en-US" i="1" dirty="0">
                                <a:latin typeface="Cambria Math" panose="02040503050406030204" pitchFamily="18" charset="0"/>
                                <a:cs typeface="Times New Roman" panose="02020603050405020304" pitchFamily="18" charset="0"/>
                              </a:rPr>
                              <m:t>𝑋</m:t>
                            </m:r>
                          </m:e>
                          <m:sub>
                            <m:r>
                              <a:rPr lang="zh-CN" altLang="en-US" i="1" dirty="0">
                                <a:latin typeface="Cambria Math" panose="02040503050406030204" pitchFamily="18" charset="0"/>
                                <a:cs typeface="Times New Roman" panose="02020603050405020304" pitchFamily="18" charset="0"/>
                              </a:rPr>
                              <m:t>𝑖</m:t>
                            </m:r>
                          </m:sub>
                        </m:sSub>
                        <m:r>
                          <a:rPr lang="zh-CN" altLang="en-US" i="1" dirty="0">
                            <a:latin typeface="Cambria Math" panose="02040503050406030204" pitchFamily="18" charset="0"/>
                            <a:cs typeface="Times New Roman" panose="02020603050405020304" pitchFamily="18" charset="0"/>
                          </a:rPr>
                          <m:t>,</m:t>
                        </m:r>
                        <m:sSub>
                          <m:sSubPr>
                            <m:ctrlPr>
                              <a:rPr lang="en-US" altLang="zh-CN" b="0" i="1" dirty="0" smtClean="0">
                                <a:latin typeface="Cambria Math" panose="02040503050406030204" pitchFamily="18" charset="0"/>
                                <a:cs typeface="Times New Roman" panose="02020603050405020304" pitchFamily="18" charset="0"/>
                              </a:rPr>
                            </m:ctrlPr>
                          </m:sSubPr>
                          <m:e>
                            <m:r>
                              <a:rPr lang="zh-CN" altLang="en-US" i="1" dirty="0">
                                <a:latin typeface="Cambria Math" panose="02040503050406030204" pitchFamily="18" charset="0"/>
                                <a:cs typeface="Times New Roman" panose="02020603050405020304" pitchFamily="18" charset="0"/>
                              </a:rPr>
                              <m:t>𝑌</m:t>
                            </m:r>
                          </m:e>
                          <m:sub>
                            <m:r>
                              <a:rPr lang="zh-CN" altLang="en-US" i="1" dirty="0">
                                <a:latin typeface="Cambria Math" panose="02040503050406030204" pitchFamily="18" charset="0"/>
                                <a:cs typeface="Times New Roman" panose="02020603050405020304" pitchFamily="18" charset="0"/>
                              </a:rPr>
                              <m:t>𝑎</m:t>
                            </m:r>
                          </m:sub>
                        </m:sSub>
                      </m:e>
                    </m:d>
                    <m:r>
                      <a:rPr lang="zh-CN" altLang="en-US" i="1" dirty="0">
                        <a:latin typeface="Cambria Math" panose="02040503050406030204" pitchFamily="18" charset="0"/>
                        <a:cs typeface="Times New Roman" panose="02020603050405020304" pitchFamily="18" charset="0"/>
                      </a:rPr>
                      <m:t>,</m:t>
                    </m:r>
                    <m:d>
                      <m:dPr>
                        <m:ctrlPr>
                          <a:rPr lang="zh-CN" altLang="en-US" i="1" dirty="0">
                            <a:latin typeface="Cambria Math" panose="02040503050406030204" pitchFamily="18" charset="0"/>
                            <a:cs typeface="Times New Roman" panose="02020603050405020304" pitchFamily="18" charset="0"/>
                          </a:rPr>
                        </m:ctrlPr>
                      </m:dPr>
                      <m:e>
                        <m:sSub>
                          <m:sSubPr>
                            <m:ctrlPr>
                              <a:rPr lang="en-US" altLang="zh-CN" b="0" i="1" dirty="0" smtClean="0">
                                <a:latin typeface="Cambria Math" panose="02040503050406030204" pitchFamily="18" charset="0"/>
                                <a:cs typeface="Times New Roman" panose="02020603050405020304" pitchFamily="18" charset="0"/>
                              </a:rPr>
                            </m:ctrlPr>
                          </m:sSubPr>
                          <m:e>
                            <m:r>
                              <a:rPr lang="zh-CN" altLang="en-US" i="1" dirty="0">
                                <a:latin typeface="Cambria Math" panose="02040503050406030204" pitchFamily="18" charset="0"/>
                                <a:cs typeface="Times New Roman" panose="02020603050405020304" pitchFamily="18" charset="0"/>
                              </a:rPr>
                              <m:t>𝑋</m:t>
                            </m:r>
                          </m:e>
                          <m:sub>
                            <m:r>
                              <a:rPr lang="zh-CN" altLang="en-US" i="1" dirty="0">
                                <a:latin typeface="Cambria Math" panose="02040503050406030204" pitchFamily="18" charset="0"/>
                                <a:cs typeface="Times New Roman" panose="02020603050405020304" pitchFamily="18" charset="0"/>
                              </a:rPr>
                              <m:t>𝑗</m:t>
                            </m:r>
                          </m:sub>
                        </m:sSub>
                        <m:r>
                          <a:rPr lang="zh-CN" altLang="en-US" i="1" dirty="0">
                            <a:latin typeface="Cambria Math" panose="02040503050406030204" pitchFamily="18" charset="0"/>
                            <a:cs typeface="Times New Roman" panose="02020603050405020304" pitchFamily="18" charset="0"/>
                          </a:rPr>
                          <m:t>,</m:t>
                        </m:r>
                        <m:sSub>
                          <m:sSubPr>
                            <m:ctrlPr>
                              <a:rPr lang="en-US" altLang="zh-CN" b="0" i="1" dirty="0" smtClean="0">
                                <a:latin typeface="Cambria Math" panose="02040503050406030204" pitchFamily="18" charset="0"/>
                                <a:cs typeface="Times New Roman" panose="02020603050405020304" pitchFamily="18" charset="0"/>
                              </a:rPr>
                            </m:ctrlPr>
                          </m:sSubPr>
                          <m:e>
                            <m:r>
                              <a:rPr lang="zh-CN" altLang="en-US" i="1" dirty="0">
                                <a:latin typeface="Cambria Math" panose="02040503050406030204" pitchFamily="18" charset="0"/>
                                <a:cs typeface="Times New Roman" panose="02020603050405020304" pitchFamily="18" charset="0"/>
                              </a:rPr>
                              <m:t>𝑌</m:t>
                            </m:r>
                          </m:e>
                          <m:sub>
                            <m:r>
                              <a:rPr lang="zh-CN" altLang="en-US" i="1" dirty="0">
                                <a:latin typeface="Cambria Math" panose="02040503050406030204" pitchFamily="18" charset="0"/>
                                <a:cs typeface="Times New Roman" panose="02020603050405020304" pitchFamily="18" charset="0"/>
                              </a:rPr>
                              <m:t>𝑏</m:t>
                            </m:r>
                          </m:sub>
                        </m:sSub>
                      </m:e>
                    </m:d>
                    <m:r>
                      <a:rPr lang="zh-CN" altLang="en-US" i="1" dirty="0">
                        <a:latin typeface="Cambria Math" panose="02040503050406030204" pitchFamily="18" charset="0"/>
                        <a:cs typeface="Times New Roman" panose="02020603050405020304" pitchFamily="18" charset="0"/>
                      </a:rPr>
                      <m:t>,…</m:t>
                    </m:r>
                  </m:oMath>
                </a14:m>
                <a:endParaRPr lang="zh-CN" altLang="en-US" dirty="0">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F2ECF5F5-266A-9C31-EBBA-351E3CC0111D}"/>
                  </a:ext>
                </a:extLst>
              </p:cNvPr>
              <p:cNvSpPr txBox="1">
                <a:spLocks noRot="1" noChangeAspect="1" noMove="1" noResize="1" noEditPoints="1" noAdjustHandles="1" noChangeArrowheads="1" noChangeShapeType="1" noTextEdit="1"/>
              </p:cNvSpPr>
              <p:nvPr/>
            </p:nvSpPr>
            <p:spPr>
              <a:xfrm>
                <a:off x="772120" y="2198779"/>
                <a:ext cx="6935703" cy="1242391"/>
              </a:xfrm>
              <a:prstGeom prst="rect">
                <a:avLst/>
              </a:prstGeom>
              <a:blipFill>
                <a:blip r:embed="rId3"/>
                <a:stretch>
                  <a:fillRect l="-792" t="-2956" b="-54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5045040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0E586-AAD4-E1AA-6502-D2CEEE1656D6}"/>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23682FCD-64B6-E07F-67E4-30BB6C4F4CB5}"/>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49" name="矩形 48">
            <a:extLst>
              <a:ext uri="{FF2B5EF4-FFF2-40B4-BE49-F238E27FC236}">
                <a16:creationId xmlns:a16="http://schemas.microsoft.com/office/drawing/2014/main" id="{8E59A029-AC7D-605F-C756-5A1A59DC5317}"/>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2" name="矩形 51">
            <a:extLst>
              <a:ext uri="{FF2B5EF4-FFF2-40B4-BE49-F238E27FC236}">
                <a16:creationId xmlns:a16="http://schemas.microsoft.com/office/drawing/2014/main" id="{7EE14C34-C2F7-6710-DE1A-A29151829E7E}"/>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3" name="矩形 52">
            <a:extLst>
              <a:ext uri="{FF2B5EF4-FFF2-40B4-BE49-F238E27FC236}">
                <a16:creationId xmlns:a16="http://schemas.microsoft.com/office/drawing/2014/main" id="{8B59C7B5-C839-67F3-DA5F-3551AA281F14}"/>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5" name="文本框 54">
            <a:extLst>
              <a:ext uri="{FF2B5EF4-FFF2-40B4-BE49-F238E27FC236}">
                <a16:creationId xmlns:a16="http://schemas.microsoft.com/office/drawing/2014/main" id="{6435AEB6-96C1-C277-3CAB-D4447D05D25C}"/>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Research Questions</a:t>
            </a:r>
            <a:endParaRPr lang="zh-CN" altLang="en-US" dirty="0">
              <a:solidFill>
                <a:srgbClr val="E5DEDB">
                  <a:lumMod val="10000"/>
                  <a:alpha val="85000"/>
                </a:srgbClr>
              </a:solidFill>
              <a:latin typeface="Times New Roman" panose="02020603050405020304" pitchFamily="18" charset="0"/>
              <a:ea typeface="幼圆"/>
              <a:cs typeface="Times New Roman" panose="02020603050405020304" pitchFamily="18" charset="0"/>
            </a:endParaRPr>
          </a:p>
        </p:txBody>
      </p:sp>
      <p:sp>
        <p:nvSpPr>
          <p:cNvPr id="3" name="文本框 2">
            <a:extLst>
              <a:ext uri="{FF2B5EF4-FFF2-40B4-BE49-F238E27FC236}">
                <a16:creationId xmlns:a16="http://schemas.microsoft.com/office/drawing/2014/main" id="{83D85FDA-FC89-5E98-2A43-5C156607356C}"/>
              </a:ext>
            </a:extLst>
          </p:cNvPr>
          <p:cNvSpPr txBox="1"/>
          <p:nvPr/>
        </p:nvSpPr>
        <p:spPr>
          <a:xfrm>
            <a:off x="813584" y="1127574"/>
            <a:ext cx="7235201" cy="2120068"/>
          </a:xfrm>
          <a:prstGeom prst="rect">
            <a:avLst/>
          </a:prstGeom>
          <a:noFill/>
        </p:spPr>
        <p:txBody>
          <a:bodyPr wrap="square">
            <a:spAutoFit/>
          </a:bodyPr>
          <a:lstStyle/>
          <a:p>
            <a:pPr>
              <a:lnSpc>
                <a:spcPct val="150000"/>
              </a:lnSpc>
            </a:pPr>
            <a:r>
              <a:rPr lang="en-US" altLang="zh-CN" dirty="0">
                <a:latin typeface="Times New Roman" panose="02020603050405020304" pitchFamily="18" charset="0"/>
                <a:cs typeface="Times New Roman" panose="02020603050405020304" pitchFamily="18" charset="0"/>
              </a:rPr>
              <a:t>• RQ1: How much does anomaly detection benefit from multi-modal data? </a:t>
            </a:r>
          </a:p>
          <a:p>
            <a:pPr>
              <a:lnSpc>
                <a:spcPct val="150000"/>
              </a:lnSpc>
            </a:pPr>
            <a:r>
              <a:rPr lang="en-US" altLang="zh-CN" dirty="0">
                <a:latin typeface="Times New Roman" panose="02020603050405020304" pitchFamily="18" charset="0"/>
                <a:cs typeface="Times New Roman" panose="02020603050405020304" pitchFamily="18" charset="0"/>
              </a:rPr>
              <a:t>• RQ2: How does MRCA perform at the metric-level and service-level? </a:t>
            </a:r>
          </a:p>
          <a:p>
            <a:pPr>
              <a:lnSpc>
                <a:spcPct val="150000"/>
              </a:lnSpc>
            </a:pPr>
            <a:r>
              <a:rPr lang="en-US" altLang="zh-CN" dirty="0">
                <a:latin typeface="Times New Roman" panose="02020603050405020304" pitchFamily="18" charset="0"/>
                <a:cs typeface="Times New Roman" panose="02020603050405020304" pitchFamily="18" charset="0"/>
              </a:rPr>
              <a:t>• RQ3: How much do the different data sources and pruning module contribute to RCA? </a:t>
            </a:r>
          </a:p>
          <a:p>
            <a:pPr>
              <a:lnSpc>
                <a:spcPct val="150000"/>
              </a:lnSpc>
            </a:pPr>
            <a:r>
              <a:rPr lang="en-US" altLang="zh-CN" dirty="0">
                <a:latin typeface="Times New Roman" panose="02020603050405020304" pitchFamily="18" charset="0"/>
                <a:cs typeface="Times New Roman" panose="02020603050405020304" pitchFamily="18" charset="0"/>
              </a:rPr>
              <a:t>• RQ4: Can the pruning module of MRCA reduce the time cost of RCA?</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039887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FC1B2-C716-60BA-E6A7-3806A22BFBFC}"/>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8E28E809-CDF9-B27C-AF4B-97CF3DD67910}"/>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49" name="矩形 48">
            <a:extLst>
              <a:ext uri="{FF2B5EF4-FFF2-40B4-BE49-F238E27FC236}">
                <a16:creationId xmlns:a16="http://schemas.microsoft.com/office/drawing/2014/main" id="{CF877419-6298-0791-DDE8-FA95F1249F29}"/>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2" name="矩形 51">
            <a:extLst>
              <a:ext uri="{FF2B5EF4-FFF2-40B4-BE49-F238E27FC236}">
                <a16:creationId xmlns:a16="http://schemas.microsoft.com/office/drawing/2014/main" id="{51E85151-40BB-3E6D-C3D4-92E05E3FDBFB}"/>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3" name="矩形 52">
            <a:extLst>
              <a:ext uri="{FF2B5EF4-FFF2-40B4-BE49-F238E27FC236}">
                <a16:creationId xmlns:a16="http://schemas.microsoft.com/office/drawing/2014/main" id="{34900A31-386E-6226-9256-8C614AFAF024}"/>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5" name="文本框 54">
            <a:extLst>
              <a:ext uri="{FF2B5EF4-FFF2-40B4-BE49-F238E27FC236}">
                <a16:creationId xmlns:a16="http://schemas.microsoft.com/office/drawing/2014/main" id="{0B87002B-04CF-8B9F-B703-C2DAE6D3A98B}"/>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RQ1</a:t>
            </a:r>
            <a:endParaRPr lang="zh-CN" altLang="en-US" dirty="0">
              <a:solidFill>
                <a:srgbClr val="E5DEDB">
                  <a:lumMod val="10000"/>
                  <a:alpha val="85000"/>
                </a:srgbClr>
              </a:solidFill>
              <a:latin typeface="Times New Roman" panose="02020603050405020304" pitchFamily="18" charset="0"/>
              <a:ea typeface="幼圆"/>
              <a:cs typeface="Times New Roman" panose="02020603050405020304" pitchFamily="18" charset="0"/>
            </a:endParaRPr>
          </a:p>
        </p:txBody>
      </p:sp>
      <p:pic>
        <p:nvPicPr>
          <p:cNvPr id="6" name="图片 5">
            <a:extLst>
              <a:ext uri="{FF2B5EF4-FFF2-40B4-BE49-F238E27FC236}">
                <a16:creationId xmlns:a16="http://schemas.microsoft.com/office/drawing/2014/main" id="{2AF4D970-CB9B-8B2A-1196-605E634EDC31}"/>
              </a:ext>
            </a:extLst>
          </p:cNvPr>
          <p:cNvPicPr>
            <a:picLocks noChangeAspect="1"/>
          </p:cNvPicPr>
          <p:nvPr/>
        </p:nvPicPr>
        <p:blipFill>
          <a:blip r:embed="rId3"/>
          <a:stretch>
            <a:fillRect/>
          </a:stretch>
        </p:blipFill>
        <p:spPr>
          <a:xfrm>
            <a:off x="1100303" y="1549830"/>
            <a:ext cx="6320801" cy="2866635"/>
          </a:xfrm>
          <a:prstGeom prst="rect">
            <a:avLst/>
          </a:prstGeom>
        </p:spPr>
      </p:pic>
    </p:spTree>
    <p:extLst>
      <p:ext uri="{BB962C8B-B14F-4D97-AF65-F5344CB8AC3E}">
        <p14:creationId xmlns:p14="http://schemas.microsoft.com/office/powerpoint/2010/main" val="213228621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91E69-2640-525E-B48B-E44B9194D37D}"/>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7BFBC4E1-1806-DE8D-3C06-CDBBDEB0E572}"/>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49" name="矩形 48">
            <a:extLst>
              <a:ext uri="{FF2B5EF4-FFF2-40B4-BE49-F238E27FC236}">
                <a16:creationId xmlns:a16="http://schemas.microsoft.com/office/drawing/2014/main" id="{452EB2C2-A8F0-9601-E0BE-9FBD31918583}"/>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2" name="矩形 51">
            <a:extLst>
              <a:ext uri="{FF2B5EF4-FFF2-40B4-BE49-F238E27FC236}">
                <a16:creationId xmlns:a16="http://schemas.microsoft.com/office/drawing/2014/main" id="{9B2F2D5A-B813-047A-A7BB-75407558DD76}"/>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3" name="矩形 52">
            <a:extLst>
              <a:ext uri="{FF2B5EF4-FFF2-40B4-BE49-F238E27FC236}">
                <a16:creationId xmlns:a16="http://schemas.microsoft.com/office/drawing/2014/main" id="{725DA340-84AF-0F78-55F8-D8A016D5D91B}"/>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5" name="文本框 54">
            <a:extLst>
              <a:ext uri="{FF2B5EF4-FFF2-40B4-BE49-F238E27FC236}">
                <a16:creationId xmlns:a16="http://schemas.microsoft.com/office/drawing/2014/main" id="{BA98683C-41D8-6B09-AF55-741FAE7D8336}"/>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RQ2</a:t>
            </a:r>
            <a:endParaRPr lang="zh-CN" altLang="en-US" dirty="0">
              <a:solidFill>
                <a:srgbClr val="E5DEDB">
                  <a:lumMod val="10000"/>
                  <a:alpha val="85000"/>
                </a:srgbClr>
              </a:solidFill>
              <a:latin typeface="Times New Roman" panose="02020603050405020304" pitchFamily="18" charset="0"/>
              <a:ea typeface="幼圆"/>
              <a:cs typeface="Times New Roman" panose="02020603050405020304" pitchFamily="18" charset="0"/>
            </a:endParaRPr>
          </a:p>
        </p:txBody>
      </p:sp>
      <p:pic>
        <p:nvPicPr>
          <p:cNvPr id="3" name="图片 2">
            <a:extLst>
              <a:ext uri="{FF2B5EF4-FFF2-40B4-BE49-F238E27FC236}">
                <a16:creationId xmlns:a16="http://schemas.microsoft.com/office/drawing/2014/main" id="{EC51C48F-4F17-CF0E-1A20-543F8970F755}"/>
              </a:ext>
            </a:extLst>
          </p:cNvPr>
          <p:cNvPicPr>
            <a:picLocks noChangeAspect="1"/>
          </p:cNvPicPr>
          <p:nvPr/>
        </p:nvPicPr>
        <p:blipFill>
          <a:blip r:embed="rId3"/>
          <a:stretch>
            <a:fillRect/>
          </a:stretch>
        </p:blipFill>
        <p:spPr>
          <a:xfrm>
            <a:off x="1350811" y="1270860"/>
            <a:ext cx="5819785" cy="3403039"/>
          </a:xfrm>
          <a:prstGeom prst="rect">
            <a:avLst/>
          </a:prstGeom>
        </p:spPr>
      </p:pic>
      <p:pic>
        <p:nvPicPr>
          <p:cNvPr id="5" name="图片 4">
            <a:extLst>
              <a:ext uri="{FF2B5EF4-FFF2-40B4-BE49-F238E27FC236}">
                <a16:creationId xmlns:a16="http://schemas.microsoft.com/office/drawing/2014/main" id="{6D57815A-5A9B-54FD-4894-F8FC20F0B638}"/>
              </a:ext>
            </a:extLst>
          </p:cNvPr>
          <p:cNvPicPr>
            <a:picLocks noChangeAspect="1"/>
          </p:cNvPicPr>
          <p:nvPr/>
        </p:nvPicPr>
        <p:blipFill>
          <a:blip r:embed="rId4"/>
          <a:stretch>
            <a:fillRect/>
          </a:stretch>
        </p:blipFill>
        <p:spPr>
          <a:xfrm>
            <a:off x="1476174" y="842858"/>
            <a:ext cx="5569057" cy="4090687"/>
          </a:xfrm>
          <a:prstGeom prst="rect">
            <a:avLst/>
          </a:prstGeom>
        </p:spPr>
      </p:pic>
    </p:spTree>
    <p:extLst>
      <p:ext uri="{BB962C8B-B14F-4D97-AF65-F5344CB8AC3E}">
        <p14:creationId xmlns:p14="http://schemas.microsoft.com/office/powerpoint/2010/main" val="12097246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0AD73-B289-E8EE-3551-B8D9269DA1F1}"/>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8E5E2188-FA9B-8FB4-03A0-5FF056916B49}"/>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49" name="矩形 48">
            <a:extLst>
              <a:ext uri="{FF2B5EF4-FFF2-40B4-BE49-F238E27FC236}">
                <a16:creationId xmlns:a16="http://schemas.microsoft.com/office/drawing/2014/main" id="{54BFDB05-0161-FC8D-B8A2-C8FF0BB17191}"/>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2" name="矩形 51">
            <a:extLst>
              <a:ext uri="{FF2B5EF4-FFF2-40B4-BE49-F238E27FC236}">
                <a16:creationId xmlns:a16="http://schemas.microsoft.com/office/drawing/2014/main" id="{6FFDFF0D-B89B-0E2A-575B-8F208B63C429}"/>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3" name="矩形 52">
            <a:extLst>
              <a:ext uri="{FF2B5EF4-FFF2-40B4-BE49-F238E27FC236}">
                <a16:creationId xmlns:a16="http://schemas.microsoft.com/office/drawing/2014/main" id="{C5744816-3B1E-42F5-0D79-6CD2507A462E}"/>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5" name="文本框 54">
            <a:extLst>
              <a:ext uri="{FF2B5EF4-FFF2-40B4-BE49-F238E27FC236}">
                <a16:creationId xmlns:a16="http://schemas.microsoft.com/office/drawing/2014/main" id="{DA4C0AF3-3496-3EAC-5A94-514AC9024BC6}"/>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RQ3</a:t>
            </a:r>
            <a:endParaRPr lang="zh-CN" altLang="en-US" dirty="0">
              <a:solidFill>
                <a:srgbClr val="E5DEDB">
                  <a:lumMod val="10000"/>
                  <a:alpha val="85000"/>
                </a:srgbClr>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7EEF6C1E-BCD4-9A75-284E-0D7414D6D149}"/>
              </a:ext>
            </a:extLst>
          </p:cNvPr>
          <p:cNvPicPr>
            <a:picLocks noChangeAspect="1"/>
          </p:cNvPicPr>
          <p:nvPr/>
        </p:nvPicPr>
        <p:blipFill>
          <a:blip r:embed="rId3"/>
          <a:stretch>
            <a:fillRect/>
          </a:stretch>
        </p:blipFill>
        <p:spPr>
          <a:xfrm>
            <a:off x="1677574" y="957092"/>
            <a:ext cx="5020945" cy="1822710"/>
          </a:xfrm>
          <a:prstGeom prst="rect">
            <a:avLst/>
          </a:prstGeom>
        </p:spPr>
      </p:pic>
      <p:pic>
        <p:nvPicPr>
          <p:cNvPr id="6" name="图片 5">
            <a:extLst>
              <a:ext uri="{FF2B5EF4-FFF2-40B4-BE49-F238E27FC236}">
                <a16:creationId xmlns:a16="http://schemas.microsoft.com/office/drawing/2014/main" id="{7C444BA8-D5F8-3B14-7BC9-4E042B0FCBD5}"/>
              </a:ext>
            </a:extLst>
          </p:cNvPr>
          <p:cNvPicPr>
            <a:picLocks noChangeAspect="1"/>
          </p:cNvPicPr>
          <p:nvPr/>
        </p:nvPicPr>
        <p:blipFill>
          <a:blip r:embed="rId4"/>
          <a:stretch>
            <a:fillRect/>
          </a:stretch>
        </p:blipFill>
        <p:spPr>
          <a:xfrm>
            <a:off x="1677573" y="2907517"/>
            <a:ext cx="4989511" cy="2050377"/>
          </a:xfrm>
          <a:prstGeom prst="rect">
            <a:avLst/>
          </a:prstGeom>
        </p:spPr>
      </p:pic>
    </p:spTree>
    <p:extLst>
      <p:ext uri="{BB962C8B-B14F-4D97-AF65-F5344CB8AC3E}">
        <p14:creationId xmlns:p14="http://schemas.microsoft.com/office/powerpoint/2010/main" val="191477732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08E53-7270-D629-D512-9C75C62F1D0D}"/>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7AA91F8E-672D-E823-547D-00F72FB965AD}"/>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49" name="矩形 48">
            <a:extLst>
              <a:ext uri="{FF2B5EF4-FFF2-40B4-BE49-F238E27FC236}">
                <a16:creationId xmlns:a16="http://schemas.microsoft.com/office/drawing/2014/main" id="{0C04888E-411B-50B1-28C2-E4D084263C67}"/>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2" name="矩形 51">
            <a:extLst>
              <a:ext uri="{FF2B5EF4-FFF2-40B4-BE49-F238E27FC236}">
                <a16:creationId xmlns:a16="http://schemas.microsoft.com/office/drawing/2014/main" id="{1770356B-D891-248C-0FB3-C3FD8B1284B7}"/>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3" name="矩形 52">
            <a:extLst>
              <a:ext uri="{FF2B5EF4-FFF2-40B4-BE49-F238E27FC236}">
                <a16:creationId xmlns:a16="http://schemas.microsoft.com/office/drawing/2014/main" id="{5F0EC98D-A46C-2C0B-9C7F-46EFC01DF91C}"/>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a:ea typeface="幼圆"/>
            </a:endParaRPr>
          </a:p>
        </p:txBody>
      </p:sp>
      <p:sp>
        <p:nvSpPr>
          <p:cNvPr id="55" name="文本框 54">
            <a:extLst>
              <a:ext uri="{FF2B5EF4-FFF2-40B4-BE49-F238E27FC236}">
                <a16:creationId xmlns:a16="http://schemas.microsoft.com/office/drawing/2014/main" id="{1035BA07-8CC2-DD0D-939A-46AB55399975}"/>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RQ4</a:t>
            </a:r>
            <a:endParaRPr lang="zh-CN" altLang="en-US" dirty="0">
              <a:solidFill>
                <a:srgbClr val="E5DEDB">
                  <a:lumMod val="10000"/>
                  <a:alpha val="85000"/>
                </a:srgbClr>
              </a:solidFill>
              <a:latin typeface="Times New Roman" panose="02020603050405020304" pitchFamily="18" charset="0"/>
              <a:ea typeface="幼圆"/>
              <a:cs typeface="Times New Roman" panose="02020603050405020304" pitchFamily="18" charset="0"/>
            </a:endParaRPr>
          </a:p>
        </p:txBody>
      </p:sp>
      <p:pic>
        <p:nvPicPr>
          <p:cNvPr id="2" name="图片 1">
            <a:extLst>
              <a:ext uri="{FF2B5EF4-FFF2-40B4-BE49-F238E27FC236}">
                <a16:creationId xmlns:a16="http://schemas.microsoft.com/office/drawing/2014/main" id="{EC88284D-2ACC-204F-88C1-17E54F5E1404}"/>
              </a:ext>
            </a:extLst>
          </p:cNvPr>
          <p:cNvPicPr>
            <a:picLocks noChangeAspect="1"/>
          </p:cNvPicPr>
          <p:nvPr/>
        </p:nvPicPr>
        <p:blipFill>
          <a:blip r:embed="rId3"/>
          <a:stretch>
            <a:fillRect/>
          </a:stretch>
        </p:blipFill>
        <p:spPr>
          <a:xfrm>
            <a:off x="1400962" y="1331192"/>
            <a:ext cx="5915432" cy="3459969"/>
          </a:xfrm>
          <a:prstGeom prst="rect">
            <a:avLst/>
          </a:prstGeom>
        </p:spPr>
      </p:pic>
    </p:spTree>
    <p:extLst>
      <p:ext uri="{BB962C8B-B14F-4D97-AF65-F5344CB8AC3E}">
        <p14:creationId xmlns:p14="http://schemas.microsoft.com/office/powerpoint/2010/main" val="76951769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等腰三角形 8"/>
          <p:cNvSpPr/>
          <p:nvPr/>
        </p:nvSpPr>
        <p:spPr>
          <a:xfrm rot="1650064">
            <a:off x="6818085" y="670620"/>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 name="等腰三角形 9"/>
          <p:cNvSpPr/>
          <p:nvPr/>
        </p:nvSpPr>
        <p:spPr>
          <a:xfrm rot="12132218">
            <a:off x="5106647" y="570490"/>
            <a:ext cx="292713" cy="591282"/>
          </a:xfrm>
          <a:prstGeom prst="triangle">
            <a:avLst/>
          </a:prstGeom>
          <a:solidFill>
            <a:srgbClr val="FC6E5B">
              <a:alpha val="31000"/>
            </a:srgb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1" name="任意多边形 80"/>
          <p:cNvSpPr/>
          <p:nvPr/>
        </p:nvSpPr>
        <p:spPr>
          <a:xfrm rot="8289040">
            <a:off x="7578328" y="683419"/>
            <a:ext cx="1860947" cy="146447"/>
          </a:xfrm>
          <a:custGeom>
            <a:avLst/>
            <a:gdLst>
              <a:gd name="connsiteX0" fmla="*/ 0 w 2481081"/>
              <a:gd name="connsiteY0" fmla="*/ 194529 h 194529"/>
              <a:gd name="connsiteX1" fmla="*/ 174230 w 2481081"/>
              <a:gd name="connsiteY1" fmla="*/ 0 h 194529"/>
              <a:gd name="connsiteX2" fmla="*/ 2263889 w 2481081"/>
              <a:gd name="connsiteY2" fmla="*/ 0 h 194529"/>
              <a:gd name="connsiteX3" fmla="*/ 2481081 w 2481081"/>
              <a:gd name="connsiteY3" fmla="*/ 194529 h 194529"/>
            </a:gdLst>
            <a:ahLst/>
            <a:cxnLst>
              <a:cxn ang="0">
                <a:pos x="connsiteX0" y="connsiteY0"/>
              </a:cxn>
              <a:cxn ang="0">
                <a:pos x="connsiteX1" y="connsiteY1"/>
              </a:cxn>
              <a:cxn ang="0">
                <a:pos x="connsiteX2" y="connsiteY2"/>
              </a:cxn>
              <a:cxn ang="0">
                <a:pos x="connsiteX3" y="connsiteY3"/>
              </a:cxn>
            </a:cxnLst>
            <a:rect l="l" t="t" r="r" b="b"/>
            <a:pathLst>
              <a:path w="2481081" h="194529">
                <a:moveTo>
                  <a:pt x="0" y="194529"/>
                </a:moveTo>
                <a:lnTo>
                  <a:pt x="174230" y="0"/>
                </a:lnTo>
                <a:lnTo>
                  <a:pt x="2263889" y="0"/>
                </a:lnTo>
                <a:lnTo>
                  <a:pt x="2481081"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3" name="任意多边形 72"/>
          <p:cNvSpPr/>
          <p:nvPr/>
        </p:nvSpPr>
        <p:spPr>
          <a:xfrm rot="8289040">
            <a:off x="7637860" y="503635"/>
            <a:ext cx="1614488" cy="33338"/>
          </a:xfrm>
          <a:custGeom>
            <a:avLst/>
            <a:gdLst>
              <a:gd name="connsiteX0" fmla="*/ 51045 w 2151533"/>
              <a:gd name="connsiteY0" fmla="*/ 45719 h 45719"/>
              <a:gd name="connsiteX1" fmla="*/ 0 w 2151533"/>
              <a:gd name="connsiteY1" fmla="*/ 0 h 45719"/>
              <a:gd name="connsiteX2" fmla="*/ 2151533 w 2151533"/>
              <a:gd name="connsiteY2" fmla="*/ 0 h 45719"/>
              <a:gd name="connsiteX3" fmla="*/ 2151533 w 21515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151533" h="45719">
                <a:moveTo>
                  <a:pt x="51045" y="45719"/>
                </a:moveTo>
                <a:lnTo>
                  <a:pt x="0" y="0"/>
                </a:lnTo>
                <a:lnTo>
                  <a:pt x="2151533" y="0"/>
                </a:lnTo>
                <a:lnTo>
                  <a:pt x="2151533" y="45719"/>
                </a:lnTo>
                <a:close/>
              </a:path>
            </a:pathLst>
          </a:custGeom>
          <a:solidFill>
            <a:srgbClr val="79C7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7" name="任意多边形 46"/>
          <p:cNvSpPr/>
          <p:nvPr/>
        </p:nvSpPr>
        <p:spPr>
          <a:xfrm rot="8289040">
            <a:off x="7946231" y="1422798"/>
            <a:ext cx="1404938" cy="34528"/>
          </a:xfrm>
          <a:custGeom>
            <a:avLst/>
            <a:gdLst>
              <a:gd name="connsiteX0" fmla="*/ 0 w 1873652"/>
              <a:gd name="connsiteY0" fmla="*/ 45719 h 45719"/>
              <a:gd name="connsiteX1" fmla="*/ 40948 w 1873652"/>
              <a:gd name="connsiteY1" fmla="*/ 0 h 45719"/>
              <a:gd name="connsiteX2" fmla="*/ 1873652 w 1873652"/>
              <a:gd name="connsiteY2" fmla="*/ 0 h 45719"/>
              <a:gd name="connsiteX3" fmla="*/ 1873652 w 187365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73652" h="45719">
                <a:moveTo>
                  <a:pt x="0" y="45719"/>
                </a:moveTo>
                <a:lnTo>
                  <a:pt x="40948" y="0"/>
                </a:lnTo>
                <a:lnTo>
                  <a:pt x="1873652" y="0"/>
                </a:lnTo>
                <a:lnTo>
                  <a:pt x="1873652" y="45719"/>
                </a:lnTo>
                <a:close/>
              </a:path>
            </a:pathLst>
          </a:custGeom>
          <a:solidFill>
            <a:srgbClr val="FC6E5B">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6" name="任意多边形 75"/>
          <p:cNvSpPr/>
          <p:nvPr/>
        </p:nvSpPr>
        <p:spPr>
          <a:xfrm rot="8289040">
            <a:off x="7749778" y="1759744"/>
            <a:ext cx="1643063" cy="115491"/>
          </a:xfrm>
          <a:custGeom>
            <a:avLst/>
            <a:gdLst>
              <a:gd name="connsiteX0" fmla="*/ 0 w 2190050"/>
              <a:gd name="connsiteY0" fmla="*/ 155058 h 155058"/>
              <a:gd name="connsiteX1" fmla="*/ 138878 w 2190050"/>
              <a:gd name="connsiteY1" fmla="*/ 0 h 155058"/>
              <a:gd name="connsiteX2" fmla="*/ 2016928 w 2190050"/>
              <a:gd name="connsiteY2" fmla="*/ 0 h 155058"/>
              <a:gd name="connsiteX3" fmla="*/ 2190050 w 2190050"/>
              <a:gd name="connsiteY3" fmla="*/ 155058 h 155058"/>
            </a:gdLst>
            <a:ahLst/>
            <a:cxnLst>
              <a:cxn ang="0">
                <a:pos x="connsiteX0" y="connsiteY0"/>
              </a:cxn>
              <a:cxn ang="0">
                <a:pos x="connsiteX1" y="connsiteY1"/>
              </a:cxn>
              <a:cxn ang="0">
                <a:pos x="connsiteX2" y="connsiteY2"/>
              </a:cxn>
              <a:cxn ang="0">
                <a:pos x="connsiteX3" y="connsiteY3"/>
              </a:cxn>
            </a:cxnLst>
            <a:rect l="l" t="t" r="r" b="b"/>
            <a:pathLst>
              <a:path w="2190050" h="155058">
                <a:moveTo>
                  <a:pt x="0" y="155058"/>
                </a:moveTo>
                <a:lnTo>
                  <a:pt x="138878" y="0"/>
                </a:lnTo>
                <a:lnTo>
                  <a:pt x="2016928" y="0"/>
                </a:lnTo>
                <a:lnTo>
                  <a:pt x="2190050" y="155058"/>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5" name="任意多边形 44"/>
          <p:cNvSpPr/>
          <p:nvPr/>
        </p:nvSpPr>
        <p:spPr>
          <a:xfrm rot="8289040">
            <a:off x="8521304" y="1850231"/>
            <a:ext cx="744140" cy="34529"/>
          </a:xfrm>
          <a:custGeom>
            <a:avLst/>
            <a:gdLst>
              <a:gd name="connsiteX0" fmla="*/ 0 w 991862"/>
              <a:gd name="connsiteY0" fmla="*/ 45719 h 45719"/>
              <a:gd name="connsiteX1" fmla="*/ 40948 w 991862"/>
              <a:gd name="connsiteY1" fmla="*/ 0 h 45719"/>
              <a:gd name="connsiteX2" fmla="*/ 991862 w 991862"/>
              <a:gd name="connsiteY2" fmla="*/ 0 h 45719"/>
              <a:gd name="connsiteX3" fmla="*/ 991862 w 99186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991862" h="45719">
                <a:moveTo>
                  <a:pt x="0" y="45719"/>
                </a:moveTo>
                <a:lnTo>
                  <a:pt x="40948" y="0"/>
                </a:lnTo>
                <a:lnTo>
                  <a:pt x="991862" y="0"/>
                </a:lnTo>
                <a:lnTo>
                  <a:pt x="99186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 name="组合 163"/>
          <p:cNvGrpSpPr/>
          <p:nvPr/>
        </p:nvGrpSpPr>
        <p:grpSpPr bwMode="auto">
          <a:xfrm>
            <a:off x="8003382" y="2431256"/>
            <a:ext cx="721519" cy="838200"/>
            <a:chOff x="10670736" y="3241053"/>
            <a:chExt cx="962659" cy="1118718"/>
          </a:xfrm>
        </p:grpSpPr>
        <p:sp>
          <p:nvSpPr>
            <p:cNvPr id="16" name="等腰三角形 1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等腰三角形 16"/>
            <p:cNvSpPr/>
            <p:nvPr/>
          </p:nvSpPr>
          <p:spPr>
            <a:xfrm rot="20901646">
              <a:off x="10936527" y="3445371"/>
              <a:ext cx="696868"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24" name="等腰三角形 23"/>
          <p:cNvSpPr/>
          <p:nvPr/>
        </p:nvSpPr>
        <p:spPr>
          <a:xfrm rot="14549936" flipH="1">
            <a:off x="5116580" y="3430487"/>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0" name="等腰三角形 29"/>
          <p:cNvSpPr/>
          <p:nvPr/>
        </p:nvSpPr>
        <p:spPr>
          <a:xfrm rot="14549936" flipH="1">
            <a:off x="4147800" y="3563063"/>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1" name="等腰三角形 30"/>
          <p:cNvSpPr/>
          <p:nvPr/>
        </p:nvSpPr>
        <p:spPr>
          <a:xfrm rot="14549936" flipH="1">
            <a:off x="5551738" y="3580769"/>
            <a:ext cx="333809" cy="574152"/>
          </a:xfrm>
          <a:prstGeom prst="triangle">
            <a:avLst/>
          </a:prstGeom>
          <a:solidFill>
            <a:srgbClr val="FC6E5B"/>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3" name="组合 10"/>
          <p:cNvGrpSpPr/>
          <p:nvPr/>
        </p:nvGrpSpPr>
        <p:grpSpPr bwMode="auto">
          <a:xfrm>
            <a:off x="720329" y="1735932"/>
            <a:ext cx="620315" cy="692944"/>
            <a:chOff x="1354861" y="2750116"/>
            <a:chExt cx="828164" cy="924005"/>
          </a:xfrm>
        </p:grpSpPr>
        <p:sp>
          <p:nvSpPr>
            <p:cNvPr id="33" name="直角三角形 32"/>
            <p:cNvSpPr/>
            <p:nvPr/>
          </p:nvSpPr>
          <p:spPr>
            <a:xfrm rot="3161904">
              <a:off x="1665936" y="3157032"/>
              <a:ext cx="517570" cy="516609"/>
            </a:xfrm>
            <a:prstGeom prst="rtTriangle">
              <a:avLst/>
            </a:prstGeom>
            <a:solidFill>
              <a:srgbClr val="66BFBC">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4" name="直角三角形 33"/>
            <p:cNvSpPr/>
            <p:nvPr/>
          </p:nvSpPr>
          <p:spPr>
            <a:xfrm rot="3161904" flipH="1">
              <a:off x="1354381" y="2750596"/>
              <a:ext cx="517570" cy="516609"/>
            </a:xfrm>
            <a:prstGeom prst="rtTriangle">
              <a:avLst/>
            </a:prstGeom>
            <a:solidFill>
              <a:srgbClr val="66BFB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39" name="直角三角形 38"/>
          <p:cNvSpPr/>
          <p:nvPr/>
        </p:nvSpPr>
        <p:spPr>
          <a:xfrm rot="3176496">
            <a:off x="2666724" y="3947868"/>
            <a:ext cx="230419" cy="230418"/>
          </a:xfrm>
          <a:prstGeom prst="rtTriangle">
            <a:avLst/>
          </a:prstGeom>
          <a:solidFill>
            <a:srgbClr val="66BFBC">
              <a:alpha val="6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0" name="直角三角形 39"/>
          <p:cNvSpPr/>
          <p:nvPr/>
        </p:nvSpPr>
        <p:spPr>
          <a:xfrm rot="3176496" flipH="1">
            <a:off x="2545217" y="3786292"/>
            <a:ext cx="230419" cy="230418"/>
          </a:xfrm>
          <a:prstGeom prst="rtTriangle">
            <a:avLst/>
          </a:prstGeom>
          <a:solidFill>
            <a:srgbClr val="66BFBC">
              <a:alpha val="9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2" name="等腰三角形 81"/>
          <p:cNvSpPr/>
          <p:nvPr/>
        </p:nvSpPr>
        <p:spPr>
          <a:xfrm rot="8943941">
            <a:off x="2458504" y="963636"/>
            <a:ext cx="646247" cy="809888"/>
          </a:xfrm>
          <a:prstGeom prst="triangle">
            <a:avLst/>
          </a:prstGeom>
          <a:solidFill>
            <a:srgbClr val="FC6E5B">
              <a:alpha val="62000"/>
            </a:srgbClr>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3" name="椭圆 82"/>
          <p:cNvSpPr/>
          <p:nvPr/>
        </p:nvSpPr>
        <p:spPr>
          <a:xfrm>
            <a:off x="1959685" y="1250983"/>
            <a:ext cx="582704" cy="644636"/>
          </a:xfrm>
          <a:prstGeom prst="ellipse">
            <a:avLst/>
          </a:prstGeom>
          <a:solidFill>
            <a:srgbClr val="FBC75D">
              <a:alpha val="56000"/>
            </a:srgb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8" name="等腰三角形 87"/>
          <p:cNvSpPr/>
          <p:nvPr/>
        </p:nvSpPr>
        <p:spPr>
          <a:xfrm rot="7669978">
            <a:off x="1265381" y="1570446"/>
            <a:ext cx="227435" cy="216216"/>
          </a:xfrm>
          <a:prstGeom prst="triangle">
            <a:avLst/>
          </a:prstGeom>
          <a:solidFill>
            <a:srgbClr val="8CC066">
              <a:alpha val="62000"/>
            </a:srgbClr>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8" name="任意多边形 77"/>
          <p:cNvSpPr/>
          <p:nvPr/>
        </p:nvSpPr>
        <p:spPr>
          <a:xfrm rot="8289040">
            <a:off x="5639991" y="4461273"/>
            <a:ext cx="2016919" cy="145256"/>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6" name="任意多边形 65"/>
          <p:cNvSpPr/>
          <p:nvPr/>
        </p:nvSpPr>
        <p:spPr>
          <a:xfrm rot="8289040">
            <a:off x="6201967" y="4785122"/>
            <a:ext cx="1087040" cy="33338"/>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4" name="任意多边形 63"/>
          <p:cNvSpPr/>
          <p:nvPr/>
        </p:nvSpPr>
        <p:spPr>
          <a:xfrm rot="8289040">
            <a:off x="6536532" y="4701779"/>
            <a:ext cx="1332310" cy="34528"/>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0" name="任意多边形 69"/>
          <p:cNvSpPr/>
          <p:nvPr/>
        </p:nvSpPr>
        <p:spPr>
          <a:xfrm rot="8289040">
            <a:off x="5232798" y="4589860"/>
            <a:ext cx="1674019" cy="34528"/>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2" name="任意多边形 71"/>
          <p:cNvSpPr/>
          <p:nvPr/>
        </p:nvSpPr>
        <p:spPr>
          <a:xfrm rot="8289040">
            <a:off x="4748212" y="4879181"/>
            <a:ext cx="806054" cy="33338"/>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0" name="任意多边形 79"/>
          <p:cNvSpPr/>
          <p:nvPr/>
        </p:nvSpPr>
        <p:spPr>
          <a:xfrm rot="8289040">
            <a:off x="-406004" y="4099322"/>
            <a:ext cx="2983707" cy="94059"/>
          </a:xfrm>
          <a:custGeom>
            <a:avLst/>
            <a:gdLst>
              <a:gd name="connsiteX0" fmla="*/ 139966 w 3978903"/>
              <a:gd name="connsiteY0" fmla="*/ 125361 h 125361"/>
              <a:gd name="connsiteX1" fmla="*/ 0 w 3978903"/>
              <a:gd name="connsiteY1" fmla="*/ 0 h 125361"/>
              <a:gd name="connsiteX2" fmla="*/ 3939559 w 3978903"/>
              <a:gd name="connsiteY2" fmla="*/ 0 h 125361"/>
              <a:gd name="connsiteX3" fmla="*/ 3978903 w 3978903"/>
              <a:gd name="connsiteY3" fmla="*/ 35238 h 125361"/>
              <a:gd name="connsiteX4" fmla="*/ 3898184 w 3978903"/>
              <a:gd name="connsiteY4" fmla="*/ 125361 h 12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8903" h="125361">
                <a:moveTo>
                  <a:pt x="139966" y="125361"/>
                </a:moveTo>
                <a:lnTo>
                  <a:pt x="0" y="0"/>
                </a:lnTo>
                <a:lnTo>
                  <a:pt x="3939559" y="0"/>
                </a:lnTo>
                <a:lnTo>
                  <a:pt x="3978903" y="35238"/>
                </a:lnTo>
                <a:lnTo>
                  <a:pt x="3898184" y="125361"/>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6" name="任意多边形 55"/>
          <p:cNvSpPr/>
          <p:nvPr/>
        </p:nvSpPr>
        <p:spPr>
          <a:xfrm rot="8289040">
            <a:off x="-426244" y="3720704"/>
            <a:ext cx="3161110" cy="34528"/>
          </a:xfrm>
          <a:custGeom>
            <a:avLst/>
            <a:gdLst>
              <a:gd name="connsiteX0" fmla="*/ 0 w 4213929"/>
              <a:gd name="connsiteY0" fmla="*/ 45719 h 45719"/>
              <a:gd name="connsiteX1" fmla="*/ 0 w 4213929"/>
              <a:gd name="connsiteY1" fmla="*/ 0 h 45719"/>
              <a:gd name="connsiteX2" fmla="*/ 4213929 w 4213929"/>
              <a:gd name="connsiteY2" fmla="*/ 0 h 45719"/>
              <a:gd name="connsiteX3" fmla="*/ 4172980 w 4213929"/>
              <a:gd name="connsiteY3" fmla="*/ 45719 h 45719"/>
            </a:gdLst>
            <a:ahLst/>
            <a:cxnLst>
              <a:cxn ang="0">
                <a:pos x="connsiteX0" y="connsiteY0"/>
              </a:cxn>
              <a:cxn ang="0">
                <a:pos x="connsiteX1" y="connsiteY1"/>
              </a:cxn>
              <a:cxn ang="0">
                <a:pos x="connsiteX2" y="connsiteY2"/>
              </a:cxn>
              <a:cxn ang="0">
                <a:pos x="connsiteX3" y="connsiteY3"/>
              </a:cxn>
            </a:cxnLst>
            <a:rect l="l" t="t" r="r" b="b"/>
            <a:pathLst>
              <a:path w="4213929" h="45719">
                <a:moveTo>
                  <a:pt x="0" y="45719"/>
                </a:moveTo>
                <a:lnTo>
                  <a:pt x="0" y="0"/>
                </a:lnTo>
                <a:lnTo>
                  <a:pt x="4213929" y="0"/>
                </a:lnTo>
                <a:lnTo>
                  <a:pt x="4172980"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4" name="任意多边形 53"/>
          <p:cNvSpPr/>
          <p:nvPr/>
        </p:nvSpPr>
        <p:spPr>
          <a:xfrm rot="8289040">
            <a:off x="-200025" y="3527823"/>
            <a:ext cx="1385888" cy="34528"/>
          </a:xfrm>
          <a:custGeom>
            <a:avLst/>
            <a:gdLst>
              <a:gd name="connsiteX0" fmla="*/ 0 w 1847733"/>
              <a:gd name="connsiteY0" fmla="*/ 45719 h 45719"/>
              <a:gd name="connsiteX1" fmla="*/ 0 w 1847733"/>
              <a:gd name="connsiteY1" fmla="*/ 0 h 45719"/>
              <a:gd name="connsiteX2" fmla="*/ 1847733 w 1847733"/>
              <a:gd name="connsiteY2" fmla="*/ 0 h 45719"/>
              <a:gd name="connsiteX3" fmla="*/ 1806784 w 18477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47733" h="45719">
                <a:moveTo>
                  <a:pt x="0" y="45719"/>
                </a:moveTo>
                <a:lnTo>
                  <a:pt x="0" y="0"/>
                </a:lnTo>
                <a:lnTo>
                  <a:pt x="1847733" y="0"/>
                </a:lnTo>
                <a:lnTo>
                  <a:pt x="1806784"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任意多边形 51"/>
          <p:cNvSpPr/>
          <p:nvPr/>
        </p:nvSpPr>
        <p:spPr>
          <a:xfrm rot="8289040">
            <a:off x="-221457" y="3196829"/>
            <a:ext cx="1557338" cy="34528"/>
          </a:xfrm>
          <a:custGeom>
            <a:avLst/>
            <a:gdLst>
              <a:gd name="connsiteX0" fmla="*/ 0 w 2076814"/>
              <a:gd name="connsiteY0" fmla="*/ 45719 h 45719"/>
              <a:gd name="connsiteX1" fmla="*/ 0 w 2076814"/>
              <a:gd name="connsiteY1" fmla="*/ 0 h 45719"/>
              <a:gd name="connsiteX2" fmla="*/ 2076814 w 2076814"/>
              <a:gd name="connsiteY2" fmla="*/ 0 h 45719"/>
              <a:gd name="connsiteX3" fmla="*/ 2035866 w 2076814"/>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076814" h="45719">
                <a:moveTo>
                  <a:pt x="0" y="45719"/>
                </a:moveTo>
                <a:lnTo>
                  <a:pt x="0" y="0"/>
                </a:lnTo>
                <a:lnTo>
                  <a:pt x="2076814" y="0"/>
                </a:lnTo>
                <a:lnTo>
                  <a:pt x="2035866"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0" name="任意多边形 59"/>
          <p:cNvSpPr/>
          <p:nvPr/>
        </p:nvSpPr>
        <p:spPr>
          <a:xfrm rot="8289040">
            <a:off x="211931" y="4530329"/>
            <a:ext cx="1824038" cy="34528"/>
          </a:xfrm>
          <a:custGeom>
            <a:avLst/>
            <a:gdLst>
              <a:gd name="connsiteX0" fmla="*/ 0 w 2432620"/>
              <a:gd name="connsiteY0" fmla="*/ 45719 h 45719"/>
              <a:gd name="connsiteX1" fmla="*/ 0 w 2432620"/>
              <a:gd name="connsiteY1" fmla="*/ 0 h 45719"/>
              <a:gd name="connsiteX2" fmla="*/ 2381575 w 2432620"/>
              <a:gd name="connsiteY2" fmla="*/ 0 h 45719"/>
              <a:gd name="connsiteX3" fmla="*/ 2432620 w 243262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432620" h="45719">
                <a:moveTo>
                  <a:pt x="0" y="45719"/>
                </a:moveTo>
                <a:lnTo>
                  <a:pt x="0" y="0"/>
                </a:lnTo>
                <a:lnTo>
                  <a:pt x="2381575" y="0"/>
                </a:lnTo>
                <a:lnTo>
                  <a:pt x="2432620"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0" name="任意多边形 89"/>
          <p:cNvSpPr/>
          <p:nvPr/>
        </p:nvSpPr>
        <p:spPr>
          <a:xfrm rot="8289040">
            <a:off x="2164557" y="4819650"/>
            <a:ext cx="989410" cy="71438"/>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1" name="任意多边形 90"/>
          <p:cNvSpPr/>
          <p:nvPr/>
        </p:nvSpPr>
        <p:spPr>
          <a:xfrm rot="8289040">
            <a:off x="2439591" y="4979194"/>
            <a:ext cx="533400" cy="16669"/>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2" name="任意多边形 91"/>
          <p:cNvSpPr/>
          <p:nvPr/>
        </p:nvSpPr>
        <p:spPr>
          <a:xfrm rot="8289040">
            <a:off x="2603898" y="4937523"/>
            <a:ext cx="653653" cy="16669"/>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3" name="任意多边形 92"/>
          <p:cNvSpPr/>
          <p:nvPr/>
        </p:nvSpPr>
        <p:spPr>
          <a:xfrm rot="8289040">
            <a:off x="1964531" y="4882754"/>
            <a:ext cx="820341" cy="16669"/>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4" name="任意多边形 93"/>
          <p:cNvSpPr/>
          <p:nvPr/>
        </p:nvSpPr>
        <p:spPr>
          <a:xfrm rot="8289040">
            <a:off x="1726406" y="5024438"/>
            <a:ext cx="395288" cy="16669"/>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4" name="等腰三角形 103"/>
          <p:cNvSpPr/>
          <p:nvPr/>
        </p:nvSpPr>
        <p:spPr>
          <a:xfrm rot="8791815">
            <a:off x="3680223" y="7072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5" name="等腰三角形 104"/>
          <p:cNvSpPr/>
          <p:nvPr/>
        </p:nvSpPr>
        <p:spPr>
          <a:xfrm rot="10800000">
            <a:off x="3735451" y="543949"/>
            <a:ext cx="1030688" cy="1037132"/>
          </a:xfrm>
          <a:prstGeom prst="triangle">
            <a:avLst/>
          </a:prstGeom>
          <a:solidFill>
            <a:srgbClr val="66BFBC"/>
          </a:solidFill>
          <a:ln>
            <a:noFill/>
          </a:ln>
          <a:effectLst>
            <a:softEdge rad="3683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6" name="等腰三角形 105"/>
          <p:cNvSpPr/>
          <p:nvPr/>
        </p:nvSpPr>
        <p:spPr>
          <a:xfrm rot="8791815">
            <a:off x="6009085" y="823912"/>
            <a:ext cx="205978"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7" name="等腰三角形 106"/>
          <p:cNvSpPr/>
          <p:nvPr/>
        </p:nvSpPr>
        <p:spPr>
          <a:xfrm rot="8791815">
            <a:off x="6568679" y="35266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8" name="等腰三角形 107"/>
          <p:cNvSpPr/>
          <p:nvPr/>
        </p:nvSpPr>
        <p:spPr>
          <a:xfrm rot="8791815">
            <a:off x="5689998" y="4532710"/>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9" name="等腰三角形 108"/>
          <p:cNvSpPr/>
          <p:nvPr/>
        </p:nvSpPr>
        <p:spPr>
          <a:xfrm rot="8791815">
            <a:off x="4199335" y="4115991"/>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0" name="等腰三角形 109"/>
          <p:cNvSpPr/>
          <p:nvPr/>
        </p:nvSpPr>
        <p:spPr>
          <a:xfrm rot="8791815">
            <a:off x="3458766" y="3836194"/>
            <a:ext cx="205978" cy="100013"/>
          </a:xfrm>
          <a:prstGeom prs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1" name="等腰三角形 110"/>
          <p:cNvSpPr/>
          <p:nvPr/>
        </p:nvSpPr>
        <p:spPr>
          <a:xfrm rot="8791815">
            <a:off x="4926530" y="3899794"/>
            <a:ext cx="517410" cy="580007"/>
          </a:xfrm>
          <a:prstGeom prst="triangle">
            <a:avLst/>
          </a:prstGeom>
          <a:solidFill>
            <a:srgbClr val="8CC066"/>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2" name="等腰三角形 111"/>
          <p:cNvSpPr/>
          <p:nvPr/>
        </p:nvSpPr>
        <p:spPr>
          <a:xfrm rot="12808185" flipH="1">
            <a:off x="4394598" y="4475560"/>
            <a:ext cx="205978" cy="98822"/>
          </a:xfrm>
          <a:prstGeom prs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3" name="等腰三角形 112"/>
          <p:cNvSpPr/>
          <p:nvPr/>
        </p:nvSpPr>
        <p:spPr>
          <a:xfrm rot="8791815">
            <a:off x="1835944" y="4321969"/>
            <a:ext cx="205979"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5" name="等腰三角形 114"/>
          <p:cNvSpPr/>
          <p:nvPr/>
        </p:nvSpPr>
        <p:spPr>
          <a:xfrm rot="9746558" flipV="1">
            <a:off x="7453390" y="3395174"/>
            <a:ext cx="180053" cy="364038"/>
          </a:xfrm>
          <a:prstGeom prst="triangle">
            <a:avLst>
              <a:gd name="adj" fmla="val 41342"/>
            </a:avLst>
          </a:pr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7" name="直角三角形 116"/>
          <p:cNvSpPr/>
          <p:nvPr/>
        </p:nvSpPr>
        <p:spPr>
          <a:xfrm rot="11669251" flipH="1">
            <a:off x="8460582" y="4707732"/>
            <a:ext cx="160735" cy="160735"/>
          </a:xfrm>
          <a:prstGeom prst="rtTriangle">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1" name="直角三角形 120"/>
          <p:cNvSpPr/>
          <p:nvPr/>
        </p:nvSpPr>
        <p:spPr>
          <a:xfrm rot="8729171" flipH="1">
            <a:off x="3640133" y="4237150"/>
            <a:ext cx="1302486" cy="536711"/>
          </a:xfrm>
          <a:prstGeom prst="rtTriangle">
            <a:avLst/>
          </a:prstGeom>
          <a:solidFill>
            <a:srgbClr val="FBC75D"/>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2" name="直角三角形 121"/>
          <p:cNvSpPr/>
          <p:nvPr/>
        </p:nvSpPr>
        <p:spPr>
          <a:xfrm rot="1054849">
            <a:off x="7460457" y="1371601"/>
            <a:ext cx="117872" cy="145256"/>
          </a:xfrm>
          <a:prstGeom prst="rtTriangle">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5" name="直角三角形 124"/>
          <p:cNvSpPr/>
          <p:nvPr/>
        </p:nvSpPr>
        <p:spPr>
          <a:xfrm rot="11669251" flipH="1">
            <a:off x="8715375" y="4249341"/>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6" name="直角三角形 125"/>
          <p:cNvSpPr/>
          <p:nvPr/>
        </p:nvSpPr>
        <p:spPr>
          <a:xfrm rot="9930749">
            <a:off x="8058150" y="4216004"/>
            <a:ext cx="160735" cy="159544"/>
          </a:xfrm>
          <a:prstGeom prst="r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7" name="直角三角形 126"/>
          <p:cNvSpPr/>
          <p:nvPr/>
        </p:nvSpPr>
        <p:spPr>
          <a:xfrm rot="11669251" flipH="1">
            <a:off x="7781925" y="4777979"/>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8" name="直角三角形 127"/>
          <p:cNvSpPr/>
          <p:nvPr/>
        </p:nvSpPr>
        <p:spPr>
          <a:xfrm rot="9930749">
            <a:off x="8785622" y="3448050"/>
            <a:ext cx="160734" cy="160735"/>
          </a:xfrm>
          <a:prstGeom prst="r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9" name="直角三角形 128"/>
          <p:cNvSpPr/>
          <p:nvPr/>
        </p:nvSpPr>
        <p:spPr>
          <a:xfrm rot="11669251" flipH="1">
            <a:off x="8337947" y="3655219"/>
            <a:ext cx="160734" cy="160735"/>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45" name="任意多边形 144"/>
          <p:cNvSpPr/>
          <p:nvPr/>
        </p:nvSpPr>
        <p:spPr>
          <a:xfrm rot="10011152">
            <a:off x="2958703" y="917973"/>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3" name="任意多边形 152"/>
          <p:cNvSpPr/>
          <p:nvPr/>
        </p:nvSpPr>
        <p:spPr>
          <a:xfrm rot="17730414">
            <a:off x="5966738" y="660491"/>
            <a:ext cx="848059" cy="70666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4" name="任意多边形 153"/>
          <p:cNvSpPr/>
          <p:nvPr/>
        </p:nvSpPr>
        <p:spPr>
          <a:xfrm rot="10011152">
            <a:off x="6686551" y="644129"/>
            <a:ext cx="183356"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6" name="任意多边形 155"/>
          <p:cNvSpPr/>
          <p:nvPr/>
        </p:nvSpPr>
        <p:spPr>
          <a:xfrm rot="10011152">
            <a:off x="7405688" y="760810"/>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7" name="任意多边形 156"/>
          <p:cNvSpPr/>
          <p:nvPr/>
        </p:nvSpPr>
        <p:spPr>
          <a:xfrm rot="10011152">
            <a:off x="4637485" y="632223"/>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8" name="任意多边形 157"/>
          <p:cNvSpPr/>
          <p:nvPr/>
        </p:nvSpPr>
        <p:spPr>
          <a:xfrm rot="10011152">
            <a:off x="3036043" y="825417"/>
            <a:ext cx="707769" cy="952955"/>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FBC75D"/>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1" name="任意多边形 160"/>
          <p:cNvSpPr/>
          <p:nvPr/>
        </p:nvSpPr>
        <p:spPr>
          <a:xfrm rot="17840340">
            <a:off x="2689682" y="3005288"/>
            <a:ext cx="808761" cy="673914"/>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3" name="任意多边形 162"/>
          <p:cNvSpPr/>
          <p:nvPr/>
        </p:nvSpPr>
        <p:spPr>
          <a:xfrm rot="10011152">
            <a:off x="3321844" y="4398169"/>
            <a:ext cx="183356" cy="153591"/>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4" name="组合 164"/>
          <p:cNvGrpSpPr/>
          <p:nvPr/>
        </p:nvGrpSpPr>
        <p:grpSpPr bwMode="auto">
          <a:xfrm rot="11957288">
            <a:off x="1591867" y="1173957"/>
            <a:ext cx="431006" cy="498872"/>
            <a:chOff x="10670736" y="3241053"/>
            <a:chExt cx="917923" cy="1060882"/>
          </a:xfrm>
        </p:grpSpPr>
        <p:sp>
          <p:nvSpPr>
            <p:cNvPr id="166" name="等腰三角形 16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7" name="等腰三角形 16"/>
            <p:cNvSpPr/>
            <p:nvPr/>
          </p:nvSpPr>
          <p:spPr>
            <a:xfrm rot="20901646">
              <a:off x="10891792" y="3387535"/>
              <a:ext cx="696867"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pic>
        <p:nvPicPr>
          <p:cNvPr id="6" name="Mika - Relax(Take It Easy)">
            <a:hlinkClick r:id="" action="ppaction://media"/>
          </p:cNvPr>
          <p:cNvPicPr>
            <a:picLocks noChangeAspect="1"/>
          </p:cNvPicPr>
          <p:nvPr>
            <a:videoFile r:link="rId1"/>
          </p:nvPr>
        </p:nvPicPr>
        <p:blipFill>
          <a:blip r:embed="rId4">
            <a:extLst>
              <a:ext uri="{28A0092B-C50C-407E-A947-70E740481C1C}">
                <a14:useLocalDpi xmlns:a14="http://schemas.microsoft.com/office/drawing/2010/main" val="0"/>
              </a:ext>
            </a:extLst>
          </a:blip>
          <a:srcRect/>
          <a:stretch>
            <a:fillRect/>
          </a:stretch>
        </p:blipFill>
        <p:spPr bwMode="auto">
          <a:xfrm>
            <a:off x="9239250" y="4885135"/>
            <a:ext cx="305991" cy="30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a:spLocks noChangeArrowheads="1"/>
          </p:cNvSpPr>
          <p:nvPr/>
        </p:nvSpPr>
        <p:spPr bwMode="auto">
          <a:xfrm>
            <a:off x="1929121" y="1961099"/>
            <a:ext cx="54774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dist" defTabSz="685800" fontAlgn="base">
              <a:spcBef>
                <a:spcPct val="0"/>
              </a:spcBef>
              <a:spcAft>
                <a:spcPct val="0"/>
              </a:spcAft>
            </a:pPr>
            <a:r>
              <a:rPr lang="en-US" altLang="zh-CN" sz="2800" dirty="0">
                <a:solidFill>
                  <a:prstClr val="black"/>
                </a:solidFill>
                <a:latin typeface="Times New Roman" panose="02020603050405020304" pitchFamily="18" charset="0"/>
                <a:ea typeface="幼圆" panose="02010509060101010101" pitchFamily="49" charset="-122"/>
                <a:cs typeface="Times New Roman" panose="02020603050405020304" pitchFamily="18" charset="0"/>
              </a:rPr>
              <a:t>THANK YOU FOR LISTENING</a:t>
            </a:r>
            <a:endParaRPr lang="zh-CN" altLang="en-US" sz="2800" dirty="0">
              <a:solidFill>
                <a:prstClr val="black"/>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62" name="等腰三角形 161"/>
          <p:cNvSpPr/>
          <p:nvPr/>
        </p:nvSpPr>
        <p:spPr>
          <a:xfrm rot="1650064">
            <a:off x="7255663" y="2696716"/>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Tree>
  </p:cSld>
  <p:clrMapOvr>
    <a:masterClrMapping/>
  </p:clrMapOvr>
  <p:transition/>
  <p:timing>
    <p:tnLst>
      <p:par>
        <p:cTn id="1" dur="indefinite" restart="never" nodeType="tmRoot">
          <p:childTnLst>
            <p:video>
              <p:cMediaNode vol="80000" numSld="999" showWhenStopped="0">
                <p:cTn id="2" repeatCount="indefinite" fill="remove" display="0">
                  <p:stCondLst>
                    <p:cond delay="indefinite"/>
                  </p:stCondLst>
                  <p:endCondLst>
                    <p:cond evt="onStopAudio" delay="0">
                      <p:tgtEl>
                        <p:sldTgt/>
                      </p:tgtEl>
                    </p:cond>
                  </p:endCondLst>
                </p:cTn>
                <p:tgtEl>
                  <p:spTgt spid="6"/>
                </p:tgtEl>
              </p:cMediaNode>
            </p:video>
          </p:childTnLst>
        </p:cTn>
      </p:par>
    </p:tnLst>
  </p:timing>
</p:sld>
</file>

<file path=ppt/theme/theme1.xml><?xml version="1.0" encoding="utf-8"?>
<a:theme xmlns:a="http://schemas.openxmlformats.org/drawingml/2006/main" name="PPTe吧 | PPT爱好者之家">
  <a:themeElements>
    <a:clrScheme name="自定义 66">
      <a:dk1>
        <a:sysClr val="windowText" lastClr="000000"/>
      </a:dk1>
      <a:lt1>
        <a:sysClr val="window" lastClr="FFFFFF"/>
      </a:lt1>
      <a:dk2>
        <a:srgbClr val="39302A"/>
      </a:dk2>
      <a:lt2>
        <a:srgbClr val="E5DEDB"/>
      </a:lt2>
      <a:accent1>
        <a:srgbClr val="C8886E"/>
      </a:accent1>
      <a:accent2>
        <a:srgbClr val="A59183"/>
      </a:accent2>
      <a:accent3>
        <a:srgbClr val="AC8282"/>
      </a:accent3>
      <a:accent4>
        <a:srgbClr val="E79747"/>
      </a:accent4>
      <a:accent5>
        <a:srgbClr val="7F723D"/>
      </a:accent5>
      <a:accent6>
        <a:srgbClr val="CA4A62"/>
      </a:accent6>
      <a:hlink>
        <a:srgbClr val="868B57"/>
      </a:hlink>
      <a:folHlink>
        <a:srgbClr val="657A56"/>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1930</TotalTime>
  <Words>1376</Words>
  <Application>Microsoft Office PowerPoint</Application>
  <PresentationFormat>全屏显示(16:9)</PresentationFormat>
  <Paragraphs>104</Paragraphs>
  <Slides>17</Slides>
  <Notes>17</Notes>
  <HiddenSlides>0</HiddenSlides>
  <MMClips>1</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等线</vt:lpstr>
      <vt:lpstr>仿宋</vt:lpstr>
      <vt:lpstr>Microsoft YaHei</vt:lpstr>
      <vt:lpstr>Arial</vt:lpstr>
      <vt:lpstr>Calibri</vt:lpstr>
      <vt:lpstr>Cambria Math</vt:lpstr>
      <vt:lpstr>Times New Roman</vt:lpstr>
      <vt:lpstr>PPTe吧 | PPT爱好者之家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rush pencil</dc:creator>
  <cp:lastModifiedBy>pencil</cp:lastModifiedBy>
  <cp:revision>82</cp:revision>
  <dcterms:created xsi:type="dcterms:W3CDTF">2017-09-03T13:26:26Z</dcterms:created>
  <dcterms:modified xsi:type="dcterms:W3CDTF">2026-01-04T12:23:57Z</dcterms:modified>
</cp:coreProperties>
</file>