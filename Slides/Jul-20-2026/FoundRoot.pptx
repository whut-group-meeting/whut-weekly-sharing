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84" r:id="rId4"/>
    <p:sldId id="259" r:id="rId5"/>
    <p:sldId id="262" r:id="rId6"/>
    <p:sldId id="263" r:id="rId7"/>
    <p:sldId id="271" r:id="rId8"/>
    <p:sldId id="265" r:id="rId9"/>
    <p:sldId id="267" r:id="rId10"/>
    <p:sldId id="268" r:id="rId11"/>
    <p:sldId id="285" r:id="rId12"/>
    <p:sldId id="286" r:id="rId13"/>
    <p:sldId id="269" r:id="rId14"/>
    <p:sldId id="287" r:id="rId15"/>
    <p:sldId id="288" r:id="rId16"/>
    <p:sldId id="289" r:id="rId17"/>
    <p:sldId id="278" r:id="rId18"/>
    <p:sldId id="277" r:id="rId19"/>
    <p:sldId id="279" r:id="rId20"/>
    <p:sldId id="281" r:id="rId21"/>
    <p:sldId id="290" r:id="rId22"/>
    <p:sldId id="282"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010" autoAdjust="0"/>
  </p:normalViewPr>
  <p:slideViewPr>
    <p:cSldViewPr snapToGrid="0">
      <p:cViewPr varScale="1">
        <p:scale>
          <a:sx n="91" d="100"/>
          <a:sy n="91" d="100"/>
        </p:scale>
        <p:origin x="11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549F5-1CC0-4F34-88F6-5945530E48D1}" type="datetimeFigureOut">
              <a:rPr lang="zh-CN" altLang="en-US" smtClean="0"/>
              <a:t>2026/7/20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BA46B-E1B2-4520-80B7-3F1B8A68F93F}" type="slidenum">
              <a:rPr lang="zh-CN" altLang="en-US" smtClean="0"/>
              <a:t>‹#›</a:t>
            </a:fld>
            <a:endParaRPr lang="zh-CN" altLang="en-US"/>
          </a:p>
        </p:txBody>
      </p:sp>
    </p:spTree>
    <p:extLst>
      <p:ext uri="{BB962C8B-B14F-4D97-AF65-F5344CB8AC3E}">
        <p14:creationId xmlns:p14="http://schemas.microsoft.com/office/powerpoint/2010/main" val="148793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000000"/>
                </a:solidFill>
                <a:effectLst/>
                <a:latin typeface="Montserrat" panose="020F0502020204030204" pitchFamily="2" charset="0"/>
              </a:rPr>
              <a:t>基于结构化深度思考的根因分析基础模型。</a:t>
            </a:r>
            <a:r>
              <a:rPr lang="en-US" altLang="zh-CN" b="1" i="0" dirty="0">
                <a:solidFill>
                  <a:srgbClr val="000000"/>
                </a:solidFill>
                <a:effectLst/>
                <a:latin typeface="Montserrat" panose="020F0502020204030204" pitchFamily="2" charset="0"/>
              </a:rPr>
              <a:t>ICSE2026,</a:t>
            </a:r>
            <a:r>
              <a:rPr lang="zh-CN" altLang="en-US" b="1" i="0" dirty="0">
                <a:solidFill>
                  <a:srgbClr val="000000"/>
                </a:solidFill>
                <a:effectLst/>
                <a:latin typeface="Montserrat" panose="020F0502020204030204" pitchFamily="2" charset="0"/>
              </a:rPr>
              <a:t>清华大学</a:t>
            </a:r>
            <a:endParaRPr lang="zh-CN" altLang="en-US"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1</a:t>
            </a:fld>
            <a:endParaRPr lang="zh-CN" altLang="en-US"/>
          </a:p>
        </p:txBody>
      </p:sp>
    </p:spTree>
    <p:extLst>
      <p:ext uri="{BB962C8B-B14F-4D97-AF65-F5344CB8AC3E}">
        <p14:creationId xmlns:p14="http://schemas.microsoft.com/office/powerpoint/2010/main" val="3822329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分为以下五个方面，背景、挑战、方法、实验、结论</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2</a:t>
            </a:fld>
            <a:endParaRPr lang="zh-CN" altLang="en-US"/>
          </a:p>
        </p:txBody>
      </p:sp>
    </p:spTree>
    <p:extLst>
      <p:ext uri="{BB962C8B-B14F-4D97-AF65-F5344CB8AC3E}">
        <p14:creationId xmlns:p14="http://schemas.microsoft.com/office/powerpoint/2010/main" val="931895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背景。现代云原生系统由数百个相互依赖的服务组成，使故障根因分析（</a:t>
            </a:r>
            <a:r>
              <a:rPr lang="en-US" altLang="zh-CN" dirty="0"/>
              <a:t>RCA</a:t>
            </a:r>
            <a:r>
              <a:rPr lang="zh-CN" altLang="en-US" dirty="0"/>
              <a:t>）变得越来越复杂。</a:t>
            </a:r>
            <a:endParaRPr lang="en-US" altLang="zh-CN" dirty="0"/>
          </a:p>
          <a:p>
            <a:r>
              <a:rPr lang="zh-CN" altLang="en-US" dirty="0"/>
              <a:t>近年来，以 </a:t>
            </a:r>
            <a:r>
              <a:rPr lang="en-US" altLang="zh-CN" b="1" dirty="0"/>
              <a:t>DeepSeek-R1</a:t>
            </a:r>
            <a:r>
              <a:rPr lang="zh-CN" altLang="en-US" b="1" dirty="0"/>
              <a:t>、</a:t>
            </a:r>
            <a:r>
              <a:rPr lang="en-US" altLang="zh-CN" b="1" dirty="0"/>
              <a:t>OpenAI o4-mini</a:t>
            </a:r>
            <a:r>
              <a:rPr lang="en-US" altLang="zh-CN" dirty="0"/>
              <a:t> </a:t>
            </a:r>
            <a:r>
              <a:rPr lang="zh-CN" altLang="en-US" dirty="0"/>
              <a:t>为代表的推理型大语言模型在数学、代码等任务上展现出了强大的**深度思考（</a:t>
            </a:r>
            <a:r>
              <a:rPr lang="en-US" altLang="zh-CN" dirty="0"/>
              <a:t>Deep Thinking</a:t>
            </a:r>
            <a:r>
              <a:rPr lang="zh-CN" altLang="en-US" dirty="0"/>
              <a:t>）**能力。</a:t>
            </a:r>
            <a:endParaRPr lang="en-US" altLang="zh-CN" dirty="0"/>
          </a:p>
          <a:p>
            <a:r>
              <a:rPr lang="zh-CN" altLang="en-US" dirty="0"/>
              <a:t>这种能力为故障根因分析（</a:t>
            </a:r>
            <a:r>
              <a:rPr lang="en-US" altLang="zh-CN" dirty="0"/>
              <a:t>RCA</a:t>
            </a:r>
            <a:r>
              <a:rPr lang="zh-CN" altLang="en-US" dirty="0"/>
              <a:t>）带来了新的可能，因为 </a:t>
            </a:r>
            <a:r>
              <a:rPr lang="en-US" altLang="zh-CN" dirty="0"/>
              <a:t>RCA </a:t>
            </a:r>
            <a:r>
              <a:rPr lang="zh-CN" altLang="en-US" dirty="0"/>
              <a:t>本质上也是一个复杂的多步推理任务。</a:t>
            </a:r>
            <a:endParaRPr lang="en-US" altLang="zh-CN"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3</a:t>
            </a:fld>
            <a:endParaRPr lang="zh-CN" altLang="en-US"/>
          </a:p>
        </p:txBody>
      </p:sp>
    </p:spTree>
    <p:extLst>
      <p:ext uri="{BB962C8B-B14F-4D97-AF65-F5344CB8AC3E}">
        <p14:creationId xmlns:p14="http://schemas.microsoft.com/office/powerpoint/2010/main" val="960315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然而，</a:t>
            </a:r>
            <a:r>
              <a:rPr lang="en-US" altLang="zh-CN" dirty="0"/>
              <a:t>RCA </a:t>
            </a:r>
            <a:r>
              <a:rPr lang="zh-CN" altLang="en-US" dirty="0"/>
              <a:t>与数学推理存在本质区别，它需要同时完成异常指标识别、故障传播分析以及多轮因果反思。 现有 </a:t>
            </a:r>
            <a:r>
              <a:rPr lang="en-US" altLang="zh-CN" dirty="0"/>
              <a:t>LLM </a:t>
            </a:r>
            <a:r>
              <a:rPr lang="zh-CN" altLang="en-US" dirty="0"/>
              <a:t>并未针对 </a:t>
            </a:r>
            <a:r>
              <a:rPr lang="en-US" altLang="zh-CN" dirty="0"/>
              <a:t>RCA </a:t>
            </a:r>
            <a:r>
              <a:rPr lang="zh-CN" altLang="en-US" dirty="0"/>
              <a:t>场景进行训练，因此难以将其深度思考能力直接迁移到运维故障诊断任务中。 因此，需要构建一种能够学习 </a:t>
            </a:r>
            <a:r>
              <a:rPr lang="en-US" altLang="zh-CN" b="1" dirty="0"/>
              <a:t>Structured Deep Thinking</a:t>
            </a:r>
            <a:r>
              <a:rPr lang="zh-CN" altLang="en-US" b="1" dirty="0"/>
              <a:t>（结构化深度思考）</a:t>
            </a:r>
            <a:r>
              <a:rPr lang="zh-CN" altLang="en-US" dirty="0"/>
              <a:t> 的 </a:t>
            </a:r>
            <a:r>
              <a:rPr lang="en-US" altLang="zh-CN" dirty="0"/>
              <a:t>RCA </a:t>
            </a:r>
            <a:r>
              <a:rPr lang="zh-CN" altLang="en-US" dirty="0"/>
              <a:t>基础模型。</a:t>
            </a:r>
            <a:endParaRPr lang="en-US" altLang="zh-CN"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4</a:t>
            </a:fld>
            <a:endParaRPr lang="zh-CN" altLang="en-US"/>
          </a:p>
        </p:txBody>
      </p:sp>
    </p:spTree>
    <p:extLst>
      <p:ext uri="{BB962C8B-B14F-4D97-AF65-F5344CB8AC3E}">
        <p14:creationId xmlns:p14="http://schemas.microsoft.com/office/powerpoint/2010/main" val="4018887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r>
              <a:rPr lang="zh-CN" altLang="en-US" b="1" dirty="0"/>
              <a:t>挑战。第一个挑战 通用 </a:t>
            </a:r>
            <a:r>
              <a:rPr lang="en-US" altLang="zh-CN" b="1" dirty="0"/>
              <a:t>Deep Thinking </a:t>
            </a:r>
            <a:r>
              <a:rPr lang="zh-CN" altLang="en-US" b="1" dirty="0"/>
              <a:t>无法直接适用于 </a:t>
            </a:r>
            <a:r>
              <a:rPr lang="en-US" altLang="zh-CN" b="1" dirty="0"/>
              <a:t>RCA,</a:t>
            </a:r>
            <a:r>
              <a:rPr lang="zh-CN" altLang="en-US" dirty="0"/>
              <a:t>现有推理模型主要针对数学和代码任务优化，而不是面向运维故障诊断。 在 </a:t>
            </a:r>
            <a:r>
              <a:rPr lang="en-US" altLang="zh-CN" dirty="0"/>
              <a:t>RCA </a:t>
            </a:r>
            <a:r>
              <a:rPr lang="zh-CN" altLang="en-US" dirty="0"/>
              <a:t>中，它们容易遗漏关键异常指标，并产生不完整的故障传播分析</a:t>
            </a:r>
            <a:r>
              <a:rPr lang="en-US" altLang="zh-CN" dirty="0"/>
              <a:t>,</a:t>
            </a:r>
            <a:r>
              <a:rPr lang="zh-CN" altLang="en-US" b="1" dirty="0"/>
              <a:t>需要专门的结构化深度思考能力。</a:t>
            </a:r>
            <a:endParaRPr lang="en-US" altLang="zh-CN" b="1" dirty="0"/>
          </a:p>
          <a:p>
            <a:pPr>
              <a:buFont typeface="Arial" panose="020B0604020202020204" pitchFamily="34" charset="0"/>
              <a:buNone/>
            </a:pPr>
            <a:r>
              <a:rPr lang="zh-CN" altLang="en-US" b="1" dirty="0"/>
              <a:t>第二个挑战是 仅依靠工作流无法从根本上消除幻觉</a:t>
            </a:r>
            <a:r>
              <a:rPr lang="en-US" altLang="zh-CN" b="1" dirty="0"/>
              <a:t>,</a:t>
            </a:r>
            <a:r>
              <a:rPr lang="zh-CN" altLang="en-US" dirty="0"/>
              <a:t>基于提示词的工作流方法能够将 </a:t>
            </a:r>
            <a:r>
              <a:rPr lang="en-US" altLang="zh-CN" dirty="0"/>
              <a:t>RCA </a:t>
            </a:r>
            <a:r>
              <a:rPr lang="zh-CN" altLang="en-US" dirty="0"/>
              <a:t>分解为多个推理步骤。 但其本质仍依赖底层 </a:t>
            </a:r>
            <a:r>
              <a:rPr lang="en-US" altLang="zh-CN" dirty="0"/>
              <a:t>LLM </a:t>
            </a:r>
            <a:r>
              <a:rPr lang="zh-CN" altLang="en-US" dirty="0"/>
              <a:t>自身的推理能力，</a:t>
            </a:r>
            <a:r>
              <a:rPr lang="zh-CN" altLang="en-US" b="1" dirty="0"/>
              <a:t>无法真正提升因果推理能力。</a:t>
            </a:r>
            <a:endParaRPr lang="zh-CN" altLang="en-US"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5</a:t>
            </a:fld>
            <a:endParaRPr lang="zh-CN" altLang="en-US"/>
          </a:p>
        </p:txBody>
      </p:sp>
    </p:spTree>
    <p:extLst>
      <p:ext uri="{BB962C8B-B14F-4D97-AF65-F5344CB8AC3E}">
        <p14:creationId xmlns:p14="http://schemas.microsoft.com/office/powerpoint/2010/main" val="1291790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第三个挑战是 跨系统泛化能力不足。不同系统具有不同的架构、组件以及监控指标， 如何实现跨系统的 零样本</a:t>
            </a:r>
            <a:r>
              <a:rPr lang="en-US" altLang="zh-CN" dirty="0"/>
              <a:t> RCA </a:t>
            </a:r>
            <a:r>
              <a:rPr lang="zh-CN" altLang="en-US" dirty="0"/>
              <a:t>仍然具有挑战性。</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6</a:t>
            </a:fld>
            <a:endParaRPr lang="zh-CN" altLang="en-US"/>
          </a:p>
        </p:txBody>
      </p:sp>
    </p:spTree>
    <p:extLst>
      <p:ext uri="{BB962C8B-B14F-4D97-AF65-F5344CB8AC3E}">
        <p14:creationId xmlns:p14="http://schemas.microsoft.com/office/powerpoint/2010/main" val="916041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接下来是问题定义。在本文中，我们将零样本 </a:t>
            </a:r>
            <a:r>
              <a:rPr lang="en-US" altLang="zh-CN" b="0" i="0" dirty="0">
                <a:effectLst/>
                <a:latin typeface="Inter"/>
              </a:rPr>
              <a:t>RCA </a:t>
            </a:r>
            <a:r>
              <a:rPr lang="zh-CN" altLang="en-US" b="0" i="0" dirty="0">
                <a:effectLst/>
                <a:latin typeface="Inter"/>
              </a:rPr>
              <a:t>基础模型的任务制定如下。在数据集 </a:t>
            </a:r>
            <a:r>
              <a:rPr lang="en-US" altLang="zh-CN" b="0" i="0" dirty="0">
                <a:effectLst/>
                <a:latin typeface="Inter"/>
              </a:rPr>
              <a:t>D </a:t>
            </a:r>
            <a:r>
              <a:rPr lang="zh-CN" altLang="en-US" b="0" i="0" dirty="0">
                <a:effectLst/>
                <a:latin typeface="Inter"/>
              </a:rPr>
              <a:t>的集合中，每个数据集 </a:t>
            </a:r>
            <a:r>
              <a:rPr lang="en-US" altLang="zh-CN" b="0" i="0" dirty="0">
                <a:effectLst/>
                <a:latin typeface="Inter"/>
              </a:rPr>
              <a:t>Dm ∈ D </a:t>
            </a:r>
            <a:r>
              <a:rPr lang="zh-CN" altLang="en-US" b="0" i="0" dirty="0">
                <a:effectLst/>
                <a:latin typeface="Inter"/>
              </a:rPr>
              <a:t>包含多个失败案例。每个故障案例由以下部分组成：</a:t>
            </a:r>
            <a:endParaRPr lang="en-US" altLang="zh-CN" b="0" i="0" dirty="0">
              <a:effectLst/>
              <a:latin typeface="Inter"/>
            </a:endParaRPr>
          </a:p>
          <a:p>
            <a:r>
              <a:rPr lang="zh-CN" altLang="en-US" dirty="0"/>
              <a:t>一组多元时间序列窗口 </a:t>
            </a:r>
            <a:r>
              <a:rPr lang="en-US" altLang="zh-CN" dirty="0"/>
              <a:t>X = {(xi, mi, ci )}N </a:t>
            </a:r>
            <a:r>
              <a:rPr lang="en-US" altLang="zh-CN" dirty="0" err="1"/>
              <a:t>i</a:t>
            </a:r>
            <a:r>
              <a:rPr lang="en-US" altLang="zh-CN" dirty="0"/>
              <a:t>=1</a:t>
            </a:r>
            <a:r>
              <a:rPr lang="zh-CN" altLang="en-US" dirty="0"/>
              <a:t>，其中 </a:t>
            </a:r>
            <a:r>
              <a:rPr lang="en-US" altLang="zh-CN" dirty="0"/>
              <a:t>xi ∈ RT </a:t>
            </a:r>
            <a:r>
              <a:rPr lang="zh-CN" altLang="en-US" dirty="0"/>
              <a:t>是第 </a:t>
            </a:r>
            <a:r>
              <a:rPr lang="en-US" altLang="zh-CN" dirty="0" err="1"/>
              <a:t>i</a:t>
            </a:r>
            <a:r>
              <a:rPr lang="en-US" altLang="zh-CN" dirty="0"/>
              <a:t> </a:t>
            </a:r>
            <a:r>
              <a:rPr lang="zh-CN" altLang="en-US" dirty="0"/>
              <a:t>个指标的时间序列，</a:t>
            </a:r>
            <a:r>
              <a:rPr lang="en-US" altLang="zh-CN" dirty="0"/>
              <a:t>mi </a:t>
            </a:r>
            <a:r>
              <a:rPr lang="zh-CN" altLang="en-US" dirty="0"/>
              <a:t>是其名称，</a:t>
            </a:r>
            <a:r>
              <a:rPr lang="en-US" altLang="zh-CN" dirty="0"/>
              <a:t>ci ∈ C </a:t>
            </a:r>
            <a:r>
              <a:rPr lang="zh-CN" altLang="en-US" dirty="0"/>
              <a:t>是联通分量</a:t>
            </a:r>
            <a:endParaRPr lang="en-US" altLang="zh-CN" dirty="0"/>
          </a:p>
          <a:p>
            <a:r>
              <a:rPr lang="zh-CN" altLang="en-US" dirty="0"/>
              <a:t>组件依赖图 </a:t>
            </a:r>
            <a:r>
              <a:rPr lang="en-US" altLang="zh-CN" dirty="0"/>
              <a:t>G = (C, E)</a:t>
            </a:r>
            <a:r>
              <a:rPr lang="zh-CN" altLang="en-US" dirty="0"/>
              <a:t>，其中 </a:t>
            </a:r>
            <a:r>
              <a:rPr lang="en-US" altLang="zh-CN" dirty="0"/>
              <a:t>C </a:t>
            </a:r>
            <a:r>
              <a:rPr lang="zh-CN" altLang="en-US" dirty="0"/>
              <a:t>表示组件集，</a:t>
            </a:r>
            <a:r>
              <a:rPr lang="en-US" altLang="zh-CN" dirty="0"/>
              <a:t>E </a:t>
            </a:r>
            <a:r>
              <a:rPr lang="zh-CN" altLang="en-US" dirty="0"/>
              <a:t>表示边集。</a:t>
            </a:r>
            <a:endParaRPr lang="en-US" altLang="zh-CN" dirty="0"/>
          </a:p>
          <a:p>
            <a:r>
              <a:rPr lang="zh-CN" altLang="en-US" dirty="0"/>
              <a:t>故障根本原因组件 </a:t>
            </a:r>
            <a:r>
              <a:rPr lang="en-US" altLang="zh-CN" dirty="0" err="1"/>
              <a:t>crc</a:t>
            </a:r>
            <a:r>
              <a:rPr lang="en-US" altLang="zh-CN" dirty="0"/>
              <a:t> </a:t>
            </a:r>
            <a:r>
              <a:rPr lang="zh-CN" altLang="en-US" dirty="0"/>
              <a:t>。</a:t>
            </a:r>
            <a:endParaRPr lang="en-US" altLang="zh-CN" dirty="0"/>
          </a:p>
          <a:p>
            <a:r>
              <a:rPr lang="zh-CN" altLang="en-US" dirty="0"/>
              <a:t>目标是预测组件的排名列表 </a:t>
            </a:r>
            <a:r>
              <a:rPr lang="en-US" altLang="zh-CN" dirty="0"/>
              <a:t>Y</a:t>
            </a:r>
            <a:r>
              <a:rPr lang="zh-CN" altLang="en-US" dirty="0"/>
              <a:t>：模型 </a:t>
            </a:r>
            <a:r>
              <a:rPr lang="en-US" altLang="zh-CN" dirty="0" err="1"/>
              <a:t>fθ</a:t>
            </a:r>
            <a:r>
              <a:rPr lang="en-US" altLang="zh-CN" dirty="0"/>
              <a:t> </a:t>
            </a:r>
            <a:r>
              <a:rPr lang="zh-CN" altLang="en-US" dirty="0"/>
              <a:t>在数据集 </a:t>
            </a:r>
            <a:r>
              <a:rPr lang="en-US" altLang="zh-CN" dirty="0" err="1"/>
              <a:t>Dtrain</a:t>
            </a:r>
            <a:r>
              <a:rPr lang="en-US" altLang="zh-CN" dirty="0"/>
              <a:t> </a:t>
            </a:r>
            <a:r>
              <a:rPr lang="zh-CN" altLang="en-US" dirty="0"/>
              <a:t>上进行训练，并在具有不同系统结构和指标空间的不相交数据集 </a:t>
            </a:r>
            <a:r>
              <a:rPr lang="en-US" altLang="zh-CN" dirty="0" err="1"/>
              <a:t>Dtest</a:t>
            </a:r>
            <a:r>
              <a:rPr lang="en-US" altLang="zh-CN" dirty="0"/>
              <a:t> </a:t>
            </a:r>
            <a:r>
              <a:rPr lang="zh-CN" altLang="en-US" dirty="0"/>
              <a:t>上进行评估（即 </a:t>
            </a:r>
            <a:r>
              <a:rPr lang="en-US" altLang="zh-CN" dirty="0" err="1"/>
              <a:t>Dtrain</a:t>
            </a:r>
            <a:r>
              <a:rPr lang="en-US" altLang="zh-CN" dirty="0"/>
              <a:t>∩ </a:t>
            </a:r>
            <a:r>
              <a:rPr lang="en-US" altLang="zh-CN" dirty="0" err="1"/>
              <a:t>Dtest</a:t>
            </a:r>
            <a:r>
              <a:rPr lang="en-US" altLang="zh-CN" dirty="0"/>
              <a:t> = ∅</a:t>
            </a:r>
            <a:r>
              <a:rPr lang="zh-CN" altLang="en-US" dirty="0"/>
              <a:t>）。此设置要求模型无需重新训练即可跨异构系统进行泛化</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7</a:t>
            </a:fld>
            <a:endParaRPr lang="zh-CN" altLang="en-US"/>
          </a:p>
        </p:txBody>
      </p:sp>
    </p:spTree>
    <p:extLst>
      <p:ext uri="{BB962C8B-B14F-4D97-AF65-F5344CB8AC3E}">
        <p14:creationId xmlns:p14="http://schemas.microsoft.com/office/powerpoint/2010/main" val="3501331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虽然通用深度思维能力可以提高 </a:t>
            </a:r>
            <a:r>
              <a:rPr lang="en-US" altLang="zh-CN" dirty="0"/>
              <a:t>RCA </a:t>
            </a:r>
            <a:r>
              <a:rPr lang="zh-CN" altLang="en-US" dirty="0"/>
              <a:t>任务上的 </a:t>
            </a:r>
            <a:r>
              <a:rPr lang="en-US" altLang="zh-CN" dirty="0"/>
              <a:t>LLM </a:t>
            </a:r>
            <a:r>
              <a:rPr lang="zh-CN" altLang="en-US" dirty="0"/>
              <a:t>表现，但它们仍然经常产生不完整和过于表面的推理。为了解决这些问题，受检测、分析、因果归因和排名的标准 </a:t>
            </a:r>
            <a:r>
              <a:rPr lang="en-US" altLang="zh-CN" dirty="0"/>
              <a:t>RCA </a:t>
            </a:r>
            <a:r>
              <a:rPr lang="zh-CN" altLang="en-US" dirty="0"/>
              <a:t>工作流程的启发，我们引入了结构化的深度思考。结构化的深度思考引导 模型</a:t>
            </a:r>
            <a:r>
              <a:rPr lang="en-US" altLang="zh-CN" dirty="0"/>
              <a:t> </a:t>
            </a:r>
            <a:r>
              <a:rPr lang="zh-CN" altLang="en-US" dirty="0"/>
              <a:t>按照人类操作员的 </a:t>
            </a:r>
            <a:r>
              <a:rPr lang="en-US" altLang="zh-CN" dirty="0"/>
              <a:t>RCA </a:t>
            </a:r>
            <a:r>
              <a:rPr lang="zh-CN" altLang="en-US" dirty="0"/>
              <a:t>实践完成四个子步骤：</a:t>
            </a:r>
            <a:endParaRPr lang="en-US" altLang="zh-CN" dirty="0"/>
          </a:p>
          <a:p>
            <a:r>
              <a:rPr lang="en-US" altLang="zh-CN" dirty="0"/>
              <a:t>1</a:t>
            </a:r>
            <a:r>
              <a:rPr lang="zh-CN" altLang="en-US" dirty="0"/>
              <a:t>、指标扫描：迭代所有组件及其相关指标，以识别任何潜在的异常或值得注意的模式。</a:t>
            </a:r>
            <a:endParaRPr lang="en-US" altLang="zh-CN" dirty="0"/>
          </a:p>
          <a:p>
            <a:r>
              <a:rPr lang="en-US" altLang="zh-CN" dirty="0"/>
              <a:t>2</a:t>
            </a:r>
            <a:r>
              <a:rPr lang="zh-CN" altLang="en-US" dirty="0"/>
              <a:t>、传播分析：根据上一步的异常指标分析潜在的故障传播路径。这是 </a:t>
            </a:r>
            <a:r>
              <a:rPr lang="en-US" altLang="zh-CN" dirty="0"/>
              <a:t>RCA </a:t>
            </a:r>
            <a:r>
              <a:rPr lang="zh-CN" altLang="en-US" dirty="0"/>
              <a:t>流程的核心子步骤。</a:t>
            </a:r>
            <a:endParaRPr lang="en-US" altLang="zh-CN" dirty="0"/>
          </a:p>
          <a:p>
            <a:r>
              <a:rPr lang="en-US" altLang="zh-CN" dirty="0"/>
              <a:t>3</a:t>
            </a:r>
            <a:r>
              <a:rPr lang="zh-CN" altLang="en-US" dirty="0"/>
              <a:t>、反思：反思步骤，防止</a:t>
            </a:r>
            <a:r>
              <a:rPr lang="en-US" altLang="zh-CN" dirty="0"/>
              <a:t>LLM</a:t>
            </a:r>
            <a:r>
              <a:rPr lang="zh-CN" altLang="en-US" dirty="0"/>
              <a:t>在面对大量指标时推理崩溃。</a:t>
            </a:r>
            <a:r>
              <a:rPr lang="en-US" altLang="zh-CN" dirty="0"/>
              <a:t>LLM</a:t>
            </a:r>
            <a:r>
              <a:rPr lang="zh-CN" altLang="en-US" dirty="0"/>
              <a:t>会仔细检查其推理，并尝试找出先前步骤的不一致之处。</a:t>
            </a:r>
            <a:endParaRPr lang="en-US" altLang="zh-CN" dirty="0"/>
          </a:p>
          <a:p>
            <a:r>
              <a:rPr lang="en-US" altLang="zh-CN" dirty="0"/>
              <a:t>4</a:t>
            </a:r>
            <a:r>
              <a:rPr lang="zh-CN" altLang="en-US" dirty="0"/>
              <a:t>、排序：最后，基于前一阶段的综合分析，模型总结其发现，生成潜在根本原因的排序列表。每个排名的组件都附有详细的解释，包括来自指标及其上游组件的证据。  通过将这些结构化子步骤集成到单个连续输出中，</a:t>
            </a:r>
            <a:r>
              <a:rPr lang="en-US" altLang="zh-CN" dirty="0" err="1"/>
              <a:t>FoundRoot</a:t>
            </a:r>
            <a:r>
              <a:rPr lang="en-US" altLang="zh-CN" dirty="0"/>
              <a:t> </a:t>
            </a:r>
            <a:r>
              <a:rPr lang="zh-CN" altLang="en-US" dirty="0"/>
              <a:t>内化了更强大和更通用的推理模式，以减轻 </a:t>
            </a:r>
            <a:r>
              <a:rPr lang="en-US" altLang="zh-CN" dirty="0"/>
              <a:t>RCA </a:t>
            </a:r>
            <a:r>
              <a:rPr lang="zh-CN" altLang="en-US" dirty="0"/>
              <a:t>的不完整性和浅层推理。后面会提供进一步的实现细节。</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8</a:t>
            </a:fld>
            <a:endParaRPr lang="zh-CN" altLang="en-US"/>
          </a:p>
        </p:txBody>
      </p:sp>
    </p:spTree>
    <p:extLst>
      <p:ext uri="{BB962C8B-B14F-4D97-AF65-F5344CB8AC3E}">
        <p14:creationId xmlns:p14="http://schemas.microsoft.com/office/powerpoint/2010/main" val="195458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Inter"/>
              </a:rPr>
              <a:t>我们的数据处理包括几个步骤。首先，我们收集并预处理了大量的数据集。接下来，为了支持模型训练，我们对数据集进行了扩充，构建了一个具有结构化深度思维痕迹的</a:t>
            </a:r>
            <a:r>
              <a:rPr lang="en-US" altLang="zh-CN" b="0" i="0" dirty="0">
                <a:solidFill>
                  <a:srgbClr val="000000"/>
                </a:solidFill>
                <a:effectLst/>
                <a:latin typeface="Inter"/>
              </a:rPr>
              <a:t>SFT</a:t>
            </a:r>
            <a:r>
              <a:rPr lang="zh-CN" altLang="en-US" b="0" i="0" dirty="0">
                <a:solidFill>
                  <a:srgbClr val="000000"/>
                </a:solidFill>
                <a:effectLst/>
                <a:latin typeface="Inter"/>
              </a:rPr>
              <a:t>数据集。</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9</a:t>
            </a:fld>
            <a:endParaRPr lang="zh-CN" altLang="en-US"/>
          </a:p>
        </p:txBody>
      </p:sp>
    </p:spTree>
    <p:extLst>
      <p:ext uri="{BB962C8B-B14F-4D97-AF65-F5344CB8AC3E}">
        <p14:creationId xmlns:p14="http://schemas.microsoft.com/office/powerpoint/2010/main" val="29704691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为了提高不同来源 </a:t>
            </a:r>
            <a:r>
              <a:rPr lang="en-US" altLang="zh-CN" dirty="0"/>
              <a:t>RCA </a:t>
            </a:r>
            <a:r>
              <a:rPr lang="zh-CN" altLang="en-US" dirty="0"/>
              <a:t>数据集的质量和一致性，为基础模型训练提供高质量数据。</a:t>
            </a:r>
          </a:p>
          <a:p>
            <a:r>
              <a:rPr lang="zh-CN" altLang="en-US" b="1" dirty="0"/>
              <a:t>对数据进行预处理，流程如下：</a:t>
            </a:r>
          </a:p>
          <a:p>
            <a:r>
              <a:rPr lang="zh-CN" altLang="en-US" b="1" dirty="0"/>
              <a:t>① 故障样本校验（</a:t>
            </a:r>
            <a:r>
              <a:rPr lang="en-US" altLang="zh-CN" b="1" dirty="0"/>
              <a:t>Fault Case Validation</a:t>
            </a:r>
            <a:r>
              <a:rPr lang="zh-CN" altLang="en-US" b="1" dirty="0"/>
              <a:t>）</a:t>
            </a:r>
            <a:r>
              <a:rPr lang="zh-CN" altLang="en-US" dirty="0"/>
              <a:t>对故障注入数据进行人工 </a:t>
            </a:r>
            <a:r>
              <a:rPr lang="en-US" altLang="zh-CN" dirty="0"/>
              <a:t>+ </a:t>
            </a:r>
            <a:r>
              <a:rPr lang="zh-CN" altLang="en-US" dirty="0"/>
              <a:t>自动检查 ，删除失败的故障注入样本，保证 根因标签正确 </a:t>
            </a:r>
          </a:p>
          <a:p>
            <a:r>
              <a:rPr lang="zh-CN" altLang="en-US" b="1" dirty="0"/>
              <a:t>② 噪声过滤（</a:t>
            </a:r>
            <a:r>
              <a:rPr lang="en-US" altLang="zh-CN" b="1" dirty="0"/>
              <a:t>Noise Filtering</a:t>
            </a:r>
            <a:r>
              <a:rPr lang="zh-CN" altLang="en-US" b="1" dirty="0"/>
              <a:t>）</a:t>
            </a:r>
            <a:r>
              <a:rPr lang="zh-CN" altLang="en-US" dirty="0"/>
              <a:t>使用 </a:t>
            </a:r>
            <a:r>
              <a:rPr lang="en-US" altLang="zh-CN" b="1" dirty="0"/>
              <a:t>k-sigma </a:t>
            </a:r>
            <a:r>
              <a:rPr lang="zh-CN" altLang="en-US" b="1" dirty="0"/>
              <a:t>异常检测</a:t>
            </a:r>
            <a:r>
              <a:rPr lang="zh-CN" altLang="en-US" dirty="0"/>
              <a:t>过滤正常指标 ，去除与故障无关的监控指标 ，减少 </a:t>
            </a:r>
            <a:r>
              <a:rPr lang="en-US" altLang="zh-CN" dirty="0"/>
              <a:t>LLM </a:t>
            </a:r>
            <a:r>
              <a:rPr lang="zh-CN" altLang="en-US" dirty="0"/>
              <a:t>输入长度 </a:t>
            </a:r>
          </a:p>
          <a:p>
            <a:r>
              <a:rPr lang="zh-CN" altLang="en-US" b="1" dirty="0"/>
              <a:t>③ 时间窗口提取（</a:t>
            </a:r>
            <a:r>
              <a:rPr lang="en-US" altLang="zh-CN" b="1" dirty="0"/>
              <a:t>Time Window Extraction</a:t>
            </a:r>
            <a:r>
              <a:rPr lang="zh-CN" altLang="en-US" b="1" dirty="0"/>
              <a:t>）</a:t>
            </a:r>
            <a:r>
              <a:rPr lang="zh-CN" altLang="en-US" dirty="0"/>
              <a:t>提取故障发生前后的监控数据 ，构建完整的故障时间窗口 </a:t>
            </a:r>
          </a:p>
          <a:p>
            <a:r>
              <a:rPr lang="zh-CN" altLang="en-US" b="1" dirty="0"/>
              <a:t>④ 文本化表示（</a:t>
            </a:r>
            <a:r>
              <a:rPr lang="en-US" altLang="zh-CN" b="1" dirty="0"/>
              <a:t>Text Conversion</a:t>
            </a:r>
            <a:r>
              <a:rPr lang="zh-CN" altLang="en-US" b="1" dirty="0"/>
              <a:t>）</a:t>
            </a:r>
            <a:r>
              <a:rPr lang="zh-CN" altLang="en-US" dirty="0"/>
              <a:t>将所有 指标</a:t>
            </a:r>
            <a:r>
              <a:rPr lang="en-US" altLang="zh-CN" dirty="0"/>
              <a:t> </a:t>
            </a:r>
            <a:r>
              <a:rPr lang="zh-CN" altLang="en-US" dirty="0"/>
              <a:t>时间序列转换为文本 ，直接作为 </a:t>
            </a:r>
            <a:r>
              <a:rPr lang="en-US" altLang="zh-CN" dirty="0"/>
              <a:t>LLM </a:t>
            </a:r>
            <a:r>
              <a:rPr lang="zh-CN" altLang="en-US" dirty="0"/>
              <a:t>输入 </a:t>
            </a:r>
          </a:p>
          <a:p>
            <a:r>
              <a:rPr lang="zh-CN" altLang="en-US" b="1" dirty="0"/>
              <a:t>⑤ 格式统一（</a:t>
            </a:r>
            <a:r>
              <a:rPr lang="en-US" altLang="zh-CN" b="1" dirty="0"/>
              <a:t>Format Unification</a:t>
            </a:r>
            <a:r>
              <a:rPr lang="zh-CN" altLang="en-US" b="1" dirty="0"/>
              <a:t>）</a:t>
            </a:r>
            <a:r>
              <a:rPr lang="zh-CN" altLang="en-US" dirty="0"/>
              <a:t>将不同数据集统一转换为 </a:t>
            </a:r>
            <a:r>
              <a:rPr lang="en-US" altLang="zh-CN" b="1" dirty="0"/>
              <a:t>Q&amp;A </a:t>
            </a:r>
            <a:r>
              <a:rPr lang="zh-CN" altLang="en-US" b="1" dirty="0"/>
              <a:t>格式</a:t>
            </a:r>
            <a:r>
              <a:rPr lang="zh-CN" altLang="en-US" dirty="0"/>
              <a:t> ，保证训练数据格式一致提高不同来源 </a:t>
            </a:r>
            <a:r>
              <a:rPr lang="en-US" altLang="zh-CN" dirty="0"/>
              <a:t>RCA </a:t>
            </a:r>
            <a:r>
              <a:rPr lang="zh-CN" altLang="en-US" dirty="0"/>
              <a:t>数据集的质量和一致性，为基础模型训练提供高质量数据。</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10</a:t>
            </a:fld>
            <a:endParaRPr lang="zh-CN" altLang="en-US"/>
          </a:p>
        </p:txBody>
      </p:sp>
    </p:spTree>
    <p:extLst>
      <p:ext uri="{BB962C8B-B14F-4D97-AF65-F5344CB8AC3E}">
        <p14:creationId xmlns:p14="http://schemas.microsoft.com/office/powerpoint/2010/main" val="3205160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为了扩充 </a:t>
            </a:r>
            <a:r>
              <a:rPr lang="en-US" altLang="zh-CN" dirty="0"/>
              <a:t>RCA </a:t>
            </a:r>
            <a:r>
              <a:rPr lang="zh-CN" altLang="en-US" dirty="0"/>
              <a:t>训练样本，提高训练数据多样性和模型跨系统泛化能力。论文通过</a:t>
            </a:r>
            <a:r>
              <a:rPr lang="zh-CN" altLang="en-US" b="1" dirty="0"/>
              <a:t>随机采样时间窗口（</a:t>
            </a:r>
            <a:r>
              <a:rPr lang="en-US" altLang="zh-CN" b="1" dirty="0"/>
              <a:t>Time Window</a:t>
            </a:r>
            <a:r>
              <a:rPr lang="zh-CN" altLang="en-US" b="1" dirty="0"/>
              <a:t>）和监控指标子集（</a:t>
            </a:r>
            <a:r>
              <a:rPr lang="en-US" altLang="zh-CN" b="1" dirty="0"/>
              <a:t>Metric Subset</a:t>
            </a:r>
            <a:r>
              <a:rPr lang="zh-CN" altLang="en-US" b="1" dirty="0"/>
              <a:t>）</a:t>
            </a:r>
            <a:r>
              <a:rPr lang="zh-CN" altLang="en-US" dirty="0"/>
              <a:t>，从同一个故障案例生成多个训练样本。</a:t>
            </a:r>
            <a:endParaRPr lang="en-US" altLang="zh-CN" dirty="0"/>
          </a:p>
          <a:p>
            <a:r>
              <a:rPr lang="en-US" altLang="zh-CN" b="1" dirty="0"/>
              <a:t>1</a:t>
            </a:r>
            <a:r>
              <a:rPr lang="zh-CN" altLang="en-US" b="1" dirty="0"/>
              <a:t>、随机采样时间窗口：</a:t>
            </a:r>
            <a:r>
              <a:rPr lang="zh-CN" altLang="en-US" dirty="0"/>
              <a:t>随机截取故障发生前后不同的时间窗口。目的是增加时间变化模式 和提高模型对不同故障阶段的适应能力。</a:t>
            </a:r>
            <a:endParaRPr lang="en-US" altLang="zh-CN" dirty="0"/>
          </a:p>
          <a:p>
            <a:r>
              <a:rPr lang="en-US" altLang="zh-CN" b="1" dirty="0"/>
              <a:t>2</a:t>
            </a:r>
            <a:r>
              <a:rPr lang="zh-CN" altLang="en-US" b="1" dirty="0"/>
              <a:t>、监控指标子集：始终保留所有根因相关指标，再随机加入部分正常指标。其中</a:t>
            </a:r>
            <a:r>
              <a:rPr lang="en-US" altLang="zh-CN" dirty="0"/>
              <a:t>R</a:t>
            </a:r>
            <a:r>
              <a:rPr lang="zh-CN" altLang="en-US" dirty="0"/>
              <a:t>：</a:t>
            </a:r>
            <a:r>
              <a:rPr lang="en-US" altLang="zh-CN" dirty="0"/>
              <a:t>Root Cause Metrics</a:t>
            </a:r>
            <a:r>
              <a:rPr lang="zh-CN" altLang="en-US" dirty="0"/>
              <a:t>（根因指标）。</a:t>
            </a:r>
            <a:r>
              <a:rPr lang="en-US" altLang="zh-CN" dirty="0" err="1"/>
              <a:t>Snon-rc</a:t>
            </a:r>
            <a:r>
              <a:rPr lang="en-US" altLang="zh-CN" dirty="0"/>
              <a:t>​</a:t>
            </a:r>
            <a:r>
              <a:rPr lang="zh-CN" altLang="en-US" dirty="0"/>
              <a:t>：随机采样的非根因指标 </a:t>
            </a:r>
            <a:r>
              <a:rPr lang="en-US" altLang="zh-CN" dirty="0"/>
              <a:t>S</a:t>
            </a:r>
            <a:r>
              <a:rPr lang="zh-CN" altLang="en-US" dirty="0"/>
              <a:t>：最终输入指标集合。</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11</a:t>
            </a:fld>
            <a:endParaRPr lang="zh-CN" altLang="en-US"/>
          </a:p>
        </p:txBody>
      </p:sp>
    </p:spTree>
    <p:extLst>
      <p:ext uri="{BB962C8B-B14F-4D97-AF65-F5344CB8AC3E}">
        <p14:creationId xmlns:p14="http://schemas.microsoft.com/office/powerpoint/2010/main" val="42361116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在强化学习之前，通过监督微调（</a:t>
            </a:r>
            <a:r>
              <a:rPr lang="en-US" altLang="zh-CN" dirty="0"/>
              <a:t>SFT</a:t>
            </a:r>
            <a:r>
              <a:rPr lang="zh-CN" altLang="en-US" dirty="0"/>
              <a:t>）使模型掌握</a:t>
            </a:r>
            <a:r>
              <a:rPr lang="zh-CN" altLang="en-US" b="1" dirty="0"/>
              <a:t>故障根因分析的基本推理能力</a:t>
            </a:r>
            <a:r>
              <a:rPr lang="zh-CN" altLang="en-US" dirty="0"/>
              <a:t>，为后续强化学习提供稳定的初始化。使用 </a:t>
            </a:r>
            <a:r>
              <a:rPr lang="en-US" altLang="zh-CN" b="1" dirty="0"/>
              <a:t>DeepSeek-R1</a:t>
            </a:r>
            <a:r>
              <a:rPr lang="en-US" altLang="zh-CN" dirty="0"/>
              <a:t> </a:t>
            </a:r>
            <a:r>
              <a:rPr lang="zh-CN" altLang="en-US" dirty="0"/>
              <a:t>为每个训练样本自动生成推理过程（</a:t>
            </a:r>
            <a:r>
              <a:rPr lang="en-US" altLang="zh-CN" dirty="0"/>
              <a:t>Reasoning Trajectory</a:t>
            </a:r>
            <a:r>
              <a:rPr lang="zh-CN" altLang="en-US" dirty="0"/>
              <a:t>），作为监督微调的数据。生成的数据采用论文提出的 </a:t>
            </a:r>
            <a:r>
              <a:rPr lang="en-US" altLang="zh-CN" b="1" dirty="0"/>
              <a:t>Structured Deep Thinking</a:t>
            </a:r>
            <a:r>
              <a:rPr lang="zh-CN" altLang="en-US" dirty="0"/>
              <a:t>，包括四个阶段：</a:t>
            </a:r>
          </a:p>
          <a:p>
            <a:pPr>
              <a:buFont typeface="+mj-lt"/>
              <a:buAutoNum type="arabicPeriod"/>
            </a:pPr>
            <a:r>
              <a:rPr lang="en-US" altLang="zh-CN" b="1" dirty="0"/>
              <a:t>Metric Scanning</a:t>
            </a:r>
            <a:r>
              <a:rPr lang="zh-CN" altLang="en-US" b="1" dirty="0"/>
              <a:t>（异常指标扫描）</a:t>
            </a:r>
            <a:r>
              <a:rPr lang="zh-CN" altLang="en-US" dirty="0"/>
              <a:t> </a:t>
            </a:r>
          </a:p>
          <a:p>
            <a:pPr>
              <a:buFont typeface="+mj-lt"/>
              <a:buAutoNum type="arabicPeriod"/>
            </a:pPr>
            <a:r>
              <a:rPr lang="en-US" altLang="zh-CN" b="1" dirty="0"/>
              <a:t>Propagation Analysis</a:t>
            </a:r>
            <a:r>
              <a:rPr lang="zh-CN" altLang="en-US" b="1" dirty="0"/>
              <a:t>（故障传播分析）</a:t>
            </a:r>
            <a:r>
              <a:rPr lang="zh-CN" altLang="en-US" dirty="0"/>
              <a:t> </a:t>
            </a:r>
          </a:p>
          <a:p>
            <a:pPr>
              <a:buFont typeface="+mj-lt"/>
              <a:buAutoNum type="arabicPeriod"/>
            </a:pPr>
            <a:r>
              <a:rPr lang="en-US" altLang="zh-CN" b="1" dirty="0"/>
              <a:t>Reflection</a:t>
            </a:r>
            <a:r>
              <a:rPr lang="zh-CN" altLang="en-US" b="1" dirty="0"/>
              <a:t>（推理反思）</a:t>
            </a:r>
            <a:r>
              <a:rPr lang="zh-CN" altLang="en-US" dirty="0"/>
              <a:t> </a:t>
            </a:r>
          </a:p>
          <a:p>
            <a:pPr>
              <a:buFont typeface="+mj-lt"/>
              <a:buAutoNum type="arabicPeriod"/>
            </a:pPr>
            <a:r>
              <a:rPr lang="en-US" altLang="zh-CN" b="1" dirty="0"/>
              <a:t>Root Cause Ranking</a:t>
            </a:r>
            <a:r>
              <a:rPr lang="zh-CN" altLang="en-US" b="1" dirty="0"/>
              <a:t>（根因排序）</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12</a:t>
            </a:fld>
            <a:endParaRPr lang="zh-CN" altLang="en-US"/>
          </a:p>
        </p:txBody>
      </p:sp>
    </p:spTree>
    <p:extLst>
      <p:ext uri="{BB962C8B-B14F-4D97-AF65-F5344CB8AC3E}">
        <p14:creationId xmlns:p14="http://schemas.microsoft.com/office/powerpoint/2010/main" val="258281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dirty="0">
                <a:effectLst/>
                <a:latin typeface="Inter"/>
              </a:rPr>
              <a:t>3.4 </a:t>
            </a:r>
            <a:r>
              <a:rPr lang="zh-CN" altLang="en-US" b="0" i="0" dirty="0">
                <a:effectLst/>
                <a:latin typeface="Inter"/>
              </a:rPr>
              <a:t>模型和训练细节。</a:t>
            </a:r>
            <a:r>
              <a:rPr lang="en-US" altLang="zh-CN" b="0" i="0" dirty="0" err="1">
                <a:effectLst/>
                <a:latin typeface="Inter"/>
              </a:rPr>
              <a:t>FoundRoot</a:t>
            </a:r>
            <a:r>
              <a:rPr lang="en-US" altLang="zh-CN" b="0" i="0" dirty="0">
                <a:effectLst/>
                <a:latin typeface="Inter"/>
              </a:rPr>
              <a:t> </a:t>
            </a:r>
            <a:r>
              <a:rPr lang="zh-CN" altLang="en-US" b="0" i="0" dirty="0">
                <a:effectLst/>
                <a:latin typeface="Inter"/>
              </a:rPr>
              <a:t>的训练流程遵循两个阶段的过程，如下图所示。第一阶段是预热监督微调 </a:t>
            </a:r>
            <a:r>
              <a:rPr lang="en-US" altLang="zh-CN" b="0" i="0" dirty="0">
                <a:effectLst/>
                <a:latin typeface="Inter"/>
              </a:rPr>
              <a:t>(SFT)</a:t>
            </a:r>
            <a:r>
              <a:rPr lang="zh-CN" altLang="en-US" b="0" i="0" dirty="0">
                <a:effectLst/>
                <a:latin typeface="Inter"/>
              </a:rPr>
              <a:t>，其中模型被训练为遵循结构化深度思维的格式。第二阶段采用动态采样策略优化（</a:t>
            </a:r>
            <a:r>
              <a:rPr lang="en-US" altLang="zh-CN" b="0" i="0" dirty="0">
                <a:effectLst/>
                <a:latin typeface="Inter"/>
              </a:rPr>
              <a:t>DAPO</a:t>
            </a:r>
            <a:r>
              <a:rPr lang="zh-CN" altLang="en-US" b="0" i="0" dirty="0">
                <a:effectLst/>
                <a:latin typeface="Inter"/>
              </a:rPr>
              <a:t>）来进一步增强</a:t>
            </a:r>
            <a:r>
              <a:rPr lang="en-US" altLang="zh-CN" b="0" i="0" dirty="0">
                <a:effectLst/>
                <a:latin typeface="Inter"/>
              </a:rPr>
              <a:t>LLM</a:t>
            </a:r>
            <a:r>
              <a:rPr lang="zh-CN" altLang="en-US" b="0" i="0" dirty="0">
                <a:effectLst/>
                <a:latin typeface="Inter"/>
              </a:rPr>
              <a:t>对</a:t>
            </a:r>
            <a:r>
              <a:rPr lang="en-US" altLang="zh-CN" b="0" i="0" dirty="0">
                <a:effectLst/>
                <a:latin typeface="Inter"/>
              </a:rPr>
              <a:t>RCA</a:t>
            </a:r>
            <a:r>
              <a:rPr lang="zh-CN" altLang="en-US" b="0" i="0" dirty="0">
                <a:effectLst/>
                <a:latin typeface="Inter"/>
              </a:rPr>
              <a:t>的推理能力。</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13</a:t>
            </a:fld>
            <a:endParaRPr lang="zh-CN" altLang="en-US"/>
          </a:p>
        </p:txBody>
      </p:sp>
    </p:spTree>
    <p:extLst>
      <p:ext uri="{BB962C8B-B14F-4D97-AF65-F5344CB8AC3E}">
        <p14:creationId xmlns:p14="http://schemas.microsoft.com/office/powerpoint/2010/main" val="478388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3.4.1</a:t>
            </a:r>
            <a:r>
              <a:rPr lang="zh-CN" altLang="en-US" dirty="0"/>
              <a:t>输入输出。模型输入包括：组件部署关系 、服务依赖关系 、各组件的时间序列监控数据 </a:t>
            </a:r>
          </a:p>
          <a:p>
            <a:r>
              <a:rPr lang="zh-CN" altLang="en-US" dirty="0"/>
              <a:t>最后通过 提示词</a:t>
            </a:r>
            <a:r>
              <a:rPr lang="en-US" altLang="zh-CN" dirty="0"/>
              <a:t> </a:t>
            </a:r>
            <a:r>
              <a:rPr lang="zh-CN" altLang="en-US" dirty="0"/>
              <a:t>要求模型：根据监控数据对所有组件进行根因排序。</a:t>
            </a:r>
            <a:endParaRPr lang="en-US" altLang="zh-CN" dirty="0"/>
          </a:p>
          <a:p>
            <a:r>
              <a:rPr lang="zh-CN" altLang="en-US" dirty="0"/>
              <a:t>模型不会直接输出结果，而是先生成完整的</a:t>
            </a:r>
            <a:r>
              <a:rPr lang="en-US" altLang="zh-CN" dirty="0"/>
              <a:t>Structured Deep Thinking</a:t>
            </a:r>
            <a:r>
              <a:rPr lang="zh-CN" altLang="en-US" dirty="0"/>
              <a:t>推理过程：</a:t>
            </a:r>
            <a:r>
              <a:rPr lang="en-US" altLang="zh-CN" dirty="0"/>
              <a:t>Metric Scanning</a:t>
            </a:r>
            <a:r>
              <a:rPr lang="zh-CN" altLang="en-US" dirty="0"/>
              <a:t>（指标扫描）</a:t>
            </a:r>
            <a:r>
              <a:rPr lang="en-US" altLang="zh-CN" dirty="0"/>
              <a:t>Propagation Analysis</a:t>
            </a:r>
            <a:r>
              <a:rPr lang="zh-CN" altLang="en-US" dirty="0"/>
              <a:t>（传播分析）</a:t>
            </a:r>
            <a:r>
              <a:rPr lang="en-US" altLang="zh-CN" dirty="0"/>
              <a:t>Reflection</a:t>
            </a:r>
            <a:r>
              <a:rPr lang="zh-CN" altLang="en-US" dirty="0"/>
              <a:t>（推理反思）</a:t>
            </a:r>
            <a:r>
              <a:rPr lang="en-US" altLang="zh-CN" dirty="0"/>
              <a:t>Ranking</a:t>
            </a:r>
            <a:r>
              <a:rPr lang="zh-CN" altLang="en-US" dirty="0"/>
              <a:t>（根因排序）这种设计保证了推理过程完整且可解释。</a:t>
            </a:r>
            <a:endParaRPr lang="en-US" altLang="zh-CN" dirty="0"/>
          </a:p>
          <a:p>
            <a:r>
              <a:rPr lang="zh-CN" altLang="en-US" dirty="0"/>
              <a:t>最终输出为结构化 </a:t>
            </a:r>
            <a:r>
              <a:rPr lang="en-US" altLang="zh-CN" dirty="0"/>
              <a:t>JSON</a:t>
            </a:r>
            <a:r>
              <a:rPr lang="zh-CN" altLang="en-US" dirty="0"/>
              <a:t>：根因排序列表（</a:t>
            </a:r>
            <a:r>
              <a:rPr lang="en-US" altLang="zh-CN" dirty="0"/>
              <a:t>Rank List</a:t>
            </a:r>
            <a:r>
              <a:rPr lang="zh-CN" altLang="en-US" dirty="0"/>
              <a:t>）上游组件（</a:t>
            </a:r>
            <a:r>
              <a:rPr lang="en-US" altLang="zh-CN" dirty="0"/>
              <a:t>Upstream</a:t>
            </a:r>
            <a:r>
              <a:rPr lang="zh-CN" altLang="en-US" dirty="0"/>
              <a:t>）根因解释（</a:t>
            </a:r>
            <a:r>
              <a:rPr lang="en-US" altLang="zh-CN" dirty="0"/>
              <a:t>Description</a:t>
            </a:r>
            <a:r>
              <a:rPr lang="zh-CN" altLang="en-US" dirty="0"/>
              <a:t>）最终故障分析结论（</a:t>
            </a:r>
            <a:r>
              <a:rPr lang="en-US" altLang="zh-CN" dirty="0"/>
              <a:t>Conclusion</a:t>
            </a:r>
            <a:r>
              <a:rPr lang="zh-CN" altLang="en-US" dirty="0"/>
              <a:t>）</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14</a:t>
            </a:fld>
            <a:endParaRPr lang="zh-CN" altLang="en-US"/>
          </a:p>
        </p:txBody>
      </p:sp>
    </p:spTree>
    <p:extLst>
      <p:ext uri="{BB962C8B-B14F-4D97-AF65-F5344CB8AC3E}">
        <p14:creationId xmlns:p14="http://schemas.microsoft.com/office/powerpoint/2010/main" val="591203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在强化学习之前，为使基础模型具备</a:t>
            </a:r>
            <a:r>
              <a:rPr lang="zh-CN" altLang="en-US" b="1" dirty="0"/>
              <a:t>结构化 </a:t>
            </a:r>
            <a:r>
              <a:rPr lang="en-US" altLang="zh-CN" b="1" dirty="0"/>
              <a:t>RCA </a:t>
            </a:r>
            <a:r>
              <a:rPr lang="zh-CN" altLang="en-US" b="1" dirty="0"/>
              <a:t>推理能力</a:t>
            </a:r>
            <a:r>
              <a:rPr lang="zh-CN" altLang="en-US" dirty="0"/>
              <a:t>。</a:t>
            </a:r>
          </a:p>
          <a:p>
            <a:pPr>
              <a:buFont typeface="Arial" panose="020B0604020202020204" pitchFamily="34" charset="0"/>
              <a:buChar char="•"/>
            </a:pPr>
            <a:r>
              <a:rPr lang="zh-CN" altLang="en-US" dirty="0"/>
              <a:t>使用 </a:t>
            </a:r>
            <a:r>
              <a:rPr lang="zh-CN" altLang="en-US" b="1" dirty="0"/>
              <a:t>预热监督微调数据集</a:t>
            </a:r>
            <a:r>
              <a:rPr lang="zh-CN" altLang="en-US" dirty="0"/>
              <a:t>对 </a:t>
            </a:r>
            <a:r>
              <a:rPr lang="en-US" altLang="zh-CN" b="1" dirty="0"/>
              <a:t>DeepSeek-R1-Distill-Qwen2.5-14B</a:t>
            </a:r>
            <a:r>
              <a:rPr lang="en-US" altLang="zh-CN" dirty="0"/>
              <a:t> </a:t>
            </a:r>
            <a:r>
              <a:rPr lang="zh-CN" altLang="en-US" dirty="0"/>
              <a:t>进行监督微调。 </a:t>
            </a:r>
          </a:p>
          <a:p>
            <a:pPr>
              <a:buFont typeface="Arial" panose="020B0604020202020204" pitchFamily="34" charset="0"/>
              <a:buChar char="•"/>
            </a:pPr>
            <a:r>
              <a:rPr lang="zh-CN" altLang="en-US" b="1" dirty="0"/>
              <a:t>输入：</a:t>
            </a:r>
            <a:r>
              <a:rPr lang="zh-CN" altLang="en-US" dirty="0"/>
              <a:t> </a:t>
            </a:r>
            <a:r>
              <a:rPr lang="en-US" altLang="zh-CN" dirty="0"/>
              <a:t>RCA </a:t>
            </a:r>
            <a:r>
              <a:rPr lang="zh-CN" altLang="en-US" dirty="0"/>
              <a:t>问题（</a:t>
            </a:r>
            <a:r>
              <a:rPr lang="en-US" altLang="zh-CN" dirty="0"/>
              <a:t>Question</a:t>
            </a:r>
            <a:r>
              <a:rPr lang="zh-CN" altLang="en-US" dirty="0"/>
              <a:t>）。 </a:t>
            </a:r>
          </a:p>
          <a:p>
            <a:pPr>
              <a:buFont typeface="Arial" panose="020B0604020202020204" pitchFamily="34" charset="0"/>
              <a:buChar char="•"/>
            </a:pPr>
            <a:r>
              <a:rPr lang="zh-CN" altLang="en-US" b="1" dirty="0"/>
              <a:t>输出：</a:t>
            </a:r>
            <a:r>
              <a:rPr lang="zh-CN" altLang="en-US" dirty="0"/>
              <a:t> 完整的推理过程（</a:t>
            </a:r>
            <a:r>
              <a:rPr lang="en-US" altLang="zh-CN" dirty="0"/>
              <a:t>Reasoning Trace</a:t>
            </a:r>
            <a:r>
              <a:rPr lang="zh-CN" altLang="en-US" dirty="0"/>
              <a:t>）和最终答案（</a:t>
            </a:r>
            <a:r>
              <a:rPr lang="en-US" altLang="zh-CN" dirty="0"/>
              <a:t>Answer</a:t>
            </a:r>
            <a:r>
              <a:rPr lang="zh-CN" altLang="en-US" dirty="0"/>
              <a:t>）。 </a:t>
            </a:r>
          </a:p>
          <a:p>
            <a:pPr>
              <a:buFont typeface="Arial" panose="020B0604020202020204" pitchFamily="34" charset="0"/>
              <a:buChar char="•"/>
            </a:pPr>
            <a:r>
              <a:rPr lang="zh-CN" altLang="en-US" dirty="0"/>
              <a:t>采用固定的 </a:t>
            </a:r>
            <a:r>
              <a:rPr lang="en-US" altLang="zh-CN" b="1" dirty="0"/>
              <a:t>&lt;think&gt;</a:t>
            </a:r>
            <a:r>
              <a:rPr lang="en-US" altLang="zh-CN" dirty="0"/>
              <a:t> </a:t>
            </a:r>
            <a:r>
              <a:rPr lang="zh-CN" altLang="en-US" dirty="0"/>
              <a:t>和 </a:t>
            </a:r>
            <a:r>
              <a:rPr lang="en-US" altLang="zh-CN" b="1" dirty="0"/>
              <a:t>&lt;answer&gt;</a:t>
            </a:r>
            <a:r>
              <a:rPr lang="en-US" altLang="zh-CN" dirty="0"/>
              <a:t> </a:t>
            </a:r>
            <a:r>
              <a:rPr lang="zh-CN" altLang="en-US" dirty="0"/>
              <a:t>标签进行监督训练。 从而学习</a:t>
            </a:r>
            <a:r>
              <a:rPr lang="zh-CN" altLang="en-US" b="1" dirty="0"/>
              <a:t>连贯且完整的因果推理过程（</a:t>
            </a:r>
            <a:r>
              <a:rPr lang="en-US" altLang="zh-CN" b="1" dirty="0"/>
              <a:t>Structured Deep Thinking</a:t>
            </a:r>
            <a:r>
              <a:rPr lang="zh-CN" altLang="en-US" b="1" dirty="0"/>
              <a:t>）</a:t>
            </a:r>
            <a:r>
              <a:rPr lang="zh-CN" altLang="en-US" dirty="0"/>
              <a:t>。 </a:t>
            </a:r>
          </a:p>
          <a:p>
            <a:pPr>
              <a:buFont typeface="Arial" panose="020B0604020202020204" pitchFamily="34" charset="0"/>
              <a:buChar char="•"/>
            </a:pPr>
            <a:r>
              <a:rPr lang="en-US" altLang="zh-CN" dirty="0"/>
              <a:t>3.4.3 DAPO </a:t>
            </a:r>
            <a:r>
              <a:rPr lang="zh-CN" altLang="en-US" dirty="0"/>
              <a:t>强化学习，通过“多路径探索 </a:t>
            </a:r>
            <a:r>
              <a:rPr lang="en-US" altLang="zh-CN" dirty="0"/>
              <a:t>+ </a:t>
            </a:r>
            <a:r>
              <a:rPr lang="zh-CN" altLang="en-US" dirty="0"/>
              <a:t>奖励优化”的方式，不断提升模型的结构化 </a:t>
            </a:r>
            <a:r>
              <a:rPr lang="en-US" altLang="zh-CN" dirty="0"/>
              <a:t>RCA </a:t>
            </a:r>
            <a:r>
              <a:rPr lang="zh-CN" altLang="en-US" dirty="0"/>
              <a:t>推理能力，无需人工标注推理过程即可实现更准确、更鲁棒的故障根因分析。</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15</a:t>
            </a:fld>
            <a:endParaRPr lang="zh-CN" altLang="en-US"/>
          </a:p>
        </p:txBody>
      </p:sp>
    </p:spTree>
    <p:extLst>
      <p:ext uri="{BB962C8B-B14F-4D97-AF65-F5344CB8AC3E}">
        <p14:creationId xmlns:p14="http://schemas.microsoft.com/office/powerpoint/2010/main" val="2917103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接下来就是刚才强化学习提到的奖励优化，设计</a:t>
            </a:r>
            <a:r>
              <a:rPr lang="zh-CN" altLang="en-US" b="1" dirty="0"/>
              <a:t>多目标奖励函数</a:t>
            </a:r>
            <a:r>
              <a:rPr lang="zh-CN" altLang="en-US" dirty="0"/>
              <a:t>。总奖励由四部分组成：</a:t>
            </a:r>
            <a:r>
              <a:rPr lang="en-US" altLang="zh-CN" b="1" dirty="0"/>
              <a:t>Format Reward</a:t>
            </a:r>
            <a:r>
              <a:rPr lang="zh-CN" altLang="en-US" b="1" dirty="0"/>
              <a:t>（格式奖励）、</a:t>
            </a:r>
            <a:r>
              <a:rPr lang="zh-CN" altLang="en-US" dirty="0"/>
              <a:t> </a:t>
            </a:r>
            <a:r>
              <a:rPr lang="en-US" altLang="zh-CN" b="1" dirty="0"/>
              <a:t>JSON Reward</a:t>
            </a:r>
            <a:r>
              <a:rPr lang="zh-CN" altLang="en-US" b="1" dirty="0"/>
              <a:t>（</a:t>
            </a:r>
            <a:r>
              <a:rPr lang="en-US" altLang="zh-CN" b="1" dirty="0"/>
              <a:t>JSON </a:t>
            </a:r>
            <a:r>
              <a:rPr lang="zh-CN" altLang="en-US" b="1" dirty="0"/>
              <a:t>格式奖励）</a:t>
            </a:r>
            <a:r>
              <a:rPr lang="zh-CN" altLang="en-US" dirty="0"/>
              <a:t> 、</a:t>
            </a:r>
            <a:r>
              <a:rPr lang="en-US" altLang="zh-CN" b="1" dirty="0"/>
              <a:t>Answer Accuracy Reward</a:t>
            </a:r>
            <a:r>
              <a:rPr lang="zh-CN" altLang="en-US" b="1" dirty="0"/>
              <a:t>（答案准确率奖励）</a:t>
            </a:r>
            <a:r>
              <a:rPr lang="zh-CN" altLang="en-US" dirty="0"/>
              <a:t> 、</a:t>
            </a:r>
            <a:r>
              <a:rPr lang="en-US" altLang="zh-CN" b="1" dirty="0"/>
              <a:t>Thinking Reward</a:t>
            </a:r>
            <a:r>
              <a:rPr lang="zh-CN" altLang="en-US" b="1" dirty="0"/>
              <a:t>（深度思考奖励）。格式奖励是 </a:t>
            </a:r>
            <a:r>
              <a:rPr lang="zh-CN" altLang="en-US" dirty="0"/>
              <a:t>鼓励模型严格遵循规定输出格式。保证生成：</a:t>
            </a:r>
            <a:r>
              <a:rPr lang="en-US" altLang="zh-CN" dirty="0"/>
              <a:t>&lt;think&gt; &lt;answer&gt;</a:t>
            </a:r>
            <a:r>
              <a:rPr lang="zh-CN" altLang="en-US" dirty="0"/>
              <a:t>。</a:t>
            </a:r>
            <a:r>
              <a:rPr lang="en-US" altLang="zh-CN" b="1" dirty="0"/>
              <a:t>JSON </a:t>
            </a:r>
            <a:r>
              <a:rPr lang="zh-CN" altLang="en-US" b="1" dirty="0"/>
              <a:t>格式奖励为</a:t>
            </a:r>
            <a:r>
              <a:rPr lang="en-US" altLang="zh-CN" b="1" dirty="0"/>
              <a:t>1</a:t>
            </a:r>
            <a:r>
              <a:rPr lang="zh-CN" altLang="en-US" b="1" dirty="0"/>
              <a:t> ：</a:t>
            </a:r>
            <a:r>
              <a:rPr lang="zh-CN" altLang="en-US" dirty="0"/>
              <a:t>模型输出合法的 </a:t>
            </a:r>
            <a:r>
              <a:rPr lang="en-US" altLang="zh-CN" dirty="0"/>
              <a:t>JSON</a:t>
            </a:r>
            <a:r>
              <a:rPr lang="zh-CN" altLang="en-US" dirty="0"/>
              <a:t>。根因分析准确率：根据 根因分析是否预测正确给予奖励。公式如下。最后 模型是否生成完整的四阶段结构化深度思考。</a:t>
            </a:r>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982BA46B-E1B2-4520-80B7-3F1B8A68F93F}" type="slidenum">
              <a:rPr lang="zh-CN" altLang="en-US" smtClean="0"/>
              <a:t>16</a:t>
            </a:fld>
            <a:endParaRPr lang="zh-CN" altLang="en-US"/>
          </a:p>
        </p:txBody>
      </p:sp>
    </p:spTree>
    <p:extLst>
      <p:ext uri="{BB962C8B-B14F-4D97-AF65-F5344CB8AC3E}">
        <p14:creationId xmlns:p14="http://schemas.microsoft.com/office/powerpoint/2010/main" val="2476389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Inter"/>
              </a:rPr>
              <a:t>第四部分，实验。我们将 </a:t>
            </a:r>
            <a:r>
              <a:rPr lang="en-US" altLang="zh-CN" b="0" i="0" dirty="0" err="1">
                <a:solidFill>
                  <a:srgbClr val="000000"/>
                </a:solidFill>
                <a:effectLst/>
                <a:latin typeface="Inter"/>
              </a:rPr>
              <a:t>FoundRoot</a:t>
            </a:r>
            <a:r>
              <a:rPr lang="en-US" altLang="zh-CN" b="0" i="0" dirty="0">
                <a:solidFill>
                  <a:srgbClr val="000000"/>
                </a:solidFill>
                <a:effectLst/>
                <a:latin typeface="Inter"/>
              </a:rPr>
              <a:t> </a:t>
            </a:r>
            <a:r>
              <a:rPr lang="zh-CN" altLang="en-US" b="0" i="0" dirty="0">
                <a:solidFill>
                  <a:srgbClr val="000000"/>
                </a:solidFill>
                <a:effectLst/>
                <a:latin typeface="Inter"/>
              </a:rPr>
              <a:t>与一组不同的基线方法进行比较，包括经典的 </a:t>
            </a:r>
            <a:r>
              <a:rPr lang="en-US" altLang="zh-CN" b="0" i="0" dirty="0">
                <a:solidFill>
                  <a:srgbClr val="000000"/>
                </a:solidFill>
                <a:effectLst/>
                <a:latin typeface="Inter"/>
              </a:rPr>
              <a:t>RCA </a:t>
            </a:r>
            <a:r>
              <a:rPr lang="zh-CN" altLang="en-US" b="0" i="0" dirty="0">
                <a:solidFill>
                  <a:srgbClr val="000000"/>
                </a:solidFill>
                <a:effectLst/>
                <a:latin typeface="Inter"/>
              </a:rPr>
              <a:t>算法和基于 </a:t>
            </a:r>
            <a:r>
              <a:rPr lang="en-US" altLang="zh-CN" b="0" i="0" dirty="0">
                <a:solidFill>
                  <a:srgbClr val="000000"/>
                </a:solidFill>
                <a:effectLst/>
                <a:latin typeface="Inter"/>
              </a:rPr>
              <a:t>LLM </a:t>
            </a:r>
            <a:r>
              <a:rPr lang="zh-CN" altLang="en-US" b="0" i="0" dirty="0">
                <a:solidFill>
                  <a:srgbClr val="000000"/>
                </a:solidFill>
                <a:effectLst/>
                <a:latin typeface="Inter"/>
              </a:rPr>
              <a:t>的方法。如下表所示，我们总共收集了</a:t>
            </a:r>
            <a:r>
              <a:rPr lang="en-US" altLang="zh-CN" b="0" i="0" dirty="0">
                <a:solidFill>
                  <a:srgbClr val="000000"/>
                </a:solidFill>
                <a:effectLst/>
                <a:latin typeface="Inter"/>
              </a:rPr>
              <a:t>4</a:t>
            </a:r>
            <a:r>
              <a:rPr lang="zh-CN" altLang="en-US" b="0" i="0" dirty="0">
                <a:solidFill>
                  <a:srgbClr val="000000"/>
                </a:solidFill>
                <a:effectLst/>
                <a:latin typeface="Inter"/>
              </a:rPr>
              <a:t>个数据集用于评估。用于评估的数据集与用于训练的数据集是完全不同的系统架构，保证了零样本评估的可靠性。</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17</a:t>
            </a:fld>
            <a:endParaRPr lang="zh-CN" altLang="en-US"/>
          </a:p>
        </p:txBody>
      </p:sp>
    </p:spTree>
    <p:extLst>
      <p:ext uri="{BB962C8B-B14F-4D97-AF65-F5344CB8AC3E}">
        <p14:creationId xmlns:p14="http://schemas.microsoft.com/office/powerpoint/2010/main" val="371941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effectLst/>
                <a:latin typeface="Inter"/>
              </a:rPr>
              <a:t>我们采用三个广泛使用的指标来评估根本原因定位：</a:t>
            </a:r>
            <a:r>
              <a:rPr lang="en-US" altLang="zh-CN" b="0" i="0" dirty="0">
                <a:effectLst/>
                <a:latin typeface="Inter"/>
              </a:rPr>
              <a:t>Top-1 Accuracy</a:t>
            </a:r>
            <a:r>
              <a:rPr lang="zh-CN" altLang="en-US" b="0" i="0" dirty="0">
                <a:effectLst/>
                <a:latin typeface="Inter"/>
              </a:rPr>
              <a:t>、</a:t>
            </a:r>
            <a:r>
              <a:rPr lang="en-US" altLang="zh-CN" b="0" i="0" dirty="0">
                <a:effectLst/>
                <a:latin typeface="Inter"/>
              </a:rPr>
              <a:t>Top-3 Accuracy </a:t>
            </a:r>
            <a:r>
              <a:rPr lang="zh-CN" altLang="en-US" b="0" i="0" dirty="0">
                <a:effectLst/>
                <a:latin typeface="Inter"/>
              </a:rPr>
              <a:t>和 </a:t>
            </a:r>
            <a:r>
              <a:rPr lang="en-US" altLang="zh-CN" b="0" i="0" dirty="0">
                <a:effectLst/>
                <a:latin typeface="Inter"/>
              </a:rPr>
              <a:t>MRR.</a:t>
            </a:r>
          </a:p>
          <a:p>
            <a:pPr algn="l"/>
            <a:r>
              <a:rPr lang="zh-CN" altLang="en-US" b="0" i="0" dirty="0">
                <a:solidFill>
                  <a:srgbClr val="000000"/>
                </a:solidFill>
                <a:effectLst/>
                <a:latin typeface="Inter"/>
              </a:rPr>
              <a:t>实施细节。所有模型均使用 </a:t>
            </a:r>
            <a:r>
              <a:rPr lang="en-US" altLang="zh-CN" b="0" i="0" dirty="0">
                <a:solidFill>
                  <a:srgbClr val="000000"/>
                </a:solidFill>
                <a:effectLst/>
                <a:latin typeface="Inter"/>
              </a:rPr>
              <a:t>Open-R1 </a:t>
            </a:r>
            <a:r>
              <a:rPr lang="zh-CN" altLang="en-US" b="0" i="0" dirty="0">
                <a:solidFill>
                  <a:srgbClr val="000000"/>
                </a:solidFill>
                <a:effectLst/>
                <a:latin typeface="Inter"/>
              </a:rPr>
              <a:t>框架 </a:t>
            </a:r>
            <a:r>
              <a:rPr lang="en-US" altLang="zh-CN" b="0" i="0" dirty="0">
                <a:solidFill>
                  <a:srgbClr val="000000"/>
                </a:solidFill>
                <a:effectLst/>
                <a:latin typeface="Inter"/>
              </a:rPr>
              <a:t>[11] </a:t>
            </a:r>
            <a:r>
              <a:rPr lang="zh-CN" altLang="en-US" b="0" i="0" dirty="0">
                <a:solidFill>
                  <a:srgbClr val="000000"/>
                </a:solidFill>
                <a:effectLst/>
                <a:latin typeface="Inter"/>
              </a:rPr>
              <a:t>和 </a:t>
            </a:r>
            <a:r>
              <a:rPr lang="en-US" altLang="zh-CN" b="0" i="0" dirty="0">
                <a:solidFill>
                  <a:srgbClr val="000000"/>
                </a:solidFill>
                <a:effectLst/>
                <a:latin typeface="Inter"/>
              </a:rPr>
              <a:t>TRL </a:t>
            </a:r>
            <a:r>
              <a:rPr lang="zh-CN" altLang="en-US" b="0" i="0" dirty="0">
                <a:solidFill>
                  <a:srgbClr val="000000"/>
                </a:solidFill>
                <a:effectLst/>
                <a:latin typeface="Inter"/>
              </a:rPr>
              <a:t>库 </a:t>
            </a:r>
            <a:r>
              <a:rPr lang="en-US" altLang="zh-CN" b="0" i="0" dirty="0">
                <a:solidFill>
                  <a:srgbClr val="000000"/>
                </a:solidFill>
                <a:effectLst/>
                <a:latin typeface="Inter"/>
              </a:rPr>
              <a:t>[42] </a:t>
            </a:r>
            <a:r>
              <a:rPr lang="zh-CN" altLang="en-US" b="0" i="0" dirty="0">
                <a:solidFill>
                  <a:srgbClr val="000000"/>
                </a:solidFill>
                <a:effectLst/>
                <a:latin typeface="Inter"/>
              </a:rPr>
              <a:t>进行训练。 </a:t>
            </a:r>
            <a:r>
              <a:rPr lang="en-US" altLang="zh-CN" b="0" i="0" dirty="0" err="1">
                <a:solidFill>
                  <a:srgbClr val="000000"/>
                </a:solidFill>
                <a:effectLst/>
                <a:latin typeface="Inter"/>
              </a:rPr>
              <a:t>FoundRoot</a:t>
            </a:r>
            <a:r>
              <a:rPr lang="en-US" altLang="zh-CN" b="0" i="0" dirty="0">
                <a:solidFill>
                  <a:srgbClr val="000000"/>
                </a:solidFill>
                <a:effectLst/>
                <a:latin typeface="Inter"/>
              </a:rPr>
              <a:t> </a:t>
            </a:r>
            <a:r>
              <a:rPr lang="zh-CN" altLang="en-US" b="0" i="0" dirty="0">
                <a:solidFill>
                  <a:srgbClr val="000000"/>
                </a:solidFill>
                <a:effectLst/>
                <a:latin typeface="Inter"/>
              </a:rPr>
              <a:t>从 </a:t>
            </a:r>
            <a:r>
              <a:rPr lang="en-US" altLang="zh-CN" b="0" i="0" dirty="0">
                <a:solidFill>
                  <a:srgbClr val="000000"/>
                </a:solidFill>
                <a:effectLst/>
                <a:latin typeface="Inter"/>
              </a:rPr>
              <a:t>DeepSeek-R1-Distill-Qwen2.5-14B1 </a:t>
            </a:r>
            <a:r>
              <a:rPr lang="zh-CN" altLang="en-US" b="0" i="0" dirty="0">
                <a:solidFill>
                  <a:srgbClr val="000000"/>
                </a:solidFill>
                <a:effectLst/>
                <a:latin typeface="Inter"/>
              </a:rPr>
              <a:t>初始化，并在 </a:t>
            </a:r>
            <a:r>
              <a:rPr lang="en-US" altLang="zh-CN" b="0" i="0" dirty="0">
                <a:solidFill>
                  <a:srgbClr val="000000"/>
                </a:solidFill>
                <a:effectLst/>
                <a:latin typeface="Inter"/>
              </a:rPr>
              <a:t>8×A100 GPU </a:t>
            </a:r>
            <a:r>
              <a:rPr lang="zh-CN" altLang="en-US" b="0" i="0" dirty="0">
                <a:solidFill>
                  <a:srgbClr val="000000"/>
                </a:solidFill>
                <a:effectLst/>
                <a:latin typeface="Inter"/>
              </a:rPr>
              <a:t>上训练 </a:t>
            </a:r>
            <a:r>
              <a:rPr lang="en-US" altLang="zh-CN" b="0" i="0" dirty="0">
                <a:solidFill>
                  <a:srgbClr val="000000"/>
                </a:solidFill>
                <a:effectLst/>
                <a:latin typeface="Inter"/>
              </a:rPr>
              <a:t>400 </a:t>
            </a:r>
            <a:r>
              <a:rPr lang="zh-CN" altLang="en-US" b="0" i="0" dirty="0">
                <a:solidFill>
                  <a:srgbClr val="000000"/>
                </a:solidFill>
                <a:effectLst/>
                <a:latin typeface="Inter"/>
              </a:rPr>
              <a:t>个步骤，批量大小为 </a:t>
            </a:r>
            <a:r>
              <a:rPr lang="en-US" altLang="zh-CN" b="0" i="0" dirty="0">
                <a:solidFill>
                  <a:srgbClr val="000000"/>
                </a:solidFill>
                <a:effectLst/>
                <a:latin typeface="Inter"/>
              </a:rPr>
              <a:t>32</a:t>
            </a:r>
            <a:r>
              <a:rPr lang="zh-CN" altLang="en-US" b="0" i="0" dirty="0">
                <a:solidFill>
                  <a:srgbClr val="000000"/>
                </a:solidFill>
                <a:effectLst/>
                <a:latin typeface="Inter"/>
              </a:rPr>
              <a:t>，温度</a:t>
            </a:r>
            <a:r>
              <a:rPr lang="en-US" altLang="zh-CN" b="0" i="0" dirty="0">
                <a:solidFill>
                  <a:srgbClr val="000000"/>
                </a:solidFill>
                <a:effectLst/>
                <a:latin typeface="Inter"/>
              </a:rPr>
              <a:t>=1.0</a:t>
            </a:r>
            <a:r>
              <a:rPr lang="zh-CN" altLang="en-US" b="0" i="0" dirty="0">
                <a:solidFill>
                  <a:srgbClr val="000000"/>
                </a:solidFill>
                <a:effectLst/>
                <a:latin typeface="Inter"/>
              </a:rPr>
              <a:t>，</a:t>
            </a:r>
            <a:r>
              <a:rPr lang="en-US" altLang="zh-CN" b="0" i="0" dirty="0" err="1">
                <a:solidFill>
                  <a:srgbClr val="000000"/>
                </a:solidFill>
                <a:effectLst/>
                <a:latin typeface="Inter"/>
              </a:rPr>
              <a:t>lr</a:t>
            </a:r>
            <a:r>
              <a:rPr lang="en-US" altLang="zh-CN" b="0" i="0" dirty="0">
                <a:solidFill>
                  <a:srgbClr val="000000"/>
                </a:solidFill>
                <a:effectLst/>
                <a:latin typeface="Inter"/>
              </a:rPr>
              <a:t>=1e-6</a:t>
            </a:r>
            <a:r>
              <a:rPr lang="zh-CN" altLang="en-US" b="0" i="0" dirty="0">
                <a:solidFill>
                  <a:srgbClr val="000000"/>
                </a:solidFill>
                <a:effectLst/>
                <a:latin typeface="Inter"/>
              </a:rPr>
              <a:t>。使用 </a:t>
            </a:r>
            <a:r>
              <a:rPr lang="en-US" altLang="zh-CN" b="0" i="0" dirty="0" err="1">
                <a:solidFill>
                  <a:srgbClr val="000000"/>
                </a:solidFill>
                <a:effectLst/>
                <a:latin typeface="Inter"/>
              </a:rPr>
              <a:t>vLLM</a:t>
            </a:r>
            <a:r>
              <a:rPr lang="en-US" altLang="zh-CN" b="0" i="0" dirty="0">
                <a:solidFill>
                  <a:srgbClr val="000000"/>
                </a:solidFill>
                <a:effectLst/>
                <a:latin typeface="Inter"/>
              </a:rPr>
              <a:t> [14] </a:t>
            </a:r>
            <a:r>
              <a:rPr lang="zh-CN" altLang="en-US" b="0" i="0" dirty="0">
                <a:solidFill>
                  <a:srgbClr val="000000"/>
                </a:solidFill>
                <a:effectLst/>
                <a:latin typeface="Inter"/>
              </a:rPr>
              <a:t>和 </a:t>
            </a:r>
            <a:r>
              <a:rPr lang="en-US" altLang="zh-CN" b="0" i="0" dirty="0">
                <a:solidFill>
                  <a:srgbClr val="000000"/>
                </a:solidFill>
                <a:effectLst/>
                <a:latin typeface="Inter"/>
              </a:rPr>
              <a:t>top-5 </a:t>
            </a:r>
            <a:r>
              <a:rPr lang="zh-CN" altLang="en-US" b="0" i="0" dirty="0">
                <a:solidFill>
                  <a:srgbClr val="000000"/>
                </a:solidFill>
                <a:effectLst/>
                <a:latin typeface="Inter"/>
              </a:rPr>
              <a:t>采样进行推理。在我们的实验中，我们根据经验将奖励权重设置为：</a:t>
            </a:r>
            <a:r>
              <a:rPr lang="en-US" altLang="zh-CN" b="0" i="0" dirty="0" err="1">
                <a:solidFill>
                  <a:srgbClr val="000000"/>
                </a:solidFill>
                <a:effectLst/>
                <a:latin typeface="Inter"/>
              </a:rPr>
              <a:t>λformat</a:t>
            </a:r>
            <a:r>
              <a:rPr lang="en-US" altLang="zh-CN" b="0" i="0" dirty="0">
                <a:solidFill>
                  <a:srgbClr val="000000"/>
                </a:solidFill>
                <a:effectLst/>
                <a:latin typeface="Inter"/>
              </a:rPr>
              <a:t> = 1.0</a:t>
            </a:r>
            <a:r>
              <a:rPr lang="zh-CN" altLang="en-US" b="0" i="0" dirty="0">
                <a:solidFill>
                  <a:srgbClr val="000000"/>
                </a:solidFill>
                <a:effectLst/>
                <a:latin typeface="Inter"/>
              </a:rPr>
              <a:t>、</a:t>
            </a:r>
            <a:r>
              <a:rPr lang="en-US" altLang="zh-CN" b="0" i="0" dirty="0" err="1">
                <a:solidFill>
                  <a:srgbClr val="000000"/>
                </a:solidFill>
                <a:effectLst/>
                <a:latin typeface="Inter"/>
              </a:rPr>
              <a:t>λstruct</a:t>
            </a:r>
            <a:r>
              <a:rPr lang="en-US" altLang="zh-CN" b="0" i="0" dirty="0">
                <a:solidFill>
                  <a:srgbClr val="000000"/>
                </a:solidFill>
                <a:effectLst/>
                <a:latin typeface="Inter"/>
              </a:rPr>
              <a:t> = 1.0</a:t>
            </a:r>
            <a:r>
              <a:rPr lang="zh-CN" altLang="en-US" b="0" i="0" dirty="0">
                <a:solidFill>
                  <a:srgbClr val="000000"/>
                </a:solidFill>
                <a:effectLst/>
                <a:latin typeface="Inter"/>
              </a:rPr>
              <a:t>、</a:t>
            </a:r>
            <a:r>
              <a:rPr lang="en-US" altLang="zh-CN" b="0" i="0" dirty="0" err="1">
                <a:solidFill>
                  <a:srgbClr val="000000"/>
                </a:solidFill>
                <a:effectLst/>
                <a:latin typeface="Inter"/>
              </a:rPr>
              <a:t>λmrr</a:t>
            </a:r>
            <a:r>
              <a:rPr lang="en-US" altLang="zh-CN" b="0" i="0" dirty="0">
                <a:solidFill>
                  <a:srgbClr val="000000"/>
                </a:solidFill>
                <a:effectLst/>
                <a:latin typeface="Inter"/>
              </a:rPr>
              <a:t> = 3.0 </a:t>
            </a:r>
            <a:r>
              <a:rPr lang="zh-CN" altLang="en-US" b="0" i="0" dirty="0">
                <a:solidFill>
                  <a:srgbClr val="000000"/>
                </a:solidFill>
                <a:effectLst/>
                <a:latin typeface="Inter"/>
              </a:rPr>
              <a:t>和 </a:t>
            </a:r>
            <a:r>
              <a:rPr lang="en-US" altLang="zh-CN" b="0" i="0" dirty="0" err="1">
                <a:solidFill>
                  <a:srgbClr val="000000"/>
                </a:solidFill>
                <a:effectLst/>
                <a:latin typeface="Inter"/>
              </a:rPr>
              <a:t>λstf</a:t>
            </a:r>
            <a:r>
              <a:rPr lang="en-US" altLang="zh-CN" b="0" i="0" dirty="0">
                <a:solidFill>
                  <a:srgbClr val="000000"/>
                </a:solidFill>
                <a:effectLst/>
                <a:latin typeface="Inter"/>
              </a:rPr>
              <a:t> = 1.0</a:t>
            </a:r>
            <a:r>
              <a:rPr lang="zh-CN" altLang="en-US" b="0" i="0" dirty="0">
                <a:solidFill>
                  <a:srgbClr val="000000"/>
                </a:solidFill>
                <a:effectLst/>
                <a:latin typeface="Inter"/>
              </a:rPr>
              <a:t>。</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18</a:t>
            </a:fld>
            <a:endParaRPr lang="zh-CN" altLang="en-US"/>
          </a:p>
        </p:txBody>
      </p:sp>
    </p:spTree>
    <p:extLst>
      <p:ext uri="{BB962C8B-B14F-4D97-AF65-F5344CB8AC3E}">
        <p14:creationId xmlns:p14="http://schemas.microsoft.com/office/powerpoint/2010/main" val="39809510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effectLst/>
                <a:latin typeface="Inter"/>
              </a:rPr>
              <a:t>我们在四个基准数据集 </a:t>
            </a:r>
            <a:r>
              <a:rPr lang="en-US" altLang="zh-CN" b="0" i="0" dirty="0">
                <a:effectLst/>
                <a:latin typeface="Inter"/>
              </a:rPr>
              <a:t>(A–D) </a:t>
            </a:r>
            <a:r>
              <a:rPr lang="zh-CN" altLang="en-US" b="0" i="0" dirty="0">
                <a:effectLst/>
                <a:latin typeface="Inter"/>
              </a:rPr>
              <a:t>中将 </a:t>
            </a:r>
            <a:r>
              <a:rPr lang="en-US" altLang="zh-CN" b="0" i="0" dirty="0" err="1">
                <a:effectLst/>
                <a:latin typeface="Inter"/>
              </a:rPr>
              <a:t>FoundRoot</a:t>
            </a:r>
            <a:r>
              <a:rPr lang="en-US" altLang="zh-CN" b="0" i="0" dirty="0">
                <a:effectLst/>
                <a:latin typeface="Inter"/>
              </a:rPr>
              <a:t> </a:t>
            </a:r>
            <a:r>
              <a:rPr lang="zh-CN" altLang="en-US" b="0" i="0" dirty="0">
                <a:effectLst/>
                <a:latin typeface="Inter"/>
              </a:rPr>
              <a:t>与一系列经典 </a:t>
            </a:r>
            <a:r>
              <a:rPr lang="en-US" altLang="zh-CN" b="0" i="0" dirty="0">
                <a:effectLst/>
                <a:latin typeface="Inter"/>
              </a:rPr>
              <a:t>RCA </a:t>
            </a:r>
            <a:r>
              <a:rPr lang="zh-CN" altLang="en-US" b="0" i="0" dirty="0">
                <a:effectLst/>
                <a:latin typeface="Inter"/>
              </a:rPr>
              <a:t>方法和现代基于 </a:t>
            </a:r>
            <a:r>
              <a:rPr lang="en-US" altLang="zh-CN" b="0" i="0" dirty="0">
                <a:effectLst/>
                <a:latin typeface="Inter"/>
              </a:rPr>
              <a:t>LLM </a:t>
            </a:r>
            <a:r>
              <a:rPr lang="zh-CN" altLang="en-US" b="0" i="0" dirty="0">
                <a:effectLst/>
                <a:latin typeface="Inter"/>
              </a:rPr>
              <a:t>的方法进行比较。评估结果如表 </a:t>
            </a:r>
            <a:r>
              <a:rPr lang="en-US" altLang="zh-CN" b="0" i="0" dirty="0">
                <a:effectLst/>
                <a:latin typeface="Inter"/>
              </a:rPr>
              <a:t>2 </a:t>
            </a:r>
            <a:r>
              <a:rPr lang="zh-CN" altLang="en-US" b="0" i="0" dirty="0">
                <a:effectLst/>
                <a:latin typeface="Inter"/>
              </a:rPr>
              <a:t>所示。结果表明，</a:t>
            </a:r>
            <a:r>
              <a:rPr lang="en-US" altLang="zh-CN" b="0" i="0" dirty="0" err="1">
                <a:effectLst/>
                <a:latin typeface="Inter"/>
              </a:rPr>
              <a:t>FoundRoot</a:t>
            </a:r>
            <a:r>
              <a:rPr lang="en-US" altLang="zh-CN" b="0" i="0" dirty="0">
                <a:effectLst/>
                <a:latin typeface="Inter"/>
              </a:rPr>
              <a:t> </a:t>
            </a:r>
            <a:r>
              <a:rPr lang="zh-CN" altLang="en-US" b="0" i="0" dirty="0">
                <a:effectLst/>
                <a:latin typeface="Inter"/>
              </a:rPr>
              <a:t>在所有数据集和指标上始终优于所有基线，表明具有卓越的 </a:t>
            </a:r>
            <a:r>
              <a:rPr lang="en-US" altLang="zh-CN" b="0" i="0" dirty="0">
                <a:effectLst/>
                <a:latin typeface="Inter"/>
              </a:rPr>
              <a:t>RCA </a:t>
            </a:r>
            <a:r>
              <a:rPr lang="zh-CN" altLang="en-US" b="0" i="0" dirty="0">
                <a:effectLst/>
                <a:latin typeface="Inter"/>
              </a:rPr>
              <a:t>准确性和强大的泛化能力。</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19</a:t>
            </a:fld>
            <a:endParaRPr lang="zh-CN" altLang="en-US"/>
          </a:p>
        </p:txBody>
      </p:sp>
    </p:spTree>
    <p:extLst>
      <p:ext uri="{BB962C8B-B14F-4D97-AF65-F5344CB8AC3E}">
        <p14:creationId xmlns:p14="http://schemas.microsoft.com/office/powerpoint/2010/main" val="1549712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b="0" i="0" dirty="0">
                <a:effectLst/>
                <a:latin typeface="Inter"/>
              </a:rPr>
              <a:t>为了评估结构化深度思维和强化学习的贡献，我们进行了消融研究。评估结果表明，与去掉结构化深度思考和深度思考的变体相比，</a:t>
            </a:r>
            <a:r>
              <a:rPr lang="en-US" altLang="zh-CN" b="0" i="0" dirty="0" err="1">
                <a:effectLst/>
                <a:latin typeface="Inter"/>
              </a:rPr>
              <a:t>FoundRoot</a:t>
            </a:r>
            <a:r>
              <a:rPr lang="en-US" altLang="zh-CN" b="0" i="0" dirty="0">
                <a:effectLst/>
                <a:latin typeface="Inter"/>
              </a:rPr>
              <a:t> </a:t>
            </a:r>
            <a:r>
              <a:rPr lang="zh-CN" altLang="en-US" b="0" i="0" dirty="0">
                <a:effectLst/>
                <a:latin typeface="Inter"/>
              </a:rPr>
              <a:t>取得了一致的改进。这是因为缺乏结构化子步骤会导致推理不完整或故障传播分析不一致。这些结果表明，结构化深度思维在增强零样本 </a:t>
            </a:r>
            <a:r>
              <a:rPr lang="en-US" altLang="zh-CN" b="0" i="0" dirty="0">
                <a:effectLst/>
                <a:latin typeface="Inter"/>
              </a:rPr>
              <a:t>RCA </a:t>
            </a:r>
            <a:r>
              <a:rPr lang="zh-CN" altLang="en-US" b="0" i="0" dirty="0">
                <a:effectLst/>
                <a:latin typeface="Inter"/>
              </a:rPr>
              <a:t>的推理深度和鲁棒性方面发挥着至关重要的作用。本文还实现了一种基于工作流程的方法，该方法使用即时工程来实现结构化思维格式，而不是使用 </a:t>
            </a:r>
            <a:r>
              <a:rPr lang="en-US" altLang="zh-CN" b="0" i="0" dirty="0">
                <a:effectLst/>
                <a:latin typeface="Inter"/>
              </a:rPr>
              <a:t>RL </a:t>
            </a:r>
            <a:r>
              <a:rPr lang="zh-CN" altLang="en-US" b="0" i="0" dirty="0">
                <a:effectLst/>
                <a:latin typeface="Inter"/>
              </a:rPr>
              <a:t>进行训练。就 </a:t>
            </a:r>
            <a:r>
              <a:rPr lang="en-US" altLang="zh-CN" b="0" i="0" dirty="0">
                <a:effectLst/>
                <a:latin typeface="Inter"/>
              </a:rPr>
              <a:t>RCA </a:t>
            </a:r>
            <a:r>
              <a:rPr lang="zh-CN" altLang="en-US" b="0" i="0" dirty="0">
                <a:effectLst/>
                <a:latin typeface="Inter"/>
              </a:rPr>
              <a:t>准确性而言，基于工作流的模型在所有数据集上仍然达不到 </a:t>
            </a:r>
            <a:r>
              <a:rPr lang="en-US" altLang="zh-CN" b="0" i="0" dirty="0" err="1">
                <a:effectLst/>
                <a:latin typeface="Inter"/>
              </a:rPr>
              <a:t>FoundRoot</a:t>
            </a:r>
            <a:r>
              <a:rPr lang="zh-CN" altLang="en-US" b="0" i="0" dirty="0">
                <a:effectLst/>
                <a:latin typeface="Inter"/>
              </a:rPr>
              <a:t>。这是因为简单地通过提示分解推理过程并不能完全消除幻觉或强制执行连贯的子步骤反思。</a:t>
            </a:r>
            <a:endParaRPr lang="en-US" altLang="zh-CN" b="0" i="0" dirty="0">
              <a:effectLst/>
              <a:latin typeface="Inter"/>
            </a:endParaRPr>
          </a:p>
          <a:p>
            <a:pPr algn="l">
              <a:buFont typeface="Arial" panose="020B0604020202020204" pitchFamily="34" charset="0"/>
              <a:buNone/>
            </a:pPr>
            <a:r>
              <a:rPr lang="zh-CN" altLang="en-US" b="0" i="0" dirty="0">
                <a:effectLst/>
                <a:latin typeface="Inter"/>
              </a:rPr>
              <a:t>本文还对强化学习部分进行消融实验，将两阶段 </a:t>
            </a:r>
            <a:r>
              <a:rPr lang="en-US" altLang="zh-CN" b="0" i="0" dirty="0">
                <a:effectLst/>
                <a:latin typeface="Inter"/>
              </a:rPr>
              <a:t>SFT + RL </a:t>
            </a:r>
            <a:r>
              <a:rPr lang="zh-CN" altLang="en-US" b="0" i="0" dirty="0">
                <a:effectLst/>
                <a:latin typeface="Inter"/>
              </a:rPr>
              <a:t>替换为一阶段 </a:t>
            </a:r>
            <a:r>
              <a:rPr lang="en-US" altLang="zh-CN" b="0" i="0" dirty="0" err="1">
                <a:effectLst/>
                <a:latin typeface="Inter"/>
              </a:rPr>
              <a:t>WarmUp</a:t>
            </a:r>
            <a:r>
              <a:rPr lang="en-US" altLang="zh-CN" b="0" i="0" dirty="0">
                <a:effectLst/>
                <a:latin typeface="Inter"/>
              </a:rPr>
              <a:t> SFT Only </a:t>
            </a:r>
            <a:r>
              <a:rPr lang="zh-CN" altLang="en-US" b="0" i="0" dirty="0">
                <a:effectLst/>
                <a:latin typeface="Inter"/>
              </a:rPr>
              <a:t>版本和两阶段 </a:t>
            </a:r>
            <a:r>
              <a:rPr lang="en-US" altLang="zh-CN" b="0" i="0" dirty="0">
                <a:effectLst/>
                <a:latin typeface="Inter"/>
              </a:rPr>
              <a:t>SFT + SFT </a:t>
            </a:r>
            <a:r>
              <a:rPr lang="zh-CN" altLang="en-US" b="0" i="0" dirty="0">
                <a:effectLst/>
                <a:latin typeface="Inter"/>
              </a:rPr>
              <a:t>版本，可以发现性能都有下降</a:t>
            </a:r>
            <a:endParaRPr lang="en-US" altLang="zh-CN" b="0" i="0" dirty="0">
              <a:effectLst/>
              <a:latin typeface="Inter"/>
            </a:endParaRPr>
          </a:p>
          <a:p>
            <a:pPr algn="l">
              <a:buFont typeface="Arial" panose="020B0604020202020204" pitchFamily="34" charset="0"/>
              <a:buNone/>
            </a:pP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20</a:t>
            </a:fld>
            <a:endParaRPr lang="zh-CN" altLang="en-US"/>
          </a:p>
        </p:txBody>
      </p:sp>
    </p:spTree>
    <p:extLst>
      <p:ext uri="{BB962C8B-B14F-4D97-AF65-F5344CB8AC3E}">
        <p14:creationId xmlns:p14="http://schemas.microsoft.com/office/powerpoint/2010/main" val="4076704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en-US" altLang="zh-CN" b="0" i="0" dirty="0">
                <a:effectLst/>
                <a:latin typeface="Inter"/>
              </a:rPr>
              <a:t>4.4 </a:t>
            </a:r>
            <a:r>
              <a:rPr lang="zh-CN" altLang="en-US" b="0" i="0" dirty="0">
                <a:effectLst/>
                <a:latin typeface="Inter"/>
              </a:rPr>
              <a:t>结构化的深度思考是否能在未知系统的表现上提升。我们比较了没有结构化深度思考的训练和评估曲线。在评估集上，</a:t>
            </a:r>
            <a:r>
              <a:rPr lang="en-US" altLang="zh-CN" b="0" i="0" dirty="0" err="1">
                <a:effectLst/>
                <a:latin typeface="Inter"/>
              </a:rPr>
              <a:t>FoundRoot</a:t>
            </a:r>
            <a:r>
              <a:rPr lang="zh-CN" altLang="en-US" b="0" i="0" dirty="0">
                <a:effectLst/>
                <a:latin typeface="Inter"/>
              </a:rPr>
              <a:t>相比没有结构化深度思考的模型实现了显著的改进。</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21</a:t>
            </a:fld>
            <a:endParaRPr lang="zh-CN" altLang="en-US"/>
          </a:p>
        </p:txBody>
      </p:sp>
    </p:spTree>
    <p:extLst>
      <p:ext uri="{BB962C8B-B14F-4D97-AF65-F5344CB8AC3E}">
        <p14:creationId xmlns:p14="http://schemas.microsoft.com/office/powerpoint/2010/main" val="1802620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None/>
            </a:pPr>
            <a:r>
              <a:rPr lang="zh-CN" altLang="en-US" b="1" dirty="0"/>
              <a:t>最后是结论：</a:t>
            </a:r>
            <a:endParaRPr lang="en-US" altLang="zh-CN" b="1" dirty="0"/>
          </a:p>
          <a:p>
            <a:pPr>
              <a:buFont typeface="Arial" panose="020B0604020202020204" pitchFamily="34" charset="0"/>
              <a:buNone/>
            </a:pPr>
            <a:r>
              <a:rPr lang="en-US" altLang="zh-CN" b="1" dirty="0" err="1"/>
              <a:t>FoundRoot</a:t>
            </a:r>
            <a:r>
              <a:rPr lang="en-US" altLang="zh-CN" dirty="0"/>
              <a:t> </a:t>
            </a:r>
            <a:r>
              <a:rPr lang="zh-CN" altLang="en-US" dirty="0"/>
              <a:t>是首个面向 </a:t>
            </a:r>
            <a:r>
              <a:rPr lang="zh-CN" altLang="en-US" b="1" dirty="0"/>
              <a:t>零样本故障根因分析（</a:t>
            </a:r>
            <a:r>
              <a:rPr lang="en-US" altLang="zh-CN" b="1" dirty="0"/>
              <a:t>RCA</a:t>
            </a:r>
            <a:r>
              <a:rPr lang="zh-CN" altLang="en-US" b="1" dirty="0"/>
              <a:t>）</a:t>
            </a:r>
            <a:r>
              <a:rPr lang="en-US" altLang="zh-CN" dirty="0"/>
              <a:t> </a:t>
            </a:r>
            <a:r>
              <a:rPr lang="zh-CN" altLang="en-US" dirty="0"/>
              <a:t>的 </a:t>
            </a:r>
            <a:r>
              <a:rPr lang="zh-CN" altLang="en-US" b="1" dirty="0"/>
              <a:t>大语言基础模型</a:t>
            </a:r>
            <a:r>
              <a:rPr lang="zh-CN" altLang="en-US" dirty="0"/>
              <a:t>。 </a:t>
            </a:r>
          </a:p>
          <a:p>
            <a:pPr>
              <a:buFont typeface="Arial" panose="020B0604020202020204" pitchFamily="34" charset="0"/>
              <a:buChar char="•"/>
            </a:pPr>
            <a:r>
              <a:rPr lang="zh-CN" altLang="en-US" dirty="0"/>
              <a:t>本文提出了 </a:t>
            </a:r>
            <a:r>
              <a:rPr lang="en-US" altLang="zh-CN" b="1" dirty="0"/>
              <a:t>Structured Deep Thinking</a:t>
            </a:r>
            <a:r>
              <a:rPr lang="zh-CN" altLang="en-US" b="1" dirty="0"/>
              <a:t>（结构化深度思考）</a:t>
            </a:r>
            <a:r>
              <a:rPr lang="zh-CN" altLang="en-US" dirty="0"/>
              <a:t>，将 </a:t>
            </a:r>
            <a:r>
              <a:rPr lang="en-US" altLang="zh-CN" dirty="0"/>
              <a:t>RCA </a:t>
            </a:r>
            <a:r>
              <a:rPr lang="zh-CN" altLang="en-US" dirty="0"/>
              <a:t>分解为多个显式推理阶段，提高了因果推理和故障传播分析能力。 </a:t>
            </a:r>
          </a:p>
          <a:p>
            <a:pPr>
              <a:buFont typeface="Arial" panose="020B0604020202020204" pitchFamily="34" charset="0"/>
              <a:buChar char="•"/>
            </a:pPr>
            <a:r>
              <a:rPr lang="zh-CN" altLang="en-US" dirty="0"/>
              <a:t>本文构建并清洗了 </a:t>
            </a:r>
            <a:r>
              <a:rPr lang="en-US" altLang="zh-CN" b="1" dirty="0"/>
              <a:t>10 </a:t>
            </a:r>
            <a:r>
              <a:rPr lang="zh-CN" altLang="en-US" b="1" dirty="0"/>
              <a:t>个真实 </a:t>
            </a:r>
            <a:r>
              <a:rPr lang="en-US" altLang="zh-CN" b="1" dirty="0"/>
              <a:t>RCA </a:t>
            </a:r>
            <a:r>
              <a:rPr lang="zh-CN" altLang="en-US" b="1" dirty="0"/>
              <a:t>数据集</a:t>
            </a:r>
            <a:r>
              <a:rPr lang="zh-CN" altLang="en-US" dirty="0"/>
              <a:t>，结合数据增强策略，提高了训练数据的多样性和跨领域覆盖能力。 </a:t>
            </a:r>
          </a:p>
          <a:p>
            <a:pPr>
              <a:buFont typeface="Arial" panose="020B0604020202020204" pitchFamily="34" charset="0"/>
              <a:buChar char="•"/>
            </a:pPr>
            <a:r>
              <a:rPr lang="zh-CN" altLang="en-US" dirty="0"/>
              <a:t>提出</a:t>
            </a:r>
            <a:r>
              <a:rPr lang="zh-CN" altLang="en-US" b="1" dirty="0"/>
              <a:t>预热监督微调</a:t>
            </a:r>
            <a:r>
              <a:rPr lang="en-US" altLang="zh-CN" b="1" dirty="0"/>
              <a:t>+ </a:t>
            </a:r>
            <a:r>
              <a:rPr lang="zh-CN" altLang="en-US" b="1" dirty="0"/>
              <a:t>强化学习</a:t>
            </a:r>
            <a:r>
              <a:rPr lang="zh-CN" altLang="en-US" dirty="0"/>
              <a:t> 的两阶段训练框架，使模型先学习结构化推理，再通过强化学习持续优化推理质量和泛化能力。 </a:t>
            </a:r>
          </a:p>
          <a:p>
            <a:pPr>
              <a:buFont typeface="Arial" panose="020B0604020202020204" pitchFamily="34" charset="0"/>
              <a:buChar char="•"/>
            </a:pPr>
            <a:r>
              <a:rPr lang="zh-CN" altLang="en-US" dirty="0"/>
              <a:t>在 </a:t>
            </a:r>
            <a:r>
              <a:rPr lang="en-US" altLang="zh-CN" b="1" dirty="0"/>
              <a:t>4 </a:t>
            </a:r>
            <a:r>
              <a:rPr lang="zh-CN" altLang="en-US" b="1" dirty="0"/>
              <a:t>个 数据集</a:t>
            </a:r>
            <a:r>
              <a:rPr lang="zh-CN" altLang="en-US" dirty="0"/>
              <a:t>上均优于传统 </a:t>
            </a:r>
            <a:r>
              <a:rPr lang="en-US" altLang="zh-CN" dirty="0"/>
              <a:t>RCA </a:t>
            </a:r>
            <a:r>
              <a:rPr lang="zh-CN" altLang="en-US" dirty="0"/>
              <a:t>方法和主流 </a:t>
            </a:r>
            <a:r>
              <a:rPr lang="en-US" altLang="zh-CN" dirty="0"/>
              <a:t>LLM </a:t>
            </a:r>
            <a:r>
              <a:rPr lang="zh-CN" altLang="en-US" dirty="0"/>
              <a:t>方法，</a:t>
            </a:r>
            <a:r>
              <a:rPr lang="en-US" altLang="zh-CN" b="1" dirty="0"/>
              <a:t>MRR </a:t>
            </a:r>
            <a:r>
              <a:rPr lang="zh-CN" altLang="en-US" b="1" dirty="0"/>
              <a:t>最高提升 </a:t>
            </a:r>
            <a:r>
              <a:rPr lang="en-US" altLang="zh-CN" b="1" dirty="0"/>
              <a:t>48.6%</a:t>
            </a:r>
            <a:r>
              <a:rPr lang="zh-CN" altLang="en-US" dirty="0"/>
              <a:t>。 </a:t>
            </a:r>
          </a:p>
          <a:p>
            <a:pPr>
              <a:buFont typeface="Arial" panose="020B0604020202020204" pitchFamily="34" charset="0"/>
              <a:buChar char="•"/>
            </a:pPr>
            <a:r>
              <a:rPr lang="en-US" altLang="zh-CN" b="1" dirty="0" err="1"/>
              <a:t>FoundRoot</a:t>
            </a:r>
            <a:r>
              <a:rPr lang="en-US" altLang="zh-CN" b="1" dirty="0"/>
              <a:t> </a:t>
            </a:r>
            <a:r>
              <a:rPr lang="zh-CN" altLang="en-US" b="1" dirty="0"/>
              <a:t>为基于大语言模型的智能故障根因分析提供了新的基础模型框架，为未来 </a:t>
            </a:r>
            <a:r>
              <a:rPr lang="en-US" altLang="zh-CN" b="1" dirty="0"/>
              <a:t>LLM </a:t>
            </a:r>
            <a:r>
              <a:rPr lang="zh-CN" altLang="en-US" b="1" dirty="0"/>
              <a:t>在 </a:t>
            </a:r>
            <a:r>
              <a:rPr lang="en-US" altLang="zh-CN" b="1" dirty="0"/>
              <a:t>RCA </a:t>
            </a:r>
            <a:r>
              <a:rPr lang="zh-CN" altLang="en-US" b="1" dirty="0"/>
              <a:t>领域的研究奠定了基础。</a:t>
            </a:r>
            <a:r>
              <a:rPr lang="zh-CN" altLang="en-US" dirty="0"/>
              <a:t> </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22</a:t>
            </a:fld>
            <a:endParaRPr lang="zh-CN" altLang="en-US"/>
          </a:p>
        </p:txBody>
      </p:sp>
    </p:spTree>
    <p:extLst>
      <p:ext uri="{BB962C8B-B14F-4D97-AF65-F5344CB8AC3E}">
        <p14:creationId xmlns:p14="http://schemas.microsoft.com/office/powerpoint/2010/main" val="272803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63FB01-8937-E1E8-FC3D-C5740944378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963F5C1-E01F-623B-2514-EFD5E150AE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CB002E-7D2B-D249-A4FD-13FC14530EC7}"/>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5" name="页脚占位符 4">
            <a:extLst>
              <a:ext uri="{FF2B5EF4-FFF2-40B4-BE49-F238E27FC236}">
                <a16:creationId xmlns:a16="http://schemas.microsoft.com/office/drawing/2014/main" id="{E282CF2D-BEC4-900D-09D9-B218911ADE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666173-E753-B4C1-AA9E-BEF532FFE4DB}"/>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4054361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12EFD-6D7C-503F-765D-0793388D35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7B652E3-896F-46A7-592B-4AE6937010B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A75B38-ABCD-614E-CDCA-CAAB81447FAA}"/>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5" name="页脚占位符 4">
            <a:extLst>
              <a:ext uri="{FF2B5EF4-FFF2-40B4-BE49-F238E27FC236}">
                <a16:creationId xmlns:a16="http://schemas.microsoft.com/office/drawing/2014/main" id="{3B71854E-FE47-B763-C148-7D76E83AFA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7F75DB-5F9D-A537-23E0-DE2CCF800AC7}"/>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430175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09DE69-06EF-5C3F-10D6-DE33ADDA941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E374163-024C-7E5F-BD4C-2B3F6C6C8C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BB6E43-2ED9-E13C-99C4-A178CB290341}"/>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5" name="页脚占位符 4">
            <a:extLst>
              <a:ext uri="{FF2B5EF4-FFF2-40B4-BE49-F238E27FC236}">
                <a16:creationId xmlns:a16="http://schemas.microsoft.com/office/drawing/2014/main" id="{9A43BB9F-01D9-AD9F-30BF-A7C795C5CF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53D144-81F0-A9E4-3657-34461C9D6D95}"/>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733627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8AA75-96A5-584F-D146-D3AD17A62F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BFE031-3361-C948-0A09-BA99B482B0A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54D976-A6A0-C22A-860A-4B03195312F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BE8A809-A7AA-73A0-5DB8-1022E400CADC}"/>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6" name="页脚占位符 5">
            <a:extLst>
              <a:ext uri="{FF2B5EF4-FFF2-40B4-BE49-F238E27FC236}">
                <a16:creationId xmlns:a16="http://schemas.microsoft.com/office/drawing/2014/main" id="{77C8DD4D-17CA-60E2-51D7-F6E0F6D89F2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4889B7-521D-A60F-B556-E71F9B901750}"/>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1515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C6DBC-04C3-42FD-54F9-DC540E45516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BDF785-8F5B-11D2-8840-AD321903D5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6C27F26-4CF4-5AA7-7FFA-FDDF16E485D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477AF4-705C-E12A-3FDA-F9250DD065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9E9664C-F4ED-B5AE-0152-715D1250A62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6E7FA51-722C-642A-3635-30386613AEBA}"/>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8" name="页脚占位符 7">
            <a:extLst>
              <a:ext uri="{FF2B5EF4-FFF2-40B4-BE49-F238E27FC236}">
                <a16:creationId xmlns:a16="http://schemas.microsoft.com/office/drawing/2014/main" id="{39420FC9-C3B5-A96E-63D6-8D2E974EB99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0809531-9B1E-AD0E-062B-CFA900881DD3}"/>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70323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2E026-630F-BA4C-3038-6100D63919A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52450D-6E5B-F6B1-B0DC-8CF6C7A5B4D4}"/>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4" name="页脚占位符 3">
            <a:extLst>
              <a:ext uri="{FF2B5EF4-FFF2-40B4-BE49-F238E27FC236}">
                <a16:creationId xmlns:a16="http://schemas.microsoft.com/office/drawing/2014/main" id="{3E163B42-22F4-8902-BC96-660E19CFF3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1FC034C-93E8-0A57-FDC1-25111B39F3E3}"/>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61447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FEB1A8-CD11-7D02-1406-8F7926A5B693}"/>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3" name="页脚占位符 2">
            <a:extLst>
              <a:ext uri="{FF2B5EF4-FFF2-40B4-BE49-F238E27FC236}">
                <a16:creationId xmlns:a16="http://schemas.microsoft.com/office/drawing/2014/main" id="{E5A9BE81-E616-2182-1EC5-D1582DD603B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64B0AE-E055-37CA-1A00-C80B488B9732}"/>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98250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E07D1-A67D-A281-518D-622E198B91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77A667-B80F-657E-149E-A4474652A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0FE8B05-F288-CC62-5E97-32BFC14C5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681916-53EC-DFAB-B039-5D749A33FC59}"/>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6" name="页脚占位符 5">
            <a:extLst>
              <a:ext uri="{FF2B5EF4-FFF2-40B4-BE49-F238E27FC236}">
                <a16:creationId xmlns:a16="http://schemas.microsoft.com/office/drawing/2014/main" id="{91D84BF1-CFFC-4ACE-A3EF-EF7408A31E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CFED01-D541-AB8F-2346-EDE67993614B}"/>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44405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9994E0-870A-F75F-81A6-805DDC36491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E5B8796-2898-CD63-62DA-83697C25DD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6F1531B-2A99-D210-A72A-019077DD2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426392D-E96B-9179-F165-84B117909D13}"/>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6" name="页脚占位符 5">
            <a:extLst>
              <a:ext uri="{FF2B5EF4-FFF2-40B4-BE49-F238E27FC236}">
                <a16:creationId xmlns:a16="http://schemas.microsoft.com/office/drawing/2014/main" id="{990A38F4-364C-9A62-706E-82C40C5FA0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9CB356B-55EB-E3C3-7243-5480FECD8541}"/>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982185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973B5-8CDB-637E-1325-30E8266577A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0C3CF88-741C-A31E-6AD9-048F562DC8C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74C692-A84F-148C-4544-175D234C114E}"/>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5" name="页脚占位符 4">
            <a:extLst>
              <a:ext uri="{FF2B5EF4-FFF2-40B4-BE49-F238E27FC236}">
                <a16:creationId xmlns:a16="http://schemas.microsoft.com/office/drawing/2014/main" id="{CC4F4FB5-5B43-F3DE-E5F1-FAE6C33A6F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890155-18A1-EE8A-45C0-C61CF83B1A9F}"/>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967528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D3F1AB3-AC82-B313-E23B-89FE786249C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71062C6-3BDF-1867-51AE-6F349156DD6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C2B622E-1491-A257-A68B-A807A6F700A3}"/>
              </a:ext>
            </a:extLst>
          </p:cNvPr>
          <p:cNvSpPr>
            <a:spLocks noGrp="1"/>
          </p:cNvSpPr>
          <p:nvPr>
            <p:ph type="dt" sz="half" idx="10"/>
          </p:nvPr>
        </p:nvSpPr>
        <p:spPr/>
        <p:txBody>
          <a:bodyPr/>
          <a:lstStyle/>
          <a:p>
            <a:fld id="{4091DE36-5A53-4DC6-8B2E-3D9E1353942E}" type="datetimeFigureOut">
              <a:rPr lang="zh-CN" altLang="en-US" smtClean="0"/>
              <a:t>2026/7/20</a:t>
            </a:fld>
            <a:endParaRPr lang="zh-CN" altLang="en-US"/>
          </a:p>
        </p:txBody>
      </p:sp>
      <p:sp>
        <p:nvSpPr>
          <p:cNvPr id="5" name="页脚占位符 4">
            <a:extLst>
              <a:ext uri="{FF2B5EF4-FFF2-40B4-BE49-F238E27FC236}">
                <a16:creationId xmlns:a16="http://schemas.microsoft.com/office/drawing/2014/main" id="{A52A6B94-2DC7-AEA6-3D38-CCDD538D8E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57E947-0FAF-CEB5-9FD5-7B9F5EB0382D}"/>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23837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A31C8B-12E1-5DDB-40A1-4BB97A8E6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D9C121B-F094-49D6-5762-852F13843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198A28-5E5F-6758-52B8-31795059A4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91DE36-5A53-4DC6-8B2E-3D9E1353942E}" type="datetimeFigureOut">
              <a:rPr lang="zh-CN" altLang="en-US" smtClean="0"/>
              <a:t>2026/7/20</a:t>
            </a:fld>
            <a:endParaRPr lang="zh-CN" altLang="en-US"/>
          </a:p>
        </p:txBody>
      </p:sp>
      <p:sp>
        <p:nvSpPr>
          <p:cNvPr id="5" name="页脚占位符 4">
            <a:extLst>
              <a:ext uri="{FF2B5EF4-FFF2-40B4-BE49-F238E27FC236}">
                <a16:creationId xmlns:a16="http://schemas.microsoft.com/office/drawing/2014/main" id="{DB8D8A2B-D0AA-7149-4855-242F0354FB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7E9343F2-6C68-0683-356E-7B55B2FF2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2279897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0.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4DA7E30-879A-28D4-13B1-AED7D977BE7E}"/>
              </a:ext>
            </a:extLst>
          </p:cNvPr>
          <p:cNvSpPr txBox="1"/>
          <p:nvPr/>
        </p:nvSpPr>
        <p:spPr>
          <a:xfrm>
            <a:off x="1312522" y="767244"/>
            <a:ext cx="9566954" cy="1754326"/>
          </a:xfrm>
          <a:prstGeom prst="rect">
            <a:avLst/>
          </a:prstGeom>
          <a:noFill/>
        </p:spPr>
        <p:txBody>
          <a:bodyPr wrap="square" rtlCol="0">
            <a:spAutoFit/>
          </a:bodyPr>
          <a:lstStyle/>
          <a:p>
            <a:pPr algn="ctr"/>
            <a:r>
              <a:rPr lang="en-US" altLang="zh-CN" sz="3600" dirty="0" err="1"/>
              <a:t>FoundRoot</a:t>
            </a:r>
            <a:r>
              <a:rPr lang="en-US" altLang="zh-CN" sz="3600" dirty="0"/>
              <a:t>: Towards Foundation Model for Root Cause Analysis  via Structured Deep Thinking</a:t>
            </a:r>
            <a:endParaRPr lang="zh-CN" altLang="en-US" sz="3600" dirty="0"/>
          </a:p>
        </p:txBody>
      </p:sp>
      <p:sp>
        <p:nvSpPr>
          <p:cNvPr id="5" name="文本框 4">
            <a:extLst>
              <a:ext uri="{FF2B5EF4-FFF2-40B4-BE49-F238E27FC236}">
                <a16:creationId xmlns:a16="http://schemas.microsoft.com/office/drawing/2014/main" id="{C3D83160-5E89-90B4-6690-2DD53FAD3DD5}"/>
              </a:ext>
            </a:extLst>
          </p:cNvPr>
          <p:cNvSpPr txBox="1"/>
          <p:nvPr/>
        </p:nvSpPr>
        <p:spPr>
          <a:xfrm>
            <a:off x="923635" y="3467653"/>
            <a:ext cx="10344728" cy="830997"/>
          </a:xfrm>
          <a:prstGeom prst="rect">
            <a:avLst/>
          </a:prstGeom>
          <a:noFill/>
        </p:spPr>
        <p:txBody>
          <a:bodyPr wrap="square" rtlCol="0">
            <a:spAutoFit/>
          </a:bodyPr>
          <a:lstStyle/>
          <a:p>
            <a:pPr algn="ctr"/>
            <a:r>
              <a:rPr lang="en-US" altLang="zh-CN" sz="2400" dirty="0" err="1"/>
              <a:t>Zhe</a:t>
            </a:r>
            <a:r>
              <a:rPr lang="en-US" altLang="zh-CN" sz="2400" dirty="0"/>
              <a:t> Xie, Zeyan Li, Xiao He, </a:t>
            </a:r>
            <a:r>
              <a:rPr lang="en-US" altLang="zh-CN" sz="2400" dirty="0" err="1"/>
              <a:t>Shenglin</a:t>
            </a:r>
            <a:r>
              <a:rPr lang="en-US" altLang="zh-CN" sz="2400" dirty="0"/>
              <a:t> Zhang, </a:t>
            </a:r>
            <a:r>
              <a:rPr lang="en-US" altLang="zh-CN" sz="2400" dirty="0" err="1"/>
              <a:t>Longlong</a:t>
            </a:r>
            <a:r>
              <a:rPr lang="en-US" altLang="zh-CN" sz="2400" dirty="0"/>
              <a:t> Xu, </a:t>
            </a:r>
            <a:r>
              <a:rPr lang="en-US" altLang="zh-CN" sz="2400" dirty="0" err="1"/>
              <a:t>Yuzhuo</a:t>
            </a:r>
            <a:r>
              <a:rPr lang="en-US" altLang="zh-CN" sz="2400" dirty="0"/>
              <a:t> Yang, </a:t>
            </a:r>
            <a:r>
              <a:rPr lang="en-US" altLang="zh-CN" sz="2400" dirty="0" err="1"/>
              <a:t>Tieying</a:t>
            </a:r>
            <a:r>
              <a:rPr lang="en-US" altLang="zh-CN" sz="2400" dirty="0"/>
              <a:t> Zhang, Jianjun Chen, Rui Shi, and Dan Pei</a:t>
            </a:r>
            <a:endParaRPr lang="zh-CN" altLang="en-US" sz="2400" dirty="0"/>
          </a:p>
        </p:txBody>
      </p:sp>
      <p:sp>
        <p:nvSpPr>
          <p:cNvPr id="6" name="文本框 5">
            <a:extLst>
              <a:ext uri="{FF2B5EF4-FFF2-40B4-BE49-F238E27FC236}">
                <a16:creationId xmlns:a16="http://schemas.microsoft.com/office/drawing/2014/main" id="{990547BB-ED81-9DEE-DF5B-8F4C9584658E}"/>
              </a:ext>
            </a:extLst>
          </p:cNvPr>
          <p:cNvSpPr txBox="1"/>
          <p:nvPr/>
        </p:nvSpPr>
        <p:spPr>
          <a:xfrm>
            <a:off x="3939309" y="4816146"/>
            <a:ext cx="4313382" cy="400110"/>
          </a:xfrm>
          <a:prstGeom prst="rect">
            <a:avLst/>
          </a:prstGeom>
          <a:noFill/>
        </p:spPr>
        <p:txBody>
          <a:bodyPr wrap="square" rtlCol="0">
            <a:spAutoFit/>
          </a:bodyPr>
          <a:lstStyle/>
          <a:p>
            <a:pPr algn="ctr"/>
            <a:r>
              <a:rPr lang="en-US" altLang="zh-CN" sz="2000" dirty="0"/>
              <a:t>ICSE 2026</a:t>
            </a:r>
            <a:endParaRPr lang="zh-CN" altLang="en-US" sz="2000" dirty="0"/>
          </a:p>
        </p:txBody>
      </p:sp>
      <p:sp>
        <p:nvSpPr>
          <p:cNvPr id="7" name="文本框 6">
            <a:extLst>
              <a:ext uri="{FF2B5EF4-FFF2-40B4-BE49-F238E27FC236}">
                <a16:creationId xmlns:a16="http://schemas.microsoft.com/office/drawing/2014/main" id="{BB4B9F1D-CFB3-767A-9D36-3391BE7845A8}"/>
              </a:ext>
            </a:extLst>
          </p:cNvPr>
          <p:cNvSpPr txBox="1"/>
          <p:nvPr/>
        </p:nvSpPr>
        <p:spPr>
          <a:xfrm>
            <a:off x="4835235" y="5574195"/>
            <a:ext cx="2521528" cy="400110"/>
          </a:xfrm>
          <a:prstGeom prst="rect">
            <a:avLst/>
          </a:prstGeom>
          <a:noFill/>
        </p:spPr>
        <p:txBody>
          <a:bodyPr wrap="square" rtlCol="0">
            <a:spAutoFit/>
          </a:bodyPr>
          <a:lstStyle/>
          <a:p>
            <a:pPr algn="ctr"/>
            <a:r>
              <a:rPr lang="en-US" altLang="zh-CN" sz="2000" dirty="0"/>
              <a:t>12 April</a:t>
            </a:r>
            <a:r>
              <a:rPr lang="zh-CN" altLang="en-US" sz="2000" dirty="0"/>
              <a:t>，</a:t>
            </a:r>
            <a:r>
              <a:rPr lang="en-US" altLang="zh-CN" sz="2000" dirty="0"/>
              <a:t>2026</a:t>
            </a:r>
            <a:endParaRPr lang="zh-CN" altLang="en-US" sz="2000" dirty="0"/>
          </a:p>
        </p:txBody>
      </p:sp>
    </p:spTree>
    <p:extLst>
      <p:ext uri="{BB962C8B-B14F-4D97-AF65-F5344CB8AC3E}">
        <p14:creationId xmlns:p14="http://schemas.microsoft.com/office/powerpoint/2010/main" val="2422338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C321AA5-BA3B-7FC7-6B37-E772F5393D0D}"/>
              </a:ext>
            </a:extLst>
          </p:cNvPr>
          <p:cNvSpPr>
            <a:spLocks noGrp="1"/>
          </p:cNvSpPr>
          <p:nvPr/>
        </p:nvSpPr>
        <p:spPr>
          <a:xfrm>
            <a:off x="838200" y="1192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Outline</a:t>
            </a:r>
            <a:endParaRPr lang="zh-CN" altLang="en-US" dirty="0"/>
          </a:p>
        </p:txBody>
      </p:sp>
      <p:sp>
        <p:nvSpPr>
          <p:cNvPr id="6" name="内容占位符 2">
            <a:extLst>
              <a:ext uri="{FF2B5EF4-FFF2-40B4-BE49-F238E27FC236}">
                <a16:creationId xmlns:a16="http://schemas.microsoft.com/office/drawing/2014/main" id="{4CE4009A-611D-C576-03BA-A2CF76254033}"/>
              </a:ext>
            </a:extLst>
          </p:cNvPr>
          <p:cNvSpPr>
            <a:spLocks noGrp="1"/>
          </p:cNvSpPr>
          <p:nvPr/>
        </p:nvSpPr>
        <p:spPr>
          <a:xfrm>
            <a:off x="838200" y="1444832"/>
            <a:ext cx="10515600" cy="435133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dirty="0"/>
              <a:t>1. Background</a:t>
            </a:r>
          </a:p>
          <a:p>
            <a:pPr>
              <a:lnSpc>
                <a:spcPct val="150000"/>
              </a:lnSpc>
            </a:pPr>
            <a:r>
              <a:rPr lang="en-US" altLang="zh-CN" dirty="0"/>
              <a:t>2. Challenges</a:t>
            </a:r>
          </a:p>
          <a:p>
            <a:pPr>
              <a:lnSpc>
                <a:spcPct val="150000"/>
              </a:lnSpc>
            </a:pPr>
            <a:r>
              <a:rPr lang="en-US" altLang="zh-CN" dirty="0"/>
              <a:t>3. Methodology</a:t>
            </a:r>
          </a:p>
          <a:p>
            <a:pPr>
              <a:lnSpc>
                <a:spcPct val="150000"/>
              </a:lnSpc>
            </a:pPr>
            <a:r>
              <a:rPr lang="en-US" altLang="zh-CN" dirty="0"/>
              <a:t>4. Experiments</a:t>
            </a:r>
          </a:p>
          <a:p>
            <a:pPr>
              <a:lnSpc>
                <a:spcPct val="150000"/>
              </a:lnSpc>
            </a:pPr>
            <a:r>
              <a:rPr lang="en-US" altLang="zh-CN" dirty="0"/>
              <a:t>5. Conclusion</a:t>
            </a:r>
            <a:endParaRPr lang="zh-CN" altLang="en-US" dirty="0"/>
          </a:p>
        </p:txBody>
      </p:sp>
    </p:spTree>
    <p:extLst>
      <p:ext uri="{BB962C8B-B14F-4D97-AF65-F5344CB8AC3E}">
        <p14:creationId xmlns:p14="http://schemas.microsoft.com/office/powerpoint/2010/main" val="236775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1. Background</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566918" y="1771521"/>
            <a:ext cx="10695709" cy="3447098"/>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600" b="0" i="0" dirty="0">
                <a:solidFill>
                  <a:srgbClr val="000000"/>
                </a:solidFill>
                <a:effectLst/>
              </a:rPr>
              <a:t>Modern cloud-native systems consist of hundreds of interconnected services, making Root Cause Analysis (RCA) increasingly complex.</a:t>
            </a:r>
          </a:p>
          <a:p>
            <a:pPr marL="742950" lvl="1" indent="-285750" algn="l">
              <a:spcAft>
                <a:spcPts val="600"/>
              </a:spcAft>
              <a:buFont typeface="Arial" panose="020B0604020202020204" pitchFamily="34" charset="0"/>
              <a:buChar char="•"/>
            </a:pPr>
            <a:r>
              <a:rPr lang="en-US" altLang="zh-CN" sz="2600" dirty="0">
                <a:solidFill>
                  <a:srgbClr val="000000"/>
                </a:solidFill>
              </a:rPr>
              <a:t>Recent reasoning LLMs (e.g., DeepSeek-R1 and OpenAI o4-mini) have demonstrated remarkable deep thinking capabilities on mathematics and programming tasks.</a:t>
            </a:r>
          </a:p>
          <a:p>
            <a:pPr marL="742950" lvl="1" indent="-285750" algn="l">
              <a:spcAft>
                <a:spcPts val="600"/>
              </a:spcAft>
              <a:buFont typeface="Arial" panose="020B0604020202020204" pitchFamily="34" charset="0"/>
              <a:buChar char="•"/>
            </a:pPr>
            <a:r>
              <a:rPr lang="en-US" altLang="zh-CN" sz="2600" dirty="0">
                <a:solidFill>
                  <a:srgbClr val="000000"/>
                </a:solidFill>
              </a:rPr>
              <a:t>These models show great potential for Root Cause Analysis (RCA), which requires multi-step causal reasoning over complex monitoring metrics.</a:t>
            </a:r>
          </a:p>
        </p:txBody>
      </p:sp>
    </p:spTree>
    <p:extLst>
      <p:ext uri="{BB962C8B-B14F-4D97-AF65-F5344CB8AC3E}">
        <p14:creationId xmlns:p14="http://schemas.microsoft.com/office/powerpoint/2010/main" val="3331146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1. Background</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566919" y="1422202"/>
            <a:ext cx="5946898" cy="4970591"/>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600" dirty="0">
                <a:solidFill>
                  <a:srgbClr val="000000"/>
                </a:solidFill>
              </a:rPr>
              <a:t>However, RCA differs fundamentally from mathematical reasoning because it requires comprehensive anomaly detection, fault propagation analysis, and iterative reflection across numerous system components.</a:t>
            </a:r>
          </a:p>
          <a:p>
            <a:pPr marL="742950" lvl="1" indent="-285750" algn="l">
              <a:spcAft>
                <a:spcPts val="600"/>
              </a:spcAft>
              <a:buFont typeface="Arial" panose="020B0604020202020204" pitchFamily="34" charset="0"/>
              <a:buChar char="•"/>
            </a:pPr>
            <a:r>
              <a:rPr lang="en-US" altLang="zh-CN" sz="2600" dirty="0">
                <a:solidFill>
                  <a:srgbClr val="000000"/>
                </a:solidFill>
              </a:rPr>
              <a:t>Therefore, there is a need for an RCA foundation model that learns structured deep thinking specifically designed for fault diagnosis.</a:t>
            </a:r>
          </a:p>
        </p:txBody>
      </p:sp>
      <p:pic>
        <p:nvPicPr>
          <p:cNvPr id="3" name="图片 2">
            <a:extLst>
              <a:ext uri="{FF2B5EF4-FFF2-40B4-BE49-F238E27FC236}">
                <a16:creationId xmlns:a16="http://schemas.microsoft.com/office/drawing/2014/main" id="{436FCDDB-CB56-4A0D-CE95-2C8B28DB4503}"/>
              </a:ext>
            </a:extLst>
          </p:cNvPr>
          <p:cNvPicPr>
            <a:picLocks noChangeAspect="1"/>
          </p:cNvPicPr>
          <p:nvPr/>
        </p:nvPicPr>
        <p:blipFill>
          <a:blip r:embed="rId3"/>
          <a:stretch>
            <a:fillRect/>
          </a:stretch>
        </p:blipFill>
        <p:spPr>
          <a:xfrm>
            <a:off x="6637106" y="1766577"/>
            <a:ext cx="5232720" cy="4009352"/>
          </a:xfrm>
          <a:prstGeom prst="rect">
            <a:avLst/>
          </a:prstGeom>
        </p:spPr>
      </p:pic>
    </p:spTree>
    <p:extLst>
      <p:ext uri="{BB962C8B-B14F-4D97-AF65-F5344CB8AC3E}">
        <p14:creationId xmlns:p14="http://schemas.microsoft.com/office/powerpoint/2010/main" val="2611324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2. Challenges </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451415" y="1190442"/>
            <a:ext cx="11250850" cy="3154710"/>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b="1" i="0" dirty="0">
                <a:solidFill>
                  <a:srgbClr val="000000"/>
                </a:solidFill>
                <a:effectLst/>
              </a:rPr>
              <a:t>2.1 General Deep Thinking is Not RCA Thinking</a:t>
            </a:r>
            <a:r>
              <a:rPr lang="en-US" altLang="zh-CN" sz="2800" b="0" i="0" dirty="0">
                <a:solidFill>
                  <a:srgbClr val="000000"/>
                </a:solidFill>
                <a:effectLst/>
                <a:latin typeface="Inter"/>
              </a:rPr>
              <a:t>: </a:t>
            </a:r>
          </a:p>
          <a:p>
            <a:pPr marL="1200150" lvl="2" indent="-285750">
              <a:spcAft>
                <a:spcPts val="600"/>
              </a:spcAft>
              <a:buFont typeface="Arial" panose="020B0604020202020204" pitchFamily="34" charset="0"/>
              <a:buChar char="•"/>
            </a:pPr>
            <a:r>
              <a:rPr lang="en-US" altLang="zh-CN" sz="2600" b="0" i="0" dirty="0">
                <a:solidFill>
                  <a:srgbClr val="000000"/>
                </a:solidFill>
                <a:effectLst/>
              </a:rPr>
              <a:t>Existing reasoning LLMs are optimized for mathematics and coding rather than operational diagnosis.</a:t>
            </a:r>
          </a:p>
          <a:p>
            <a:pPr marL="1200150" lvl="2" indent="-285750">
              <a:spcAft>
                <a:spcPts val="600"/>
              </a:spcAft>
              <a:buFont typeface="Arial" panose="020B0604020202020204" pitchFamily="34" charset="0"/>
              <a:buChar char="•"/>
            </a:pPr>
            <a:r>
              <a:rPr lang="en-US" altLang="zh-CN" sz="2600" b="0" i="0" dirty="0">
                <a:solidFill>
                  <a:srgbClr val="000000"/>
                </a:solidFill>
                <a:effectLst/>
              </a:rPr>
              <a:t>They frequently miss critical anomalous metrics and perform incomplete fault propagation analysis.</a:t>
            </a:r>
          </a:p>
          <a:p>
            <a:pPr marL="1200150" lvl="2" indent="-285750">
              <a:spcAft>
                <a:spcPts val="600"/>
              </a:spcAft>
              <a:buFont typeface="Arial" panose="020B0604020202020204" pitchFamily="34" charset="0"/>
              <a:buChar char="•"/>
            </a:pPr>
            <a:r>
              <a:rPr lang="en-US" altLang="zh-CN" sz="2600" b="0" i="0" dirty="0">
                <a:solidFill>
                  <a:srgbClr val="000000"/>
                </a:solidFill>
                <a:effectLst/>
              </a:rPr>
              <a:t>Their reasoning process lacks the structured workflow required for RCA.</a:t>
            </a:r>
          </a:p>
        </p:txBody>
      </p:sp>
      <p:sp>
        <p:nvSpPr>
          <p:cNvPr id="3" name="文本框 2">
            <a:extLst>
              <a:ext uri="{FF2B5EF4-FFF2-40B4-BE49-F238E27FC236}">
                <a16:creationId xmlns:a16="http://schemas.microsoft.com/office/drawing/2014/main" id="{D465FC68-0496-10A7-A38B-8ECD36045800}"/>
              </a:ext>
            </a:extLst>
          </p:cNvPr>
          <p:cNvSpPr txBox="1"/>
          <p:nvPr/>
        </p:nvSpPr>
        <p:spPr>
          <a:xfrm>
            <a:off x="459976" y="4414812"/>
            <a:ext cx="11250850" cy="2231380"/>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b="1" i="0" dirty="0">
                <a:solidFill>
                  <a:srgbClr val="000000"/>
                </a:solidFill>
                <a:effectLst/>
              </a:rPr>
              <a:t>2.2 Existing Workflow-based Methods Have Limited Reasoning Ability</a:t>
            </a:r>
            <a:r>
              <a:rPr lang="en-US" altLang="zh-CN" sz="2800" b="0" i="0" dirty="0">
                <a:solidFill>
                  <a:srgbClr val="000000"/>
                </a:solidFill>
                <a:effectLst/>
                <a:latin typeface="Inter"/>
              </a:rPr>
              <a:t>: </a:t>
            </a:r>
          </a:p>
          <a:p>
            <a:pPr marL="1200150" lvl="2" indent="-285750">
              <a:spcAft>
                <a:spcPts val="600"/>
              </a:spcAft>
              <a:buFont typeface="Arial" panose="020B0604020202020204" pitchFamily="34" charset="0"/>
              <a:buChar char="•"/>
            </a:pPr>
            <a:r>
              <a:rPr lang="en-US" altLang="zh-CN" sz="2600" b="0" i="0" dirty="0">
                <a:solidFill>
                  <a:srgbClr val="000000"/>
                </a:solidFill>
                <a:effectLst/>
              </a:rPr>
              <a:t>Workflow prompting cannot fundamentally eliminate hallucinations or improve causal </a:t>
            </a:r>
            <a:r>
              <a:rPr lang="en-US" altLang="zh-CN" sz="2600" b="0" i="0" dirty="0" err="1">
                <a:solidFill>
                  <a:srgbClr val="000000"/>
                </a:solidFill>
                <a:effectLst/>
              </a:rPr>
              <a:t>reasoning.They</a:t>
            </a:r>
            <a:r>
              <a:rPr lang="en-US" altLang="zh-CN" sz="2600" b="0" i="0" dirty="0">
                <a:solidFill>
                  <a:srgbClr val="000000"/>
                </a:solidFill>
                <a:effectLst/>
              </a:rPr>
              <a:t> frequently miss critical anomalous metrics and perform incomplete fault propagation analysis.</a:t>
            </a:r>
          </a:p>
        </p:txBody>
      </p:sp>
    </p:spTree>
    <p:extLst>
      <p:ext uri="{BB962C8B-B14F-4D97-AF65-F5344CB8AC3E}">
        <p14:creationId xmlns:p14="http://schemas.microsoft.com/office/powerpoint/2010/main" val="662885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2. Challenges </a:t>
            </a:r>
            <a:endParaRPr lang="zh-CN" altLang="en-US" sz="4400" dirty="0"/>
          </a:p>
        </p:txBody>
      </p:sp>
      <p:sp>
        <p:nvSpPr>
          <p:cNvPr id="2" name="文本框 1">
            <a:extLst>
              <a:ext uri="{FF2B5EF4-FFF2-40B4-BE49-F238E27FC236}">
                <a16:creationId xmlns:a16="http://schemas.microsoft.com/office/drawing/2014/main" id="{0814D58A-3D58-2300-6A02-16C8311E897E}"/>
              </a:ext>
            </a:extLst>
          </p:cNvPr>
          <p:cNvSpPr txBox="1"/>
          <p:nvPr/>
        </p:nvSpPr>
        <p:spPr>
          <a:xfrm>
            <a:off x="449704" y="1209267"/>
            <a:ext cx="11303931" cy="2277547"/>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b="1" i="0" dirty="0">
                <a:solidFill>
                  <a:srgbClr val="000000"/>
                </a:solidFill>
                <a:effectLst/>
              </a:rPr>
              <a:t>2.3 Poor Generalization Across Systems</a:t>
            </a:r>
            <a:r>
              <a:rPr lang="en-US" altLang="zh-CN" sz="2800" b="0" i="0" dirty="0">
                <a:solidFill>
                  <a:srgbClr val="000000"/>
                </a:solidFill>
                <a:effectLst/>
                <a:latin typeface="Inter"/>
              </a:rPr>
              <a:t>: </a:t>
            </a:r>
          </a:p>
          <a:p>
            <a:pPr marL="1200150" lvl="2" indent="-285750">
              <a:spcAft>
                <a:spcPts val="600"/>
              </a:spcAft>
              <a:buFont typeface="Arial" panose="020B0604020202020204" pitchFamily="34" charset="0"/>
              <a:buChar char="•"/>
            </a:pPr>
            <a:r>
              <a:rPr lang="en-US" altLang="zh-CN" sz="2600" b="0" i="0" dirty="0">
                <a:solidFill>
                  <a:srgbClr val="000000"/>
                </a:solidFill>
                <a:effectLst/>
              </a:rPr>
              <a:t>Existing methods struggle to generalize across systems with different architectures and monitoring metrics.</a:t>
            </a:r>
          </a:p>
          <a:p>
            <a:pPr marL="1200150" lvl="2" indent="-285750">
              <a:spcAft>
                <a:spcPts val="600"/>
              </a:spcAft>
              <a:buFont typeface="Arial" panose="020B0604020202020204" pitchFamily="34" charset="0"/>
              <a:buChar char="•"/>
            </a:pPr>
            <a:r>
              <a:rPr lang="en-US" altLang="zh-CN" sz="2600" b="0" i="0" dirty="0">
                <a:solidFill>
                  <a:srgbClr val="000000"/>
                </a:solidFill>
                <a:effectLst/>
              </a:rPr>
              <a:t>Achieving zero-shot RCA on unseen systems remains an open challenge.</a:t>
            </a:r>
          </a:p>
        </p:txBody>
      </p:sp>
      <p:pic>
        <p:nvPicPr>
          <p:cNvPr id="8" name="图片 7">
            <a:extLst>
              <a:ext uri="{FF2B5EF4-FFF2-40B4-BE49-F238E27FC236}">
                <a16:creationId xmlns:a16="http://schemas.microsoft.com/office/drawing/2014/main" id="{CADE5690-4F2C-65E7-88E6-BAC6B3FA44D1}"/>
              </a:ext>
            </a:extLst>
          </p:cNvPr>
          <p:cNvPicPr>
            <a:picLocks noChangeAspect="1"/>
          </p:cNvPicPr>
          <p:nvPr/>
        </p:nvPicPr>
        <p:blipFill>
          <a:blip r:embed="rId3"/>
          <a:stretch>
            <a:fillRect/>
          </a:stretch>
        </p:blipFill>
        <p:spPr>
          <a:xfrm>
            <a:off x="3414338" y="3486814"/>
            <a:ext cx="5363323" cy="3048425"/>
          </a:xfrm>
          <a:prstGeom prst="rect">
            <a:avLst/>
          </a:prstGeom>
        </p:spPr>
      </p:pic>
    </p:spTree>
    <p:extLst>
      <p:ext uri="{BB962C8B-B14F-4D97-AF65-F5344CB8AC3E}">
        <p14:creationId xmlns:p14="http://schemas.microsoft.com/office/powerpoint/2010/main" val="3240137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3.1 Problem Formulation</a:t>
            </a:r>
            <a:endParaRPr lang="zh-CN" altLang="en-US" sz="44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268FEFB-03C7-F3AD-054E-C75FAF6B2AB8}"/>
                  </a:ext>
                </a:extLst>
              </p:cNvPr>
              <p:cNvSpPr txBox="1"/>
              <p:nvPr/>
            </p:nvSpPr>
            <p:spPr>
              <a:xfrm>
                <a:off x="452062" y="1552039"/>
                <a:ext cx="11650895" cy="3008965"/>
              </a:xfrm>
              <a:prstGeom prst="rect">
                <a:avLst/>
              </a:prstGeom>
              <a:noFill/>
            </p:spPr>
            <p:txBody>
              <a:bodyPr wrap="square" rtlCol="0">
                <a:spAutoFit/>
              </a:bodyPr>
              <a:lstStyle/>
              <a:p>
                <a:pPr marL="742950" lvl="1" indent="-285750">
                  <a:spcAft>
                    <a:spcPts val="600"/>
                  </a:spcAft>
                  <a:buFont typeface="Arial" panose="020B0604020202020204" pitchFamily="34" charset="0"/>
                  <a:buChar char="•"/>
                </a:pPr>
                <a:r>
                  <a:rPr lang="en-US" altLang="zh-CN" sz="2800" dirty="0">
                    <a:solidFill>
                      <a:srgbClr val="000000"/>
                    </a:solidFill>
                  </a:rPr>
                  <a:t>In a collection of datasets </a:t>
                </a:r>
                <a14:m>
                  <m:oMath xmlns:m="http://schemas.openxmlformats.org/officeDocument/2006/math">
                    <m:r>
                      <a:rPr lang="zh-CN" altLang="en-US" sz="2800" i="1" smtClean="0">
                        <a:solidFill>
                          <a:srgbClr val="000000"/>
                        </a:solidFill>
                        <a:latin typeface="Cambria Math" panose="02040503050406030204" pitchFamily="18" charset="0"/>
                      </a:rPr>
                      <m:t>𝒟</m:t>
                    </m:r>
                  </m:oMath>
                </a14:m>
                <a:r>
                  <a:rPr lang="en-US" altLang="zh-CN" sz="2800" dirty="0">
                    <a:solidFill>
                      <a:srgbClr val="000000"/>
                    </a:solidFill>
                  </a:rPr>
                  <a:t>, each dataset </a:t>
                </a:r>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𝐷</m:t>
                        </m:r>
                      </m:e>
                      <m:sub>
                        <m:r>
                          <a:rPr lang="en-US" altLang="zh-CN" sz="2800" b="0" i="1" smtClean="0">
                            <a:solidFill>
                              <a:srgbClr val="000000"/>
                            </a:solidFill>
                            <a:latin typeface="Cambria Math" panose="02040503050406030204" pitchFamily="18" charset="0"/>
                          </a:rPr>
                          <m:t>𝑚</m:t>
                        </m:r>
                      </m:sub>
                    </m:sSub>
                    <m:r>
                      <a:rPr lang="zh-CN" altLang="en-US" sz="2800" i="1">
                        <a:solidFill>
                          <a:srgbClr val="000000"/>
                        </a:solidFill>
                        <a:latin typeface="Cambria Math" panose="02040503050406030204" pitchFamily="18" charset="0"/>
                      </a:rPr>
                      <m:t>𝜖</m:t>
                    </m:r>
                    <m:r>
                      <a:rPr lang="en-US" altLang="zh-CN" sz="2800" b="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𝒟</m:t>
                    </m:r>
                  </m:oMath>
                </a14:m>
                <a:r>
                  <a:rPr lang="en-US" altLang="zh-CN" sz="2800" dirty="0">
                    <a:solidFill>
                      <a:srgbClr val="000000"/>
                    </a:solidFill>
                  </a:rPr>
                  <a:t> contains several failure cases. Each failure case is composed of</a:t>
                </a:r>
                <a:r>
                  <a:rPr lang="zh-CN" altLang="en-US" sz="2800" dirty="0">
                    <a:solidFill>
                      <a:srgbClr val="000000"/>
                    </a:solidFill>
                  </a:rPr>
                  <a:t>：</a:t>
                </a:r>
                <a:endParaRPr lang="en-US" altLang="zh-CN" sz="2800" dirty="0">
                  <a:solidFill>
                    <a:srgbClr val="000000"/>
                  </a:solidFill>
                </a:endParaRPr>
              </a:p>
              <a:p>
                <a:pPr marL="742950" lvl="1" indent="-285750">
                  <a:spcAft>
                    <a:spcPts val="600"/>
                  </a:spcAft>
                  <a:buFont typeface="Arial" panose="020B0604020202020204" pitchFamily="34" charset="0"/>
                  <a:buChar char="•"/>
                </a:pPr>
                <a:r>
                  <a:rPr lang="en-US" altLang="zh-CN" sz="2800" dirty="0">
                    <a:solidFill>
                      <a:srgbClr val="000000"/>
                    </a:solidFill>
                  </a:rPr>
                  <a:t>A set of multivariate time series windows </a:t>
                </a:r>
                <a14:m>
                  <m:oMath xmlns:m="http://schemas.openxmlformats.org/officeDocument/2006/math">
                    <m:r>
                      <a:rPr lang="zh-CN" altLang="en-US" sz="2800" i="1" smtClean="0">
                        <a:solidFill>
                          <a:srgbClr val="000000"/>
                        </a:solidFill>
                        <a:latin typeface="Cambria Math" panose="02040503050406030204" pitchFamily="18" charset="0"/>
                      </a:rPr>
                      <m:t>𝜒</m:t>
                    </m:r>
                    <m:r>
                      <a:rPr lang="en-US" altLang="zh-CN" sz="2800" b="0" i="1" smtClean="0">
                        <a:solidFill>
                          <a:srgbClr val="000000"/>
                        </a:solidFill>
                        <a:latin typeface="Cambria Math" panose="02040503050406030204" pitchFamily="18" charset="0"/>
                      </a:rPr>
                      <m:t>=</m:t>
                    </m:r>
                    <m:sSubSup>
                      <m:sSubSupPr>
                        <m:ctrlPr>
                          <a:rPr lang="en-US" altLang="zh-CN" sz="2800" b="0" i="1" smtClean="0">
                            <a:solidFill>
                              <a:srgbClr val="000000"/>
                            </a:solidFill>
                            <a:latin typeface="Cambria Math" panose="02040503050406030204" pitchFamily="18" charset="0"/>
                          </a:rPr>
                        </m:ctrlPr>
                      </m:sSubSupPr>
                      <m:e>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𝑥</m:t>
                            </m:r>
                          </m:e>
                          <m:sub>
                            <m:r>
                              <a:rPr lang="en-US" altLang="zh-CN" sz="2800" b="0" i="1" smtClean="0">
                                <a:solidFill>
                                  <a:srgbClr val="000000"/>
                                </a:solidFill>
                                <a:latin typeface="Cambria Math" panose="02040503050406030204" pitchFamily="18" charset="0"/>
                              </a:rPr>
                              <m:t>𝑖</m:t>
                            </m:r>
                          </m:sub>
                        </m:sSub>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𝑚</m:t>
                            </m:r>
                          </m:e>
                          <m:sub>
                            <m:r>
                              <a:rPr lang="en-US" altLang="zh-CN" sz="2800" b="0" i="1" smtClean="0">
                                <a:solidFill>
                                  <a:srgbClr val="000000"/>
                                </a:solidFill>
                                <a:latin typeface="Cambria Math" panose="02040503050406030204" pitchFamily="18" charset="0"/>
                              </a:rPr>
                              <m:t>𝑖</m:t>
                            </m:r>
                          </m:sub>
                        </m:sSub>
                        <m:r>
                          <a:rPr lang="en-US" altLang="zh-CN" sz="2800" b="0" i="1" smtClean="0">
                            <a:solidFill>
                              <a:srgbClr val="000000"/>
                            </a:solidFill>
                            <a:latin typeface="Cambria Math" panose="02040503050406030204" pitchFamily="18" charset="0"/>
                          </a:rPr>
                          <m:t>,</m:t>
                        </m:r>
                        <m:sSub>
                          <m:sSubPr>
                            <m:ctrlPr>
                              <a:rPr lang="en-US" altLang="zh-CN" sz="2800" b="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𝑐</m:t>
                            </m:r>
                          </m:e>
                          <m:sub>
                            <m:r>
                              <a:rPr lang="en-US" altLang="zh-CN" sz="2800" b="0" i="1" smtClean="0">
                                <a:solidFill>
                                  <a:srgbClr val="000000"/>
                                </a:solidFill>
                                <a:latin typeface="Cambria Math" panose="02040503050406030204" pitchFamily="18" charset="0"/>
                              </a:rPr>
                              <m:t>𝑖</m:t>
                            </m:r>
                          </m:sub>
                        </m:sSub>
                        <m:r>
                          <a:rPr lang="en-US" altLang="zh-CN" sz="2800" b="0" i="1" smtClean="0">
                            <a:solidFill>
                              <a:srgbClr val="000000"/>
                            </a:solidFill>
                            <a:latin typeface="Cambria Math" panose="02040503050406030204" pitchFamily="18" charset="0"/>
                          </a:rPr>
                          <m:t>)}</m:t>
                        </m:r>
                      </m:e>
                      <m:sub>
                        <m:r>
                          <a:rPr lang="en-US" altLang="zh-CN" sz="2800" b="0" i="1" smtClean="0">
                            <a:solidFill>
                              <a:srgbClr val="000000"/>
                            </a:solidFill>
                            <a:latin typeface="Cambria Math" panose="02040503050406030204" pitchFamily="18" charset="0"/>
                          </a:rPr>
                          <m:t>𝑖</m:t>
                        </m:r>
                        <m:r>
                          <a:rPr lang="en-US" altLang="zh-CN" sz="2800" b="0" i="1" smtClean="0">
                            <a:solidFill>
                              <a:srgbClr val="000000"/>
                            </a:solidFill>
                            <a:latin typeface="Cambria Math" panose="02040503050406030204" pitchFamily="18" charset="0"/>
                          </a:rPr>
                          <m:t>=1</m:t>
                        </m:r>
                      </m:sub>
                      <m:sup>
                        <m:r>
                          <a:rPr lang="en-US" altLang="zh-CN" sz="2800" b="0" i="1" smtClean="0">
                            <a:solidFill>
                              <a:srgbClr val="000000"/>
                            </a:solidFill>
                            <a:latin typeface="Cambria Math" panose="02040503050406030204" pitchFamily="18" charset="0"/>
                          </a:rPr>
                          <m:t>𝑁</m:t>
                        </m:r>
                      </m:sup>
                    </m:sSubSup>
                  </m:oMath>
                </a14:m>
                <a:r>
                  <a:rPr lang="en-US" altLang="zh-CN" sz="2800" dirty="0">
                    <a:solidFill>
                      <a:srgbClr val="000000"/>
                    </a:solidFill>
                  </a:rPr>
                  <a:t>.</a:t>
                </a:r>
              </a:p>
              <a:p>
                <a:pPr marL="742950" lvl="1" indent="-285750">
                  <a:spcAft>
                    <a:spcPts val="600"/>
                  </a:spcAft>
                  <a:buFont typeface="Arial" panose="020B0604020202020204" pitchFamily="34" charset="0"/>
                  <a:buChar char="•"/>
                </a:pPr>
                <a:r>
                  <a:rPr lang="en-US" altLang="zh-CN" sz="2800" dirty="0">
                    <a:solidFill>
                      <a:srgbClr val="000000"/>
                    </a:solidFill>
                  </a:rPr>
                  <a:t>A component dependency graph</a:t>
                </a:r>
                <a14:m>
                  <m:oMath xmlns:m="http://schemas.openxmlformats.org/officeDocument/2006/math">
                    <m:r>
                      <a:rPr lang="en-US" altLang="zh-CN" sz="2800" b="0" i="0" smtClean="0">
                        <a:solidFill>
                          <a:srgbClr val="000000"/>
                        </a:solidFill>
                        <a:latin typeface="Cambria Math" panose="02040503050406030204" pitchFamily="18" charset="0"/>
                      </a:rPr>
                      <m:t> </m:t>
                    </m:r>
                    <m:r>
                      <a:rPr lang="zh-CN" altLang="en-US" sz="2800" i="1" smtClean="0">
                        <a:solidFill>
                          <a:srgbClr val="000000"/>
                        </a:solidFill>
                        <a:latin typeface="Cambria Math" panose="02040503050406030204" pitchFamily="18" charset="0"/>
                      </a:rPr>
                      <m:t>𝒢</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rPr>
                      <m:t>𝐶</m:t>
                    </m:r>
                    <m:r>
                      <a:rPr lang="en-US" altLang="zh-CN" sz="2800" b="0" i="1" smtClean="0">
                        <a:solidFill>
                          <a:srgbClr val="000000"/>
                        </a:solidFill>
                        <a:latin typeface="Cambria Math" panose="02040503050406030204" pitchFamily="18" charset="0"/>
                      </a:rPr>
                      <m:t>,</m:t>
                    </m:r>
                    <m:r>
                      <a:rPr lang="en-US" altLang="zh-CN" sz="2800" b="0" i="1" smtClean="0">
                        <a:solidFill>
                          <a:srgbClr val="000000"/>
                        </a:solidFill>
                        <a:latin typeface="Cambria Math" panose="02040503050406030204" pitchFamily="18" charset="0"/>
                        <a:ea typeface="Cambria Math" panose="02040503050406030204" pitchFamily="18" charset="0"/>
                      </a:rPr>
                      <m:t>ℰ</m:t>
                    </m:r>
                    <m:r>
                      <a:rPr lang="en-US" altLang="zh-CN" sz="2800" b="0" i="1" smtClean="0">
                        <a:solidFill>
                          <a:srgbClr val="000000"/>
                        </a:solidFill>
                        <a:latin typeface="Cambria Math" panose="02040503050406030204" pitchFamily="18" charset="0"/>
                      </a:rPr>
                      <m:t>)</m:t>
                    </m:r>
                  </m:oMath>
                </a14:m>
                <a:r>
                  <a:rPr lang="en-US" altLang="zh-CN" sz="2800" dirty="0">
                    <a:solidFill>
                      <a:srgbClr val="000000"/>
                    </a:solidFill>
                  </a:rPr>
                  <a:t>.</a:t>
                </a:r>
              </a:p>
              <a:p>
                <a:pPr marL="742950" lvl="1" indent="-285750">
                  <a:spcAft>
                    <a:spcPts val="600"/>
                  </a:spcAft>
                  <a:buFont typeface="Arial" panose="020B0604020202020204" pitchFamily="34" charset="0"/>
                  <a:buChar char="•"/>
                </a:pPr>
                <a:r>
                  <a:rPr lang="fr-FR" altLang="zh-CN" sz="2800" dirty="0">
                    <a:solidFill>
                      <a:srgbClr val="000000"/>
                    </a:solidFill>
                  </a:rPr>
                  <a:t>A failure root cause component</a:t>
                </a:r>
                <a:r>
                  <a:rPr lang="en-US" altLang="zh-CN" sz="2800" dirty="0">
                    <a:solidFill>
                      <a:srgbClr val="000000"/>
                    </a:solidFill>
                  </a:rPr>
                  <a:t> </a:t>
                </a:r>
                <a14:m>
                  <m:oMath xmlns:m="http://schemas.openxmlformats.org/officeDocument/2006/math">
                    <m:sSub>
                      <m:sSubPr>
                        <m:ctrlPr>
                          <a:rPr lang="en-US" altLang="zh-CN" sz="2800" i="1" smtClean="0">
                            <a:solidFill>
                              <a:srgbClr val="000000"/>
                            </a:solidFill>
                            <a:latin typeface="Cambria Math" panose="02040503050406030204" pitchFamily="18" charset="0"/>
                          </a:rPr>
                        </m:ctrlPr>
                      </m:sSubPr>
                      <m:e>
                        <m:r>
                          <a:rPr lang="en-US" altLang="zh-CN" sz="2800" b="0" i="1" smtClean="0">
                            <a:solidFill>
                              <a:srgbClr val="000000"/>
                            </a:solidFill>
                            <a:latin typeface="Cambria Math" panose="02040503050406030204" pitchFamily="18" charset="0"/>
                          </a:rPr>
                          <m:t>𝑐</m:t>
                        </m:r>
                      </m:e>
                      <m:sub>
                        <m:r>
                          <a:rPr lang="en-US" altLang="zh-CN" sz="2800" b="0" i="1" smtClean="0">
                            <a:solidFill>
                              <a:srgbClr val="000000"/>
                            </a:solidFill>
                            <a:latin typeface="Cambria Math" panose="02040503050406030204" pitchFamily="18" charset="0"/>
                          </a:rPr>
                          <m:t>𝑟𝑐</m:t>
                        </m:r>
                      </m:sub>
                    </m:sSub>
                    <m:r>
                      <a:rPr lang="en-US" altLang="zh-CN" sz="2800" b="0" i="1" smtClean="0">
                        <a:solidFill>
                          <a:srgbClr val="000000"/>
                        </a:solidFill>
                        <a:latin typeface="Cambria Math" panose="02040503050406030204" pitchFamily="18" charset="0"/>
                      </a:rPr>
                      <m:t>.</m:t>
                    </m:r>
                  </m:oMath>
                </a14:m>
                <a:endParaRPr lang="en-US" altLang="zh-CN" sz="2800" dirty="0">
                  <a:solidFill>
                    <a:srgbClr val="000000"/>
                  </a:solidFill>
                </a:endParaRPr>
              </a:p>
              <a:p>
                <a:pPr marL="742950" lvl="1" indent="-285750">
                  <a:spcAft>
                    <a:spcPts val="600"/>
                  </a:spcAft>
                  <a:buFont typeface="Arial" panose="020B0604020202020204" pitchFamily="34" charset="0"/>
                  <a:buChar char="•"/>
                </a:pPr>
                <a:r>
                  <a:rPr lang="en-US" altLang="zh-CN" sz="2800" dirty="0">
                    <a:solidFill>
                      <a:srgbClr val="000000"/>
                    </a:solidFill>
                  </a:rPr>
                  <a:t>The goal is to predict a ranked list  </a:t>
                </a:r>
                <a14:m>
                  <m:oMath xmlns:m="http://schemas.openxmlformats.org/officeDocument/2006/math">
                    <m:r>
                      <a:rPr lang="zh-CN" altLang="en-US" sz="2800" i="1" smtClean="0">
                        <a:solidFill>
                          <a:srgbClr val="000000"/>
                        </a:solidFill>
                        <a:latin typeface="Cambria Math" panose="02040503050406030204" pitchFamily="18" charset="0"/>
                      </a:rPr>
                      <m:t>𝒴</m:t>
                    </m:r>
                  </m:oMath>
                </a14:m>
                <a:r>
                  <a:rPr lang="en-US" altLang="zh-CN" sz="2800" dirty="0">
                    <a:solidFill>
                      <a:srgbClr val="000000"/>
                    </a:solidFill>
                  </a:rPr>
                  <a:t> of the components:</a:t>
                </a:r>
              </a:p>
            </p:txBody>
          </p:sp>
        </mc:Choice>
        <mc:Fallback xmlns="">
          <p:sp>
            <p:nvSpPr>
              <p:cNvPr id="5" name="文本框 4">
                <a:extLst>
                  <a:ext uri="{FF2B5EF4-FFF2-40B4-BE49-F238E27FC236}">
                    <a16:creationId xmlns:a16="http://schemas.microsoft.com/office/drawing/2014/main" id="{3268FEFB-03C7-F3AD-054E-C75FAF6B2AB8}"/>
                  </a:ext>
                </a:extLst>
              </p:cNvPr>
              <p:cNvSpPr txBox="1">
                <a:spLocks noRot="1" noChangeAspect="1" noMove="1" noResize="1" noEditPoints="1" noAdjustHandles="1" noChangeArrowheads="1" noChangeShapeType="1" noTextEdit="1"/>
              </p:cNvSpPr>
              <p:nvPr/>
            </p:nvSpPr>
            <p:spPr>
              <a:xfrm>
                <a:off x="452062" y="1552039"/>
                <a:ext cx="11650895" cy="3008965"/>
              </a:xfrm>
              <a:prstGeom prst="rect">
                <a:avLst/>
              </a:prstGeom>
              <a:blipFill>
                <a:blip r:embed="rId3"/>
                <a:stretch>
                  <a:fillRect t="-2231" b="-4665"/>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F21ACEE5-A0D7-F82D-7C30-DBB03C3C6D5A}"/>
              </a:ext>
            </a:extLst>
          </p:cNvPr>
          <p:cNvPicPr>
            <a:picLocks noChangeAspect="1"/>
          </p:cNvPicPr>
          <p:nvPr/>
        </p:nvPicPr>
        <p:blipFill>
          <a:blip r:embed="rId4"/>
          <a:stretch>
            <a:fillRect/>
          </a:stretch>
        </p:blipFill>
        <p:spPr>
          <a:xfrm>
            <a:off x="3255248" y="4832834"/>
            <a:ext cx="5681503" cy="697327"/>
          </a:xfrm>
          <a:prstGeom prst="rect">
            <a:avLst/>
          </a:prstGeom>
        </p:spPr>
      </p:pic>
    </p:spTree>
    <p:extLst>
      <p:ext uri="{BB962C8B-B14F-4D97-AF65-F5344CB8AC3E}">
        <p14:creationId xmlns:p14="http://schemas.microsoft.com/office/powerpoint/2010/main" val="1503528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3.2 </a:t>
            </a:r>
            <a:r>
              <a:rPr lang="en-US" altLang="zh-CN" sz="4400" dirty="0" err="1"/>
              <a:t>FoundRoot</a:t>
            </a:r>
            <a:r>
              <a:rPr lang="en-US" altLang="zh-CN" sz="4400" dirty="0"/>
              <a:t> Overview </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154112" y="1221262"/>
            <a:ext cx="11609797" cy="1569660"/>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400" dirty="0">
                <a:solidFill>
                  <a:srgbClr val="000000"/>
                </a:solidFill>
              </a:rPr>
              <a:t>W</a:t>
            </a:r>
            <a:r>
              <a:rPr lang="en-US" altLang="zh-CN" sz="2400" i="0" dirty="0">
                <a:solidFill>
                  <a:srgbClr val="000000"/>
                </a:solidFill>
                <a:effectLst/>
              </a:rPr>
              <a:t>hile general-purpose deep thinking capabilities can enhance LLM performance on RCA tasks , they still frequently produce incomplete and shallow reasoning. To address these issues, we introduce structured deep thinking, inspired by the standard RCA workflow of detection, analysis, causal attribution, and ranking. </a:t>
            </a:r>
          </a:p>
        </p:txBody>
      </p:sp>
      <p:pic>
        <p:nvPicPr>
          <p:cNvPr id="6" name="图片 5">
            <a:extLst>
              <a:ext uri="{FF2B5EF4-FFF2-40B4-BE49-F238E27FC236}">
                <a16:creationId xmlns:a16="http://schemas.microsoft.com/office/drawing/2014/main" id="{F6A218FA-385F-F65A-A368-D9B3F462DDDA}"/>
              </a:ext>
            </a:extLst>
          </p:cNvPr>
          <p:cNvPicPr>
            <a:picLocks noChangeAspect="1"/>
          </p:cNvPicPr>
          <p:nvPr/>
        </p:nvPicPr>
        <p:blipFill>
          <a:blip r:embed="rId3"/>
          <a:stretch>
            <a:fillRect/>
          </a:stretch>
        </p:blipFill>
        <p:spPr>
          <a:xfrm>
            <a:off x="1176122" y="3249954"/>
            <a:ext cx="9983593" cy="3029373"/>
          </a:xfrm>
          <a:prstGeom prst="rect">
            <a:avLst/>
          </a:prstGeom>
        </p:spPr>
      </p:pic>
    </p:spTree>
    <p:extLst>
      <p:ext uri="{BB962C8B-B14F-4D97-AF65-F5344CB8AC3E}">
        <p14:creationId xmlns:p14="http://schemas.microsoft.com/office/powerpoint/2010/main" val="4204734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3.3 Data Pipeline</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123289" y="2813757"/>
            <a:ext cx="5456226" cy="830997"/>
          </a:xfrm>
          <a:prstGeom prst="rect">
            <a:avLst/>
          </a:prstGeom>
          <a:noFill/>
        </p:spPr>
        <p:txBody>
          <a:bodyPr wrap="square" rtlCol="0">
            <a:spAutoFit/>
          </a:bodyPr>
          <a:lstStyle/>
          <a:p>
            <a:pPr marL="742950" lvl="1" indent="-285750" algn="l">
              <a:buFont typeface="Arial" panose="020B0604020202020204" pitchFamily="34" charset="0"/>
              <a:buChar char="•"/>
            </a:pPr>
            <a:endParaRPr lang="en-US" altLang="zh-CN" sz="2400" i="0" dirty="0">
              <a:solidFill>
                <a:srgbClr val="000000"/>
              </a:solidFill>
              <a:effectLst/>
            </a:endParaRPr>
          </a:p>
          <a:p>
            <a:pPr lvl="1" algn="l"/>
            <a:endParaRPr lang="en-US" altLang="zh-CN" sz="2400" i="0" dirty="0">
              <a:solidFill>
                <a:srgbClr val="000000"/>
              </a:solidFill>
              <a:effectLst/>
            </a:endParaRPr>
          </a:p>
        </p:txBody>
      </p:sp>
      <p:sp>
        <p:nvSpPr>
          <p:cNvPr id="18" name="文本框 17">
            <a:extLst>
              <a:ext uri="{FF2B5EF4-FFF2-40B4-BE49-F238E27FC236}">
                <a16:creationId xmlns:a16="http://schemas.microsoft.com/office/drawing/2014/main" id="{A9096387-E5C9-080E-8216-68A82481810D}"/>
              </a:ext>
            </a:extLst>
          </p:cNvPr>
          <p:cNvSpPr txBox="1"/>
          <p:nvPr/>
        </p:nvSpPr>
        <p:spPr>
          <a:xfrm>
            <a:off x="94010" y="1406438"/>
            <a:ext cx="11698595" cy="1815882"/>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dirty="0"/>
              <a:t>Our data pipeline includes several steps. First, we have collected and preprocessed a large number of datasets. Next, to support model training, we augmented the dataset and constructed a warm-up SFT dataset with structured deep thinking traces.</a:t>
            </a:r>
            <a:endParaRPr lang="en-US" altLang="zh-CN" sz="2800" i="0" dirty="0">
              <a:solidFill>
                <a:srgbClr val="000000"/>
              </a:solidFill>
              <a:effectLst/>
            </a:endParaRPr>
          </a:p>
        </p:txBody>
      </p:sp>
      <p:pic>
        <p:nvPicPr>
          <p:cNvPr id="8" name="图片 7">
            <a:extLst>
              <a:ext uri="{FF2B5EF4-FFF2-40B4-BE49-F238E27FC236}">
                <a16:creationId xmlns:a16="http://schemas.microsoft.com/office/drawing/2014/main" id="{CF2B975B-D25F-9DD1-E575-7F7FC3201873}"/>
              </a:ext>
            </a:extLst>
          </p:cNvPr>
          <p:cNvPicPr>
            <a:picLocks noChangeAspect="1"/>
          </p:cNvPicPr>
          <p:nvPr/>
        </p:nvPicPr>
        <p:blipFill>
          <a:blip r:embed="rId3"/>
          <a:stretch>
            <a:fillRect/>
          </a:stretch>
        </p:blipFill>
        <p:spPr>
          <a:xfrm>
            <a:off x="3061864" y="3665774"/>
            <a:ext cx="6068272" cy="2200582"/>
          </a:xfrm>
          <a:prstGeom prst="rect">
            <a:avLst/>
          </a:prstGeom>
        </p:spPr>
      </p:pic>
    </p:spTree>
    <p:extLst>
      <p:ext uri="{BB962C8B-B14F-4D97-AF65-F5344CB8AC3E}">
        <p14:creationId xmlns:p14="http://schemas.microsoft.com/office/powerpoint/2010/main" val="307962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3.3.1 Data Preprocessing</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334093" y="1370269"/>
            <a:ext cx="11374429" cy="4708981"/>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b="1" dirty="0"/>
              <a:t>Fault Case Validation</a:t>
            </a:r>
            <a:r>
              <a:rPr lang="zh-CN" altLang="en-US" sz="2800" dirty="0"/>
              <a:t>：</a:t>
            </a:r>
            <a:r>
              <a:rPr lang="en-US" altLang="zh-CN" sz="2800" dirty="0"/>
              <a:t>Remove invalid failure injection cases through manual and automated inspection.</a:t>
            </a:r>
          </a:p>
          <a:p>
            <a:pPr marL="742950" lvl="1" indent="-285750" algn="l">
              <a:spcAft>
                <a:spcPts val="600"/>
              </a:spcAft>
              <a:buFont typeface="Arial" panose="020B0604020202020204" pitchFamily="34" charset="0"/>
              <a:buChar char="•"/>
            </a:pPr>
            <a:r>
              <a:rPr lang="en-US" altLang="zh-CN" sz="2800" b="1" dirty="0"/>
              <a:t>Noise Filtering</a:t>
            </a:r>
            <a:r>
              <a:rPr lang="zh-CN" altLang="en-US" sz="2800" dirty="0"/>
              <a:t>：</a:t>
            </a:r>
            <a:r>
              <a:rPr lang="en-US" altLang="zh-CN" sz="2800" dirty="0"/>
              <a:t>Apply k-sigma anomaly detection to remove normal or irrelevant metrics.</a:t>
            </a:r>
          </a:p>
          <a:p>
            <a:pPr marL="742950" lvl="1" indent="-285750" algn="l">
              <a:spcAft>
                <a:spcPts val="600"/>
              </a:spcAft>
              <a:buFont typeface="Arial" panose="020B0604020202020204" pitchFamily="34" charset="0"/>
              <a:buChar char="•"/>
            </a:pPr>
            <a:r>
              <a:rPr lang="en-US" altLang="zh-CN" sz="2800" b="1" dirty="0"/>
              <a:t>Time Window Extraction</a:t>
            </a:r>
            <a:r>
              <a:rPr lang="zh-CN" altLang="en-US" sz="2800" dirty="0"/>
              <a:t>：</a:t>
            </a:r>
            <a:r>
              <a:rPr lang="en-US" altLang="zh-CN" sz="2800" dirty="0"/>
              <a:t>Collect monitoring metrics from both before and after the failure.</a:t>
            </a:r>
          </a:p>
          <a:p>
            <a:pPr marL="742950" lvl="1" indent="-285750" algn="l">
              <a:spcAft>
                <a:spcPts val="600"/>
              </a:spcAft>
              <a:buFont typeface="Arial" panose="020B0604020202020204" pitchFamily="34" charset="0"/>
              <a:buChar char="•"/>
            </a:pPr>
            <a:r>
              <a:rPr lang="en-US" altLang="zh-CN" sz="2800" b="1" dirty="0"/>
              <a:t>Text Conversion</a:t>
            </a:r>
            <a:r>
              <a:rPr lang="zh-CN" altLang="en-US" sz="2800" dirty="0"/>
              <a:t>：</a:t>
            </a:r>
            <a:r>
              <a:rPr lang="en-US" altLang="zh-CN" sz="2800" dirty="0"/>
              <a:t>Convert multivariate time-series values into textual representations. </a:t>
            </a:r>
          </a:p>
          <a:p>
            <a:pPr marL="742950" lvl="1" indent="-285750" algn="l">
              <a:spcAft>
                <a:spcPts val="600"/>
              </a:spcAft>
              <a:buFont typeface="Arial" panose="020B0604020202020204" pitchFamily="34" charset="0"/>
              <a:buChar char="•"/>
            </a:pPr>
            <a:r>
              <a:rPr lang="en-US" altLang="zh-CN" sz="2800" b="1" dirty="0"/>
              <a:t>Format Unification</a:t>
            </a:r>
            <a:r>
              <a:rPr lang="zh-CN" altLang="en-US" sz="2800" dirty="0"/>
              <a:t>：</a:t>
            </a:r>
            <a:r>
              <a:rPr lang="en-US" altLang="zh-CN" sz="2800" dirty="0"/>
              <a:t>Standardize all datasets into a unified Question–Answer (Q&amp;A) format.</a:t>
            </a:r>
          </a:p>
        </p:txBody>
      </p:sp>
    </p:spTree>
    <p:extLst>
      <p:ext uri="{BB962C8B-B14F-4D97-AF65-F5344CB8AC3E}">
        <p14:creationId xmlns:p14="http://schemas.microsoft.com/office/powerpoint/2010/main" val="3610901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F4472CD0-6917-2738-4BD0-64F3A3500A7F}"/>
              </a:ext>
            </a:extLst>
          </p:cNvPr>
          <p:cNvSpPr txBox="1"/>
          <p:nvPr/>
        </p:nvSpPr>
        <p:spPr>
          <a:xfrm>
            <a:off x="334093" y="1748641"/>
            <a:ext cx="11374429" cy="3416320"/>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b="1" dirty="0"/>
              <a:t>Time Window Sampling</a:t>
            </a:r>
            <a:r>
              <a:rPr lang="zh-CN" altLang="en-US" sz="2800" dirty="0"/>
              <a:t>：</a:t>
            </a:r>
            <a:r>
              <a:rPr lang="en-US" altLang="zh-CN" sz="2800" dirty="0"/>
              <a:t>Randomly sample different observation windows around the fault</a:t>
            </a:r>
            <a:r>
              <a:rPr lang="zh-CN" altLang="en-US" sz="2800" dirty="0"/>
              <a:t>：</a:t>
            </a:r>
            <a:endParaRPr lang="en-US" altLang="zh-CN" sz="2800" dirty="0"/>
          </a:p>
          <a:p>
            <a:pPr marL="742950" lvl="1" indent="-285750" algn="l">
              <a:spcAft>
                <a:spcPts val="600"/>
              </a:spcAft>
              <a:buFont typeface="Arial" panose="020B0604020202020204" pitchFamily="34" charset="0"/>
              <a:buChar char="•"/>
            </a:pPr>
            <a:endParaRPr lang="en-US" altLang="zh-CN" sz="2800" dirty="0"/>
          </a:p>
          <a:p>
            <a:pPr marL="742950" lvl="1" indent="-285750" algn="l">
              <a:spcAft>
                <a:spcPts val="600"/>
              </a:spcAft>
              <a:buFont typeface="Arial" panose="020B0604020202020204" pitchFamily="34" charset="0"/>
              <a:buChar char="•"/>
            </a:pPr>
            <a:endParaRPr lang="en-US" altLang="zh-CN" sz="2800" dirty="0"/>
          </a:p>
          <a:p>
            <a:pPr marL="742950" lvl="1" indent="-285750" algn="l">
              <a:spcAft>
                <a:spcPts val="600"/>
              </a:spcAft>
              <a:buFont typeface="Arial" panose="020B0604020202020204" pitchFamily="34" charset="0"/>
              <a:buChar char="•"/>
            </a:pPr>
            <a:r>
              <a:rPr lang="en-US" altLang="zh-CN" sz="2800" b="1" dirty="0"/>
              <a:t>Metric sampling</a:t>
            </a:r>
            <a:r>
              <a:rPr lang="zh-CN" altLang="en-US" sz="2800" dirty="0"/>
              <a:t>：</a:t>
            </a:r>
            <a:r>
              <a:rPr lang="en-US" altLang="zh-CN" sz="2800" dirty="0"/>
              <a:t>Always preserve all root-cause metrics. Randomly sample additional non-root-cause metrics</a:t>
            </a:r>
            <a:r>
              <a:rPr lang="zh-CN" altLang="en-US" sz="2800" dirty="0"/>
              <a:t>：</a:t>
            </a:r>
            <a:endParaRPr lang="en-US" altLang="zh-CN" sz="2800" dirty="0"/>
          </a:p>
          <a:p>
            <a:pPr marL="742950" lvl="1" indent="-285750" algn="l">
              <a:spcAft>
                <a:spcPts val="600"/>
              </a:spcAft>
              <a:buFont typeface="Arial" panose="020B0604020202020204" pitchFamily="34" charset="0"/>
              <a:buChar char="•"/>
            </a:pPr>
            <a:endParaRPr lang="en-US" altLang="zh-CN" sz="2800" dirty="0"/>
          </a:p>
        </p:txBody>
      </p:sp>
      <p:pic>
        <p:nvPicPr>
          <p:cNvPr id="3" name="图片 2">
            <a:extLst>
              <a:ext uri="{FF2B5EF4-FFF2-40B4-BE49-F238E27FC236}">
                <a16:creationId xmlns:a16="http://schemas.microsoft.com/office/drawing/2014/main" id="{92592A62-D5F8-9148-481B-D55930694C75}"/>
              </a:ext>
            </a:extLst>
          </p:cNvPr>
          <p:cNvPicPr>
            <a:picLocks noChangeAspect="1"/>
          </p:cNvPicPr>
          <p:nvPr/>
        </p:nvPicPr>
        <p:blipFill>
          <a:blip r:embed="rId3"/>
          <a:stretch>
            <a:fillRect/>
          </a:stretch>
        </p:blipFill>
        <p:spPr>
          <a:xfrm>
            <a:off x="4552319" y="2617078"/>
            <a:ext cx="3087362" cy="678284"/>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3.3.2 Data Augmentation</a:t>
            </a:r>
            <a:endParaRPr lang="zh-CN" altLang="en-US" sz="4400" dirty="0"/>
          </a:p>
        </p:txBody>
      </p:sp>
      <p:pic>
        <p:nvPicPr>
          <p:cNvPr id="8" name="图片 7">
            <a:extLst>
              <a:ext uri="{FF2B5EF4-FFF2-40B4-BE49-F238E27FC236}">
                <a16:creationId xmlns:a16="http://schemas.microsoft.com/office/drawing/2014/main" id="{4677A8F9-E772-4C82-E349-001D9B050939}"/>
              </a:ext>
            </a:extLst>
          </p:cNvPr>
          <p:cNvPicPr>
            <a:picLocks noChangeAspect="1"/>
          </p:cNvPicPr>
          <p:nvPr/>
        </p:nvPicPr>
        <p:blipFill>
          <a:blip r:embed="rId4"/>
          <a:stretch>
            <a:fillRect/>
          </a:stretch>
        </p:blipFill>
        <p:spPr>
          <a:xfrm>
            <a:off x="5085538" y="4917892"/>
            <a:ext cx="2020924" cy="401675"/>
          </a:xfrm>
          <a:prstGeom prst="rect">
            <a:avLst/>
          </a:prstGeom>
        </p:spPr>
      </p:pic>
    </p:spTree>
    <p:extLst>
      <p:ext uri="{BB962C8B-B14F-4D97-AF65-F5344CB8AC3E}">
        <p14:creationId xmlns:p14="http://schemas.microsoft.com/office/powerpoint/2010/main" val="1726954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F4472CD0-6917-2738-4BD0-64F3A3500A7F}"/>
              </a:ext>
            </a:extLst>
          </p:cNvPr>
          <p:cNvSpPr txBox="1"/>
          <p:nvPr/>
        </p:nvSpPr>
        <p:spPr>
          <a:xfrm>
            <a:off x="81847" y="1443841"/>
            <a:ext cx="6150790" cy="5124480"/>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600" b="1" dirty="0"/>
              <a:t>Initialize the foundation model with basic RCA reasoning capability through supervised fine-tuning before reinforcement learning.</a:t>
            </a:r>
            <a:endParaRPr lang="en-US" altLang="zh-CN" sz="2600" dirty="0"/>
          </a:p>
          <a:p>
            <a:pPr marL="742950" lvl="1" indent="-285750" algn="l">
              <a:spcAft>
                <a:spcPts val="600"/>
              </a:spcAft>
              <a:buFont typeface="Arial" panose="020B0604020202020204" pitchFamily="34" charset="0"/>
              <a:buChar char="•"/>
            </a:pPr>
            <a:r>
              <a:rPr lang="en-US" altLang="zh-CN" sz="2600" b="1" dirty="0"/>
              <a:t>Reasoning Data Generation</a:t>
            </a:r>
            <a:r>
              <a:rPr lang="zh-CN" altLang="en-US" sz="2600" dirty="0"/>
              <a:t>：</a:t>
            </a:r>
            <a:r>
              <a:rPr lang="en-US" altLang="zh-CN" sz="2600" dirty="0"/>
              <a:t>Use DeepSeek-R1 to generate reasoning trajectories.</a:t>
            </a:r>
          </a:p>
          <a:p>
            <a:pPr marL="742950" lvl="1" indent="-285750" algn="l">
              <a:spcAft>
                <a:spcPts val="600"/>
              </a:spcAft>
              <a:buFont typeface="Arial" panose="020B0604020202020204" pitchFamily="34" charset="0"/>
              <a:buChar char="•"/>
            </a:pPr>
            <a:r>
              <a:rPr lang="en-US" altLang="zh-CN" sz="2600" b="1" dirty="0"/>
              <a:t>Structured Deep Thinking</a:t>
            </a:r>
            <a:r>
              <a:rPr lang="zh-CN" altLang="en-US" sz="2600" dirty="0"/>
              <a:t>：</a:t>
            </a:r>
            <a:r>
              <a:rPr lang="en-US" altLang="zh-CN" sz="2600" dirty="0"/>
              <a:t>Metric Scanning</a:t>
            </a:r>
            <a:r>
              <a:rPr lang="zh-CN" altLang="en-US" sz="2600" dirty="0"/>
              <a:t>、</a:t>
            </a:r>
            <a:r>
              <a:rPr lang="en-US" altLang="zh-CN" sz="2600" dirty="0"/>
              <a:t>Propagation Analysis</a:t>
            </a:r>
            <a:r>
              <a:rPr lang="zh-CN" altLang="en-US" sz="2600" dirty="0"/>
              <a:t>、</a:t>
            </a:r>
            <a:r>
              <a:rPr lang="en-US" altLang="zh-CN" sz="2600" dirty="0"/>
              <a:t>Reflection</a:t>
            </a:r>
            <a:r>
              <a:rPr lang="zh-CN" altLang="en-US" sz="2600" dirty="0"/>
              <a:t>、</a:t>
            </a:r>
            <a:r>
              <a:rPr lang="en-US" altLang="zh-CN" sz="2600" dirty="0"/>
              <a:t>Root Cause Ranking.</a:t>
            </a:r>
          </a:p>
          <a:p>
            <a:pPr marL="742950" lvl="1" indent="-285750" algn="l">
              <a:spcAft>
                <a:spcPts val="600"/>
              </a:spcAft>
              <a:buFont typeface="Arial" panose="020B0604020202020204" pitchFamily="34" charset="0"/>
              <a:buChar char="•"/>
            </a:pPr>
            <a:endParaRPr lang="en-US" altLang="zh-CN" sz="2600" dirty="0"/>
          </a:p>
        </p:txBody>
      </p:sp>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3.3.3 Warm-Up SFT Dataset</a:t>
            </a:r>
            <a:endParaRPr lang="zh-CN" altLang="en-US" sz="4400" dirty="0"/>
          </a:p>
        </p:txBody>
      </p:sp>
      <p:pic>
        <p:nvPicPr>
          <p:cNvPr id="5" name="图片 4">
            <a:extLst>
              <a:ext uri="{FF2B5EF4-FFF2-40B4-BE49-F238E27FC236}">
                <a16:creationId xmlns:a16="http://schemas.microsoft.com/office/drawing/2014/main" id="{80A2C973-C7AC-5875-D204-AB4F021A3A2D}"/>
              </a:ext>
            </a:extLst>
          </p:cNvPr>
          <p:cNvPicPr>
            <a:picLocks noChangeAspect="1"/>
          </p:cNvPicPr>
          <p:nvPr/>
        </p:nvPicPr>
        <p:blipFill>
          <a:blip r:embed="rId3"/>
          <a:stretch>
            <a:fillRect/>
          </a:stretch>
        </p:blipFill>
        <p:spPr>
          <a:xfrm>
            <a:off x="6182184" y="1753321"/>
            <a:ext cx="5896440" cy="3765942"/>
          </a:xfrm>
          <a:prstGeom prst="rect">
            <a:avLst/>
          </a:prstGeom>
        </p:spPr>
      </p:pic>
    </p:spTree>
    <p:extLst>
      <p:ext uri="{BB962C8B-B14F-4D97-AF65-F5344CB8AC3E}">
        <p14:creationId xmlns:p14="http://schemas.microsoft.com/office/powerpoint/2010/main" val="3211695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3.4 Model and Training Details</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93678" y="1606335"/>
            <a:ext cx="10926265" cy="1384995"/>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800" i="0" dirty="0">
                <a:solidFill>
                  <a:srgbClr val="000000"/>
                </a:solidFill>
                <a:effectLst/>
              </a:rPr>
              <a:t>The training pipeline of </a:t>
            </a:r>
            <a:r>
              <a:rPr lang="en-US" altLang="zh-CN" sz="2800" i="0" dirty="0" err="1">
                <a:solidFill>
                  <a:srgbClr val="000000"/>
                </a:solidFill>
                <a:effectLst/>
              </a:rPr>
              <a:t>FoundRoot</a:t>
            </a:r>
            <a:r>
              <a:rPr lang="en-US" altLang="zh-CN" sz="2800" i="0" dirty="0">
                <a:solidFill>
                  <a:srgbClr val="000000"/>
                </a:solidFill>
                <a:effectLst/>
              </a:rPr>
              <a:t> follows a two-stage process. The first stage is a warm-up supervised fine-tuning. The second stage adopts Dynamic Sampling Policy Optimization (DAPO).</a:t>
            </a:r>
          </a:p>
        </p:txBody>
      </p:sp>
      <p:pic>
        <p:nvPicPr>
          <p:cNvPr id="5" name="图片 4">
            <a:extLst>
              <a:ext uri="{FF2B5EF4-FFF2-40B4-BE49-F238E27FC236}">
                <a16:creationId xmlns:a16="http://schemas.microsoft.com/office/drawing/2014/main" id="{F3AF12F8-00B2-A2DD-67BC-71E4A1A9B912}"/>
              </a:ext>
            </a:extLst>
          </p:cNvPr>
          <p:cNvPicPr>
            <a:picLocks noChangeAspect="1"/>
          </p:cNvPicPr>
          <p:nvPr/>
        </p:nvPicPr>
        <p:blipFill>
          <a:blip r:embed="rId3"/>
          <a:stretch>
            <a:fillRect/>
          </a:stretch>
        </p:blipFill>
        <p:spPr>
          <a:xfrm>
            <a:off x="3061864" y="3429000"/>
            <a:ext cx="6068272" cy="2200582"/>
          </a:xfrm>
          <a:prstGeom prst="rect">
            <a:avLst/>
          </a:prstGeom>
        </p:spPr>
      </p:pic>
    </p:spTree>
    <p:extLst>
      <p:ext uri="{BB962C8B-B14F-4D97-AF65-F5344CB8AC3E}">
        <p14:creationId xmlns:p14="http://schemas.microsoft.com/office/powerpoint/2010/main" val="3140907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3.4 Model and Training Details</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93678" y="1606335"/>
            <a:ext cx="11767094" cy="954107"/>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800" b="1" i="0" dirty="0">
                <a:solidFill>
                  <a:srgbClr val="000000"/>
                </a:solidFill>
                <a:effectLst/>
              </a:rPr>
              <a:t>3.4.1 Input and Output</a:t>
            </a:r>
            <a:r>
              <a:rPr lang="en-US" altLang="zh-CN" sz="2800" b="1" dirty="0">
                <a:solidFill>
                  <a:srgbClr val="000000"/>
                </a:solidFill>
              </a:rPr>
              <a:t>: </a:t>
            </a:r>
            <a:r>
              <a:rPr lang="en-US" altLang="zh-CN" sz="2800" i="0" dirty="0">
                <a:solidFill>
                  <a:srgbClr val="000000"/>
                </a:solidFill>
                <a:effectLst/>
              </a:rPr>
              <a:t>Textual system description</a:t>
            </a:r>
            <a:r>
              <a:rPr lang="zh-CN" altLang="en-US" sz="2800" i="0" dirty="0">
                <a:solidFill>
                  <a:srgbClr val="000000"/>
                </a:solidFill>
                <a:effectLst/>
              </a:rPr>
              <a:t>、</a:t>
            </a:r>
            <a:r>
              <a:rPr lang="en-US" altLang="zh-CN" sz="2800" i="0" dirty="0">
                <a:solidFill>
                  <a:srgbClr val="000000"/>
                </a:solidFill>
                <a:effectLst/>
              </a:rPr>
              <a:t> Monitoring metrics. Structured Deep Thinking process</a:t>
            </a:r>
            <a:r>
              <a:rPr lang="zh-CN" altLang="en-US" sz="2800" i="0" dirty="0">
                <a:solidFill>
                  <a:srgbClr val="000000"/>
                </a:solidFill>
                <a:effectLst/>
              </a:rPr>
              <a:t>、</a:t>
            </a:r>
            <a:r>
              <a:rPr lang="en-US" altLang="zh-CN" sz="2800" i="0" dirty="0">
                <a:solidFill>
                  <a:srgbClr val="000000"/>
                </a:solidFill>
                <a:effectLst/>
              </a:rPr>
              <a:t>a structured JSON</a:t>
            </a:r>
            <a:r>
              <a:rPr lang="en-US" altLang="zh-CN" sz="2800" dirty="0">
                <a:solidFill>
                  <a:srgbClr val="000000"/>
                </a:solidFill>
              </a:rPr>
              <a:t>.</a:t>
            </a:r>
            <a:endParaRPr lang="en-US" altLang="zh-CN" sz="2800" i="0" dirty="0">
              <a:solidFill>
                <a:srgbClr val="000000"/>
              </a:solidFill>
              <a:effectLst/>
            </a:endParaRPr>
          </a:p>
        </p:txBody>
      </p:sp>
      <p:pic>
        <p:nvPicPr>
          <p:cNvPr id="7" name="图片 6">
            <a:extLst>
              <a:ext uri="{FF2B5EF4-FFF2-40B4-BE49-F238E27FC236}">
                <a16:creationId xmlns:a16="http://schemas.microsoft.com/office/drawing/2014/main" id="{757E821D-CC15-45CE-4D29-0E6BA3293625}"/>
              </a:ext>
            </a:extLst>
          </p:cNvPr>
          <p:cNvPicPr>
            <a:picLocks noChangeAspect="1"/>
          </p:cNvPicPr>
          <p:nvPr/>
        </p:nvPicPr>
        <p:blipFill>
          <a:blip r:embed="rId3"/>
          <a:stretch>
            <a:fillRect/>
          </a:stretch>
        </p:blipFill>
        <p:spPr>
          <a:xfrm>
            <a:off x="986605" y="2927213"/>
            <a:ext cx="10218789" cy="3204499"/>
          </a:xfrm>
          <a:prstGeom prst="rect">
            <a:avLst/>
          </a:prstGeom>
        </p:spPr>
      </p:pic>
    </p:spTree>
    <p:extLst>
      <p:ext uri="{BB962C8B-B14F-4D97-AF65-F5344CB8AC3E}">
        <p14:creationId xmlns:p14="http://schemas.microsoft.com/office/powerpoint/2010/main" val="604287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3.4 Model and Training Details</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93678" y="1427665"/>
            <a:ext cx="11767094" cy="2246769"/>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800" b="1" i="0" dirty="0">
                <a:solidFill>
                  <a:srgbClr val="000000"/>
                </a:solidFill>
                <a:effectLst/>
              </a:rPr>
              <a:t>3.4.2 Warm-Up SFT</a:t>
            </a:r>
            <a:r>
              <a:rPr lang="en-US" altLang="zh-CN" sz="2800" b="1" dirty="0">
                <a:solidFill>
                  <a:srgbClr val="000000"/>
                </a:solidFill>
              </a:rPr>
              <a:t>: </a:t>
            </a:r>
            <a:r>
              <a:rPr lang="en-US" altLang="zh-CN" sz="2800" i="0" dirty="0">
                <a:solidFill>
                  <a:srgbClr val="000000"/>
                </a:solidFill>
                <a:effectLst/>
              </a:rPr>
              <a:t>Fine-tune DeepSeek-R1-Distill-Qwen2.5-14B using the warm-up SFT dataset</a:t>
            </a:r>
            <a:r>
              <a:rPr lang="en-US" altLang="zh-CN" sz="2800" dirty="0">
                <a:solidFill>
                  <a:srgbClr val="000000"/>
                </a:solidFill>
              </a:rPr>
              <a:t>. The warm-up SFT dataset includes the question as input and the complete reasoning traces and answer as output. Supervise the model with a fixed output format using &lt;think&gt; and &lt;answer&gt; tags.</a:t>
            </a:r>
            <a:endParaRPr lang="en-US" altLang="zh-CN" sz="2800" i="0" dirty="0">
              <a:solidFill>
                <a:srgbClr val="000000"/>
              </a:solidFill>
              <a:effectLst/>
            </a:endParaRPr>
          </a:p>
        </p:txBody>
      </p:sp>
      <p:sp>
        <p:nvSpPr>
          <p:cNvPr id="2" name="文本框 1">
            <a:extLst>
              <a:ext uri="{FF2B5EF4-FFF2-40B4-BE49-F238E27FC236}">
                <a16:creationId xmlns:a16="http://schemas.microsoft.com/office/drawing/2014/main" id="{0E1DE5B8-96F2-B7EA-9E37-1861156D4735}"/>
              </a:ext>
            </a:extLst>
          </p:cNvPr>
          <p:cNvSpPr txBox="1"/>
          <p:nvPr/>
        </p:nvSpPr>
        <p:spPr>
          <a:xfrm>
            <a:off x="198933" y="3860804"/>
            <a:ext cx="11767094" cy="2246769"/>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800" b="1" i="0" dirty="0">
                <a:solidFill>
                  <a:srgbClr val="000000"/>
                </a:solidFill>
                <a:effectLst/>
              </a:rPr>
              <a:t>3.4.3 RL with DAPO</a:t>
            </a:r>
            <a:r>
              <a:rPr lang="en-US" altLang="zh-CN" sz="2800" b="1" dirty="0">
                <a:solidFill>
                  <a:srgbClr val="000000"/>
                </a:solidFill>
              </a:rPr>
              <a:t>: </a:t>
            </a:r>
            <a:r>
              <a:rPr lang="en-US" altLang="zh-CN" sz="2800" i="0" dirty="0">
                <a:solidFill>
                  <a:srgbClr val="000000"/>
                </a:solidFill>
                <a:effectLst/>
              </a:rPr>
              <a:t>Apply DAPO after Warm-up SFT to optimize structured deep thinking. Sample multiple reasoning paths for each RCA case. Evaluate each reasoning path using the designed reward functions. Update the model by learning from the highest-reward reasoning trajectories.</a:t>
            </a:r>
          </a:p>
        </p:txBody>
      </p:sp>
    </p:spTree>
    <p:extLst>
      <p:ext uri="{BB962C8B-B14F-4D97-AF65-F5344CB8AC3E}">
        <p14:creationId xmlns:p14="http://schemas.microsoft.com/office/powerpoint/2010/main" val="2972223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3283510-4C12-9146-5FAE-7C4E03EE33E4}"/>
              </a:ext>
            </a:extLst>
          </p:cNvPr>
          <p:cNvPicPr>
            <a:picLocks noChangeAspect="1"/>
          </p:cNvPicPr>
          <p:nvPr/>
        </p:nvPicPr>
        <p:blipFill>
          <a:blip r:embed="rId3"/>
          <a:stretch>
            <a:fillRect/>
          </a:stretch>
        </p:blipFill>
        <p:spPr>
          <a:xfrm>
            <a:off x="2150506" y="1628586"/>
            <a:ext cx="7890987" cy="641654"/>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4472CD0-6917-2738-4BD0-64F3A3500A7F}"/>
                  </a:ext>
                </a:extLst>
              </p:cNvPr>
              <p:cNvSpPr txBox="1"/>
              <p:nvPr/>
            </p:nvSpPr>
            <p:spPr>
              <a:xfrm>
                <a:off x="193678" y="1196438"/>
                <a:ext cx="11767094" cy="5947526"/>
              </a:xfrm>
              <a:prstGeom prst="rect">
                <a:avLst/>
              </a:prstGeom>
              <a:noFill/>
            </p:spPr>
            <p:txBody>
              <a:bodyPr wrap="square" rtlCol="0">
                <a:spAutoFit/>
              </a:bodyPr>
              <a:lstStyle/>
              <a:p>
                <a:pPr marL="742950" lvl="1" indent="-285750" algn="l">
                  <a:spcAft>
                    <a:spcPts val="600"/>
                  </a:spcAft>
                  <a:buFont typeface="Arial" panose="020B0604020202020204" pitchFamily="34" charset="0"/>
                  <a:buChar char="•"/>
                </a:pPr>
                <a:r>
                  <a:rPr lang="en-US" altLang="zh-CN" sz="2800" b="1" i="0" dirty="0">
                    <a:solidFill>
                      <a:srgbClr val="000000"/>
                    </a:solidFill>
                    <a:effectLst/>
                  </a:rPr>
                  <a:t>3.4.4 Reward Design</a:t>
                </a:r>
                <a:r>
                  <a:rPr lang="en-US" altLang="zh-CN" sz="2800" b="1" dirty="0">
                    <a:solidFill>
                      <a:srgbClr val="000000"/>
                    </a:solidFill>
                  </a:rPr>
                  <a:t>: </a:t>
                </a:r>
                <a:r>
                  <a:rPr lang="en-US" altLang="zh-CN" sz="2800" i="0" dirty="0">
                    <a:solidFill>
                      <a:srgbClr val="000000"/>
                    </a:solidFill>
                    <a:effectLst/>
                  </a:rPr>
                  <a:t>The total reward is defined as:</a:t>
                </a:r>
              </a:p>
              <a:p>
                <a:pPr lvl="1" algn="l">
                  <a:spcAft>
                    <a:spcPts val="600"/>
                  </a:spcAft>
                </a:pPr>
                <a:endParaRPr lang="en-US" altLang="zh-CN" sz="2800" i="0" dirty="0">
                  <a:solidFill>
                    <a:srgbClr val="000000"/>
                  </a:solidFill>
                  <a:effectLst/>
                </a:endParaRPr>
              </a:p>
              <a:p>
                <a:pPr marL="742950" lvl="1" indent="-285750" algn="l">
                  <a:spcAft>
                    <a:spcPts val="600"/>
                  </a:spcAft>
                  <a:buFont typeface="Arial" panose="020B0604020202020204" pitchFamily="34" charset="0"/>
                  <a:buChar char="•"/>
                </a:pPr>
                <a:r>
                  <a:rPr lang="en-US" altLang="zh-CN" sz="2800" i="0" dirty="0">
                    <a:solidFill>
                      <a:srgbClr val="000000"/>
                    </a:solidFill>
                    <a:effectLst/>
                  </a:rPr>
                  <a:t>Format (</a:t>
                </a:r>
                <a14:m>
                  <m:oMath xmlns:m="http://schemas.openxmlformats.org/officeDocument/2006/math">
                    <m:sSub>
                      <m:sSubPr>
                        <m:ctrlPr>
                          <a:rPr lang="en-US" altLang="zh-CN" sz="2800" i="1" dirty="0" smtClean="0">
                            <a:solidFill>
                              <a:srgbClr val="000000"/>
                            </a:solidFill>
                            <a:effectLst/>
                            <a:latin typeface="Cambria Math" panose="02040503050406030204" pitchFamily="18" charset="0"/>
                          </a:rPr>
                        </m:ctrlPr>
                      </m:sSubPr>
                      <m:e>
                        <m:r>
                          <a:rPr lang="en-US" altLang="zh-CN" sz="2800" b="0" i="1" dirty="0" smtClean="0">
                            <a:solidFill>
                              <a:srgbClr val="000000"/>
                            </a:solidFill>
                            <a:effectLst/>
                            <a:latin typeface="Cambria Math" panose="02040503050406030204" pitchFamily="18" charset="0"/>
                          </a:rPr>
                          <m:t>𝑟</m:t>
                        </m:r>
                      </m:e>
                      <m:sub>
                        <m:r>
                          <a:rPr lang="en-US" altLang="zh-CN" sz="2800" b="0" i="1" dirty="0" smtClean="0">
                            <a:solidFill>
                              <a:srgbClr val="000000"/>
                            </a:solidFill>
                            <a:effectLst/>
                            <a:latin typeface="Cambria Math" panose="02040503050406030204" pitchFamily="18" charset="0"/>
                          </a:rPr>
                          <m:t>𝑓𝑜𝑟𝑚𝑎𝑡</m:t>
                        </m:r>
                      </m:sub>
                    </m:sSub>
                  </m:oMath>
                </a14:m>
                <a:r>
                  <a:rPr lang="en-US" altLang="zh-CN" sz="2800" i="0" dirty="0">
                    <a:solidFill>
                      <a:srgbClr val="000000"/>
                    </a:solidFill>
                    <a:effectLst/>
                  </a:rPr>
                  <a:t>): A binary reward where r = 1 if and only if the output contains both &lt;think&gt; and &lt;answer&gt; tags.</a:t>
                </a:r>
              </a:p>
              <a:p>
                <a:pPr marL="742950" lvl="1" indent="-285750" algn="l">
                  <a:spcAft>
                    <a:spcPts val="600"/>
                  </a:spcAft>
                  <a:buFont typeface="Arial" panose="020B0604020202020204" pitchFamily="34" charset="0"/>
                  <a:buChar char="•"/>
                </a:pPr>
                <a:r>
                  <a:rPr lang="en-US" altLang="zh-CN" sz="2800" i="0" dirty="0">
                    <a:solidFill>
                      <a:srgbClr val="000000"/>
                    </a:solidFill>
                    <a:effectLst/>
                  </a:rPr>
                  <a:t>JSON format (</a:t>
                </a:r>
                <a14:m>
                  <m:oMath xmlns:m="http://schemas.openxmlformats.org/officeDocument/2006/math">
                    <m:sSub>
                      <m:sSubPr>
                        <m:ctrlPr>
                          <a:rPr lang="en-US" altLang="zh-CN" sz="2800" i="1" dirty="0" smtClean="0">
                            <a:solidFill>
                              <a:srgbClr val="000000"/>
                            </a:solidFill>
                            <a:effectLst/>
                            <a:latin typeface="Cambria Math" panose="02040503050406030204" pitchFamily="18" charset="0"/>
                          </a:rPr>
                        </m:ctrlPr>
                      </m:sSubPr>
                      <m:e>
                        <m:r>
                          <a:rPr lang="en-US" altLang="zh-CN" sz="2800" b="0" i="1" dirty="0" smtClean="0">
                            <a:solidFill>
                              <a:srgbClr val="000000"/>
                            </a:solidFill>
                            <a:effectLst/>
                            <a:latin typeface="Cambria Math" panose="02040503050406030204" pitchFamily="18" charset="0"/>
                          </a:rPr>
                          <m:t>𝑟</m:t>
                        </m:r>
                      </m:e>
                      <m:sub>
                        <m:r>
                          <a:rPr lang="en-US" altLang="zh-CN" sz="2800" b="0" i="1" dirty="0" smtClean="0">
                            <a:solidFill>
                              <a:srgbClr val="000000"/>
                            </a:solidFill>
                            <a:effectLst/>
                            <a:latin typeface="Cambria Math" panose="02040503050406030204" pitchFamily="18" charset="0"/>
                          </a:rPr>
                          <m:t>𝑗𝑠𝑜𝑛</m:t>
                        </m:r>
                      </m:sub>
                    </m:sSub>
                  </m:oMath>
                </a14:m>
                <a:r>
                  <a:rPr lang="en-US" altLang="zh-CN" sz="2800" i="0" dirty="0">
                    <a:solidFill>
                      <a:srgbClr val="000000"/>
                    </a:solidFill>
                    <a:effectLst/>
                  </a:rPr>
                  <a:t>): A binary reward where r = 1 if and only if the answer is valid JSON and its fields meet the requirements.</a:t>
                </a:r>
              </a:p>
              <a:p>
                <a:pPr marL="742950" lvl="1" indent="-285750" algn="l">
                  <a:spcAft>
                    <a:spcPts val="600"/>
                  </a:spcAft>
                  <a:buFont typeface="Arial" panose="020B0604020202020204" pitchFamily="34" charset="0"/>
                  <a:buChar char="•"/>
                </a:pPr>
                <a:r>
                  <a:rPr lang="en-US" altLang="zh-CN" sz="2800" i="0" dirty="0">
                    <a:solidFill>
                      <a:srgbClr val="000000"/>
                    </a:solidFill>
                    <a:effectLst/>
                  </a:rPr>
                  <a:t>RCA accuracy (</a:t>
                </a:r>
                <a14:m>
                  <m:oMath xmlns:m="http://schemas.openxmlformats.org/officeDocument/2006/math">
                    <m:sSub>
                      <m:sSubPr>
                        <m:ctrlPr>
                          <a:rPr lang="en-US" altLang="zh-CN" sz="2800" i="1" dirty="0" smtClean="0">
                            <a:solidFill>
                              <a:srgbClr val="000000"/>
                            </a:solidFill>
                            <a:effectLst/>
                            <a:latin typeface="Cambria Math" panose="02040503050406030204" pitchFamily="18" charset="0"/>
                          </a:rPr>
                        </m:ctrlPr>
                      </m:sSubPr>
                      <m:e>
                        <m:r>
                          <a:rPr lang="en-US" altLang="zh-CN" sz="2800" b="0" i="1" dirty="0" smtClean="0">
                            <a:solidFill>
                              <a:srgbClr val="000000"/>
                            </a:solidFill>
                            <a:effectLst/>
                            <a:latin typeface="Cambria Math" panose="02040503050406030204" pitchFamily="18" charset="0"/>
                          </a:rPr>
                          <m:t>𝑟</m:t>
                        </m:r>
                      </m:e>
                      <m:sub>
                        <m:r>
                          <a:rPr lang="en-US" altLang="zh-CN" sz="2800" b="0" i="1" dirty="0" smtClean="0">
                            <a:solidFill>
                              <a:srgbClr val="000000"/>
                            </a:solidFill>
                            <a:effectLst/>
                            <a:latin typeface="Cambria Math" panose="02040503050406030204" pitchFamily="18" charset="0"/>
                          </a:rPr>
                          <m:t>𝑎𝑐𝑐</m:t>
                        </m:r>
                      </m:sub>
                    </m:sSub>
                  </m:oMath>
                </a14:m>
                <a:r>
                  <a:rPr lang="en-US" altLang="zh-CN" sz="2800" i="0" dirty="0">
                    <a:solidFill>
                      <a:srgbClr val="000000"/>
                    </a:solidFill>
                    <a:effectLst/>
                  </a:rPr>
                  <a:t>):Reward correct root-cause prediction</a:t>
                </a:r>
                <a:r>
                  <a:rPr lang="zh-CN" altLang="en-US" sz="2800" i="0" dirty="0">
                    <a:solidFill>
                      <a:srgbClr val="000000"/>
                    </a:solidFill>
                    <a:effectLst/>
                  </a:rPr>
                  <a:t>：</a:t>
                </a:r>
                <a:endParaRPr lang="en-US" altLang="zh-CN" sz="2800" i="0" dirty="0">
                  <a:solidFill>
                    <a:srgbClr val="000000"/>
                  </a:solidFill>
                  <a:effectLst/>
                </a:endParaRPr>
              </a:p>
              <a:p>
                <a:pPr marL="742950" lvl="1" indent="-285750" algn="l">
                  <a:spcAft>
                    <a:spcPts val="600"/>
                  </a:spcAft>
                  <a:buFont typeface="Arial" panose="020B0604020202020204" pitchFamily="34" charset="0"/>
                  <a:buChar char="•"/>
                </a:pPr>
                <a:endParaRPr lang="en-US" altLang="zh-CN" sz="2800" i="0" dirty="0">
                  <a:solidFill>
                    <a:srgbClr val="000000"/>
                  </a:solidFill>
                  <a:effectLst/>
                </a:endParaRPr>
              </a:p>
              <a:p>
                <a:pPr marL="742950" lvl="1" indent="-285750" algn="l">
                  <a:spcAft>
                    <a:spcPts val="600"/>
                  </a:spcAft>
                  <a:buFont typeface="Arial" panose="020B0604020202020204" pitchFamily="34" charset="0"/>
                  <a:buChar char="•"/>
                </a:pPr>
                <a:endParaRPr lang="en-US" altLang="zh-CN" sz="2800" dirty="0">
                  <a:solidFill>
                    <a:srgbClr val="000000"/>
                  </a:solidFill>
                </a:endParaRPr>
              </a:p>
              <a:p>
                <a:pPr marL="742950" lvl="1" indent="-285750" algn="l">
                  <a:spcAft>
                    <a:spcPts val="600"/>
                  </a:spcAft>
                  <a:buFont typeface="Arial" panose="020B0604020202020204" pitchFamily="34" charset="0"/>
                  <a:buChar char="•"/>
                </a:pPr>
                <a:r>
                  <a:rPr lang="en-US" altLang="zh-CN" sz="2800" i="0" dirty="0">
                    <a:solidFill>
                      <a:srgbClr val="000000"/>
                    </a:solidFill>
                    <a:effectLst/>
                  </a:rPr>
                  <a:t>Structured thinking (</a:t>
                </a:r>
                <a14:m>
                  <m:oMath xmlns:m="http://schemas.openxmlformats.org/officeDocument/2006/math">
                    <m:sSub>
                      <m:sSubPr>
                        <m:ctrlPr>
                          <a:rPr lang="en-US" altLang="zh-CN" sz="2800" i="1" dirty="0" smtClean="0">
                            <a:solidFill>
                              <a:srgbClr val="000000"/>
                            </a:solidFill>
                            <a:effectLst/>
                            <a:latin typeface="Cambria Math" panose="02040503050406030204" pitchFamily="18" charset="0"/>
                          </a:rPr>
                        </m:ctrlPr>
                      </m:sSubPr>
                      <m:e>
                        <m:r>
                          <a:rPr lang="en-US" altLang="zh-CN" sz="2800" b="0" i="1" dirty="0" smtClean="0">
                            <a:solidFill>
                              <a:srgbClr val="000000"/>
                            </a:solidFill>
                            <a:effectLst/>
                            <a:latin typeface="Cambria Math" panose="02040503050406030204" pitchFamily="18" charset="0"/>
                          </a:rPr>
                          <m:t>𝑟</m:t>
                        </m:r>
                      </m:e>
                      <m:sub>
                        <m:r>
                          <a:rPr lang="en-US" altLang="zh-CN" sz="2800" b="0" i="1" dirty="0" smtClean="0">
                            <a:solidFill>
                              <a:srgbClr val="000000"/>
                            </a:solidFill>
                            <a:effectLst/>
                            <a:latin typeface="Cambria Math" panose="02040503050406030204" pitchFamily="18" charset="0"/>
                          </a:rPr>
                          <m:t>𝑡h𝑖𝑛𝑘</m:t>
                        </m:r>
                      </m:sub>
                    </m:sSub>
                  </m:oMath>
                </a14:m>
                <a:r>
                  <a:rPr lang="en-US" altLang="zh-CN" sz="2800" i="0" dirty="0">
                    <a:solidFill>
                      <a:srgbClr val="000000"/>
                    </a:solidFill>
                    <a:effectLst/>
                  </a:rPr>
                  <a:t>):r = 1 if and only if the entire reasoning trace strictly follows the structured deep thinking format.</a:t>
                </a:r>
              </a:p>
              <a:p>
                <a:pPr marL="742950" lvl="1" indent="-285750" algn="l">
                  <a:spcAft>
                    <a:spcPts val="600"/>
                  </a:spcAft>
                  <a:buFont typeface="Arial" panose="020B0604020202020204" pitchFamily="34" charset="0"/>
                  <a:buChar char="•"/>
                </a:pPr>
                <a:endParaRPr lang="en-US" altLang="zh-CN" sz="2800" i="0" dirty="0">
                  <a:solidFill>
                    <a:srgbClr val="000000"/>
                  </a:solidFill>
                  <a:effectLst/>
                </a:endParaRPr>
              </a:p>
            </p:txBody>
          </p:sp>
        </mc:Choice>
        <mc:Fallback xmlns="">
          <p:sp>
            <p:nvSpPr>
              <p:cNvPr id="9" name="文本框 8">
                <a:extLst>
                  <a:ext uri="{FF2B5EF4-FFF2-40B4-BE49-F238E27FC236}">
                    <a16:creationId xmlns:a16="http://schemas.microsoft.com/office/drawing/2014/main" id="{F4472CD0-6917-2738-4BD0-64F3A3500A7F}"/>
                  </a:ext>
                </a:extLst>
              </p:cNvPr>
              <p:cNvSpPr txBox="1">
                <a:spLocks noRot="1" noChangeAspect="1" noMove="1" noResize="1" noEditPoints="1" noAdjustHandles="1" noChangeArrowheads="1" noChangeShapeType="1" noTextEdit="1"/>
              </p:cNvSpPr>
              <p:nvPr/>
            </p:nvSpPr>
            <p:spPr>
              <a:xfrm>
                <a:off x="193678" y="1196438"/>
                <a:ext cx="11767094" cy="5947526"/>
              </a:xfrm>
              <a:prstGeom prst="rect">
                <a:avLst/>
              </a:prstGeom>
              <a:blipFill>
                <a:blip r:embed="rId4"/>
                <a:stretch>
                  <a:fillRect t="-1127" r="-52"/>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5AE9B8A9-CA66-0C7A-57CA-48073684F0A7}"/>
              </a:ext>
            </a:extLst>
          </p:cNvPr>
          <p:cNvPicPr>
            <a:picLocks noChangeAspect="1"/>
          </p:cNvPicPr>
          <p:nvPr/>
        </p:nvPicPr>
        <p:blipFill>
          <a:blip r:embed="rId5"/>
          <a:stretch>
            <a:fillRect/>
          </a:stretch>
        </p:blipFill>
        <p:spPr>
          <a:xfrm>
            <a:off x="4772452" y="4670060"/>
            <a:ext cx="2647095" cy="921757"/>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3.4 Model and Training Details</a:t>
            </a:r>
            <a:endParaRPr lang="zh-CN" altLang="en-US" sz="4400" dirty="0"/>
          </a:p>
        </p:txBody>
      </p:sp>
    </p:spTree>
    <p:extLst>
      <p:ext uri="{BB962C8B-B14F-4D97-AF65-F5344CB8AC3E}">
        <p14:creationId xmlns:p14="http://schemas.microsoft.com/office/powerpoint/2010/main" val="347967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4.1 Experiment Setup </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 y="1289633"/>
            <a:ext cx="11975708" cy="1815882"/>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b="1" dirty="0">
                <a:solidFill>
                  <a:srgbClr val="000000"/>
                </a:solidFill>
              </a:rPr>
              <a:t>Baseline Methods</a:t>
            </a:r>
            <a:r>
              <a:rPr lang="en-US" altLang="zh-CN" sz="2800" dirty="0">
                <a:solidFill>
                  <a:srgbClr val="000000"/>
                </a:solidFill>
              </a:rPr>
              <a:t>: </a:t>
            </a:r>
            <a:r>
              <a:rPr lang="en-US" altLang="zh-CN" sz="2800" dirty="0" err="1">
                <a:solidFill>
                  <a:srgbClr val="000000"/>
                </a:solidFill>
              </a:rPr>
              <a:t>MicroScope</a:t>
            </a:r>
            <a:r>
              <a:rPr lang="zh-CN" altLang="en-US" sz="2800" dirty="0">
                <a:solidFill>
                  <a:srgbClr val="000000"/>
                </a:solidFill>
              </a:rPr>
              <a:t>、</a:t>
            </a:r>
            <a:r>
              <a:rPr lang="en-US" altLang="zh-CN" sz="2800" dirty="0" err="1">
                <a:solidFill>
                  <a:srgbClr val="000000"/>
                </a:solidFill>
              </a:rPr>
              <a:t>MonitorRank</a:t>
            </a:r>
            <a:r>
              <a:rPr lang="zh-CN" altLang="en-US" sz="2800" dirty="0">
                <a:solidFill>
                  <a:srgbClr val="000000"/>
                </a:solidFill>
              </a:rPr>
              <a:t>、</a:t>
            </a:r>
            <a:r>
              <a:rPr lang="en-US" altLang="zh-CN" sz="2800" dirty="0" err="1">
                <a:solidFill>
                  <a:srgbClr val="000000"/>
                </a:solidFill>
              </a:rPr>
              <a:t>MicroCause</a:t>
            </a:r>
            <a:r>
              <a:rPr lang="zh-CN" altLang="en-US" sz="2800" dirty="0">
                <a:solidFill>
                  <a:srgbClr val="000000"/>
                </a:solidFill>
              </a:rPr>
              <a:t>、</a:t>
            </a:r>
            <a:r>
              <a:rPr lang="en-US" altLang="zh-CN" sz="2800" dirty="0">
                <a:solidFill>
                  <a:srgbClr val="000000"/>
                </a:solidFill>
              </a:rPr>
              <a:t>CIRCA</a:t>
            </a:r>
            <a:r>
              <a:rPr lang="zh-CN" altLang="en-US" sz="2800" dirty="0">
                <a:solidFill>
                  <a:srgbClr val="000000"/>
                </a:solidFill>
              </a:rPr>
              <a:t>、</a:t>
            </a:r>
            <a:r>
              <a:rPr lang="en-US" altLang="zh-CN" sz="2800" dirty="0">
                <a:solidFill>
                  <a:srgbClr val="000000"/>
                </a:solidFill>
              </a:rPr>
              <a:t> RCD</a:t>
            </a:r>
            <a:r>
              <a:rPr lang="zh-CN" altLang="en-US" sz="2800" dirty="0">
                <a:solidFill>
                  <a:srgbClr val="000000"/>
                </a:solidFill>
              </a:rPr>
              <a:t>、</a:t>
            </a:r>
            <a:r>
              <a:rPr lang="en-US" altLang="zh-CN" sz="2800" dirty="0">
                <a:solidFill>
                  <a:srgbClr val="000000"/>
                </a:solidFill>
              </a:rPr>
              <a:t>BARO</a:t>
            </a:r>
            <a:r>
              <a:rPr lang="zh-CN" altLang="en-US" sz="2800" dirty="0">
                <a:solidFill>
                  <a:srgbClr val="000000"/>
                </a:solidFill>
              </a:rPr>
              <a:t>、</a:t>
            </a:r>
            <a:r>
              <a:rPr lang="en-US" altLang="zh-CN" sz="2800" dirty="0">
                <a:solidFill>
                  <a:srgbClr val="000000"/>
                </a:solidFill>
              </a:rPr>
              <a:t>ART. Qwen2.5-14B </a:t>
            </a:r>
            <a:r>
              <a:rPr lang="zh-CN" altLang="en-US" sz="2800" dirty="0">
                <a:solidFill>
                  <a:srgbClr val="000000"/>
                </a:solidFill>
              </a:rPr>
              <a:t>、</a:t>
            </a:r>
            <a:r>
              <a:rPr lang="en-US" altLang="zh-CN" sz="2800" dirty="0">
                <a:solidFill>
                  <a:srgbClr val="000000"/>
                </a:solidFill>
              </a:rPr>
              <a:t>GPT-4o</a:t>
            </a:r>
            <a:r>
              <a:rPr lang="zh-CN" altLang="en-US" sz="2800" dirty="0">
                <a:solidFill>
                  <a:srgbClr val="000000"/>
                </a:solidFill>
              </a:rPr>
              <a:t>、</a:t>
            </a:r>
            <a:r>
              <a:rPr lang="en-US" altLang="zh-CN" sz="2800" dirty="0">
                <a:solidFill>
                  <a:srgbClr val="000000"/>
                </a:solidFill>
              </a:rPr>
              <a:t>OpenAI o4-mini, DeepSeek-R1-Distill-Qwen2.5-14B, </a:t>
            </a:r>
            <a:r>
              <a:rPr lang="en-US" altLang="zh-CN" sz="2800" dirty="0" err="1">
                <a:solidFill>
                  <a:srgbClr val="000000"/>
                </a:solidFill>
              </a:rPr>
              <a:t>DeepSeek</a:t>
            </a:r>
            <a:r>
              <a:rPr lang="en-US" altLang="zh-CN" sz="2800" dirty="0">
                <a:solidFill>
                  <a:srgbClr val="000000"/>
                </a:solidFill>
              </a:rPr>
              <a:t> R1, and Doubao-Seed-1.6-Thinking.</a:t>
            </a:r>
          </a:p>
        </p:txBody>
      </p:sp>
      <p:sp>
        <p:nvSpPr>
          <p:cNvPr id="2" name="文本框 1">
            <a:extLst>
              <a:ext uri="{FF2B5EF4-FFF2-40B4-BE49-F238E27FC236}">
                <a16:creationId xmlns:a16="http://schemas.microsoft.com/office/drawing/2014/main" id="{6628A4E1-A347-B128-F18C-499A5DFE87B7}"/>
              </a:ext>
            </a:extLst>
          </p:cNvPr>
          <p:cNvSpPr txBox="1"/>
          <p:nvPr/>
        </p:nvSpPr>
        <p:spPr>
          <a:xfrm>
            <a:off x="0" y="3238590"/>
            <a:ext cx="11975708" cy="1384995"/>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b="1" dirty="0">
                <a:solidFill>
                  <a:srgbClr val="000000"/>
                </a:solidFill>
              </a:rPr>
              <a:t>Datasets </a:t>
            </a:r>
            <a:r>
              <a:rPr lang="en-US" altLang="zh-CN" sz="2800" dirty="0">
                <a:solidFill>
                  <a:srgbClr val="000000"/>
                </a:solidFill>
              </a:rPr>
              <a:t>: We uses four datasets, the datasets used for evaluation have system architectures that are completely distinct from those used for training, ensuring the reliability of the zero-shot evaluation.</a:t>
            </a:r>
          </a:p>
        </p:txBody>
      </p:sp>
      <p:pic>
        <p:nvPicPr>
          <p:cNvPr id="5" name="图片 4">
            <a:extLst>
              <a:ext uri="{FF2B5EF4-FFF2-40B4-BE49-F238E27FC236}">
                <a16:creationId xmlns:a16="http://schemas.microsoft.com/office/drawing/2014/main" id="{603121B1-2E60-98C5-C208-542FB4DFB4B8}"/>
              </a:ext>
            </a:extLst>
          </p:cNvPr>
          <p:cNvPicPr>
            <a:picLocks noChangeAspect="1"/>
          </p:cNvPicPr>
          <p:nvPr/>
        </p:nvPicPr>
        <p:blipFill>
          <a:blip r:embed="rId3"/>
          <a:stretch>
            <a:fillRect/>
          </a:stretch>
        </p:blipFill>
        <p:spPr>
          <a:xfrm>
            <a:off x="3608758" y="4777487"/>
            <a:ext cx="5668166" cy="1667108"/>
          </a:xfrm>
          <a:prstGeom prst="rect">
            <a:avLst/>
          </a:prstGeom>
        </p:spPr>
      </p:pic>
    </p:spTree>
    <p:extLst>
      <p:ext uri="{BB962C8B-B14F-4D97-AF65-F5344CB8AC3E}">
        <p14:creationId xmlns:p14="http://schemas.microsoft.com/office/powerpoint/2010/main" val="350525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4.1 Experiment Setup </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 y="1646982"/>
            <a:ext cx="11975708" cy="3900811"/>
          </a:xfrm>
          <a:prstGeom prst="rect">
            <a:avLst/>
          </a:prstGeom>
          <a:noFill/>
        </p:spPr>
        <p:txBody>
          <a:bodyPr wrap="square" rtlCol="0">
            <a:spAutoFit/>
          </a:bodyPr>
          <a:lstStyle/>
          <a:p>
            <a:pPr marL="742950" lvl="1" indent="-285750">
              <a:lnSpc>
                <a:spcPct val="125000"/>
              </a:lnSpc>
              <a:spcAft>
                <a:spcPts val="600"/>
              </a:spcAft>
              <a:buFont typeface="Arial" panose="020B0604020202020204" pitchFamily="34" charset="0"/>
              <a:buChar char="•"/>
            </a:pPr>
            <a:r>
              <a:rPr lang="en-US" altLang="zh-CN" sz="2800" b="1" dirty="0"/>
              <a:t>Evaluation Metrics : </a:t>
            </a:r>
            <a:r>
              <a:rPr lang="en-US" altLang="zh-CN" sz="2800" dirty="0"/>
              <a:t>Top-1 Accuracy, Top-3 Accuracy, and MRR.</a:t>
            </a:r>
            <a:endParaRPr lang="en-US" altLang="zh-CN" sz="2800" b="1" dirty="0">
              <a:solidFill>
                <a:srgbClr val="000000"/>
              </a:solidFill>
            </a:endParaRPr>
          </a:p>
          <a:p>
            <a:pPr marL="742950" lvl="1" indent="-285750">
              <a:lnSpc>
                <a:spcPct val="125000"/>
              </a:lnSpc>
              <a:spcAft>
                <a:spcPts val="600"/>
              </a:spcAft>
              <a:buFont typeface="Arial" panose="020B0604020202020204" pitchFamily="34" charset="0"/>
              <a:buChar char="•"/>
            </a:pPr>
            <a:r>
              <a:rPr lang="en-US" altLang="zh-CN" sz="2800" b="1" dirty="0">
                <a:solidFill>
                  <a:srgbClr val="000000"/>
                </a:solidFill>
              </a:rPr>
              <a:t>Implementation Details :</a:t>
            </a:r>
            <a:r>
              <a:rPr lang="en-US" altLang="zh-CN" sz="2800" dirty="0">
                <a:solidFill>
                  <a:srgbClr val="000000"/>
                </a:solidFill>
              </a:rPr>
              <a:t> All models are trained using the Open-R1 framework and the TRL library. </a:t>
            </a:r>
            <a:r>
              <a:rPr lang="en-US" altLang="zh-CN" sz="2800" dirty="0" err="1">
                <a:solidFill>
                  <a:srgbClr val="000000"/>
                </a:solidFill>
              </a:rPr>
              <a:t>FoundRoot</a:t>
            </a:r>
            <a:r>
              <a:rPr lang="en-US" altLang="zh-CN" sz="2800" dirty="0">
                <a:solidFill>
                  <a:srgbClr val="000000"/>
                </a:solidFill>
              </a:rPr>
              <a:t> is initialized from DeepSeek-R1-Distill-Qwen2.5-14B1 and trained for 400 steps with a batch size of 32 on 8×A100 GPUs, with temperature=1.0 and </a:t>
            </a:r>
            <a:r>
              <a:rPr lang="en-US" altLang="zh-CN" sz="2800" dirty="0" err="1">
                <a:solidFill>
                  <a:srgbClr val="000000"/>
                </a:solidFill>
              </a:rPr>
              <a:t>lr</a:t>
            </a:r>
            <a:r>
              <a:rPr lang="en-US" altLang="zh-CN" sz="2800" dirty="0">
                <a:solidFill>
                  <a:srgbClr val="000000"/>
                </a:solidFill>
              </a:rPr>
              <a:t>=1e-6. In our experiments, we empirically set the reward weights to: </a:t>
            </a:r>
            <a:r>
              <a:rPr lang="en-US" altLang="zh-CN" sz="2800" dirty="0" err="1">
                <a:solidFill>
                  <a:srgbClr val="000000"/>
                </a:solidFill>
              </a:rPr>
              <a:t>λformat</a:t>
            </a:r>
            <a:r>
              <a:rPr lang="en-US" altLang="zh-CN" sz="2800" dirty="0">
                <a:solidFill>
                  <a:srgbClr val="000000"/>
                </a:solidFill>
              </a:rPr>
              <a:t> = 1.0, </a:t>
            </a:r>
            <a:r>
              <a:rPr lang="en-US" altLang="zh-CN" sz="2800" dirty="0" err="1">
                <a:solidFill>
                  <a:srgbClr val="000000"/>
                </a:solidFill>
              </a:rPr>
              <a:t>λstruct</a:t>
            </a:r>
            <a:r>
              <a:rPr lang="en-US" altLang="zh-CN" sz="2800" dirty="0">
                <a:solidFill>
                  <a:srgbClr val="000000"/>
                </a:solidFill>
              </a:rPr>
              <a:t> = 1.0, </a:t>
            </a:r>
            <a:r>
              <a:rPr lang="en-US" altLang="zh-CN" sz="2800" dirty="0" err="1">
                <a:solidFill>
                  <a:srgbClr val="000000"/>
                </a:solidFill>
              </a:rPr>
              <a:t>λmrr</a:t>
            </a:r>
            <a:r>
              <a:rPr lang="en-US" altLang="zh-CN" sz="2800" dirty="0">
                <a:solidFill>
                  <a:srgbClr val="000000"/>
                </a:solidFill>
              </a:rPr>
              <a:t> = 3.0, and </a:t>
            </a:r>
            <a:r>
              <a:rPr lang="en-US" altLang="zh-CN" sz="2800" dirty="0" err="1">
                <a:solidFill>
                  <a:srgbClr val="000000"/>
                </a:solidFill>
              </a:rPr>
              <a:t>λstf</a:t>
            </a:r>
            <a:r>
              <a:rPr lang="en-US" altLang="zh-CN" sz="2800" dirty="0">
                <a:solidFill>
                  <a:srgbClr val="000000"/>
                </a:solidFill>
              </a:rPr>
              <a:t> = 1.0.</a:t>
            </a:r>
          </a:p>
        </p:txBody>
      </p:sp>
    </p:spTree>
    <p:extLst>
      <p:ext uri="{BB962C8B-B14F-4D97-AF65-F5344CB8AC3E}">
        <p14:creationId xmlns:p14="http://schemas.microsoft.com/office/powerpoint/2010/main" val="1687684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4.2 Prediction Accuracy </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 y="1240625"/>
            <a:ext cx="11975708" cy="954107"/>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dirty="0">
                <a:solidFill>
                  <a:srgbClr val="000000"/>
                </a:solidFill>
              </a:rPr>
              <a:t>We compare </a:t>
            </a:r>
            <a:r>
              <a:rPr lang="en-US" altLang="zh-CN" sz="2800" dirty="0" err="1">
                <a:solidFill>
                  <a:srgbClr val="000000"/>
                </a:solidFill>
              </a:rPr>
              <a:t>FoundRoot</a:t>
            </a:r>
            <a:r>
              <a:rPr lang="en-US" altLang="zh-CN" sz="2800" dirty="0">
                <a:solidFill>
                  <a:srgbClr val="000000"/>
                </a:solidFill>
              </a:rPr>
              <a:t> with a range of classical RCA methods and modern LLM-based approaches across four benchmark datasets.</a:t>
            </a:r>
          </a:p>
        </p:txBody>
      </p:sp>
      <p:pic>
        <p:nvPicPr>
          <p:cNvPr id="5" name="图片 4">
            <a:extLst>
              <a:ext uri="{FF2B5EF4-FFF2-40B4-BE49-F238E27FC236}">
                <a16:creationId xmlns:a16="http://schemas.microsoft.com/office/drawing/2014/main" id="{51650C2D-E2A4-60D7-1671-2DD81444CBBE}"/>
              </a:ext>
            </a:extLst>
          </p:cNvPr>
          <p:cNvPicPr>
            <a:picLocks noChangeAspect="1"/>
          </p:cNvPicPr>
          <p:nvPr/>
        </p:nvPicPr>
        <p:blipFill>
          <a:blip r:embed="rId3"/>
          <a:stretch>
            <a:fillRect/>
          </a:stretch>
        </p:blipFill>
        <p:spPr>
          <a:xfrm>
            <a:off x="1383758" y="2389136"/>
            <a:ext cx="9424483" cy="4213114"/>
          </a:xfrm>
          <a:prstGeom prst="rect">
            <a:avLst/>
          </a:prstGeom>
        </p:spPr>
      </p:pic>
    </p:spTree>
    <p:extLst>
      <p:ext uri="{BB962C8B-B14F-4D97-AF65-F5344CB8AC3E}">
        <p14:creationId xmlns:p14="http://schemas.microsoft.com/office/powerpoint/2010/main" val="230197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4.3 Ablation Study </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0" y="1152579"/>
            <a:ext cx="11311847" cy="954107"/>
          </a:xfrm>
          <a:prstGeom prst="rect">
            <a:avLst/>
          </a:prstGeom>
          <a:noFill/>
        </p:spPr>
        <p:txBody>
          <a:bodyPr wrap="square" rtlCol="0">
            <a:spAutoFit/>
          </a:bodyPr>
          <a:lstStyle/>
          <a:p>
            <a:pPr marL="742950" lvl="1" indent="-285750" algn="just">
              <a:buFont typeface="Arial" panose="020B0604020202020204" pitchFamily="34" charset="0"/>
              <a:buChar char="•"/>
            </a:pPr>
            <a:r>
              <a:rPr lang="en-US" altLang="zh-CN" sz="2800" dirty="0"/>
              <a:t>To evaluate the contribution of structured deep thinking and RL, we conduct ablation studies.</a:t>
            </a:r>
            <a:endParaRPr lang="en-US" altLang="zh-CN" sz="2800" dirty="0">
              <a:solidFill>
                <a:srgbClr val="000000"/>
              </a:solidFill>
            </a:endParaRPr>
          </a:p>
        </p:txBody>
      </p:sp>
      <p:pic>
        <p:nvPicPr>
          <p:cNvPr id="10" name="图片 9">
            <a:extLst>
              <a:ext uri="{FF2B5EF4-FFF2-40B4-BE49-F238E27FC236}">
                <a16:creationId xmlns:a16="http://schemas.microsoft.com/office/drawing/2014/main" id="{E434BEAF-BE77-53DD-5DE7-415A5701B726}"/>
              </a:ext>
            </a:extLst>
          </p:cNvPr>
          <p:cNvPicPr>
            <a:picLocks noChangeAspect="1"/>
          </p:cNvPicPr>
          <p:nvPr/>
        </p:nvPicPr>
        <p:blipFill>
          <a:blip r:embed="rId3"/>
          <a:stretch>
            <a:fillRect/>
          </a:stretch>
        </p:blipFill>
        <p:spPr>
          <a:xfrm>
            <a:off x="3447680" y="2285363"/>
            <a:ext cx="5296639" cy="1981477"/>
          </a:xfrm>
          <a:prstGeom prst="rect">
            <a:avLst/>
          </a:prstGeom>
        </p:spPr>
      </p:pic>
      <p:pic>
        <p:nvPicPr>
          <p:cNvPr id="12" name="图片 11">
            <a:extLst>
              <a:ext uri="{FF2B5EF4-FFF2-40B4-BE49-F238E27FC236}">
                <a16:creationId xmlns:a16="http://schemas.microsoft.com/office/drawing/2014/main" id="{887EFB50-B4C1-7296-7080-773C88633567}"/>
              </a:ext>
            </a:extLst>
          </p:cNvPr>
          <p:cNvPicPr>
            <a:picLocks noChangeAspect="1"/>
          </p:cNvPicPr>
          <p:nvPr/>
        </p:nvPicPr>
        <p:blipFill>
          <a:blip r:embed="rId4"/>
          <a:stretch>
            <a:fillRect/>
          </a:stretch>
        </p:blipFill>
        <p:spPr>
          <a:xfrm>
            <a:off x="3481021" y="4629865"/>
            <a:ext cx="5229955" cy="1933845"/>
          </a:xfrm>
          <a:prstGeom prst="rect">
            <a:avLst/>
          </a:prstGeom>
        </p:spPr>
      </p:pic>
    </p:spTree>
    <p:extLst>
      <p:ext uri="{BB962C8B-B14F-4D97-AF65-F5344CB8AC3E}">
        <p14:creationId xmlns:p14="http://schemas.microsoft.com/office/powerpoint/2010/main" val="467424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1557240" cy="1446550"/>
          </a:xfrm>
          <a:prstGeom prst="rect">
            <a:avLst/>
          </a:prstGeom>
          <a:noFill/>
        </p:spPr>
        <p:txBody>
          <a:bodyPr wrap="square" rtlCol="0">
            <a:spAutoFit/>
          </a:bodyPr>
          <a:lstStyle/>
          <a:p>
            <a:r>
              <a:rPr lang="en-US" altLang="zh-CN" sz="4400" dirty="0"/>
              <a:t>4.4 Does structured deep thinking provide  more generalization to unseen systems?</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0" y="2003916"/>
            <a:ext cx="11311847" cy="954107"/>
          </a:xfrm>
          <a:prstGeom prst="rect">
            <a:avLst/>
          </a:prstGeom>
          <a:noFill/>
        </p:spPr>
        <p:txBody>
          <a:bodyPr wrap="square" rtlCol="0">
            <a:spAutoFit/>
          </a:bodyPr>
          <a:lstStyle/>
          <a:p>
            <a:pPr marL="742950" lvl="1" indent="-285750" algn="just">
              <a:buFont typeface="Arial" panose="020B0604020202020204" pitchFamily="34" charset="0"/>
              <a:buChar char="•"/>
            </a:pPr>
            <a:r>
              <a:rPr lang="en-US" altLang="zh-CN" sz="2800" dirty="0"/>
              <a:t>We compared the training and evaluation curves of </a:t>
            </a:r>
            <a:r>
              <a:rPr lang="en-US" altLang="zh-CN" sz="2800" dirty="0" err="1"/>
              <a:t>FoundRoot</a:t>
            </a:r>
            <a:r>
              <a:rPr lang="en-US" altLang="zh-CN" sz="2800" dirty="0"/>
              <a:t> and the variant without structured deep thinking (w/o Struct. Think).</a:t>
            </a:r>
            <a:endParaRPr lang="en-US" altLang="zh-CN" sz="2800" dirty="0">
              <a:solidFill>
                <a:srgbClr val="000000"/>
              </a:solidFill>
            </a:endParaRPr>
          </a:p>
        </p:txBody>
      </p:sp>
      <p:pic>
        <p:nvPicPr>
          <p:cNvPr id="3" name="图片 2">
            <a:extLst>
              <a:ext uri="{FF2B5EF4-FFF2-40B4-BE49-F238E27FC236}">
                <a16:creationId xmlns:a16="http://schemas.microsoft.com/office/drawing/2014/main" id="{357F44DB-87D3-A115-3B45-B4E632F6B8DC}"/>
              </a:ext>
            </a:extLst>
          </p:cNvPr>
          <p:cNvPicPr>
            <a:picLocks noChangeAspect="1"/>
          </p:cNvPicPr>
          <p:nvPr/>
        </p:nvPicPr>
        <p:blipFill>
          <a:blip r:embed="rId3"/>
          <a:stretch>
            <a:fillRect/>
          </a:stretch>
        </p:blipFill>
        <p:spPr>
          <a:xfrm>
            <a:off x="2852543" y="3375249"/>
            <a:ext cx="6554115" cy="2867425"/>
          </a:xfrm>
          <a:prstGeom prst="rect">
            <a:avLst/>
          </a:prstGeom>
        </p:spPr>
      </p:pic>
    </p:spTree>
    <p:extLst>
      <p:ext uri="{BB962C8B-B14F-4D97-AF65-F5344CB8AC3E}">
        <p14:creationId xmlns:p14="http://schemas.microsoft.com/office/powerpoint/2010/main" val="2563784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5. Conclusion </a:t>
            </a:r>
            <a:endParaRPr lang="zh-CN" altLang="en-US" sz="4400" dirty="0"/>
          </a:p>
        </p:txBody>
      </p:sp>
      <p:sp>
        <p:nvSpPr>
          <p:cNvPr id="3" name="内容占位符 6">
            <a:extLst>
              <a:ext uri="{FF2B5EF4-FFF2-40B4-BE49-F238E27FC236}">
                <a16:creationId xmlns:a16="http://schemas.microsoft.com/office/drawing/2014/main" id="{630B4939-53A9-0F0D-94AC-321E78DE633A}"/>
              </a:ext>
            </a:extLst>
          </p:cNvPr>
          <p:cNvSpPr>
            <a:spLocks noGrp="1"/>
          </p:cNvSpPr>
          <p:nvPr/>
        </p:nvSpPr>
        <p:spPr>
          <a:xfrm>
            <a:off x="838200" y="966480"/>
            <a:ext cx="11059274" cy="56988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300" dirty="0" err="1"/>
              <a:t>FoundRoot</a:t>
            </a:r>
            <a:r>
              <a:rPr lang="en-US" altLang="zh-CN" sz="2300" dirty="0"/>
              <a:t> is the first LLM-based foundation model specifically designed for zero-shot Root Cause Analysis (RCA) using monitoring metrics.</a:t>
            </a:r>
          </a:p>
          <a:p>
            <a:r>
              <a:rPr lang="en-US" altLang="zh-CN" sz="2300" dirty="0"/>
              <a:t>It introduces Structured Deep Thinking, which decomposes RCA into explicit reasoning steps to improve causal understanding and fault propagation analysis.</a:t>
            </a:r>
          </a:p>
          <a:p>
            <a:r>
              <a:rPr lang="en-US" altLang="zh-CN" sz="2300" dirty="0"/>
              <a:t>To support effective training, the authors construct 10 diverse RCA datasets and propose a data augmentation strategy to enhance data diversity and domain coverage.</a:t>
            </a:r>
          </a:p>
          <a:p>
            <a:r>
              <a:rPr lang="en-US" altLang="zh-CN" sz="2300" dirty="0"/>
              <a:t>A two-stage training framework (Warm-up SFT + DAPO RL) enables the model to learn structured reasoning and further optimize reasoning quality through reinforcement learning.</a:t>
            </a:r>
          </a:p>
          <a:p>
            <a:r>
              <a:rPr lang="en-US" altLang="zh-CN" sz="2300" dirty="0"/>
              <a:t>Experiments on four zero-shot benchmarks demonstrate that </a:t>
            </a:r>
            <a:r>
              <a:rPr lang="en-US" altLang="zh-CN" sz="2300" dirty="0" err="1"/>
              <a:t>FoundRoot</a:t>
            </a:r>
            <a:r>
              <a:rPr lang="en-US" altLang="zh-CN" sz="2300" dirty="0"/>
              <a:t> consistently outperforms both traditional RCA methods and state-of-the-art LLM-based approaches, achieving up to 48.6% improvement in MRR.</a:t>
            </a:r>
          </a:p>
          <a:p>
            <a:r>
              <a:rPr lang="en-US" altLang="zh-CN" sz="2300" dirty="0" err="1"/>
              <a:t>FoundRoot</a:t>
            </a:r>
            <a:r>
              <a:rPr lang="en-US" altLang="zh-CN" sz="2300" dirty="0"/>
              <a:t> provides a strong foundation for future LLM-based reasoning in intelligent root cause analysis.</a:t>
            </a:r>
          </a:p>
          <a:p>
            <a:pPr marL="457200" lvl="1" indent="0">
              <a:buNone/>
            </a:pPr>
            <a:endParaRPr lang="en-US" altLang="zh-CN" sz="2300" dirty="0"/>
          </a:p>
        </p:txBody>
      </p:sp>
    </p:spTree>
    <p:extLst>
      <p:ext uri="{BB962C8B-B14F-4D97-AF65-F5344CB8AC3E}">
        <p14:creationId xmlns:p14="http://schemas.microsoft.com/office/powerpoint/2010/main" val="278550482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10888</TotalTime>
  <Words>3588</Words>
  <Application>Microsoft Office PowerPoint</Application>
  <PresentationFormat>宽屏</PresentationFormat>
  <Paragraphs>171</Paragraphs>
  <Slides>22</Slides>
  <Notes>22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Inter</vt:lpstr>
      <vt:lpstr>等线</vt:lpstr>
      <vt:lpstr>等线 Light</vt:lpstr>
      <vt:lpstr>Arial</vt:lpstr>
      <vt:lpstr>Cambria Math</vt:lpstr>
      <vt:lpstr>Montserrat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tingfeng</dc:creator>
  <cp:lastModifiedBy>tingfeng</cp:lastModifiedBy>
  <cp:revision>198</cp:revision>
  <dcterms:created xsi:type="dcterms:W3CDTF">2025-11-24T07:21:15Z</dcterms:created>
  <dcterms:modified xsi:type="dcterms:W3CDTF">2026-07-20T03:07:57Z</dcterms:modified>
</cp:coreProperties>
</file>