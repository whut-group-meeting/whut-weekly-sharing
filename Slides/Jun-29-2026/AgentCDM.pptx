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9" r:id="rId7"/>
    <p:sldId id="268" r:id="rId8"/>
    <p:sldId id="262" r:id="rId9"/>
    <p:sldId id="270" r:id="rId10"/>
    <p:sldId id="263" r:id="rId11"/>
    <p:sldId id="271" r:id="rId12"/>
    <p:sldId id="265" r:id="rId13"/>
    <p:sldId id="266" r:id="rId14"/>
    <p:sldId id="267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5" autoAdjust="0"/>
  </p:normalViewPr>
  <p:slideViewPr>
    <p:cSldViewPr snapToGrid="0" snapToObjects="1">
      <p:cViewPr varScale="1">
        <p:scale>
          <a:sx n="141" d="100"/>
          <a:sy n="141" d="100"/>
        </p:scale>
        <p:origin x="74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334D4B-A323-DC4C-33A2-B9DF85FE9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A51456-4FDA-AA30-6010-E18C77F3B2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E236F7-3B2C-79F4-22AD-C008D85C79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2F60B3-9B79-9D2B-1740-13AFFC65A1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2865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EEDF1-B688-58B2-0E9D-2B3F6D678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047556-B363-E9AB-C2AC-0C9FFD3484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EBF129-FA55-AE5F-4049-645A4DE616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44618A-215F-FDF6-24F1-3A9337E71F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0661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5F6D1-BB1F-E9DB-2111-CDE3A64F6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BB0C64-C6F5-A6CE-9D60-03258DD218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6C03C9-494B-CA78-316A-68A0F2F344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6CBC6F-ACEE-F92B-DABA-09D2F2B7B9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4662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DE1E3-AF81-5738-65A9-21C026B85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5529D8-A45D-AE3B-E977-8643C15BE8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EFB201-8811-838B-90F8-D8CB606994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AC9DB6-6F01-8036-56D6-13F626F3DA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7232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3.png"/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3" Type="http://schemas.openxmlformats.org/officeDocument/2006/relationships/tags" Target="../tags/tag6.xml"/><Relationship Id="rId7" Type="http://schemas.openxmlformats.org/officeDocument/2006/relationships/slideLayout" Target="../slideLayouts/slideLayout1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tags" Target="../tags/tag9.xml"/><Relationship Id="rId5" Type="http://schemas.openxmlformats.org/officeDocument/2006/relationships/tags" Target="../tags/tag8.xml"/><Relationship Id="rId4" Type="http://schemas.openxmlformats.org/officeDocument/2006/relationships/tags" Target="../tags/tag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00125" y="1616664"/>
            <a:ext cx="7143750" cy="12343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2450" b="1" dirty="0">
                <a:solidFill>
                  <a:srgbClr val="1A1A1A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AgentCDM: Enhancing Multi-Agent Collaborative Decision-Making via ACH-Inspired Structured Reasoning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2482453" y="3232921"/>
            <a:ext cx="4179094" cy="16787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Xuyang Zhao, Shiwan Zhao, Hualong Yu, Liting Zhang, Qicheng Li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262140" y="3457949"/>
            <a:ext cx="619720" cy="15180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AAAI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71500" y="600912"/>
            <a:ext cx="8572500" cy="2769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Background</a:t>
            </a:r>
            <a:endParaRPr lang="en-US" sz="1800" dirty="0"/>
          </a:p>
        </p:txBody>
      </p:sp>
      <p:sp>
        <p:nvSpPr>
          <p:cNvPr id="5" name="Text 1"/>
          <p:cNvSpPr/>
          <p:nvPr/>
        </p:nvSpPr>
        <p:spPr>
          <a:xfrm>
            <a:off x="571499" y="1278798"/>
            <a:ext cx="7400713" cy="5539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1200" b="1" dirty="0">
                <a:solidFill>
                  <a:srgbClr val="1A1A1A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The Potential of MAS</a:t>
            </a:r>
            <a:r>
              <a:rPr lang="zh-CN" altLang="en-US" sz="1200" b="1" dirty="0">
                <a:solidFill>
                  <a:srgbClr val="1A1A1A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：</a:t>
            </a:r>
            <a:r>
              <a:rPr lang="en-US" altLang="zh-CN" sz="1200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Multi-Agent Systems driven by LLMs enable collaboration to solve complex tasks beyond the reach of single agents, such as code generation and scientific discovery.</a:t>
            </a:r>
            <a:endParaRPr lang="en-US" altLang="zh-CN" sz="1200" dirty="0"/>
          </a:p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571500" y="2536868"/>
            <a:ext cx="2286000" cy="15440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endParaRPr lang="en-US" sz="850" dirty="0"/>
          </a:p>
        </p:txBody>
      </p:sp>
      <p:sp>
        <p:nvSpPr>
          <p:cNvPr id="8" name="Text 3"/>
          <p:cNvSpPr/>
          <p:nvPr/>
        </p:nvSpPr>
        <p:spPr>
          <a:xfrm>
            <a:off x="571500" y="2346522"/>
            <a:ext cx="7170420" cy="5539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1200" b="1" dirty="0">
                <a:solidFill>
                  <a:srgbClr val="1A1A1A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The Core: CDM</a:t>
            </a:r>
            <a:r>
              <a:rPr lang="zh-CN" altLang="en-US" sz="1200" b="1" dirty="0">
                <a:solidFill>
                  <a:srgbClr val="1A1A1A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：</a:t>
            </a:r>
            <a:r>
              <a:rPr lang="en-US" altLang="zh-CN" sz="1200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Collaborative Decision-Making (CDM) is the critical component that determines the final output quality and robustness of the entire system.</a:t>
            </a:r>
            <a:endParaRPr lang="en-US" altLang="zh-CN" sz="1200" dirty="0"/>
          </a:p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3429000" y="2536868"/>
            <a:ext cx="2286000" cy="15440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endParaRPr lang="en-US" sz="850" dirty="0"/>
          </a:p>
        </p:txBody>
      </p:sp>
      <p:sp>
        <p:nvSpPr>
          <p:cNvPr id="11" name="Text 5"/>
          <p:cNvSpPr/>
          <p:nvPr/>
        </p:nvSpPr>
        <p:spPr>
          <a:xfrm>
            <a:off x="571500" y="3399420"/>
            <a:ext cx="7170420" cy="5539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1200" b="1" dirty="0">
                <a:solidFill>
                  <a:srgbClr val="1A1A1A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The Evolution</a:t>
            </a:r>
            <a:r>
              <a:rPr lang="zh-CN" altLang="en-US" sz="1200" b="1" dirty="0">
                <a:solidFill>
                  <a:srgbClr val="1A1A1A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：</a:t>
            </a:r>
            <a:r>
              <a:rPr lang="en-US" altLang="zh-CN" sz="1200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field is moving from static, hand-designed frameworks toward more dynamic, adaptive, and context-aware architectures for higher automation.</a:t>
            </a:r>
            <a:endParaRPr lang="en-US" altLang="zh-CN" sz="1200" dirty="0"/>
          </a:p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6286500" y="2536868"/>
            <a:ext cx="2286000" cy="15440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71500" y="600912"/>
            <a:ext cx="8572500" cy="2769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Challenges</a:t>
            </a:r>
            <a:endParaRPr lang="en-US" sz="18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445661"/>
            <a:ext cx="171450" cy="1714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50106" y="1431373"/>
            <a:ext cx="1853803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563EB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Mechanism Bottlenecks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571500" y="1845711"/>
            <a:ext cx="3571875" cy="16787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1A1A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Dictatorial Mechanisms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571500" y="2127889"/>
            <a:ext cx="3571875" cy="36572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Over-reliance on a single decision agent makes the system vulnerable to individual hallucinations and biases.</a:t>
            </a:r>
            <a:endParaRPr lang="en-US" sz="850" dirty="0"/>
          </a:p>
        </p:txBody>
      </p:sp>
      <p:sp>
        <p:nvSpPr>
          <p:cNvPr id="8" name="Text 4"/>
          <p:cNvSpPr/>
          <p:nvPr/>
        </p:nvSpPr>
        <p:spPr>
          <a:xfrm>
            <a:off x="571500" y="2779365"/>
            <a:ext cx="3571875" cy="16787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1A1A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Voting-based Mechanisms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571500" y="3061543"/>
            <a:ext cx="3571875" cy="36572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Simple majority rules fail to resolve deep reasoning conflicts or synthesize local truths effectively.</a:t>
            </a:r>
            <a:endParaRPr lang="en-US" sz="8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0625" y="1445661"/>
            <a:ext cx="171450" cy="1714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279231" y="1431373"/>
            <a:ext cx="1357313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563EB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Cognitive Threats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5000625" y="1845711"/>
            <a:ext cx="3571875" cy="16787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1A1A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Inherent Biases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5000625" y="2127889"/>
            <a:ext cx="3571875" cy="36572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Anchoring, confirmation, and subjective validation biases degrade the objectivity of multi-agent interactions.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5000625" y="2779365"/>
            <a:ext cx="3571875" cy="16787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1A1A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Negative Feedback Loops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5000625" y="3061543"/>
            <a:ext cx="3571875" cy="36572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Unaddressed biases are amplified during agent collaboration, leading to fragile and unrobust conclusions.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71500" y="286113"/>
            <a:ext cx="8572500" cy="2769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Contributions</a:t>
            </a:r>
            <a:endParaRPr lang="en-US" sz="1800" dirty="0"/>
          </a:p>
        </p:txBody>
      </p:sp>
      <p:sp>
        <p:nvSpPr>
          <p:cNvPr id="6" name="Text 2"/>
          <p:cNvSpPr/>
          <p:nvPr>
            <p:custDataLst>
              <p:tags r:id="rId1"/>
            </p:custDataLst>
          </p:nvPr>
        </p:nvSpPr>
        <p:spPr>
          <a:xfrm>
            <a:off x="571500" y="741834"/>
            <a:ext cx="7429500" cy="55617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8000"/>
              </a:lnSpc>
            </a:pPr>
            <a:r>
              <a:rPr lang="en-US" altLang="zh-CN" sz="1000" b="1" dirty="0">
                <a:solidFill>
                  <a:srgbClr val="1A1A1A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Structured Reasoning Strategy</a:t>
            </a:r>
            <a:endParaRPr lang="en-US" altLang="zh-CN" sz="10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Introduces a cognitive science-inspired </a:t>
            </a:r>
            <a:r>
              <a:rPr lang="en-US" sz="900" b="1" dirty="0">
                <a:solidFill>
                  <a:srgbClr val="2563EB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Analysis of Competing Hypotheses (ACH)</a:t>
            </a:r>
            <a:r>
              <a:rPr lang="en-US" sz="950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framework to systematically mitigate cognitive biases in decision aggregation.</a:t>
            </a:r>
            <a:endParaRPr lang="en-US" sz="950" dirty="0"/>
          </a:p>
        </p:txBody>
      </p:sp>
      <p:sp>
        <p:nvSpPr>
          <p:cNvPr id="9" name="Text 4"/>
          <p:cNvSpPr/>
          <p:nvPr>
            <p:custDataLst>
              <p:tags r:id="rId2"/>
            </p:custDataLst>
          </p:nvPr>
        </p:nvSpPr>
        <p:spPr>
          <a:xfrm>
            <a:off x="571500" y="1476734"/>
            <a:ext cx="7429500" cy="55617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8000"/>
              </a:lnSpc>
            </a:pPr>
            <a:r>
              <a:rPr lang="en-US" altLang="zh-CN" sz="1000" b="1" dirty="0">
                <a:solidFill>
                  <a:srgbClr val="1A1A1A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Two-Stage Training Paradigm</a:t>
            </a:r>
            <a:endParaRPr lang="en-US" altLang="zh-CN" sz="10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Proposes an evolution from </a:t>
            </a:r>
            <a:r>
              <a:rPr lang="en-US" sz="900" b="1" dirty="0">
                <a:solidFill>
                  <a:srgbClr val="2563EB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explicit scaffolding</a:t>
            </a:r>
            <a:r>
              <a:rPr lang="en-US" sz="950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 </a:t>
            </a:r>
            <a:r>
              <a:rPr lang="en-US" sz="900" b="1" dirty="0">
                <a:solidFill>
                  <a:srgbClr val="2563EB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autonomous exploration</a:t>
            </a:r>
            <a:r>
              <a:rPr lang="en-US" sz="950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enabling models to internalize complex reasoning logic rather than just mimicking it.</a:t>
            </a:r>
            <a:endParaRPr lang="en-US" sz="950" dirty="0"/>
          </a:p>
        </p:txBody>
      </p:sp>
      <p:sp>
        <p:nvSpPr>
          <p:cNvPr id="12" name="Text 6"/>
          <p:cNvSpPr/>
          <p:nvPr>
            <p:custDataLst>
              <p:tags r:id="rId3"/>
            </p:custDataLst>
          </p:nvPr>
        </p:nvSpPr>
        <p:spPr>
          <a:xfrm>
            <a:off x="571500" y="2826069"/>
            <a:ext cx="2331190" cy="11174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8000"/>
              </a:lnSpc>
            </a:pPr>
            <a:r>
              <a:rPr lang="en-US" altLang="zh-CN" sz="1000" b="1" dirty="0">
                <a:solidFill>
                  <a:srgbClr val="1A1A1A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Superior Performance &amp; Generalization</a:t>
            </a:r>
            <a:endParaRPr lang="en-US" altLang="zh-CN" sz="10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Achieves </a:t>
            </a:r>
            <a:r>
              <a:rPr lang="en-US" sz="900" b="1" dirty="0">
                <a:solidFill>
                  <a:srgbClr val="2563EB"/>
                </a:solidFill>
                <a:latin typeface="Times New Roman" panose="02020603050405020304" pitchFamily="18" charset="0"/>
                <a:ea typeface="Roboto Bold" pitchFamily="34" charset="-122"/>
                <a:cs typeface="Times New Roman" panose="02020603050405020304" pitchFamily="18" charset="0"/>
              </a:rPr>
              <a:t>SOTA results</a:t>
            </a:r>
            <a:r>
              <a:rPr lang="en-US" sz="950" dirty="0">
                <a:solidFill>
                  <a:srgbClr val="4A4A4A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across MMLU, MMLU-Pro, and ARC-Challenge, demonstrating robust cross-domain generalization and stability in heterogeneous agent pools.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B9D9B11-4D8F-CE0A-29B1-09D0424642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02690" y="2032912"/>
            <a:ext cx="6083830" cy="28244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71500" y="600912"/>
            <a:ext cx="8572500" cy="2769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Related Work</a:t>
            </a:r>
            <a:endParaRPr lang="en-US" sz="1800" dirty="0"/>
          </a:p>
        </p:txBody>
      </p:sp>
      <p:sp>
        <p:nvSpPr>
          <p:cNvPr id="6" name="Text 2"/>
          <p:cNvSpPr/>
          <p:nvPr>
            <p:custDataLst>
              <p:tags r:id="rId1"/>
            </p:custDataLst>
          </p:nvPr>
        </p:nvSpPr>
        <p:spPr>
          <a:xfrm>
            <a:off x="591819" y="1740936"/>
            <a:ext cx="2428875" cy="18395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A1A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LLM-based MAS</a:t>
            </a:r>
            <a:endParaRPr lang="en-US" sz="1100" dirty="0"/>
          </a:p>
        </p:txBody>
      </p:sp>
      <p:sp>
        <p:nvSpPr>
          <p:cNvPr id="7" name="Text 3"/>
          <p:cNvSpPr/>
          <p:nvPr>
            <p:custDataLst>
              <p:tags r:id="rId2"/>
            </p:custDataLst>
          </p:nvPr>
        </p:nvSpPr>
        <p:spPr>
          <a:xfrm>
            <a:off x="591819" y="2146343"/>
            <a:ext cx="2428875" cy="3429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Focuses on expanding task capabilities through communication and role-playing protocols.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592454" y="2846431"/>
            <a:ext cx="2428875" cy="11787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i="1" dirty="0">
                <a:solidFill>
                  <a:srgbClr val="2563EB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CAMEL, MetaGPT, AutoGen</a:t>
            </a:r>
            <a:endParaRPr lang="en-US" sz="700" dirty="0"/>
          </a:p>
        </p:txBody>
      </p:sp>
      <p:sp>
        <p:nvSpPr>
          <p:cNvPr id="11" name="Text 6"/>
          <p:cNvSpPr/>
          <p:nvPr>
            <p:custDataLst>
              <p:tags r:id="rId3"/>
            </p:custDataLst>
          </p:nvPr>
        </p:nvSpPr>
        <p:spPr>
          <a:xfrm>
            <a:off x="3377882" y="1740936"/>
            <a:ext cx="2428875" cy="18395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A1A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CDM in MAS</a:t>
            </a:r>
            <a:endParaRPr lang="en-US" sz="1100" dirty="0"/>
          </a:p>
        </p:txBody>
      </p:sp>
      <p:sp>
        <p:nvSpPr>
          <p:cNvPr id="12" name="Text 7"/>
          <p:cNvSpPr/>
          <p:nvPr>
            <p:custDataLst>
              <p:tags r:id="rId4"/>
            </p:custDataLst>
          </p:nvPr>
        </p:nvSpPr>
        <p:spPr>
          <a:xfrm>
            <a:off x="3377882" y="2146343"/>
            <a:ext cx="2428875" cy="5143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Existing methods rely on simple dictatorial or voting mechanisms, lacking deep reasoning optimization.</a:t>
            </a:r>
            <a:endParaRPr lang="en-US" sz="800" dirty="0"/>
          </a:p>
        </p:txBody>
      </p:sp>
      <p:sp>
        <p:nvSpPr>
          <p:cNvPr id="13" name="Text 8"/>
          <p:cNvSpPr/>
          <p:nvPr/>
        </p:nvSpPr>
        <p:spPr>
          <a:xfrm>
            <a:off x="3377882" y="2846431"/>
            <a:ext cx="2428875" cy="11787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i="1" dirty="0">
                <a:solidFill>
                  <a:srgbClr val="2563EB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Dictatorial vs. Voting</a:t>
            </a:r>
            <a:endParaRPr lang="en-US" sz="700" dirty="0"/>
          </a:p>
        </p:txBody>
      </p:sp>
      <p:sp>
        <p:nvSpPr>
          <p:cNvPr id="16" name="Text 10"/>
          <p:cNvSpPr/>
          <p:nvPr>
            <p:custDataLst>
              <p:tags r:id="rId5"/>
            </p:custDataLst>
          </p:nvPr>
        </p:nvSpPr>
        <p:spPr>
          <a:xfrm>
            <a:off x="6163944" y="1740936"/>
            <a:ext cx="2428875" cy="18395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A1A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Rule-Based RL</a:t>
            </a:r>
            <a:endParaRPr lang="en-US" sz="1100" dirty="0"/>
          </a:p>
        </p:txBody>
      </p:sp>
      <p:sp>
        <p:nvSpPr>
          <p:cNvPr id="17" name="Text 11"/>
          <p:cNvSpPr/>
          <p:nvPr>
            <p:custDataLst>
              <p:tags r:id="rId6"/>
            </p:custDataLst>
          </p:nvPr>
        </p:nvSpPr>
        <p:spPr>
          <a:xfrm>
            <a:off x="6163944" y="2146343"/>
            <a:ext cx="2428875" cy="5143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Leverages rule-based rewards to enhance reasoning, but application in multi-agent CDM is still nascent.</a:t>
            </a:r>
            <a:endParaRPr lang="en-US" sz="800" dirty="0"/>
          </a:p>
        </p:txBody>
      </p:sp>
      <p:sp>
        <p:nvSpPr>
          <p:cNvPr id="18" name="Text 12"/>
          <p:cNvSpPr/>
          <p:nvPr/>
        </p:nvSpPr>
        <p:spPr>
          <a:xfrm>
            <a:off x="6163944" y="2846431"/>
            <a:ext cx="2428875" cy="11787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i="1" dirty="0">
                <a:solidFill>
                  <a:srgbClr val="2563EB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DeepSeek-R1, GRPO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6D002-6047-0CAB-AC88-33226CCC0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2FA02973-1A1A-0E3A-A1CD-95FAB8C3583F}"/>
              </a:ext>
            </a:extLst>
          </p:cNvPr>
          <p:cNvSpPr/>
          <p:nvPr/>
        </p:nvSpPr>
        <p:spPr>
          <a:xfrm>
            <a:off x="571500" y="600912"/>
            <a:ext cx="8572500" cy="2769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b="1" dirty="0">
                <a:solidFill>
                  <a:srgbClr val="1A1A1A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Problem Definition and Formulation</a:t>
            </a:r>
            <a:endParaRPr lang="en-US" sz="18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6EA39C1-1E59-C436-B20B-84F17BB2E1E2}"/>
              </a:ext>
            </a:extLst>
          </p:cNvPr>
          <p:cNvSpPr txBox="1"/>
          <p:nvPr/>
        </p:nvSpPr>
        <p:spPr>
          <a:xfrm>
            <a:off x="564727" y="1191012"/>
            <a:ext cx="763100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formalize the process of an MAS handling a user query s. The system comprises n Execution Agents {π1, π2, . . . , πn} and a single Decision Agent π</a:t>
            </a:r>
            <a:r>
              <a:rPr lang="zh-CN" alt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overall workflow is divided into two core phases: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B071E10-9EFF-74B9-4C8F-9DF83893BFAA}"/>
              </a:ext>
            </a:extLst>
          </p:cNvPr>
          <p:cNvSpPr txBox="1"/>
          <p:nvPr/>
        </p:nvSpPr>
        <p:spPr>
          <a:xfrm>
            <a:off x="564726" y="2116884"/>
            <a:ext cx="763100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Execution Phase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each agent πi (where i ∈ {1, 2, . . . , n}) independently receives the user query s and generates a candidate answer ai according to its own policy πi(· | s). Formally, this process can be represented as: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688AC7D9-7B82-35B8-646C-9974C2D0E3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3165" y="2549639"/>
            <a:ext cx="2231155" cy="309883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00BB85DC-FA27-077C-1B8A-C0E200857DA4}"/>
              </a:ext>
            </a:extLst>
          </p:cNvPr>
          <p:cNvSpPr txBox="1"/>
          <p:nvPr/>
        </p:nvSpPr>
        <p:spPr>
          <a:xfrm>
            <a:off x="564726" y="3136521"/>
            <a:ext cx="815255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Phase 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Decision Agent πD receives the full context, including the original query s and all candidate answers {a1, a2, . . . , an} from the execution agents. We define this context as the history H = {s, a1, a2, . . . , an}. Based on H, π</a:t>
            </a:r>
            <a:r>
              <a:rPr lang="zh-CN" altLang="en-US" sz="1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performs reasoning and produces the final, unified answer a</a:t>
            </a:r>
            <a:r>
              <a:rPr lang="zh-CN" altLang="en-US" sz="1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the system: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D3583FA5-E475-2EDE-9AD0-83107E26B0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2891" y="3970060"/>
            <a:ext cx="2542857" cy="47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2116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483F3-61FC-A42D-0880-F9C58A987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9C9E60EC-E483-23C9-FDFA-52A6D54F3399}"/>
              </a:ext>
            </a:extLst>
          </p:cNvPr>
          <p:cNvSpPr/>
          <p:nvPr/>
        </p:nvSpPr>
        <p:spPr>
          <a:xfrm>
            <a:off x="571500" y="473988"/>
            <a:ext cx="8572500" cy="2769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Method</a:t>
            </a:r>
            <a:endParaRPr lang="en-US" sz="1800" dirty="0"/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B43B0319-F4DD-FD6E-3021-49C41673D4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2926" y="940112"/>
            <a:ext cx="4178970" cy="3490598"/>
          </a:xfrm>
          <a:prstGeom prst="rect">
            <a:avLst/>
          </a:prstGeom>
        </p:spPr>
      </p:pic>
      <p:sp>
        <p:nvSpPr>
          <p:cNvPr id="35" name="Text 1">
            <a:extLst>
              <a:ext uri="{FF2B5EF4-FFF2-40B4-BE49-F238E27FC236}">
                <a16:creationId xmlns:a16="http://schemas.microsoft.com/office/drawing/2014/main" id="{14C207FA-C186-7E7C-8B13-31798A65E318}"/>
              </a:ext>
            </a:extLst>
          </p:cNvPr>
          <p:cNvSpPr/>
          <p:nvPr/>
        </p:nvSpPr>
        <p:spPr>
          <a:xfrm>
            <a:off x="571500" y="1386476"/>
            <a:ext cx="3429000" cy="1518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1" dirty="0">
                <a:solidFill>
                  <a:srgbClr val="2563EB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STAGE 1</a:t>
            </a:r>
            <a:endParaRPr lang="en-US" sz="900" dirty="0"/>
          </a:p>
        </p:txBody>
      </p:sp>
      <p:sp>
        <p:nvSpPr>
          <p:cNvPr id="37" name="Text 2">
            <a:extLst>
              <a:ext uri="{FF2B5EF4-FFF2-40B4-BE49-F238E27FC236}">
                <a16:creationId xmlns:a16="http://schemas.microsoft.com/office/drawing/2014/main" id="{F7025648-4F4A-8F58-D4F1-2D49CB252384}"/>
              </a:ext>
            </a:extLst>
          </p:cNvPr>
          <p:cNvSpPr/>
          <p:nvPr/>
        </p:nvSpPr>
        <p:spPr>
          <a:xfrm>
            <a:off x="571500" y="1852606"/>
            <a:ext cx="3429000" cy="23395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A1A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Scaffolding-guided Training</a:t>
            </a:r>
            <a:endParaRPr lang="en-US" sz="1400" dirty="0"/>
          </a:p>
        </p:txBody>
      </p:sp>
      <p:sp>
        <p:nvSpPr>
          <p:cNvPr id="39" name="Text 12">
            <a:extLst>
              <a:ext uri="{FF2B5EF4-FFF2-40B4-BE49-F238E27FC236}">
                <a16:creationId xmlns:a16="http://schemas.microsoft.com/office/drawing/2014/main" id="{F54392A2-0A39-7644-6E70-007ABE14A79E}"/>
              </a:ext>
            </a:extLst>
          </p:cNvPr>
          <p:cNvSpPr/>
          <p:nvPr/>
        </p:nvSpPr>
        <p:spPr>
          <a:xfrm>
            <a:off x="571500" y="3188183"/>
            <a:ext cx="3429000" cy="1518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1" dirty="0">
                <a:solidFill>
                  <a:srgbClr val="2563EB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STAGE 2</a:t>
            </a:r>
            <a:endParaRPr lang="en-US" sz="900" dirty="0"/>
          </a:p>
        </p:txBody>
      </p:sp>
      <p:sp>
        <p:nvSpPr>
          <p:cNvPr id="41" name="Text 13">
            <a:extLst>
              <a:ext uri="{FF2B5EF4-FFF2-40B4-BE49-F238E27FC236}">
                <a16:creationId xmlns:a16="http://schemas.microsoft.com/office/drawing/2014/main" id="{09ACAF35-B44B-96D8-1E36-40810B47EA9D}"/>
              </a:ext>
            </a:extLst>
          </p:cNvPr>
          <p:cNvSpPr/>
          <p:nvPr/>
        </p:nvSpPr>
        <p:spPr>
          <a:xfrm>
            <a:off x="571500" y="3654313"/>
            <a:ext cx="3429000" cy="23395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A1A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De-scaffolding for Internalization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9340336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99593" y="323913"/>
            <a:ext cx="8572500" cy="2769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b="1" dirty="0">
                <a:solidFill>
                  <a:srgbClr val="1A1A1A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Stage One: Structured Reasoning Protocol based on ACH</a:t>
            </a:r>
            <a:endParaRPr lang="en-US" sz="1800" dirty="0"/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44799526-582D-17A4-F215-7589FFC655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593" y="762764"/>
            <a:ext cx="3168845" cy="4154593"/>
          </a:xfrm>
          <a:prstGeom prst="rect">
            <a:avLst/>
          </a:prstGeom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B68246EE-5166-10BE-AF54-81C54AC41D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6989" y="3948753"/>
            <a:ext cx="4090051" cy="313383"/>
          </a:xfrm>
          <a:prstGeom prst="rect">
            <a:avLst/>
          </a:prstGeom>
        </p:spPr>
      </p:pic>
      <p:sp>
        <p:nvSpPr>
          <p:cNvPr id="36" name="文本框 35">
            <a:extLst>
              <a:ext uri="{FF2B5EF4-FFF2-40B4-BE49-F238E27FC236}">
                <a16:creationId xmlns:a16="http://schemas.microsoft.com/office/drawing/2014/main" id="{9FD68D77-2888-C8C4-84C1-F44D5218183F}"/>
              </a:ext>
            </a:extLst>
          </p:cNvPr>
          <p:cNvSpPr txBox="1"/>
          <p:nvPr/>
        </p:nvSpPr>
        <p:spPr>
          <a:xfrm>
            <a:off x="3734138" y="1939482"/>
            <a:ext cx="533332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train the decision-maker agent, we have designed a composite, rule-based reward function consisting of three parts:</a:t>
            </a:r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Format rewards</a:t>
            </a:r>
            <a:r>
              <a:rPr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rewards</a:t>
            </a:r>
            <a:r>
              <a:rPr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rewards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A0C5F8AE-CD5E-BAE4-53CB-FD0F258766ED}"/>
              </a:ext>
            </a:extLst>
          </p:cNvPr>
          <p:cNvSpPr txBox="1"/>
          <p:nvPr/>
        </p:nvSpPr>
        <p:spPr>
          <a:xfrm>
            <a:off x="3810000" y="3520384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Thus, the final score is computed as: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7AF09-D797-8EAA-9D61-408AB7983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4B3F56A8-522D-12B6-2600-BA1A8091E6D6}"/>
              </a:ext>
            </a:extLst>
          </p:cNvPr>
          <p:cNvSpPr/>
          <p:nvPr/>
        </p:nvSpPr>
        <p:spPr>
          <a:xfrm>
            <a:off x="499593" y="323913"/>
            <a:ext cx="8572500" cy="2769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b="1" dirty="0">
                <a:solidFill>
                  <a:srgbClr val="1A1A1A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Stage Two: Scaffolding Removal and Autonomous Exploration</a:t>
            </a:r>
            <a:endParaRPr lang="en-US" sz="18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710F441-07B0-5BB5-4DED-E63A819F9961}"/>
              </a:ext>
            </a:extLst>
          </p:cNvPr>
          <p:cNvSpPr txBox="1"/>
          <p:nvPr/>
        </p:nvSpPr>
        <p:spPr>
          <a:xfrm>
            <a:off x="552027" y="1166614"/>
            <a:ext cx="731858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 ACH rewards：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introduce a soft structural reward, denoted as </a:t>
            </a:r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14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</a:t>
            </a:r>
            <a:r>
              <a:rPr lang="en-US" altLang="zh-CN" sz="1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ACH 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is defined by the semantic similarity between the agent’s thought process and the ACH Protocol.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E221674-9EBE-0BF1-46B2-5B7C743B2531}"/>
              </a:ext>
            </a:extLst>
          </p:cNvPr>
          <p:cNvSpPr txBox="1"/>
          <p:nvPr/>
        </p:nvSpPr>
        <p:spPr>
          <a:xfrm>
            <a:off x="552026" y="2004503"/>
            <a:ext cx="7318586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Curriculum Annealing Guidance：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Simultaneously, to enable the model to explore more possibilities, we created two additional prompt types: a “Full ACH Protocol” and a “Simplified ACH Protocol”. During training, we use a cosine annealing schedule to dynamically adjust the probability of sampling these two prompt types: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87312DE-0601-F736-D383-8909A06E7D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0208" y="2989388"/>
            <a:ext cx="1587231" cy="640664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FD5F828B-C8D9-9170-5B62-A1E71BC355CC}"/>
              </a:ext>
            </a:extLst>
          </p:cNvPr>
          <p:cNvSpPr txBox="1"/>
          <p:nvPr/>
        </p:nvSpPr>
        <p:spPr>
          <a:xfrm>
            <a:off x="1019385" y="3697274"/>
            <a:ext cx="672930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t = i 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, with i denoting the current training step and  T the total number of training steps.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D657DFB-81A9-5FB9-D7F7-F20B4C11C7CF}"/>
              </a:ext>
            </a:extLst>
          </p:cNvPr>
          <p:cNvSpPr txBox="1"/>
          <p:nvPr/>
        </p:nvSpPr>
        <p:spPr>
          <a:xfrm>
            <a:off x="1019385" y="4153272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Thus, the stage two score is computed as: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5DD9D046-B1DB-0D88-43D7-7D611C7F76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9840" y="4153272"/>
            <a:ext cx="3684800" cy="339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0184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71500" y="600912"/>
            <a:ext cx="8572500" cy="2769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Experiment</a:t>
            </a:r>
            <a:r>
              <a:rPr lang="en-US" altLang="zh-CN" sz="1800" b="1" dirty="0">
                <a:solidFill>
                  <a:srgbClr val="1A1A1A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</a:t>
            </a:r>
            <a:endParaRPr lang="en-US" sz="1800" dirty="0"/>
          </a:p>
        </p:txBody>
      </p:sp>
      <p:sp>
        <p:nvSpPr>
          <p:cNvPr id="5" name="Text 1"/>
          <p:cNvSpPr/>
          <p:nvPr/>
        </p:nvSpPr>
        <p:spPr>
          <a:xfrm>
            <a:off x="571500" y="1359936"/>
            <a:ext cx="884039" cy="18395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563EB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Benchmarks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571500" y="1715337"/>
            <a:ext cx="2428875" cy="1518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1A1A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MMLU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571500" y="1910004"/>
            <a:ext cx="2428875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Massive Multitask Language Understanding across 57 subjects.</a:t>
            </a:r>
            <a:endParaRPr lang="en-US" sz="750" dirty="0"/>
          </a:p>
        </p:txBody>
      </p:sp>
      <p:sp>
        <p:nvSpPr>
          <p:cNvPr id="8" name="Text 4"/>
          <p:cNvSpPr/>
          <p:nvPr/>
        </p:nvSpPr>
        <p:spPr>
          <a:xfrm>
            <a:off x="571500" y="2381492"/>
            <a:ext cx="2428875" cy="1518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1A1A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MMLU-Pro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571500" y="2576159"/>
            <a:ext cx="2428875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more challenging version requiring complex reasoning with 10 options.</a:t>
            </a:r>
            <a:endParaRPr lang="en-US" sz="750" dirty="0"/>
          </a:p>
        </p:txBody>
      </p:sp>
      <p:sp>
        <p:nvSpPr>
          <p:cNvPr id="10" name="Text 6"/>
          <p:cNvSpPr/>
          <p:nvPr/>
        </p:nvSpPr>
        <p:spPr>
          <a:xfrm>
            <a:off x="571500" y="3047647"/>
            <a:ext cx="2428875" cy="1518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1A1A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ARC-Challenge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571500" y="3242314"/>
            <a:ext cx="2428875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Science questions requiring multi-step reasoning and common sense.</a:t>
            </a:r>
            <a:endParaRPr lang="en-US" sz="750" dirty="0"/>
          </a:p>
        </p:txBody>
      </p:sp>
      <p:sp>
        <p:nvSpPr>
          <p:cNvPr id="13" name="Text 8"/>
          <p:cNvSpPr/>
          <p:nvPr/>
        </p:nvSpPr>
        <p:spPr>
          <a:xfrm>
            <a:off x="3357563" y="1366185"/>
            <a:ext cx="685800" cy="18395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563EB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Baselines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3357563" y="1715337"/>
            <a:ext cx="2428875" cy="1384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altLang="zh-CN" sz="900" b="1" dirty="0">
                <a:solidFill>
                  <a:srgbClr val="1A1A1A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Single &amp; </a:t>
            </a:r>
            <a:r>
              <a:rPr lang="en-US" sz="900" b="1" dirty="0">
                <a:solidFill>
                  <a:srgbClr val="1A1A1A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Dictatorial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3357563" y="1910004"/>
            <a:ext cx="2428875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Single agent baseline and Informed Dictatorial aggregation.</a:t>
            </a:r>
            <a:endParaRPr lang="en-US" sz="750" dirty="0"/>
          </a:p>
        </p:txBody>
      </p:sp>
      <p:sp>
        <p:nvSpPr>
          <p:cNvPr id="16" name="Text 11"/>
          <p:cNvSpPr/>
          <p:nvPr/>
        </p:nvSpPr>
        <p:spPr>
          <a:xfrm>
            <a:off x="3357563" y="2381492"/>
            <a:ext cx="2428875" cy="1518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1A1A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Voting Methods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3357563" y="2576159"/>
            <a:ext cx="2428875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Plurality, Borda, Bucklin, Instant-Runoff, Minimax, and Ranked Pairs.</a:t>
            </a:r>
            <a:endParaRPr lang="en-US" sz="750" dirty="0"/>
          </a:p>
        </p:txBody>
      </p:sp>
      <p:sp>
        <p:nvSpPr>
          <p:cNvPr id="18" name="Text 13"/>
          <p:cNvSpPr/>
          <p:nvPr/>
        </p:nvSpPr>
        <p:spPr>
          <a:xfrm>
            <a:off x="3357563" y="3047647"/>
            <a:ext cx="2428875" cy="1518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1A1A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ACH Variants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3357563" y="3242314"/>
            <a:ext cx="2428875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Qwen-7B-Instruct and Qwen-7B-R1 guided by ACH protocols.</a:t>
            </a:r>
            <a:endParaRPr lang="en-US" sz="750" dirty="0"/>
          </a:p>
        </p:txBody>
      </p:sp>
      <p:sp>
        <p:nvSpPr>
          <p:cNvPr id="21" name="Text 15"/>
          <p:cNvSpPr/>
          <p:nvPr/>
        </p:nvSpPr>
        <p:spPr>
          <a:xfrm>
            <a:off x="6143625" y="1366185"/>
            <a:ext cx="469680" cy="16927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r>
              <a:rPr lang="en-US" sz="1100" b="1" dirty="0">
                <a:solidFill>
                  <a:srgbClr val="2563EB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Models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6143625" y="1715337"/>
            <a:ext cx="2428875" cy="1384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900" b="1" dirty="0">
                <a:solidFill>
                  <a:srgbClr val="1A1A1A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Open-source models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6143625" y="1910004"/>
            <a:ext cx="2428875" cy="12894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GLM-4-9B, Mistral-7B, Llama-3-8B, Qwen-2-72B,</a:t>
            </a:r>
            <a:endParaRPr lang="en-US" sz="750" dirty="0"/>
          </a:p>
        </p:txBody>
      </p:sp>
      <p:sp>
        <p:nvSpPr>
          <p:cNvPr id="24" name="Text 18"/>
          <p:cNvSpPr/>
          <p:nvPr/>
        </p:nvSpPr>
        <p:spPr>
          <a:xfrm>
            <a:off x="6143625" y="2381492"/>
            <a:ext cx="2428875" cy="1384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900" b="1" dirty="0">
                <a:solidFill>
                  <a:srgbClr val="1A1A1A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Closed-source </a:t>
            </a:r>
            <a:r>
              <a:rPr lang="en-US" altLang="zh-CN" sz="900" b="1" dirty="0">
                <a:solidFill>
                  <a:srgbClr val="1A1A1A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models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6143625" y="2576159"/>
            <a:ext cx="2428875" cy="12894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750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GPT-4.1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94FF3-A8C1-5D2D-65E2-4EBB7D6B4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0DF4DFC3-E2CA-39B7-233D-B6C0FD2B8FC9}"/>
              </a:ext>
            </a:extLst>
          </p:cNvPr>
          <p:cNvSpPr/>
          <p:nvPr/>
        </p:nvSpPr>
        <p:spPr>
          <a:xfrm>
            <a:off x="571500" y="362638"/>
            <a:ext cx="8572500" cy="2769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b="1" dirty="0">
                <a:solidFill>
                  <a:srgbClr val="1A1A1A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Main Results</a:t>
            </a:r>
            <a:endParaRPr lang="en-US" sz="18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491488F-98A9-64F4-03F7-29053BC356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862067"/>
            <a:ext cx="7850293" cy="3918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2568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71500" y="600912"/>
            <a:ext cx="8572500" cy="30182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Deep Analysis: Generalization and Robustness</a:t>
            </a:r>
            <a:endParaRPr lang="en-US" sz="18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432322"/>
            <a:ext cx="157163" cy="15716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14388" y="1418927"/>
            <a:ext cx="2077045" cy="18395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563EB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Cross-Dataset Generalization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71500" y="3119140"/>
            <a:ext cx="4643438" cy="23574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Training on complex tasks (MMLU-Pro) significantly boosts performance on simpler ones, proving the transferability of structured reasoning.</a:t>
            </a:r>
            <a:endParaRPr lang="en-US" sz="750" dirty="0"/>
          </a:p>
        </p:txBody>
      </p:sp>
      <p:sp>
        <p:nvSpPr>
          <p:cNvPr id="30" name="Text 26"/>
          <p:cNvSpPr/>
          <p:nvPr/>
        </p:nvSpPr>
        <p:spPr>
          <a:xfrm>
            <a:off x="5573053" y="1384950"/>
            <a:ext cx="2528887" cy="1692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1100" b="1" dirty="0">
                <a:solidFill>
                  <a:srgbClr val="2563EB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Robustness and Scalability Analysis</a:t>
            </a:r>
            <a:endParaRPr lang="en-US" sz="1100" dirty="0"/>
          </a:p>
        </p:txBody>
      </p:sp>
      <p:pic>
        <p:nvPicPr>
          <p:cNvPr id="36" name="图片 35">
            <a:extLst>
              <a:ext uri="{FF2B5EF4-FFF2-40B4-BE49-F238E27FC236}">
                <a16:creationId xmlns:a16="http://schemas.microsoft.com/office/drawing/2014/main" id="{E4E49974-43CF-4084-B432-973277E179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861840"/>
            <a:ext cx="3769796" cy="1066205"/>
          </a:xfrm>
          <a:prstGeom prst="rect">
            <a:avLst/>
          </a:prstGeom>
        </p:spPr>
      </p:pic>
      <p:pic>
        <p:nvPicPr>
          <p:cNvPr id="38" name="图片 37">
            <a:extLst>
              <a:ext uri="{FF2B5EF4-FFF2-40B4-BE49-F238E27FC236}">
                <a16:creationId xmlns:a16="http://schemas.microsoft.com/office/drawing/2014/main" id="{D9121907-7EB8-4867-EA7B-0C3DEBEC00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5146" y="1606175"/>
            <a:ext cx="2627788" cy="2082081"/>
          </a:xfrm>
          <a:prstGeom prst="rect">
            <a:avLst/>
          </a:prstGeom>
        </p:spPr>
      </p:pic>
      <p:pic>
        <p:nvPicPr>
          <p:cNvPr id="40" name="图片 39">
            <a:extLst>
              <a:ext uri="{FF2B5EF4-FFF2-40B4-BE49-F238E27FC236}">
                <a16:creationId xmlns:a16="http://schemas.microsoft.com/office/drawing/2014/main" id="{F3EC282F-6AD9-7980-A28C-CC85D27F3A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0663" y="3809884"/>
            <a:ext cx="3182173" cy="81211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71500" y="600912"/>
            <a:ext cx="8572500" cy="2769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Ablation Study</a:t>
            </a:r>
            <a:endParaRPr lang="en-US" sz="1800" dirty="0"/>
          </a:p>
        </p:txBody>
      </p:sp>
      <p:pic>
        <p:nvPicPr>
          <p:cNvPr id="42" name="图片 41">
            <a:extLst>
              <a:ext uri="{FF2B5EF4-FFF2-40B4-BE49-F238E27FC236}">
                <a16:creationId xmlns:a16="http://schemas.microsoft.com/office/drawing/2014/main" id="{56D6CBB4-F3B2-C6A3-A97B-E3D4554A57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8836" y="1613616"/>
            <a:ext cx="4692267" cy="229513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71500" y="600912"/>
            <a:ext cx="8572500" cy="2769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b="1" dirty="0">
                <a:solidFill>
                  <a:srgbClr val="1A1A1A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Conclusion and Limitations</a:t>
            </a:r>
            <a:endParaRPr lang="en-US" sz="1800" dirty="0"/>
          </a:p>
        </p:txBody>
      </p:sp>
      <p:sp>
        <p:nvSpPr>
          <p:cNvPr id="5" name="Text 1"/>
          <p:cNvSpPr/>
          <p:nvPr/>
        </p:nvSpPr>
        <p:spPr>
          <a:xfrm>
            <a:off x="578644" y="1125997"/>
            <a:ext cx="1353741" cy="1846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563EB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Conclusions</a:t>
            </a:r>
            <a:endParaRPr lang="en-US" sz="1200" dirty="0"/>
          </a:p>
        </p:txBody>
      </p:sp>
      <p:sp>
        <p:nvSpPr>
          <p:cNvPr id="7" name="Text 2"/>
          <p:cNvSpPr/>
          <p:nvPr/>
        </p:nvSpPr>
        <p:spPr>
          <a:xfrm>
            <a:off x="585787" y="1506045"/>
            <a:ext cx="6689143" cy="35920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8000"/>
              </a:lnSpc>
            </a:pPr>
            <a:r>
              <a:rPr lang="en-US" sz="950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 presented </a:t>
            </a:r>
            <a:r>
              <a:rPr lang="en-US" sz="950" dirty="0" err="1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AgentCDM</a:t>
            </a:r>
            <a:r>
              <a:rPr lang="en-US" sz="950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an ACH-inspired framework that enhances multi-agent decision-making through structured scaffolding and autonomous exploration.</a:t>
            </a:r>
            <a:endParaRPr lang="en-US" sz="950" dirty="0"/>
          </a:p>
        </p:txBody>
      </p:sp>
      <p:sp>
        <p:nvSpPr>
          <p:cNvPr id="9" name="Text 3"/>
          <p:cNvSpPr/>
          <p:nvPr/>
        </p:nvSpPr>
        <p:spPr>
          <a:xfrm>
            <a:off x="578644" y="2192637"/>
            <a:ext cx="6683362" cy="35920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8000"/>
              </a:lnSpc>
            </a:pPr>
            <a:r>
              <a:rPr lang="en-US" sz="950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Empirical results demonstrate that </a:t>
            </a:r>
            <a:r>
              <a:rPr lang="en-US" sz="950" dirty="0" err="1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AgentCDM</a:t>
            </a:r>
            <a:r>
              <a:rPr lang="en-US" sz="950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significantly outperforms voting-based and dictatorial baselines in accuracy and robustness.</a:t>
            </a:r>
            <a:endParaRPr lang="en-US" sz="950" dirty="0"/>
          </a:p>
        </p:txBody>
      </p:sp>
      <p:sp>
        <p:nvSpPr>
          <p:cNvPr id="11" name="Text 4"/>
          <p:cNvSpPr/>
          <p:nvPr/>
        </p:nvSpPr>
        <p:spPr>
          <a:xfrm>
            <a:off x="578644" y="2918771"/>
            <a:ext cx="1319808" cy="1846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1200" b="1" dirty="0">
                <a:solidFill>
                  <a:srgbClr val="2563EB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Limitations</a:t>
            </a:r>
            <a:endParaRPr lang="en-US" sz="1200" dirty="0"/>
          </a:p>
        </p:txBody>
      </p:sp>
      <p:sp>
        <p:nvSpPr>
          <p:cNvPr id="13" name="Text 5"/>
          <p:cNvSpPr/>
          <p:nvPr/>
        </p:nvSpPr>
        <p:spPr>
          <a:xfrm>
            <a:off x="585787" y="3254211"/>
            <a:ext cx="6417840" cy="1720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8000"/>
              </a:lnSpc>
            </a:pPr>
            <a:r>
              <a:rPr lang="en-US" sz="950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Limitations include reliance on the quality of initial hypotheses and the assumption of cooperative agents.</a:t>
            </a:r>
            <a:endParaRPr lang="en-US" sz="95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3.68944881889763,&quot;left&quot;:63.35,&quot;top&quot;:101.45653543307085,&quot;width&quot;:585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3.68944881889763,&quot;left&quot;:63.35,&quot;top&quot;:101.45653543307085,&quot;width&quot;:585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3.68944881889763,&quot;left&quot;:63.35,&quot;top&quot;:101.45653543307085,&quot;width&quot;:585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34.29685039370077,&quot;left&quot;:45,&quot;top&quot;:123.95653543307087,&quot;width&quot;:630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34.29685039370077,&quot;left&quot;:45,&quot;top&quot;:123.95653543307087,&quot;width&quot;:630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34.29685039370077,&quot;left&quot;:45,&quot;top&quot;:123.95653543307087,&quot;width&quot;:630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34.29685039370077,&quot;left&quot;:45,&quot;top&quot;:123.95653543307087,&quot;width&quot;:630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34.29685039370077,&quot;left&quot;:45,&quot;top&quot;:123.95653543307087,&quot;width&quot;:630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34.29685039370077,&quot;left&quot;:45,&quot;top&quot;:123.95653543307087,&quot;width&quot;:630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899</Words>
  <Application>Microsoft Office PowerPoint</Application>
  <PresentationFormat>全屏显示(16:9)</PresentationFormat>
  <Paragraphs>98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9" baseType="lpstr">
      <vt:lpstr>Arial</vt:lpstr>
      <vt:lpstr>Roboto</vt:lpstr>
      <vt:lpstr>Roboto Bold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志鹏 段</cp:lastModifiedBy>
  <cp:revision>31</cp:revision>
  <dcterms:created xsi:type="dcterms:W3CDTF">2026-06-23T09:12:00Z</dcterms:created>
  <dcterms:modified xsi:type="dcterms:W3CDTF">2026-06-26T09:38:18Z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E4428BBC165C451ABCFB1228858E53A8_12</vt:lpwstr>
  </property>
  <property fmtid="{D5CDD505-2E9C-101B-9397-08002B2CF9AE}" pid="3" name="KSOProductBuildVer">
    <vt:lpwstr>2052-12.1.0.26895</vt:lpwstr>
  </property>
</Properties>
</file>