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7" r:id="rId5"/>
    <p:sldId id="259" r:id="rId6"/>
    <p:sldId id="257" r:id="rId7"/>
    <p:sldId id="260" r:id="rId8"/>
    <p:sldId id="261" r:id="rId9"/>
    <p:sldId id="262" r:id="rId10"/>
    <p:sldId id="263" r:id="rId11"/>
    <p:sldId id="288" r:id="rId12"/>
    <p:sldId id="265" r:id="rId13"/>
    <p:sldId id="283" r:id="rId14"/>
    <p:sldId id="266" r:id="rId15"/>
    <p:sldId id="284" r:id="rId16"/>
    <p:sldId id="267" r:id="rId17"/>
    <p:sldId id="286" r:id="rId18"/>
    <p:sldId id="268" r:id="rId1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志鹏 段" initials="志段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  <a:sym typeface="+mn-ea"/>
              </a:rPr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3" Type="http://schemas.openxmlformats.org/officeDocument/2006/relationships/tags" Target="../tags/tag8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000125" y="1952625"/>
            <a:ext cx="105727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buNone/>
              <a:defRPr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Utility-Oriented Visual Evidence Selection</a:t>
            </a:r>
            <a:r>
              <a:rPr lang="en-US"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</a:t>
            </a:r>
            <a:r>
              <a:rPr lang="en-US"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35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Multimodal Retrieval-Augmented Generation</a:t>
            </a:r>
            <a:endParaRPr sz="35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015865" y="4291965"/>
            <a:ext cx="1575435" cy="55499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buNone/>
              <a:defRPr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ACL 2026</a:t>
            </a:r>
            <a:r>
              <a:rPr lang="en-US"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endParaRPr lang="en-US" sz="21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24200" y="5524500"/>
            <a:ext cx="575881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buNone/>
              <a:def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Presenter: </a:t>
            </a: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Zhifng Qin </a:t>
            </a: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October </a:t>
            </a: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22</a:t>
            </a: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2026</a:t>
            </a:r>
            <a:endParaRPr sz="17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Title  </a:t>
            </a:r>
            <a:endParaRPr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advTm="122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381000" y="228600"/>
            <a:ext cx="11430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 Evidence Selection in Multimodal RAG</a:t>
            </a:r>
            <a:endParaRPr sz="266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18097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Retrieve candidates</a:t>
            </a:r>
            <a:endParaRPr sz="23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2762250"/>
            <a:ext cx="32385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Retrieve a pool of potentially relevant images.</a:t>
            </a:r>
            <a:endParaRPr sz="217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29125" y="18097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 evidence</a:t>
            </a:r>
            <a:endParaRPr sz="23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29125" y="2762250"/>
            <a:ext cx="32385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Choose K images that help answer the specific query.</a:t>
            </a:r>
            <a:endParaRPr sz="217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34375" y="18097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Generate the answer</a:t>
            </a:r>
            <a:endParaRPr sz="23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34375" y="2762250"/>
            <a:ext cx="32385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main MLLM answers using the selected evidence.</a:t>
            </a:r>
            <a:endParaRPr sz="217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5143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 determines which evidence the model can use.</a:t>
            </a:r>
            <a:endParaRPr sz="2250" b="1">
              <a:solidFill>
                <a:srgbClr val="9C242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43000"/>
            <a:ext cx="9906000" cy="35433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381000" y="228600"/>
            <a:ext cx="11430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 Similarity Can Favor the Wrong Evidence</a:t>
            </a:r>
            <a:endParaRPr sz="266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4940935"/>
            <a:ext cx="11239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Similarity 0.70: shared appearance, but a different breed.</a:t>
            </a:r>
            <a:endParaRPr sz="21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" y="5476875"/>
            <a:ext cx="11239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Similarity 0.63: the same breed and more useful identification cues.</a:t>
            </a:r>
            <a:endParaRPr sz="21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6250" y="629602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350" b="0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00">
                <a:sym typeface="+mn-ea"/>
              </a:rPr>
              <a:t>Takeaway: Evidence selection should prioritize information that helps distinguish the correct answer.</a:t>
            </a:r>
            <a:endParaRPr lang="en-US" altLang="zh-CN" sz="2000" b="0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marL="0" indent="0" algn="l">
              <a:lnSpc>
                <a:spcPct val="96000"/>
              </a:lnSpc>
              <a:buNone/>
            </a:pPr>
            <a:r>
              <a:rPr sz="24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Contributions Overview</a:t>
            </a:r>
            <a:endParaRPr sz="24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875" y="2004060"/>
            <a:ext cx="3333750" cy="6153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Problem formulation</a:t>
            </a:r>
            <a:endParaRPr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3875" y="2879090"/>
            <a:ext cx="3333750" cy="147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Define evidence utility through the change it induces in the model’s answer distribution.</a:t>
            </a:r>
            <a:endParaRPr lang="en-US" altLang="zh-CN" sz="21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381500" y="2004060"/>
            <a:ext cx="3333750" cy="6153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 Latent helpfulness</a:t>
            </a:r>
            <a:endParaRPr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381500" y="2931160"/>
            <a:ext cx="3333750" cy="12122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Establish a theoretical connection between answer-space utility and binary helpfulness under specified assumptions.</a:t>
            </a:r>
            <a:endParaRPr lang="en-US" altLang="zh-CN" sz="21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239125" y="2004060"/>
            <a:ext cx="3333750" cy="6153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Surrogate acceleration</a:t>
            </a:r>
            <a:endParaRPr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39125" y="2895600"/>
            <a:ext cx="3333750" cy="1247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 a lightweight model to score candidates and invoke the main model once for final generation.</a:t>
            </a:r>
            <a:endParaRPr lang="en-US" altLang="zh-CN" sz="21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" y="5191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2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32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32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framework requires no additional training.</a:t>
            </a:r>
            <a:endParaRPr lang="en-US" sz="232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381000" y="228600"/>
            <a:ext cx="11430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Approaches and Research Questions</a:t>
            </a:r>
            <a:endParaRPr sz="266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3875" y="12858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approaches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3875" y="185737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CLIP-style encoders and MLLM retrievers or rerankers assess semantic relevance.</a:t>
            </a:r>
            <a:endParaRPr sz="2100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" y="280987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Answer confidence can remain high even when the evidence lacks the required information.</a:t>
            </a:r>
            <a:endParaRPr sz="2100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3875" y="4238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RQ1  Which visual evidence helps answer the query?</a:t>
            </a:r>
            <a:endParaRPr sz="2250" b="1">
              <a:solidFill>
                <a:srgbClr val="9C242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3875" y="519112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RQ2  Can utility be estimated efficiently while preserving selection quality?</a:t>
            </a:r>
            <a:endParaRPr sz="2250" b="1">
              <a:solidFill>
                <a:srgbClr val="9C242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Framework diagram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5598"/>
            <a:ext cx="11239500" cy="4123905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23875" y="56292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lang="en-US" sz="21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528637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Main-model scoring: (N + 1) Φ(Mmain)</a:t>
            </a:r>
            <a:endParaRPr sz="21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3875" y="5762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Surrogate scoring: N Φ(Msurrogate) + Φ(Mmain)</a:t>
            </a:r>
            <a:endParaRPr sz="2100" b="1">
              <a:solidFill>
                <a:srgbClr val="9C242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b="1">
                <a:solidFill>
                  <a:srgbClr val="111111"/>
                </a:solidFill>
                <a:sym typeface="+mn-ea"/>
              </a:rPr>
              <a:t>Evidence Utility as a Change in Answer Beliefs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1640" y="1190625"/>
            <a:ext cx="647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Compare the model’s answer distribution with and without candidate evidence c</a:t>
            </a:r>
            <a:endParaRPr lang="en-US" altLang="zh-CN" sz="21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2051050"/>
            <a:ext cx="5372735" cy="134683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" y="3933190"/>
            <a:ext cx="5316220" cy="82042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319010" y="1196975"/>
            <a:ext cx="457581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direct computation fails</a:t>
            </a:r>
            <a:endParaRPr sz="225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19645" y="1988820"/>
            <a:ext cx="4783455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The full answer distribution is not readily accessible.</a:t>
            </a: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The answer space is large and unbounded.</a:t>
            </a: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Linguistic variation, decoding randomness, and hallucinations complicate estimation.</a:t>
            </a: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3875" y="5715000"/>
            <a:ext cx="10953750" cy="9353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Conditions: non-harmful evidence and a monotone response-mixture structure.</a:t>
            </a:r>
            <a:endParaRPr>
              <a:sym typeface="+mn-ea"/>
            </a:endParaRPr>
          </a:p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A larger belief shift does not, by itself, guarantee a correct answer.</a:t>
            </a:r>
            <a:endParaRPr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1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1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olidFill>
                  <a:srgbClr val="111111"/>
                </a:solidFill>
                <a:sym typeface="+mn-ea"/>
              </a:rPr>
              <a:t>Latent Helpfulness: Theory and Practical Scoring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3875" y="110744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 ∈ {0, 1}: whether the candidate helps answer the query</a:t>
            </a:r>
            <a:endParaRPr sz="225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5325" y="3284927"/>
            <a:ext cx="5238750" cy="81011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7715" y="4437486"/>
            <a:ext cx="5238750" cy="82020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55" y="2047875"/>
            <a:ext cx="5316220" cy="8204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423795" y="28924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/>
              <a:t>⇓</a:t>
            </a:r>
            <a:endParaRPr lang="en-US" altLang="en-US" sz="3200"/>
          </a:p>
        </p:txBody>
      </p:sp>
      <p:sp>
        <p:nvSpPr>
          <p:cNvPr id="23" name="文本框 22"/>
          <p:cNvSpPr txBox="1"/>
          <p:nvPr/>
        </p:nvSpPr>
        <p:spPr>
          <a:xfrm>
            <a:off x="2423795" y="39331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>
                <a:sym typeface="+mn-ea"/>
              </a:rPr>
              <a:t>⇓</a:t>
            </a:r>
            <a:endParaRPr lang="en-US" altLang="en-US" sz="3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84290" y="2132965"/>
            <a:ext cx="5093970" cy="357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Measures the change in the model’s answer beliefs.</a:t>
            </a:r>
            <a:endParaRPr lang="en-US" altLang="zh-CN" sz="172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38265" y="3378200"/>
            <a:ext cx="5433695" cy="59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Represents whether the evidence helps answer the query.</a:t>
            </a:r>
            <a:endParaRPr lang="en-US" altLang="zh-CN" sz="172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87160" y="4601210"/>
            <a:ext cx="4205605" cy="877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Provides a simpler ranking objective.</a:t>
            </a:r>
            <a:endParaRPr lang="en-US" altLang="zh-CN" sz="172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2900" y="5606415"/>
            <a:ext cx="1187577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defRPr sz="2175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9C242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Practical ranking score: raw logit of “True”</a:t>
            </a:r>
            <a:endParaRPr lang="en-US" altLang="zh-CN" sz="2000" b="1">
              <a:solidFill>
                <a:srgbClr val="9C242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381000" y="228600"/>
            <a:ext cx="11430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6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Setup</a:t>
            </a:r>
            <a:endParaRPr sz="266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523875" y="1190625"/>
          <a:ext cx="11144250" cy="1809750"/>
        </p:xfrm>
        <a:graphic>
          <a:graphicData uri="http://schemas.openxmlformats.org/drawingml/2006/table">
            <a:tbl>
              <a:tblPr/>
              <a:tblGrid>
                <a:gridCol w="2524125"/>
                <a:gridCol w="2952750"/>
                <a:gridCol w="1381125"/>
                <a:gridCol w="4286250"/>
              </a:tblGrid>
              <a:tr h="6032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Benchmark</a:t>
                      </a:r>
                      <a:endParaRPr sz="1950" b="1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L w="5715">
                      <a:solidFill>
                        <a:srgbClr val="C8C8C8"/>
                      </a:solidFill>
                      <a:prstDash val="solid"/>
                    </a:lnL>
                    <a:lnR w="5715">
                      <a:solidFill>
                        <a:srgbClr val="C8C8C8"/>
                      </a:solidFill>
                      <a:prstDash val="solid"/>
                    </a:lnR>
                    <a:lnT w="5715">
                      <a:solidFill>
                        <a:srgbClr val="C8C8C8"/>
                      </a:solidFill>
                      <a:prstDash val="solid"/>
                    </a:lnT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Query input</a:t>
                      </a:r>
                      <a:endParaRPr sz="1950" b="1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T w="5715">
                      <a:solidFill>
                        <a:srgbClr val="C8C8C8"/>
                      </a:solidFill>
                      <a:prstDash val="solid"/>
                    </a:lnT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Size</a:t>
                      </a:r>
                      <a:endParaRPr sz="1950" b="1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T w="5715">
                      <a:solidFill>
                        <a:srgbClr val="C8C8C8"/>
                      </a:solidFill>
                      <a:prstDash val="solid"/>
                    </a:lnT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Metric</a:t>
                      </a:r>
                      <a:endParaRPr sz="1950" b="1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T w="5715">
                      <a:solidFill>
                        <a:srgbClr val="C8C8C8"/>
                      </a:solidFill>
                      <a:prstDash val="solid"/>
                    </a:lnT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MRAG-Bench</a:t>
                      </a:r>
                      <a:endParaRPr sz="1950" b="0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L w="5715">
                      <a:solidFill>
                        <a:srgbClr val="C8C8C8"/>
                      </a:solidFill>
                      <a:prstDash val="solid"/>
                    </a:lnL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Image + question</a:t>
                      </a:r>
                      <a:endParaRPr sz="1950" b="0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1,353</a:t>
                      </a:r>
                      <a:endParaRPr sz="1950" b="0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Exact-match accuracy</a:t>
                      </a:r>
                      <a:endParaRPr sz="1950" b="0">
                        <a:solidFill>
                          <a:srgbClr val="11111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9C242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Visual-RAG</a:t>
                      </a:r>
                      <a:endParaRPr sz="1950" b="0">
                        <a:solidFill>
                          <a:srgbClr val="9C242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L w="5715">
                      <a:solidFill>
                        <a:srgbClr val="C8C8C8"/>
                      </a:solidFill>
                      <a:prstDash val="solid"/>
                    </a:lnL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9C242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Text question</a:t>
                      </a:r>
                      <a:endParaRPr sz="1950" b="0">
                        <a:solidFill>
                          <a:srgbClr val="9C242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9C242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374</a:t>
                      </a:r>
                      <a:endParaRPr sz="1950" b="0">
                        <a:solidFill>
                          <a:srgbClr val="9C242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9C242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LLM-as-judge score</a:t>
                      </a:r>
                      <a:endParaRPr sz="1950" b="0">
                        <a:solidFill>
                          <a:srgbClr val="9C242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>
                    <a:lnR w="5715">
                      <a:solidFill>
                        <a:srgbClr val="C8C8C8"/>
                      </a:solidFill>
                      <a:prstDash val="solid"/>
                    </a:lnR>
                    <a:lnB w="5715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>
            <a:spLocks noGrp="1"/>
          </p:cNvSpPr>
          <p:nvPr/>
        </p:nvSpPr>
        <p:spPr>
          <a:xfrm>
            <a:off x="523875" y="33337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Controlled comparison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3905250"/>
            <a:ext cx="109537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Same candidate pool for all selection methods; K = 1, 3, or 5.</a:t>
            </a:r>
            <a:endParaRPr sz="202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Default pool: 10 images, including up to 5 annotated evidence images.</a:t>
            </a:r>
            <a:endParaRPr sz="202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5" b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Five main-model families; lightweight surrogates perform evidence scoring.</a:t>
            </a:r>
            <a:endParaRPr sz="2025" b="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59130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r">
              <a:def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 / 18</a:t>
            </a:r>
            <a:endParaRPr sz="1125" b="0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>
                <a:sym typeface="+mn-ea"/>
              </a:rPr>
              <a:t>Main Results: </a:t>
            </a: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Performance Across Top-K Settings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42900" y="838200"/>
            <a:ext cx="11506200" cy="14288"/>
          </a:xfrm>
          <a:prstGeom prst="rect">
            <a:avLst/>
          </a:prstGeom>
          <a:solidFill>
            <a:srgbClr val="A7BAD5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980440"/>
            <a:ext cx="9997440" cy="5768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 Results: Performance Across Top-K Settings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2060575"/>
            <a:ext cx="11389995" cy="28841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40485"/>
            <a:ext cx="11382375" cy="6934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9425" y="5278120"/>
            <a:ext cx="10372090" cy="623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ur</a:t>
            </a:r>
            <a:r>
              <a:rPr lang="en-US"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72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method achieves the best performance in the majority of set tings across both benchmarks, consistently outper forming baselines across various Top-K settings.</a:t>
            </a:r>
            <a:endParaRPr sz="172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>
                <a:sym typeface="+mn-ea"/>
              </a:rPr>
              <a:t>Main Results: </a:t>
            </a: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Helpfulness Estimation and Surrogate Transfer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875" y="3429000"/>
            <a:ext cx="54768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76360" y="3717290"/>
            <a:ext cx="3221990" cy="241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Lightweight surrogates achieve broadly comparable downstream answering performance.</a:t>
            </a: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lang="en-US" altLang="zh-CN"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972185"/>
            <a:ext cx="4472940" cy="2482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573145"/>
            <a:ext cx="8496300" cy="3086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24245" y="1196975"/>
            <a:ext cx="5681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Helpfulness-based selection</a:t>
            </a:r>
            <a:r>
              <a:rPr lang="en-US" altLang="zh-CN">
                <a:sym typeface="+mn-ea"/>
              </a:rPr>
              <a:t>(hidden variable Z)</a:t>
            </a:r>
            <a:r>
              <a:rPr lang="en-US" altLang="zh-CN"/>
              <a:t> outperforms answer-level estimation</a:t>
            </a:r>
            <a:r>
              <a:rPr lang="en-US" altLang="zh-CN">
                <a:sym typeface="+mn-ea"/>
              </a:rPr>
              <a:t> (answer space Y)</a:t>
            </a:r>
            <a:r>
              <a:rPr lang="en-US" altLang="zh-CN"/>
              <a:t> in most evaluated settings, with some exceptions. 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>
                <a:sym typeface="+mn-ea"/>
              </a:rPr>
              <a:t>Main Results: </a:t>
            </a: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Efficiency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875" y="3429000"/>
            <a:ext cx="54768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0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052830"/>
            <a:ext cx="5932170" cy="38150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35240" y="1346200"/>
            <a:ext cx="4213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2B vs. 8B–12B: prefill FLOPs reduced to approximately 25%.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21600" y="3126740"/>
            <a:ext cx="4160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Z objective is over </a:t>
            </a:r>
            <a:r>
              <a:rPr lang="en-US" altLang="zh-CN" b="1"/>
              <a:t>20</a:t>
            </a:r>
            <a:r>
              <a:rPr lang="en-US" altLang="en-US" b="1"/>
              <a:t>×</a:t>
            </a:r>
            <a:r>
              <a:rPr lang="en-US" altLang="zh-CN" b="1"/>
              <a:t> more</a:t>
            </a:r>
            <a:r>
              <a:rPr lang="en-US" altLang="zh-CN"/>
              <a:t> efficient than Y -based estimation</a:t>
            </a:r>
            <a:endParaRPr lang="en-US" altLang="zh-CN"/>
          </a:p>
          <a:p>
            <a:r>
              <a:rPr lang="en-US" altLang="zh-CN"/>
              <a:t>in decoding FLOPs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30200" y="5603240"/>
            <a:ext cx="11828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Conclusion: Direct helpfulness is better than answer-level uncertainty, and decoding costs are significantly reduced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Case Studies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193867"/>
            <a:ext cx="5619750" cy="25652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82" y="1095375"/>
            <a:ext cx="5472962" cy="30480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23875" y="4286250"/>
            <a:ext cx="53816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Car identity: </a:t>
            </a:r>
            <a:endParaRPr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Similarity-based methods favor a car with the same color but the wrong model.</a:t>
            </a:r>
            <a:r>
              <a:rPr lang="en-US"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lang="en-US"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Utility-based selection chooses evidence showing the correct model despite the color difference.</a:t>
            </a:r>
            <a:endParaRPr lang="en-US" altLang="zh-CN"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24625" y="4286250"/>
            <a:ext cx="5095875" cy="2092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Mouth color:</a:t>
            </a:r>
            <a:endParaRPr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Answer confidence and sampling consistency remain high even when the selected image does not reveal the mouth.</a:t>
            </a:r>
            <a:endParaRPr lang="en-US" altLang="zh-CN"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Utility-based selection favors an image that exposes the visual detail needed to answer the question.</a:t>
            </a:r>
            <a:endParaRPr lang="en-US" altLang="zh-CN" sz="18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buNone/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Example of failure </a:t>
            </a:r>
            <a:r>
              <a:rPr lang="en-US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lang="en-US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484630"/>
            <a:ext cx="6799580" cy="322262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479425" y="4869180"/>
            <a:ext cx="5461000" cy="119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Selected evidence</a:t>
            </a:r>
            <a:endParaRPr lang="en-US" altLang="zh-CN"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Flower image: 0.852</a:t>
            </a:r>
            <a:endParaRPr lang="en-US" altLang="zh-CN"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217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Relevant grape images: 0.706 and 0.777</a:t>
            </a:r>
            <a:endParaRPr lang="en-US" altLang="zh-CN" sz="217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3570" y="58293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1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1160" y="103632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Question:</a:t>
            </a:r>
            <a:r>
              <a:rPr lang="en-US" altLang="zh-CN"/>
              <a:t> Among these characteristics, which one is improbable for this fruit after oxidation?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813675" y="141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26680" y="16560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Possible explanation</a:t>
            </a:r>
            <a:endParaRPr lang="en-US" altLang="zh-CN" b="1"/>
          </a:p>
          <a:p>
            <a:r>
              <a:rPr lang="en-US" altLang="zh-CN"/>
              <a:t>In this case, the surrogate may favor shared plant or scene cues over the physical state relevant to the question.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7860030" y="3458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Limitation</a:t>
            </a:r>
            <a:r>
              <a:rPr lang="en-US" altLang="zh-CN"/>
              <a:t>: Helpfulness probing remains constrained by the surrogate’s visual reasoning ability.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342900" y="228600"/>
            <a:ext cx="11506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altLang="zh-CN" sz="2665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Inter"/>
              </a:rPr>
              <a:t>Conclusion and Future Work</a:t>
            </a:r>
            <a:endParaRPr lang="en-US" altLang="zh-CN" sz="2665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430" y="3130550"/>
            <a:ext cx="11518900" cy="263144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r>
              <a:rPr lang="en-US" altLang="zh-CN" b="1">
                <a:sym typeface="Inter"/>
              </a:rPr>
              <a:t>Future work</a:t>
            </a:r>
            <a:r>
              <a:rPr lang="en-US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US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endParaRPr lang="en-US" altLang="zh-CN" sz="1800" b="0" i="0"/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r>
              <a:rPr lang="en-US" altLang="zh-CN" sz="1800" b="0" i="0"/>
              <a:t>1. Systematic Surrogate Design</a:t>
            </a:r>
            <a:endParaRPr lang="en-US" altLang="zh-CN" sz="1800" b="0" i="0"/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r>
              <a:rPr lang="en-US" altLang="zh-CN" sz="1800" b="0" i="0"/>
              <a:t>The paper suggests exploring more systematic strategies for surrogate model selection, adaptation, and dynamic scaling, rather than relying on fixed-size models.</a:t>
            </a:r>
            <a:endParaRPr lang="en-US" altLang="zh-CN" sz="1800" b="0" i="0"/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r>
              <a:rPr lang="en-US" altLang="zh-CN" sz="1800" b="0" i="0"/>
              <a:t>2. Broader Task Generalization</a:t>
            </a:r>
            <a:endParaRPr lang="en-US" altLang="zh-CN" sz="1800" b="0" i="0"/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</a:pPr>
            <a:r>
              <a:rPr lang="en-US" altLang="zh-CN" sz="1800" b="0" i="0"/>
              <a:t>Future work aims to extend the framework beyond QA-style tasks to captioning, dialogue, long-form reasoning, and interleaved text-visual retrieval.</a:t>
            </a:r>
            <a:endParaRPr lang="en-US" altLang="zh-CN" sz="1800" b="0" i="0"/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</a:pPr>
            <a:r>
              <a:rPr lang="en-US" altLang="zh-CN" sz="1800" b="0" i="0"/>
              <a:t>3. Multi-Modal Expansion</a:t>
            </a:r>
            <a:endParaRPr lang="en-US" altLang="zh-CN" sz="1800" b="0" i="0"/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</a:pPr>
            <a:r>
              <a:rPr lang="en-US" altLang="zh-CN" sz="1800" b="0" i="0"/>
              <a:t>The current visual-only setting can be broadened to other modalities, such as video, audio, and mixed text-visual evidence selection.</a:t>
            </a:r>
            <a:endParaRPr lang="en-US" altLang="zh-CN" sz="1800" b="0" i="0"/>
          </a:p>
        </p:txBody>
      </p:sp>
      <p:sp>
        <p:nvSpPr>
          <p:cNvPr id="5" name="文本框 4"/>
          <p:cNvSpPr txBox="1"/>
          <p:nvPr/>
        </p:nvSpPr>
        <p:spPr>
          <a:xfrm>
            <a:off x="453390" y="1102995"/>
            <a:ext cx="9300845" cy="177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Inter"/>
              </a:rPr>
              <a:t>Conclusion</a:t>
            </a:r>
            <a:r>
              <a:rPr lang="en-US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US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endParaRPr lang="en-US"/>
          </a:p>
          <a:p>
            <a:r>
              <a:rPr lang="en-US" altLang="zh-CN"/>
              <a:t>1. Propose a utility-oriented framework </a:t>
            </a:r>
            <a:endParaRPr lang="en-US" altLang="zh-CN"/>
          </a:p>
          <a:p>
            <a:r>
              <a:rPr lang="en-US" altLang="zh-CN"/>
              <a:t>2. Reframe the problem into potentially helpful binary classification using information gain </a:t>
            </a:r>
            <a:endParaRPr lang="en-US" altLang="zh-CN"/>
          </a:p>
          <a:p>
            <a:r>
              <a:rPr lang="en-US" altLang="zh-CN"/>
              <a:t>3. And speed it up with a lightweight proxy model.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2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3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4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5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6.xml><?xml version="1.0" encoding="utf-8"?>
<p:tagLst xmlns:p="http://schemas.openxmlformats.org/presentationml/2006/main">
  <p:tag name="KSO_WM_DIAGRAM_VIRTUALLY_FRAME" val="{&quot;height&quot;:252.6,&quot;left&quot;:41.25,&quot;top&quot;:125.2,&quot;width&quot;:870}"/>
</p:tagLst>
</file>

<file path=ppt/tags/tag7.xml><?xml version="1.0" encoding="utf-8"?>
<p:tagLst xmlns:p="http://schemas.openxmlformats.org/presentationml/2006/main">
  <p:tag name="KSO_WM_DIAGRAM_VIRTUALLY_FRAME" val="{&quot;height&quot;:242.29165354330706,&quot;left&quot;:41.25,&quot;top&quot;:162.7083464566929,&quot;width&quot;:881.25}"/>
</p:tagLst>
</file>

<file path=ppt/tags/tag8.xml><?xml version="1.0" encoding="utf-8"?>
<p:tagLst xmlns:p="http://schemas.openxmlformats.org/presentationml/2006/main">
  <p:tag name="KSO_WM_DIAGRAM_VIRTUALLY_FRAME" val="{&quot;height&quot;:242.29165354330706,&quot;left&quot;:41.25,&quot;top&quot;:162.7083464566929,&quot;width&quot;:881.25}"/>
</p:tagLst>
</file>

<file path=ppt/tags/tag9.xml><?xml version="1.0" encoding="utf-8"?>
<p:tagLst xmlns:p="http://schemas.openxmlformats.org/presentationml/2006/main">
  <p:tag name="KSO_WM_DIAGRAM_VIRTUALLY_FRAME" val="{&quot;height&quot;:258.75,&quot;left&quot;:37.5,&quot;top&quot;:90,&quot;width&quot;:885}"/>
</p:tagLst>
</file>

<file path=ppt/tags/tag10.xml><?xml version="1.0" encoding="utf-8"?>
<p:tagLst xmlns:p="http://schemas.openxmlformats.org/presentationml/2006/main">
  <p:tag name="KSO_WM_DIAGRAM_VIRTUALLY_FRAME" val="{&quot;height&quot;:258.75,&quot;left&quot;:37.5,&quot;top&quot;:90,&quot;width&quot;:885}"/>
</p:tagLst>
</file>

<file path=ppt/tags/tag11.xml><?xml version="1.0" encoding="utf-8"?>
<p:tagLst xmlns:p="http://schemas.openxmlformats.org/presentationml/2006/main">
  <p:tag name="KSO_WM_DIAGRAM_VIRTUALLY_FRAME" val="{&quot;height&quot;:258.75,&quot;left&quot;:37.5,&quot;top&quot;:90,&quot;width&quot;:88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5209</Words>
  <Application>WPS 演示</Application>
  <PresentationFormat>Converted Presentation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Inter</vt:lpstr>
      <vt:lpstr>Segoe Print</vt:lpstr>
      <vt:lpstr>Arial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好聚好散</cp:lastModifiedBy>
  <cp:revision>51</cp:revision>
  <dcterms:created xsi:type="dcterms:W3CDTF">2026-10-17T09:33:00Z</dcterms:created>
  <dcterms:modified xsi:type="dcterms:W3CDTF">2026-10-22T03:37:17Z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C456544B6BD74E31BDA70C748B3D3307_13</vt:lpwstr>
  </property>
  <property fmtid="{D5CDD505-2E9C-101B-9397-08002B2CF9AE}" pid="3" name="KSOProductBuildVer">
    <vt:lpwstr>2052-12.1.0.22529</vt:lpwstr>
  </property>
</Properties>
</file>