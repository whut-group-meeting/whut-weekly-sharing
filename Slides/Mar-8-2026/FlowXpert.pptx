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317" r:id="rId2"/>
    <p:sldId id="261" r:id="rId3"/>
    <p:sldId id="331" r:id="rId4"/>
    <p:sldId id="333" r:id="rId5"/>
    <p:sldId id="334" r:id="rId6"/>
    <p:sldId id="335" r:id="rId7"/>
    <p:sldId id="336" r:id="rId8"/>
    <p:sldId id="337" r:id="rId9"/>
    <p:sldId id="262" r:id="rId10"/>
    <p:sldId id="319" r:id="rId11"/>
    <p:sldId id="327" r:id="rId12"/>
    <p:sldId id="339" r:id="rId13"/>
    <p:sldId id="340" r:id="rId14"/>
    <p:sldId id="341" r:id="rId15"/>
    <p:sldId id="342" r:id="rId16"/>
    <p:sldId id="343" r:id="rId17"/>
    <p:sldId id="344" r:id="rId18"/>
    <p:sldId id="328" r:id="rId19"/>
    <p:sldId id="329" r:id="rId20"/>
    <p:sldId id="330" r:id="rId21"/>
    <p:sldId id="325" r:id="rId22"/>
    <p:sldId id="345" r:id="rId23"/>
    <p:sldId id="346" r:id="rId24"/>
    <p:sldId id="347" r:id="rId25"/>
    <p:sldId id="316" r:id="rId2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ush pencil" initials="rp"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160" autoAdjust="0"/>
    <p:restoredTop sz="89766" autoAdjust="0"/>
  </p:normalViewPr>
  <p:slideViewPr>
    <p:cSldViewPr snapToGrid="0">
      <p:cViewPr varScale="1">
        <p:scale>
          <a:sx n="148" d="100"/>
          <a:sy n="148" d="100"/>
        </p:scale>
        <p:origin x="470"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7D1BDD-2F86-4A15-997E-3530A21F45DD}" type="datetimeFigureOut">
              <a:rPr lang="zh-CN" altLang="en-US" smtClean="0"/>
              <a:t>2026/3/8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C1106B-E74A-40D0-89DA-4B97D19F200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765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a:t>FlowXpert</a:t>
            </a:r>
            <a:r>
              <a:rPr lang="zh-CN" altLang="en-US"/>
              <a:t>：基于知识库与多智能体协同进化的专家级故障排除工作流编排</a:t>
            </a:r>
          </a:p>
        </p:txBody>
      </p:sp>
      <p:sp>
        <p:nvSpPr>
          <p:cNvPr id="2765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1</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传统上，工作流需要人工设计，耗费大量精力且需要深厚的专业知识。这种资源密集型和知识密集型的流程难以应对日益增多且日益复杂的事件场景，阻碍了人工智能执行器的大规模开发与部署。</a:t>
            </a:r>
            <a:endParaRPr lang="en-US" altLang="zh-CN" dirty="0"/>
          </a:p>
          <a:p>
            <a:pPr eaLnBrk="1" hangingPunct="1">
              <a:spcBef>
                <a:spcPct val="0"/>
              </a:spcBef>
            </a:pPr>
            <a:r>
              <a:rPr lang="en-US" altLang="zh-CN" dirty="0"/>
              <a:t>(1) </a:t>
            </a:r>
            <a:r>
              <a:rPr lang="zh-CN" altLang="en-US" dirty="0"/>
              <a:t>流程步骤。定义待执行的操作。</a:t>
            </a:r>
            <a:r>
              <a:rPr lang="en-US" altLang="zh-CN" dirty="0"/>
              <a:t>(2) </a:t>
            </a:r>
            <a:r>
              <a:rPr lang="zh-CN" altLang="en-US" dirty="0"/>
              <a:t>决策步骤。根据特定条件引入分支。</a:t>
            </a:r>
            <a:r>
              <a:rPr lang="en-US" altLang="zh-CN" dirty="0"/>
              <a:t>(3) </a:t>
            </a:r>
            <a:r>
              <a:rPr lang="zh-CN" altLang="en-US"/>
              <a:t>终止步骤。标记流程结束。</a:t>
            </a:r>
            <a:endParaRPr lang="zh-CN" altLang="en-US" dirty="0"/>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领域知识的支持：它确保任务解决过程中使用的知识并非来自领域外的语料库，而是源于该领域内积累的专业知识。</a:t>
            </a:r>
            <a:endParaRPr lang="en-US" altLang="zh-CN" dirty="0"/>
          </a:p>
          <a:p>
            <a:pPr eaLnBrk="1" hangingPunct="1">
              <a:spcBef>
                <a:spcPct val="0"/>
              </a:spcBef>
            </a:pPr>
            <a:r>
              <a:rPr lang="zh-CN" altLang="en-US" dirty="0"/>
              <a:t>第一种是操作空间，其中应用程序接口（</a:t>
            </a:r>
            <a:r>
              <a:rPr lang="en-US" altLang="zh-CN" dirty="0"/>
              <a:t>API</a:t>
            </a:r>
            <a:r>
              <a:rPr lang="zh-CN" altLang="en-US" dirty="0"/>
              <a:t>）定义了特定领域内的可执行操作。另外两种形式涉及基于向量和基于图的相关文档检索。</a:t>
            </a:r>
            <a:endParaRPr lang="en-US" altLang="zh-CN" dirty="0"/>
          </a:p>
          <a:p>
            <a:pPr eaLnBrk="1" hangingPunct="1">
              <a:spcBef>
                <a:spcPct val="0"/>
              </a:spcBef>
            </a:pPr>
            <a:endParaRPr lang="en-US" altLang="zh-CN" dirty="0"/>
          </a:p>
          <a:p>
            <a:pPr eaLnBrk="1" hangingPunct="1">
              <a:spcBef>
                <a:spcPct val="0"/>
              </a:spcBef>
            </a:pPr>
            <a:r>
              <a:rPr lang="zh-CN" altLang="en-US" dirty="0"/>
              <a:t>应用能力的对齐：它引导大型语言模型忠实地遵循并充分探索领域知识，从而释放其工作流编排能力。</a:t>
            </a:r>
            <a:endParaRPr lang="en-US" altLang="zh-CN" dirty="0"/>
          </a:p>
          <a:p>
            <a:pPr eaLnBrk="1" hangingPunct="1">
              <a:spcBef>
                <a:spcPct val="0"/>
              </a:spcBef>
            </a:pPr>
            <a:r>
              <a:rPr lang="zh-CN" altLang="en-US" dirty="0"/>
              <a:t>监督式微调（</a:t>
            </a:r>
            <a:r>
              <a:rPr lang="en-US" altLang="zh-CN" dirty="0"/>
              <a:t>SFT</a:t>
            </a:r>
            <a:r>
              <a:rPr lang="zh-CN" altLang="en-US" dirty="0"/>
              <a:t>）是一种常见方法。它主要依赖于语言模型微调技术（如下一个令牌预测或掩码预测），但往往缺乏针对工作流编排的优化方案。</a:t>
            </a:r>
            <a:endParaRPr lang="en-US" altLang="zh-CN" dirty="0"/>
          </a:p>
          <a:p>
            <a:pPr eaLnBrk="1" hangingPunct="1">
              <a:spcBef>
                <a:spcPct val="0"/>
              </a:spcBef>
            </a:pPr>
            <a:r>
              <a:rPr lang="zh-CN" altLang="en-US" dirty="0"/>
              <a:t>强化学习（</a:t>
            </a:r>
            <a:r>
              <a:rPr lang="en-US" altLang="zh-CN" dirty="0"/>
              <a:t>RL</a:t>
            </a:r>
            <a:r>
              <a:rPr lang="zh-CN" altLang="en-US" dirty="0"/>
              <a:t>）通过反馈机制直接提升任务表现，使模型能够通过迭代过程不断优化知识应用能力。</a:t>
            </a:r>
            <a:endParaRPr lang="en-US" altLang="zh-CN" dirty="0"/>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a:t>C1</a:t>
            </a:r>
            <a:r>
              <a:rPr lang="zh-CN" altLang="en-US" dirty="0"/>
              <a:t>：故障排除专业知识的复杂性。通常，</a:t>
            </a:r>
            <a:r>
              <a:rPr lang="en-US" altLang="zh-CN" dirty="0"/>
              <a:t>OCE</a:t>
            </a:r>
            <a:r>
              <a:rPr lang="zh-CN" altLang="en-US" dirty="0"/>
              <a:t>记录操作经验时会涉及事件指标、根本原因、缓解步骤等要素，（基于这些记录定义</a:t>
            </a:r>
            <a:r>
              <a:rPr lang="en-US" altLang="zh-CN" dirty="0"/>
              <a:t>API</a:t>
            </a:r>
            <a:r>
              <a:rPr lang="zh-CN" altLang="en-US" dirty="0"/>
              <a:t>以提供领域知识并非最优方案，因为该过程耗费大量人力；</a:t>
            </a:r>
            <a:r>
              <a:rPr lang="en-US" altLang="zh-CN" dirty="0"/>
              <a:t>API</a:t>
            </a:r>
            <a:r>
              <a:rPr lang="zh-CN" altLang="en-US" dirty="0"/>
              <a:t>定义空间的局限性无法充分捕捉故障排除专业知识的复杂性和多样性）。向量索引限制了知识提取的深度，而图索引往往忽略了故障排除所需的精细度。</a:t>
            </a:r>
            <a:endParaRPr lang="en-US" altLang="zh-CN" dirty="0"/>
          </a:p>
          <a:p>
            <a:pPr eaLnBrk="1" hangingPunct="1">
              <a:spcBef>
                <a:spcPct val="0"/>
              </a:spcBef>
            </a:pPr>
            <a:r>
              <a:rPr lang="en-US" altLang="zh-CN" dirty="0"/>
              <a:t>C2</a:t>
            </a:r>
            <a:r>
              <a:rPr lang="zh-CN" altLang="en-US" dirty="0"/>
              <a:t>：工作流编排与领域要求的合规性。在故障排除中，有效的工作流需全面调用所有关键步骤，同时必须满足可读性、可执行性等特定要求。</a:t>
            </a:r>
            <a:endParaRPr lang="en-US" altLang="zh-CN" dirty="0"/>
          </a:p>
          <a:p>
            <a:pPr eaLnBrk="1" hangingPunct="1">
              <a:spcBef>
                <a:spcPct val="0"/>
              </a:spcBef>
            </a:pPr>
            <a:r>
              <a:rPr lang="en-US" altLang="zh-CN" dirty="0"/>
              <a:t>C3</a:t>
            </a:r>
            <a:r>
              <a:rPr lang="zh-CN" altLang="en-US" dirty="0"/>
              <a:t>：</a:t>
            </a:r>
            <a:r>
              <a:rPr lang="en-US" altLang="zh-CN" dirty="0"/>
              <a:t>AI</a:t>
            </a:r>
            <a:r>
              <a:rPr lang="zh-CN" altLang="en-US" dirty="0"/>
              <a:t>反馈的可靠性。生产环境中，出于资源成本与数据隐私考量，通常采用定制化开源模型作为</a:t>
            </a:r>
            <a:r>
              <a:rPr lang="en-US" altLang="zh-CN" dirty="0"/>
              <a:t>AI</a:t>
            </a:r>
            <a:r>
              <a:rPr lang="zh-CN" altLang="en-US" dirty="0"/>
              <a:t>评估器。然而静态开源大语言模型在反馈能力上存在局限。</a:t>
            </a:r>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err="1"/>
              <a:t>FlowXpert</a:t>
            </a:r>
            <a:r>
              <a:rPr lang="zh-CN" altLang="en-US" dirty="0"/>
              <a:t>，一个用于故障排除工作流自动化编排的框架。</a:t>
            </a:r>
            <a:endParaRPr lang="en-US" altLang="zh-CN" dirty="0"/>
          </a:p>
          <a:p>
            <a:pPr eaLnBrk="1" hangingPunct="1">
              <a:spcBef>
                <a:spcPct val="0"/>
              </a:spcBef>
            </a:pPr>
            <a:r>
              <a:rPr lang="zh-CN" altLang="en-US" dirty="0"/>
              <a:t>知识库构建。我们将操作文档转换为向量和图数据库，以提供全面而深入的领域知识支持（</a:t>
            </a:r>
            <a:r>
              <a:rPr lang="en-US" altLang="zh-CN" dirty="0"/>
              <a:t>C1</a:t>
            </a:r>
            <a:r>
              <a:rPr lang="zh-CN" altLang="en-US" dirty="0"/>
              <a:t>）。</a:t>
            </a:r>
            <a:endParaRPr lang="en-US" altLang="zh-CN" dirty="0"/>
          </a:p>
          <a:p>
            <a:pPr eaLnBrk="1" hangingPunct="1">
              <a:spcBef>
                <a:spcPct val="0"/>
              </a:spcBef>
            </a:pPr>
            <a:r>
              <a:rPr lang="zh-CN" altLang="en-US" dirty="0"/>
              <a:t>多智能体协同进化：规划器与评分器。</a:t>
            </a:r>
            <a:endParaRPr lang="en-US" altLang="zh-CN" dirty="0"/>
          </a:p>
          <a:p>
            <a:pPr eaLnBrk="1" hangingPunct="1">
              <a:spcBef>
                <a:spcPct val="0"/>
              </a:spcBef>
            </a:pPr>
            <a:r>
              <a:rPr lang="zh-CN" altLang="en-US" dirty="0"/>
              <a:t>为使工作流契合领域需求（</a:t>
            </a:r>
            <a:r>
              <a:rPr lang="en-US" altLang="zh-CN" dirty="0"/>
              <a:t>C2</a:t>
            </a:r>
            <a:r>
              <a:rPr lang="zh-CN" altLang="en-US" dirty="0"/>
              <a:t>），我们通过评分器提供多维度评分指导，运用近似策略优化（</a:t>
            </a:r>
            <a:r>
              <a:rPr lang="en-US" altLang="zh-CN" dirty="0"/>
              <a:t>PPO</a:t>
            </a:r>
            <a:r>
              <a:rPr lang="zh-CN" altLang="en-US" dirty="0"/>
              <a:t>）对规划器进行微调。</a:t>
            </a:r>
            <a:endParaRPr lang="en-US" altLang="zh-CN" dirty="0"/>
          </a:p>
          <a:p>
            <a:pPr eaLnBrk="1" hangingPunct="1">
              <a:spcBef>
                <a:spcPct val="0"/>
              </a:spcBef>
            </a:pPr>
            <a:r>
              <a:rPr lang="zh-CN" altLang="en-US" dirty="0"/>
              <a:t>为提升</a:t>
            </a:r>
            <a:r>
              <a:rPr lang="en-US" altLang="zh-CN" dirty="0"/>
              <a:t>AI</a:t>
            </a:r>
            <a:r>
              <a:rPr lang="zh-CN" altLang="en-US" dirty="0"/>
              <a:t>反馈可靠性（</a:t>
            </a:r>
            <a:r>
              <a:rPr lang="en-US" altLang="zh-CN" dirty="0"/>
              <a:t>C3</a:t>
            </a:r>
            <a:r>
              <a:rPr lang="zh-CN" altLang="en-US" dirty="0"/>
              <a:t>），我们基于情境丰富度合成偏好数据，继而采用直接偏好优化（</a:t>
            </a:r>
            <a:r>
              <a:rPr lang="en-US" altLang="zh-CN" dirty="0"/>
              <a:t>DPO</a:t>
            </a:r>
            <a:r>
              <a:rPr lang="zh-CN" altLang="en-US" dirty="0"/>
              <a:t>）对评分器进行微调。</a:t>
            </a:r>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提出</a:t>
            </a:r>
            <a:r>
              <a:rPr lang="en-US" altLang="zh-CN" dirty="0" err="1"/>
              <a:t>FlowXpert</a:t>
            </a:r>
            <a:r>
              <a:rPr lang="zh-CN" altLang="en-US" dirty="0"/>
              <a:t>方案。</a:t>
            </a:r>
            <a:endParaRPr lang="en-US" altLang="zh-CN" dirty="0"/>
          </a:p>
          <a:p>
            <a:pPr eaLnBrk="1" hangingPunct="1">
              <a:spcBef>
                <a:spcPct val="0"/>
              </a:spcBef>
            </a:pPr>
            <a:r>
              <a:rPr lang="zh-CN" altLang="en-US" dirty="0"/>
              <a:t>为生成高质量工作流，</a:t>
            </a:r>
            <a:r>
              <a:rPr lang="en-US" altLang="zh-CN" dirty="0"/>
              <a:t>(1)</a:t>
            </a:r>
            <a:r>
              <a:rPr lang="zh-CN" altLang="en-US" dirty="0"/>
              <a:t>定义领域本体以指导知识库构建，将故障排除专业知识转化为精确的事件感知节点；</a:t>
            </a:r>
            <a:r>
              <a:rPr lang="en-US" altLang="zh-CN" dirty="0"/>
              <a:t>(2)</a:t>
            </a:r>
            <a:r>
              <a:rPr lang="zh-CN" altLang="en-US" dirty="0"/>
              <a:t>通过</a:t>
            </a:r>
            <a:r>
              <a:rPr lang="en-US" altLang="zh-CN" dirty="0"/>
              <a:t>PPO</a:t>
            </a:r>
            <a:r>
              <a:rPr lang="zh-CN" altLang="en-US" dirty="0"/>
              <a:t>与</a:t>
            </a:r>
            <a:r>
              <a:rPr lang="en-US" altLang="zh-CN" dirty="0"/>
              <a:t>DPO</a:t>
            </a:r>
            <a:r>
              <a:rPr lang="zh-CN" altLang="en-US" dirty="0"/>
              <a:t>调优实现多智能体协同进化；</a:t>
            </a:r>
            <a:r>
              <a:rPr lang="en-US" altLang="zh-CN" dirty="0"/>
              <a:t>(3)</a:t>
            </a:r>
            <a:r>
              <a:rPr lang="zh-CN" altLang="en-US" dirty="0"/>
              <a:t>设计基于情境丰富度控制的偏好数据合成方法，提升</a:t>
            </a:r>
            <a:r>
              <a:rPr lang="en-US" altLang="zh-CN" dirty="0"/>
              <a:t>AI</a:t>
            </a:r>
            <a:r>
              <a:rPr lang="zh-CN" altLang="en-US" dirty="0"/>
              <a:t>评估器的辨别能力。</a:t>
            </a:r>
            <a:endParaRPr lang="en-US" altLang="zh-CN" dirty="0"/>
          </a:p>
          <a:p>
            <a:pPr eaLnBrk="1" hangingPunct="1">
              <a:spcBef>
                <a:spcPct val="0"/>
              </a:spcBef>
            </a:pPr>
            <a:r>
              <a:rPr lang="zh-CN" altLang="en-US" dirty="0"/>
              <a:t>推出基于工作流核心特征设计的评估指标</a:t>
            </a:r>
            <a:r>
              <a:rPr lang="en-US" altLang="zh-CN" dirty="0" err="1"/>
              <a:t>STEPScore</a:t>
            </a:r>
            <a:r>
              <a:rPr lang="zh-CN" altLang="en-US" dirty="0"/>
              <a:t>，并基于华为云数据中心交换机的真实事件开展全面基准测试（第</a:t>
            </a:r>
            <a:r>
              <a:rPr lang="en-US" altLang="zh-CN" dirty="0"/>
              <a:t>5.1</a:t>
            </a:r>
            <a:r>
              <a:rPr lang="zh-CN" altLang="en-US" dirty="0"/>
              <a:t>节）。测试结果验证了</a:t>
            </a:r>
            <a:r>
              <a:rPr lang="en-US" altLang="zh-CN" dirty="0" err="1"/>
              <a:t>FlowXpert</a:t>
            </a:r>
            <a:r>
              <a:rPr lang="zh-CN" altLang="en-US" dirty="0"/>
              <a:t>的有效性（第</a:t>
            </a:r>
            <a:r>
              <a:rPr lang="en-US" altLang="zh-CN" dirty="0"/>
              <a:t>5.2</a:t>
            </a:r>
            <a:r>
              <a:rPr lang="zh-CN" altLang="en-US" dirty="0"/>
              <a:t>节）。</a:t>
            </a:r>
            <a:endParaRPr lang="en-US" altLang="zh-CN" dirty="0"/>
          </a:p>
          <a:p>
            <a:pPr eaLnBrk="1" hangingPunct="1">
              <a:spcBef>
                <a:spcPct val="0"/>
              </a:spcBef>
            </a:pPr>
            <a:r>
              <a:rPr lang="zh-CN" altLang="en-US" dirty="0"/>
              <a:t>在华为云</a:t>
            </a:r>
            <a:r>
              <a:rPr lang="en-US" altLang="zh-CN" dirty="0"/>
              <a:t>DCN</a:t>
            </a:r>
            <a:r>
              <a:rPr lang="zh-CN" altLang="en-US" dirty="0"/>
              <a:t>为期</a:t>
            </a:r>
            <a:r>
              <a:rPr lang="en-US" altLang="zh-CN" dirty="0"/>
              <a:t>10</a:t>
            </a:r>
            <a:r>
              <a:rPr lang="zh-CN" altLang="en-US" dirty="0"/>
              <a:t>周的部署中，本框架通过实证数据与案例研究，显著提升了开放式计算引擎（第</a:t>
            </a:r>
            <a:r>
              <a:rPr lang="en-US" altLang="zh-CN" dirty="0"/>
              <a:t>6.1</a:t>
            </a:r>
            <a:r>
              <a:rPr lang="zh-CN" altLang="en-US" dirty="0"/>
              <a:t>节）与执行器（第</a:t>
            </a:r>
            <a:r>
              <a:rPr lang="en-US" altLang="zh-CN" dirty="0"/>
              <a:t>6.2</a:t>
            </a:r>
            <a:r>
              <a:rPr lang="zh-CN" altLang="en-US" dirty="0"/>
              <a:t>节）的性能表现。</a:t>
            </a:r>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err="1"/>
              <a:t>FlowXpert</a:t>
            </a:r>
            <a:r>
              <a:rPr lang="zh-CN" altLang="en-US" dirty="0"/>
              <a:t>的离线流程致力于将简单的</a:t>
            </a:r>
            <a:r>
              <a:rPr lang="en-US" altLang="zh-CN" dirty="0"/>
              <a:t>LLM</a:t>
            </a:r>
            <a:r>
              <a:rPr lang="zh-CN" altLang="en-US" dirty="0"/>
              <a:t>转化为高质量的工作流生成器。</a:t>
            </a:r>
            <a:endParaRPr lang="en-US" altLang="zh-CN" dirty="0"/>
          </a:p>
          <a:p>
            <a:pPr eaLnBrk="1" hangingPunct="1">
              <a:spcBef>
                <a:spcPct val="0"/>
              </a:spcBef>
            </a:pPr>
            <a:r>
              <a:rPr lang="zh-CN" altLang="en-US" dirty="0"/>
              <a:t>具体而言，模块</a:t>
            </a:r>
            <a:r>
              <a:rPr lang="en-US" altLang="zh-CN" dirty="0"/>
              <a:t>1</a:t>
            </a:r>
            <a:r>
              <a:rPr lang="zh-CN" altLang="en-US" dirty="0"/>
              <a:t>，知识库构建，通过解析涵盖典型案例、事件指标、根本原因和缓解步骤的操作文档，构建矢量和图形库，从而为工作流编排提供故障排除专业知识。</a:t>
            </a:r>
            <a:endParaRPr lang="en-US" altLang="zh-CN" dirty="0"/>
          </a:p>
          <a:p>
            <a:pPr eaLnBrk="1" hangingPunct="1">
              <a:spcBef>
                <a:spcPct val="0"/>
              </a:spcBef>
            </a:pPr>
            <a:r>
              <a:rPr lang="zh-CN" altLang="en-US" dirty="0"/>
              <a:t>模块</a:t>
            </a:r>
            <a:r>
              <a:rPr lang="en-US" altLang="zh-CN" dirty="0"/>
              <a:t>2</a:t>
            </a:r>
            <a:r>
              <a:rPr lang="zh-CN" altLang="en-US" dirty="0"/>
              <a:t>，多</a:t>
            </a:r>
            <a:r>
              <a:rPr lang="en-US" altLang="zh-CN" dirty="0"/>
              <a:t>Agent</a:t>
            </a:r>
            <a:r>
              <a:rPr lang="zh-CN" altLang="en-US" dirty="0"/>
              <a:t>协同进化，侧重于微调两个</a:t>
            </a:r>
            <a:r>
              <a:rPr lang="en-US" altLang="zh-CN" dirty="0"/>
              <a:t>LLM</a:t>
            </a:r>
            <a:r>
              <a:rPr lang="zh-CN" altLang="en-US" dirty="0"/>
              <a:t>驱动的代理：</a:t>
            </a:r>
            <a:r>
              <a:rPr lang="en-US" altLang="zh-CN" dirty="0"/>
              <a:t>Planner</a:t>
            </a:r>
            <a:r>
              <a:rPr lang="zh-CN" altLang="en-US" dirty="0"/>
              <a:t>和</a:t>
            </a:r>
            <a:r>
              <a:rPr lang="en-US" altLang="zh-CN" dirty="0"/>
              <a:t>Scorer</a:t>
            </a:r>
            <a:r>
              <a:rPr lang="zh-CN" altLang="en-US" dirty="0"/>
              <a:t>，分别负责生成工作流和评估其质量。</a:t>
            </a:r>
            <a:endParaRPr lang="en-US" altLang="zh-CN" dirty="0"/>
          </a:p>
          <a:p>
            <a:pPr eaLnBrk="1" hangingPunct="1">
              <a:spcBef>
                <a:spcPct val="0"/>
              </a:spcBef>
            </a:pPr>
            <a:r>
              <a:rPr lang="zh-CN" altLang="en-US" dirty="0"/>
              <a:t>首先，</a:t>
            </a:r>
            <a:r>
              <a:rPr lang="en-US" altLang="zh-CN" dirty="0"/>
              <a:t>PPO</a:t>
            </a:r>
            <a:r>
              <a:rPr lang="zh-CN" altLang="en-US" dirty="0"/>
              <a:t>调整，由</a:t>
            </a:r>
            <a:r>
              <a:rPr lang="en-US" altLang="zh-CN" dirty="0"/>
              <a:t>Scorer</a:t>
            </a:r>
            <a:r>
              <a:rPr lang="zh-CN" altLang="en-US" dirty="0"/>
              <a:t>的多维</a:t>
            </a:r>
            <a:r>
              <a:rPr lang="en-US" altLang="zh-CN" dirty="0"/>
              <a:t>AI</a:t>
            </a:r>
            <a:r>
              <a:rPr lang="zh-CN" altLang="en-US" dirty="0"/>
              <a:t>反馈指导，增强了</a:t>
            </a:r>
            <a:r>
              <a:rPr lang="en-US" altLang="zh-CN" dirty="0"/>
              <a:t>Planner</a:t>
            </a:r>
            <a:r>
              <a:rPr lang="zh-CN" altLang="en-US" dirty="0"/>
              <a:t>。</a:t>
            </a:r>
            <a:endParaRPr lang="en-US" altLang="zh-CN" dirty="0"/>
          </a:p>
          <a:p>
            <a:pPr eaLnBrk="1" hangingPunct="1">
              <a:spcBef>
                <a:spcPct val="0"/>
              </a:spcBef>
            </a:pPr>
            <a:r>
              <a:rPr lang="zh-CN" altLang="en-US" dirty="0"/>
              <a:t>其次，通过领域知识的丰富程度来控制工作流对的偏好，然后使用</a:t>
            </a:r>
            <a:r>
              <a:rPr lang="en-US" altLang="zh-CN" dirty="0"/>
              <a:t>DPO</a:t>
            </a:r>
            <a:r>
              <a:rPr lang="zh-CN" altLang="en-US" dirty="0"/>
              <a:t>来改进</a:t>
            </a:r>
            <a:r>
              <a:rPr lang="en-US" altLang="zh-CN" dirty="0"/>
              <a:t>Scorer</a:t>
            </a:r>
            <a:r>
              <a:rPr lang="zh-CN" altLang="en-US" dirty="0"/>
              <a:t>的判断能力，这些微调这些策略共同增强了模块</a:t>
            </a:r>
            <a:r>
              <a:rPr lang="en-US" altLang="zh-CN" dirty="0"/>
              <a:t>1</a:t>
            </a:r>
            <a:r>
              <a:rPr lang="zh-CN" altLang="en-US" dirty="0"/>
              <a:t>中领域知识的应用。</a:t>
            </a:r>
            <a:endParaRPr lang="en-US" altLang="zh-CN" dirty="0"/>
          </a:p>
          <a:p>
            <a:pPr eaLnBrk="1" hangingPunct="1">
              <a:spcBef>
                <a:spcPct val="0"/>
              </a:spcBef>
            </a:pPr>
            <a:endParaRPr lang="en-US" altLang="zh-CN" dirty="0"/>
          </a:p>
          <a:p>
            <a:pPr eaLnBrk="1" hangingPunct="1">
              <a:spcBef>
                <a:spcPct val="0"/>
              </a:spcBef>
            </a:pPr>
            <a:r>
              <a:rPr lang="zh-CN" altLang="en-US" dirty="0"/>
              <a:t>对于在线生成，在处理事件单时，</a:t>
            </a:r>
            <a:r>
              <a:rPr lang="en-US" altLang="zh-CN" dirty="0" err="1"/>
              <a:t>FlowXpert</a:t>
            </a:r>
            <a:r>
              <a:rPr lang="zh-CN" altLang="en-US" dirty="0"/>
              <a:t>首先根据</a:t>
            </a:r>
            <a:r>
              <a:rPr lang="en-US" altLang="zh-CN" dirty="0"/>
              <a:t>OCE</a:t>
            </a:r>
            <a:r>
              <a:rPr lang="zh-CN" altLang="en-US" dirty="0"/>
              <a:t>的查询从知识库中检索上下文知识。然后计划器和评分器进行采样和生成，自动生成事件管理工作流。</a:t>
            </a:r>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5</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我们将事件管理的核心要素抽象为五个概念：概念集 </a:t>
            </a:r>
            <a:r>
              <a:rPr lang="en-US" altLang="zh-CN" dirty="0"/>
              <a:t>= {</a:t>
            </a:r>
            <a:r>
              <a:rPr lang="zh-CN" altLang="en-US" dirty="0"/>
              <a:t>事件、故障描述、缓解步骤、典型案例、补充说明</a:t>
            </a:r>
            <a:r>
              <a:rPr lang="en-US" altLang="zh-CN" dirty="0"/>
              <a:t>}</a:t>
            </a:r>
            <a:r>
              <a:rPr lang="zh-CN" altLang="en-US" dirty="0"/>
              <a:t>。其中，事件作为核心概念，其余概念则从不同角度描述其属性特征。</a:t>
            </a:r>
            <a:endParaRPr lang="en-US" altLang="zh-CN" dirty="0"/>
          </a:p>
          <a:p>
            <a:pPr eaLnBrk="1" hangingPunct="1">
              <a:spcBef>
                <a:spcPct val="0"/>
              </a:spcBef>
            </a:pPr>
            <a:r>
              <a:rPr lang="zh-CN" altLang="en-US" dirty="0"/>
              <a:t>因此，我们定义本体关系：关系集 </a:t>
            </a:r>
            <a:r>
              <a:rPr lang="en-US" altLang="zh-CN" dirty="0"/>
              <a:t>= {(</a:t>
            </a:r>
            <a:r>
              <a:rPr lang="zh-CN" altLang="en-US" dirty="0"/>
              <a:t>事件</a:t>
            </a:r>
            <a:r>
              <a:rPr lang="en-US" altLang="zh-CN" dirty="0"/>
              <a:t>, </a:t>
            </a:r>
            <a:r>
              <a:rPr lang="zh-CN" altLang="en-US" dirty="0"/>
              <a:t>具有属性</a:t>
            </a:r>
            <a:r>
              <a:rPr lang="en-US" altLang="zh-CN" dirty="0"/>
              <a:t>, </a:t>
            </a:r>
            <a:r>
              <a:rPr lang="zh-CN" altLang="en-US" dirty="0"/>
              <a:t>属性集</a:t>
            </a:r>
            <a:r>
              <a:rPr lang="en-US" altLang="zh-CN" dirty="0"/>
              <a:t>)}</a:t>
            </a:r>
            <a:r>
              <a:rPr lang="zh-CN" altLang="en-US" dirty="0"/>
              <a:t>，其中属性集 </a:t>
            </a:r>
            <a:r>
              <a:rPr lang="en-US" altLang="zh-CN" dirty="0"/>
              <a:t>= </a:t>
            </a:r>
            <a:r>
              <a:rPr lang="zh-CN" altLang="en-US" dirty="0"/>
              <a:t>概念集 </a:t>
            </a:r>
            <a:r>
              <a:rPr lang="en-US" altLang="zh-CN" dirty="0"/>
              <a:t>\ {</a:t>
            </a:r>
            <a:r>
              <a:rPr lang="zh-CN" altLang="en-US" dirty="0"/>
              <a:t>事件</a:t>
            </a:r>
            <a:r>
              <a:rPr lang="en-US" altLang="zh-CN" dirty="0"/>
              <a:t>}</a:t>
            </a:r>
            <a:r>
              <a:rPr lang="zh-CN" altLang="en-US" dirty="0"/>
              <a:t>。</a:t>
            </a:r>
            <a:endParaRPr lang="en-US" altLang="zh-CN" dirty="0"/>
          </a:p>
          <a:p>
            <a:pPr eaLnBrk="1" hangingPunct="1">
              <a:spcBef>
                <a:spcPct val="0"/>
              </a:spcBef>
            </a:pPr>
            <a:r>
              <a:rPr lang="zh-CN" altLang="en-US" dirty="0"/>
              <a:t>基于这些概念和关系，我们将知识图谱中的三元组重组为多个事件感知节点：𝑛𝑜𝑑𝑒</a:t>
            </a:r>
            <a:r>
              <a:rPr lang="en-US" altLang="zh-CN" dirty="0"/>
              <a:t>_</a:t>
            </a:r>
            <a:r>
              <a:rPr lang="zh-CN" altLang="en-US" dirty="0"/>
              <a:t>𝑖</a:t>
            </a:r>
            <a:r>
              <a:rPr lang="en-US" altLang="zh-CN" dirty="0"/>
              <a:t>=(</a:t>
            </a:r>
            <a:r>
              <a:rPr lang="zh-CN" altLang="en-US" dirty="0"/>
              <a:t>𝑖𝑛𝑐𝑖𝑑𝑒𝑛𝑡</a:t>
            </a:r>
            <a:r>
              <a:rPr lang="en-US" altLang="zh-CN" dirty="0"/>
              <a:t>_</a:t>
            </a:r>
            <a:r>
              <a:rPr lang="zh-CN" altLang="en-US" dirty="0"/>
              <a:t>𝑖</a:t>
            </a:r>
            <a:r>
              <a:rPr lang="en-US" altLang="zh-CN" dirty="0"/>
              <a:t>, ℎ</a:t>
            </a:r>
            <a:r>
              <a:rPr lang="zh-CN" altLang="en-US" dirty="0"/>
              <a:t>𝑎𝑠 𝑎𝑡𝑡𝑟𝑖𝑏𝑢𝑡𝑒𝑠</a:t>
            </a:r>
            <a:r>
              <a:rPr lang="en-US" altLang="zh-CN" dirty="0"/>
              <a:t>,</a:t>
            </a:r>
            <a:r>
              <a:rPr lang="zh-CN" altLang="en-US" dirty="0"/>
              <a:t>𝑎𝑡𝑡𝑟𝑠</a:t>
            </a:r>
            <a:r>
              <a:rPr lang="en-US" altLang="zh-CN" dirty="0"/>
              <a:t>_</a:t>
            </a:r>
            <a:r>
              <a:rPr lang="zh-CN" altLang="en-US" dirty="0"/>
              <a:t>𝑖𝑗 </a:t>
            </a:r>
            <a:r>
              <a:rPr lang="en-US" altLang="zh-CN" dirty="0"/>
              <a:t>)</a:t>
            </a:r>
          </a:p>
          <a:p>
            <a:pPr eaLnBrk="1" hangingPunct="1">
              <a:spcBef>
                <a:spcPct val="0"/>
              </a:spcBef>
            </a:pPr>
            <a:r>
              <a:rPr lang="zh-CN" altLang="en-US" dirty="0"/>
              <a:t>因此，</a:t>
            </a:r>
            <a:r>
              <a:rPr lang="en-US" altLang="zh-CN" dirty="0"/>
              <a:t>KG</a:t>
            </a:r>
            <a:r>
              <a:rPr lang="zh-CN" altLang="en-US" dirty="0"/>
              <a:t>被概念化为一组事件感知节点，每个节点如同待填充的空白表格，其中事件名称作为主键，其余字段则作为事件属性，这些属性根据</a:t>
            </a:r>
            <a:r>
              <a:rPr lang="en-US" altLang="zh-CN" dirty="0"/>
              <a:t>OCEs</a:t>
            </a:r>
            <a:r>
              <a:rPr lang="zh-CN" altLang="en-US" dirty="0"/>
              <a:t>的兴趣和关切进行定制。</a:t>
            </a:r>
            <a:endParaRPr lang="en-US" altLang="zh-CN" dirty="0"/>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从分块中提取事件：鉴于大型语言模型的上下文长度限制，我们将原始文档分割为</a:t>
            </a:r>
            <a:r>
              <a:rPr lang="en-US" altLang="zh-CN" dirty="0"/>
              <a:t>K</a:t>
            </a:r>
            <a:r>
              <a:rPr lang="zh-CN" altLang="en-US" dirty="0"/>
              <a:t>个分块，并指示模型从每个分块𝑘中提取所有事件实例𝑎</a:t>
            </a:r>
            <a:r>
              <a:rPr lang="en-US" altLang="zh-CN" dirty="0"/>
              <a:t>_</a:t>
            </a:r>
            <a:r>
              <a:rPr lang="zh-CN" altLang="en-US" dirty="0"/>
              <a:t>𝑖</a:t>
            </a:r>
            <a:r>
              <a:rPr lang="en-US" altLang="zh-CN" dirty="0"/>
              <a:t>^((</a:t>
            </a:r>
            <a:r>
              <a:rPr lang="zh-CN" altLang="en-US" dirty="0"/>
              <a:t>𝑘</a:t>
            </a:r>
            <a:r>
              <a:rPr lang="en-US" altLang="zh-CN" dirty="0"/>
              <a:t>))</a:t>
            </a:r>
            <a:r>
              <a:rPr lang="zh-CN" altLang="en-US" dirty="0"/>
              <a:t>，即事件名称。</a:t>
            </a:r>
            <a:endParaRPr lang="en-US" altLang="zh-CN" dirty="0"/>
          </a:p>
          <a:p>
            <a:pPr eaLnBrk="1" hangingPunct="1">
              <a:spcBef>
                <a:spcPct val="0"/>
              </a:spcBef>
            </a:pPr>
            <a:r>
              <a:rPr lang="zh-CN" altLang="en-US" dirty="0"/>
              <a:t>填充事件感知节点：确定事件名称后，此步骤如同填写表格般识别节点的剩余属性。具体而言，</a:t>
            </a:r>
            <a:r>
              <a:rPr lang="en-US" altLang="zh-CN" dirty="0"/>
              <a:t>LLMs</a:t>
            </a:r>
            <a:r>
              <a:rPr lang="zh-CN" altLang="en-US" dirty="0"/>
              <a:t>在少样本训练环境下从数据块中提取其他属性，即与𝑎</a:t>
            </a:r>
            <a:r>
              <a:rPr lang="en-US" altLang="zh-CN" dirty="0"/>
              <a:t>_</a:t>
            </a:r>
            <a:r>
              <a:rPr lang="zh-CN" altLang="en-US" dirty="0"/>
              <a:t>𝑖</a:t>
            </a:r>
            <a:r>
              <a:rPr lang="en-US" altLang="zh-CN" dirty="0"/>
              <a:t>^</a:t>
            </a:r>
            <a:r>
              <a:rPr lang="zh-CN" altLang="en-US" dirty="0"/>
              <a:t>𝑘关联的𝑎𝑡𝑡𝑟𝑠</a:t>
            </a:r>
            <a:r>
              <a:rPr lang="en-US" altLang="zh-CN" dirty="0"/>
              <a:t>_</a:t>
            </a:r>
            <a:r>
              <a:rPr lang="zh-CN" altLang="en-US" dirty="0"/>
              <a:t>𝑖𝑗</a:t>
            </a:r>
            <a:r>
              <a:rPr lang="en-US" altLang="zh-CN" dirty="0"/>
              <a:t>^((</a:t>
            </a:r>
            <a:r>
              <a:rPr lang="zh-CN" altLang="en-US" dirty="0"/>
              <a:t>𝑘</a:t>
            </a:r>
            <a:r>
              <a:rPr lang="en-US" altLang="zh-CN" dirty="0"/>
              <a:t>))</a:t>
            </a:r>
            <a:r>
              <a:rPr lang="zh-CN" altLang="en-US" dirty="0"/>
              <a:t>。</a:t>
            </a:r>
            <a:endParaRPr lang="en-US" altLang="zh-CN" dirty="0"/>
          </a:p>
          <a:p>
            <a:pPr eaLnBrk="1" hangingPunct="1">
              <a:spcBef>
                <a:spcPct val="0"/>
              </a:spcBef>
            </a:pPr>
            <a:r>
              <a:rPr lang="zh-CN" altLang="en-US" dirty="0"/>
              <a:t>我们将节点填充为当前分块和最近一个先前分块中提取的事件。最终节点集为 </a:t>
            </a:r>
            <a:r>
              <a:rPr lang="en-US" altLang="zh-CN" dirty="0"/>
              <a:t>S^((</a:t>
            </a:r>
            <a:r>
              <a:rPr lang="zh-CN" altLang="en-US" dirty="0"/>
              <a:t>𝑘</a:t>
            </a:r>
            <a:r>
              <a:rPr lang="en-US" altLang="zh-CN" dirty="0"/>
              <a:t>))={</a:t>
            </a:r>
            <a:r>
              <a:rPr lang="zh-CN" altLang="en-US" dirty="0"/>
              <a:t>𝑛𝑜𝑑𝑒</a:t>
            </a:r>
            <a:r>
              <a:rPr lang="en-US" altLang="zh-CN" dirty="0"/>
              <a:t>_1^</a:t>
            </a:r>
            <a:r>
              <a:rPr lang="zh-CN" altLang="en-US" dirty="0"/>
              <a:t>𝑘</a:t>
            </a:r>
            <a:r>
              <a:rPr lang="en-US" altLang="zh-CN" dirty="0"/>
              <a:t>, …, </a:t>
            </a:r>
            <a:r>
              <a:rPr lang="zh-CN" altLang="en-US" dirty="0"/>
              <a:t>𝑛𝑜𝑑𝑒</a:t>
            </a:r>
            <a:r>
              <a:rPr lang="en-US" altLang="zh-CN" dirty="0"/>
              <a:t>_</a:t>
            </a:r>
            <a:r>
              <a:rPr lang="zh-CN" altLang="en-US" dirty="0"/>
              <a:t>𝑛</a:t>
            </a:r>
            <a:r>
              <a:rPr lang="en-US" altLang="zh-CN" dirty="0"/>
              <a:t>^</a:t>
            </a:r>
            <a:r>
              <a:rPr lang="zh-CN" altLang="en-US" dirty="0"/>
              <a:t>𝑘 </a:t>
            </a:r>
            <a:r>
              <a:rPr lang="en-US" altLang="zh-CN" dirty="0"/>
              <a:t>}</a:t>
            </a:r>
            <a:r>
              <a:rPr lang="zh-CN" altLang="en-US" dirty="0"/>
              <a:t>，其中 𝑛 表示从第 𝑘 个数据块中提取的节点编号。</a:t>
            </a:r>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在步骤</a:t>
            </a:r>
            <a:r>
              <a:rPr lang="en-US" altLang="zh-CN" dirty="0"/>
              <a:t>3</a:t>
            </a:r>
            <a:r>
              <a:rPr lang="zh-CN" altLang="en-US" dirty="0"/>
              <a:t>中，整合先前区块中的事件虽能减轻信息损失，却导致节点冗余现象显著增加。</a:t>
            </a:r>
            <a:endParaRPr lang="en-US" altLang="zh-CN" dirty="0"/>
          </a:p>
          <a:p>
            <a:pPr eaLnBrk="1" hangingPunct="1">
              <a:spcBef>
                <a:spcPct val="0"/>
              </a:spcBef>
            </a:pPr>
            <a:r>
              <a:rPr lang="zh-CN" altLang="en-US" dirty="0"/>
              <a:t>为解决此问题，我们将合并并优化同类事件节点。借助大型语言模型的强大语义处理能力，此步骤将对节点内容进行合并、重组与优化。</a:t>
            </a:r>
            <a:endParaRPr lang="en-US" altLang="zh-CN" dirty="0"/>
          </a:p>
          <a:p>
            <a:pPr eaLnBrk="1" hangingPunct="1">
              <a:spcBef>
                <a:spcPct val="0"/>
              </a:spcBef>
            </a:pPr>
            <a:r>
              <a:rPr lang="zh-CN" altLang="en-US" dirty="0"/>
              <a:t>最终输出是一个由事件节点组成的知识图谱，即𝐾𝐺</a:t>
            </a:r>
            <a:r>
              <a:rPr lang="en-US" altLang="zh-CN" dirty="0"/>
              <a:t>={</a:t>
            </a:r>
            <a:r>
              <a:rPr lang="zh-CN" altLang="en-US" dirty="0"/>
              <a:t>𝑛𝑜𝑑𝑒</a:t>
            </a:r>
            <a:r>
              <a:rPr lang="en-US" altLang="zh-CN" dirty="0"/>
              <a:t>_</a:t>
            </a:r>
            <a:r>
              <a:rPr lang="zh-CN" altLang="en-US" dirty="0"/>
              <a:t>𝑖  ┤</a:t>
            </a:r>
            <a:r>
              <a:rPr lang="en-US" altLang="zh-CN" dirty="0"/>
              <a:t>|  </a:t>
            </a:r>
            <a:r>
              <a:rPr lang="zh-CN" altLang="en-US" dirty="0"/>
              <a:t>𝑖</a:t>
            </a:r>
            <a:r>
              <a:rPr lang="en-US" altLang="zh-CN" dirty="0"/>
              <a:t>=1, …,</a:t>
            </a:r>
            <a:r>
              <a:rPr lang="zh-CN" altLang="en-US" dirty="0"/>
              <a:t>𝑁</a:t>
            </a:r>
            <a:r>
              <a:rPr lang="en-US" altLang="zh-CN" dirty="0"/>
              <a:t>}</a:t>
            </a:r>
            <a:r>
              <a:rPr lang="zh-CN" altLang="en-US" dirty="0"/>
              <a:t>，其中𝑁表示所有事件类型的数量。每个节点对应一种事件类型，将源文档中的所有相关信息整合为四个属性：故障描述、缓解步骤、典型案例和补充说明。</a:t>
            </a:r>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当在线触发事件时，会生成一个查询𝑄</a:t>
            </a:r>
            <a:r>
              <a:rPr lang="en-US" altLang="zh-CN" dirty="0"/>
              <a:t>^((</a:t>
            </a:r>
            <a:r>
              <a:rPr lang="zh-CN" altLang="en-US" dirty="0"/>
              <a:t>𝑇</a:t>
            </a:r>
            <a:r>
              <a:rPr lang="en-US" altLang="zh-CN" dirty="0"/>
              <a:t>))</a:t>
            </a:r>
            <a:r>
              <a:rPr lang="zh-CN" altLang="en-US" dirty="0"/>
              <a:t>，通常包含事件名称和描述。</a:t>
            </a:r>
            <a:endParaRPr lang="en-US" altLang="zh-CN" dirty="0"/>
          </a:p>
          <a:p>
            <a:pPr eaLnBrk="1" hangingPunct="1">
              <a:spcBef>
                <a:spcPct val="0"/>
              </a:spcBef>
            </a:pPr>
            <a:r>
              <a:rPr lang="zh-CN" altLang="en-US" dirty="0"/>
              <a:t>随后计算𝑄</a:t>
            </a:r>
            <a:r>
              <a:rPr lang="en-US" altLang="zh-CN" dirty="0"/>
              <a:t>^((</a:t>
            </a:r>
            <a:r>
              <a:rPr lang="zh-CN" altLang="en-US" dirty="0"/>
              <a:t>𝑇</a:t>
            </a:r>
            <a:r>
              <a:rPr lang="en-US" altLang="zh-CN" dirty="0"/>
              <a:t>))</a:t>
            </a:r>
            <a:r>
              <a:rPr lang="zh-CN" altLang="en-US" dirty="0"/>
              <a:t>与每个数据块的向量索引、以及每个节点的编码事件名称之间的语义相似度。</a:t>
            </a:r>
            <a:endParaRPr lang="en-US" altLang="zh-CN" dirty="0"/>
          </a:p>
          <a:p>
            <a:pPr eaLnBrk="1" hangingPunct="1">
              <a:spcBef>
                <a:spcPct val="0"/>
              </a:spcBef>
            </a:pPr>
            <a:r>
              <a:rPr lang="zh-CN" altLang="en-US" dirty="0"/>
              <a:t>相关领域知识按相似度得分排序，即：𝐶</a:t>
            </a:r>
            <a:r>
              <a:rPr lang="en-US" altLang="zh-CN" dirty="0"/>
              <a:t>^((</a:t>
            </a:r>
            <a:r>
              <a:rPr lang="zh-CN" altLang="en-US" dirty="0"/>
              <a:t>𝑇</a:t>
            </a:r>
            <a:r>
              <a:rPr lang="en-US" altLang="zh-CN" dirty="0"/>
              <a:t>))={</a:t>
            </a:r>
            <a:r>
              <a:rPr lang="zh-CN" altLang="en-US" dirty="0"/>
              <a:t>𝑐</a:t>
            </a:r>
            <a:r>
              <a:rPr lang="en-US" altLang="zh-CN" dirty="0"/>
              <a:t>ℎ</a:t>
            </a:r>
            <a:r>
              <a:rPr lang="zh-CN" altLang="en-US" dirty="0"/>
              <a:t>𝑢𝑛𝑘𝑠</a:t>
            </a:r>
            <a:r>
              <a:rPr lang="en-US" altLang="zh-CN" dirty="0"/>
              <a:t>_</a:t>
            </a:r>
            <a:r>
              <a:rPr lang="zh-CN" altLang="en-US" dirty="0"/>
              <a:t>𝑡𝑜𝑝𝐾</a:t>
            </a:r>
            <a:r>
              <a:rPr lang="en-US" altLang="zh-CN" dirty="0"/>
              <a:t>^((</a:t>
            </a:r>
            <a:r>
              <a:rPr lang="zh-CN" altLang="en-US" dirty="0"/>
              <a:t>𝑇</a:t>
            </a:r>
            <a:r>
              <a:rPr lang="en-US" altLang="zh-CN" dirty="0"/>
              <a:t>) ),  〖</a:t>
            </a:r>
            <a:r>
              <a:rPr lang="zh-CN" altLang="en-US" dirty="0"/>
              <a:t>𝑛𝑜𝑑𝑒𝑠</a:t>
            </a:r>
            <a:r>
              <a:rPr lang="en-US" altLang="zh-CN" dirty="0"/>
              <a:t>〗 _</a:t>
            </a:r>
            <a:r>
              <a:rPr lang="zh-CN" altLang="en-US" dirty="0"/>
              <a:t>𝑡𝑜𝑝𝑁</a:t>
            </a:r>
            <a:r>
              <a:rPr lang="en-US" altLang="zh-CN" dirty="0"/>
              <a:t>^((</a:t>
            </a:r>
            <a:r>
              <a:rPr lang="zh-CN" altLang="en-US" dirty="0"/>
              <a:t>𝑇</a:t>
            </a:r>
            <a:r>
              <a:rPr lang="en-US" altLang="zh-CN" dirty="0"/>
              <a:t>) )}</a:t>
            </a:r>
            <a:r>
              <a:rPr lang="zh-CN" altLang="en-US" dirty="0"/>
              <a:t>，其中𝑐</a:t>
            </a:r>
            <a:r>
              <a:rPr lang="en-US" altLang="zh-CN" dirty="0"/>
              <a:t>ℎ</a:t>
            </a:r>
            <a:r>
              <a:rPr lang="zh-CN" altLang="en-US" dirty="0"/>
              <a:t>𝑢𝑛𝑘𝑠</a:t>
            </a:r>
            <a:r>
              <a:rPr lang="en-US" altLang="zh-CN" dirty="0"/>
              <a:t>_</a:t>
            </a:r>
            <a:r>
              <a:rPr lang="zh-CN" altLang="en-US" dirty="0"/>
              <a:t>𝑡𝑜𝑝𝐾</a:t>
            </a:r>
            <a:r>
              <a:rPr lang="en-US" altLang="zh-CN" dirty="0"/>
              <a:t>^((</a:t>
            </a:r>
            <a:r>
              <a:rPr lang="zh-CN" altLang="en-US" dirty="0"/>
              <a:t>𝑇</a:t>
            </a:r>
            <a:r>
              <a:rPr lang="en-US" altLang="zh-CN" dirty="0"/>
              <a:t>) )</a:t>
            </a:r>
            <a:r>
              <a:rPr lang="zh-CN" altLang="en-US" dirty="0"/>
              <a:t>与 </a:t>
            </a:r>
            <a:r>
              <a:rPr lang="en-US" altLang="zh-CN" dirty="0"/>
              <a:t>〖</a:t>
            </a:r>
            <a:r>
              <a:rPr lang="zh-CN" altLang="en-US" dirty="0"/>
              <a:t>𝑛𝑜𝑑𝑒𝑠</a:t>
            </a:r>
            <a:r>
              <a:rPr lang="en-US" altLang="zh-CN" dirty="0"/>
              <a:t>〗_</a:t>
            </a:r>
            <a:r>
              <a:rPr lang="zh-CN" altLang="en-US" dirty="0"/>
              <a:t>𝑡𝑜𝑝𝑁</a:t>
            </a:r>
            <a:r>
              <a:rPr lang="en-US" altLang="zh-CN" dirty="0"/>
              <a:t>^((</a:t>
            </a:r>
            <a:r>
              <a:rPr lang="zh-CN" altLang="en-US" dirty="0"/>
              <a:t>𝑇</a:t>
            </a:r>
            <a:r>
              <a:rPr lang="en-US" altLang="zh-CN" dirty="0"/>
              <a:t>) ) </a:t>
            </a:r>
            <a:r>
              <a:rPr lang="zh-CN" altLang="en-US" dirty="0"/>
              <a:t>分别表示自然语言中最相关的 𝑡𝑜𝑝𝐾 块和 𝑡𝑜𝑝𝑁 节点。</a:t>
            </a:r>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规划器与评分器。</a:t>
            </a:r>
            <a:r>
              <a:rPr lang="en-US" altLang="zh-CN" dirty="0"/>
              <a:t>(1) </a:t>
            </a:r>
            <a:r>
              <a:rPr lang="zh-CN" altLang="en-US" dirty="0"/>
              <a:t>规划器代理利用前一模块检索到的知识协调工作流，即 𝑊</a:t>
            </a:r>
            <a:r>
              <a:rPr lang="en-US" altLang="zh-CN" dirty="0"/>
              <a:t>^((</a:t>
            </a:r>
            <a:r>
              <a:rPr lang="zh-CN" altLang="en-US" dirty="0"/>
              <a:t>𝑇</a:t>
            </a:r>
            <a:r>
              <a:rPr lang="en-US" altLang="zh-CN" dirty="0"/>
              <a:t>))=</a:t>
            </a:r>
            <a:r>
              <a:rPr lang="zh-CN" altLang="en-US" dirty="0"/>
              <a:t>𝑃𝑙𝑎𝑛𝑛𝑒𝑟</a:t>
            </a:r>
            <a:r>
              <a:rPr lang="en-US" altLang="zh-CN" dirty="0"/>
              <a:t>(</a:t>
            </a:r>
            <a:r>
              <a:rPr lang="zh-CN" altLang="en-US" dirty="0"/>
              <a:t>𝑄</a:t>
            </a:r>
            <a:r>
              <a:rPr lang="en-US" altLang="zh-CN" dirty="0"/>
              <a:t>^((</a:t>
            </a:r>
            <a:r>
              <a:rPr lang="zh-CN" altLang="en-US" dirty="0"/>
              <a:t>𝑇</a:t>
            </a:r>
            <a:r>
              <a:rPr lang="en-US" altLang="zh-CN" dirty="0"/>
              <a:t>) ),  </a:t>
            </a:r>
            <a:r>
              <a:rPr lang="zh-CN" altLang="en-US" dirty="0"/>
              <a:t>𝐶</a:t>
            </a:r>
            <a:r>
              <a:rPr lang="en-US" altLang="zh-CN" dirty="0"/>
              <a:t>^((</a:t>
            </a:r>
            <a:r>
              <a:rPr lang="zh-CN" altLang="en-US" dirty="0"/>
              <a:t>𝑇</a:t>
            </a:r>
            <a:r>
              <a:rPr lang="en-US" altLang="zh-CN" dirty="0"/>
              <a:t>) ) </a:t>
            </a:r>
            <a:r>
              <a:rPr lang="zh-CN" altLang="en-US" dirty="0"/>
              <a:t>。</a:t>
            </a:r>
            <a:r>
              <a:rPr lang="en-US" altLang="zh-CN" dirty="0"/>
              <a:t>(2) </a:t>
            </a:r>
            <a:r>
              <a:rPr lang="zh-CN" altLang="en-US" dirty="0"/>
              <a:t>评分器代理评估生成的流程与领域要求的契合度。整体工作流质量通过平均这五个评分进行量化：𝑆</a:t>
            </a:r>
            <a:r>
              <a:rPr lang="en-US" altLang="zh-CN" dirty="0"/>
              <a:t>^</a:t>
            </a:r>
            <a:r>
              <a:rPr lang="zh-CN" altLang="en-US" dirty="0"/>
              <a:t>𝑇</a:t>
            </a:r>
            <a:r>
              <a:rPr lang="en-US" altLang="zh-CN" dirty="0"/>
              <a:t>=</a:t>
            </a:r>
            <a:r>
              <a:rPr lang="zh-CN" altLang="en-US" dirty="0"/>
              <a:t>𝑆𝑐𝑜𝑟𝑒𝑟</a:t>
            </a:r>
            <a:r>
              <a:rPr lang="en-US" altLang="zh-CN" dirty="0"/>
              <a:t>(</a:t>
            </a:r>
            <a:r>
              <a:rPr lang="zh-CN" altLang="en-US" dirty="0"/>
              <a:t>𝑄</a:t>
            </a:r>
            <a:r>
              <a:rPr lang="en-US" altLang="zh-CN" dirty="0"/>
              <a:t>^((</a:t>
            </a:r>
            <a:r>
              <a:rPr lang="zh-CN" altLang="en-US" dirty="0"/>
              <a:t>𝑇</a:t>
            </a:r>
            <a:r>
              <a:rPr lang="en-US" altLang="zh-CN" dirty="0"/>
              <a:t>) ),  </a:t>
            </a:r>
            <a:r>
              <a:rPr lang="zh-CN" altLang="en-US" dirty="0"/>
              <a:t>𝐶</a:t>
            </a:r>
            <a:r>
              <a:rPr lang="en-US" altLang="zh-CN" dirty="0"/>
              <a:t>^((</a:t>
            </a:r>
            <a:r>
              <a:rPr lang="zh-CN" altLang="en-US" dirty="0"/>
              <a:t>𝑇</a:t>
            </a:r>
            <a:r>
              <a:rPr lang="en-US" altLang="zh-CN" dirty="0"/>
              <a:t>) ),  </a:t>
            </a:r>
            <a:r>
              <a:rPr lang="zh-CN" altLang="en-US" dirty="0"/>
              <a:t>𝑊</a:t>
            </a:r>
            <a:r>
              <a:rPr lang="en-US" altLang="zh-CN" dirty="0"/>
              <a:t>^((</a:t>
            </a:r>
            <a:r>
              <a:rPr lang="zh-CN" altLang="en-US" dirty="0"/>
              <a:t>𝑇</a:t>
            </a:r>
            <a:r>
              <a:rPr lang="en-US" altLang="zh-CN" dirty="0"/>
              <a:t>) )</a:t>
            </a:r>
            <a:r>
              <a:rPr lang="zh-CN" altLang="en-US" dirty="0"/>
              <a:t>。评分𝑆</a:t>
            </a:r>
            <a:r>
              <a:rPr lang="en-US" altLang="zh-CN" dirty="0"/>
              <a:t>^((</a:t>
            </a:r>
            <a:r>
              <a:rPr lang="zh-CN" altLang="en-US" dirty="0"/>
              <a:t>𝑇</a:t>
            </a:r>
            <a:r>
              <a:rPr lang="en-US" altLang="zh-CN" dirty="0"/>
              <a:t>) )</a:t>
            </a:r>
            <a:r>
              <a:rPr lang="zh-CN" altLang="en-US" dirty="0"/>
              <a:t>同时用于离线微调和在线生成。</a:t>
            </a:r>
            <a:endParaRPr lang="en-US" altLang="zh-CN" dirty="0"/>
          </a:p>
          <a:p>
            <a:pPr eaLnBrk="1" hangingPunct="1">
              <a:spcBef>
                <a:spcPct val="0"/>
              </a:spcBef>
            </a:pPr>
            <a:r>
              <a:rPr lang="zh-CN" altLang="en-US" dirty="0"/>
              <a:t>最佳</a:t>
            </a:r>
            <a:r>
              <a:rPr lang="en-US" altLang="zh-CN" dirty="0"/>
              <a:t>N</a:t>
            </a:r>
            <a:r>
              <a:rPr lang="zh-CN" altLang="en-US" dirty="0"/>
              <a:t>采样。在线生成期间，计划器为给定查询</a:t>
            </a:r>
            <a:r>
              <a:rPr lang="en-US" altLang="zh-CN" dirty="0"/>
              <a:t>Q</a:t>
            </a:r>
            <a:r>
              <a:rPr lang="zh-CN" altLang="en-US" dirty="0"/>
              <a:t>（</a:t>
            </a:r>
            <a:r>
              <a:rPr lang="en-US" altLang="zh-CN" dirty="0"/>
              <a:t>T</a:t>
            </a:r>
            <a:r>
              <a:rPr lang="zh-CN" altLang="en-US" dirty="0"/>
              <a:t>）编排</a:t>
            </a:r>
            <a:r>
              <a:rPr lang="en-US" altLang="zh-CN" dirty="0"/>
              <a:t>N</a:t>
            </a:r>
            <a:r>
              <a:rPr lang="zh-CN" altLang="en-US" dirty="0"/>
              <a:t>个工作流</a:t>
            </a:r>
            <a:r>
              <a:rPr lang="en-US" altLang="zh-CN" dirty="0"/>
              <a:t>W</a:t>
            </a:r>
            <a:r>
              <a:rPr lang="zh-CN" altLang="en-US" dirty="0"/>
              <a:t>（</a:t>
            </a:r>
            <a:r>
              <a:rPr lang="en-US" altLang="zh-CN" dirty="0"/>
              <a:t>T</a:t>
            </a:r>
            <a:r>
              <a:rPr lang="zh-CN" altLang="en-US" dirty="0"/>
              <a:t>），根据评分器的评分</a:t>
            </a:r>
            <a:r>
              <a:rPr lang="en-US" altLang="zh-CN" dirty="0"/>
              <a:t>S</a:t>
            </a:r>
            <a:r>
              <a:rPr lang="zh-CN" altLang="en-US" dirty="0"/>
              <a:t>（</a:t>
            </a:r>
            <a:r>
              <a:rPr lang="en-US" altLang="zh-CN" dirty="0"/>
              <a:t>T</a:t>
            </a:r>
            <a:r>
              <a:rPr lang="zh-CN" altLang="en-US" dirty="0"/>
              <a:t>）选择最佳工作流。</a:t>
            </a:r>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规划者与评分者并非天生专家，而是通过反复微调逐步进化而成。当资源限制与数据隐私问题催生对开源轻量级大型语言模型的需求时，这种精炼过程尤为关键。</a:t>
            </a:r>
            <a:endParaRPr lang="en-US" altLang="zh-CN" dirty="0"/>
          </a:p>
          <a:p>
            <a:pPr eaLnBrk="1" hangingPunct="1">
              <a:spcBef>
                <a:spcPct val="0"/>
              </a:spcBef>
            </a:pPr>
            <a:endParaRPr lang="en-US" altLang="zh-CN"/>
          </a:p>
          <a:p>
            <a:pPr eaLnBrk="1" hangingPunct="1">
              <a:spcBef>
                <a:spcPct val="0"/>
              </a:spcBef>
            </a:pPr>
            <a:endParaRPr lang="zh-CN" altLang="en-US" dirty="0"/>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err="1"/>
              <a:t>FlowXpert</a:t>
            </a:r>
            <a:r>
              <a:rPr lang="zh-CN" altLang="en-US" dirty="0"/>
              <a:t>通过</a:t>
            </a:r>
            <a:r>
              <a:rPr lang="en-US" altLang="zh-CN" dirty="0"/>
              <a:t>PPO</a:t>
            </a:r>
            <a:r>
              <a:rPr lang="zh-CN" altLang="en-US" dirty="0"/>
              <a:t>调优机制增强规划器的流程编排能力，该机制由评分器提供的多维度领域特定反馈进行引导。</a:t>
            </a:r>
            <a:endParaRPr lang="en-US" altLang="zh-CN" dirty="0"/>
          </a:p>
          <a:p>
            <a:pPr eaLnBrk="1" hangingPunct="1">
              <a:spcBef>
                <a:spcPct val="0"/>
              </a:spcBef>
            </a:pPr>
            <a:r>
              <a:rPr lang="en-US" altLang="zh-CN" dirty="0"/>
              <a:t>V(</a:t>
            </a:r>
            <a:r>
              <a:rPr lang="en-US" altLang="zh-CN" dirty="0" err="1"/>
              <a:t>s_t</a:t>
            </a:r>
            <a:r>
              <a:rPr lang="en-US" altLang="zh-CN" dirty="0"/>
              <a:t>)</a:t>
            </a:r>
            <a:r>
              <a:rPr lang="zh-CN" altLang="en-US" dirty="0"/>
              <a:t>：模型对当前状态 </a:t>
            </a:r>
            <a:r>
              <a:rPr lang="en-US" altLang="zh-CN" dirty="0" err="1"/>
              <a:t>s_t</a:t>
            </a:r>
            <a:r>
              <a:rPr lang="en-US" altLang="zh-CN" dirty="0"/>
              <a:t> </a:t>
            </a:r>
            <a:r>
              <a:rPr lang="zh-CN" altLang="en-US" dirty="0"/>
              <a:t>的“估值”。也就是模型自以为能拿多少分。</a:t>
            </a:r>
            <a:endParaRPr lang="en-US" altLang="zh-CN" dirty="0"/>
          </a:p>
          <a:p>
            <a:pPr eaLnBrk="1" hangingPunct="1">
              <a:spcBef>
                <a:spcPct val="0"/>
              </a:spcBef>
            </a:pPr>
            <a:r>
              <a:rPr lang="en-US" altLang="zh-CN" dirty="0"/>
              <a:t>gamma (Discount Factor)</a:t>
            </a:r>
            <a:r>
              <a:rPr lang="zh-CN" altLang="en-US" dirty="0"/>
              <a:t>：折扣因子。代表我们对“未来奖励”的重视程度。越接近</a:t>
            </a:r>
            <a:r>
              <a:rPr lang="en-US" altLang="zh-CN" dirty="0"/>
              <a:t>1</a:t>
            </a:r>
            <a:r>
              <a:rPr lang="zh-CN" altLang="en-US" dirty="0"/>
              <a:t>，越看长远；越接近</a:t>
            </a:r>
            <a:r>
              <a:rPr lang="en-US" altLang="zh-CN" dirty="0"/>
              <a:t>0</a:t>
            </a:r>
            <a:r>
              <a:rPr lang="zh-CN" altLang="en-US" dirty="0"/>
              <a:t>，越看眼前。</a:t>
            </a:r>
            <a:endParaRPr lang="en-US" altLang="zh-CN" dirty="0"/>
          </a:p>
          <a:p>
            <a:pPr eaLnBrk="1" hangingPunct="1">
              <a:spcBef>
                <a:spcPct val="0"/>
              </a:spcBef>
            </a:pPr>
            <a:endParaRPr lang="en-US" altLang="zh-CN" dirty="0"/>
          </a:p>
          <a:p>
            <a:pPr eaLnBrk="1" hangingPunct="1">
              <a:spcBef>
                <a:spcPct val="0"/>
              </a:spcBef>
            </a:pPr>
            <a:r>
              <a:rPr lang="en-US" altLang="zh-CN" dirty="0"/>
              <a:t>lambda</a:t>
            </a:r>
            <a:r>
              <a:rPr lang="zh-CN" altLang="en-US" dirty="0"/>
              <a:t>：一个平滑参数。</a:t>
            </a:r>
            <a:endParaRPr lang="en-US" altLang="zh-CN" dirty="0"/>
          </a:p>
          <a:p>
            <a:pPr eaLnBrk="1" hangingPunct="1">
              <a:spcBef>
                <a:spcPct val="0"/>
              </a:spcBef>
            </a:pPr>
            <a:r>
              <a:rPr lang="en-US" altLang="zh-CN" dirty="0"/>
              <a:t>R(t)</a:t>
            </a:r>
            <a:r>
              <a:rPr lang="zh-CN" altLang="en-US" dirty="0"/>
              <a:t>表示策略比率，该比率反映当前迭代规划器与前次迭代规划器在基于提示生成工作流 </a:t>
            </a:r>
            <a:r>
              <a:rPr lang="en-US" altLang="zh-CN" dirty="0"/>
              <a:t>W(T) </a:t>
            </a:r>
            <a:r>
              <a:rPr lang="zh-CN" altLang="en-US" dirty="0"/>
              <a:t>过程中，生成每个令牌的似然比。</a:t>
            </a:r>
            <a:endParaRPr lang="en-US" altLang="zh-CN" dirty="0"/>
          </a:p>
          <a:p>
            <a:pPr eaLnBrk="1" hangingPunct="1">
              <a:spcBef>
                <a:spcPct val="0"/>
              </a:spcBef>
            </a:pPr>
            <a:r>
              <a:rPr lang="en-US" altLang="zh-CN" dirty="0" err="1"/>
              <a:t>Aˆt</a:t>
            </a:r>
            <a:r>
              <a:rPr lang="en-US" altLang="zh-CN" dirty="0"/>
              <a:t> </a:t>
            </a:r>
            <a:r>
              <a:rPr lang="zh-CN" altLang="en-US" dirty="0"/>
              <a:t>是优势估计值，由即时奖励 </a:t>
            </a:r>
            <a:r>
              <a:rPr lang="en-US" altLang="zh-CN" dirty="0"/>
              <a:t>rt </a:t>
            </a:r>
            <a:r>
              <a:rPr lang="zh-CN" altLang="en-US" dirty="0"/>
              <a:t>和状态价值函数 </a:t>
            </a:r>
            <a:r>
              <a:rPr lang="en-US" altLang="zh-CN" dirty="0"/>
              <a:t>V(</a:t>
            </a:r>
            <a:r>
              <a:rPr lang="en-US" altLang="zh-CN" dirty="0" err="1"/>
              <a:t>st</a:t>
            </a:r>
            <a:r>
              <a:rPr lang="en-US" altLang="zh-CN" dirty="0"/>
              <a:t>) </a:t>
            </a:r>
            <a:r>
              <a:rPr lang="zh-CN" altLang="en-US" dirty="0"/>
              <a:t>推导得出；</a:t>
            </a:r>
            <a:endParaRPr lang="en-US" altLang="zh-CN" dirty="0"/>
          </a:p>
          <a:p>
            <a:pPr eaLnBrk="1" hangingPunct="1">
              <a:spcBef>
                <a:spcPct val="0"/>
              </a:spcBef>
            </a:pPr>
            <a:r>
              <a:rPr lang="zh-CN" altLang="en-US" dirty="0"/>
              <a:t>评分器生成的句子级评分</a:t>
            </a:r>
            <a:r>
              <a:rPr lang="en-US" altLang="zh-CN" dirty="0"/>
              <a:t>S(T)</a:t>
            </a:r>
            <a:r>
              <a:rPr lang="zh-CN" altLang="en-US" dirty="0"/>
              <a:t>被赋予为最后一个词元的即时奖励，而新旧策略间的</a:t>
            </a:r>
            <a:r>
              <a:rPr lang="en-US" altLang="zh-CN" dirty="0"/>
              <a:t>KL</a:t>
            </a:r>
            <a:r>
              <a:rPr lang="zh-CN" altLang="en-US" dirty="0"/>
              <a:t>散度惩罚则用于调整其他词元的即时奖励；</a:t>
            </a:r>
            <a:endParaRPr lang="en-US" altLang="zh-CN" dirty="0"/>
          </a:p>
          <a:p>
            <a:pPr eaLnBrk="1" hangingPunct="1">
              <a:spcBef>
                <a:spcPct val="0"/>
              </a:spcBef>
            </a:pPr>
            <a:r>
              <a:rPr lang="zh-CN" altLang="en-US" dirty="0"/>
              <a:t>剪切函数与</a:t>
            </a:r>
            <a:r>
              <a:rPr lang="en-US" altLang="zh-CN" dirty="0"/>
              <a:t>ε</a:t>
            </a:r>
            <a:r>
              <a:rPr lang="zh-CN" altLang="en-US" dirty="0"/>
              <a:t>约束策略更新幅度，以确保训练稳定性</a:t>
            </a:r>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鉴于人工智能反馈可靠性的重要性，</a:t>
            </a:r>
            <a:r>
              <a:rPr lang="en-US" altLang="zh-CN" dirty="0" err="1"/>
              <a:t>FlowXpert</a:t>
            </a:r>
            <a:r>
              <a:rPr lang="zh-CN" altLang="en-US" dirty="0"/>
              <a:t>通过整合数据合成与</a:t>
            </a:r>
            <a:r>
              <a:rPr lang="en-US" altLang="zh-CN" dirty="0"/>
              <a:t>DPO</a:t>
            </a:r>
            <a:r>
              <a:rPr lang="zh-CN" altLang="en-US" dirty="0"/>
              <a:t>调优功能，强化了评分员的工作流程评估能力。</a:t>
            </a:r>
            <a:endParaRPr lang="en-US" altLang="zh-CN" dirty="0"/>
          </a:p>
          <a:p>
            <a:pPr eaLnBrk="1" hangingPunct="1">
              <a:spcBef>
                <a:spcPct val="0"/>
              </a:spcBef>
            </a:pPr>
            <a:r>
              <a:rPr lang="zh-CN" altLang="en-US" dirty="0"/>
              <a:t>步骤</a:t>
            </a:r>
            <a:r>
              <a:rPr lang="en-US" altLang="zh-CN" dirty="0"/>
              <a:t>1</a:t>
            </a:r>
            <a:r>
              <a:rPr lang="zh-CN" altLang="en-US" dirty="0"/>
              <a:t>：基于知识丰富度控制偏好的工作流对合成。</a:t>
            </a:r>
            <a:endParaRPr lang="en-US" altLang="zh-CN" dirty="0"/>
          </a:p>
          <a:p>
            <a:pPr eaLnBrk="1" hangingPunct="1">
              <a:spcBef>
                <a:spcPct val="0"/>
              </a:spcBef>
            </a:pPr>
            <a:r>
              <a:rPr lang="zh-CN" altLang="en-US" dirty="0"/>
              <a:t>我们通常认为工作流质量与关键步骤呈正相关，而关键步骤由上下文知识的丰富度决定。因此，我们为规划器提供三种上下文级别：完整且排序正确的建议、完整但排序颠倒的建议，以及无上下文。</a:t>
            </a:r>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𝑋 是整合查询与常规上下文知识的提示模板。𝑊</a:t>
            </a:r>
            <a:r>
              <a:rPr lang="en-US" altLang="zh-CN" dirty="0"/>
              <a:t>_</a:t>
            </a:r>
            <a:r>
              <a:rPr lang="zh-CN" altLang="en-US" dirty="0"/>
              <a:t>𝑎𝑐𝑐 和 𝑊</a:t>
            </a:r>
            <a:r>
              <a:rPr lang="en-US" altLang="zh-CN" dirty="0"/>
              <a:t>_</a:t>
            </a:r>
            <a:r>
              <a:rPr lang="zh-CN" altLang="en-US" dirty="0"/>
              <a:t>𝑟𝑒𝑗 分别表示每对 𝑃 中质量较高与质量较低的工作流。</a:t>
            </a:r>
            <a:endParaRPr lang="en-US" altLang="zh-CN" dirty="0"/>
          </a:p>
          <a:p>
            <a:pPr eaLnBrk="1" hangingPunct="1">
              <a:spcBef>
                <a:spcPct val="0"/>
              </a:spcBef>
            </a:pPr>
            <a:endParaRPr lang="en-US" altLang="zh-CN" dirty="0"/>
          </a:p>
          <a:p>
            <a:pPr eaLnBrk="1" hangingPunct="1">
              <a:spcBef>
                <a:spcPct val="0"/>
              </a:spcBef>
            </a:pPr>
            <a:r>
              <a:rPr lang="zh-CN" altLang="en-US" dirty="0"/>
              <a:t>缩放因子</a:t>
            </a:r>
            <a:r>
              <a:rPr lang="en-US" altLang="zh-CN" dirty="0"/>
              <a:t>β</a:t>
            </a:r>
            <a:r>
              <a:rPr lang="zh-CN" altLang="en-US" dirty="0"/>
              <a:t>用于衡量排序结果中的误差，并考虑了</a:t>
            </a:r>
            <a:r>
              <a:rPr lang="en-US" altLang="zh-CN" dirty="0"/>
              <a:t>KL</a:t>
            </a:r>
            <a:r>
              <a:rPr lang="zh-CN" altLang="en-US" dirty="0"/>
              <a:t>约束。</a:t>
            </a:r>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en-US" altLang="zh-CN" dirty="0"/>
              <a:t>• </a:t>
            </a:r>
            <a:r>
              <a:rPr lang="zh-CN" altLang="en-US" dirty="0"/>
              <a:t>研究问题</a:t>
            </a:r>
            <a:r>
              <a:rPr lang="en-US" altLang="zh-CN" dirty="0"/>
              <a:t>1</a:t>
            </a:r>
            <a:r>
              <a:rPr lang="zh-CN" altLang="en-US" dirty="0"/>
              <a:t>：如何评估操作领域中的工作流编排能力？</a:t>
            </a:r>
            <a:endParaRPr lang="en-US" altLang="zh-CN" dirty="0"/>
          </a:p>
          <a:p>
            <a:pPr eaLnBrk="1" hangingPunct="1">
              <a:spcBef>
                <a:spcPct val="0"/>
              </a:spcBef>
            </a:pPr>
            <a:r>
              <a:rPr lang="en-US" altLang="zh-CN" dirty="0"/>
              <a:t>• </a:t>
            </a:r>
            <a:r>
              <a:rPr lang="zh-CN" altLang="en-US" dirty="0"/>
              <a:t>研究问题</a:t>
            </a:r>
            <a:r>
              <a:rPr lang="en-US" altLang="zh-CN" dirty="0"/>
              <a:t>2</a:t>
            </a:r>
            <a:r>
              <a:rPr lang="zh-CN" altLang="en-US" dirty="0"/>
              <a:t>：</a:t>
            </a:r>
            <a:r>
              <a:rPr lang="en-US" altLang="zh-CN" dirty="0" err="1"/>
              <a:t>FlowXpert</a:t>
            </a:r>
            <a:r>
              <a:rPr lang="zh-CN" altLang="en-US" dirty="0"/>
              <a:t>的性能表现如何？</a:t>
            </a:r>
            <a:endParaRPr lang="en-US" altLang="zh-CN" dirty="0"/>
          </a:p>
          <a:p>
            <a:pPr eaLnBrk="1" hangingPunct="1">
              <a:spcBef>
                <a:spcPct val="0"/>
              </a:spcBef>
            </a:pPr>
            <a:r>
              <a:rPr lang="en-US" altLang="zh-CN" dirty="0"/>
              <a:t>• </a:t>
            </a:r>
            <a:r>
              <a:rPr lang="zh-CN" altLang="en-US" dirty="0"/>
              <a:t>研究问题</a:t>
            </a:r>
            <a:r>
              <a:rPr lang="en-US" altLang="zh-CN" dirty="0"/>
              <a:t>3</a:t>
            </a:r>
            <a:r>
              <a:rPr lang="zh-CN" altLang="en-US" dirty="0"/>
              <a:t>：每个组件是否都为</a:t>
            </a:r>
            <a:r>
              <a:rPr lang="en-US" altLang="zh-CN" dirty="0" err="1"/>
              <a:t>FlowXpert</a:t>
            </a:r>
            <a:r>
              <a:rPr lang="zh-CN" altLang="en-US" dirty="0"/>
              <a:t>做出了贡献？</a:t>
            </a:r>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数据集：</a:t>
            </a:r>
            <a:r>
              <a:rPr lang="en-US" altLang="zh-CN" dirty="0" err="1"/>
              <a:t>OpsFlowBench</a:t>
            </a:r>
            <a:r>
              <a:rPr lang="zh-CN" altLang="en-US" dirty="0"/>
              <a:t>。为解决工作流规划故障排除领域缺乏任务特定基准测试的问题，我们构建了</a:t>
            </a:r>
            <a:r>
              <a:rPr lang="en-US" altLang="zh-CN" dirty="0" err="1"/>
              <a:t>OpsFlowBench</a:t>
            </a:r>
            <a:r>
              <a:rPr lang="zh-CN" altLang="en-US" dirty="0"/>
              <a:t>数据集，该数据集源自华为云数据中心交换机操作文档。该数据集的构建遵循多阶段流程：首先通过</a:t>
            </a:r>
            <a:r>
              <a:rPr lang="en-US" altLang="zh-CN" dirty="0"/>
              <a:t>GPT-4o</a:t>
            </a:r>
            <a:r>
              <a:rPr lang="zh-CN" altLang="en-US" dirty="0"/>
              <a:t>生成初始工作流，随后由三名专注于</a:t>
            </a:r>
            <a:r>
              <a:rPr lang="en-US" altLang="zh-CN" dirty="0"/>
              <a:t>IT</a:t>
            </a:r>
            <a:r>
              <a:rPr lang="zh-CN" altLang="en-US" dirty="0"/>
              <a:t>运维人工智能（</a:t>
            </a:r>
            <a:r>
              <a:rPr lang="en-US" altLang="zh-CN" dirty="0"/>
              <a:t>AIOps</a:t>
            </a:r>
            <a:r>
              <a:rPr lang="zh-CN" altLang="en-US" dirty="0"/>
              <a:t>）的研究生研究员团队及华为云资深技术专家进行人工优化与验证。</a:t>
            </a:r>
            <a:endParaRPr lang="en-US" altLang="zh-CN" dirty="0"/>
          </a:p>
          <a:p>
            <a:pPr eaLnBrk="1" hangingPunct="1">
              <a:spcBef>
                <a:spcPct val="0"/>
              </a:spcBef>
            </a:pPr>
            <a:r>
              <a:rPr lang="zh-CN" altLang="en-US" dirty="0"/>
              <a:t>具体而言，生成的流程和参考流程分别被解析为关键步骤集</a:t>
            </a:r>
            <a:r>
              <a:rPr lang="en-US" altLang="zh-CN" dirty="0"/>
              <a:t>Sg</a:t>
            </a:r>
            <a:r>
              <a:rPr lang="zh-CN" altLang="en-US" dirty="0"/>
              <a:t>和</a:t>
            </a:r>
            <a:r>
              <a:rPr lang="en-US" altLang="zh-CN" dirty="0"/>
              <a:t>Sr</a:t>
            </a:r>
            <a:r>
              <a:rPr lang="zh-CN" altLang="en-US" dirty="0"/>
              <a:t>。</a:t>
            </a:r>
            <a:r>
              <a:rPr lang="en-US" altLang="zh-CN" dirty="0"/>
              <a:t>(1) </a:t>
            </a:r>
            <a:r>
              <a:rPr lang="zh-CN" altLang="en-US" dirty="0"/>
              <a:t>对于</a:t>
            </a:r>
            <a:r>
              <a:rPr lang="en-US" altLang="zh-CN" dirty="0"/>
              <a:t>Sg</a:t>
            </a:r>
            <a:r>
              <a:rPr lang="zh-CN" altLang="en-US" dirty="0"/>
              <a:t>中的每个步骤</a:t>
            </a:r>
            <a:r>
              <a:rPr lang="en-US" altLang="zh-CN" dirty="0" err="1"/>
              <a:t>si</a:t>
            </a:r>
            <a:r>
              <a:rPr lang="zh-CN" altLang="en-US" dirty="0"/>
              <a:t>，我们计算其与</a:t>
            </a:r>
            <a:r>
              <a:rPr lang="en-US" altLang="zh-CN" dirty="0"/>
              <a:t>Sr</a:t>
            </a:r>
            <a:r>
              <a:rPr lang="zh-CN" altLang="en-US" dirty="0"/>
              <a:t>中所有步骤的最大余弦相似度，记为</a:t>
            </a:r>
            <a:r>
              <a:rPr lang="en-US" altLang="zh-CN" dirty="0"/>
              <a:t>pi</a:t>
            </a:r>
            <a:r>
              <a:rPr lang="zh-CN" altLang="en-US" dirty="0"/>
              <a:t>。</a:t>
            </a:r>
            <a:r>
              <a:rPr lang="en-US" altLang="zh-CN" dirty="0"/>
              <a:t>pi</a:t>
            </a:r>
            <a:r>
              <a:rPr lang="zh-CN" altLang="en-US" dirty="0"/>
              <a:t>的平均值定义了流程的精度，反映生成的步骤与标准步骤的匹配程度。精确率 </a:t>
            </a:r>
            <a:r>
              <a:rPr lang="en-US" altLang="zh-CN" dirty="0"/>
              <a:t>= 1 |Sg| ∩ </a:t>
            </a:r>
            <a:r>
              <a:rPr lang="en-US" altLang="zh-CN" dirty="0" err="1"/>
              <a:t>si</a:t>
            </a:r>
            <a:r>
              <a:rPr lang="en-US" altLang="zh-CN" dirty="0"/>
              <a:t> ∈Sg </a:t>
            </a:r>
            <a:r>
              <a:rPr lang="en-US" altLang="zh-CN" dirty="0" err="1"/>
              <a:t>maxsj</a:t>
            </a:r>
            <a:r>
              <a:rPr lang="en-US" altLang="zh-CN" dirty="0"/>
              <a:t> ∈Sr cos(E(</a:t>
            </a:r>
            <a:r>
              <a:rPr lang="en-US" altLang="zh-CN" dirty="0" err="1"/>
              <a:t>si</a:t>
            </a:r>
            <a:r>
              <a:rPr lang="en-US" altLang="zh-CN" dirty="0"/>
              <a:t>),E(s j)) (2) </a:t>
            </a:r>
            <a:r>
              <a:rPr lang="zh-CN" altLang="en-US" dirty="0"/>
              <a:t>对于</a:t>
            </a:r>
            <a:r>
              <a:rPr lang="en-US" altLang="zh-CN" dirty="0"/>
              <a:t>Sr</a:t>
            </a:r>
            <a:r>
              <a:rPr lang="zh-CN" altLang="en-US" dirty="0"/>
              <a:t>中的每个步骤</a:t>
            </a:r>
            <a:r>
              <a:rPr lang="en-US" altLang="zh-CN" dirty="0" err="1"/>
              <a:t>s_j</a:t>
            </a:r>
            <a:r>
              <a:rPr lang="zh-CN" altLang="en-US" dirty="0"/>
              <a:t>，计算其与</a:t>
            </a:r>
            <a:r>
              <a:rPr lang="en-US" altLang="zh-CN" dirty="0"/>
              <a:t>Sg</a:t>
            </a:r>
            <a:r>
              <a:rPr lang="zh-CN" altLang="en-US" dirty="0"/>
              <a:t>中所有步骤的最大余弦相似度，记为</a:t>
            </a:r>
            <a:r>
              <a:rPr lang="en-US" altLang="zh-CN" dirty="0" err="1"/>
              <a:t>p_j</a:t>
            </a:r>
            <a:r>
              <a:rPr lang="zh-CN" altLang="en-US" dirty="0"/>
              <a:t>。</a:t>
            </a:r>
            <a:r>
              <a:rPr lang="en-US" altLang="zh-CN" dirty="0" err="1"/>
              <a:t>p_j</a:t>
            </a:r>
            <a:r>
              <a:rPr lang="zh-CN" altLang="en-US" dirty="0"/>
              <a:t>的平均值定义工作流的召回率，反映标准步骤在生成的步骤中被检索的完整性。召回率</a:t>
            </a:r>
            <a:r>
              <a:rPr lang="en-US" altLang="zh-CN" dirty="0"/>
              <a:t>= 1 |Sr| ∑_(</a:t>
            </a:r>
            <a:r>
              <a:rPr lang="en-US" altLang="zh-CN" dirty="0" err="1"/>
              <a:t>s_j∈Sr</a:t>
            </a:r>
            <a:r>
              <a:rPr lang="en-US" altLang="zh-CN" dirty="0"/>
              <a:t>) max_(</a:t>
            </a:r>
            <a:r>
              <a:rPr lang="en-US" altLang="zh-CN" dirty="0" err="1"/>
              <a:t>s_i∈Sg</a:t>
            </a:r>
            <a:r>
              <a:rPr lang="en-US" altLang="zh-CN" dirty="0"/>
              <a:t>) cos(E(</a:t>
            </a:r>
            <a:r>
              <a:rPr lang="en-US" altLang="zh-CN" dirty="0" err="1"/>
              <a:t>s_i</a:t>
            </a:r>
            <a:r>
              <a:rPr lang="en-US" altLang="zh-CN" dirty="0"/>
              <a:t>),E(</a:t>
            </a:r>
            <a:r>
              <a:rPr lang="en-US" altLang="zh-CN" dirty="0" err="1"/>
              <a:t>s_j</a:t>
            </a:r>
            <a:r>
              <a:rPr lang="en-US" altLang="zh-CN" dirty="0"/>
              <a:t>))</a:t>
            </a:r>
            <a:r>
              <a:rPr lang="zh-CN" altLang="en-US" dirty="0"/>
              <a:t>。</a:t>
            </a:r>
            <a:endParaRPr lang="en-US" altLang="zh-CN" dirty="0"/>
          </a:p>
          <a:p>
            <a:pPr eaLnBrk="1" hangingPunct="1">
              <a:spcBef>
                <a:spcPct val="0"/>
              </a:spcBef>
            </a:pPr>
            <a:endParaRPr lang="zh-CN" altLang="en-US" dirty="0"/>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marL="0" marR="0" lvl="0" indent="0" algn="l" defTabSz="685800" rtl="0" eaLnBrk="1" fontAlgn="auto" latinLnBrk="0" hangingPunct="1">
              <a:lnSpc>
                <a:spcPct val="100000"/>
              </a:lnSpc>
              <a:spcBef>
                <a:spcPct val="0"/>
              </a:spcBef>
              <a:spcAft>
                <a:spcPts val="0"/>
              </a:spcAft>
              <a:buClrTx/>
              <a:buSzTx/>
              <a:buFontTx/>
              <a:buNone/>
              <a:defRPr/>
            </a:pPr>
            <a:endParaRPr lang="zh-CN" altLang="en-US" dirty="0"/>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marL="0" marR="0" lvl="0" indent="0" algn="l" defTabSz="685800" rtl="0" eaLnBrk="1" fontAlgn="auto" latinLnBrk="0" hangingPunct="1">
              <a:lnSpc>
                <a:spcPct val="100000"/>
              </a:lnSpc>
              <a:spcBef>
                <a:spcPct val="0"/>
              </a:spcBef>
              <a:spcAft>
                <a:spcPts val="0"/>
              </a:spcAft>
              <a:buClrTx/>
              <a:buSzTx/>
              <a:buFontTx/>
              <a:buNone/>
              <a:defRPr/>
            </a:pPr>
            <a:r>
              <a:rPr lang="zh-CN" altLang="en-US" dirty="0"/>
              <a:t>综合知识库的重要性（</a:t>
            </a:r>
            <a:r>
              <a:rPr lang="en-US" altLang="zh-CN" dirty="0"/>
              <a:t>A1</a:t>
            </a:r>
            <a:r>
              <a:rPr lang="zh-CN" altLang="en-US" dirty="0"/>
              <a:t>、</a:t>
            </a:r>
            <a:r>
              <a:rPr lang="en-US" altLang="zh-CN" dirty="0"/>
              <a:t>A2</a:t>
            </a:r>
            <a:r>
              <a:rPr lang="zh-CN" altLang="en-US" dirty="0"/>
              <a:t>、</a:t>
            </a:r>
            <a:r>
              <a:rPr lang="en-US" altLang="zh-CN" dirty="0"/>
              <a:t>A3</a:t>
            </a:r>
            <a:r>
              <a:rPr lang="zh-CN" altLang="en-US" dirty="0"/>
              <a:t>）。协同进化的有效性（</a:t>
            </a:r>
            <a:r>
              <a:rPr lang="en-US" altLang="zh-CN" dirty="0"/>
              <a:t>B1</a:t>
            </a:r>
            <a:r>
              <a:rPr lang="zh-CN" altLang="en-US" dirty="0"/>
              <a:t>、</a:t>
            </a:r>
            <a:r>
              <a:rPr lang="en-US" altLang="zh-CN" dirty="0"/>
              <a:t>B2</a:t>
            </a:r>
            <a:r>
              <a:rPr lang="zh-CN" altLang="en-US" dirty="0"/>
              <a:t>）。</a:t>
            </a:r>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marL="0" marR="0" lvl="0" indent="0" algn="l" defTabSz="685800" rtl="0" eaLnBrk="1" fontAlgn="auto" latinLnBrk="0" hangingPunct="1">
              <a:lnSpc>
                <a:spcPct val="100000"/>
              </a:lnSpc>
              <a:spcBef>
                <a:spcPct val="0"/>
              </a:spcBef>
              <a:spcAft>
                <a:spcPts val="0"/>
              </a:spcAft>
              <a:buClrTx/>
              <a:buSzTx/>
              <a:buFontTx/>
              <a:buNone/>
              <a:defRPr/>
            </a:pPr>
            <a:r>
              <a:rPr lang="zh-CN" altLang="en-US" dirty="0"/>
              <a:t>进行了在线部署，有效性和效率。</a:t>
            </a:r>
            <a:endParaRPr lang="en-US" altLang="zh-CN" dirty="0"/>
          </a:p>
          <a:p>
            <a:pPr marL="0" marR="0" lvl="0" indent="0" algn="l" defTabSz="685800" rtl="0" eaLnBrk="1" fontAlgn="auto" latinLnBrk="0" hangingPunct="1">
              <a:lnSpc>
                <a:spcPct val="100000"/>
              </a:lnSpc>
              <a:spcBef>
                <a:spcPct val="0"/>
              </a:spcBef>
              <a:spcAft>
                <a:spcPts val="0"/>
              </a:spcAft>
              <a:buClrTx/>
              <a:buSzTx/>
              <a:buFontTx/>
              <a:buNone/>
              <a:defRPr/>
            </a:pPr>
            <a:endParaRPr lang="en-US" altLang="zh-CN" dirty="0"/>
          </a:p>
          <a:p>
            <a:pPr marL="0" marR="0" lvl="0" indent="0" algn="l" defTabSz="685800" rtl="0" eaLnBrk="1" fontAlgn="auto" latinLnBrk="0" hangingPunct="1">
              <a:lnSpc>
                <a:spcPct val="100000"/>
              </a:lnSpc>
              <a:spcBef>
                <a:spcPct val="0"/>
              </a:spcBef>
              <a:spcAft>
                <a:spcPts val="0"/>
              </a:spcAft>
              <a:buClrTx/>
              <a:buSzTx/>
              <a:buFontTx/>
              <a:buNone/>
              <a:defRPr/>
            </a:pPr>
            <a:r>
              <a:rPr lang="zh-CN" altLang="en-US" dirty="0"/>
              <a:t>有效性：如图</a:t>
            </a:r>
            <a:r>
              <a:rPr lang="en-US" altLang="zh-CN" dirty="0"/>
              <a:t>5</a:t>
            </a:r>
            <a:r>
              <a:rPr lang="zh-CN" altLang="en-US" dirty="0"/>
              <a:t>所示，大约</a:t>
            </a:r>
            <a:r>
              <a:rPr lang="en-US" altLang="zh-CN" dirty="0"/>
              <a:t>80%</a:t>
            </a:r>
            <a:r>
              <a:rPr lang="zh-CN" altLang="en-US" dirty="0"/>
              <a:t>的工作流有效地指导了</a:t>
            </a:r>
            <a:r>
              <a:rPr lang="en-US" altLang="zh-CN" dirty="0"/>
              <a:t>OCE</a:t>
            </a:r>
            <a:r>
              <a:rPr lang="zh-CN" altLang="en-US" dirty="0"/>
              <a:t>逐步进行事件管理。这些发现表明，</a:t>
            </a:r>
            <a:r>
              <a:rPr lang="en-US" altLang="zh-CN" dirty="0" err="1"/>
              <a:t>FlowXpert</a:t>
            </a:r>
            <a:r>
              <a:rPr lang="zh-CN" altLang="en-US" dirty="0"/>
              <a:t>能够编排在实际部署中有用的高质量工作流。</a:t>
            </a:r>
            <a:endParaRPr lang="en-US" altLang="zh-CN" dirty="0"/>
          </a:p>
          <a:p>
            <a:pPr marL="0" marR="0" lvl="0" indent="0" algn="l" defTabSz="685800" rtl="0" eaLnBrk="1" fontAlgn="auto" latinLnBrk="0" hangingPunct="1">
              <a:lnSpc>
                <a:spcPct val="100000"/>
              </a:lnSpc>
              <a:spcBef>
                <a:spcPct val="0"/>
              </a:spcBef>
              <a:spcAft>
                <a:spcPts val="0"/>
              </a:spcAft>
              <a:buClrTx/>
              <a:buSzTx/>
              <a:buFontTx/>
              <a:buNone/>
              <a:defRPr/>
            </a:pPr>
            <a:r>
              <a:rPr lang="zh-CN" altLang="en-US" dirty="0"/>
              <a:t>效率：</a:t>
            </a:r>
            <a:r>
              <a:rPr lang="en-US" altLang="zh-CN" dirty="0"/>
              <a:t>7h</a:t>
            </a:r>
            <a:r>
              <a:rPr lang="zh-CN" altLang="en-US" dirty="0"/>
              <a:t>变成</a:t>
            </a:r>
            <a:r>
              <a:rPr lang="en-US" altLang="zh-CN" dirty="0"/>
              <a:t>22.1s</a:t>
            </a:r>
            <a:endParaRPr lang="zh-CN" altLang="en-US" dirty="0"/>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r>
              <a:rPr lang="zh-CN" altLang="en-US" dirty="0"/>
              <a:t>如图</a:t>
            </a:r>
            <a:r>
              <a:rPr lang="en-US" altLang="zh-CN" dirty="0"/>
              <a:t>6</a:t>
            </a:r>
            <a:r>
              <a:rPr lang="zh-CN" altLang="en-US" dirty="0"/>
              <a:t>所示，当事件触发时，</a:t>
            </a:r>
            <a:r>
              <a:rPr lang="en-US" altLang="zh-CN" dirty="0" err="1"/>
              <a:t>FlowXpert</a:t>
            </a:r>
            <a:r>
              <a:rPr lang="zh-CN" altLang="en-US" dirty="0"/>
              <a:t>会组织故障排除工作流。经过</a:t>
            </a:r>
            <a:r>
              <a:rPr lang="en-US" altLang="zh-CN" dirty="0"/>
              <a:t>OCEs</a:t>
            </a:r>
            <a:r>
              <a:rPr lang="zh-CN" altLang="en-US" dirty="0"/>
              <a:t>的简单验证和优化后，执行器依次执行每个步骤：在“处理”步骤中，执行器进行意图识别、参数提取和工具调用；在“决策”步骤中，执行器进行逻辑推理和状态转换判断。执行器整合中间响应并输出分析结果。本案例表明，通过部署的</a:t>
            </a:r>
            <a:r>
              <a:rPr lang="en-US" altLang="zh-CN" dirty="0" err="1"/>
              <a:t>FlowXpert</a:t>
            </a:r>
            <a:r>
              <a:rPr lang="zh-CN" altLang="en-US" dirty="0"/>
              <a:t>工作流，自主执行器能在生产环境中高效完成故障排查分析。</a:t>
            </a:r>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92802-AFED-C594-9086-783E807E8F05}"/>
            </a:ext>
          </a:extLst>
        </p:cNvPr>
        <p:cNvGrpSpPr/>
        <p:nvPr/>
      </p:nvGrpSpPr>
      <p:grpSpPr>
        <a:xfrm>
          <a:off x="0" y="0"/>
          <a:ext cx="0" cy="0"/>
          <a:chOff x="0" y="0"/>
          <a:chExt cx="0" cy="0"/>
        </a:xfrm>
      </p:grpSpPr>
      <p:sp>
        <p:nvSpPr>
          <p:cNvPr id="37890" name="幻灯片图像占位符 1">
            <a:extLst>
              <a:ext uri="{FF2B5EF4-FFF2-40B4-BE49-F238E27FC236}">
                <a16:creationId xmlns:a16="http://schemas.microsoft.com/office/drawing/2014/main" id="{72829C99-1EC9-1E09-9138-78D97792DBB0}"/>
              </a:ext>
            </a:extLst>
          </p:cNvPr>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7891" name="备注占位符 2">
            <a:extLst>
              <a:ext uri="{FF2B5EF4-FFF2-40B4-BE49-F238E27FC236}">
                <a16:creationId xmlns:a16="http://schemas.microsoft.com/office/drawing/2014/main" id="{59BFB510-A288-BD41-3B88-00DC91CA1B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dirty="0"/>
          </a:p>
        </p:txBody>
      </p:sp>
      <p:sp>
        <p:nvSpPr>
          <p:cNvPr id="37892" name="灯片编号占位符 3">
            <a:extLst>
              <a:ext uri="{FF2B5EF4-FFF2-40B4-BE49-F238E27FC236}">
                <a16:creationId xmlns:a16="http://schemas.microsoft.com/office/drawing/2014/main" id="{9D1F77FA-4119-2336-3491-FD1D5F2D6CE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6</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36236554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499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849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rPr>
              <a:t>29</a:t>
            </a:r>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spTree>
      <p:nvGrpSpPr>
        <p:cNvPr id="1" name=""/>
        <p:cNvGrpSpPr/>
        <p:nvPr/>
      </p:nvGrpSpPr>
      <p:grpSpPr>
        <a:xfrm>
          <a:off x="0" y="0"/>
          <a:ext cx="0" cy="0"/>
          <a:chOff x="0" y="0"/>
          <a:chExt cx="0" cy="0"/>
        </a:xfrm>
      </p:grpSpPr>
      <p:pic>
        <p:nvPicPr>
          <p:cNvPr id="4" name="图片 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1619"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Text Placeholder 2"/>
          <p:cNvSpPr>
            <a:spLocks noGrp="1"/>
          </p:cNvSpPr>
          <p:nvPr>
            <p:ph type="subTitle" idx="1"/>
          </p:nvPr>
        </p:nvSpPr>
        <p:spPr>
          <a:xfrm>
            <a:off x="3452812" y="2878932"/>
            <a:ext cx="2947988" cy="273844"/>
          </a:xfrm>
          <a:prstGeom prst="rect">
            <a:avLst/>
          </a:prstGeom>
          <a:noFill/>
          <a:ln w="9525">
            <a:noFill/>
            <a:miter/>
          </a:ln>
        </p:spPr>
        <p:txBody>
          <a:bodyPr anchor="t"/>
          <a:lstStyle>
            <a:lvl1pPr marL="64135" lvl="0" indent="-64135" algn="ctr">
              <a:buNone/>
              <a:defRPr sz="1350" kern="1200">
                <a:solidFill>
                  <a:srgbClr val="6C6F72"/>
                </a:solidFill>
              </a:defRPr>
            </a:lvl1pPr>
            <a:lvl2pPr marL="0" lvl="1" indent="0" algn="ctr">
              <a:buNone/>
              <a:defRPr sz="1350" kern="1200">
                <a:solidFill>
                  <a:srgbClr val="6C6F72"/>
                </a:solidFill>
              </a:defRPr>
            </a:lvl2pPr>
            <a:lvl3pPr marL="685800" lvl="2" indent="-685800" algn="ctr">
              <a:buNone/>
              <a:defRPr sz="1350" kern="1200">
                <a:solidFill>
                  <a:srgbClr val="6C6F72"/>
                </a:solidFill>
              </a:defRPr>
            </a:lvl3pPr>
            <a:lvl4pPr marL="1028700" lvl="3" indent="-1028700" algn="ctr">
              <a:buNone/>
              <a:defRPr sz="1350" kern="1200">
                <a:solidFill>
                  <a:srgbClr val="6C6F72"/>
                </a:solidFill>
              </a:defRPr>
            </a:lvl4pPr>
            <a:lvl5pPr marL="1371600" lvl="4" indent="-1371600" algn="ctr">
              <a:buNone/>
              <a:defRPr sz="1350" kern="1200">
                <a:solidFill>
                  <a:srgbClr val="6C6F72"/>
                </a:solidFill>
              </a:defRPr>
            </a:lvl5pPr>
          </a:lstStyle>
          <a:p>
            <a:pPr lvl="0"/>
            <a:r>
              <a:rPr lang="zh-CN" altLang="en-US" dirty="0"/>
              <a:t>单击此处编辑母版副标题样式</a:t>
            </a:r>
          </a:p>
        </p:txBody>
      </p:sp>
      <p:sp>
        <p:nvSpPr>
          <p:cNvPr id="11273" name="Title Placeholder 1"/>
          <p:cNvSpPr>
            <a:spLocks noGrp="1"/>
          </p:cNvSpPr>
          <p:nvPr>
            <p:ph type="ctrTitle"/>
          </p:nvPr>
        </p:nvSpPr>
        <p:spPr>
          <a:xfrm>
            <a:off x="3440907" y="1431132"/>
            <a:ext cx="2961085" cy="1373981"/>
          </a:xfrm>
          <a:prstGeom prst="rect">
            <a:avLst/>
          </a:prstGeom>
          <a:noFill/>
          <a:ln w="9525">
            <a:noFill/>
            <a:miter/>
          </a:ln>
        </p:spPr>
        <p:txBody>
          <a:bodyPr anchor="b"/>
          <a:lstStyle>
            <a:lvl1pPr lvl="0" algn="ctr">
              <a:lnSpc>
                <a:spcPct val="110000"/>
              </a:lnSpc>
              <a:defRPr sz="2700" kern="1200"/>
            </a:lvl1pPr>
          </a:lstStyle>
          <a:p>
            <a:pPr lvl="0"/>
            <a:r>
              <a:rPr lang="zh-CN" altLang="en-US" dirty="0"/>
              <a:t>单击此处编辑母版标题样式</a:t>
            </a:r>
          </a:p>
        </p:txBody>
      </p:sp>
      <p:sp>
        <p:nvSpPr>
          <p:cNvPr id="5" name="Date Placeholder 3"/>
          <p:cNvSpPr>
            <a:spLocks noGrp="1"/>
          </p:cNvSpPr>
          <p:nvPr>
            <p:ph type="dt" sz="half" idx="10"/>
          </p:nvPr>
        </p:nvSpPr>
        <p:spPr>
          <a:xfrm>
            <a:off x="457200" y="4683919"/>
            <a:ext cx="2133600" cy="357188"/>
          </a:xfrm>
        </p:spPr>
        <p:txBody>
          <a:bodyPr rtlCol="0"/>
          <a:lstStyle>
            <a:lvl1pPr algn="l" fontAlgn="auto">
              <a:spcBef>
                <a:spcPts val="0"/>
              </a:spcBef>
              <a:spcAft>
                <a:spcPts val="0"/>
              </a:spcAft>
              <a:defRPr sz="900">
                <a:solidFill>
                  <a:schemeClr val="bg1">
                    <a:lumMod val="65000"/>
                  </a:schemeClr>
                </a:solidFill>
                <a:latin typeface="+mn-lt"/>
                <a:ea typeface="+mn-ea"/>
              </a:defRPr>
            </a:lvl1pPr>
          </a:lstStyle>
          <a:p>
            <a:pPr>
              <a:defRPr/>
            </a:pPr>
            <a:fld id="{3635A771-F006-476C-801A-C0C821B8BC29}" type="datetimeFigureOut">
              <a:rPr lang="zh-CN" altLang="en-US"/>
              <a:t>2026/3/8</a:t>
            </a:fld>
            <a:endParaRPr lang="zh-CN" altLang="en-US"/>
          </a:p>
        </p:txBody>
      </p:sp>
      <p:sp>
        <p:nvSpPr>
          <p:cNvPr id="6" name="Footer Placeholder 4"/>
          <p:cNvSpPr>
            <a:spLocks noGrp="1"/>
          </p:cNvSpPr>
          <p:nvPr>
            <p:ph type="ftr" sz="quarter" idx="11"/>
          </p:nvPr>
        </p:nvSpPr>
        <p:spPr>
          <a:xfrm>
            <a:off x="3124200" y="4683919"/>
            <a:ext cx="2895600" cy="357188"/>
          </a:xfrm>
        </p:spPr>
        <p:txBody>
          <a:bodyPr/>
          <a:lstStyle>
            <a:lvl1pPr algn="l">
              <a:defRPr sz="1350">
                <a:solidFill>
                  <a:schemeClr val="tx1"/>
                </a:solidFill>
              </a:defRPr>
            </a:lvl1pPr>
          </a:lstStyle>
          <a:p>
            <a:pPr>
              <a:defRPr/>
            </a:pPr>
            <a:endParaRPr lang="zh-CN" altLang="en-US"/>
          </a:p>
        </p:txBody>
      </p:sp>
      <p:sp>
        <p:nvSpPr>
          <p:cNvPr id="7" name="Slide Number Placeholder 5"/>
          <p:cNvSpPr>
            <a:spLocks noGrp="1"/>
          </p:cNvSpPr>
          <p:nvPr>
            <p:ph type="sldNum" sz="quarter" idx="12"/>
          </p:nvPr>
        </p:nvSpPr>
        <p:spPr>
          <a:xfrm>
            <a:off x="6553200" y="4683919"/>
            <a:ext cx="2133600" cy="357188"/>
          </a:xfrm>
        </p:spPr>
        <p:txBody>
          <a:bodyPr/>
          <a:lstStyle>
            <a:lvl1pPr>
              <a:defRPr/>
            </a:lvl1pPr>
          </a:lstStyle>
          <a:p>
            <a:pPr>
              <a:defRPr/>
            </a:pPr>
            <a:fld id="{F7EAFFE3-5D96-4A57-AFB6-87EC306C7F51}" type="slidenum">
              <a:rPr lang="zh-CN" altLang="en-US"/>
              <a:t>‹#›</a:t>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523876" y="981076"/>
            <a:ext cx="8061722" cy="3650456"/>
          </a:xfrm>
          <a:prstGeom prst="rect">
            <a:avLst/>
          </a:prstGeom>
        </p:spPr>
        <p:txBody>
          <a:bodyPr/>
          <a:lstStyle/>
          <a:p>
            <a:pPr lvl="0"/>
            <a:r>
              <a:rPr lang="zh-CN" altLang="en-US"/>
              <a:t>单击此处编辑母版文本样式</a:t>
            </a:r>
          </a:p>
          <a:p>
            <a:pPr lvl="1"/>
            <a:r>
              <a:rPr lang="zh-CN" altLang="en-US"/>
              <a:t>第二级</a:t>
            </a:r>
          </a:p>
        </p:txBody>
      </p:sp>
      <p:sp>
        <p:nvSpPr>
          <p:cNvPr id="4" name="日期占位符 3"/>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BB0F55AF-7C8C-434F-9EEF-80DA5D25AB8D}" type="datetimeFigureOut">
              <a:rPr lang="zh-CN" altLang="en-US"/>
              <a:t>2026/3/8</a:t>
            </a:fld>
            <a:endParaRPr lang="zh-CN" altLang="en-US"/>
          </a:p>
        </p:txBody>
      </p:sp>
      <p:sp>
        <p:nvSpPr>
          <p:cNvPr id="5" name="页脚占位符 4"/>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3A84667-012C-4ACA-9A7F-F89290D317DF}" type="slidenum">
              <a:rPr lang="zh-CN" altLang="en-US"/>
              <a:t>‹#›</a:t>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6"/>
            <a:ext cx="7886700" cy="2139553"/>
          </a:xfrm>
          <a:prstGeom prst="rect">
            <a:avLst/>
          </a:prstGeom>
        </p:spPr>
        <p:txBody>
          <a:bodyPr anchor="b"/>
          <a:lstStyle>
            <a:lvl1pPr>
              <a:defRPr sz="4500">
                <a:solidFill>
                  <a:schemeClr val="bg1">
                    <a:lumMod val="50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9"/>
            <a:ext cx="7886700" cy="1125140"/>
          </a:xfrm>
          <a:prstGeom prst="rect">
            <a:avLst/>
          </a:prstGeom>
        </p:spPr>
        <p:txBody>
          <a:bodyPr/>
          <a:lstStyle>
            <a:lvl1pPr marL="0" indent="0">
              <a:buNone/>
              <a:defRPr sz="1800">
                <a:solidFill>
                  <a:schemeClr val="bg1">
                    <a:lumMod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rtlCol="0"/>
          <a:lstStyle>
            <a:lvl1pPr fontAlgn="auto">
              <a:spcBef>
                <a:spcPts val="0"/>
              </a:spcBef>
              <a:spcAft>
                <a:spcPts val="0"/>
              </a:spcAft>
              <a:defRPr>
                <a:solidFill>
                  <a:schemeClr val="tx1">
                    <a:tint val="75000"/>
                  </a:schemeClr>
                </a:solidFill>
                <a:latin typeface="+mn-lt"/>
                <a:ea typeface="+mn-ea"/>
              </a:defRPr>
            </a:lvl1pPr>
          </a:lstStyle>
          <a:p>
            <a:pPr>
              <a:defRPr/>
            </a:pPr>
            <a:fld id="{E95C96BA-32C1-4655-9C97-C23405013FD0}" type="datetimeFigureOut">
              <a:rPr lang="zh-CN" altLang="en-US"/>
              <a:t>2026/3/8</a:t>
            </a:fld>
            <a:endParaRPr lang="zh-CN" altLang="en-US"/>
          </a:p>
        </p:txBody>
      </p:sp>
      <p:sp>
        <p:nvSpPr>
          <p:cNvPr id="5" name="页脚占位符 4"/>
          <p:cNvSpPr>
            <a:spLocks noGrp="1"/>
          </p:cNvSpPr>
          <p:nvPr>
            <p:ph type="ftr" sz="quarter" idx="11"/>
          </p:nvPr>
        </p:nvSpPr>
        <p:spPr/>
        <p:txBody>
          <a:bodyPr/>
          <a:lstStyle>
            <a:lvl1pPr>
              <a:defRPr>
                <a:solidFill>
                  <a:srgbClr val="919293"/>
                </a:solidFill>
                <a:latin typeface="Calibri" panose="020F0502020204030204" pitchFamily="34" charset="0"/>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solidFill>
                  <a:srgbClr val="898989"/>
                </a:solidFill>
              </a:defRPr>
            </a:lvl1pPr>
          </a:lstStyle>
          <a:p>
            <a:pPr>
              <a:defRPr/>
            </a:pPr>
            <a:fld id="{5636C0A8-69B2-4071-870C-FCD8DDD95144}" type="slidenum">
              <a:rPr lang="zh-CN" altLang="en-US"/>
              <a:t>‹#›</a:t>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日期占位符 4"/>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93A40236-AF37-4727-9512-DA66FB42B0DE}" type="datetimeFigureOut">
              <a:rPr lang="zh-CN" altLang="en-US"/>
              <a:t>2026/3/8</a:t>
            </a:fld>
            <a:endParaRPr lang="zh-CN" altLang="en-US"/>
          </a:p>
        </p:txBody>
      </p:sp>
      <p:sp>
        <p:nvSpPr>
          <p:cNvPr id="6" name="页脚占位符 5"/>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B79110E9-3CBC-4FF8-AEB5-E87072A4E625}" type="slidenum">
              <a:rPr lang="zh-CN" altLang="en-US"/>
              <a:t>‹#›</a:t>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6"/>
            <a:ext cx="7886700" cy="994172"/>
          </a:xfrm>
          <a:prstGeom prst="rect">
            <a:avLst/>
          </a:prstGeo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629842" y="1878806"/>
            <a:ext cx="3868340" cy="2763441"/>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2" y="1260872"/>
            <a:ext cx="3887391" cy="617934"/>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629152" y="1878806"/>
            <a:ext cx="3887391" cy="2763441"/>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日期占位符 6"/>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8B68149F-0C9C-491B-8EAE-33DEE6AEAEC4}" type="datetimeFigureOut">
              <a:rPr lang="zh-CN" altLang="en-US"/>
              <a:t>2026/3/8</a:t>
            </a:fld>
            <a:endParaRPr lang="zh-CN" altLang="en-US"/>
          </a:p>
        </p:txBody>
      </p:sp>
      <p:sp>
        <p:nvSpPr>
          <p:cNvPr id="8" name="页脚占位符 7"/>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9" name="灯片编号占位符 8"/>
          <p:cNvSpPr>
            <a:spLocks noGrp="1"/>
          </p:cNvSpPr>
          <p:nvPr>
            <p:ph type="sldNum" sz="quarter" idx="12"/>
          </p:nvPr>
        </p:nvSpPr>
        <p:spPr/>
        <p:txBody>
          <a:bodyPr/>
          <a:lstStyle>
            <a:lvl1pPr>
              <a:defRPr/>
            </a:lvl1pPr>
          </a:lstStyle>
          <a:p>
            <a:pPr>
              <a:defRPr/>
            </a:pPr>
            <a:fld id="{001CD988-AABA-4271-BA70-01B6F9A87373}" type="slidenum">
              <a:rPr lang="zh-CN" altLang="en-US"/>
              <a:t>‹#›</a:t>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日期占位符 2"/>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75E18762-3EDF-4983-98E8-301F9D5D9E69}" type="datetimeFigureOut">
              <a:rPr lang="zh-CN" altLang="en-US"/>
              <a:t>2026/3/8</a:t>
            </a:fld>
            <a:endParaRPr lang="zh-CN" altLang="en-US"/>
          </a:p>
        </p:txBody>
      </p:sp>
      <p:sp>
        <p:nvSpPr>
          <p:cNvPr id="4" name="页脚占位符 3"/>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5" name="灯片编号占位符 4"/>
          <p:cNvSpPr>
            <a:spLocks noGrp="1"/>
          </p:cNvSpPr>
          <p:nvPr>
            <p:ph type="sldNum" sz="quarter" idx="12"/>
          </p:nvPr>
        </p:nvSpPr>
        <p:spPr/>
        <p:txBody>
          <a:bodyPr/>
          <a:lstStyle>
            <a:lvl1pPr>
              <a:defRPr/>
            </a:lvl1pPr>
          </a:lstStyle>
          <a:p>
            <a:pPr>
              <a:defRPr/>
            </a:pPr>
            <a:fld id="{B34624B3-7BC5-45F9-833A-20BAD35DEC91}" type="slidenum">
              <a:rPr lang="zh-CN" altLang="en-US"/>
              <a:t>‹#›</a:t>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71"/>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1"/>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2A31A2A3-44CF-4E76-A66E-423BD30FDCE3}" type="datetimeFigureOut">
              <a:rPr lang="zh-CN" altLang="en-US"/>
              <a:t>2026/3/8</a:t>
            </a:fld>
            <a:endParaRPr lang="zh-CN" altLang="en-US"/>
          </a:p>
        </p:txBody>
      </p:sp>
      <p:sp>
        <p:nvSpPr>
          <p:cNvPr id="6" name="页脚占位符 5"/>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495FBAC3-CA8D-4FBA-AF42-538D64ADB8A2}" type="slidenum">
              <a:rPr lang="zh-CN" altLang="en-US"/>
              <a:t>‹#›</a:t>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71"/>
            <a:ext cx="4629150" cy="3655219"/>
          </a:xfrm>
          <a:prstGeom prst="rect">
            <a:avLst/>
          </a:prstGeom>
        </p:spPr>
        <p:txBody>
          <a:bodyPr vert="horz" lIns="91440" tIns="45720" rIns="91440" bIns="45720" rtlCol="0" anchor="t">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29841" y="1543051"/>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9C8A9873-664C-4AEF-AE6F-EDD2894100DF}" type="datetimeFigureOut">
              <a:rPr lang="zh-CN" altLang="en-US"/>
              <a:t>2026/3/8</a:t>
            </a:fld>
            <a:endParaRPr lang="zh-CN" altLang="en-US"/>
          </a:p>
        </p:txBody>
      </p:sp>
      <p:sp>
        <p:nvSpPr>
          <p:cNvPr id="6" name="页脚占位符 5"/>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7D5D5C9C-7908-44C0-BFF0-3D9BEF03216D}" type="slidenum">
              <a:rPr lang="zh-CN" altLang="en-US"/>
              <a:t>‹#›</a:t>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895351" y="251222"/>
            <a:ext cx="7690247" cy="451247"/>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523876" y="981076"/>
            <a:ext cx="8061722" cy="3650456"/>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日期占位符 3"/>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AC57DBCE-8C4D-485F-8120-71058D8DF911}" type="datetimeFigureOut">
              <a:rPr lang="zh-CN" altLang="en-US"/>
              <a:t>2026/3/8</a:t>
            </a:fld>
            <a:endParaRPr lang="zh-CN" altLang="en-US"/>
          </a:p>
        </p:txBody>
      </p:sp>
      <p:sp>
        <p:nvSpPr>
          <p:cNvPr id="5" name="页脚占位符 4"/>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DB91BBE-B70E-4969-8233-69CEDE8997F8}" type="slidenum">
              <a:rPr lang="zh-CN" altLang="en-US"/>
              <a:t>‹#›</a:t>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5"/>
            <a:ext cx="1971675" cy="4358879"/>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2" y="273845"/>
            <a:ext cx="5800725" cy="4358879"/>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fontAlgn="auto">
              <a:spcBef>
                <a:spcPts val="0"/>
              </a:spcBef>
              <a:spcAft>
                <a:spcPts val="0"/>
              </a:spcAft>
              <a:defRPr>
                <a:solidFill>
                  <a:schemeClr val="bg1">
                    <a:lumMod val="65000"/>
                  </a:schemeClr>
                </a:solidFill>
                <a:latin typeface="+mn-lt"/>
                <a:ea typeface="+mn-ea"/>
              </a:defRPr>
            </a:lvl1pPr>
          </a:lstStyle>
          <a:p>
            <a:pPr>
              <a:defRPr/>
            </a:pPr>
            <a:fld id="{36FF6F94-A737-4432-A9DC-130A95CCF9BC}" type="datetimeFigureOut">
              <a:rPr lang="zh-CN" altLang="en-US"/>
              <a:t>2026/3/8</a:t>
            </a:fld>
            <a:endParaRPr lang="zh-CN" altLang="en-US"/>
          </a:p>
        </p:txBody>
      </p:sp>
      <p:sp>
        <p:nvSpPr>
          <p:cNvPr id="3" name="页脚占位符 2"/>
          <p:cNvSpPr>
            <a:spLocks noGrp="1"/>
          </p:cNvSpPr>
          <p:nvPr>
            <p:ph type="ftr" sz="quarter" idx="11"/>
          </p:nvPr>
        </p:nvSpPr>
        <p:spPr/>
        <p:txBody>
          <a:bodyPr/>
          <a:lstStyle>
            <a:lvl1pPr algn="l">
              <a:defRPr sz="1350">
                <a:solidFill>
                  <a:schemeClr val="tx1"/>
                </a:solidFill>
              </a:defRPr>
            </a:lvl1pPr>
          </a:lstStyle>
          <a:p>
            <a:pPr>
              <a:defRPr/>
            </a:pPr>
            <a:endParaRPr lang="zh-CN" altLang="en-US"/>
          </a:p>
        </p:txBody>
      </p:sp>
      <p:sp>
        <p:nvSpPr>
          <p:cNvPr id="4" name="灯片编号占位符 3"/>
          <p:cNvSpPr>
            <a:spLocks noGrp="1"/>
          </p:cNvSpPr>
          <p:nvPr>
            <p:ph type="sldNum" sz="quarter" idx="12"/>
          </p:nvPr>
        </p:nvSpPr>
        <p:spPr/>
        <p:txBody>
          <a:bodyPr/>
          <a:lstStyle>
            <a:lvl1pPr>
              <a:defRPr/>
            </a:lvl1pPr>
          </a:lstStyle>
          <a:p>
            <a:pPr>
              <a:defRPr/>
            </a:pPr>
            <a:fld id="{7FBB6A8E-2C65-4CA5-8B62-FDC3161C7866}" type="slidenum">
              <a:rPr lang="zh-CN" altLang="en-US"/>
              <a:t>‹#›</a:t>
            </a:fld>
            <a:endParaRPr lang="zh-CN"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组合 8"/>
          <p:cNvGrpSpPr/>
          <p:nvPr/>
        </p:nvGrpSpPr>
        <p:grpSpPr bwMode="auto">
          <a:xfrm>
            <a:off x="0" y="0"/>
            <a:ext cx="9144000" cy="5143500"/>
            <a:chOff x="0" y="1"/>
            <a:chExt cx="12192000" cy="6857999"/>
          </a:xfrm>
        </p:grpSpPr>
        <p:pic>
          <p:nvPicPr>
            <p:cNvPr id="1030" name="图片 6"/>
            <p:cNvPicPr>
              <a:picLocks noChangeAspect="1"/>
            </p:cNvPicPr>
            <p:nvPr userDrawn="1"/>
          </p:nvPicPr>
          <p:blipFill>
            <a:blip r:embed="rId13">
              <a:extLst>
                <a:ext uri="{28A0092B-C50C-407E-A947-70E740481C1C}">
                  <a14:useLocalDpi xmlns:a14="http://schemas.microsoft.com/office/drawing/2010/main" val="0"/>
                </a:ext>
              </a:extLst>
            </a:blip>
            <a:srcRect t="6718" b="67133"/>
            <a:stretch>
              <a:fillRect/>
            </a:stretch>
          </p:blipFill>
          <p:spPr bwMode="auto">
            <a:xfrm>
              <a:off x="3048" y="1"/>
              <a:ext cx="12188952" cy="184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1828801"/>
              <a:ext cx="12192000" cy="5029199"/>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3765" eaLnBrk="1" fontAlgn="auto" hangingPunct="1">
                <a:spcBef>
                  <a:spcPts val="0"/>
                </a:spcBef>
                <a:spcAft>
                  <a:spcPts val="0"/>
                </a:spcAft>
                <a:defRPr/>
              </a:pPr>
              <a:endParaRPr lang="zh-CN" altLang="en-US" sz="1800"/>
            </a:p>
          </p:txBody>
        </p:sp>
      </p:grpSp>
      <p:sp>
        <p:nvSpPr>
          <p:cNvPr id="4" name="Date Placeholder 3"/>
          <p:cNvSpPr>
            <a:spLocks noGrp="1"/>
          </p:cNvSpPr>
          <p:nvPr>
            <p:ph type="dt" sz="half" idx="2"/>
          </p:nvPr>
        </p:nvSpPr>
        <p:spPr>
          <a:xfrm>
            <a:off x="628650" y="4767263"/>
            <a:ext cx="2057400" cy="273844"/>
          </a:xfrm>
          <a:prstGeom prst="rect">
            <a:avLst/>
          </a:prstGeom>
        </p:spPr>
        <p:txBody>
          <a:bodyPr vert="horz" wrap="square" lIns="91440" tIns="45720" rIns="91440" bIns="45720" numCol="1" anchor="ctr" anchorCtr="0" compatLnSpc="1"/>
          <a:lstStyle>
            <a:lvl1pPr eaLnBrk="1" hangingPunct="1">
              <a:defRPr sz="900">
                <a:solidFill>
                  <a:srgbClr val="A6A6A6"/>
                </a:solidFill>
                <a:ea typeface="幼圆" panose="02010509060101010101" pitchFamily="49" charset="-122"/>
              </a:defRPr>
            </a:lvl1pPr>
          </a:lstStyle>
          <a:p>
            <a:pPr>
              <a:defRPr/>
            </a:pPr>
            <a:r>
              <a:rPr lang="en-US" altLang="zh-CN"/>
              <a:t>2022/8/29</a:t>
            </a:r>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rgbClr val="373A3B"/>
                </a:solidFill>
                <a:latin typeface="+mn-lt"/>
                <a:ea typeface="+mn-ea"/>
              </a:defRPr>
            </a:lvl1pPr>
          </a:lstStyle>
          <a:p>
            <a:pPr>
              <a:defRPr/>
            </a:pPr>
            <a:endParaRPr lang="en-US" altLang="zh-C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wrap="square" lIns="91440" tIns="45720" rIns="91440" bIns="45720" numCol="1" anchor="ctr" anchorCtr="0" compatLnSpc="1"/>
          <a:lstStyle>
            <a:lvl1pPr algn="r" eaLnBrk="1" hangingPunct="1">
              <a:defRPr sz="900">
                <a:solidFill>
                  <a:srgbClr val="A6A6A6"/>
                </a:solidFill>
                <a:ea typeface="幼圆" panose="02010509060101010101" pitchFamily="49" charset="-122"/>
              </a:defRPr>
            </a:lvl1pPr>
          </a:lstStyle>
          <a:p>
            <a:pPr>
              <a:defRPr/>
            </a:pPr>
            <a:r>
              <a:rPr lang="en-US" altLang="zh-CN"/>
              <a:t>‹#›</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4530" rtl="0" eaLnBrk="0" fontAlgn="base" hangingPunct="0">
        <a:lnSpc>
          <a:spcPct val="90000"/>
        </a:lnSpc>
        <a:spcBef>
          <a:spcPct val="0"/>
        </a:spcBef>
        <a:spcAft>
          <a:spcPct val="0"/>
        </a:spcAft>
        <a:defRPr sz="2100" kern="1200">
          <a:solidFill>
            <a:schemeClr val="accent1"/>
          </a:solidFill>
          <a:latin typeface="+mj-lt"/>
          <a:ea typeface="+mj-ea"/>
          <a:cs typeface="+mj-cs"/>
        </a:defRPr>
      </a:lvl1pPr>
      <a:lvl2pPr algn="l" defTabSz="68453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2pPr>
      <a:lvl3pPr algn="l" defTabSz="68453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3pPr>
      <a:lvl4pPr algn="l" defTabSz="68453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4pPr>
      <a:lvl5pPr algn="l" defTabSz="684530" rtl="0" eaLnBrk="0" fontAlgn="base" hangingPunct="0">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5pPr>
      <a:lvl6pPr marL="342900" algn="l" defTabSz="68453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6pPr>
      <a:lvl7pPr marL="685800" algn="l" defTabSz="68453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7pPr>
      <a:lvl8pPr marL="1028700" algn="l" defTabSz="68453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8pPr>
      <a:lvl9pPr marL="1371600" algn="l" defTabSz="684530" rtl="0" fontAlgn="base">
        <a:lnSpc>
          <a:spcPct val="90000"/>
        </a:lnSpc>
        <a:spcBef>
          <a:spcPct val="0"/>
        </a:spcBef>
        <a:spcAft>
          <a:spcPct val="0"/>
        </a:spcAft>
        <a:defRPr sz="2100">
          <a:solidFill>
            <a:schemeClr val="accent1"/>
          </a:solidFill>
          <a:latin typeface="Arial" panose="020B0604020202020204" pitchFamily="34" charset="0"/>
          <a:ea typeface="幼圆" panose="02010509060101010101" pitchFamily="49" charset="-122"/>
        </a:defRPr>
      </a:lvl9pPr>
    </p:titleStyle>
    <p:bodyStyle>
      <a:lvl1pPr marL="321310" indent="-257175" algn="l" defTabSz="684530" rtl="0" eaLnBrk="0" fontAlgn="base" hangingPunct="0">
        <a:lnSpc>
          <a:spcPct val="90000"/>
        </a:lnSpc>
        <a:spcBef>
          <a:spcPts val="1350"/>
        </a:spcBef>
        <a:spcAft>
          <a:spcPct val="0"/>
        </a:spcAft>
        <a:buClr>
          <a:srgbClr val="A95E40"/>
        </a:buClr>
        <a:buSzPct val="75000"/>
        <a:buFont typeface="Arial" panose="020B0604020202020204" pitchFamily="34" charset="0"/>
        <a:buChar char="•"/>
        <a:defRPr sz="1800" kern="1200">
          <a:solidFill>
            <a:srgbClr val="A95E40"/>
          </a:solidFill>
          <a:latin typeface="+mn-lt"/>
          <a:ea typeface="+mn-ea"/>
          <a:cs typeface="+mn-cs"/>
        </a:defRPr>
      </a:lvl1pPr>
      <a:lvl2pPr marL="266700" indent="-266700" algn="l" defTabSz="684530" rtl="0" eaLnBrk="0" fontAlgn="base" hangingPunct="0">
        <a:lnSpc>
          <a:spcPct val="130000"/>
        </a:lnSpc>
        <a:spcBef>
          <a:spcPts val="375"/>
        </a:spcBef>
        <a:spcAft>
          <a:spcPct val="0"/>
        </a:spcAft>
        <a:buFont typeface="Calibri" panose="020F0502020204030204" pitchFamily="34" charset="0"/>
        <a:buChar char=" "/>
        <a:defRPr kern="1200">
          <a:solidFill>
            <a:srgbClr val="7F7F7F"/>
          </a:solidFill>
          <a:latin typeface="+mn-lt"/>
          <a:ea typeface="+mn-ea"/>
          <a:cs typeface="+mn-cs"/>
        </a:defRPr>
      </a:lvl2pPr>
      <a:lvl3pPr marL="857250" indent="-171450" algn="l" defTabSz="684530" rtl="0" eaLnBrk="0" fontAlgn="base" hangingPunct="0">
        <a:lnSpc>
          <a:spcPct val="90000"/>
        </a:lnSpc>
        <a:spcBef>
          <a:spcPts val="375"/>
        </a:spcBef>
        <a:spcAft>
          <a:spcPct val="0"/>
        </a:spcAft>
        <a:buFont typeface="Arial" panose="020B0604020202020204" pitchFamily="34" charset="0"/>
        <a:buChar char="•"/>
        <a:defRPr sz="1500" kern="1200">
          <a:solidFill>
            <a:srgbClr val="7F7F7F"/>
          </a:solidFill>
          <a:latin typeface="+mn-lt"/>
          <a:ea typeface="+mn-ea"/>
          <a:cs typeface="+mn-cs"/>
        </a:defRPr>
      </a:lvl3pPr>
      <a:lvl4pPr marL="1200150" indent="-171450" algn="l" defTabSz="684530" rtl="0" eaLnBrk="0" fontAlgn="base" hangingPunct="0">
        <a:lnSpc>
          <a:spcPct val="90000"/>
        </a:lnSpc>
        <a:spcBef>
          <a:spcPts val="375"/>
        </a:spcBef>
        <a:spcAft>
          <a:spcPct val="0"/>
        </a:spcAft>
        <a:buFont typeface="Arial" panose="020B0604020202020204" pitchFamily="34" charset="0"/>
        <a:buChar char="•"/>
        <a:defRPr kern="1200">
          <a:solidFill>
            <a:srgbClr val="7F7F7F"/>
          </a:solidFill>
          <a:latin typeface="+mn-lt"/>
          <a:ea typeface="+mn-ea"/>
          <a:cs typeface="+mn-cs"/>
        </a:defRPr>
      </a:lvl4pPr>
      <a:lvl5pPr marL="1543050" indent="-171450" algn="l" defTabSz="684530" rtl="0" eaLnBrk="0" fontAlgn="base" hangingPunct="0">
        <a:lnSpc>
          <a:spcPct val="90000"/>
        </a:lnSpc>
        <a:spcBef>
          <a:spcPts val="375"/>
        </a:spcBef>
        <a:spcAft>
          <a:spcPct val="0"/>
        </a:spcAft>
        <a:buFont typeface="Arial" panose="020B0604020202020204" pitchFamily="34" charset="0"/>
        <a:buChar char="•"/>
        <a:defRPr kern="1200">
          <a:solidFill>
            <a:srgbClr val="7F7F7F"/>
          </a:solidFill>
          <a:latin typeface="+mn-lt"/>
          <a:ea typeface="+mn-ea"/>
          <a:cs typeface="+mn-cs"/>
        </a:defRPr>
      </a:lvl5pPr>
      <a:lvl6pPr marL="18859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165"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165" rtl="0" eaLnBrk="1" latinLnBrk="0" hangingPunct="1">
        <a:defRPr sz="1350" kern="1200">
          <a:solidFill>
            <a:schemeClr val="tx1"/>
          </a:solidFill>
          <a:latin typeface="+mn-lt"/>
          <a:ea typeface="+mn-ea"/>
          <a:cs typeface="+mn-cs"/>
        </a:defRPr>
      </a:lvl1pPr>
      <a:lvl2pPr marL="342900" algn="l" defTabSz="685165" rtl="0" eaLnBrk="1" latinLnBrk="0" hangingPunct="1">
        <a:defRPr sz="1350" kern="1200">
          <a:solidFill>
            <a:schemeClr val="tx1"/>
          </a:solidFill>
          <a:latin typeface="+mn-lt"/>
          <a:ea typeface="+mn-ea"/>
          <a:cs typeface="+mn-cs"/>
        </a:defRPr>
      </a:lvl2pPr>
      <a:lvl3pPr marL="685800" algn="l" defTabSz="685165" rtl="0" eaLnBrk="1" latinLnBrk="0" hangingPunct="1">
        <a:defRPr sz="1350" kern="1200">
          <a:solidFill>
            <a:schemeClr val="tx1"/>
          </a:solidFill>
          <a:latin typeface="+mn-lt"/>
          <a:ea typeface="+mn-ea"/>
          <a:cs typeface="+mn-cs"/>
        </a:defRPr>
      </a:lvl3pPr>
      <a:lvl4pPr marL="1028700" algn="l" defTabSz="685165" rtl="0" eaLnBrk="1" latinLnBrk="0" hangingPunct="1">
        <a:defRPr sz="1350" kern="1200">
          <a:solidFill>
            <a:schemeClr val="tx1"/>
          </a:solidFill>
          <a:latin typeface="+mn-lt"/>
          <a:ea typeface="+mn-ea"/>
          <a:cs typeface="+mn-cs"/>
        </a:defRPr>
      </a:lvl4pPr>
      <a:lvl5pPr marL="1371600" algn="l" defTabSz="685165" rtl="0" eaLnBrk="1" latinLnBrk="0" hangingPunct="1">
        <a:defRPr sz="1350" kern="1200">
          <a:solidFill>
            <a:schemeClr val="tx1"/>
          </a:solidFill>
          <a:latin typeface="+mn-lt"/>
          <a:ea typeface="+mn-ea"/>
          <a:cs typeface="+mn-cs"/>
        </a:defRPr>
      </a:lvl5pPr>
      <a:lvl6pPr marL="1714500" algn="l" defTabSz="685165" rtl="0" eaLnBrk="1" latinLnBrk="0" hangingPunct="1">
        <a:defRPr sz="1350" kern="1200">
          <a:solidFill>
            <a:schemeClr val="tx1"/>
          </a:solidFill>
          <a:latin typeface="+mn-lt"/>
          <a:ea typeface="+mn-ea"/>
          <a:cs typeface="+mn-cs"/>
        </a:defRPr>
      </a:lvl6pPr>
      <a:lvl7pPr marL="2057400" algn="l" defTabSz="685165" rtl="0" eaLnBrk="1" latinLnBrk="0" hangingPunct="1">
        <a:defRPr sz="1350" kern="1200">
          <a:solidFill>
            <a:schemeClr val="tx1"/>
          </a:solidFill>
          <a:latin typeface="+mn-lt"/>
          <a:ea typeface="+mn-ea"/>
          <a:cs typeface="+mn-cs"/>
        </a:defRPr>
      </a:lvl7pPr>
      <a:lvl8pPr marL="2400300" algn="l" defTabSz="685165" rtl="0" eaLnBrk="1" latinLnBrk="0" hangingPunct="1">
        <a:defRPr sz="1350" kern="1200">
          <a:solidFill>
            <a:schemeClr val="tx1"/>
          </a:solidFill>
          <a:latin typeface="+mn-lt"/>
          <a:ea typeface="+mn-ea"/>
          <a:cs typeface="+mn-cs"/>
        </a:defRPr>
      </a:lvl8pPr>
      <a:lvl9pPr marL="2743200" algn="l" defTabSz="685165"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ideo" Target="NULL" TargetMode="Externa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等腰三角形 8"/>
          <p:cNvSpPr/>
          <p:nvPr/>
        </p:nvSpPr>
        <p:spPr>
          <a:xfrm rot="1650064">
            <a:off x="6818085" y="670620"/>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 name="等腰三角形 9"/>
          <p:cNvSpPr/>
          <p:nvPr/>
        </p:nvSpPr>
        <p:spPr>
          <a:xfrm rot="12132218">
            <a:off x="4937314" y="278512"/>
            <a:ext cx="292713" cy="591282"/>
          </a:xfrm>
          <a:prstGeom prst="triangle">
            <a:avLst/>
          </a:prstGeom>
          <a:solidFill>
            <a:srgbClr val="FC6E5B">
              <a:alpha val="31000"/>
            </a:srgb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1" name="任意多边形 80"/>
          <p:cNvSpPr/>
          <p:nvPr/>
        </p:nvSpPr>
        <p:spPr>
          <a:xfrm rot="8289040">
            <a:off x="7578328" y="683419"/>
            <a:ext cx="1860947" cy="146447"/>
          </a:xfrm>
          <a:custGeom>
            <a:avLst/>
            <a:gdLst>
              <a:gd name="connsiteX0" fmla="*/ 0 w 2481081"/>
              <a:gd name="connsiteY0" fmla="*/ 194529 h 194529"/>
              <a:gd name="connsiteX1" fmla="*/ 174230 w 2481081"/>
              <a:gd name="connsiteY1" fmla="*/ 0 h 194529"/>
              <a:gd name="connsiteX2" fmla="*/ 2263889 w 2481081"/>
              <a:gd name="connsiteY2" fmla="*/ 0 h 194529"/>
              <a:gd name="connsiteX3" fmla="*/ 2481081 w 2481081"/>
              <a:gd name="connsiteY3" fmla="*/ 194529 h 194529"/>
            </a:gdLst>
            <a:ahLst/>
            <a:cxnLst>
              <a:cxn ang="0">
                <a:pos x="connsiteX0" y="connsiteY0"/>
              </a:cxn>
              <a:cxn ang="0">
                <a:pos x="connsiteX1" y="connsiteY1"/>
              </a:cxn>
              <a:cxn ang="0">
                <a:pos x="connsiteX2" y="connsiteY2"/>
              </a:cxn>
              <a:cxn ang="0">
                <a:pos x="connsiteX3" y="connsiteY3"/>
              </a:cxn>
            </a:cxnLst>
            <a:rect l="l" t="t" r="r" b="b"/>
            <a:pathLst>
              <a:path w="2481081" h="194529">
                <a:moveTo>
                  <a:pt x="0" y="194529"/>
                </a:moveTo>
                <a:lnTo>
                  <a:pt x="174230" y="0"/>
                </a:lnTo>
                <a:lnTo>
                  <a:pt x="2263889" y="0"/>
                </a:lnTo>
                <a:lnTo>
                  <a:pt x="2481081"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3" name="任意多边形 72"/>
          <p:cNvSpPr/>
          <p:nvPr/>
        </p:nvSpPr>
        <p:spPr>
          <a:xfrm rot="8289040">
            <a:off x="7637860" y="503635"/>
            <a:ext cx="1614488" cy="33338"/>
          </a:xfrm>
          <a:custGeom>
            <a:avLst/>
            <a:gdLst>
              <a:gd name="connsiteX0" fmla="*/ 51045 w 2151533"/>
              <a:gd name="connsiteY0" fmla="*/ 45719 h 45719"/>
              <a:gd name="connsiteX1" fmla="*/ 0 w 2151533"/>
              <a:gd name="connsiteY1" fmla="*/ 0 h 45719"/>
              <a:gd name="connsiteX2" fmla="*/ 2151533 w 2151533"/>
              <a:gd name="connsiteY2" fmla="*/ 0 h 45719"/>
              <a:gd name="connsiteX3" fmla="*/ 2151533 w 21515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151533" h="45719">
                <a:moveTo>
                  <a:pt x="51045" y="45719"/>
                </a:moveTo>
                <a:lnTo>
                  <a:pt x="0" y="0"/>
                </a:lnTo>
                <a:lnTo>
                  <a:pt x="2151533" y="0"/>
                </a:lnTo>
                <a:lnTo>
                  <a:pt x="2151533" y="45719"/>
                </a:lnTo>
                <a:close/>
              </a:path>
            </a:pathLst>
          </a:custGeom>
          <a:solidFill>
            <a:srgbClr val="79C7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7" name="任意多边形 46"/>
          <p:cNvSpPr/>
          <p:nvPr/>
        </p:nvSpPr>
        <p:spPr>
          <a:xfrm rot="8289040">
            <a:off x="7946231" y="1422798"/>
            <a:ext cx="1404938" cy="34528"/>
          </a:xfrm>
          <a:custGeom>
            <a:avLst/>
            <a:gdLst>
              <a:gd name="connsiteX0" fmla="*/ 0 w 1873652"/>
              <a:gd name="connsiteY0" fmla="*/ 45719 h 45719"/>
              <a:gd name="connsiteX1" fmla="*/ 40948 w 1873652"/>
              <a:gd name="connsiteY1" fmla="*/ 0 h 45719"/>
              <a:gd name="connsiteX2" fmla="*/ 1873652 w 1873652"/>
              <a:gd name="connsiteY2" fmla="*/ 0 h 45719"/>
              <a:gd name="connsiteX3" fmla="*/ 1873652 w 187365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73652" h="45719">
                <a:moveTo>
                  <a:pt x="0" y="45719"/>
                </a:moveTo>
                <a:lnTo>
                  <a:pt x="40948" y="0"/>
                </a:lnTo>
                <a:lnTo>
                  <a:pt x="1873652" y="0"/>
                </a:lnTo>
                <a:lnTo>
                  <a:pt x="1873652" y="45719"/>
                </a:lnTo>
                <a:close/>
              </a:path>
            </a:pathLst>
          </a:custGeom>
          <a:solidFill>
            <a:srgbClr val="FC6E5B">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6" name="任意多边形 75"/>
          <p:cNvSpPr/>
          <p:nvPr/>
        </p:nvSpPr>
        <p:spPr>
          <a:xfrm rot="8289040">
            <a:off x="7749778" y="1759744"/>
            <a:ext cx="1643063" cy="115491"/>
          </a:xfrm>
          <a:custGeom>
            <a:avLst/>
            <a:gdLst>
              <a:gd name="connsiteX0" fmla="*/ 0 w 2190050"/>
              <a:gd name="connsiteY0" fmla="*/ 155058 h 155058"/>
              <a:gd name="connsiteX1" fmla="*/ 138878 w 2190050"/>
              <a:gd name="connsiteY1" fmla="*/ 0 h 155058"/>
              <a:gd name="connsiteX2" fmla="*/ 2016928 w 2190050"/>
              <a:gd name="connsiteY2" fmla="*/ 0 h 155058"/>
              <a:gd name="connsiteX3" fmla="*/ 2190050 w 2190050"/>
              <a:gd name="connsiteY3" fmla="*/ 155058 h 155058"/>
            </a:gdLst>
            <a:ahLst/>
            <a:cxnLst>
              <a:cxn ang="0">
                <a:pos x="connsiteX0" y="connsiteY0"/>
              </a:cxn>
              <a:cxn ang="0">
                <a:pos x="connsiteX1" y="connsiteY1"/>
              </a:cxn>
              <a:cxn ang="0">
                <a:pos x="connsiteX2" y="connsiteY2"/>
              </a:cxn>
              <a:cxn ang="0">
                <a:pos x="connsiteX3" y="connsiteY3"/>
              </a:cxn>
            </a:cxnLst>
            <a:rect l="l" t="t" r="r" b="b"/>
            <a:pathLst>
              <a:path w="2190050" h="155058">
                <a:moveTo>
                  <a:pt x="0" y="155058"/>
                </a:moveTo>
                <a:lnTo>
                  <a:pt x="138878" y="0"/>
                </a:lnTo>
                <a:lnTo>
                  <a:pt x="2016928" y="0"/>
                </a:lnTo>
                <a:lnTo>
                  <a:pt x="2190050" y="155058"/>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5" name="任意多边形 44"/>
          <p:cNvSpPr/>
          <p:nvPr/>
        </p:nvSpPr>
        <p:spPr>
          <a:xfrm rot="8289040">
            <a:off x="8521304" y="1850231"/>
            <a:ext cx="744140" cy="34529"/>
          </a:xfrm>
          <a:custGeom>
            <a:avLst/>
            <a:gdLst>
              <a:gd name="connsiteX0" fmla="*/ 0 w 991862"/>
              <a:gd name="connsiteY0" fmla="*/ 45719 h 45719"/>
              <a:gd name="connsiteX1" fmla="*/ 40948 w 991862"/>
              <a:gd name="connsiteY1" fmla="*/ 0 h 45719"/>
              <a:gd name="connsiteX2" fmla="*/ 991862 w 991862"/>
              <a:gd name="connsiteY2" fmla="*/ 0 h 45719"/>
              <a:gd name="connsiteX3" fmla="*/ 991862 w 99186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991862" h="45719">
                <a:moveTo>
                  <a:pt x="0" y="45719"/>
                </a:moveTo>
                <a:lnTo>
                  <a:pt x="40948" y="0"/>
                </a:lnTo>
                <a:lnTo>
                  <a:pt x="991862" y="0"/>
                </a:lnTo>
                <a:lnTo>
                  <a:pt x="99186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 name="组合 163"/>
          <p:cNvGrpSpPr/>
          <p:nvPr/>
        </p:nvGrpSpPr>
        <p:grpSpPr bwMode="auto">
          <a:xfrm>
            <a:off x="8003382" y="2431256"/>
            <a:ext cx="721519" cy="838200"/>
            <a:chOff x="10670736" y="3241053"/>
            <a:chExt cx="962659" cy="1118718"/>
          </a:xfrm>
        </p:grpSpPr>
        <p:sp>
          <p:nvSpPr>
            <p:cNvPr id="16" name="等腰三角形 1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等腰三角形 16"/>
            <p:cNvSpPr/>
            <p:nvPr/>
          </p:nvSpPr>
          <p:spPr>
            <a:xfrm rot="20901646">
              <a:off x="10936527" y="3445371"/>
              <a:ext cx="696868"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24" name="等腰三角形 23"/>
          <p:cNvSpPr/>
          <p:nvPr/>
        </p:nvSpPr>
        <p:spPr>
          <a:xfrm rot="14549936" flipH="1">
            <a:off x="5116580" y="3430487"/>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0" name="等腰三角形 29"/>
          <p:cNvSpPr/>
          <p:nvPr/>
        </p:nvSpPr>
        <p:spPr>
          <a:xfrm rot="14549936" flipH="1">
            <a:off x="4147800" y="3563063"/>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1" name="等腰三角形 30"/>
          <p:cNvSpPr/>
          <p:nvPr/>
        </p:nvSpPr>
        <p:spPr>
          <a:xfrm rot="14549936" flipH="1">
            <a:off x="5551738" y="3580769"/>
            <a:ext cx="333809" cy="574152"/>
          </a:xfrm>
          <a:prstGeom prst="triangle">
            <a:avLst/>
          </a:prstGeom>
          <a:solidFill>
            <a:srgbClr val="FC6E5B"/>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3" name="组合 10"/>
          <p:cNvGrpSpPr/>
          <p:nvPr/>
        </p:nvGrpSpPr>
        <p:grpSpPr bwMode="auto">
          <a:xfrm>
            <a:off x="720329" y="1735932"/>
            <a:ext cx="620315" cy="692944"/>
            <a:chOff x="1354861" y="2750116"/>
            <a:chExt cx="828164" cy="924005"/>
          </a:xfrm>
        </p:grpSpPr>
        <p:sp>
          <p:nvSpPr>
            <p:cNvPr id="33" name="直角三角形 32"/>
            <p:cNvSpPr/>
            <p:nvPr/>
          </p:nvSpPr>
          <p:spPr>
            <a:xfrm rot="3161904">
              <a:off x="1665936" y="3157032"/>
              <a:ext cx="517570" cy="516609"/>
            </a:xfrm>
            <a:prstGeom prst="rtTriangle">
              <a:avLst/>
            </a:prstGeom>
            <a:solidFill>
              <a:srgbClr val="66BFBC">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4" name="直角三角形 33"/>
            <p:cNvSpPr/>
            <p:nvPr/>
          </p:nvSpPr>
          <p:spPr>
            <a:xfrm rot="3161904" flipH="1">
              <a:off x="1354381" y="2750596"/>
              <a:ext cx="517570" cy="516609"/>
            </a:xfrm>
            <a:prstGeom prst="rtTriangle">
              <a:avLst/>
            </a:prstGeom>
            <a:solidFill>
              <a:srgbClr val="66BFBC">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39" name="直角三角形 38"/>
          <p:cNvSpPr/>
          <p:nvPr/>
        </p:nvSpPr>
        <p:spPr>
          <a:xfrm rot="3176496">
            <a:off x="2666724" y="3947868"/>
            <a:ext cx="230419" cy="230418"/>
          </a:xfrm>
          <a:prstGeom prst="rtTriangle">
            <a:avLst/>
          </a:prstGeom>
          <a:solidFill>
            <a:srgbClr val="66BFBC">
              <a:alpha val="6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0" name="直角三角形 39"/>
          <p:cNvSpPr/>
          <p:nvPr/>
        </p:nvSpPr>
        <p:spPr>
          <a:xfrm rot="3176496" flipH="1">
            <a:off x="2545217" y="3786292"/>
            <a:ext cx="230419" cy="230418"/>
          </a:xfrm>
          <a:prstGeom prst="rtTriangle">
            <a:avLst/>
          </a:prstGeom>
          <a:solidFill>
            <a:srgbClr val="66BFBC">
              <a:alpha val="9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2" name="等腰三角形 81"/>
          <p:cNvSpPr/>
          <p:nvPr/>
        </p:nvSpPr>
        <p:spPr>
          <a:xfrm rot="8943941">
            <a:off x="2458504" y="963636"/>
            <a:ext cx="646247" cy="809888"/>
          </a:xfrm>
          <a:prstGeom prst="triangle">
            <a:avLst/>
          </a:prstGeom>
          <a:solidFill>
            <a:srgbClr val="FC6E5B">
              <a:alpha val="62000"/>
            </a:srgbClr>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3" name="椭圆 82"/>
          <p:cNvSpPr/>
          <p:nvPr/>
        </p:nvSpPr>
        <p:spPr>
          <a:xfrm>
            <a:off x="1959685" y="1250983"/>
            <a:ext cx="582704" cy="644636"/>
          </a:xfrm>
          <a:prstGeom prst="ellipse">
            <a:avLst/>
          </a:prstGeom>
          <a:solidFill>
            <a:srgbClr val="FBC75D">
              <a:alpha val="56000"/>
            </a:srgbClr>
          </a:soli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8" name="等腰三角形 87"/>
          <p:cNvSpPr/>
          <p:nvPr/>
        </p:nvSpPr>
        <p:spPr>
          <a:xfrm rot="7669978">
            <a:off x="1265381" y="1570446"/>
            <a:ext cx="227435" cy="216216"/>
          </a:xfrm>
          <a:prstGeom prst="triangle">
            <a:avLst/>
          </a:prstGeom>
          <a:solidFill>
            <a:srgbClr val="8CC066">
              <a:alpha val="62000"/>
            </a:srgbClr>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8" name="任意多边形 77"/>
          <p:cNvSpPr/>
          <p:nvPr/>
        </p:nvSpPr>
        <p:spPr>
          <a:xfrm rot="8289040">
            <a:off x="5639991" y="4461273"/>
            <a:ext cx="2016919" cy="145256"/>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6" name="任意多边形 65"/>
          <p:cNvSpPr/>
          <p:nvPr/>
        </p:nvSpPr>
        <p:spPr>
          <a:xfrm rot="8289040">
            <a:off x="6201967" y="4785122"/>
            <a:ext cx="1087040" cy="33338"/>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4" name="任意多边形 63"/>
          <p:cNvSpPr/>
          <p:nvPr/>
        </p:nvSpPr>
        <p:spPr>
          <a:xfrm rot="8289040">
            <a:off x="6536532" y="4701779"/>
            <a:ext cx="1332310" cy="34528"/>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0" name="任意多边形 69"/>
          <p:cNvSpPr/>
          <p:nvPr/>
        </p:nvSpPr>
        <p:spPr>
          <a:xfrm rot="8289040">
            <a:off x="5232798" y="4589860"/>
            <a:ext cx="1674019" cy="34528"/>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2" name="任意多边形 71"/>
          <p:cNvSpPr/>
          <p:nvPr/>
        </p:nvSpPr>
        <p:spPr>
          <a:xfrm rot="8289040">
            <a:off x="4748212" y="4879181"/>
            <a:ext cx="806054" cy="33338"/>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0" name="任意多边形 79"/>
          <p:cNvSpPr/>
          <p:nvPr/>
        </p:nvSpPr>
        <p:spPr>
          <a:xfrm rot="8289040">
            <a:off x="-406004" y="4099322"/>
            <a:ext cx="2983707" cy="94059"/>
          </a:xfrm>
          <a:custGeom>
            <a:avLst/>
            <a:gdLst>
              <a:gd name="connsiteX0" fmla="*/ 139966 w 3978903"/>
              <a:gd name="connsiteY0" fmla="*/ 125361 h 125361"/>
              <a:gd name="connsiteX1" fmla="*/ 0 w 3978903"/>
              <a:gd name="connsiteY1" fmla="*/ 0 h 125361"/>
              <a:gd name="connsiteX2" fmla="*/ 3939559 w 3978903"/>
              <a:gd name="connsiteY2" fmla="*/ 0 h 125361"/>
              <a:gd name="connsiteX3" fmla="*/ 3978903 w 3978903"/>
              <a:gd name="connsiteY3" fmla="*/ 35238 h 125361"/>
              <a:gd name="connsiteX4" fmla="*/ 3898184 w 3978903"/>
              <a:gd name="connsiteY4" fmla="*/ 125361 h 125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8903" h="125361">
                <a:moveTo>
                  <a:pt x="139966" y="125361"/>
                </a:moveTo>
                <a:lnTo>
                  <a:pt x="0" y="0"/>
                </a:lnTo>
                <a:lnTo>
                  <a:pt x="3939559" y="0"/>
                </a:lnTo>
                <a:lnTo>
                  <a:pt x="3978903" y="35238"/>
                </a:lnTo>
                <a:lnTo>
                  <a:pt x="3898184" y="125361"/>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6" name="任意多边形 55"/>
          <p:cNvSpPr/>
          <p:nvPr/>
        </p:nvSpPr>
        <p:spPr>
          <a:xfrm rot="8289040">
            <a:off x="-426244" y="3720704"/>
            <a:ext cx="3161110" cy="34528"/>
          </a:xfrm>
          <a:custGeom>
            <a:avLst/>
            <a:gdLst>
              <a:gd name="connsiteX0" fmla="*/ 0 w 4213929"/>
              <a:gd name="connsiteY0" fmla="*/ 45719 h 45719"/>
              <a:gd name="connsiteX1" fmla="*/ 0 w 4213929"/>
              <a:gd name="connsiteY1" fmla="*/ 0 h 45719"/>
              <a:gd name="connsiteX2" fmla="*/ 4213929 w 4213929"/>
              <a:gd name="connsiteY2" fmla="*/ 0 h 45719"/>
              <a:gd name="connsiteX3" fmla="*/ 4172980 w 4213929"/>
              <a:gd name="connsiteY3" fmla="*/ 45719 h 45719"/>
            </a:gdLst>
            <a:ahLst/>
            <a:cxnLst>
              <a:cxn ang="0">
                <a:pos x="connsiteX0" y="connsiteY0"/>
              </a:cxn>
              <a:cxn ang="0">
                <a:pos x="connsiteX1" y="connsiteY1"/>
              </a:cxn>
              <a:cxn ang="0">
                <a:pos x="connsiteX2" y="connsiteY2"/>
              </a:cxn>
              <a:cxn ang="0">
                <a:pos x="connsiteX3" y="connsiteY3"/>
              </a:cxn>
            </a:cxnLst>
            <a:rect l="l" t="t" r="r" b="b"/>
            <a:pathLst>
              <a:path w="4213929" h="45719">
                <a:moveTo>
                  <a:pt x="0" y="45719"/>
                </a:moveTo>
                <a:lnTo>
                  <a:pt x="0" y="0"/>
                </a:lnTo>
                <a:lnTo>
                  <a:pt x="4213929" y="0"/>
                </a:lnTo>
                <a:lnTo>
                  <a:pt x="4172980"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4" name="任意多边形 53"/>
          <p:cNvSpPr/>
          <p:nvPr/>
        </p:nvSpPr>
        <p:spPr>
          <a:xfrm rot="8289040">
            <a:off x="-200025" y="3527823"/>
            <a:ext cx="1385888" cy="34528"/>
          </a:xfrm>
          <a:custGeom>
            <a:avLst/>
            <a:gdLst>
              <a:gd name="connsiteX0" fmla="*/ 0 w 1847733"/>
              <a:gd name="connsiteY0" fmla="*/ 45719 h 45719"/>
              <a:gd name="connsiteX1" fmla="*/ 0 w 1847733"/>
              <a:gd name="connsiteY1" fmla="*/ 0 h 45719"/>
              <a:gd name="connsiteX2" fmla="*/ 1847733 w 1847733"/>
              <a:gd name="connsiteY2" fmla="*/ 0 h 45719"/>
              <a:gd name="connsiteX3" fmla="*/ 1806784 w 18477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47733" h="45719">
                <a:moveTo>
                  <a:pt x="0" y="45719"/>
                </a:moveTo>
                <a:lnTo>
                  <a:pt x="0" y="0"/>
                </a:lnTo>
                <a:lnTo>
                  <a:pt x="1847733" y="0"/>
                </a:lnTo>
                <a:lnTo>
                  <a:pt x="1806784"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任意多边形 51"/>
          <p:cNvSpPr/>
          <p:nvPr/>
        </p:nvSpPr>
        <p:spPr>
          <a:xfrm rot="8289040">
            <a:off x="-221457" y="3196829"/>
            <a:ext cx="1557338" cy="34528"/>
          </a:xfrm>
          <a:custGeom>
            <a:avLst/>
            <a:gdLst>
              <a:gd name="connsiteX0" fmla="*/ 0 w 2076814"/>
              <a:gd name="connsiteY0" fmla="*/ 45719 h 45719"/>
              <a:gd name="connsiteX1" fmla="*/ 0 w 2076814"/>
              <a:gd name="connsiteY1" fmla="*/ 0 h 45719"/>
              <a:gd name="connsiteX2" fmla="*/ 2076814 w 2076814"/>
              <a:gd name="connsiteY2" fmla="*/ 0 h 45719"/>
              <a:gd name="connsiteX3" fmla="*/ 2035866 w 2076814"/>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076814" h="45719">
                <a:moveTo>
                  <a:pt x="0" y="45719"/>
                </a:moveTo>
                <a:lnTo>
                  <a:pt x="0" y="0"/>
                </a:lnTo>
                <a:lnTo>
                  <a:pt x="2076814" y="0"/>
                </a:lnTo>
                <a:lnTo>
                  <a:pt x="2035866"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0" name="任意多边形 59"/>
          <p:cNvSpPr/>
          <p:nvPr/>
        </p:nvSpPr>
        <p:spPr>
          <a:xfrm rot="8289040">
            <a:off x="211931" y="4530329"/>
            <a:ext cx="1824038" cy="34528"/>
          </a:xfrm>
          <a:custGeom>
            <a:avLst/>
            <a:gdLst>
              <a:gd name="connsiteX0" fmla="*/ 0 w 2432620"/>
              <a:gd name="connsiteY0" fmla="*/ 45719 h 45719"/>
              <a:gd name="connsiteX1" fmla="*/ 0 w 2432620"/>
              <a:gd name="connsiteY1" fmla="*/ 0 h 45719"/>
              <a:gd name="connsiteX2" fmla="*/ 2381575 w 2432620"/>
              <a:gd name="connsiteY2" fmla="*/ 0 h 45719"/>
              <a:gd name="connsiteX3" fmla="*/ 2432620 w 243262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432620" h="45719">
                <a:moveTo>
                  <a:pt x="0" y="45719"/>
                </a:moveTo>
                <a:lnTo>
                  <a:pt x="0" y="0"/>
                </a:lnTo>
                <a:lnTo>
                  <a:pt x="2381575" y="0"/>
                </a:lnTo>
                <a:lnTo>
                  <a:pt x="2432620"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0" name="任意多边形 89"/>
          <p:cNvSpPr/>
          <p:nvPr/>
        </p:nvSpPr>
        <p:spPr>
          <a:xfrm rot="8289040">
            <a:off x="2164557" y="4819650"/>
            <a:ext cx="989410" cy="71438"/>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1" name="任意多边形 90"/>
          <p:cNvSpPr/>
          <p:nvPr/>
        </p:nvSpPr>
        <p:spPr>
          <a:xfrm rot="8289040">
            <a:off x="2439591" y="4979194"/>
            <a:ext cx="533400" cy="16669"/>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2" name="任意多边形 91"/>
          <p:cNvSpPr/>
          <p:nvPr/>
        </p:nvSpPr>
        <p:spPr>
          <a:xfrm rot="8289040">
            <a:off x="2603898" y="4937523"/>
            <a:ext cx="653653" cy="16669"/>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3" name="任意多边形 92"/>
          <p:cNvSpPr/>
          <p:nvPr/>
        </p:nvSpPr>
        <p:spPr>
          <a:xfrm rot="8289040">
            <a:off x="1964531" y="4882754"/>
            <a:ext cx="820341" cy="16669"/>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4" name="任意多边形 93"/>
          <p:cNvSpPr/>
          <p:nvPr/>
        </p:nvSpPr>
        <p:spPr>
          <a:xfrm rot="8289040">
            <a:off x="1726406" y="5024438"/>
            <a:ext cx="395288" cy="16669"/>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4" name="等腰三角形 103"/>
          <p:cNvSpPr/>
          <p:nvPr/>
        </p:nvSpPr>
        <p:spPr>
          <a:xfrm rot="8791815">
            <a:off x="3510890" y="415254"/>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5" name="等腰三角形 104"/>
          <p:cNvSpPr/>
          <p:nvPr/>
        </p:nvSpPr>
        <p:spPr>
          <a:xfrm rot="10800000">
            <a:off x="3735451" y="543949"/>
            <a:ext cx="1030688" cy="1037132"/>
          </a:xfrm>
          <a:prstGeom prst="triangle">
            <a:avLst/>
          </a:prstGeom>
          <a:solidFill>
            <a:srgbClr val="66BFBC"/>
          </a:solidFill>
          <a:ln>
            <a:noFill/>
          </a:ln>
          <a:effectLst>
            <a:softEdge rad="3683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6" name="等腰三角形 105"/>
          <p:cNvSpPr/>
          <p:nvPr/>
        </p:nvSpPr>
        <p:spPr>
          <a:xfrm rot="8791815">
            <a:off x="6009085" y="823912"/>
            <a:ext cx="205978"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7" name="等腰三角形 106"/>
          <p:cNvSpPr/>
          <p:nvPr/>
        </p:nvSpPr>
        <p:spPr>
          <a:xfrm rot="8791815">
            <a:off x="6568679" y="3526632"/>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8" name="等腰三角形 107"/>
          <p:cNvSpPr/>
          <p:nvPr/>
        </p:nvSpPr>
        <p:spPr>
          <a:xfrm rot="8791815">
            <a:off x="5689998" y="4532710"/>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9" name="等腰三角形 108"/>
          <p:cNvSpPr/>
          <p:nvPr/>
        </p:nvSpPr>
        <p:spPr>
          <a:xfrm rot="8791815">
            <a:off x="4199335" y="4115991"/>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0" name="等腰三角形 109"/>
          <p:cNvSpPr/>
          <p:nvPr/>
        </p:nvSpPr>
        <p:spPr>
          <a:xfrm rot="8791815">
            <a:off x="3458766" y="3836194"/>
            <a:ext cx="205978" cy="100013"/>
          </a:xfrm>
          <a:prstGeom prs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1" name="等腰三角形 110"/>
          <p:cNvSpPr/>
          <p:nvPr/>
        </p:nvSpPr>
        <p:spPr>
          <a:xfrm rot="8791815">
            <a:off x="4926530" y="3899794"/>
            <a:ext cx="517410" cy="580007"/>
          </a:xfrm>
          <a:prstGeom prst="triangle">
            <a:avLst/>
          </a:prstGeom>
          <a:solidFill>
            <a:srgbClr val="8CC066"/>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2" name="等腰三角形 111"/>
          <p:cNvSpPr/>
          <p:nvPr/>
        </p:nvSpPr>
        <p:spPr>
          <a:xfrm rot="12808185" flipH="1">
            <a:off x="4394598" y="4475560"/>
            <a:ext cx="205978" cy="98822"/>
          </a:xfrm>
          <a:prstGeom prs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3" name="等腰三角形 112"/>
          <p:cNvSpPr/>
          <p:nvPr/>
        </p:nvSpPr>
        <p:spPr>
          <a:xfrm rot="8791815">
            <a:off x="1835944" y="4321969"/>
            <a:ext cx="205979"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5" name="等腰三角形 114"/>
          <p:cNvSpPr/>
          <p:nvPr/>
        </p:nvSpPr>
        <p:spPr>
          <a:xfrm rot="9746558" flipV="1">
            <a:off x="7453390" y="3395174"/>
            <a:ext cx="180053" cy="364038"/>
          </a:xfrm>
          <a:prstGeom prst="triangle">
            <a:avLst>
              <a:gd name="adj" fmla="val 41342"/>
            </a:avLst>
          </a:pr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7" name="直角三角形 116"/>
          <p:cNvSpPr/>
          <p:nvPr/>
        </p:nvSpPr>
        <p:spPr>
          <a:xfrm rot="11669251" flipH="1">
            <a:off x="8460582" y="4707732"/>
            <a:ext cx="160735" cy="160735"/>
          </a:xfrm>
          <a:prstGeom prst="rtTriangle">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1" name="直角三角形 120"/>
          <p:cNvSpPr/>
          <p:nvPr/>
        </p:nvSpPr>
        <p:spPr>
          <a:xfrm rot="8729171" flipH="1">
            <a:off x="3640133" y="4237150"/>
            <a:ext cx="1302486" cy="536711"/>
          </a:xfrm>
          <a:prstGeom prst="rtTriangle">
            <a:avLst/>
          </a:prstGeom>
          <a:solidFill>
            <a:srgbClr val="FBC75D"/>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2" name="直角三角形 121"/>
          <p:cNvSpPr/>
          <p:nvPr/>
        </p:nvSpPr>
        <p:spPr>
          <a:xfrm rot="1054849">
            <a:off x="7460457" y="1371601"/>
            <a:ext cx="117872" cy="145256"/>
          </a:xfrm>
          <a:prstGeom prst="rtTriangle">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5" name="直角三角形 124"/>
          <p:cNvSpPr/>
          <p:nvPr/>
        </p:nvSpPr>
        <p:spPr>
          <a:xfrm rot="11669251" flipH="1">
            <a:off x="8715375" y="4249341"/>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6" name="直角三角形 125"/>
          <p:cNvSpPr/>
          <p:nvPr/>
        </p:nvSpPr>
        <p:spPr>
          <a:xfrm rot="9930749">
            <a:off x="8058150" y="4216004"/>
            <a:ext cx="160735" cy="159544"/>
          </a:xfrm>
          <a:prstGeom prst="r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7" name="直角三角形 126"/>
          <p:cNvSpPr/>
          <p:nvPr/>
        </p:nvSpPr>
        <p:spPr>
          <a:xfrm rot="11669251" flipH="1">
            <a:off x="7781925" y="4777979"/>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8" name="直角三角形 127"/>
          <p:cNvSpPr/>
          <p:nvPr/>
        </p:nvSpPr>
        <p:spPr>
          <a:xfrm rot="9930749">
            <a:off x="8785622" y="3448050"/>
            <a:ext cx="160734" cy="160735"/>
          </a:xfrm>
          <a:prstGeom prst="r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9" name="直角三角形 128"/>
          <p:cNvSpPr/>
          <p:nvPr/>
        </p:nvSpPr>
        <p:spPr>
          <a:xfrm rot="11669251" flipH="1">
            <a:off x="8337947" y="3655219"/>
            <a:ext cx="160734" cy="160735"/>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45" name="任意多边形 144"/>
          <p:cNvSpPr/>
          <p:nvPr/>
        </p:nvSpPr>
        <p:spPr>
          <a:xfrm rot="10011152">
            <a:off x="2789370" y="625995"/>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3" name="任意多边形 152"/>
          <p:cNvSpPr/>
          <p:nvPr/>
        </p:nvSpPr>
        <p:spPr>
          <a:xfrm rot="17730414">
            <a:off x="5966738" y="660491"/>
            <a:ext cx="848059" cy="70666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4" name="任意多边形 153"/>
          <p:cNvSpPr/>
          <p:nvPr/>
        </p:nvSpPr>
        <p:spPr>
          <a:xfrm rot="10011152">
            <a:off x="6686551" y="644129"/>
            <a:ext cx="183356"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6" name="任意多边形 155"/>
          <p:cNvSpPr/>
          <p:nvPr/>
        </p:nvSpPr>
        <p:spPr>
          <a:xfrm rot="10011152">
            <a:off x="7405688" y="760810"/>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7" name="任意多边形 156"/>
          <p:cNvSpPr/>
          <p:nvPr/>
        </p:nvSpPr>
        <p:spPr>
          <a:xfrm rot="10011152">
            <a:off x="4468152" y="340245"/>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8" name="任意多边形 157"/>
          <p:cNvSpPr/>
          <p:nvPr/>
        </p:nvSpPr>
        <p:spPr>
          <a:xfrm rot="10011152">
            <a:off x="3036043" y="825417"/>
            <a:ext cx="707769" cy="952955"/>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FBC75D"/>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1" name="任意多边形 160"/>
          <p:cNvSpPr/>
          <p:nvPr/>
        </p:nvSpPr>
        <p:spPr>
          <a:xfrm rot="17840340">
            <a:off x="2689682" y="3005288"/>
            <a:ext cx="808761" cy="673914"/>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3" name="任意多边形 162"/>
          <p:cNvSpPr/>
          <p:nvPr/>
        </p:nvSpPr>
        <p:spPr>
          <a:xfrm rot="10011152">
            <a:off x="3321844" y="4398169"/>
            <a:ext cx="183356" cy="153591"/>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4" name="组合 164"/>
          <p:cNvGrpSpPr/>
          <p:nvPr/>
        </p:nvGrpSpPr>
        <p:grpSpPr bwMode="auto">
          <a:xfrm rot="11957288">
            <a:off x="1591867" y="1173957"/>
            <a:ext cx="431006" cy="498872"/>
            <a:chOff x="10670736" y="3241053"/>
            <a:chExt cx="917923" cy="1060882"/>
          </a:xfrm>
        </p:grpSpPr>
        <p:sp>
          <p:nvSpPr>
            <p:cNvPr id="166" name="等腰三角形 16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7" name="等腰三角形 16"/>
            <p:cNvSpPr/>
            <p:nvPr/>
          </p:nvSpPr>
          <p:spPr>
            <a:xfrm rot="20901646">
              <a:off x="10891792" y="3387535"/>
              <a:ext cx="696867"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grpSp>
        <p:nvGrpSpPr>
          <p:cNvPr id="55" name="组合 54"/>
          <p:cNvGrpSpPr/>
          <p:nvPr/>
        </p:nvGrpSpPr>
        <p:grpSpPr>
          <a:xfrm>
            <a:off x="3329517" y="3787579"/>
            <a:ext cx="1990725" cy="328613"/>
            <a:chOff x="3576638" y="3250844"/>
            <a:chExt cx="1990725" cy="328613"/>
          </a:xfrm>
        </p:grpSpPr>
        <p:grpSp>
          <p:nvGrpSpPr>
            <p:cNvPr id="6" name="组合 85"/>
            <p:cNvGrpSpPr/>
            <p:nvPr/>
          </p:nvGrpSpPr>
          <p:grpSpPr bwMode="auto">
            <a:xfrm>
              <a:off x="4685110" y="3250844"/>
              <a:ext cx="327422" cy="328613"/>
              <a:chOff x="5477628" y="816362"/>
              <a:chExt cx="1120629" cy="1120629"/>
            </a:xfrm>
          </p:grpSpPr>
          <p:sp>
            <p:nvSpPr>
              <p:cNvPr id="87" name="椭圆 86"/>
              <p:cNvSpPr/>
              <p:nvPr/>
            </p:nvSpPr>
            <p:spPr>
              <a:xfrm>
                <a:off x="5477628" y="816362"/>
                <a:ext cx="1120629" cy="1120629"/>
              </a:xfrm>
              <a:prstGeom prst="ellipse">
                <a:avLst/>
              </a:prstGeom>
              <a:pattFill prst="wdUpDiag">
                <a:fgClr>
                  <a:srgbClr val="FACA5E"/>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9" name="椭圆 88"/>
              <p:cNvSpPr/>
              <p:nvPr/>
            </p:nvSpPr>
            <p:spPr>
              <a:xfrm>
                <a:off x="5563202" y="897567"/>
                <a:ext cx="949481" cy="954160"/>
              </a:xfrm>
              <a:prstGeom prst="ellipse">
                <a:avLst/>
              </a:prstGeom>
              <a:solidFill>
                <a:srgbClr val="FACA5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7" name="组合 94"/>
              <p:cNvGrpSpPr>
                <a:grpSpLocks noChangeAspect="1"/>
              </p:cNvGrpSpPr>
              <p:nvPr/>
            </p:nvGrpSpPr>
            <p:grpSpPr>
              <a:xfrm>
                <a:off x="5768479" y="1056071"/>
                <a:ext cx="566457" cy="566457"/>
                <a:chOff x="6267960" y="2101505"/>
                <a:chExt cx="731377" cy="731377"/>
              </a:xfrm>
              <a:solidFill>
                <a:schemeClr val="bg1"/>
              </a:solidFill>
            </p:grpSpPr>
            <p:sp>
              <p:nvSpPr>
                <p:cNvPr id="97" name="Freeform 578"/>
                <p:cNvSpPr/>
                <p:nvPr/>
              </p:nvSpPr>
              <p:spPr bwMode="auto">
                <a:xfrm>
                  <a:off x="6859409" y="2488832"/>
                  <a:ext cx="97373" cy="194024"/>
                </a:xfrm>
                <a:custGeom>
                  <a:avLst/>
                  <a:gdLst>
                    <a:gd name="T0" fmla="*/ 0 w 57"/>
                    <a:gd name="T1" fmla="*/ 99 h 114"/>
                    <a:gd name="T2" fmla="*/ 22 w 57"/>
                    <a:gd name="T3" fmla="*/ 114 h 114"/>
                    <a:gd name="T4" fmla="*/ 57 w 57"/>
                    <a:gd name="T5" fmla="*/ 0 h 114"/>
                    <a:gd name="T6" fmla="*/ 31 w 57"/>
                    <a:gd name="T7" fmla="*/ 0 h 114"/>
                    <a:gd name="T8" fmla="*/ 0 w 57"/>
                    <a:gd name="T9" fmla="*/ 99 h 114"/>
                  </a:gdLst>
                  <a:ahLst/>
                  <a:cxnLst>
                    <a:cxn ang="0">
                      <a:pos x="T0" y="T1"/>
                    </a:cxn>
                    <a:cxn ang="0">
                      <a:pos x="T2" y="T3"/>
                    </a:cxn>
                    <a:cxn ang="0">
                      <a:pos x="T4" y="T5"/>
                    </a:cxn>
                    <a:cxn ang="0">
                      <a:pos x="T6" y="T7"/>
                    </a:cxn>
                    <a:cxn ang="0">
                      <a:pos x="T8" y="T9"/>
                    </a:cxn>
                  </a:cxnLst>
                  <a:rect l="0" t="0" r="r" b="b"/>
                  <a:pathLst>
                    <a:path w="57" h="114">
                      <a:moveTo>
                        <a:pt x="0" y="99"/>
                      </a:moveTo>
                      <a:cubicBezTo>
                        <a:pt x="22" y="114"/>
                        <a:pt x="22" y="114"/>
                        <a:pt x="22" y="114"/>
                      </a:cubicBezTo>
                      <a:cubicBezTo>
                        <a:pt x="44" y="82"/>
                        <a:pt x="57" y="42"/>
                        <a:pt x="57" y="0"/>
                      </a:cubicBezTo>
                      <a:cubicBezTo>
                        <a:pt x="31" y="0"/>
                        <a:pt x="31" y="0"/>
                        <a:pt x="31" y="0"/>
                      </a:cubicBezTo>
                      <a:cubicBezTo>
                        <a:pt x="31" y="37"/>
                        <a:pt x="20" y="71"/>
                        <a:pt x="0" y="99"/>
                      </a:cubicBez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00" name="Freeform 579"/>
                <p:cNvSpPr/>
                <p:nvPr/>
              </p:nvSpPr>
              <p:spPr bwMode="auto">
                <a:xfrm>
                  <a:off x="6637976" y="2101505"/>
                  <a:ext cx="361361" cy="362804"/>
                </a:xfrm>
                <a:custGeom>
                  <a:avLst/>
                  <a:gdLst>
                    <a:gd name="T0" fmla="*/ 187 w 212"/>
                    <a:gd name="T1" fmla="*/ 213 h 213"/>
                    <a:gd name="T2" fmla="*/ 212 w 212"/>
                    <a:gd name="T3" fmla="*/ 213 h 213"/>
                    <a:gd name="T4" fmla="*/ 0 w 212"/>
                    <a:gd name="T5" fmla="*/ 0 h 213"/>
                    <a:gd name="T6" fmla="*/ 0 w 212"/>
                    <a:gd name="T7" fmla="*/ 25 h 213"/>
                    <a:gd name="T8" fmla="*/ 0 w 212"/>
                    <a:gd name="T9" fmla="*/ 52 h 213"/>
                    <a:gd name="T10" fmla="*/ 0 w 212"/>
                    <a:gd name="T11" fmla="*/ 213 h 213"/>
                    <a:gd name="T12" fmla="*/ 160 w 212"/>
                    <a:gd name="T13" fmla="*/ 213 h 213"/>
                    <a:gd name="T14" fmla="*/ 187 w 212"/>
                    <a:gd name="T15" fmla="*/ 213 h 2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2" h="213">
                      <a:moveTo>
                        <a:pt x="187" y="213"/>
                      </a:moveTo>
                      <a:cubicBezTo>
                        <a:pt x="212" y="213"/>
                        <a:pt x="212" y="213"/>
                        <a:pt x="212" y="213"/>
                      </a:cubicBezTo>
                      <a:cubicBezTo>
                        <a:pt x="187" y="7"/>
                        <a:pt x="0" y="0"/>
                        <a:pt x="0" y="0"/>
                      </a:cubicBezTo>
                      <a:cubicBezTo>
                        <a:pt x="0" y="25"/>
                        <a:pt x="0" y="25"/>
                        <a:pt x="0" y="25"/>
                      </a:cubicBezTo>
                      <a:cubicBezTo>
                        <a:pt x="0" y="52"/>
                        <a:pt x="0" y="52"/>
                        <a:pt x="0" y="52"/>
                      </a:cubicBezTo>
                      <a:cubicBezTo>
                        <a:pt x="0" y="213"/>
                        <a:pt x="0" y="213"/>
                        <a:pt x="0" y="213"/>
                      </a:cubicBezTo>
                      <a:cubicBezTo>
                        <a:pt x="160" y="213"/>
                        <a:pt x="160" y="213"/>
                        <a:pt x="160" y="213"/>
                      </a:cubicBezTo>
                      <a:lnTo>
                        <a:pt x="187" y="213"/>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01" name="Freeform 580"/>
                <p:cNvSpPr/>
                <p:nvPr/>
              </p:nvSpPr>
              <p:spPr bwMode="auto">
                <a:xfrm>
                  <a:off x="6267960" y="2144060"/>
                  <a:ext cx="605154" cy="688822"/>
                </a:xfrm>
                <a:custGeom>
                  <a:avLst/>
                  <a:gdLst>
                    <a:gd name="T0" fmla="*/ 202 w 355"/>
                    <a:gd name="T1" fmla="*/ 202 h 404"/>
                    <a:gd name="T2" fmla="*/ 202 w 355"/>
                    <a:gd name="T3" fmla="*/ 26 h 404"/>
                    <a:gd name="T4" fmla="*/ 202 w 355"/>
                    <a:gd name="T5" fmla="*/ 0 h 404"/>
                    <a:gd name="T6" fmla="*/ 0 w 355"/>
                    <a:gd name="T7" fmla="*/ 202 h 404"/>
                    <a:gd name="T8" fmla="*/ 202 w 355"/>
                    <a:gd name="T9" fmla="*/ 404 h 404"/>
                    <a:gd name="T10" fmla="*/ 355 w 355"/>
                    <a:gd name="T11" fmla="*/ 335 h 404"/>
                    <a:gd name="T12" fmla="*/ 335 w 355"/>
                    <a:gd name="T13" fmla="*/ 317 h 404"/>
                    <a:gd name="T14" fmla="*/ 202 w 355"/>
                    <a:gd name="T15" fmla="*/ 202 h 4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5" h="404">
                      <a:moveTo>
                        <a:pt x="202" y="202"/>
                      </a:moveTo>
                      <a:cubicBezTo>
                        <a:pt x="202" y="26"/>
                        <a:pt x="202" y="26"/>
                        <a:pt x="202" y="26"/>
                      </a:cubicBezTo>
                      <a:cubicBezTo>
                        <a:pt x="202" y="0"/>
                        <a:pt x="202" y="0"/>
                        <a:pt x="202" y="0"/>
                      </a:cubicBezTo>
                      <a:cubicBezTo>
                        <a:pt x="91" y="0"/>
                        <a:pt x="0" y="90"/>
                        <a:pt x="0" y="202"/>
                      </a:cubicBezTo>
                      <a:cubicBezTo>
                        <a:pt x="0" y="314"/>
                        <a:pt x="91" y="404"/>
                        <a:pt x="202" y="404"/>
                      </a:cubicBezTo>
                      <a:cubicBezTo>
                        <a:pt x="263" y="404"/>
                        <a:pt x="318" y="377"/>
                        <a:pt x="355" y="335"/>
                      </a:cubicBezTo>
                      <a:cubicBezTo>
                        <a:pt x="335" y="317"/>
                        <a:pt x="335" y="317"/>
                        <a:pt x="335" y="317"/>
                      </a:cubicBezTo>
                      <a:lnTo>
                        <a:pt x="202" y="202"/>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grpSp>
        </p:grpSp>
        <p:grpSp>
          <p:nvGrpSpPr>
            <p:cNvPr id="8" name="组合 101"/>
            <p:cNvGrpSpPr/>
            <p:nvPr/>
          </p:nvGrpSpPr>
          <p:grpSpPr bwMode="auto">
            <a:xfrm>
              <a:off x="5239941" y="3250844"/>
              <a:ext cx="327422" cy="328613"/>
              <a:chOff x="5477628" y="2367482"/>
              <a:chExt cx="1120629" cy="1120629"/>
            </a:xfrm>
          </p:grpSpPr>
          <p:sp>
            <p:nvSpPr>
              <p:cNvPr id="114" name="椭圆 113"/>
              <p:cNvSpPr/>
              <p:nvPr/>
            </p:nvSpPr>
            <p:spPr>
              <a:xfrm>
                <a:off x="5477628" y="2367482"/>
                <a:ext cx="1120629" cy="1120629"/>
              </a:xfrm>
              <a:prstGeom prst="ellipse">
                <a:avLst/>
              </a:prstGeom>
              <a:pattFill prst="wdUpDiag">
                <a:fgClr>
                  <a:srgbClr val="FD6D5C"/>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6" name="椭圆 115"/>
              <p:cNvSpPr/>
              <p:nvPr/>
            </p:nvSpPr>
            <p:spPr>
              <a:xfrm>
                <a:off x="5563202" y="2456808"/>
                <a:ext cx="949481" cy="954160"/>
              </a:xfrm>
              <a:prstGeom prst="ellipse">
                <a:avLst/>
              </a:prstGeom>
              <a:solidFill>
                <a:srgbClr val="FD6D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11" name="组合 117"/>
              <p:cNvGrpSpPr>
                <a:grpSpLocks noChangeAspect="1"/>
              </p:cNvGrpSpPr>
              <p:nvPr/>
            </p:nvGrpSpPr>
            <p:grpSpPr>
              <a:xfrm>
                <a:off x="5795817" y="2669148"/>
                <a:ext cx="556960" cy="512269"/>
                <a:chOff x="8374817" y="3976831"/>
                <a:chExt cx="719115" cy="661413"/>
              </a:xfrm>
              <a:solidFill>
                <a:schemeClr val="bg1"/>
              </a:solidFill>
            </p:grpSpPr>
            <p:sp>
              <p:nvSpPr>
                <p:cNvPr id="119" name="Freeform 44"/>
                <p:cNvSpPr/>
                <p:nvPr/>
              </p:nvSpPr>
              <p:spPr bwMode="auto">
                <a:xfrm>
                  <a:off x="9018919" y="4072040"/>
                  <a:ext cx="75013" cy="68522"/>
                </a:xfrm>
                <a:custGeom>
                  <a:avLst/>
                  <a:gdLst>
                    <a:gd name="T0" fmla="*/ 28 w 44"/>
                    <a:gd name="T1" fmla="*/ 11 h 40"/>
                    <a:gd name="T2" fmla="*/ 0 w 44"/>
                    <a:gd name="T3" fmla="*/ 18 h 40"/>
                    <a:gd name="T4" fmla="*/ 31 w 44"/>
                    <a:gd name="T5" fmla="*/ 40 h 40"/>
                    <a:gd name="T6" fmla="*/ 28 w 44"/>
                    <a:gd name="T7" fmla="*/ 11 h 40"/>
                  </a:gdLst>
                  <a:ahLst/>
                  <a:cxnLst>
                    <a:cxn ang="0">
                      <a:pos x="T0" y="T1"/>
                    </a:cxn>
                    <a:cxn ang="0">
                      <a:pos x="T2" y="T3"/>
                    </a:cxn>
                    <a:cxn ang="0">
                      <a:pos x="T4" y="T5"/>
                    </a:cxn>
                    <a:cxn ang="0">
                      <a:pos x="T6" y="T7"/>
                    </a:cxn>
                  </a:cxnLst>
                  <a:rect l="0" t="0" r="r" b="b"/>
                  <a:pathLst>
                    <a:path w="44" h="40">
                      <a:moveTo>
                        <a:pt x="28" y="11"/>
                      </a:moveTo>
                      <a:cubicBezTo>
                        <a:pt x="13" y="0"/>
                        <a:pt x="0" y="18"/>
                        <a:pt x="0" y="18"/>
                      </a:cubicBezTo>
                      <a:cubicBezTo>
                        <a:pt x="31" y="40"/>
                        <a:pt x="31" y="40"/>
                        <a:pt x="31" y="40"/>
                      </a:cubicBezTo>
                      <a:cubicBezTo>
                        <a:pt x="31" y="40"/>
                        <a:pt x="44" y="22"/>
                        <a:pt x="28" y="11"/>
                      </a:cubicBez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20" name="Freeform 45"/>
                <p:cNvSpPr/>
                <p:nvPr/>
              </p:nvSpPr>
              <p:spPr bwMode="auto">
                <a:xfrm>
                  <a:off x="8831387" y="4116759"/>
                  <a:ext cx="230088" cy="284184"/>
                </a:xfrm>
                <a:custGeom>
                  <a:avLst/>
                  <a:gdLst>
                    <a:gd name="T0" fmla="*/ 187 w 319"/>
                    <a:gd name="T1" fmla="*/ 85 h 394"/>
                    <a:gd name="T2" fmla="*/ 156 w 319"/>
                    <a:gd name="T3" fmla="*/ 125 h 394"/>
                    <a:gd name="T4" fmla="*/ 104 w 319"/>
                    <a:gd name="T5" fmla="*/ 198 h 394"/>
                    <a:gd name="T6" fmla="*/ 0 w 319"/>
                    <a:gd name="T7" fmla="*/ 342 h 394"/>
                    <a:gd name="T8" fmla="*/ 74 w 319"/>
                    <a:gd name="T9" fmla="*/ 394 h 394"/>
                    <a:gd name="T10" fmla="*/ 104 w 319"/>
                    <a:gd name="T11" fmla="*/ 352 h 394"/>
                    <a:gd name="T12" fmla="*/ 130 w 319"/>
                    <a:gd name="T13" fmla="*/ 314 h 394"/>
                    <a:gd name="T14" fmla="*/ 156 w 319"/>
                    <a:gd name="T15" fmla="*/ 276 h 394"/>
                    <a:gd name="T16" fmla="*/ 319 w 319"/>
                    <a:gd name="T17" fmla="*/ 52 h 394"/>
                    <a:gd name="T18" fmla="*/ 248 w 319"/>
                    <a:gd name="T19" fmla="*/ 0 h 394"/>
                    <a:gd name="T20" fmla="*/ 187 w 319"/>
                    <a:gd name="T21" fmla="*/ 85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9" h="394">
                      <a:moveTo>
                        <a:pt x="187" y="85"/>
                      </a:moveTo>
                      <a:lnTo>
                        <a:pt x="156" y="125"/>
                      </a:lnTo>
                      <a:lnTo>
                        <a:pt x="104" y="198"/>
                      </a:lnTo>
                      <a:lnTo>
                        <a:pt x="0" y="342"/>
                      </a:lnTo>
                      <a:lnTo>
                        <a:pt x="74" y="394"/>
                      </a:lnTo>
                      <a:lnTo>
                        <a:pt x="104" y="352"/>
                      </a:lnTo>
                      <a:lnTo>
                        <a:pt x="130" y="314"/>
                      </a:lnTo>
                      <a:lnTo>
                        <a:pt x="156" y="276"/>
                      </a:lnTo>
                      <a:lnTo>
                        <a:pt x="319" y="52"/>
                      </a:lnTo>
                      <a:lnTo>
                        <a:pt x="248" y="0"/>
                      </a:lnTo>
                      <a:lnTo>
                        <a:pt x="187" y="85"/>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23" name="Freeform 46"/>
                <p:cNvSpPr/>
                <p:nvPr/>
              </p:nvSpPr>
              <p:spPr bwMode="auto">
                <a:xfrm>
                  <a:off x="8374817" y="3976831"/>
                  <a:ext cx="569090" cy="661413"/>
                </a:xfrm>
                <a:custGeom>
                  <a:avLst/>
                  <a:gdLst>
                    <a:gd name="T0" fmla="*/ 312 w 334"/>
                    <a:gd name="T1" fmla="*/ 348 h 388"/>
                    <a:gd name="T2" fmla="*/ 293 w 334"/>
                    <a:gd name="T3" fmla="*/ 366 h 388"/>
                    <a:gd name="T4" fmla="*/ 40 w 334"/>
                    <a:gd name="T5" fmla="*/ 366 h 388"/>
                    <a:gd name="T6" fmla="*/ 22 w 334"/>
                    <a:gd name="T7" fmla="*/ 348 h 388"/>
                    <a:gd name="T8" fmla="*/ 22 w 334"/>
                    <a:gd name="T9" fmla="*/ 41 h 388"/>
                    <a:gd name="T10" fmla="*/ 40 w 334"/>
                    <a:gd name="T11" fmla="*/ 23 h 388"/>
                    <a:gd name="T12" fmla="*/ 293 w 334"/>
                    <a:gd name="T13" fmla="*/ 23 h 388"/>
                    <a:gd name="T14" fmla="*/ 312 w 334"/>
                    <a:gd name="T15" fmla="*/ 41 h 388"/>
                    <a:gd name="T16" fmla="*/ 312 w 334"/>
                    <a:gd name="T17" fmla="*/ 140 h 388"/>
                    <a:gd name="T18" fmla="*/ 334 w 334"/>
                    <a:gd name="T19" fmla="*/ 109 h 388"/>
                    <a:gd name="T20" fmla="*/ 334 w 334"/>
                    <a:gd name="T21" fmla="*/ 21 h 388"/>
                    <a:gd name="T22" fmla="*/ 313 w 334"/>
                    <a:gd name="T23" fmla="*/ 0 h 388"/>
                    <a:gd name="T24" fmla="*/ 21 w 334"/>
                    <a:gd name="T25" fmla="*/ 0 h 388"/>
                    <a:gd name="T26" fmla="*/ 0 w 334"/>
                    <a:gd name="T27" fmla="*/ 21 h 388"/>
                    <a:gd name="T28" fmla="*/ 0 w 334"/>
                    <a:gd name="T29" fmla="*/ 368 h 388"/>
                    <a:gd name="T30" fmla="*/ 21 w 334"/>
                    <a:gd name="T31" fmla="*/ 388 h 388"/>
                    <a:gd name="T32" fmla="*/ 313 w 334"/>
                    <a:gd name="T33" fmla="*/ 388 h 388"/>
                    <a:gd name="T34" fmla="*/ 334 w 334"/>
                    <a:gd name="T35" fmla="*/ 368 h 388"/>
                    <a:gd name="T36" fmla="*/ 334 w 334"/>
                    <a:gd name="T37" fmla="*/ 223 h 388"/>
                    <a:gd name="T38" fmla="*/ 312 w 334"/>
                    <a:gd name="T39" fmla="*/ 254 h 388"/>
                    <a:gd name="T40" fmla="*/ 312 w 334"/>
                    <a:gd name="T41" fmla="*/ 348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4" h="388">
                      <a:moveTo>
                        <a:pt x="312" y="348"/>
                      </a:moveTo>
                      <a:cubicBezTo>
                        <a:pt x="312" y="358"/>
                        <a:pt x="303" y="366"/>
                        <a:pt x="293" y="366"/>
                      </a:cubicBezTo>
                      <a:cubicBezTo>
                        <a:pt x="40" y="366"/>
                        <a:pt x="40" y="366"/>
                        <a:pt x="40" y="366"/>
                      </a:cubicBezTo>
                      <a:cubicBezTo>
                        <a:pt x="30" y="366"/>
                        <a:pt x="22" y="358"/>
                        <a:pt x="22" y="348"/>
                      </a:cubicBezTo>
                      <a:cubicBezTo>
                        <a:pt x="22" y="41"/>
                        <a:pt x="22" y="41"/>
                        <a:pt x="22" y="41"/>
                      </a:cubicBezTo>
                      <a:cubicBezTo>
                        <a:pt x="22" y="31"/>
                        <a:pt x="30" y="23"/>
                        <a:pt x="40" y="23"/>
                      </a:cubicBezTo>
                      <a:cubicBezTo>
                        <a:pt x="293" y="23"/>
                        <a:pt x="293" y="23"/>
                        <a:pt x="293" y="23"/>
                      </a:cubicBezTo>
                      <a:cubicBezTo>
                        <a:pt x="303" y="23"/>
                        <a:pt x="312" y="31"/>
                        <a:pt x="312" y="41"/>
                      </a:cubicBezTo>
                      <a:cubicBezTo>
                        <a:pt x="312" y="140"/>
                        <a:pt x="312" y="140"/>
                        <a:pt x="312" y="140"/>
                      </a:cubicBezTo>
                      <a:cubicBezTo>
                        <a:pt x="334" y="109"/>
                        <a:pt x="334" y="109"/>
                        <a:pt x="334" y="109"/>
                      </a:cubicBezTo>
                      <a:cubicBezTo>
                        <a:pt x="334" y="21"/>
                        <a:pt x="334" y="21"/>
                        <a:pt x="334" y="21"/>
                      </a:cubicBezTo>
                      <a:cubicBezTo>
                        <a:pt x="334" y="10"/>
                        <a:pt x="325" y="0"/>
                        <a:pt x="313" y="0"/>
                      </a:cubicBezTo>
                      <a:cubicBezTo>
                        <a:pt x="21" y="0"/>
                        <a:pt x="21" y="0"/>
                        <a:pt x="21" y="0"/>
                      </a:cubicBezTo>
                      <a:cubicBezTo>
                        <a:pt x="9" y="0"/>
                        <a:pt x="0" y="10"/>
                        <a:pt x="0" y="21"/>
                      </a:cubicBezTo>
                      <a:cubicBezTo>
                        <a:pt x="0" y="368"/>
                        <a:pt x="0" y="368"/>
                        <a:pt x="0" y="368"/>
                      </a:cubicBezTo>
                      <a:cubicBezTo>
                        <a:pt x="0" y="379"/>
                        <a:pt x="9" y="388"/>
                        <a:pt x="21" y="388"/>
                      </a:cubicBezTo>
                      <a:cubicBezTo>
                        <a:pt x="313" y="388"/>
                        <a:pt x="313" y="388"/>
                        <a:pt x="313" y="388"/>
                      </a:cubicBezTo>
                      <a:cubicBezTo>
                        <a:pt x="325" y="388"/>
                        <a:pt x="334" y="379"/>
                        <a:pt x="334" y="368"/>
                      </a:cubicBezTo>
                      <a:cubicBezTo>
                        <a:pt x="334" y="223"/>
                        <a:pt x="334" y="223"/>
                        <a:pt x="334" y="223"/>
                      </a:cubicBezTo>
                      <a:cubicBezTo>
                        <a:pt x="312" y="254"/>
                        <a:pt x="312" y="254"/>
                        <a:pt x="312" y="254"/>
                      </a:cubicBezTo>
                      <a:lnTo>
                        <a:pt x="312" y="348"/>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24" name="Freeform 47"/>
                <p:cNvSpPr/>
                <p:nvPr/>
              </p:nvSpPr>
              <p:spPr bwMode="auto">
                <a:xfrm>
                  <a:off x="8806142" y="4377142"/>
                  <a:ext cx="67800" cy="77177"/>
                </a:xfrm>
                <a:custGeom>
                  <a:avLst/>
                  <a:gdLst>
                    <a:gd name="T0" fmla="*/ 21 w 94"/>
                    <a:gd name="T1" fmla="*/ 0 h 107"/>
                    <a:gd name="T2" fmla="*/ 0 w 94"/>
                    <a:gd name="T3" fmla="*/ 107 h 107"/>
                    <a:gd name="T4" fmla="*/ 94 w 94"/>
                    <a:gd name="T5" fmla="*/ 52 h 107"/>
                    <a:gd name="T6" fmla="*/ 21 w 94"/>
                    <a:gd name="T7" fmla="*/ 0 h 107"/>
                  </a:gdLst>
                  <a:ahLst/>
                  <a:cxnLst>
                    <a:cxn ang="0">
                      <a:pos x="T0" y="T1"/>
                    </a:cxn>
                    <a:cxn ang="0">
                      <a:pos x="T2" y="T3"/>
                    </a:cxn>
                    <a:cxn ang="0">
                      <a:pos x="T4" y="T5"/>
                    </a:cxn>
                    <a:cxn ang="0">
                      <a:pos x="T6" y="T7"/>
                    </a:cxn>
                  </a:cxnLst>
                  <a:rect l="0" t="0" r="r" b="b"/>
                  <a:pathLst>
                    <a:path w="94" h="107">
                      <a:moveTo>
                        <a:pt x="21" y="0"/>
                      </a:moveTo>
                      <a:lnTo>
                        <a:pt x="0" y="107"/>
                      </a:lnTo>
                      <a:lnTo>
                        <a:pt x="94" y="52"/>
                      </a:lnTo>
                      <a:lnTo>
                        <a:pt x="21" y="0"/>
                      </a:lnTo>
                      <a:close/>
                    </a:path>
                  </a:pathLst>
                </a:cu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0" name="Rectangle 48"/>
                <p:cNvSpPr>
                  <a:spLocks noChangeArrowheads="1"/>
                </p:cNvSpPr>
                <p:nvPr/>
              </p:nvSpPr>
              <p:spPr bwMode="auto">
                <a:xfrm>
                  <a:off x="8459928" y="4504808"/>
                  <a:ext cx="228646" cy="34621"/>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1" name="Rectangle 49"/>
                <p:cNvSpPr>
                  <a:spLocks noChangeArrowheads="1"/>
                </p:cNvSpPr>
                <p:nvPr/>
              </p:nvSpPr>
              <p:spPr bwMode="auto">
                <a:xfrm>
                  <a:off x="8459928" y="4428352"/>
                  <a:ext cx="228646" cy="33900"/>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2" name="Rectangle 50"/>
                <p:cNvSpPr>
                  <a:spLocks noChangeArrowheads="1"/>
                </p:cNvSpPr>
                <p:nvPr/>
              </p:nvSpPr>
              <p:spPr bwMode="auto">
                <a:xfrm>
                  <a:off x="8459928" y="4354782"/>
                  <a:ext cx="228646" cy="32458"/>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3" name="Rectangle 51"/>
                <p:cNvSpPr>
                  <a:spLocks noChangeArrowheads="1"/>
                </p:cNvSpPr>
                <p:nvPr/>
              </p:nvSpPr>
              <p:spPr bwMode="auto">
                <a:xfrm>
                  <a:off x="8459928" y="4278326"/>
                  <a:ext cx="228646" cy="32458"/>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4" name="Rectangle 52"/>
                <p:cNvSpPr>
                  <a:spLocks noChangeArrowheads="1"/>
                </p:cNvSpPr>
                <p:nvPr/>
              </p:nvSpPr>
              <p:spPr bwMode="auto">
                <a:xfrm>
                  <a:off x="8459928" y="4201870"/>
                  <a:ext cx="228646" cy="33900"/>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sp>
              <p:nvSpPr>
                <p:cNvPr id="135" name="Rectangle 53"/>
                <p:cNvSpPr>
                  <a:spLocks noChangeArrowheads="1"/>
                </p:cNvSpPr>
                <p:nvPr/>
              </p:nvSpPr>
              <p:spPr bwMode="auto">
                <a:xfrm>
                  <a:off x="8459928" y="4124694"/>
                  <a:ext cx="228646" cy="34621"/>
                </a:xfrm>
                <a:prstGeom prst="rect">
                  <a:avLst/>
                </a:prstGeom>
                <a:grpFill/>
                <a:ln>
                  <a:noFill/>
                </a:ln>
              </p:spPr>
              <p:txBody>
                <a:bodyPr/>
                <a:lstStyle/>
                <a:p>
                  <a:pPr defTabSz="685800">
                    <a:defRPr/>
                  </a:pPr>
                  <a:endParaRPr lang="zh-CN" altLang="en-US" sz="1350">
                    <a:solidFill>
                      <a:prstClr val="black"/>
                    </a:solidFill>
                    <a:latin typeface="Arial" panose="020B0604020202020204"/>
                    <a:ea typeface="幼圆" panose="02010509060101010101" pitchFamily="49" charset="-122"/>
                  </a:endParaRPr>
                </a:p>
              </p:txBody>
            </p:sp>
          </p:grpSp>
        </p:grpSp>
        <p:grpSp>
          <p:nvGrpSpPr>
            <p:cNvPr id="14" name="组合 135"/>
            <p:cNvGrpSpPr/>
            <p:nvPr/>
          </p:nvGrpSpPr>
          <p:grpSpPr bwMode="auto">
            <a:xfrm>
              <a:off x="3576638" y="3250844"/>
              <a:ext cx="327422" cy="328613"/>
              <a:chOff x="5477628" y="2052505"/>
              <a:chExt cx="1120629" cy="1120629"/>
            </a:xfrm>
          </p:grpSpPr>
          <p:sp>
            <p:nvSpPr>
              <p:cNvPr id="137" name="椭圆 136"/>
              <p:cNvSpPr/>
              <p:nvPr/>
            </p:nvSpPr>
            <p:spPr>
              <a:xfrm>
                <a:off x="5477628" y="2052505"/>
                <a:ext cx="1120629" cy="1120629"/>
              </a:xfrm>
              <a:prstGeom prst="ellipse">
                <a:avLst/>
              </a:prstGeom>
              <a:pattFill prst="wdUpDiag">
                <a:fgClr>
                  <a:srgbClr val="6080A6"/>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6741" name="组合 137"/>
              <p:cNvGrpSpPr/>
              <p:nvPr/>
            </p:nvGrpSpPr>
            <p:grpSpPr bwMode="auto">
              <a:xfrm>
                <a:off x="5561692" y="2136569"/>
                <a:ext cx="952500" cy="952500"/>
                <a:chOff x="5561693" y="2132697"/>
                <a:chExt cx="952500" cy="952500"/>
              </a:xfrm>
            </p:grpSpPr>
            <p:sp>
              <p:nvSpPr>
                <p:cNvPr id="139" name="椭圆 138"/>
                <p:cNvSpPr/>
                <p:nvPr/>
              </p:nvSpPr>
              <p:spPr>
                <a:xfrm>
                  <a:off x="5563205" y="2133899"/>
                  <a:ext cx="949476" cy="950098"/>
                </a:xfrm>
                <a:prstGeom prst="ellipse">
                  <a:avLst/>
                </a:prstGeom>
                <a:solidFill>
                  <a:srgbClr val="6080A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19" name="组合 139"/>
                <p:cNvGrpSpPr>
                  <a:grpSpLocks noChangeAspect="1"/>
                </p:cNvGrpSpPr>
                <p:nvPr/>
              </p:nvGrpSpPr>
              <p:grpSpPr>
                <a:xfrm>
                  <a:off x="5786662" y="2400413"/>
                  <a:ext cx="502563" cy="417068"/>
                  <a:chOff x="9404083" y="1238855"/>
                  <a:chExt cx="801342" cy="665020"/>
                </a:xfrm>
                <a:solidFill>
                  <a:schemeClr val="bg1"/>
                </a:solidFill>
              </p:grpSpPr>
              <p:sp>
                <p:nvSpPr>
                  <p:cNvPr id="141" name="Freeform 583"/>
                  <p:cNvSpPr/>
                  <p:nvPr/>
                </p:nvSpPr>
                <p:spPr bwMode="auto">
                  <a:xfrm>
                    <a:off x="9404083" y="1238855"/>
                    <a:ext cx="801342" cy="308708"/>
                  </a:xfrm>
                  <a:custGeom>
                    <a:avLst/>
                    <a:gdLst>
                      <a:gd name="T0" fmla="*/ 924 w 1111"/>
                      <a:gd name="T1" fmla="*/ 0 h 428"/>
                      <a:gd name="T2" fmla="*/ 958 w 1111"/>
                      <a:gd name="T3" fmla="*/ 55 h 428"/>
                      <a:gd name="T4" fmla="*/ 542 w 1111"/>
                      <a:gd name="T5" fmla="*/ 281 h 428"/>
                      <a:gd name="T6" fmla="*/ 0 w 1111"/>
                      <a:gd name="T7" fmla="*/ 355 h 428"/>
                      <a:gd name="T8" fmla="*/ 3 w 1111"/>
                      <a:gd name="T9" fmla="*/ 428 h 428"/>
                      <a:gd name="T10" fmla="*/ 570 w 1111"/>
                      <a:gd name="T11" fmla="*/ 355 h 428"/>
                      <a:gd name="T12" fmla="*/ 986 w 1111"/>
                      <a:gd name="T13" fmla="*/ 121 h 428"/>
                      <a:gd name="T14" fmla="*/ 1021 w 1111"/>
                      <a:gd name="T15" fmla="*/ 184 h 428"/>
                      <a:gd name="T16" fmla="*/ 1111 w 1111"/>
                      <a:gd name="T17" fmla="*/ 0 h 428"/>
                      <a:gd name="T18" fmla="*/ 924 w 1111"/>
                      <a:gd name="T19" fmla="*/ 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1" h="428">
                        <a:moveTo>
                          <a:pt x="924" y="0"/>
                        </a:moveTo>
                        <a:lnTo>
                          <a:pt x="958" y="55"/>
                        </a:lnTo>
                        <a:lnTo>
                          <a:pt x="542" y="281"/>
                        </a:lnTo>
                        <a:lnTo>
                          <a:pt x="0" y="355"/>
                        </a:lnTo>
                        <a:lnTo>
                          <a:pt x="3" y="428"/>
                        </a:lnTo>
                        <a:lnTo>
                          <a:pt x="570" y="355"/>
                        </a:lnTo>
                        <a:lnTo>
                          <a:pt x="986" y="121"/>
                        </a:lnTo>
                        <a:lnTo>
                          <a:pt x="1021" y="184"/>
                        </a:lnTo>
                        <a:lnTo>
                          <a:pt x="1111" y="0"/>
                        </a:lnTo>
                        <a:lnTo>
                          <a:pt x="924" y="0"/>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42" name="Freeform 584"/>
                  <p:cNvSpPr/>
                  <p:nvPr/>
                </p:nvSpPr>
                <p:spPr bwMode="auto">
                  <a:xfrm>
                    <a:off x="9915470" y="1392487"/>
                    <a:ext cx="208450" cy="511387"/>
                  </a:xfrm>
                  <a:custGeom>
                    <a:avLst/>
                    <a:gdLst>
                      <a:gd name="T0" fmla="*/ 0 w 289"/>
                      <a:gd name="T1" fmla="*/ 709 h 709"/>
                      <a:gd name="T2" fmla="*/ 289 w 289"/>
                      <a:gd name="T3" fmla="*/ 709 h 709"/>
                      <a:gd name="T4" fmla="*/ 289 w 289"/>
                      <a:gd name="T5" fmla="*/ 0 h 709"/>
                      <a:gd name="T6" fmla="*/ 0 w 289"/>
                      <a:gd name="T7" fmla="*/ 161 h 709"/>
                      <a:gd name="T8" fmla="*/ 0 w 289"/>
                      <a:gd name="T9" fmla="*/ 709 h 709"/>
                    </a:gdLst>
                    <a:ahLst/>
                    <a:cxnLst>
                      <a:cxn ang="0">
                        <a:pos x="T0" y="T1"/>
                      </a:cxn>
                      <a:cxn ang="0">
                        <a:pos x="T2" y="T3"/>
                      </a:cxn>
                      <a:cxn ang="0">
                        <a:pos x="T4" y="T5"/>
                      </a:cxn>
                      <a:cxn ang="0">
                        <a:pos x="T6" y="T7"/>
                      </a:cxn>
                      <a:cxn ang="0">
                        <a:pos x="T8" y="T9"/>
                      </a:cxn>
                    </a:cxnLst>
                    <a:rect l="0" t="0" r="r" b="b"/>
                    <a:pathLst>
                      <a:path w="289" h="709">
                        <a:moveTo>
                          <a:pt x="0" y="709"/>
                        </a:moveTo>
                        <a:lnTo>
                          <a:pt x="289" y="709"/>
                        </a:lnTo>
                        <a:lnTo>
                          <a:pt x="289" y="0"/>
                        </a:lnTo>
                        <a:lnTo>
                          <a:pt x="0" y="161"/>
                        </a:lnTo>
                        <a:lnTo>
                          <a:pt x="0" y="709"/>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43" name="Freeform 585"/>
                  <p:cNvSpPr/>
                  <p:nvPr/>
                </p:nvSpPr>
                <p:spPr bwMode="auto">
                  <a:xfrm>
                    <a:off x="9663743" y="1528809"/>
                    <a:ext cx="180320" cy="375065"/>
                  </a:xfrm>
                  <a:custGeom>
                    <a:avLst/>
                    <a:gdLst>
                      <a:gd name="T0" fmla="*/ 0 w 250"/>
                      <a:gd name="T1" fmla="*/ 520 h 520"/>
                      <a:gd name="T2" fmla="*/ 250 w 250"/>
                      <a:gd name="T3" fmla="*/ 520 h 520"/>
                      <a:gd name="T4" fmla="*/ 250 w 250"/>
                      <a:gd name="T5" fmla="*/ 0 h 520"/>
                      <a:gd name="T6" fmla="*/ 0 w 250"/>
                      <a:gd name="T7" fmla="*/ 42 h 520"/>
                      <a:gd name="T8" fmla="*/ 0 w 250"/>
                      <a:gd name="T9" fmla="*/ 520 h 520"/>
                    </a:gdLst>
                    <a:ahLst/>
                    <a:cxnLst>
                      <a:cxn ang="0">
                        <a:pos x="T0" y="T1"/>
                      </a:cxn>
                      <a:cxn ang="0">
                        <a:pos x="T2" y="T3"/>
                      </a:cxn>
                      <a:cxn ang="0">
                        <a:pos x="T4" y="T5"/>
                      </a:cxn>
                      <a:cxn ang="0">
                        <a:pos x="T6" y="T7"/>
                      </a:cxn>
                      <a:cxn ang="0">
                        <a:pos x="T8" y="T9"/>
                      </a:cxn>
                    </a:cxnLst>
                    <a:rect l="0" t="0" r="r" b="b"/>
                    <a:pathLst>
                      <a:path w="250" h="520">
                        <a:moveTo>
                          <a:pt x="0" y="520"/>
                        </a:moveTo>
                        <a:lnTo>
                          <a:pt x="250" y="520"/>
                        </a:lnTo>
                        <a:lnTo>
                          <a:pt x="250" y="0"/>
                        </a:lnTo>
                        <a:lnTo>
                          <a:pt x="0" y="42"/>
                        </a:lnTo>
                        <a:lnTo>
                          <a:pt x="0" y="520"/>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44" name="Freeform 586"/>
                  <p:cNvSpPr/>
                  <p:nvPr/>
                </p:nvSpPr>
                <p:spPr bwMode="auto">
                  <a:xfrm>
                    <a:off x="9404083" y="1569922"/>
                    <a:ext cx="189697" cy="333953"/>
                  </a:xfrm>
                  <a:custGeom>
                    <a:avLst/>
                    <a:gdLst>
                      <a:gd name="T0" fmla="*/ 0 w 263"/>
                      <a:gd name="T1" fmla="*/ 463 h 463"/>
                      <a:gd name="T2" fmla="*/ 263 w 263"/>
                      <a:gd name="T3" fmla="*/ 463 h 463"/>
                      <a:gd name="T4" fmla="*/ 263 w 263"/>
                      <a:gd name="T5" fmla="*/ 0 h 463"/>
                      <a:gd name="T6" fmla="*/ 0 w 263"/>
                      <a:gd name="T7" fmla="*/ 30 h 463"/>
                      <a:gd name="T8" fmla="*/ 0 w 263"/>
                      <a:gd name="T9" fmla="*/ 463 h 463"/>
                    </a:gdLst>
                    <a:ahLst/>
                    <a:cxnLst>
                      <a:cxn ang="0">
                        <a:pos x="T0" y="T1"/>
                      </a:cxn>
                      <a:cxn ang="0">
                        <a:pos x="T2" y="T3"/>
                      </a:cxn>
                      <a:cxn ang="0">
                        <a:pos x="T4" y="T5"/>
                      </a:cxn>
                      <a:cxn ang="0">
                        <a:pos x="T6" y="T7"/>
                      </a:cxn>
                      <a:cxn ang="0">
                        <a:pos x="T8" y="T9"/>
                      </a:cxn>
                    </a:cxnLst>
                    <a:rect l="0" t="0" r="r" b="b"/>
                    <a:pathLst>
                      <a:path w="263" h="463">
                        <a:moveTo>
                          <a:pt x="0" y="463"/>
                        </a:moveTo>
                        <a:lnTo>
                          <a:pt x="263" y="463"/>
                        </a:lnTo>
                        <a:lnTo>
                          <a:pt x="263" y="0"/>
                        </a:lnTo>
                        <a:lnTo>
                          <a:pt x="0" y="30"/>
                        </a:lnTo>
                        <a:lnTo>
                          <a:pt x="0" y="463"/>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grpSp>
          </p:grpSp>
        </p:grpSp>
        <p:grpSp>
          <p:nvGrpSpPr>
            <p:cNvPr id="22" name="组合 145"/>
            <p:cNvGrpSpPr/>
            <p:nvPr/>
          </p:nvGrpSpPr>
          <p:grpSpPr bwMode="auto">
            <a:xfrm>
              <a:off x="4131469" y="3250844"/>
              <a:ext cx="327422" cy="328613"/>
              <a:chOff x="5477628" y="3606228"/>
              <a:chExt cx="1120629" cy="1120629"/>
            </a:xfrm>
          </p:grpSpPr>
          <p:sp>
            <p:nvSpPr>
              <p:cNvPr id="147" name="椭圆 146"/>
              <p:cNvSpPr/>
              <p:nvPr/>
            </p:nvSpPr>
            <p:spPr>
              <a:xfrm>
                <a:off x="5477628" y="3606228"/>
                <a:ext cx="1120629" cy="1120629"/>
              </a:xfrm>
              <a:prstGeom prst="ellipse">
                <a:avLst/>
              </a:prstGeom>
              <a:pattFill prst="wdUpDiag">
                <a:fgClr>
                  <a:srgbClr val="66BFBC"/>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6737" name="组合 147"/>
              <p:cNvGrpSpPr/>
              <p:nvPr/>
            </p:nvGrpSpPr>
            <p:grpSpPr bwMode="auto">
              <a:xfrm>
                <a:off x="5561692" y="3690292"/>
                <a:ext cx="952500" cy="952500"/>
                <a:chOff x="5561693" y="3690293"/>
                <a:chExt cx="952500" cy="952500"/>
              </a:xfrm>
            </p:grpSpPr>
            <p:sp>
              <p:nvSpPr>
                <p:cNvPr id="149" name="椭圆 148"/>
                <p:cNvSpPr/>
                <p:nvPr/>
              </p:nvSpPr>
              <p:spPr>
                <a:xfrm>
                  <a:off x="5563205" y="3691495"/>
                  <a:ext cx="949476" cy="950098"/>
                </a:xfrm>
                <a:prstGeom prst="ellips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5" name="组合 149"/>
                <p:cNvGrpSpPr>
                  <a:grpSpLocks noChangeAspect="1"/>
                </p:cNvGrpSpPr>
                <p:nvPr/>
              </p:nvGrpSpPr>
              <p:grpSpPr>
                <a:xfrm>
                  <a:off x="5786679" y="3839402"/>
                  <a:ext cx="502529" cy="654282"/>
                  <a:chOff x="3196030" y="1160235"/>
                  <a:chExt cx="582794" cy="758785"/>
                </a:xfrm>
                <a:solidFill>
                  <a:schemeClr val="bg1"/>
                </a:solidFill>
              </p:grpSpPr>
              <p:sp>
                <p:nvSpPr>
                  <p:cNvPr id="151" name="Freeform 634"/>
                  <p:cNvSpPr>
                    <a:spLocks noEditPoints="1"/>
                  </p:cNvSpPr>
                  <p:nvPr/>
                </p:nvSpPr>
                <p:spPr bwMode="auto">
                  <a:xfrm>
                    <a:off x="3243635" y="1160235"/>
                    <a:ext cx="535189" cy="533747"/>
                  </a:xfrm>
                  <a:custGeom>
                    <a:avLst/>
                    <a:gdLst>
                      <a:gd name="T0" fmla="*/ 225 w 314"/>
                      <a:gd name="T1" fmla="*/ 39 h 313"/>
                      <a:gd name="T2" fmla="*/ 34 w 314"/>
                      <a:gd name="T3" fmla="*/ 89 h 313"/>
                      <a:gd name="T4" fmla="*/ 62 w 314"/>
                      <a:gd name="T5" fmla="*/ 264 h 313"/>
                      <a:gd name="T6" fmla="*/ 84 w 314"/>
                      <a:gd name="T7" fmla="*/ 280 h 313"/>
                      <a:gd name="T8" fmla="*/ 110 w 314"/>
                      <a:gd name="T9" fmla="*/ 292 h 313"/>
                      <a:gd name="T10" fmla="*/ 275 w 314"/>
                      <a:gd name="T11" fmla="*/ 230 h 313"/>
                      <a:gd name="T12" fmla="*/ 225 w 314"/>
                      <a:gd name="T13" fmla="*/ 39 h 313"/>
                      <a:gd name="T14" fmla="*/ 229 w 314"/>
                      <a:gd name="T15" fmla="*/ 203 h 313"/>
                      <a:gd name="T16" fmla="*/ 111 w 314"/>
                      <a:gd name="T17" fmla="*/ 234 h 313"/>
                      <a:gd name="T18" fmla="*/ 79 w 314"/>
                      <a:gd name="T19" fmla="*/ 116 h 313"/>
                      <a:gd name="T20" fmla="*/ 198 w 314"/>
                      <a:gd name="T21" fmla="*/ 84 h 313"/>
                      <a:gd name="T22" fmla="*/ 229 w 314"/>
                      <a:gd name="T23" fmla="*/ 203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4" h="313">
                        <a:moveTo>
                          <a:pt x="225" y="39"/>
                        </a:moveTo>
                        <a:cubicBezTo>
                          <a:pt x="158" y="0"/>
                          <a:pt x="72" y="23"/>
                          <a:pt x="34" y="89"/>
                        </a:cubicBezTo>
                        <a:cubicBezTo>
                          <a:pt x="0" y="148"/>
                          <a:pt x="13" y="221"/>
                          <a:pt x="62" y="264"/>
                        </a:cubicBezTo>
                        <a:cubicBezTo>
                          <a:pt x="69" y="270"/>
                          <a:pt x="76" y="275"/>
                          <a:pt x="84" y="280"/>
                        </a:cubicBezTo>
                        <a:cubicBezTo>
                          <a:pt x="92" y="285"/>
                          <a:pt x="101" y="289"/>
                          <a:pt x="110" y="292"/>
                        </a:cubicBezTo>
                        <a:cubicBezTo>
                          <a:pt x="171" y="313"/>
                          <a:pt x="241" y="288"/>
                          <a:pt x="275" y="230"/>
                        </a:cubicBezTo>
                        <a:cubicBezTo>
                          <a:pt x="314" y="163"/>
                          <a:pt x="291" y="77"/>
                          <a:pt x="225" y="39"/>
                        </a:cubicBezTo>
                        <a:close/>
                        <a:moveTo>
                          <a:pt x="229" y="203"/>
                        </a:moveTo>
                        <a:cubicBezTo>
                          <a:pt x="205" y="244"/>
                          <a:pt x="152" y="259"/>
                          <a:pt x="111" y="234"/>
                        </a:cubicBezTo>
                        <a:cubicBezTo>
                          <a:pt x="69" y="210"/>
                          <a:pt x="55" y="157"/>
                          <a:pt x="79" y="116"/>
                        </a:cubicBezTo>
                        <a:cubicBezTo>
                          <a:pt x="103" y="74"/>
                          <a:pt x="157" y="60"/>
                          <a:pt x="198" y="84"/>
                        </a:cubicBezTo>
                        <a:cubicBezTo>
                          <a:pt x="239" y="108"/>
                          <a:pt x="254" y="162"/>
                          <a:pt x="229" y="203"/>
                        </a:cubicBez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52" name="Oval 635"/>
                  <p:cNvSpPr>
                    <a:spLocks noChangeArrowheads="1"/>
                  </p:cNvSpPr>
                  <p:nvPr/>
                </p:nvSpPr>
                <p:spPr bwMode="auto">
                  <a:xfrm>
                    <a:off x="3465068" y="1327572"/>
                    <a:ext cx="85111" cy="87275"/>
                  </a:xfrm>
                  <a:prstGeom prst="ellipse">
                    <a:avLst/>
                  </a:pr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55" name="Freeform 636"/>
                  <p:cNvSpPr/>
                  <p:nvPr/>
                </p:nvSpPr>
                <p:spPr bwMode="auto">
                  <a:xfrm>
                    <a:off x="3507623" y="1422781"/>
                    <a:ext cx="92324" cy="98816"/>
                  </a:xfrm>
                  <a:custGeom>
                    <a:avLst/>
                    <a:gdLst>
                      <a:gd name="T0" fmla="*/ 13 w 54"/>
                      <a:gd name="T1" fmla="*/ 0 h 58"/>
                      <a:gd name="T2" fmla="*/ 0 w 54"/>
                      <a:gd name="T3" fmla="*/ 11 h 58"/>
                      <a:gd name="T4" fmla="*/ 13 w 54"/>
                      <a:gd name="T5" fmla="*/ 40 h 58"/>
                      <a:gd name="T6" fmla="*/ 0 w 54"/>
                      <a:gd name="T7" fmla="*/ 58 h 58"/>
                      <a:gd name="T8" fmla="*/ 4 w 54"/>
                      <a:gd name="T9" fmla="*/ 58 h 58"/>
                      <a:gd name="T10" fmla="*/ 44 w 54"/>
                      <a:gd name="T11" fmla="*/ 16 h 58"/>
                      <a:gd name="T12" fmla="*/ 13 w 54"/>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54" h="58">
                        <a:moveTo>
                          <a:pt x="13" y="0"/>
                        </a:moveTo>
                        <a:cubicBezTo>
                          <a:pt x="0" y="11"/>
                          <a:pt x="0" y="11"/>
                          <a:pt x="0" y="11"/>
                        </a:cubicBezTo>
                        <a:cubicBezTo>
                          <a:pt x="13" y="40"/>
                          <a:pt x="13" y="40"/>
                          <a:pt x="13" y="40"/>
                        </a:cubicBezTo>
                        <a:cubicBezTo>
                          <a:pt x="0" y="58"/>
                          <a:pt x="0" y="58"/>
                          <a:pt x="0" y="58"/>
                        </a:cubicBezTo>
                        <a:cubicBezTo>
                          <a:pt x="4" y="58"/>
                          <a:pt x="4" y="58"/>
                          <a:pt x="4" y="58"/>
                        </a:cubicBezTo>
                        <a:cubicBezTo>
                          <a:pt x="54" y="58"/>
                          <a:pt x="44" y="29"/>
                          <a:pt x="44" y="16"/>
                        </a:cubicBezTo>
                        <a:cubicBezTo>
                          <a:pt x="44" y="6"/>
                          <a:pt x="24" y="2"/>
                          <a:pt x="13" y="0"/>
                        </a:cubicBez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59" name="Freeform 637"/>
                  <p:cNvSpPr/>
                  <p:nvPr/>
                </p:nvSpPr>
                <p:spPr bwMode="auto">
                  <a:xfrm>
                    <a:off x="3416021" y="1422781"/>
                    <a:ext cx="91603" cy="98816"/>
                  </a:xfrm>
                  <a:custGeom>
                    <a:avLst/>
                    <a:gdLst>
                      <a:gd name="T0" fmla="*/ 54 w 54"/>
                      <a:gd name="T1" fmla="*/ 11 h 58"/>
                      <a:gd name="T2" fmla="*/ 41 w 54"/>
                      <a:gd name="T3" fmla="*/ 0 h 58"/>
                      <a:gd name="T4" fmla="*/ 11 w 54"/>
                      <a:gd name="T5" fmla="*/ 16 h 58"/>
                      <a:gd name="T6" fmla="*/ 50 w 54"/>
                      <a:gd name="T7" fmla="*/ 58 h 58"/>
                      <a:gd name="T8" fmla="*/ 54 w 54"/>
                      <a:gd name="T9" fmla="*/ 58 h 58"/>
                      <a:gd name="T10" fmla="*/ 41 w 54"/>
                      <a:gd name="T11" fmla="*/ 40 h 58"/>
                      <a:gd name="T12" fmla="*/ 54 w 54"/>
                      <a:gd name="T13" fmla="*/ 11 h 58"/>
                    </a:gdLst>
                    <a:ahLst/>
                    <a:cxnLst>
                      <a:cxn ang="0">
                        <a:pos x="T0" y="T1"/>
                      </a:cxn>
                      <a:cxn ang="0">
                        <a:pos x="T2" y="T3"/>
                      </a:cxn>
                      <a:cxn ang="0">
                        <a:pos x="T4" y="T5"/>
                      </a:cxn>
                      <a:cxn ang="0">
                        <a:pos x="T6" y="T7"/>
                      </a:cxn>
                      <a:cxn ang="0">
                        <a:pos x="T8" y="T9"/>
                      </a:cxn>
                      <a:cxn ang="0">
                        <a:pos x="T10" y="T11"/>
                      </a:cxn>
                      <a:cxn ang="0">
                        <a:pos x="T12" y="T13"/>
                      </a:cxn>
                    </a:cxnLst>
                    <a:rect l="0" t="0" r="r" b="b"/>
                    <a:pathLst>
                      <a:path w="54" h="58">
                        <a:moveTo>
                          <a:pt x="54" y="11"/>
                        </a:moveTo>
                        <a:cubicBezTo>
                          <a:pt x="41" y="0"/>
                          <a:pt x="41" y="0"/>
                          <a:pt x="41" y="0"/>
                        </a:cubicBezTo>
                        <a:cubicBezTo>
                          <a:pt x="30" y="2"/>
                          <a:pt x="11" y="6"/>
                          <a:pt x="11" y="16"/>
                        </a:cubicBezTo>
                        <a:cubicBezTo>
                          <a:pt x="11" y="29"/>
                          <a:pt x="0" y="58"/>
                          <a:pt x="50" y="58"/>
                        </a:cubicBezTo>
                        <a:cubicBezTo>
                          <a:pt x="54" y="58"/>
                          <a:pt x="54" y="58"/>
                          <a:pt x="54" y="58"/>
                        </a:cubicBezTo>
                        <a:cubicBezTo>
                          <a:pt x="41" y="40"/>
                          <a:pt x="41" y="40"/>
                          <a:pt x="41" y="40"/>
                        </a:cubicBezTo>
                        <a:lnTo>
                          <a:pt x="54" y="11"/>
                        </a:ln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sp>
                <p:nvSpPr>
                  <p:cNvPr id="160" name="Freeform 638"/>
                  <p:cNvSpPr/>
                  <p:nvPr/>
                </p:nvSpPr>
                <p:spPr bwMode="auto">
                  <a:xfrm>
                    <a:off x="3196030" y="1626181"/>
                    <a:ext cx="225039" cy="292839"/>
                  </a:xfrm>
                  <a:custGeom>
                    <a:avLst/>
                    <a:gdLst>
                      <a:gd name="T0" fmla="*/ 85 w 132"/>
                      <a:gd name="T1" fmla="*/ 0 h 172"/>
                      <a:gd name="T2" fmla="*/ 12 w 132"/>
                      <a:gd name="T3" fmla="*/ 125 h 172"/>
                      <a:gd name="T4" fmla="*/ 25 w 132"/>
                      <a:gd name="T5" fmla="*/ 158 h 172"/>
                      <a:gd name="T6" fmla="*/ 58 w 132"/>
                      <a:gd name="T7" fmla="*/ 156 h 172"/>
                      <a:gd name="T8" fmla="*/ 132 w 132"/>
                      <a:gd name="T9" fmla="*/ 28 h 172"/>
                      <a:gd name="T10" fmla="*/ 105 w 132"/>
                      <a:gd name="T11" fmla="*/ 19 h 172"/>
                      <a:gd name="T12" fmla="*/ 85 w 132"/>
                      <a:gd name="T13" fmla="*/ 0 h 172"/>
                    </a:gdLst>
                    <a:ahLst/>
                    <a:cxnLst>
                      <a:cxn ang="0">
                        <a:pos x="T0" y="T1"/>
                      </a:cxn>
                      <a:cxn ang="0">
                        <a:pos x="T2" y="T3"/>
                      </a:cxn>
                      <a:cxn ang="0">
                        <a:pos x="T4" y="T5"/>
                      </a:cxn>
                      <a:cxn ang="0">
                        <a:pos x="T6" y="T7"/>
                      </a:cxn>
                      <a:cxn ang="0">
                        <a:pos x="T8" y="T9"/>
                      </a:cxn>
                      <a:cxn ang="0">
                        <a:pos x="T10" y="T11"/>
                      </a:cxn>
                      <a:cxn ang="0">
                        <a:pos x="T12" y="T13"/>
                      </a:cxn>
                    </a:cxnLst>
                    <a:rect l="0" t="0" r="r" b="b"/>
                    <a:pathLst>
                      <a:path w="132" h="172">
                        <a:moveTo>
                          <a:pt x="85" y="0"/>
                        </a:moveTo>
                        <a:cubicBezTo>
                          <a:pt x="12" y="125"/>
                          <a:pt x="12" y="125"/>
                          <a:pt x="12" y="125"/>
                        </a:cubicBezTo>
                        <a:cubicBezTo>
                          <a:pt x="12" y="125"/>
                          <a:pt x="0" y="144"/>
                          <a:pt x="25" y="158"/>
                        </a:cubicBezTo>
                        <a:cubicBezTo>
                          <a:pt x="49" y="172"/>
                          <a:pt x="58" y="156"/>
                          <a:pt x="58" y="156"/>
                        </a:cubicBezTo>
                        <a:cubicBezTo>
                          <a:pt x="132" y="28"/>
                          <a:pt x="132" y="28"/>
                          <a:pt x="132" y="28"/>
                        </a:cubicBezTo>
                        <a:cubicBezTo>
                          <a:pt x="132" y="28"/>
                          <a:pt x="119" y="27"/>
                          <a:pt x="105" y="19"/>
                        </a:cubicBezTo>
                        <a:cubicBezTo>
                          <a:pt x="92" y="11"/>
                          <a:pt x="85" y="0"/>
                          <a:pt x="85" y="0"/>
                        </a:cubicBezTo>
                        <a:close/>
                      </a:path>
                    </a:pathLst>
                  </a:custGeom>
                  <a:grpFill/>
                  <a:ln>
                    <a:noFill/>
                  </a:ln>
                </p:spPr>
                <p:txBody>
                  <a:bodyPr/>
                  <a:lstStyle/>
                  <a:p>
                    <a:pPr defTabSz="685800">
                      <a:defRPr/>
                    </a:pPr>
                    <a:endParaRPr lang="zh-CN" altLang="en-US" sz="1350">
                      <a:noFill/>
                      <a:latin typeface="Arial" panose="020B0604020202020204"/>
                      <a:ea typeface="幼圆" panose="02010509060101010101" pitchFamily="49" charset="-122"/>
                    </a:endParaRPr>
                  </a:p>
                </p:txBody>
              </p:sp>
            </p:grpSp>
          </p:grpSp>
        </p:grpSp>
      </p:grpSp>
      <p:sp>
        <p:nvSpPr>
          <p:cNvPr id="162" name="等腰三角形 161"/>
          <p:cNvSpPr/>
          <p:nvPr/>
        </p:nvSpPr>
        <p:spPr>
          <a:xfrm rot="1650064">
            <a:off x="7255663" y="2696716"/>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0" name="标题 1"/>
          <p:cNvSpPr txBox="1"/>
          <p:nvPr/>
        </p:nvSpPr>
        <p:spPr>
          <a:xfrm>
            <a:off x="611171" y="1173805"/>
            <a:ext cx="7429578" cy="1321094"/>
          </a:xfrm>
          <a:prstGeom prst="rect">
            <a:avLst/>
          </a:prstGeom>
          <a:noFill/>
          <a:ln>
            <a:noFill/>
          </a:ln>
          <a:effectLst/>
        </p:spPr>
        <p:txBody>
          <a:bodyPr vert="horz" wrap="square" lIns="0" tIns="0" rIns="0" bIns="0" rtlCol="0" anchor="ctr"/>
          <a:lstStyle/>
          <a:p>
            <a:pPr>
              <a:lnSpc>
                <a:spcPct val="130000"/>
              </a:lnSpc>
            </a:pPr>
            <a:r>
              <a:rPr kumimoji="1" lang="en-US" altLang="zh-CN" sz="2800" b="1" dirty="0" err="1">
                <a:ln w="12700">
                  <a:noFill/>
                </a:ln>
                <a:solidFill>
                  <a:srgbClr val="002060"/>
                </a:solidFill>
                <a:latin typeface="仿宋" panose="02010609060101010101" charset="-122"/>
                <a:ea typeface="仿宋" panose="02010609060101010101" charset="-122"/>
                <a:cs typeface="OPPOSans H" panose="00020600040101010101" charset="-122"/>
              </a:rPr>
              <a:t>FlowXpert</a:t>
            </a:r>
            <a:r>
              <a:rPr kumimoji="1" lang="en-US" altLang="zh-CN" sz="2800" b="1" dirty="0">
                <a:ln w="12700">
                  <a:noFill/>
                </a:ln>
                <a:solidFill>
                  <a:srgbClr val="002060"/>
                </a:solidFill>
                <a:latin typeface="仿宋" panose="02010609060101010101" charset="-122"/>
                <a:ea typeface="仿宋" panose="02010609060101010101" charset="-122"/>
                <a:cs typeface="OPPOSans H" panose="00020600040101010101" charset="-122"/>
              </a:rPr>
              <a:t>: Expertizing Troubleshooting Workflow Orchestration with Knowledge Base and Multi-Agent Coevolution</a:t>
            </a:r>
          </a:p>
        </p:txBody>
      </p:sp>
      <p:sp>
        <p:nvSpPr>
          <p:cNvPr id="51" name="标题 1"/>
          <p:cNvSpPr txBox="1"/>
          <p:nvPr/>
        </p:nvSpPr>
        <p:spPr>
          <a:xfrm>
            <a:off x="590934" y="2628455"/>
            <a:ext cx="5292000" cy="36000"/>
          </a:xfrm>
          <a:prstGeom prst="rect">
            <a:avLst/>
          </a:prstGeom>
          <a:gradFill>
            <a:gsLst>
              <a:gs pos="0">
                <a:schemeClr val="accent1">
                  <a:lumMod val="60000"/>
                  <a:lumOff val="40000"/>
                </a:schemeClr>
              </a:gs>
              <a:gs pos="100000">
                <a:schemeClr val="accent2">
                  <a:lumMod val="60000"/>
                  <a:lumOff val="40000"/>
                  <a:alpha val="0"/>
                </a:schemeClr>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3" name="文本框 52"/>
          <p:cNvSpPr txBox="1"/>
          <p:nvPr/>
        </p:nvSpPr>
        <p:spPr>
          <a:xfrm>
            <a:off x="534181" y="2818402"/>
            <a:ext cx="6745181" cy="338554"/>
          </a:xfrm>
          <a:prstGeom prst="rect">
            <a:avLst/>
          </a:prstGeom>
          <a:noFill/>
        </p:spPr>
        <p:txBody>
          <a:bodyPr wrap="square" rtlCol="0">
            <a:spAutoFit/>
          </a:bodyPr>
          <a:lstStyle/>
          <a:p>
            <a:r>
              <a:rPr lang="en-US" altLang="zh-CN" sz="1600" dirty="0" err="1"/>
              <a:t>Binpeng</a:t>
            </a:r>
            <a:r>
              <a:rPr lang="en-US" altLang="zh-CN" sz="1600" dirty="0"/>
              <a:t> Shi</a:t>
            </a:r>
            <a:r>
              <a:rPr lang="zh-CN" altLang="en-US" sz="1600" dirty="0"/>
              <a:t>、</a:t>
            </a:r>
            <a:r>
              <a:rPr lang="en-US" altLang="zh-CN" sz="1600" dirty="0"/>
              <a:t>Yu Luo</a:t>
            </a:r>
            <a:r>
              <a:rPr lang="zh-CN" altLang="en-US" sz="1600" dirty="0"/>
              <a:t>、</a:t>
            </a:r>
            <a:r>
              <a:rPr lang="en-US" altLang="zh-CN" sz="1600" dirty="0" err="1"/>
              <a:t>Jingya</a:t>
            </a:r>
            <a:r>
              <a:rPr lang="en-US" altLang="zh-CN" sz="1600" dirty="0"/>
              <a:t> Wang</a:t>
            </a:r>
            <a:r>
              <a:rPr lang="zh-CN" altLang="en-US" sz="1600" dirty="0"/>
              <a:t>、</a:t>
            </a:r>
            <a:r>
              <a:rPr lang="en-US" altLang="zh-CN" sz="1600" dirty="0" err="1"/>
              <a:t>Yongxin</a:t>
            </a:r>
            <a:r>
              <a:rPr lang="en-US" altLang="zh-CN" sz="1600" dirty="0"/>
              <a:t> Zhao</a:t>
            </a:r>
            <a:r>
              <a:rPr lang="zh-CN" altLang="en-US" sz="1600" dirty="0"/>
              <a:t>、</a:t>
            </a:r>
            <a:r>
              <a:rPr lang="en-US" altLang="zh-CN" sz="1600" dirty="0" err="1"/>
              <a:t>Shenglin</a:t>
            </a:r>
            <a:r>
              <a:rPr lang="en-US" altLang="zh-CN" sz="1600" dirty="0"/>
              <a:t> Zhang</a:t>
            </a:r>
            <a:r>
              <a:rPr lang="en-US" altLang="zh-CN" sz="1600" baseline="30000" dirty="0"/>
              <a:t>∗</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Introduction</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文本框 3"/>
          <p:cNvSpPr txBox="1"/>
          <p:nvPr/>
        </p:nvSpPr>
        <p:spPr>
          <a:xfrm>
            <a:off x="791766" y="1046332"/>
            <a:ext cx="7214810" cy="1248419"/>
          </a:xfrm>
          <a:prstGeom prst="rect">
            <a:avLst/>
          </a:prstGeom>
          <a:noFill/>
        </p:spPr>
        <p:txBody>
          <a:bodyPr wrap="square">
            <a:spAutoFit/>
          </a:bodyPr>
          <a:lstStyle/>
          <a:p>
            <a:pPr>
              <a:lnSpc>
                <a:spcPct val="120000"/>
              </a:lnSpc>
            </a:pPr>
            <a:r>
              <a:rPr lang="en-US" altLang="zh-CN" sz="1600" dirty="0">
                <a:latin typeface="Times New Roman" panose="02020603050405020304" pitchFamily="18" charset="0"/>
                <a:cs typeface="Times New Roman" panose="02020603050405020304" pitchFamily="18" charset="0"/>
              </a:rPr>
              <a:t>Traditionally, workflows are manually crafted, demanding significant effort and deep expertise. This resource-consuming and knowledge-intensive process struggles to keep pace with the growing number and complexity of incident scenarios, hindering largescale development and deployment of AI executors.</a:t>
            </a:r>
            <a:endParaRPr lang="zh-CN" altLang="en-US" sz="1600" dirty="0">
              <a:latin typeface="Times New Roman" panose="02020603050405020304" pitchFamily="18" charset="0"/>
              <a:cs typeface="Times New Roman" panose="02020603050405020304" pitchFamily="18" charset="0"/>
            </a:endParaRPr>
          </a:p>
        </p:txBody>
      </p:sp>
      <p:pic>
        <p:nvPicPr>
          <p:cNvPr id="7" name="图片 6" descr="图形用户界面, 图示, 文本&#10;&#10;AI 生成的内容可能不正确。"/>
          <p:cNvPicPr>
            <a:picLocks noChangeAspect="1"/>
          </p:cNvPicPr>
          <p:nvPr/>
        </p:nvPicPr>
        <p:blipFill>
          <a:blip r:embed="rId3"/>
          <a:stretch>
            <a:fillRect/>
          </a:stretch>
        </p:blipFill>
        <p:spPr>
          <a:xfrm>
            <a:off x="1327353" y="2398853"/>
            <a:ext cx="6489294" cy="2547744"/>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Introduction</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文本框 3"/>
          <p:cNvSpPr txBox="1"/>
          <p:nvPr/>
        </p:nvSpPr>
        <p:spPr>
          <a:xfrm>
            <a:off x="559713" y="957092"/>
            <a:ext cx="7894916" cy="1477328"/>
          </a:xfrm>
          <a:prstGeom prst="rect">
            <a:avLst/>
          </a:prstGeom>
          <a:noFill/>
        </p:spPr>
        <p:txBody>
          <a:bodyPr wrap="square">
            <a:spAutoFit/>
          </a:bodyPr>
          <a:lstStyle/>
          <a:p>
            <a:pPr indent="360045"/>
            <a:r>
              <a:rPr lang="en-US" altLang="zh-CN" b="1" dirty="0">
                <a:latin typeface="Times New Roman" panose="02020603050405020304" pitchFamily="18" charset="0"/>
                <a:cs typeface="Times New Roman" panose="02020603050405020304" pitchFamily="18" charset="0"/>
              </a:rPr>
              <a:t>1. Support of domain knowledge. </a:t>
            </a:r>
          </a:p>
          <a:p>
            <a:pPr indent="360045"/>
            <a:r>
              <a:rPr lang="en-US" altLang="zh-CN" dirty="0">
                <a:latin typeface="Times New Roman" panose="02020603050405020304" pitchFamily="18" charset="0"/>
                <a:cs typeface="Times New Roman" panose="02020603050405020304" pitchFamily="18" charset="0"/>
              </a:rPr>
              <a:t>The first is action space, where application programming interfaces (APIs) define the executable operations within a given domain. </a:t>
            </a:r>
          </a:p>
          <a:p>
            <a:pPr indent="360045"/>
            <a:r>
              <a:rPr lang="en-US" altLang="zh-CN" dirty="0">
                <a:latin typeface="Times New Roman" panose="02020603050405020304" pitchFamily="18" charset="0"/>
                <a:cs typeface="Times New Roman" panose="02020603050405020304" pitchFamily="18" charset="0"/>
              </a:rPr>
              <a:t>The other two forms involve vector-based and graph-based retrieval of relevant documents.</a:t>
            </a:r>
          </a:p>
        </p:txBody>
      </p:sp>
      <p:sp>
        <p:nvSpPr>
          <p:cNvPr id="2" name="文本框 1"/>
          <p:cNvSpPr txBox="1"/>
          <p:nvPr/>
        </p:nvSpPr>
        <p:spPr>
          <a:xfrm>
            <a:off x="559713" y="2812837"/>
            <a:ext cx="8024573" cy="2031325"/>
          </a:xfrm>
          <a:prstGeom prst="rect">
            <a:avLst/>
          </a:prstGeom>
          <a:noFill/>
        </p:spPr>
        <p:txBody>
          <a:bodyPr wrap="square">
            <a:spAutoFit/>
          </a:bodyPr>
          <a:lstStyle/>
          <a:p>
            <a:pPr indent="360045"/>
            <a:r>
              <a:rPr lang="en-US" altLang="zh-CN" b="1" dirty="0">
                <a:latin typeface="Times New Roman" panose="02020603050405020304" pitchFamily="18" charset="0"/>
                <a:cs typeface="Times New Roman" panose="02020603050405020304" pitchFamily="18" charset="0"/>
              </a:rPr>
              <a:t>2. Alignment of application capability.</a:t>
            </a:r>
            <a:endParaRPr lang="en-US" altLang="zh-CN" dirty="0">
              <a:latin typeface="Times New Roman" panose="02020603050405020304" pitchFamily="18" charset="0"/>
              <a:cs typeface="Times New Roman" panose="02020603050405020304" pitchFamily="18" charset="0"/>
            </a:endParaRPr>
          </a:p>
          <a:p>
            <a:pPr indent="360045"/>
            <a:r>
              <a:rPr lang="en-US" altLang="zh-CN" dirty="0">
                <a:latin typeface="Times New Roman" panose="02020603050405020304" pitchFamily="18" charset="0"/>
                <a:cs typeface="Times New Roman" panose="02020603050405020304" pitchFamily="18" charset="0"/>
              </a:rPr>
              <a:t>Supervised fine-tuning (SFT) primarily relies on language modeling fine-tuning like next-token or mask prediction yet often lacks targeted optimization for workflow orchestration.</a:t>
            </a:r>
          </a:p>
          <a:p>
            <a:pPr indent="360045"/>
            <a:r>
              <a:rPr lang="en-US" altLang="zh-CN" dirty="0">
                <a:latin typeface="Times New Roman" panose="02020603050405020304" pitchFamily="18" charset="0"/>
                <a:cs typeface="Times New Roman" panose="02020603050405020304" pitchFamily="18" charset="0"/>
              </a:rPr>
              <a:t>Reinforcement learning (RL) incorporates a feedback mechanism to directly enhance task performance, allowing the model to iteratively refine and improve its knowledge application.</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Challenges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文本框 3"/>
          <p:cNvSpPr txBox="1"/>
          <p:nvPr/>
        </p:nvSpPr>
        <p:spPr>
          <a:xfrm>
            <a:off x="646510" y="3583773"/>
            <a:ext cx="8024574" cy="1200329"/>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C3: </a:t>
            </a:r>
            <a:r>
              <a:rPr lang="en-US" altLang="zh-CN" b="1" dirty="0">
                <a:latin typeface="Times New Roman" panose="02020603050405020304" pitchFamily="18" charset="0"/>
                <a:cs typeface="Times New Roman" panose="02020603050405020304" pitchFamily="18" charset="0"/>
              </a:rPr>
              <a:t>Reliability</a:t>
            </a:r>
            <a:r>
              <a:rPr lang="en-US" altLang="zh-CN" dirty="0">
                <a:latin typeface="Times New Roman" panose="02020603050405020304" pitchFamily="18" charset="0"/>
                <a:cs typeface="Times New Roman" panose="02020603050405020304" pitchFamily="18" charset="0"/>
              </a:rPr>
              <a:t> of AI feedback. </a:t>
            </a:r>
          </a:p>
          <a:p>
            <a:pPr marL="285750" indent="-28575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Given concerns about resource cost and data privacy, customized open-source models</a:t>
            </a:r>
            <a:r>
              <a:rPr lang="en-US" altLang="zh-CN" b="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are typically adopted as AI evaluators. </a:t>
            </a:r>
          </a:p>
          <a:p>
            <a:pPr marL="285750" indent="-28575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However, static open-source LLMs have limited capability for providing feedback.</a:t>
            </a:r>
            <a:endParaRPr lang="zh-CN" altLang="en-US" dirty="0">
              <a:latin typeface="Times New Roman" panose="02020603050405020304" pitchFamily="18" charset="0"/>
              <a:cs typeface="Times New Roman" panose="02020603050405020304" pitchFamily="18" charset="0"/>
            </a:endParaRPr>
          </a:p>
        </p:txBody>
      </p:sp>
      <p:sp>
        <p:nvSpPr>
          <p:cNvPr id="2" name="文本框 1"/>
          <p:cNvSpPr txBox="1"/>
          <p:nvPr/>
        </p:nvSpPr>
        <p:spPr>
          <a:xfrm>
            <a:off x="646510" y="1082101"/>
            <a:ext cx="8024574" cy="923330"/>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C1: </a:t>
            </a:r>
            <a:r>
              <a:rPr lang="en-US" altLang="zh-CN" b="1" dirty="0">
                <a:latin typeface="Times New Roman" panose="02020603050405020304" pitchFamily="18" charset="0"/>
                <a:cs typeface="Times New Roman" panose="02020603050405020304" pitchFamily="18" charset="0"/>
              </a:rPr>
              <a:t>Complexity</a:t>
            </a:r>
            <a:r>
              <a:rPr lang="en-US" altLang="zh-CN" dirty="0">
                <a:latin typeface="Times New Roman" panose="02020603050405020304" pitchFamily="18" charset="0"/>
                <a:cs typeface="Times New Roman" panose="02020603050405020304" pitchFamily="18" charset="0"/>
              </a:rPr>
              <a:t> of troubleshooting expertise. </a:t>
            </a:r>
          </a:p>
          <a:p>
            <a:pPr marL="285750" indent="-28575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Vector indexing limits the depth of knowledge extraction. </a:t>
            </a:r>
          </a:p>
          <a:p>
            <a:pPr marL="285750" indent="-28575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Graph indexing often overlooks the granularity required for troubleshooting.</a:t>
            </a:r>
          </a:p>
        </p:txBody>
      </p:sp>
      <p:sp>
        <p:nvSpPr>
          <p:cNvPr id="3" name="文本框 2"/>
          <p:cNvSpPr txBox="1"/>
          <p:nvPr/>
        </p:nvSpPr>
        <p:spPr>
          <a:xfrm>
            <a:off x="646510" y="2337950"/>
            <a:ext cx="8024574" cy="923330"/>
          </a:xfrm>
          <a:prstGeom prst="rect">
            <a:avLst/>
          </a:prstGeom>
          <a:noFill/>
        </p:spPr>
        <p:txBody>
          <a:bodyPr wrap="square">
            <a:spAutoFit/>
          </a:bodyPr>
          <a:lstStyle/>
          <a:p>
            <a:pPr marL="0" algn="l" rtl="0" eaLnBrk="1" latinLnBrk="0" hangingPunct="1">
              <a:buNone/>
            </a:pPr>
            <a:r>
              <a:rPr lang="en-US" altLang="zh-CN" sz="1800" kern="1200" dirty="0">
                <a:solidFill>
                  <a:srgbClr val="000000"/>
                </a:solidFill>
                <a:effectLst/>
                <a:latin typeface="Times New Roman" panose="02020603050405020304" pitchFamily="18" charset="0"/>
                <a:ea typeface="幼圆" panose="02010509060101010101" pitchFamily="49" charset="-122"/>
                <a:cs typeface="Times New Roman" panose="02020603050405020304" pitchFamily="18" charset="0"/>
              </a:rPr>
              <a:t>C2: </a:t>
            </a:r>
            <a:r>
              <a:rPr lang="en-US" altLang="zh-CN" sz="1800" b="1" kern="1200" dirty="0">
                <a:solidFill>
                  <a:srgbClr val="000000"/>
                </a:solidFill>
                <a:effectLst/>
                <a:latin typeface="Times New Roman" panose="02020603050405020304" pitchFamily="18" charset="0"/>
                <a:ea typeface="幼圆" panose="02010509060101010101" pitchFamily="49" charset="-122"/>
                <a:cs typeface="Times New Roman" panose="02020603050405020304" pitchFamily="18" charset="0"/>
              </a:rPr>
              <a:t>Compliance</a:t>
            </a:r>
            <a:r>
              <a:rPr lang="en-US" altLang="zh-CN" sz="1800" kern="1200" dirty="0">
                <a:solidFill>
                  <a:srgbClr val="000000"/>
                </a:solidFill>
                <a:effectLst/>
                <a:latin typeface="Times New Roman" panose="02020603050405020304" pitchFamily="18" charset="0"/>
                <a:ea typeface="幼圆" panose="02010509060101010101" pitchFamily="49" charset="-122"/>
                <a:cs typeface="Times New Roman" panose="02020603050405020304" pitchFamily="18" charset="0"/>
              </a:rPr>
              <a:t> of workflow orchestration with domain requirements. </a:t>
            </a:r>
            <a:endParaRPr lang="zh-CN" altLang="zh-CN" dirty="0">
              <a:effectLst/>
            </a:endParaRPr>
          </a:p>
          <a:p>
            <a:pPr marL="285750" indent="-285750" algn="l" rtl="0" eaLnBrk="1" latinLnBrk="0" hangingPunct="1">
              <a:buFont typeface="Arial" panose="020B0604020202020204" pitchFamily="34" charset="0"/>
              <a:buChar char="•"/>
            </a:pPr>
            <a:r>
              <a:rPr lang="en-US" altLang="zh-CN" sz="1800" kern="1200" dirty="0">
                <a:solidFill>
                  <a:srgbClr val="000000"/>
                </a:solidFill>
                <a:effectLst/>
                <a:latin typeface="Times New Roman" panose="02020603050405020304" pitchFamily="18" charset="0"/>
                <a:ea typeface="幼圆" panose="02010509060101010101" pitchFamily="49" charset="-122"/>
                <a:cs typeface="Times New Roman" panose="02020603050405020304" pitchFamily="18" charset="0"/>
              </a:rPr>
              <a:t>In troubleshooting, an effective workflow comprehensively recall all key steps. </a:t>
            </a:r>
            <a:endParaRPr lang="zh-CN" altLang="zh-CN" dirty="0">
              <a:effectLst/>
            </a:endParaRPr>
          </a:p>
          <a:p>
            <a:pPr marL="285750" indent="-285750" algn="l" rtl="0" eaLnBrk="1" latinLnBrk="0" hangingPunct="1">
              <a:buFont typeface="Arial" panose="020B0604020202020204" pitchFamily="34" charset="0"/>
              <a:buChar char="•"/>
            </a:pPr>
            <a:r>
              <a:rPr lang="en-US" altLang="zh-CN" sz="1800" kern="1200" dirty="0">
                <a:solidFill>
                  <a:srgbClr val="000000"/>
                </a:solidFill>
                <a:effectLst/>
                <a:latin typeface="Times New Roman" panose="02020603050405020304" pitchFamily="18" charset="0"/>
                <a:ea typeface="幼圆" panose="02010509060101010101" pitchFamily="49" charset="-122"/>
                <a:cs typeface="Times New Roman" panose="02020603050405020304" pitchFamily="18" charset="0"/>
              </a:rPr>
              <a:t>Workflows must meet specific requirements such as readability and executability.</a:t>
            </a:r>
            <a:endParaRPr lang="zh-CN" altLang="zh-CN" dirty="0">
              <a:effectLst/>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Framework</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文本框 3"/>
          <p:cNvSpPr txBox="1"/>
          <p:nvPr/>
        </p:nvSpPr>
        <p:spPr>
          <a:xfrm>
            <a:off x="495343" y="1102476"/>
            <a:ext cx="8153313" cy="3657411"/>
          </a:xfrm>
          <a:prstGeom prst="rect">
            <a:avLst/>
          </a:prstGeom>
          <a:noFill/>
        </p:spPr>
        <p:txBody>
          <a:bodyPr wrap="square">
            <a:spAutoFit/>
          </a:bodyPr>
          <a:lstStyle/>
          <a:p>
            <a:pPr indent="457200">
              <a:lnSpc>
                <a:spcPct val="130000"/>
              </a:lnSpc>
            </a:pPr>
            <a:r>
              <a:rPr lang="en-US" altLang="zh-CN" dirty="0" err="1">
                <a:latin typeface="Times New Roman" panose="02020603050405020304" pitchFamily="18" charset="0"/>
                <a:cs typeface="Times New Roman" panose="02020603050405020304" pitchFamily="18" charset="0"/>
              </a:rPr>
              <a:t>FlowXpert</a:t>
            </a:r>
            <a:r>
              <a:rPr lang="en-US" altLang="zh-CN" dirty="0">
                <a:latin typeface="Times New Roman" panose="02020603050405020304" pitchFamily="18" charset="0"/>
                <a:cs typeface="Times New Roman" panose="02020603050405020304" pitchFamily="18" charset="0"/>
              </a:rPr>
              <a:t>, a framework for automated orchestration of troubleshooting workflows.</a:t>
            </a:r>
          </a:p>
          <a:p>
            <a:pPr marL="342900" indent="-342900">
              <a:lnSpc>
                <a:spcPct val="130000"/>
              </a:lnSpc>
              <a:buAutoNum type="arabicParenBoth"/>
            </a:pPr>
            <a:r>
              <a:rPr lang="en-US" altLang="zh-CN" dirty="0">
                <a:latin typeface="Times New Roman" panose="02020603050405020304" pitchFamily="18" charset="0"/>
                <a:cs typeface="Times New Roman" panose="02020603050405020304" pitchFamily="18" charset="0"/>
              </a:rPr>
              <a:t>Knowledge Base Construction. We convert operation documents into vector and graph databases to offer comprehensive and deep domain knowledge support (C1).</a:t>
            </a:r>
          </a:p>
          <a:p>
            <a:pPr marL="342900" indent="-342900">
              <a:lnSpc>
                <a:spcPct val="130000"/>
              </a:lnSpc>
              <a:buAutoNum type="arabicParenBoth"/>
            </a:pPr>
            <a:r>
              <a:rPr lang="en-US" altLang="zh-CN" dirty="0">
                <a:latin typeface="Times New Roman" panose="02020603050405020304" pitchFamily="18" charset="0"/>
                <a:cs typeface="Times New Roman" panose="02020603050405020304" pitchFamily="18" charset="0"/>
              </a:rPr>
              <a:t>To align workflows with domain requirements (C2), we fine-tune the Planner using </a:t>
            </a:r>
            <a:r>
              <a:rPr lang="en-US" altLang="zh-CN" b="1" dirty="0">
                <a:latin typeface="Times New Roman" panose="02020603050405020304" pitchFamily="18" charset="0"/>
                <a:cs typeface="Times New Roman" panose="02020603050405020304" pitchFamily="18" charset="0"/>
              </a:rPr>
              <a:t>Proximal Policy Optimization (PPO)</a:t>
            </a:r>
            <a:r>
              <a:rPr lang="en-US" altLang="zh-CN" dirty="0">
                <a:latin typeface="Times New Roman" panose="02020603050405020304" pitchFamily="18" charset="0"/>
                <a:cs typeface="Times New Roman" panose="02020603050405020304" pitchFamily="18" charset="0"/>
              </a:rPr>
              <a:t>, guided by multi-dimensional scores from the Scorer. </a:t>
            </a:r>
          </a:p>
          <a:p>
            <a:pPr marL="342900" indent="-342900">
              <a:lnSpc>
                <a:spcPct val="130000"/>
              </a:lnSpc>
              <a:buAutoNum type="arabicParenBoth"/>
            </a:pPr>
            <a:r>
              <a:rPr lang="en-US" altLang="zh-CN" dirty="0">
                <a:latin typeface="Times New Roman" panose="02020603050405020304" pitchFamily="18" charset="0"/>
                <a:cs typeface="Times New Roman" panose="02020603050405020304" pitchFamily="18" charset="0"/>
              </a:rPr>
              <a:t>To improve AI feedback reliability (C3), we synthesize preference data controlled by contextual richness, then fine-tune the Scorer using </a:t>
            </a:r>
            <a:r>
              <a:rPr lang="en-US" altLang="zh-CN" b="1" dirty="0">
                <a:latin typeface="Times New Roman" panose="02020603050405020304" pitchFamily="18" charset="0"/>
                <a:cs typeface="Times New Roman" panose="02020603050405020304" pitchFamily="18" charset="0"/>
              </a:rPr>
              <a:t>Direct Preference Optimization (DPO)</a:t>
            </a:r>
            <a:r>
              <a:rPr lang="en-US" altLang="zh-CN" dirty="0">
                <a:latin typeface="Times New Roman" panose="02020603050405020304" pitchFamily="18" charset="0"/>
                <a:cs typeface="Times New Roman" panose="02020603050405020304" pitchFamily="18" charset="0"/>
              </a:rPr>
              <a:t>.</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Contributions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4" name="文本框 3"/>
          <p:cNvSpPr txBox="1"/>
          <p:nvPr/>
        </p:nvSpPr>
        <p:spPr>
          <a:xfrm>
            <a:off x="470297" y="1295356"/>
            <a:ext cx="8277182" cy="2941190"/>
          </a:xfrm>
          <a:prstGeom prst="rect">
            <a:avLst/>
          </a:prstGeom>
          <a:noFill/>
        </p:spPr>
        <p:txBody>
          <a:bodyPr wrap="square">
            <a:spAutoFit/>
          </a:bodyPr>
          <a:lstStyle/>
          <a:p>
            <a:pPr marL="285750" indent="-285750">
              <a:lnSpc>
                <a:spcPct val="130000"/>
              </a:lnSpc>
              <a:buFont typeface="Wingdings" panose="05000000000000000000" pitchFamily="2" charset="2"/>
              <a:buChar char="l"/>
            </a:pPr>
            <a:r>
              <a:rPr lang="en-US" altLang="zh-CN" sz="1600" dirty="0">
                <a:latin typeface="Times New Roman" panose="02020603050405020304" pitchFamily="18" charset="0"/>
                <a:cs typeface="Times New Roman" panose="02020603050405020304" pitchFamily="18" charset="0"/>
              </a:rPr>
              <a:t>Propose </a:t>
            </a:r>
            <a:r>
              <a:rPr lang="en-US" altLang="zh-CN" sz="1600" b="1" dirty="0" err="1">
                <a:latin typeface="Times New Roman" panose="02020603050405020304" pitchFamily="18" charset="0"/>
                <a:cs typeface="Times New Roman" panose="02020603050405020304" pitchFamily="18" charset="0"/>
              </a:rPr>
              <a:t>FlowXpert</a:t>
            </a:r>
            <a:r>
              <a:rPr lang="en-US" altLang="zh-CN" sz="1600" b="1" dirty="0">
                <a:latin typeface="Times New Roman" panose="02020603050405020304" pitchFamily="18" charset="0"/>
                <a:cs typeface="Times New Roman" panose="02020603050405020304" pitchFamily="18" charset="0"/>
              </a:rPr>
              <a:t>.</a:t>
            </a:r>
          </a:p>
          <a:p>
            <a:pPr marL="285750" indent="-285750">
              <a:lnSpc>
                <a:spcPct val="130000"/>
              </a:lnSpc>
              <a:buFont typeface="Wingdings" panose="05000000000000000000" pitchFamily="2" charset="2"/>
              <a:buChar char="l"/>
            </a:pPr>
            <a:r>
              <a:rPr lang="en-US" altLang="zh-CN" sz="1600" dirty="0">
                <a:latin typeface="Times New Roman" panose="02020603050405020304" pitchFamily="18" charset="0"/>
                <a:cs typeface="Times New Roman" panose="02020603050405020304" pitchFamily="18" charset="0"/>
              </a:rPr>
              <a:t>(1) Define a domain ontology to guide the </a:t>
            </a:r>
            <a:r>
              <a:rPr lang="en-US" altLang="zh-CN" sz="1600" b="1" dirty="0">
                <a:latin typeface="Times New Roman" panose="02020603050405020304" pitchFamily="18" charset="0"/>
                <a:cs typeface="Times New Roman" panose="02020603050405020304" pitchFamily="18" charset="0"/>
              </a:rPr>
              <a:t>knowledge base construction.</a:t>
            </a:r>
            <a:r>
              <a:rPr lang="en-US" altLang="zh-CN" sz="1600" dirty="0">
                <a:latin typeface="Times New Roman" panose="02020603050405020304" pitchFamily="18" charset="0"/>
                <a:cs typeface="Times New Roman" panose="02020603050405020304" pitchFamily="18" charset="0"/>
              </a:rPr>
              <a:t> (2) Implement multi-agent coevolution through </a:t>
            </a:r>
            <a:r>
              <a:rPr lang="en-US" altLang="zh-CN" sz="1600" b="1" dirty="0">
                <a:latin typeface="Times New Roman" panose="02020603050405020304" pitchFamily="18" charset="0"/>
                <a:cs typeface="Times New Roman" panose="02020603050405020304" pitchFamily="18" charset="0"/>
              </a:rPr>
              <a:t>PPO</a:t>
            </a:r>
            <a:r>
              <a:rPr lang="en-US" altLang="zh-CN" sz="1600" dirty="0">
                <a:latin typeface="Times New Roman" panose="02020603050405020304" pitchFamily="18" charset="0"/>
                <a:cs typeface="Times New Roman" panose="02020603050405020304" pitchFamily="18" charset="0"/>
              </a:rPr>
              <a:t> and </a:t>
            </a:r>
            <a:r>
              <a:rPr lang="en-US" altLang="zh-CN" sz="1600" b="1" dirty="0">
                <a:latin typeface="Times New Roman" panose="02020603050405020304" pitchFamily="18" charset="0"/>
                <a:cs typeface="Times New Roman" panose="02020603050405020304" pitchFamily="18" charset="0"/>
              </a:rPr>
              <a:t>DPO</a:t>
            </a:r>
            <a:r>
              <a:rPr lang="en-US" altLang="zh-CN" sz="1600" dirty="0">
                <a:latin typeface="Times New Roman" panose="02020603050405020304" pitchFamily="18" charset="0"/>
                <a:cs typeface="Times New Roman" panose="02020603050405020304" pitchFamily="18" charset="0"/>
              </a:rPr>
              <a:t> tuning. (3) Design a preference data synthesis method controlled by contextual richness. </a:t>
            </a:r>
          </a:p>
          <a:p>
            <a:pPr marL="285750" indent="-285750">
              <a:lnSpc>
                <a:spcPct val="130000"/>
              </a:lnSpc>
              <a:buFont typeface="Wingdings" panose="05000000000000000000" pitchFamily="2" charset="2"/>
              <a:buChar char="l"/>
            </a:pPr>
            <a:r>
              <a:rPr lang="en-US" altLang="zh-CN" sz="1600" dirty="0">
                <a:latin typeface="Times New Roman" panose="02020603050405020304" pitchFamily="18" charset="0"/>
                <a:cs typeface="Times New Roman" panose="02020603050405020304" pitchFamily="18" charset="0"/>
              </a:rPr>
              <a:t>Introduce </a:t>
            </a:r>
            <a:r>
              <a:rPr lang="en-US" altLang="zh-CN" sz="1600" b="1" dirty="0" err="1">
                <a:latin typeface="Times New Roman" panose="02020603050405020304" pitchFamily="18" charset="0"/>
                <a:cs typeface="Times New Roman" panose="02020603050405020304" pitchFamily="18" charset="0"/>
              </a:rPr>
              <a:t>STEPScore</a:t>
            </a:r>
            <a:r>
              <a:rPr lang="en-US" altLang="zh-CN" sz="1600" dirty="0">
                <a:latin typeface="Times New Roman" panose="02020603050405020304" pitchFamily="18" charset="0"/>
                <a:cs typeface="Times New Roman" panose="02020603050405020304" pitchFamily="18" charset="0"/>
              </a:rPr>
              <a:t>, a metric designed around core characteristics of workflows, and conduct extensive benchmark tests based on real-world incidents from Huawei Cloud datacenter switches (Sec. 5.1). </a:t>
            </a:r>
          </a:p>
          <a:p>
            <a:pPr marL="285750" indent="-285750">
              <a:lnSpc>
                <a:spcPct val="130000"/>
              </a:lnSpc>
              <a:buFont typeface="Wingdings" panose="05000000000000000000" pitchFamily="2" charset="2"/>
              <a:buChar char="l"/>
            </a:pPr>
            <a:r>
              <a:rPr lang="en-US" altLang="zh-CN" sz="1600" dirty="0">
                <a:latin typeface="Times New Roman" panose="02020603050405020304" pitchFamily="18" charset="0"/>
                <a:cs typeface="Times New Roman" panose="02020603050405020304" pitchFamily="18" charset="0"/>
              </a:rPr>
              <a:t>During a 10-week deployment in the Huawei Cloud’s DCN, our framework contributed a lot to both OCEs (Sec. 6.1) and Executors (Sec. 6.2), recorded through empirical data and case study.</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2897204"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Overview</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4" name="图片 3" descr="图示&#10;&#10;AI 生成的内容可能不正确。"/>
          <p:cNvPicPr>
            <a:picLocks noChangeAspect="1"/>
          </p:cNvPicPr>
          <p:nvPr/>
        </p:nvPicPr>
        <p:blipFill>
          <a:blip r:embed="rId3"/>
          <a:stretch>
            <a:fillRect/>
          </a:stretch>
        </p:blipFill>
        <p:spPr>
          <a:xfrm>
            <a:off x="0" y="1218886"/>
            <a:ext cx="9144000" cy="3791578"/>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 name="矩形 15"/>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矩形 16"/>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8" name="矩形 17"/>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26" name="文本框 25"/>
          <p:cNvSpPr txBox="1"/>
          <p:nvPr/>
        </p:nvSpPr>
        <p:spPr bwMode="auto">
          <a:xfrm>
            <a:off x="813586" y="287917"/>
            <a:ext cx="4047736"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Knowledge Base Construction</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3" name="图片 2" descr="图示&#10;&#10;AI 生成的内容可能不正确。"/>
          <p:cNvPicPr>
            <a:picLocks noChangeAspect="1"/>
          </p:cNvPicPr>
          <p:nvPr/>
        </p:nvPicPr>
        <p:blipFill>
          <a:blip r:embed="rId3"/>
          <a:stretch>
            <a:fillRect/>
          </a:stretch>
        </p:blipFill>
        <p:spPr>
          <a:xfrm>
            <a:off x="1789895" y="957092"/>
            <a:ext cx="5564210" cy="4050676"/>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p:cNvSpPr txBox="1"/>
          <p:nvPr/>
        </p:nvSpPr>
        <p:spPr bwMode="auto">
          <a:xfrm>
            <a:off x="813585" y="287917"/>
            <a:ext cx="5008611"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Predefining Incident-Aware Nodes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4" name="文本框 13"/>
          <p:cNvSpPr txBox="1"/>
          <p:nvPr/>
        </p:nvSpPr>
        <p:spPr>
          <a:xfrm>
            <a:off x="675873" y="1810033"/>
            <a:ext cx="7183464" cy="338554"/>
          </a:xfrm>
          <a:prstGeom prst="rect">
            <a:avLst/>
          </a:prstGeom>
          <a:noFill/>
        </p:spPr>
        <p:txBody>
          <a:bodyPr wrap="square">
            <a:spAutoFit/>
          </a:bodyPr>
          <a:lstStyle/>
          <a:p>
            <a:r>
              <a:rPr lang="en-US" altLang="zh-CN" sz="1600" i="1" dirty="0">
                <a:latin typeface="Times New Roman" panose="02020603050405020304" pitchFamily="18" charset="0"/>
                <a:cs typeface="Times New Roman" panose="02020603050405020304" pitchFamily="18" charset="0"/>
              </a:rPr>
              <a:t>Relations = {(Incident, has attributes, </a:t>
            </a:r>
            <a:r>
              <a:rPr lang="en-US" altLang="zh-CN" sz="1600" i="1" dirty="0" err="1">
                <a:latin typeface="Times New Roman" panose="02020603050405020304" pitchFamily="18" charset="0"/>
                <a:cs typeface="Times New Roman" panose="02020603050405020304" pitchFamily="18" charset="0"/>
              </a:rPr>
              <a:t>Attrs</a:t>
            </a:r>
            <a:r>
              <a:rPr lang="en-US" altLang="zh-CN" sz="1600" i="1"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where</a:t>
            </a:r>
            <a:r>
              <a:rPr lang="en-US" altLang="zh-CN" sz="1600" i="1" dirty="0">
                <a:latin typeface="Times New Roman" panose="02020603050405020304" pitchFamily="18" charset="0"/>
                <a:cs typeface="Times New Roman" panose="02020603050405020304" pitchFamily="18" charset="0"/>
              </a:rPr>
              <a:t> </a:t>
            </a:r>
            <a:r>
              <a:rPr lang="en-US" altLang="zh-CN" sz="1600" i="1" dirty="0" err="1">
                <a:latin typeface="Times New Roman" panose="02020603050405020304" pitchFamily="18" charset="0"/>
                <a:cs typeface="Times New Roman" panose="02020603050405020304" pitchFamily="18" charset="0"/>
              </a:rPr>
              <a:t>Attrs</a:t>
            </a:r>
            <a:r>
              <a:rPr lang="en-US" altLang="zh-CN" sz="1600" i="1" dirty="0">
                <a:latin typeface="Times New Roman" panose="02020603050405020304" pitchFamily="18" charset="0"/>
                <a:cs typeface="Times New Roman" panose="02020603050405020304" pitchFamily="18" charset="0"/>
              </a:rPr>
              <a:t> = Concepts \ {Incident}</a:t>
            </a:r>
            <a:r>
              <a:rPr lang="en-US" altLang="zh-CN"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p:sp>
        <p:nvSpPr>
          <p:cNvPr id="16" name="文本框 15"/>
          <p:cNvSpPr txBox="1"/>
          <p:nvPr/>
        </p:nvSpPr>
        <p:spPr>
          <a:xfrm>
            <a:off x="646510" y="1299790"/>
            <a:ext cx="7895418" cy="338554"/>
          </a:xfrm>
          <a:prstGeom prst="rect">
            <a:avLst/>
          </a:prstGeom>
          <a:noFill/>
        </p:spPr>
        <p:txBody>
          <a:bodyPr wrap="square">
            <a:spAutoFit/>
          </a:bodyPr>
          <a:lstStyle/>
          <a:p>
            <a:r>
              <a:rPr lang="en-US" altLang="zh-CN" sz="1600" i="1" dirty="0">
                <a:latin typeface="Times New Roman" panose="02020603050405020304" pitchFamily="18" charset="0"/>
                <a:cs typeface="Times New Roman" panose="02020603050405020304" pitchFamily="18" charset="0"/>
              </a:rPr>
              <a:t>Concepts = {Incident, Failure </a:t>
            </a:r>
            <a:r>
              <a:rPr lang="en-US" altLang="zh-CN" sz="1600" i="1" dirty="0" err="1">
                <a:latin typeface="Times New Roman" panose="02020603050405020304" pitchFamily="18" charset="0"/>
                <a:cs typeface="Times New Roman" panose="02020603050405020304" pitchFamily="18" charset="0"/>
              </a:rPr>
              <a:t>Descprition</a:t>
            </a:r>
            <a:r>
              <a:rPr lang="en-US" altLang="zh-CN" sz="1600" i="1" dirty="0">
                <a:latin typeface="Times New Roman" panose="02020603050405020304" pitchFamily="18" charset="0"/>
                <a:cs typeface="Times New Roman" panose="02020603050405020304" pitchFamily="18" charset="0"/>
              </a:rPr>
              <a:t>, Mitigation Steps, Typical Cases, Additional Note}</a:t>
            </a:r>
            <a:r>
              <a:rPr lang="en-US" altLang="zh-CN"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 </a:t>
            </a:r>
            <a:endParaRPr lang="zh-CN" altLang="en-US" sz="1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本框 3"/>
              <p:cNvSpPr txBox="1"/>
              <p:nvPr/>
            </p:nvSpPr>
            <p:spPr>
              <a:xfrm>
                <a:off x="668729" y="2320277"/>
                <a:ext cx="4535685" cy="6883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cs typeface="Times New Roman" panose="02020603050405020304" pitchFamily="18" charset="0"/>
                        </a:rPr>
                        <m:t>𝑛𝑜𝑑</m:t>
                      </m:r>
                      <m:sSub>
                        <m:sSubPr>
                          <m:ctrlPr>
                            <a:rPr lang="en-US" altLang="zh-CN" b="0" i="1" dirty="0" err="1" smtClean="0">
                              <a:latin typeface="Cambria Math" panose="02040503050406030204" pitchFamily="18" charset="0"/>
                              <a:cs typeface="Times New Roman" panose="02020603050405020304" pitchFamily="18" charset="0"/>
                            </a:rPr>
                          </m:ctrlPr>
                        </m:sSubPr>
                        <m:e>
                          <m:r>
                            <a:rPr lang="en-US" altLang="zh-CN" i="1" dirty="0" smtClean="0">
                              <a:latin typeface="Cambria Math" panose="02040503050406030204" pitchFamily="18" charset="0"/>
                              <a:cs typeface="Times New Roman" panose="02020603050405020304" pitchFamily="18" charset="0"/>
                            </a:rPr>
                            <m:t>𝑒</m:t>
                          </m:r>
                        </m:e>
                        <m:sub>
                          <m:r>
                            <a:rPr lang="en-US" altLang="zh-CN" b="0" i="1" dirty="0" err="1" smtClean="0">
                              <a:latin typeface="Cambria Math" panose="02040503050406030204" pitchFamily="18" charset="0"/>
                              <a:cs typeface="Times New Roman" panose="02020603050405020304" pitchFamily="18" charset="0"/>
                            </a:rPr>
                            <m:t>𝑖</m:t>
                          </m:r>
                        </m:sub>
                      </m:sSub>
                      <m:r>
                        <a:rPr lang="en-US" altLang="zh-CN" b="0" i="1" dirty="0" smtClean="0">
                          <a:latin typeface="Cambria Math" panose="02040503050406030204" pitchFamily="18" charset="0"/>
                          <a:cs typeface="Times New Roman" panose="02020603050405020304" pitchFamily="18" charset="0"/>
                        </a:rPr>
                        <m:t>=</m:t>
                      </m:r>
                      <m:d>
                        <m:dPr>
                          <m:ctrlPr>
                            <a:rPr lang="en-US" altLang="zh-CN" b="0" i="1" dirty="0" smtClean="0">
                              <a:latin typeface="Cambria Math" panose="02040503050406030204" pitchFamily="18" charset="0"/>
                              <a:cs typeface="Times New Roman" panose="02020603050405020304" pitchFamily="18" charset="0"/>
                            </a:rPr>
                          </m:ctrlPr>
                        </m:dPr>
                        <m:e>
                          <m:r>
                            <a:rPr lang="en-US" altLang="zh-CN" i="1" dirty="0" err="1" smtClean="0">
                              <a:latin typeface="Cambria Math" panose="02040503050406030204" pitchFamily="18" charset="0"/>
                              <a:cs typeface="Times New Roman" panose="02020603050405020304" pitchFamily="18" charset="0"/>
                            </a:rPr>
                            <m:t>𝑖𝑛𝑐𝑖𝑑𝑒𝑛</m:t>
                          </m:r>
                          <m:sSub>
                            <m:sSubPr>
                              <m:ctrlPr>
                                <a:rPr lang="en-US" altLang="zh-CN" i="1" dirty="0" err="1" smtClean="0">
                                  <a:latin typeface="Cambria Math" panose="02040503050406030204" pitchFamily="18" charset="0"/>
                                  <a:cs typeface="Times New Roman" panose="02020603050405020304" pitchFamily="18" charset="0"/>
                                </a:rPr>
                              </m:ctrlPr>
                            </m:sSubPr>
                            <m:e>
                              <m:r>
                                <a:rPr lang="en-US" altLang="zh-CN" i="1" dirty="0" err="1" smtClean="0">
                                  <a:latin typeface="Cambria Math" panose="02040503050406030204" pitchFamily="18" charset="0"/>
                                  <a:cs typeface="Times New Roman" panose="02020603050405020304" pitchFamily="18" charset="0"/>
                                </a:rPr>
                                <m:t>𝑡</m:t>
                              </m:r>
                            </m:e>
                            <m:sub>
                              <m:r>
                                <a:rPr lang="en-US" altLang="zh-CN" i="1" dirty="0" err="1" smtClean="0">
                                  <a:latin typeface="Cambria Math" panose="02040503050406030204" pitchFamily="18" charset="0"/>
                                  <a:cs typeface="Times New Roman" panose="02020603050405020304" pitchFamily="18" charset="0"/>
                                </a:rPr>
                                <m:t>𝑖</m:t>
                              </m:r>
                            </m:sub>
                          </m:sSub>
                          <m:r>
                            <a:rPr lang="en-US" altLang="zh-CN" i="1" dirty="0" err="1" smtClean="0">
                              <a:latin typeface="Cambria Math" panose="02040503050406030204" pitchFamily="18" charset="0"/>
                              <a:cs typeface="Times New Roman" panose="02020603050405020304" pitchFamily="18" charset="0"/>
                            </a:rPr>
                            <m:t>,</m:t>
                          </m:r>
                          <m:r>
                            <a:rPr lang="en-US" altLang="zh-CN" i="1" dirty="0" err="1" smtClean="0">
                              <a:latin typeface="Cambria Math" panose="02040503050406030204" pitchFamily="18" charset="0"/>
                              <a:cs typeface="Times New Roman" panose="02020603050405020304" pitchFamily="18" charset="0"/>
                            </a:rPr>
                            <m:t>h𝑎𝑠</m:t>
                          </m:r>
                          <m:r>
                            <a:rPr lang="en-US" altLang="zh-CN" b="0" i="1" dirty="0" smtClean="0">
                              <a:latin typeface="Cambria Math" panose="02040503050406030204" pitchFamily="18" charset="0"/>
                              <a:cs typeface="Times New Roman" panose="02020603050405020304" pitchFamily="18" charset="0"/>
                            </a:rPr>
                            <m:t> </m:t>
                          </m:r>
                          <m:r>
                            <a:rPr lang="en-US" altLang="zh-CN" i="1" dirty="0" err="1" smtClean="0">
                              <a:latin typeface="Cambria Math" panose="02040503050406030204" pitchFamily="18" charset="0"/>
                              <a:cs typeface="Times New Roman" panose="02020603050405020304" pitchFamily="18" charset="0"/>
                            </a:rPr>
                            <m:t>𝑎𝑡𝑡𝑟𝑖𝑏𝑢𝑡𝑒𝑠</m:t>
                          </m:r>
                          <m:r>
                            <a:rPr lang="en-US" altLang="zh-CN" i="1" dirty="0" err="1" smtClean="0">
                              <a:latin typeface="Cambria Math" panose="02040503050406030204" pitchFamily="18" charset="0"/>
                              <a:cs typeface="Times New Roman" panose="02020603050405020304" pitchFamily="18" charset="0"/>
                            </a:rPr>
                            <m:t>,</m:t>
                          </m:r>
                          <m:r>
                            <a:rPr lang="en-US" altLang="zh-CN" i="1" dirty="0" err="1" smtClean="0">
                              <a:latin typeface="Cambria Math" panose="02040503050406030204" pitchFamily="18" charset="0"/>
                              <a:cs typeface="Times New Roman" panose="02020603050405020304" pitchFamily="18" charset="0"/>
                            </a:rPr>
                            <m:t>𝑎𝑡𝑡𝑟</m:t>
                          </m:r>
                          <m:sSub>
                            <m:sSubPr>
                              <m:ctrlPr>
                                <a:rPr lang="en-US" altLang="zh-CN" i="1" dirty="0" err="1" smtClean="0">
                                  <a:latin typeface="Cambria Math" panose="02040503050406030204" pitchFamily="18" charset="0"/>
                                  <a:cs typeface="Times New Roman" panose="02020603050405020304" pitchFamily="18" charset="0"/>
                                </a:rPr>
                              </m:ctrlPr>
                            </m:sSubPr>
                            <m:e>
                              <m:r>
                                <a:rPr lang="en-US" altLang="zh-CN" i="1" dirty="0" err="1" smtClean="0">
                                  <a:latin typeface="Cambria Math" panose="02040503050406030204" pitchFamily="18" charset="0"/>
                                  <a:cs typeface="Times New Roman" panose="02020603050405020304" pitchFamily="18" charset="0"/>
                                </a:rPr>
                                <m:t>𝑠</m:t>
                              </m:r>
                            </m:e>
                            <m:sub>
                              <m:r>
                                <a:rPr lang="en-US" altLang="zh-CN" i="1" dirty="0" err="1">
                                  <a:latin typeface="Cambria Math" panose="02040503050406030204" pitchFamily="18" charset="0"/>
                                  <a:cs typeface="Times New Roman" panose="02020603050405020304" pitchFamily="18" charset="0"/>
                                </a:rPr>
                                <m:t>𝑖𝑗</m:t>
                              </m:r>
                            </m:sub>
                          </m:sSub>
                        </m:e>
                      </m:d>
                    </m:oMath>
                  </m:oMathPara>
                </a14:m>
                <a:endParaRPr lang="en-US" altLang="zh-CN" i="1" dirty="0">
                  <a:latin typeface="Times New Roman" panose="02020603050405020304" pitchFamily="18" charset="0"/>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668729" y="2320277"/>
                <a:ext cx="4535685" cy="688394"/>
              </a:xfrm>
              <a:prstGeom prst="rect">
                <a:avLst/>
              </a:prstGeom>
              <a:blipFill rotWithShape="1">
                <a:blip r:embed="rId3"/>
                <a:stretch>
                  <a:fillRect l="-2" t="-90" r="13" b="6"/>
                </a:stretch>
              </a:blipFill>
            </p:spPr>
            <p:txBody>
              <a:bodyPr/>
              <a:lstStyle/>
              <a:p>
                <a:r>
                  <a:rPr lang="zh-CN" altLang="en-US">
                    <a:noFill/>
                  </a:rPr>
                  <a:t> </a:t>
                </a:r>
              </a:p>
            </p:txBody>
          </p:sp>
        </mc:Fallback>
      </mc:AlternateContent>
      <p:sp>
        <p:nvSpPr>
          <p:cNvPr id="7" name="文本框 6"/>
          <p:cNvSpPr txBox="1"/>
          <p:nvPr/>
        </p:nvSpPr>
        <p:spPr>
          <a:xfrm>
            <a:off x="752476" y="3314795"/>
            <a:ext cx="7737872" cy="1200329"/>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Thus, KG is conceptualized as a set of incident-aware nodes, each node resembling a blank form to be filled, with the incident name as the primary key and the other fields as incident’s attributes tailored to OCEs’ interests and concerns.</a:t>
            </a:r>
            <a:endParaRPr lang="zh-CN" altLang="en-US" dirty="0">
              <a:latin typeface="Times New Roman" panose="02020603050405020304" pitchFamily="18" charset="0"/>
              <a:cs typeface="Times New Roman" panose="02020603050405020304" pitchFamily="18" charset="0"/>
            </a:endParaRPr>
          </a:p>
        </p:txBody>
      </p:sp>
      <p:sp>
        <p:nvSpPr>
          <p:cNvPr id="2" name="矩形: 圆角 1"/>
          <p:cNvSpPr/>
          <p:nvPr/>
        </p:nvSpPr>
        <p:spPr>
          <a:xfrm>
            <a:off x="675873" y="1236681"/>
            <a:ext cx="7850980" cy="1591015"/>
          </a:xfrm>
          <a:prstGeom prst="roundRect">
            <a:avLst>
              <a:gd name="adj" fmla="val 0"/>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20000"/>
              </a:lnSpc>
            </a:pPr>
            <a:endParaRPr lang="zh-CN" altLang="en-US"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mc:AlternateContent xmlns:mc="http://schemas.openxmlformats.org/markup-compatibility/2006" xmlns:a14="http://schemas.microsoft.com/office/drawing/2010/main">
        <mc:Choice Requires="a14">
          <p:sp>
            <p:nvSpPr>
              <p:cNvPr id="2" name="文本框 1"/>
              <p:cNvSpPr txBox="1"/>
              <p:nvPr/>
            </p:nvSpPr>
            <p:spPr>
              <a:xfrm>
                <a:off x="875646" y="1235698"/>
                <a:ext cx="7392707" cy="998928"/>
              </a:xfrm>
              <a:prstGeom prst="rect">
                <a:avLst/>
              </a:prstGeom>
              <a:noFill/>
            </p:spPr>
            <p:txBody>
              <a:bodyPr wrap="square">
                <a:spAutoFit/>
              </a:bodyPr>
              <a:lstStyle/>
              <a:p>
                <a:r>
                  <a:rPr lang="en-US" altLang="zh-CN" i="1" dirty="0">
                    <a:latin typeface="Times New Roman" panose="02020603050405020304" pitchFamily="18" charset="0"/>
                    <a:cs typeface="Times New Roman" panose="02020603050405020304" pitchFamily="18" charset="0"/>
                  </a:rPr>
                  <a:t>Extracting Incidents from Chunks:</a:t>
                </a:r>
                <a:r>
                  <a:rPr lang="en-US" altLang="zh-CN" dirty="0">
                    <a:latin typeface="Times New Roman" panose="02020603050405020304" pitchFamily="18" charset="0"/>
                    <a:cs typeface="Times New Roman" panose="02020603050405020304" pitchFamily="18" charset="0"/>
                  </a:rPr>
                  <a:t> given the context length limitation of LLMs, we split the raw document into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𝐾</m:t>
                    </m:r>
                  </m:oMath>
                </a14:m>
                <a:r>
                  <a:rPr lang="en-US" altLang="zh-CN" dirty="0">
                    <a:latin typeface="Times New Roman" panose="02020603050405020304" pitchFamily="18" charset="0"/>
                    <a:cs typeface="Times New Roman" panose="02020603050405020304" pitchFamily="18" charset="0"/>
                  </a:rPr>
                  <a:t> chunks and instruct LLMs to extract all incident instances </a:t>
                </a:r>
                <a14:m>
                  <m:oMath xmlns:m="http://schemas.openxmlformats.org/officeDocument/2006/math">
                    <m:sSubSup>
                      <m:sSubSupPr>
                        <m:ctrlPr>
                          <a:rPr lang="en-US" altLang="zh-CN" b="0" i="1" dirty="0" smtClean="0">
                            <a:latin typeface="Cambria Math" panose="02040503050406030204" pitchFamily="18" charset="0"/>
                            <a:cs typeface="Times New Roman" panose="02020603050405020304" pitchFamily="18" charset="0"/>
                          </a:rPr>
                        </m:ctrlPr>
                      </m:sSubSupPr>
                      <m:e>
                        <m:r>
                          <a:rPr lang="en-US" altLang="zh-CN" i="1" dirty="0" smtClean="0">
                            <a:latin typeface="Cambria Math" panose="02040503050406030204" pitchFamily="18" charset="0"/>
                            <a:cs typeface="Times New Roman" panose="02020603050405020304" pitchFamily="18" charset="0"/>
                          </a:rPr>
                          <m:t>𝑎</m:t>
                        </m:r>
                      </m:e>
                      <m:sub>
                        <m:r>
                          <a:rPr lang="en-US" altLang="zh-CN" b="0" i="1" dirty="0" smtClean="0">
                            <a:latin typeface="Cambria Math" panose="02040503050406030204" pitchFamily="18" charset="0"/>
                            <a:cs typeface="Times New Roman" panose="02020603050405020304" pitchFamily="18" charset="0"/>
                          </a:rPr>
                          <m:t>𝑖</m:t>
                        </m:r>
                      </m:sub>
                      <m:sup>
                        <m:r>
                          <a:rPr lang="en-US" altLang="zh-CN" b="0" i="1" dirty="0" smtClean="0">
                            <a:latin typeface="Cambria Math" panose="02040503050406030204" pitchFamily="18" charset="0"/>
                            <a:cs typeface="Times New Roman" panose="02020603050405020304" pitchFamily="18" charset="0"/>
                          </a:rPr>
                          <m:t>(</m:t>
                        </m:r>
                        <m:r>
                          <a:rPr lang="en-US" altLang="zh-CN" i="1" dirty="0">
                            <a:latin typeface="Cambria Math" panose="02040503050406030204" pitchFamily="18" charset="0"/>
                            <a:cs typeface="Times New Roman" panose="02020603050405020304" pitchFamily="18" charset="0"/>
                          </a:rPr>
                          <m:t>𝑘</m:t>
                        </m:r>
                        <m:r>
                          <a:rPr lang="en-US" altLang="zh-CN" b="0" i="1" dirty="0" smtClean="0">
                            <a:latin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cs typeface="Times New Roman" panose="02020603050405020304" pitchFamily="18" charset="0"/>
                          </a:rPr>
                          <m:t> </m:t>
                        </m:r>
                      </m:sup>
                    </m:sSubSup>
                  </m:oMath>
                </a14:m>
                <a:r>
                  <a:rPr lang="en-US" altLang="zh-CN" dirty="0">
                    <a:latin typeface="Times New Roman" panose="02020603050405020304" pitchFamily="18" charset="0"/>
                    <a:cs typeface="Times New Roman" panose="02020603050405020304" pitchFamily="18" charset="0"/>
                  </a:rPr>
                  <a:t>, i.e., incident names, for each chunk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𝑘</m:t>
                    </m:r>
                  </m:oMath>
                </a14:m>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875646" y="1235698"/>
                <a:ext cx="7392707" cy="998928"/>
              </a:xfrm>
              <a:prstGeom prst="rect">
                <a:avLst/>
              </a:prstGeom>
              <a:blipFill rotWithShape="1">
                <a:blip r:embed="rId3"/>
                <a:stretch>
                  <a:fillRect l="-8" t="-62" b="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875646" y="2795561"/>
                <a:ext cx="7392707" cy="1307217"/>
              </a:xfrm>
              <a:prstGeom prst="rect">
                <a:avLst/>
              </a:prstGeom>
              <a:noFill/>
            </p:spPr>
            <p:txBody>
              <a:bodyPr wrap="square">
                <a:spAutoFit/>
              </a:bodyPr>
              <a:lstStyle/>
              <a:p>
                <a:r>
                  <a:rPr lang="en-US" altLang="zh-CN" i="1" dirty="0">
                    <a:latin typeface="Times New Roman" panose="02020603050405020304" pitchFamily="18" charset="0"/>
                    <a:cs typeface="Times New Roman" panose="02020603050405020304" pitchFamily="18" charset="0"/>
                  </a:rPr>
                  <a:t>Filling in Incident-Aware Nodes</a:t>
                </a:r>
                <a:r>
                  <a:rPr lang="en-US" altLang="zh-CN" dirty="0">
                    <a:latin typeface="Times New Roman" panose="02020603050405020304" pitchFamily="18" charset="0"/>
                    <a:cs typeface="Times New Roman" panose="02020603050405020304" pitchFamily="18" charset="0"/>
                  </a:rPr>
                  <a:t>: With determined incident names, this step identifies the remaining attributes of the nodes like filling in forms. Specifically, LLMs extract other attributes from the chunk in a few-shot setting, i.e.,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𝑎𝑡𝑡𝑟</m:t>
                    </m:r>
                    <m:sSubSup>
                      <m:sSubSupPr>
                        <m:ctrlPr>
                          <a:rPr lang="en-US" altLang="zh-CN" b="0" i="1" dirty="0" smtClean="0">
                            <a:latin typeface="Cambria Math" panose="02040503050406030204" pitchFamily="18" charset="0"/>
                            <a:cs typeface="Times New Roman" panose="02020603050405020304" pitchFamily="18" charset="0"/>
                          </a:rPr>
                        </m:ctrlPr>
                      </m:sSubSupPr>
                      <m:e>
                        <m:r>
                          <a:rPr lang="en-US" altLang="zh-CN" i="1" dirty="0" smtClean="0">
                            <a:latin typeface="Cambria Math" panose="02040503050406030204" pitchFamily="18" charset="0"/>
                            <a:cs typeface="Times New Roman" panose="02020603050405020304" pitchFamily="18" charset="0"/>
                          </a:rPr>
                          <m:t>𝑠</m:t>
                        </m:r>
                      </m:e>
                      <m:sub>
                        <m:r>
                          <a:rPr lang="en-US" altLang="zh-CN" b="0" i="1" dirty="0" smtClean="0">
                            <a:latin typeface="Cambria Math" panose="02040503050406030204" pitchFamily="18" charset="0"/>
                            <a:cs typeface="Times New Roman" panose="02020603050405020304" pitchFamily="18" charset="0"/>
                          </a:rPr>
                          <m:t>𝑖𝑗</m:t>
                        </m:r>
                      </m:sub>
                      <m:sup>
                        <m:r>
                          <a:rPr lang="en-US" altLang="zh-CN" b="0" i="1" dirty="0" smtClean="0">
                            <a:latin typeface="Cambria Math" panose="02040503050406030204" pitchFamily="18" charset="0"/>
                            <a:cs typeface="Times New Roman" panose="02020603050405020304" pitchFamily="18" charset="0"/>
                          </a:rPr>
                          <m:t>(</m:t>
                        </m:r>
                        <m:r>
                          <a:rPr lang="en-US" altLang="zh-CN" i="1" dirty="0">
                            <a:latin typeface="Cambria Math" panose="02040503050406030204" pitchFamily="18" charset="0"/>
                            <a:cs typeface="Times New Roman" panose="02020603050405020304" pitchFamily="18" charset="0"/>
                          </a:rPr>
                          <m:t>𝑘</m:t>
                        </m:r>
                        <m:r>
                          <a:rPr lang="en-US" altLang="zh-CN" b="0" i="1" dirty="0" smtClean="0">
                            <a:latin typeface="Cambria Math" panose="02040503050406030204" pitchFamily="18" charset="0"/>
                            <a:cs typeface="Times New Roman" panose="02020603050405020304" pitchFamily="18" charset="0"/>
                          </a:rPr>
                          <m:t>)</m:t>
                        </m:r>
                      </m:sup>
                    </m:sSubSup>
                  </m:oMath>
                </a14:m>
                <a:r>
                  <a:rPr lang="en-US" altLang="zh-CN" dirty="0">
                    <a:latin typeface="Times New Roman" panose="02020603050405020304" pitchFamily="18" charset="0"/>
                    <a:cs typeface="Times New Roman" panose="02020603050405020304" pitchFamily="18" charset="0"/>
                  </a:rPr>
                  <a:t> associated with </a:t>
                </a:r>
                <a14:m>
                  <m:oMath xmlns:m="http://schemas.openxmlformats.org/officeDocument/2006/math">
                    <m:sSubSup>
                      <m:sSubSupPr>
                        <m:ctrlPr>
                          <a:rPr lang="en-US" altLang="zh-CN" b="0" i="1" smtClean="0">
                            <a:latin typeface="Cambria Math" panose="02040503050406030204" pitchFamily="18" charset="0"/>
                            <a:cs typeface="Times New Roman" panose="02020603050405020304" pitchFamily="18" charset="0"/>
                          </a:rPr>
                        </m:ctrlPr>
                      </m:sSubSupPr>
                      <m:e>
                        <m:r>
                          <a:rPr lang="en-US" altLang="zh-CN" b="0" i="1" smtClean="0">
                            <a:latin typeface="Cambria Math" panose="02040503050406030204" pitchFamily="18" charset="0"/>
                            <a:cs typeface="Times New Roman" panose="02020603050405020304" pitchFamily="18" charset="0"/>
                          </a:rPr>
                          <m:t>𝑎</m:t>
                        </m:r>
                      </m:e>
                      <m:sub>
                        <m:r>
                          <a:rPr lang="en-US" altLang="zh-CN" b="0" i="1" smtClean="0">
                            <a:latin typeface="Cambria Math" panose="02040503050406030204" pitchFamily="18" charset="0"/>
                            <a:cs typeface="Times New Roman" panose="02020603050405020304" pitchFamily="18" charset="0"/>
                          </a:rPr>
                          <m:t>𝑖</m:t>
                        </m:r>
                      </m:sub>
                      <m:sup>
                        <m:r>
                          <a:rPr lang="en-US" altLang="zh-CN" b="0" i="1" smtClean="0">
                            <a:latin typeface="Cambria Math" panose="02040503050406030204" pitchFamily="18" charset="0"/>
                            <a:cs typeface="Times New Roman" panose="02020603050405020304" pitchFamily="18" charset="0"/>
                          </a:rPr>
                          <m:t>𝑘</m:t>
                        </m:r>
                      </m:sup>
                    </m:sSubSup>
                    <m:r>
                      <a:rPr lang="en-US" altLang="zh-CN" b="0" i="1" smtClean="0">
                        <a:latin typeface="Cambria Math" panose="02040503050406030204" pitchFamily="18" charset="0"/>
                        <a:cs typeface="Times New Roman" panose="02020603050405020304" pitchFamily="18" charset="0"/>
                      </a:rPr>
                      <m:t>.</m:t>
                    </m:r>
                  </m:oMath>
                </a14:m>
                <a:endParaRPr lang="en-US" altLang="zh-CN" b="0" dirty="0">
                  <a:latin typeface="Times New Roman" panose="02020603050405020304" pitchFamily="18" charset="0"/>
                  <a:cs typeface="Times New Roman" panose="02020603050405020304" pitchFamily="18" charset="0"/>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875646" y="2795561"/>
                <a:ext cx="7392707" cy="1307217"/>
              </a:xfrm>
              <a:prstGeom prst="rect">
                <a:avLst/>
              </a:prstGeom>
              <a:blipFill rotWithShape="1">
                <a:blip r:embed="rId4"/>
                <a:stretch>
                  <a:fillRect l="-8" t="-22" b="3"/>
                </a:stretch>
              </a:blipFill>
            </p:spPr>
            <p:txBody>
              <a:bodyPr/>
              <a:lstStyle/>
              <a:p>
                <a:r>
                  <a:rPr lang="zh-CN" altLang="en-US">
                    <a:noFill/>
                  </a:rPr>
                  <a:t> </a:t>
                </a:r>
              </a:p>
            </p:txBody>
          </p:sp>
        </mc:Fallback>
      </mc:AlternateContent>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p:cNvSpPr txBox="1"/>
          <p:nvPr/>
        </p:nvSpPr>
        <p:spPr bwMode="auto">
          <a:xfrm>
            <a:off x="813585" y="287917"/>
            <a:ext cx="5647938"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Merging and Refining Nodes across Chunks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 name="文本框 2"/>
          <p:cNvSpPr txBox="1"/>
          <p:nvPr/>
        </p:nvSpPr>
        <p:spPr>
          <a:xfrm>
            <a:off x="789529" y="957092"/>
            <a:ext cx="7347081" cy="646331"/>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In Step 3, incorporating incidents from the previous chunk mitigates information loss but leads to notable node redundancy.</a:t>
            </a:r>
            <a:endParaRPr lang="zh-CN"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文本框 4"/>
              <p:cNvSpPr txBox="1"/>
              <p:nvPr/>
            </p:nvSpPr>
            <p:spPr>
              <a:xfrm>
                <a:off x="813585" y="3477469"/>
                <a:ext cx="7715649" cy="646331"/>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The final output is a knowledge graph consisting of incident nodes, i.e., </a:t>
                </a:r>
              </a:p>
              <a:p>
                <a14:m>
                  <m:oMath xmlns:m="http://schemas.openxmlformats.org/officeDocument/2006/math">
                    <m:r>
                      <a:rPr lang="en-US" altLang="zh-CN" b="0" i="1" smtClean="0">
                        <a:latin typeface="Cambria Math" panose="02040503050406030204" pitchFamily="18" charset="0"/>
                        <a:cs typeface="Times New Roman" panose="02020603050405020304" pitchFamily="18" charset="0"/>
                      </a:rPr>
                      <m:t>𝐾𝐺</m:t>
                    </m:r>
                    <m:r>
                      <a:rPr lang="en-US" altLang="zh-CN" b="0" i="1" smtClean="0">
                        <a:latin typeface="Cambria Math" panose="02040503050406030204" pitchFamily="18" charset="0"/>
                        <a:cs typeface="Times New Roman" panose="02020603050405020304" pitchFamily="18" charset="0"/>
                      </a:rPr>
                      <m:t>=</m:t>
                    </m:r>
                    <m:d>
                      <m:dPr>
                        <m:begChr m:val="{"/>
                        <m:endChr m:val="|"/>
                        <m:ctrlPr>
                          <a:rPr lang="en-US" altLang="zh-CN" b="0" i="1" smtClean="0">
                            <a:latin typeface="Cambria Math" panose="02040503050406030204" pitchFamily="18" charset="0"/>
                            <a:cs typeface="Times New Roman" panose="02020603050405020304" pitchFamily="18" charset="0"/>
                          </a:rPr>
                        </m:ctrlPr>
                      </m:dPr>
                      <m:e>
                        <m:r>
                          <a:rPr lang="en-US" altLang="zh-CN" b="0" i="1" smtClean="0">
                            <a:latin typeface="Cambria Math" panose="02040503050406030204" pitchFamily="18" charset="0"/>
                            <a:cs typeface="Times New Roman" panose="02020603050405020304" pitchFamily="18" charset="0"/>
                          </a:rPr>
                          <m:t>𝑛𝑜𝑑</m:t>
                        </m:r>
                        <m:sSub>
                          <m:sSubPr>
                            <m:ctrlPr>
                              <a:rPr lang="en-US" altLang="zh-CN" b="0" i="1" smtClean="0">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𝑒</m:t>
                            </m:r>
                          </m:e>
                          <m:sub>
                            <m:r>
                              <a:rPr lang="en-US" altLang="zh-CN" b="0" i="1" smtClean="0">
                                <a:latin typeface="Cambria Math" panose="02040503050406030204" pitchFamily="18" charset="0"/>
                                <a:cs typeface="Times New Roman" panose="02020603050405020304" pitchFamily="18" charset="0"/>
                              </a:rPr>
                              <m:t>𝑖</m:t>
                            </m:r>
                          </m:sub>
                        </m:sSub>
                        <m:r>
                          <a:rPr lang="en-US" altLang="zh-CN" b="0" i="1" smtClean="0">
                            <a:latin typeface="Cambria Math" panose="02040503050406030204" pitchFamily="18" charset="0"/>
                            <a:cs typeface="Times New Roman" panose="02020603050405020304" pitchFamily="18" charset="0"/>
                          </a:rPr>
                          <m:t> </m:t>
                        </m:r>
                      </m:e>
                    </m:d>
                    <m:r>
                      <a:rPr lang="en-US" altLang="zh-CN" b="0" i="1" smtClean="0">
                        <a:latin typeface="Cambria Math" panose="02040503050406030204" pitchFamily="18" charset="0"/>
                        <a:cs typeface="Times New Roman" panose="02020603050405020304" pitchFamily="18" charset="0"/>
                      </a:rPr>
                      <m:t> </m:t>
                    </m:r>
                    <m:r>
                      <a:rPr lang="en-US" altLang="zh-CN" b="0" i="1" smtClean="0">
                        <a:latin typeface="Cambria Math" panose="02040503050406030204" pitchFamily="18" charset="0"/>
                        <a:cs typeface="Times New Roman" panose="02020603050405020304" pitchFamily="18" charset="0"/>
                      </a:rPr>
                      <m:t>𝑖</m:t>
                    </m:r>
                    <m:r>
                      <a:rPr lang="en-US" altLang="zh-CN" b="0" i="1" smtClean="0">
                        <a:latin typeface="Cambria Math" panose="02040503050406030204" pitchFamily="18" charset="0"/>
                        <a:cs typeface="Times New Roman" panose="02020603050405020304" pitchFamily="18" charset="0"/>
                      </a:rPr>
                      <m:t>=1, …,</m:t>
                    </m:r>
                    <m:r>
                      <a:rPr lang="en-US" altLang="zh-CN" b="0" i="1" smtClean="0">
                        <a:latin typeface="Cambria Math" panose="02040503050406030204" pitchFamily="18" charset="0"/>
                        <a:cs typeface="Times New Roman" panose="02020603050405020304" pitchFamily="18" charset="0"/>
                      </a:rPr>
                      <m:t>𝑁</m:t>
                    </m:r>
                    <m:r>
                      <a:rPr lang="en-US" altLang="zh-CN" b="0" i="1" smtClean="0">
                        <a:latin typeface="Cambria Math" panose="02040503050406030204" pitchFamily="18" charset="0"/>
                        <a:cs typeface="Times New Roman" panose="02020603050405020304" pitchFamily="18" charset="0"/>
                      </a:rPr>
                      <m:t>}</m:t>
                    </m:r>
                  </m:oMath>
                </a14:m>
                <a:r>
                  <a:rPr lang="en-US" altLang="zh-CN" dirty="0">
                    <a:latin typeface="Times New Roman" panose="02020603050405020304" pitchFamily="18" charset="0"/>
                    <a:cs typeface="Times New Roman" panose="02020603050405020304" pitchFamily="18" charset="0"/>
                  </a:rPr>
                  <a:t>, where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𝑁</m:t>
                    </m:r>
                  </m:oMath>
                </a14:m>
                <a:r>
                  <a:rPr lang="en-US" altLang="zh-CN" dirty="0">
                    <a:latin typeface="Times New Roman" panose="02020603050405020304" pitchFamily="18" charset="0"/>
                    <a:cs typeface="Times New Roman" panose="02020603050405020304" pitchFamily="18" charset="0"/>
                  </a:rPr>
                  <a:t> denotes the number of all incident types. </a:t>
                </a:r>
                <a:endParaRPr lang="zh-CN" altLang="en-US" dirty="0">
                  <a:latin typeface="Times New Roman" panose="02020603050405020304" pitchFamily="18" charset="0"/>
                  <a:cs typeface="Times New Roman" panose="02020603050405020304" pitchFamily="18"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813585" y="3477469"/>
                <a:ext cx="7715649" cy="646331"/>
              </a:xfrm>
              <a:prstGeom prst="rect">
                <a:avLst/>
              </a:prstGeom>
              <a:blipFill rotWithShape="1">
                <a:blip r:embed="rId3"/>
                <a:stretch>
                  <a:fillRect l="-2" t="-32" r="7" b="17"/>
                </a:stretch>
              </a:blipFill>
            </p:spPr>
            <p:txBody>
              <a:bodyPr/>
              <a:lstStyle/>
              <a:p>
                <a:r>
                  <a:rPr lang="zh-CN" altLang="en-US">
                    <a:noFill/>
                  </a:rPr>
                  <a:t> </a:t>
                </a:r>
              </a:p>
            </p:txBody>
          </p:sp>
        </mc:Fallback>
      </mc:AlternateContent>
      <p:sp>
        <p:nvSpPr>
          <p:cNvPr id="6" name="文本框 5"/>
          <p:cNvSpPr txBox="1"/>
          <p:nvPr/>
        </p:nvSpPr>
        <p:spPr>
          <a:xfrm>
            <a:off x="813585" y="2078781"/>
            <a:ext cx="7347081" cy="923330"/>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To address this, we merge and refine nodes of the same incident type. Utilizing the strong semantic capability of LLMs, this step merges, restructures, and refines node content.</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p:cNvSpPr txBox="1"/>
          <p:nvPr/>
        </p:nvSpPr>
        <p:spPr bwMode="auto">
          <a:xfrm>
            <a:off x="813585" y="287917"/>
            <a:ext cx="5647938"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b="1" dirty="0">
                <a:solidFill>
                  <a:srgbClr val="E5DEDB">
                    <a:lumMod val="10000"/>
                    <a:alpha val="85000"/>
                  </a:srgbClr>
                </a:solidFill>
                <a:latin typeface="Times New Roman" panose="02020603050405020304" pitchFamily="18" charset="0"/>
                <a:cs typeface="Times New Roman" panose="02020603050405020304" pitchFamily="18" charset="0"/>
              </a:rPr>
              <a:t>Retrieval</a:t>
            </a:r>
            <a:endParaRPr lang="zh-CN" altLang="en-US" b="1"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文本框 6"/>
              <p:cNvSpPr txBox="1"/>
              <p:nvPr/>
            </p:nvSpPr>
            <p:spPr>
              <a:xfrm>
                <a:off x="789529" y="957092"/>
                <a:ext cx="7347081" cy="657809"/>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When an incident is triggered online, a query </a:t>
                </a:r>
                <a14:m>
                  <m:oMath xmlns:m="http://schemas.openxmlformats.org/officeDocument/2006/math">
                    <m:sSup>
                      <m:sSupPr>
                        <m:ctrlPr>
                          <a:rPr lang="en-US" altLang="zh-CN" b="0" i="1" dirty="0" smtClean="0">
                            <a:latin typeface="Cambria Math" panose="02040503050406030204" pitchFamily="18" charset="0"/>
                            <a:cs typeface="Times New Roman" panose="02020603050405020304" pitchFamily="18" charset="0"/>
                          </a:rPr>
                        </m:ctrlPr>
                      </m:sSupPr>
                      <m:e>
                        <m:r>
                          <a:rPr lang="en-US" altLang="zh-CN" i="1" dirty="0" smtClean="0">
                            <a:latin typeface="Cambria Math" panose="02040503050406030204" pitchFamily="18" charset="0"/>
                            <a:cs typeface="Times New Roman" panose="02020603050405020304" pitchFamily="18" charset="0"/>
                          </a:rPr>
                          <m:t>𝑄</m:t>
                        </m:r>
                      </m:e>
                      <m:sup>
                        <m:r>
                          <a:rPr lang="en-US" altLang="zh-CN" b="0" i="1" dirty="0" smtClean="0">
                            <a:latin typeface="Cambria Math" panose="02040503050406030204" pitchFamily="18" charset="0"/>
                            <a:cs typeface="Times New Roman" panose="02020603050405020304" pitchFamily="18" charset="0"/>
                          </a:rPr>
                          <m:t>(</m:t>
                        </m:r>
                        <m:r>
                          <a:rPr lang="en-US" altLang="zh-CN" i="1" dirty="0" smtClean="0">
                            <a:latin typeface="Cambria Math" panose="02040503050406030204" pitchFamily="18" charset="0"/>
                            <a:cs typeface="Times New Roman" panose="02020603050405020304" pitchFamily="18" charset="0"/>
                          </a:rPr>
                          <m:t>𝑇</m:t>
                        </m:r>
                        <m:r>
                          <a:rPr lang="en-US" altLang="zh-CN" b="0" i="1" dirty="0" smtClean="0">
                            <a:latin typeface="Cambria Math" panose="02040503050406030204" pitchFamily="18" charset="0"/>
                            <a:cs typeface="Times New Roman" panose="02020603050405020304" pitchFamily="18" charset="0"/>
                          </a:rPr>
                          <m:t>)</m:t>
                        </m:r>
                      </m:sup>
                    </m:sSup>
                  </m:oMath>
                </a14:m>
                <a:r>
                  <a:rPr lang="en-US" altLang="zh-CN" dirty="0">
                    <a:latin typeface="Times New Roman" panose="02020603050405020304" pitchFamily="18" charset="0"/>
                    <a:cs typeface="Times New Roman" panose="02020603050405020304" pitchFamily="18" charset="0"/>
                  </a:rPr>
                  <a:t> is generated, typically including the incident name and description.</a:t>
                </a:r>
                <a:endParaRPr lang="zh-CN" altLang="en-US" dirty="0">
                  <a:latin typeface="Times New Roman" panose="02020603050405020304" pitchFamily="18" charset="0"/>
                  <a:cs typeface="Times New Roman" panose="02020603050405020304" pitchFamily="18"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789529" y="957092"/>
                <a:ext cx="7347081" cy="657809"/>
              </a:xfrm>
              <a:prstGeom prst="rect">
                <a:avLst/>
              </a:prstGeom>
              <a:blipFill rotWithShape="1">
                <a:blip r:embed="rId3"/>
                <a:stretch>
                  <a:fillRect l="-3" t="-22" r="5" b="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813585" y="2746240"/>
                <a:ext cx="7715649" cy="1032462"/>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Relevant domain knowledge is ranked by similarity scores, i.e., </a:t>
                </a:r>
                <a14:m>
                  <m:oMath xmlns:m="http://schemas.openxmlformats.org/officeDocument/2006/math">
                    <m:sSup>
                      <m:sSupPr>
                        <m:ctrlPr>
                          <a:rPr lang="en-US" altLang="zh-CN" b="0" i="1" smtClean="0">
                            <a:latin typeface="Cambria Math" panose="02040503050406030204" pitchFamily="18" charset="0"/>
                            <a:cs typeface="Times New Roman" panose="02020603050405020304" pitchFamily="18" charset="0"/>
                          </a:rPr>
                        </m:ctrlPr>
                      </m:sSupPr>
                      <m:e>
                        <m:r>
                          <a:rPr lang="en-US" altLang="zh-CN" b="0" i="1" smtClean="0">
                            <a:latin typeface="Cambria Math" panose="02040503050406030204" pitchFamily="18" charset="0"/>
                            <a:cs typeface="Times New Roman" panose="02020603050405020304" pitchFamily="18" charset="0"/>
                          </a:rPr>
                          <m:t>𝐶</m:t>
                        </m:r>
                      </m:e>
                      <m:sup>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𝑇</m:t>
                        </m:r>
                        <m:r>
                          <a:rPr lang="en-US" altLang="zh-CN" b="0" i="1" smtClean="0">
                            <a:latin typeface="Cambria Math" panose="02040503050406030204" pitchFamily="18" charset="0"/>
                            <a:cs typeface="Times New Roman" panose="02020603050405020304" pitchFamily="18" charset="0"/>
                          </a:rPr>
                          <m:t>)</m:t>
                        </m:r>
                      </m:sup>
                    </m:sSup>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𝑐h𝑢𝑛𝑘</m:t>
                    </m:r>
                    <m:sSubSup>
                      <m:sSubSupPr>
                        <m:ctrlPr>
                          <a:rPr lang="en-US" altLang="zh-CN" b="0" i="1" smtClean="0">
                            <a:latin typeface="Cambria Math" panose="02040503050406030204" pitchFamily="18" charset="0"/>
                            <a:cs typeface="Times New Roman" panose="02020603050405020304" pitchFamily="18" charset="0"/>
                          </a:rPr>
                        </m:ctrlPr>
                      </m:sSubSupPr>
                      <m:e>
                        <m:r>
                          <a:rPr lang="en-US" altLang="zh-CN" b="0" i="1" smtClean="0">
                            <a:latin typeface="Cambria Math" panose="02040503050406030204" pitchFamily="18" charset="0"/>
                            <a:cs typeface="Times New Roman" panose="02020603050405020304" pitchFamily="18" charset="0"/>
                          </a:rPr>
                          <m:t>𝑠</m:t>
                        </m:r>
                      </m:e>
                      <m:sub>
                        <m:r>
                          <a:rPr lang="en-US" altLang="zh-CN" b="0" i="1" smtClean="0">
                            <a:latin typeface="Cambria Math" panose="02040503050406030204" pitchFamily="18" charset="0"/>
                            <a:cs typeface="Times New Roman" panose="02020603050405020304" pitchFamily="18" charset="0"/>
                          </a:rPr>
                          <m:t>𝑡𝑜𝑝𝐾</m:t>
                        </m:r>
                      </m:sub>
                      <m:sup>
                        <m:d>
                          <m:dPr>
                            <m:ctrlPr>
                              <a:rPr lang="en-US" altLang="zh-CN" b="0" i="1" smtClean="0">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𝑇</m:t>
                            </m:r>
                          </m:e>
                        </m:d>
                      </m:sup>
                    </m:sSubSup>
                    <m:r>
                      <a:rPr lang="en-US" altLang="zh-CN" b="0" i="1" smtClean="0">
                        <a:latin typeface="Cambria Math" panose="02040503050406030204" pitchFamily="18" charset="0"/>
                        <a:cs typeface="Times New Roman" panose="02020603050405020304" pitchFamily="18" charset="0"/>
                      </a:rPr>
                      <m:t>,  </m:t>
                    </m:r>
                    <m:sSubSup>
                      <m:sSubSupPr>
                        <m:ctrlPr>
                          <a:rPr lang="en-US" altLang="zh-CN" i="1">
                            <a:latin typeface="Cambria Math" panose="02040503050406030204" pitchFamily="18" charset="0"/>
                            <a:cs typeface="Times New Roman" panose="02020603050405020304" pitchFamily="18" charset="0"/>
                          </a:rPr>
                        </m:ctrlPr>
                      </m:sSubSupPr>
                      <m:e>
                        <m:r>
                          <a:rPr lang="en-US" altLang="zh-CN" b="0" i="1" smtClean="0">
                            <a:latin typeface="Cambria Math" panose="02040503050406030204" pitchFamily="18" charset="0"/>
                            <a:cs typeface="Times New Roman" panose="02020603050405020304" pitchFamily="18" charset="0"/>
                          </a:rPr>
                          <m:t>𝑛𝑜𝑑𝑒</m:t>
                        </m:r>
                        <m:r>
                          <a:rPr lang="en-US" altLang="zh-CN" i="1">
                            <a:latin typeface="Cambria Math" panose="02040503050406030204" pitchFamily="18" charset="0"/>
                            <a:cs typeface="Times New Roman" panose="02020603050405020304" pitchFamily="18" charset="0"/>
                          </a:rPr>
                          <m:t>𝑠</m:t>
                        </m:r>
                      </m:e>
                      <m:sub>
                        <m:r>
                          <a:rPr lang="en-US" altLang="zh-CN" i="1">
                            <a:latin typeface="Cambria Math" panose="02040503050406030204" pitchFamily="18" charset="0"/>
                            <a:cs typeface="Times New Roman" panose="02020603050405020304" pitchFamily="18" charset="0"/>
                          </a:rPr>
                          <m:t>𝑡𝑜𝑝</m:t>
                        </m:r>
                        <m:r>
                          <a:rPr lang="en-US" altLang="zh-CN" b="0" i="1" smtClean="0">
                            <a:latin typeface="Cambria Math" panose="02040503050406030204" pitchFamily="18" charset="0"/>
                            <a:cs typeface="Times New Roman" panose="02020603050405020304" pitchFamily="18" charset="0"/>
                          </a:rPr>
                          <m:t>𝑁</m:t>
                        </m:r>
                      </m:sub>
                      <m:sup>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𝑇</m:t>
                            </m:r>
                          </m:e>
                        </m:d>
                      </m:sup>
                    </m:sSubSup>
                    <m:r>
                      <a:rPr lang="en-US" altLang="zh-CN" b="0" i="1" smtClean="0">
                        <a:latin typeface="Cambria Math" panose="02040503050406030204" pitchFamily="18" charset="0"/>
                        <a:cs typeface="Times New Roman" panose="02020603050405020304" pitchFamily="18" charset="0"/>
                      </a:rPr>
                      <m:t>}</m:t>
                    </m:r>
                  </m:oMath>
                </a14:m>
                <a:r>
                  <a:rPr lang="en-US" altLang="zh-CN" dirty="0">
                    <a:latin typeface="Times New Roman" panose="02020603050405020304" pitchFamily="18" charset="0"/>
                    <a:cs typeface="Times New Roman" panose="02020603050405020304" pitchFamily="18" charset="0"/>
                  </a:rPr>
                  <a:t>, where </a:t>
                </a:r>
                <a14:m>
                  <m:oMath xmlns:m="http://schemas.openxmlformats.org/officeDocument/2006/math">
                    <m:r>
                      <a:rPr lang="en-US" altLang="zh-CN" i="1">
                        <a:latin typeface="Cambria Math" panose="02040503050406030204" pitchFamily="18" charset="0"/>
                        <a:cs typeface="Times New Roman" panose="02020603050405020304" pitchFamily="18" charset="0"/>
                      </a:rPr>
                      <m:t>𝑐h𝑢𝑛𝑘</m:t>
                    </m:r>
                    <m:sSubSup>
                      <m:sSubSupPr>
                        <m:ctrlPr>
                          <a:rPr lang="en-US" altLang="zh-CN" i="1">
                            <a:latin typeface="Cambria Math" panose="02040503050406030204" pitchFamily="18" charset="0"/>
                            <a:cs typeface="Times New Roman" panose="02020603050405020304" pitchFamily="18" charset="0"/>
                          </a:rPr>
                        </m:ctrlPr>
                      </m:sSubSupPr>
                      <m:e>
                        <m:r>
                          <a:rPr lang="en-US" altLang="zh-CN" i="1">
                            <a:latin typeface="Cambria Math" panose="02040503050406030204" pitchFamily="18" charset="0"/>
                            <a:cs typeface="Times New Roman" panose="02020603050405020304" pitchFamily="18" charset="0"/>
                          </a:rPr>
                          <m:t>𝑠</m:t>
                        </m:r>
                      </m:e>
                      <m:sub>
                        <m:r>
                          <a:rPr lang="en-US" altLang="zh-CN" i="1">
                            <a:latin typeface="Cambria Math" panose="02040503050406030204" pitchFamily="18" charset="0"/>
                            <a:cs typeface="Times New Roman" panose="02020603050405020304" pitchFamily="18" charset="0"/>
                          </a:rPr>
                          <m:t>𝑡𝑜𝑝𝐾</m:t>
                        </m:r>
                      </m:sub>
                      <m:sup>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𝑇</m:t>
                            </m:r>
                          </m:e>
                        </m:d>
                      </m:sup>
                    </m:sSubSup>
                  </m:oMath>
                </a14:m>
                <a:r>
                  <a:rPr lang="en-US" altLang="zh-CN" dirty="0">
                    <a:latin typeface="Times New Roman" panose="02020603050405020304" pitchFamily="18" charset="0"/>
                    <a:cs typeface="Times New Roman" panose="02020603050405020304" pitchFamily="18" charset="0"/>
                  </a:rPr>
                  <a:t> and </a:t>
                </a:r>
                <a14:m>
                  <m:oMath xmlns:m="http://schemas.openxmlformats.org/officeDocument/2006/math">
                    <m:sSubSup>
                      <m:sSubSupPr>
                        <m:ctrlPr>
                          <a:rPr lang="en-US" altLang="zh-CN" i="1">
                            <a:latin typeface="Cambria Math" panose="02040503050406030204" pitchFamily="18" charset="0"/>
                            <a:cs typeface="Times New Roman" panose="02020603050405020304" pitchFamily="18" charset="0"/>
                          </a:rPr>
                        </m:ctrlPr>
                      </m:sSubSupPr>
                      <m:e>
                        <m:r>
                          <a:rPr lang="en-US" altLang="zh-CN" i="1">
                            <a:latin typeface="Cambria Math" panose="02040503050406030204" pitchFamily="18" charset="0"/>
                            <a:cs typeface="Times New Roman" panose="02020603050405020304" pitchFamily="18" charset="0"/>
                          </a:rPr>
                          <m:t>𝑛𝑜𝑑𝑒𝑠</m:t>
                        </m:r>
                      </m:e>
                      <m:sub>
                        <m:r>
                          <a:rPr lang="en-US" altLang="zh-CN" i="1">
                            <a:latin typeface="Cambria Math" panose="02040503050406030204" pitchFamily="18" charset="0"/>
                            <a:cs typeface="Times New Roman" panose="02020603050405020304" pitchFamily="18" charset="0"/>
                          </a:rPr>
                          <m:t>𝑡𝑜𝑝𝑁</m:t>
                        </m:r>
                      </m:sub>
                      <m:sup>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𝑇</m:t>
                            </m:r>
                          </m:e>
                        </m:d>
                      </m:sup>
                    </m:sSubSup>
                  </m:oMath>
                </a14:m>
                <a:r>
                  <a:rPr lang="en-US" altLang="zh-CN" dirty="0">
                    <a:latin typeface="Times New Roman" panose="02020603050405020304" pitchFamily="18" charset="0"/>
                    <a:cs typeface="Times New Roman" panose="02020603050405020304" pitchFamily="18" charset="0"/>
                  </a:rPr>
                  <a:t> represent the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𝑡𝑜𝑝𝐾</m:t>
                    </m:r>
                  </m:oMath>
                </a14:m>
                <a:r>
                  <a:rPr lang="en-US" altLang="zh-CN" dirty="0">
                    <a:latin typeface="Times New Roman" panose="02020603050405020304" pitchFamily="18" charset="0"/>
                    <a:cs typeface="Times New Roman" panose="02020603050405020304" pitchFamily="18" charset="0"/>
                  </a:rPr>
                  <a:t> and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𝑡𝑜𝑝𝑁</m:t>
                    </m:r>
                  </m:oMath>
                </a14:m>
                <a:r>
                  <a:rPr lang="en-US" altLang="zh-CN" dirty="0">
                    <a:latin typeface="Times New Roman" panose="02020603050405020304" pitchFamily="18" charset="0"/>
                    <a:cs typeface="Times New Roman" panose="02020603050405020304" pitchFamily="18" charset="0"/>
                  </a:rPr>
                  <a:t> most relevant chunks and nodes in natural language, respectively.</a:t>
                </a:r>
                <a:endParaRPr lang="zh-CN" altLang="en-US" dirty="0">
                  <a:latin typeface="Times New Roman" panose="02020603050405020304" pitchFamily="18" charset="0"/>
                  <a:cs typeface="Times New Roman" panose="02020603050405020304" pitchFamily="18" charset="0"/>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813585" y="2746240"/>
                <a:ext cx="7715649" cy="1032462"/>
              </a:xfrm>
              <a:prstGeom prst="rect">
                <a:avLst/>
              </a:prstGeom>
              <a:blipFill rotWithShape="1">
                <a:blip r:embed="rId4"/>
                <a:stretch>
                  <a:fillRect l="-2" t="-48" r="7" b="4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813585" y="1851666"/>
                <a:ext cx="7347081" cy="657809"/>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The semantic similarity is then calculated between </a:t>
                </a:r>
                <a14:m>
                  <m:oMath xmlns:m="http://schemas.openxmlformats.org/officeDocument/2006/math">
                    <m:sSup>
                      <m:sSupPr>
                        <m:ctrlPr>
                          <a:rPr lang="en-US" altLang="zh-CN" i="1" dirty="0">
                            <a:latin typeface="Cambria Math" panose="02040503050406030204" pitchFamily="18" charset="0"/>
                            <a:cs typeface="Times New Roman" panose="02020603050405020304" pitchFamily="18" charset="0"/>
                          </a:rPr>
                        </m:ctrlPr>
                      </m:sSupPr>
                      <m:e>
                        <m:r>
                          <a:rPr lang="en-US" altLang="zh-CN" i="1" dirty="0">
                            <a:latin typeface="Cambria Math" panose="02040503050406030204" pitchFamily="18" charset="0"/>
                            <a:cs typeface="Times New Roman" panose="02020603050405020304" pitchFamily="18" charset="0"/>
                          </a:rPr>
                          <m:t>𝑄</m:t>
                        </m:r>
                      </m:e>
                      <m:sup>
                        <m:r>
                          <a:rPr lang="en-US" altLang="zh-CN" i="1" dirty="0">
                            <a:latin typeface="Cambria Math" panose="02040503050406030204" pitchFamily="18" charset="0"/>
                            <a:cs typeface="Times New Roman" panose="02020603050405020304" pitchFamily="18" charset="0"/>
                          </a:rPr>
                          <m:t>(</m:t>
                        </m:r>
                        <m:r>
                          <a:rPr lang="en-US" altLang="zh-CN" i="1" dirty="0">
                            <a:latin typeface="Cambria Math" panose="02040503050406030204" pitchFamily="18" charset="0"/>
                            <a:cs typeface="Times New Roman" panose="02020603050405020304" pitchFamily="18" charset="0"/>
                          </a:rPr>
                          <m:t>𝑇</m:t>
                        </m:r>
                        <m:r>
                          <a:rPr lang="en-US" altLang="zh-CN" i="1" dirty="0">
                            <a:latin typeface="Cambria Math" panose="02040503050406030204" pitchFamily="18" charset="0"/>
                            <a:cs typeface="Times New Roman" panose="02020603050405020304" pitchFamily="18" charset="0"/>
                          </a:rPr>
                          <m:t>)</m:t>
                        </m:r>
                      </m:sup>
                    </m:sSup>
                    <m:r>
                      <a:rPr lang="en-US" altLang="zh-CN" i="1" dirty="0">
                        <a:latin typeface="Cambria Math" panose="02040503050406030204" pitchFamily="18" charset="0"/>
                        <a:cs typeface="Times New Roman" panose="02020603050405020304" pitchFamily="18" charset="0"/>
                      </a:rPr>
                      <m:t> </m:t>
                    </m:r>
                  </m:oMath>
                </a14:m>
                <a:r>
                  <a:rPr lang="en-US" altLang="zh-CN" dirty="0">
                    <a:latin typeface="Times New Roman" panose="02020603050405020304" pitchFamily="18" charset="0"/>
                    <a:cs typeface="Times New Roman" panose="02020603050405020304" pitchFamily="18" charset="0"/>
                  </a:rPr>
                  <a:t>and the vector indices of each chunk, as well as the encoded incident name of each node.</a:t>
                </a:r>
                <a:endParaRPr lang="zh-CN" altLang="en-US" dirty="0">
                  <a:latin typeface="Times New Roman" panose="02020603050405020304" pitchFamily="18" charset="0"/>
                  <a:cs typeface="Times New Roman" panose="02020603050405020304" pitchFamily="18"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813585" y="1851666"/>
                <a:ext cx="7347081" cy="657809"/>
              </a:xfrm>
              <a:prstGeom prst="rect">
                <a:avLst/>
              </a:prstGeom>
              <a:blipFill rotWithShape="1">
                <a:blip r:embed="rId5"/>
                <a:stretch>
                  <a:fillRect l="-2" t="-1" r="4" b="90"/>
                </a:stretch>
              </a:blipFill>
            </p:spPr>
            <p:txBody>
              <a:bodyPr/>
              <a:lstStyle/>
              <a:p>
                <a:r>
                  <a:rPr lang="zh-CN" altLang="en-US">
                    <a:noFill/>
                  </a:rPr>
                  <a:t> </a:t>
                </a:r>
              </a:p>
            </p:txBody>
          </p:sp>
        </mc:Fallback>
      </mc:AlternateContent>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p:cNvSpPr txBox="1"/>
          <p:nvPr/>
        </p:nvSpPr>
        <p:spPr bwMode="auto">
          <a:xfrm>
            <a:off x="813585" y="287917"/>
            <a:ext cx="5647938"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Agent Roles and Their Collaboration</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文本框 6"/>
              <p:cNvSpPr txBox="1"/>
              <p:nvPr/>
            </p:nvSpPr>
            <p:spPr>
              <a:xfrm>
                <a:off x="857322" y="1213011"/>
                <a:ext cx="7429356" cy="1813766"/>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Planner and Scorer. </a:t>
                </a:r>
                <a:r>
                  <a:rPr lang="en-US" altLang="zh-CN" dirty="0">
                    <a:latin typeface="Times New Roman" panose="02020603050405020304" pitchFamily="18" charset="0"/>
                    <a:cs typeface="Times New Roman" panose="02020603050405020304" pitchFamily="18" charset="0"/>
                  </a:rPr>
                  <a:t>(1) The Planner agent orchestrates workflows using retrieved knowledge from the previous module, </a:t>
                </a:r>
                <a14:m>
                  <m:oMath xmlns:m="http://schemas.openxmlformats.org/officeDocument/2006/math">
                    <m:sSup>
                      <m:sSupPr>
                        <m:ctrlPr>
                          <a:rPr lang="en-US" altLang="zh-CN" b="0" i="1" smtClean="0">
                            <a:latin typeface="Cambria Math" panose="02040503050406030204" pitchFamily="18" charset="0"/>
                            <a:cs typeface="Times New Roman" panose="02020603050405020304" pitchFamily="18" charset="0"/>
                          </a:rPr>
                        </m:ctrlPr>
                      </m:sSupPr>
                      <m:e>
                        <m:r>
                          <a:rPr lang="en-US" altLang="zh-CN" b="0" i="1" smtClean="0">
                            <a:latin typeface="Cambria Math" panose="02040503050406030204" pitchFamily="18" charset="0"/>
                            <a:cs typeface="Times New Roman" panose="02020603050405020304" pitchFamily="18" charset="0"/>
                          </a:rPr>
                          <m:t>𝑊</m:t>
                        </m:r>
                      </m:e>
                      <m:sup>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𝑇</m:t>
                        </m:r>
                        <m:r>
                          <a:rPr lang="en-US" altLang="zh-CN" b="0" i="1" smtClean="0">
                            <a:latin typeface="Cambria Math" panose="02040503050406030204" pitchFamily="18" charset="0"/>
                            <a:cs typeface="Times New Roman" panose="02020603050405020304" pitchFamily="18" charset="0"/>
                          </a:rPr>
                          <m:t>)</m:t>
                        </m:r>
                      </m:sup>
                    </m:sSup>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𝑃𝑙𝑎𝑛𝑛𝑒𝑟</m:t>
                    </m:r>
                    <m:d>
                      <m:dPr>
                        <m:ctrlPr>
                          <a:rPr lang="en-US" altLang="zh-CN" b="0" i="1" smtClean="0">
                            <a:latin typeface="Cambria Math" panose="02040503050406030204" pitchFamily="18" charset="0"/>
                            <a:cs typeface="Times New Roman" panose="02020603050405020304" pitchFamily="18" charset="0"/>
                          </a:rPr>
                        </m:ctrlPr>
                      </m:dPr>
                      <m:e>
                        <m:sSup>
                          <m:sSupPr>
                            <m:ctrlPr>
                              <a:rPr lang="en-US" altLang="zh-CN" b="0" i="1" smtClean="0">
                                <a:latin typeface="Cambria Math" panose="02040503050406030204" pitchFamily="18" charset="0"/>
                                <a:cs typeface="Times New Roman" panose="02020603050405020304" pitchFamily="18" charset="0"/>
                              </a:rPr>
                            </m:ctrlPr>
                          </m:sSupPr>
                          <m:e>
                            <m:r>
                              <a:rPr lang="en-US" altLang="zh-CN" b="0" i="1" smtClean="0">
                                <a:latin typeface="Cambria Math" panose="02040503050406030204" pitchFamily="18" charset="0"/>
                                <a:cs typeface="Times New Roman" panose="02020603050405020304" pitchFamily="18" charset="0"/>
                              </a:rPr>
                              <m:t>𝑄</m:t>
                            </m:r>
                          </m:e>
                          <m:sup>
                            <m:d>
                              <m:dPr>
                                <m:ctrlPr>
                                  <a:rPr lang="en-US" altLang="zh-CN" b="0" i="1" smtClean="0">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𝑇</m:t>
                                </m:r>
                              </m:e>
                            </m:d>
                          </m:sup>
                        </m:sSup>
                        <m:r>
                          <a:rPr lang="en-US" altLang="zh-CN" b="0" i="1" smtClean="0">
                            <a:latin typeface="Cambria Math" panose="02040503050406030204" pitchFamily="18" charset="0"/>
                            <a:cs typeface="Times New Roman" panose="02020603050405020304" pitchFamily="18" charset="0"/>
                          </a:rPr>
                          <m:t>,  </m:t>
                        </m:r>
                        <m:sSup>
                          <m:sSupPr>
                            <m:ctrlPr>
                              <a:rPr lang="en-US" altLang="zh-CN" b="0" i="1" smtClean="0">
                                <a:latin typeface="Cambria Math" panose="02040503050406030204" pitchFamily="18" charset="0"/>
                                <a:cs typeface="Times New Roman" panose="02020603050405020304" pitchFamily="18" charset="0"/>
                              </a:rPr>
                            </m:ctrlPr>
                          </m:sSupPr>
                          <m:e>
                            <m:r>
                              <a:rPr lang="en-US" altLang="zh-CN" b="0" i="1" smtClean="0">
                                <a:latin typeface="Cambria Math" panose="02040503050406030204" pitchFamily="18" charset="0"/>
                                <a:cs typeface="Times New Roman" panose="02020603050405020304" pitchFamily="18" charset="0"/>
                              </a:rPr>
                              <m:t>𝐶</m:t>
                            </m:r>
                          </m:e>
                          <m:sup>
                            <m:d>
                              <m:dPr>
                                <m:ctrlPr>
                                  <a:rPr lang="en-US" altLang="zh-CN" b="0" i="1" smtClean="0">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𝑇</m:t>
                                </m:r>
                              </m:e>
                            </m:d>
                          </m:sup>
                        </m:sSup>
                      </m:e>
                    </m:d>
                  </m:oMath>
                </a14:m>
                <a:r>
                  <a:rPr lang="en-US" altLang="zh-CN" b="0" dirty="0">
                    <a:latin typeface="Times New Roman" panose="02020603050405020304" pitchFamily="18" charset="0"/>
                    <a:cs typeface="Times New Roman" panose="02020603050405020304" pitchFamily="18" charset="0"/>
                  </a:rPr>
                  <a:t>.</a:t>
                </a:r>
              </a:p>
              <a:p>
                <a:r>
                  <a:rPr lang="en-US" altLang="zh-CN" dirty="0">
                    <a:latin typeface="Times New Roman" panose="02020603050405020304" pitchFamily="18" charset="0"/>
                    <a:cs typeface="Times New Roman" panose="02020603050405020304" pitchFamily="18" charset="0"/>
                  </a:rPr>
                  <a:t>(2) The Scorer agent evaluates how well the generated workflows align with domain requirements. The overall workflow quality is quantified by averaging these five scores, </a:t>
                </a:r>
                <a14:m>
                  <m:oMath xmlns:m="http://schemas.openxmlformats.org/officeDocument/2006/math">
                    <m:sSup>
                      <m:sSupPr>
                        <m:ctrlPr>
                          <a:rPr lang="en-US" altLang="zh-CN" b="0" i="1" smtClean="0">
                            <a:latin typeface="Cambria Math" panose="02040503050406030204" pitchFamily="18" charset="0"/>
                            <a:cs typeface="Times New Roman" panose="02020603050405020304" pitchFamily="18" charset="0"/>
                          </a:rPr>
                        </m:ctrlPr>
                      </m:sSupPr>
                      <m:e>
                        <m:r>
                          <a:rPr lang="en-US" altLang="zh-CN" b="0" i="1" smtClean="0">
                            <a:latin typeface="Cambria Math" panose="02040503050406030204" pitchFamily="18" charset="0"/>
                            <a:cs typeface="Times New Roman" panose="02020603050405020304" pitchFamily="18" charset="0"/>
                          </a:rPr>
                          <m:t>𝑆</m:t>
                        </m:r>
                      </m:e>
                      <m:sup>
                        <m:r>
                          <a:rPr lang="en-US" altLang="zh-CN" b="0" i="1" smtClean="0">
                            <a:latin typeface="Cambria Math" panose="02040503050406030204" pitchFamily="18" charset="0"/>
                            <a:cs typeface="Times New Roman" panose="02020603050405020304" pitchFamily="18" charset="0"/>
                          </a:rPr>
                          <m:t>𝑇</m:t>
                        </m:r>
                      </m:sup>
                    </m:sSup>
                    <m:r>
                      <a:rPr lang="en-US" altLang="zh-CN" b="0" i="1" smtClean="0">
                        <a:latin typeface="Cambria Math" panose="02040503050406030204" pitchFamily="18" charset="0"/>
                        <a:cs typeface="Times New Roman" panose="02020603050405020304" pitchFamily="18" charset="0"/>
                      </a:rPr>
                      <m:t>=</m:t>
                    </m:r>
                    <m:r>
                      <a:rPr lang="en-US" altLang="zh-CN" b="0" i="1" smtClean="0">
                        <a:latin typeface="Cambria Math" panose="02040503050406030204" pitchFamily="18" charset="0"/>
                        <a:cs typeface="Times New Roman" panose="02020603050405020304" pitchFamily="18" charset="0"/>
                      </a:rPr>
                      <m:t>𝑆𝑐𝑜𝑟𝑒𝑟</m:t>
                    </m:r>
                    <m:r>
                      <a:rPr lang="en-US" altLang="zh-CN" b="0" i="1" smtClean="0">
                        <a:latin typeface="Cambria Math" panose="02040503050406030204" pitchFamily="18" charset="0"/>
                        <a:cs typeface="Times New Roman" panose="02020603050405020304" pitchFamily="18" charset="0"/>
                      </a:rPr>
                      <m:t>(</m:t>
                    </m:r>
                    <m:sSup>
                      <m:sSupPr>
                        <m:ctrlPr>
                          <a:rPr lang="en-US" altLang="zh-CN" i="1">
                            <a:latin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cs typeface="Times New Roman" panose="02020603050405020304" pitchFamily="18" charset="0"/>
                          </a:rPr>
                          <m:t>𝑄</m:t>
                        </m:r>
                      </m:e>
                      <m:sup>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𝑇</m:t>
                            </m:r>
                          </m:e>
                        </m:d>
                      </m:sup>
                    </m:sSup>
                    <m:r>
                      <a:rPr lang="en-US" altLang="zh-CN" i="1">
                        <a:latin typeface="Cambria Math" panose="02040503050406030204" pitchFamily="18" charset="0"/>
                        <a:cs typeface="Times New Roman" panose="02020603050405020304" pitchFamily="18" charset="0"/>
                      </a:rPr>
                      <m:t>,  </m:t>
                    </m:r>
                    <m:sSup>
                      <m:sSupPr>
                        <m:ctrlPr>
                          <a:rPr lang="en-US" altLang="zh-CN" i="1">
                            <a:latin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cs typeface="Times New Roman" panose="02020603050405020304" pitchFamily="18" charset="0"/>
                          </a:rPr>
                          <m:t>𝐶</m:t>
                        </m:r>
                      </m:e>
                      <m:sup>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𝑇</m:t>
                            </m:r>
                          </m:e>
                        </m:d>
                      </m:sup>
                    </m:sSup>
                    <m:r>
                      <a:rPr lang="en-US" altLang="zh-CN" b="0" i="1" smtClean="0">
                        <a:latin typeface="Cambria Math" panose="02040503050406030204" pitchFamily="18" charset="0"/>
                        <a:cs typeface="Times New Roman" panose="02020603050405020304" pitchFamily="18" charset="0"/>
                      </a:rPr>
                      <m:t>,</m:t>
                    </m:r>
                    <m:r>
                      <a:rPr lang="en-US" altLang="zh-CN" i="1">
                        <a:latin typeface="Cambria Math" panose="02040503050406030204" pitchFamily="18" charset="0"/>
                        <a:cs typeface="Times New Roman" panose="02020603050405020304" pitchFamily="18" charset="0"/>
                      </a:rPr>
                      <m:t>  </m:t>
                    </m:r>
                    <m:sSup>
                      <m:sSupPr>
                        <m:ctrlPr>
                          <a:rPr lang="en-US" altLang="zh-CN" i="1">
                            <a:latin typeface="Cambria Math" panose="02040503050406030204" pitchFamily="18" charset="0"/>
                            <a:cs typeface="Times New Roman" panose="02020603050405020304" pitchFamily="18" charset="0"/>
                          </a:rPr>
                        </m:ctrlPr>
                      </m:sSupPr>
                      <m:e>
                        <m:r>
                          <a:rPr lang="en-US" altLang="zh-CN" b="0" i="1" smtClean="0">
                            <a:latin typeface="Cambria Math" panose="02040503050406030204" pitchFamily="18" charset="0"/>
                            <a:cs typeface="Times New Roman" panose="02020603050405020304" pitchFamily="18" charset="0"/>
                          </a:rPr>
                          <m:t>𝑊</m:t>
                        </m:r>
                      </m:e>
                      <m:sup>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𝑇</m:t>
                            </m:r>
                          </m:e>
                        </m:d>
                      </m:sup>
                    </m:sSup>
                    <m:r>
                      <a:rPr lang="en-US" altLang="zh-CN" b="0" i="1" smtClean="0">
                        <a:latin typeface="Cambria Math" panose="02040503050406030204" pitchFamily="18" charset="0"/>
                        <a:cs typeface="Times New Roman" panose="02020603050405020304" pitchFamily="18" charset="0"/>
                      </a:rPr>
                      <m:t>)</m:t>
                    </m:r>
                  </m:oMath>
                </a14:m>
                <a:r>
                  <a:rPr lang="en-US" altLang="zh-CN" dirty="0">
                    <a:latin typeface="Times New Roman" panose="02020603050405020304" pitchFamily="18" charset="0"/>
                    <a:cs typeface="Times New Roman" panose="02020603050405020304" pitchFamily="18" charset="0"/>
                  </a:rPr>
                  <a:t>. The score </a:t>
                </a:r>
                <a14:m>
                  <m:oMath xmlns:m="http://schemas.openxmlformats.org/officeDocument/2006/math">
                    <m:sSup>
                      <m:sSupPr>
                        <m:ctrlPr>
                          <a:rPr lang="en-US" altLang="zh-CN" i="1">
                            <a:latin typeface="Cambria Math" panose="02040503050406030204" pitchFamily="18" charset="0"/>
                            <a:cs typeface="Times New Roman" panose="02020603050405020304" pitchFamily="18" charset="0"/>
                          </a:rPr>
                        </m:ctrlPr>
                      </m:sSupPr>
                      <m:e>
                        <m:r>
                          <a:rPr lang="en-US" altLang="zh-CN" b="0" i="1" smtClean="0">
                            <a:latin typeface="Cambria Math" panose="02040503050406030204" pitchFamily="18" charset="0"/>
                            <a:cs typeface="Times New Roman" panose="02020603050405020304" pitchFamily="18" charset="0"/>
                          </a:rPr>
                          <m:t>𝑆</m:t>
                        </m:r>
                      </m:e>
                      <m:sup>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𝑇</m:t>
                            </m:r>
                          </m:e>
                        </m:d>
                      </m:sup>
                    </m:sSup>
                  </m:oMath>
                </a14:m>
                <a:r>
                  <a:rPr lang="en-US" altLang="zh-CN" dirty="0">
                    <a:latin typeface="Times New Roman" panose="02020603050405020304" pitchFamily="18" charset="0"/>
                    <a:cs typeface="Times New Roman" panose="02020603050405020304" pitchFamily="18" charset="0"/>
                  </a:rPr>
                  <a:t> is utilized for both offline fine-tuning and online generation.</a:t>
                </a:r>
                <a:endParaRPr lang="en-US" altLang="zh-CN" b="0" dirty="0">
                  <a:latin typeface="Times New Roman" panose="02020603050405020304" pitchFamily="18" charset="0"/>
                  <a:cs typeface="Times New Roman" panose="02020603050405020304" pitchFamily="18" charset="0"/>
                </a:endParaRPr>
              </a:p>
            </p:txBody>
          </p:sp>
        </mc:Choice>
        <mc:Fallback xmlns="">
          <p:sp>
            <p:nvSpPr>
              <p:cNvPr id="7" name="文本框 6"/>
              <p:cNvSpPr txBox="1">
                <a:spLocks noRot="1" noChangeAspect="1" noMove="1" noResize="1" noEditPoints="1" noAdjustHandles="1" noChangeArrowheads="1" noChangeShapeType="1" noTextEdit="1"/>
              </p:cNvSpPr>
              <p:nvPr/>
            </p:nvSpPr>
            <p:spPr>
              <a:xfrm>
                <a:off x="857322" y="1213011"/>
                <a:ext cx="7429356" cy="1813766"/>
              </a:xfrm>
              <a:prstGeom prst="rect">
                <a:avLst/>
              </a:prstGeom>
              <a:blipFill rotWithShape="1">
                <a:blip r:embed="rId3"/>
                <a:stretch>
                  <a:fillRect l="-1" t="-9" r="8" b="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857322" y="3490207"/>
                <a:ext cx="7429356" cy="960519"/>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Best-of-N Sampling. </a:t>
                </a:r>
                <a:r>
                  <a:rPr lang="en-US" altLang="zh-CN" dirty="0">
                    <a:latin typeface="Times New Roman" panose="02020603050405020304" pitchFamily="18" charset="0"/>
                    <a:cs typeface="Times New Roman" panose="02020603050405020304" pitchFamily="18" charset="0"/>
                  </a:rPr>
                  <a:t>During online generation, the Planner orchestrates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𝑁</m:t>
                    </m:r>
                  </m:oMath>
                </a14:m>
                <a:r>
                  <a:rPr lang="en-US" altLang="zh-CN" dirty="0">
                    <a:latin typeface="Times New Roman" panose="02020603050405020304" pitchFamily="18" charset="0"/>
                    <a:cs typeface="Times New Roman" panose="02020603050405020304" pitchFamily="18" charset="0"/>
                  </a:rPr>
                  <a:t> workflows </a:t>
                </a:r>
                <a14:m>
                  <m:oMath xmlns:m="http://schemas.openxmlformats.org/officeDocument/2006/math">
                    <m:sSup>
                      <m:sSupPr>
                        <m:ctrlPr>
                          <a:rPr lang="en-US" altLang="zh-CN" i="1">
                            <a:latin typeface="Cambria Math" panose="02040503050406030204" pitchFamily="18" charset="0"/>
                            <a:cs typeface="Times New Roman" panose="02020603050405020304" pitchFamily="18" charset="0"/>
                          </a:rPr>
                        </m:ctrlPr>
                      </m:sSupPr>
                      <m:e>
                        <m:r>
                          <a:rPr lang="en-US" altLang="zh-CN" b="0" i="1" smtClean="0">
                            <a:latin typeface="Cambria Math" panose="02040503050406030204" pitchFamily="18" charset="0"/>
                            <a:cs typeface="Times New Roman" panose="02020603050405020304" pitchFamily="18" charset="0"/>
                          </a:rPr>
                          <m:t>𝑊</m:t>
                        </m:r>
                      </m:e>
                      <m:sup>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𝑇</m:t>
                            </m:r>
                          </m:e>
                        </m:d>
                      </m:sup>
                    </m:sSup>
                  </m:oMath>
                </a14:m>
                <a:r>
                  <a:rPr lang="en-US" altLang="zh-CN" dirty="0">
                    <a:latin typeface="Times New Roman" panose="02020603050405020304" pitchFamily="18" charset="0"/>
                    <a:cs typeface="Times New Roman" panose="02020603050405020304" pitchFamily="18" charset="0"/>
                  </a:rPr>
                  <a:t> for a given query </a:t>
                </a:r>
                <a14:m>
                  <m:oMath xmlns:m="http://schemas.openxmlformats.org/officeDocument/2006/math">
                    <m:sSup>
                      <m:sSupPr>
                        <m:ctrlPr>
                          <a:rPr lang="en-US" altLang="zh-CN" i="1">
                            <a:latin typeface="Cambria Math" panose="02040503050406030204" pitchFamily="18" charset="0"/>
                            <a:cs typeface="Times New Roman" panose="02020603050405020304" pitchFamily="18" charset="0"/>
                          </a:rPr>
                        </m:ctrlPr>
                      </m:sSupPr>
                      <m:e>
                        <m:r>
                          <a:rPr lang="en-US" altLang="zh-CN" i="1">
                            <a:latin typeface="Cambria Math" panose="02040503050406030204" pitchFamily="18" charset="0"/>
                            <a:cs typeface="Times New Roman" panose="02020603050405020304" pitchFamily="18" charset="0"/>
                          </a:rPr>
                          <m:t>𝑄</m:t>
                        </m:r>
                      </m:e>
                      <m:sup>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𝑇</m:t>
                            </m:r>
                          </m:e>
                        </m:d>
                      </m:sup>
                    </m:sSup>
                  </m:oMath>
                </a14:m>
                <a:r>
                  <a:rPr lang="en-US" altLang="zh-CN" dirty="0">
                    <a:latin typeface="Times New Roman" panose="02020603050405020304" pitchFamily="18" charset="0"/>
                    <a:cs typeface="Times New Roman" panose="02020603050405020304" pitchFamily="18" charset="0"/>
                  </a:rPr>
                  <a:t> , selecting the best one based on the scores </a:t>
                </a:r>
                <a14:m>
                  <m:oMath xmlns:m="http://schemas.openxmlformats.org/officeDocument/2006/math">
                    <m:sSup>
                      <m:sSupPr>
                        <m:ctrlPr>
                          <a:rPr lang="en-US" altLang="zh-CN" i="1">
                            <a:latin typeface="Cambria Math" panose="02040503050406030204" pitchFamily="18" charset="0"/>
                            <a:cs typeface="Times New Roman" panose="02020603050405020304" pitchFamily="18" charset="0"/>
                          </a:rPr>
                        </m:ctrlPr>
                      </m:sSupPr>
                      <m:e>
                        <m:r>
                          <a:rPr lang="en-US" altLang="zh-CN" b="0" i="1" smtClean="0">
                            <a:latin typeface="Cambria Math" panose="02040503050406030204" pitchFamily="18" charset="0"/>
                            <a:cs typeface="Times New Roman" panose="02020603050405020304" pitchFamily="18" charset="0"/>
                          </a:rPr>
                          <m:t>𝑆</m:t>
                        </m:r>
                      </m:e>
                      <m:sup>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𝑇</m:t>
                            </m:r>
                          </m:e>
                        </m:d>
                      </m:sup>
                    </m:sSup>
                  </m:oMath>
                </a14:m>
                <a:r>
                  <a:rPr lang="en-US" altLang="zh-CN" dirty="0">
                    <a:latin typeface="Times New Roman" panose="02020603050405020304" pitchFamily="18" charset="0"/>
                    <a:cs typeface="Times New Roman" panose="02020603050405020304" pitchFamily="18" charset="0"/>
                  </a:rPr>
                  <a:t> from the Scorer.</a:t>
                </a:r>
              </a:p>
            </p:txBody>
          </p:sp>
        </mc:Choice>
        <mc:Fallback xmlns="">
          <p:sp>
            <p:nvSpPr>
              <p:cNvPr id="2" name="文本框 1"/>
              <p:cNvSpPr txBox="1">
                <a:spLocks noRot="1" noChangeAspect="1" noMove="1" noResize="1" noEditPoints="1" noAdjustHandles="1" noChangeArrowheads="1" noChangeShapeType="1" noTextEdit="1"/>
              </p:cNvSpPr>
              <p:nvPr/>
            </p:nvSpPr>
            <p:spPr>
              <a:xfrm>
                <a:off x="857322" y="3490207"/>
                <a:ext cx="7429356" cy="960519"/>
              </a:xfrm>
              <a:prstGeom prst="rect">
                <a:avLst/>
              </a:prstGeom>
              <a:blipFill rotWithShape="1">
                <a:blip r:embed="rId4"/>
                <a:stretch>
                  <a:fillRect l="-1" t="-26" r="8" b="1"/>
                </a:stretch>
              </a:blipFill>
            </p:spPr>
            <p:txBody>
              <a:bodyPr/>
              <a:lstStyle/>
              <a:p>
                <a:r>
                  <a:rPr lang="zh-CN" altLang="en-US">
                    <a:noFill/>
                  </a:rPr>
                  <a:t> </a:t>
                </a:r>
              </a:p>
            </p:txBody>
          </p:sp>
        </mc:Fallback>
      </mc:AlternateContent>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p:cNvSpPr txBox="1"/>
          <p:nvPr/>
        </p:nvSpPr>
        <p:spPr bwMode="auto">
          <a:xfrm>
            <a:off x="813585" y="287917"/>
            <a:ext cx="5647938"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Multi-Agent Coevolution</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4" name="图片 3" descr="图示&#10;&#10;AI 生成的内容可能不正确。"/>
          <p:cNvPicPr>
            <a:picLocks noChangeAspect="1"/>
          </p:cNvPicPr>
          <p:nvPr/>
        </p:nvPicPr>
        <p:blipFill>
          <a:blip r:embed="rId3"/>
          <a:stretch>
            <a:fillRect/>
          </a:stretch>
        </p:blipFill>
        <p:spPr>
          <a:xfrm>
            <a:off x="723548" y="2055706"/>
            <a:ext cx="7519393" cy="2889112"/>
          </a:xfrm>
          <a:prstGeom prst="rect">
            <a:avLst/>
          </a:prstGeom>
        </p:spPr>
      </p:pic>
      <p:sp>
        <p:nvSpPr>
          <p:cNvPr id="5" name="文本框 4"/>
          <p:cNvSpPr txBox="1"/>
          <p:nvPr/>
        </p:nvSpPr>
        <p:spPr>
          <a:xfrm>
            <a:off x="813585" y="990815"/>
            <a:ext cx="7429356" cy="923330"/>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Planner and Scorer are not born experts but evolve through iterative fine-tuning. This refinement becomes especially critical when resource constraints and data privacy concerns drive the need for open-source, lightweight LLMs.</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p:cNvSpPr txBox="1"/>
          <p:nvPr/>
        </p:nvSpPr>
        <p:spPr bwMode="auto">
          <a:xfrm>
            <a:off x="813585" y="287917"/>
            <a:ext cx="5647938"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PPO for Planner</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6" name="文本框 5"/>
          <p:cNvSpPr txBox="1"/>
          <p:nvPr/>
        </p:nvSpPr>
        <p:spPr>
          <a:xfrm>
            <a:off x="813585" y="826508"/>
            <a:ext cx="7680334" cy="646331"/>
          </a:xfrm>
          <a:prstGeom prst="rect">
            <a:avLst/>
          </a:prstGeom>
          <a:noFill/>
        </p:spPr>
        <p:txBody>
          <a:bodyPr wrap="square">
            <a:spAutoFit/>
          </a:bodyPr>
          <a:lstStyle/>
          <a:p>
            <a:r>
              <a:rPr lang="en-US" altLang="zh-CN" dirty="0" err="1">
                <a:latin typeface="Times New Roman" panose="02020603050405020304" pitchFamily="18" charset="0"/>
                <a:cs typeface="Times New Roman" panose="02020603050405020304" pitchFamily="18" charset="0"/>
              </a:rPr>
              <a:t>FlowXpert</a:t>
            </a:r>
            <a:r>
              <a:rPr lang="en-US" altLang="zh-CN" dirty="0">
                <a:latin typeface="Times New Roman" panose="02020603050405020304" pitchFamily="18" charset="0"/>
                <a:cs typeface="Times New Roman" panose="02020603050405020304" pitchFamily="18" charset="0"/>
              </a:rPr>
              <a:t> employs PPO tuning to enhance the Planner’s workflow orchestration, guided by multidimensional domain-specific feedback from the Scorer.</a:t>
            </a:r>
          </a:p>
        </p:txBody>
      </p:sp>
      <p:pic>
        <p:nvPicPr>
          <p:cNvPr id="8" name="图片 7" descr="文本, 信件&#10;&#10;AI 生成的内容可能不正确。"/>
          <p:cNvPicPr>
            <a:picLocks noChangeAspect="1"/>
          </p:cNvPicPr>
          <p:nvPr/>
        </p:nvPicPr>
        <p:blipFill>
          <a:blip r:embed="rId3"/>
          <a:stretch>
            <a:fillRect/>
          </a:stretch>
        </p:blipFill>
        <p:spPr>
          <a:xfrm>
            <a:off x="947231" y="1549765"/>
            <a:ext cx="7249537" cy="1600423"/>
          </a:xfrm>
          <a:prstGeom prst="rect">
            <a:avLst/>
          </a:prstGeom>
        </p:spPr>
      </p:pic>
      <mc:AlternateContent xmlns:mc="http://schemas.openxmlformats.org/markup-compatibility/2006" xmlns:a14="http://schemas.microsoft.com/office/drawing/2010/main">
        <mc:Choice Requires="a14">
          <p:sp>
            <p:nvSpPr>
              <p:cNvPr id="11" name="文本框 10"/>
              <p:cNvSpPr txBox="1"/>
              <p:nvPr/>
            </p:nvSpPr>
            <p:spPr>
              <a:xfrm>
                <a:off x="772121" y="3756201"/>
                <a:ext cx="7680334" cy="655757"/>
              </a:xfrm>
              <a:prstGeom prst="rect">
                <a:avLst/>
              </a:prstGeom>
              <a:noFill/>
            </p:spPr>
            <p:txBody>
              <a:bodyPr wrap="square">
                <a:spAutoFit/>
              </a:bodyPr>
              <a:lstStyle/>
              <a:p>
                <a14:m>
                  <m:oMath xmlns:m="http://schemas.openxmlformats.org/officeDocument/2006/math">
                    <m:sSub>
                      <m:sSubPr>
                        <m:ctrlPr>
                          <a:rPr lang="en-US" altLang="zh-CN" b="0" i="1" smtClean="0">
                            <a:latin typeface="Cambria Math" panose="02040503050406030204" pitchFamily="18" charset="0"/>
                            <a:cs typeface="Times New Roman" panose="02020603050405020304" pitchFamily="18" charset="0"/>
                          </a:rPr>
                        </m:ctrlPr>
                      </m:sSubPr>
                      <m:e>
                        <m:acc>
                          <m:accPr>
                            <m:chr m:val="̂"/>
                            <m:ctrlPr>
                              <a:rPr lang="en-US" altLang="zh-CN" b="0" i="1" smtClean="0">
                                <a:latin typeface="Cambria Math" panose="02040503050406030204" pitchFamily="18" charset="0"/>
                                <a:cs typeface="Times New Roman" panose="02020603050405020304" pitchFamily="18" charset="0"/>
                              </a:rPr>
                            </m:ctrlPr>
                          </m:accPr>
                          <m:e>
                            <m:r>
                              <a:rPr lang="en-US" altLang="zh-CN" b="0" i="1" smtClean="0">
                                <a:latin typeface="Cambria Math" panose="02040503050406030204" pitchFamily="18" charset="0"/>
                                <a:cs typeface="Times New Roman" panose="02020603050405020304" pitchFamily="18" charset="0"/>
                              </a:rPr>
                              <m:t>𝐴</m:t>
                            </m:r>
                          </m:e>
                        </m:acc>
                      </m:e>
                      <m:sub>
                        <m:r>
                          <a:rPr lang="en-US" altLang="zh-CN" b="0" i="1" smtClean="0">
                            <a:latin typeface="Cambria Math" panose="02040503050406030204" pitchFamily="18" charset="0"/>
                            <a:cs typeface="Times New Roman" panose="02020603050405020304" pitchFamily="18" charset="0"/>
                          </a:rPr>
                          <m:t>𝑡</m:t>
                        </m:r>
                      </m:sub>
                    </m:sSub>
                  </m:oMath>
                </a14:m>
                <a:r>
                  <a:rPr lang="en-US" altLang="zh-CN" dirty="0">
                    <a:latin typeface="Times New Roman" panose="02020603050405020304" pitchFamily="18" charset="0"/>
                    <a:cs typeface="Times New Roman" panose="02020603050405020304" pitchFamily="18" charset="0"/>
                  </a:rPr>
                  <a:t> is the advantage estimation, derived from the immediate reward </a:t>
                </a:r>
                <a14:m>
                  <m:oMath xmlns:m="http://schemas.openxmlformats.org/officeDocument/2006/math">
                    <m:sSub>
                      <m:sSubPr>
                        <m:ctrlPr>
                          <a:rPr lang="en-US" altLang="zh-CN" b="0" i="1" dirty="0" smtClean="0">
                            <a:latin typeface="Cambria Math" panose="02040503050406030204" pitchFamily="18" charset="0"/>
                            <a:cs typeface="Times New Roman" panose="02020603050405020304" pitchFamily="18" charset="0"/>
                          </a:rPr>
                        </m:ctrlPr>
                      </m:sSubPr>
                      <m:e>
                        <m:r>
                          <a:rPr lang="en-US" altLang="zh-CN" i="1" dirty="0" smtClean="0">
                            <a:latin typeface="Cambria Math" panose="02040503050406030204" pitchFamily="18" charset="0"/>
                            <a:cs typeface="Times New Roman" panose="02020603050405020304" pitchFamily="18" charset="0"/>
                          </a:rPr>
                          <m:t>𝑟</m:t>
                        </m:r>
                      </m:e>
                      <m:sub>
                        <m:r>
                          <a:rPr lang="en-US" altLang="zh-CN" i="1" dirty="0" smtClean="0">
                            <a:latin typeface="Cambria Math" panose="02040503050406030204" pitchFamily="18" charset="0"/>
                            <a:cs typeface="Times New Roman" panose="02020603050405020304" pitchFamily="18" charset="0"/>
                          </a:rPr>
                          <m:t>𝑡</m:t>
                        </m:r>
                      </m:sub>
                    </m:sSub>
                  </m:oMath>
                </a14:m>
                <a:r>
                  <a:rPr lang="en-US" altLang="zh-CN" dirty="0">
                    <a:latin typeface="Times New Roman" panose="02020603050405020304" pitchFamily="18" charset="0"/>
                    <a:cs typeface="Times New Roman" panose="02020603050405020304" pitchFamily="18" charset="0"/>
                  </a:rPr>
                  <a:t> and the state-value function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𝑉</m:t>
                    </m:r>
                    <m:d>
                      <m:dPr>
                        <m:ctrlPr>
                          <a:rPr lang="en-US" altLang="zh-CN" i="1" dirty="0" smtClean="0">
                            <a:latin typeface="Cambria Math" panose="02040503050406030204" pitchFamily="18" charset="0"/>
                            <a:cs typeface="Times New Roman" panose="02020603050405020304" pitchFamily="18" charset="0"/>
                          </a:rPr>
                        </m:ctrlPr>
                      </m:dPr>
                      <m:e>
                        <m:sSub>
                          <m:sSubPr>
                            <m:ctrlPr>
                              <a:rPr lang="en-US" altLang="zh-CN" b="0" i="1" dirty="0" smtClean="0">
                                <a:latin typeface="Cambria Math" panose="02040503050406030204" pitchFamily="18" charset="0"/>
                                <a:cs typeface="Times New Roman" panose="02020603050405020304" pitchFamily="18" charset="0"/>
                              </a:rPr>
                            </m:ctrlPr>
                          </m:sSubPr>
                          <m:e>
                            <m:r>
                              <a:rPr lang="en-US" altLang="zh-CN" i="1" dirty="0" err="1" smtClean="0">
                                <a:latin typeface="Cambria Math" panose="02040503050406030204" pitchFamily="18" charset="0"/>
                                <a:cs typeface="Times New Roman" panose="02020603050405020304" pitchFamily="18" charset="0"/>
                              </a:rPr>
                              <m:t>𝑠</m:t>
                            </m:r>
                          </m:e>
                          <m:sub>
                            <m:r>
                              <a:rPr lang="en-US" altLang="zh-CN" i="1" dirty="0" err="1" smtClean="0">
                                <a:latin typeface="Cambria Math" panose="02040503050406030204" pitchFamily="18" charset="0"/>
                                <a:cs typeface="Times New Roman" panose="02020603050405020304" pitchFamily="18" charset="0"/>
                              </a:rPr>
                              <m:t>𝑡</m:t>
                            </m:r>
                          </m:sub>
                        </m:sSub>
                      </m:e>
                    </m:d>
                  </m:oMath>
                </a14:m>
                <a:endParaRPr lang="en-US" altLang="zh-CN" dirty="0">
                  <a:latin typeface="Times New Roman" panose="02020603050405020304" pitchFamily="18" charset="0"/>
                  <a:cs typeface="Times New Roman" panose="02020603050405020304" pitchFamily="18" charset="0"/>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772121" y="3756201"/>
                <a:ext cx="7680334" cy="655757"/>
              </a:xfrm>
              <a:prstGeom prst="rect">
                <a:avLst/>
              </a:prstGeom>
              <a:blipFill rotWithShape="1">
                <a:blip r:embed="rId4"/>
                <a:stretch>
                  <a:fillRect l="-8" t="-27" r="8" b="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p:cNvSpPr txBox="1"/>
              <p:nvPr/>
            </p:nvSpPr>
            <p:spPr>
              <a:xfrm>
                <a:off x="813585" y="3198356"/>
                <a:ext cx="7680334" cy="557845"/>
              </a:xfrm>
              <a:prstGeom prst="rect">
                <a:avLst/>
              </a:prstGeom>
              <a:noFill/>
            </p:spPr>
            <p:txBody>
              <a:bodyPr wrap="square">
                <a:spAutoFit/>
              </a:bodyPr>
              <a:lstStyle/>
              <a:p>
                <a14:m>
                  <m:oMath xmlns:m="http://schemas.openxmlformats.org/officeDocument/2006/math">
                    <m:sSub>
                      <m:sSubPr>
                        <m:ctrlPr>
                          <a:rPr lang="en-US" altLang="zh-CN" i="1" smtClean="0">
                            <a:latin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cs typeface="Times New Roman" panose="02020603050405020304" pitchFamily="18" charset="0"/>
                          </a:rPr>
                          <m:t>𝑟</m:t>
                        </m:r>
                      </m:e>
                      <m:sub>
                        <m:r>
                          <a:rPr lang="en-US" altLang="zh-CN" i="1">
                            <a:latin typeface="Cambria Math" panose="02040503050406030204" pitchFamily="18" charset="0"/>
                            <a:cs typeface="Times New Roman" panose="02020603050405020304" pitchFamily="18" charset="0"/>
                          </a:rPr>
                          <m:t>𝑡</m:t>
                        </m:r>
                      </m:sub>
                    </m:sSub>
                    <m:d>
                      <m:dPr>
                        <m:ctrlPr>
                          <a:rPr lang="en-US" altLang="zh-CN" i="1">
                            <a:latin typeface="Cambria Math" panose="02040503050406030204" pitchFamily="18" charset="0"/>
                            <a:cs typeface="Times New Roman" panose="02020603050405020304" pitchFamily="18" charset="0"/>
                          </a:rPr>
                        </m:ctrlPr>
                      </m:dPr>
                      <m:e>
                        <m:r>
                          <a:rPr lang="en-US" altLang="zh-CN" i="1">
                            <a:latin typeface="Cambria Math" panose="02040503050406030204" pitchFamily="18" charset="0"/>
                            <a:cs typeface="Times New Roman" panose="02020603050405020304" pitchFamily="18" charset="0"/>
                          </a:rPr>
                          <m:t>𝜃</m:t>
                        </m:r>
                      </m:e>
                    </m:d>
                    <m:r>
                      <a:rPr lang="en-US" altLang="zh-CN" i="1">
                        <a:latin typeface="Cambria Math" panose="02040503050406030204" pitchFamily="18" charset="0"/>
                        <a:cs typeface="Times New Roman" panose="02020603050405020304" pitchFamily="18" charset="0"/>
                      </a:rPr>
                      <m:t>=</m:t>
                    </m:r>
                    <m:f>
                      <m:fPr>
                        <m:ctrlPr>
                          <a:rPr lang="en-US" altLang="zh-CN" i="1" smtClean="0">
                            <a:latin typeface="Cambria Math" panose="02040503050406030204" pitchFamily="18" charset="0"/>
                            <a:cs typeface="Times New Roman" panose="02020603050405020304" pitchFamily="18" charset="0"/>
                          </a:rPr>
                        </m:ctrlPr>
                      </m:fPr>
                      <m:num>
                        <m:sSub>
                          <m:sSubPr>
                            <m:ctrlPr>
                              <a:rPr lang="en-US" altLang="zh-CN" i="1" smtClean="0">
                                <a:latin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cs typeface="Times New Roman" panose="02020603050405020304" pitchFamily="18" charset="0"/>
                              </a:rPr>
                              <m:t>𝜋</m:t>
                            </m:r>
                          </m:e>
                          <m:sub>
                            <m:r>
                              <a:rPr lang="en-US" altLang="zh-CN" i="1">
                                <a:latin typeface="Cambria Math" panose="02040503050406030204" pitchFamily="18" charset="0"/>
                                <a:cs typeface="Times New Roman" panose="02020603050405020304" pitchFamily="18" charset="0"/>
                              </a:rPr>
                              <m:t>𝜃</m:t>
                            </m:r>
                          </m:sub>
                        </m:sSub>
                        <m:d>
                          <m:dPr>
                            <m:ctrlPr>
                              <a:rPr lang="en-US" altLang="zh-CN" i="1">
                                <a:latin typeface="Cambria Math" panose="02040503050406030204" pitchFamily="18" charset="0"/>
                                <a:cs typeface="Times New Roman" panose="02020603050405020304" pitchFamily="18" charset="0"/>
                              </a:rPr>
                            </m:ctrlPr>
                          </m:dPr>
                          <m:e>
                            <m:sSub>
                              <m:sSubPr>
                                <m:ctrlPr>
                                  <a:rPr lang="en-US" altLang="zh-CN" i="1">
                                    <a:latin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cs typeface="Times New Roman" panose="02020603050405020304" pitchFamily="18" charset="0"/>
                                  </a:rPr>
                                  <m:t>𝑎</m:t>
                                </m:r>
                              </m:e>
                              <m:sub>
                                <m:r>
                                  <a:rPr lang="en-US" altLang="zh-CN" i="1">
                                    <a:latin typeface="Cambria Math" panose="02040503050406030204" pitchFamily="18" charset="0"/>
                                    <a:cs typeface="Times New Roman" panose="02020603050405020304" pitchFamily="18" charset="0"/>
                                  </a:rPr>
                                  <m:t>𝑡</m:t>
                                </m:r>
                              </m:sub>
                            </m:sSub>
                            <m:sSub>
                              <m:sSubPr>
                                <m:ctrlPr>
                                  <a:rPr lang="en-US" altLang="zh-CN" i="1">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 ∣</m:t>
                                </m:r>
                                <m:r>
                                  <a:rPr lang="en-US" altLang="zh-CN" i="1">
                                    <a:latin typeface="Cambria Math" panose="02040503050406030204" pitchFamily="18" charset="0"/>
                                    <a:cs typeface="Times New Roman" panose="02020603050405020304" pitchFamily="18" charset="0"/>
                                  </a:rPr>
                                  <m:t>𝑠</m:t>
                                </m:r>
                              </m:e>
                              <m:sub>
                                <m:r>
                                  <a:rPr lang="en-US" altLang="zh-CN" i="1">
                                    <a:latin typeface="Cambria Math" panose="02040503050406030204" pitchFamily="18" charset="0"/>
                                    <a:cs typeface="Times New Roman" panose="02020603050405020304" pitchFamily="18" charset="0"/>
                                  </a:rPr>
                                  <m:t>𝑡</m:t>
                                </m:r>
                              </m:sub>
                            </m:sSub>
                          </m:e>
                        </m:d>
                      </m:num>
                      <m:den>
                        <m:sSub>
                          <m:sSubPr>
                            <m:ctrlPr>
                              <a:rPr lang="en-US" altLang="zh-CN" i="1">
                                <a:latin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cs typeface="Times New Roman" panose="02020603050405020304" pitchFamily="18" charset="0"/>
                              </a:rPr>
                              <m:t>𝜋</m:t>
                            </m:r>
                          </m:e>
                          <m:sub>
                            <m:r>
                              <a:rPr lang="en-US" altLang="zh-CN" i="1">
                                <a:latin typeface="Cambria Math" panose="02040503050406030204" pitchFamily="18" charset="0"/>
                                <a:cs typeface="Times New Roman" panose="02020603050405020304" pitchFamily="18" charset="0"/>
                              </a:rPr>
                              <m:t>𝜃</m:t>
                            </m:r>
                            <m:r>
                              <a:rPr lang="en-US" altLang="zh-CN" b="0" i="1" smtClean="0">
                                <a:latin typeface="Cambria Math" panose="02040503050406030204" pitchFamily="18" charset="0"/>
                                <a:cs typeface="Times New Roman" panose="02020603050405020304" pitchFamily="18" charset="0"/>
                              </a:rPr>
                              <m:t>_</m:t>
                            </m:r>
                            <m:r>
                              <m:rPr>
                                <m:sty m:val="p"/>
                              </m:rPr>
                              <a:rPr lang="en-US" altLang="zh-CN" b="0" i="1" smtClean="0">
                                <a:latin typeface="Cambria Math" panose="02040503050406030204" pitchFamily="18" charset="0"/>
                                <a:cs typeface="Times New Roman" panose="02020603050405020304" pitchFamily="18" charset="0"/>
                              </a:rPr>
                              <m:t>old</m:t>
                            </m:r>
                          </m:sub>
                        </m:sSub>
                        <m:d>
                          <m:dPr>
                            <m:ctrlPr>
                              <a:rPr lang="en-US" altLang="zh-CN" i="1">
                                <a:latin typeface="Cambria Math" panose="02040503050406030204" pitchFamily="18" charset="0"/>
                                <a:cs typeface="Times New Roman" panose="02020603050405020304" pitchFamily="18" charset="0"/>
                              </a:rPr>
                            </m:ctrlPr>
                          </m:dPr>
                          <m:e>
                            <m:sSub>
                              <m:sSubPr>
                                <m:ctrlPr>
                                  <a:rPr lang="en-US" altLang="zh-CN" i="1">
                                    <a:latin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cs typeface="Times New Roman" panose="02020603050405020304" pitchFamily="18" charset="0"/>
                                  </a:rPr>
                                  <m:t>𝑎</m:t>
                                </m:r>
                              </m:e>
                              <m:sub>
                                <m:r>
                                  <a:rPr lang="en-US" altLang="zh-CN" i="1">
                                    <a:latin typeface="Cambria Math" panose="02040503050406030204" pitchFamily="18" charset="0"/>
                                    <a:cs typeface="Times New Roman" panose="02020603050405020304" pitchFamily="18" charset="0"/>
                                  </a:rPr>
                                  <m:t>𝑡</m:t>
                                </m:r>
                              </m:sub>
                            </m:sSub>
                            <m:sSub>
                              <m:sSubPr>
                                <m:ctrlPr>
                                  <a:rPr lang="en-US" altLang="zh-CN" i="1">
                                    <a:latin typeface="Cambria Math" panose="02040503050406030204" pitchFamily="18" charset="0"/>
                                    <a:cs typeface="Times New Roman" panose="02020603050405020304" pitchFamily="18" charset="0"/>
                                  </a:rPr>
                                </m:ctrlPr>
                              </m:sSubPr>
                              <m:e>
                                <m:r>
                                  <a:rPr lang="en-US" altLang="zh-CN" i="1">
                                    <a:latin typeface="Cambria Math" panose="02040503050406030204" pitchFamily="18" charset="0"/>
                                    <a:cs typeface="Times New Roman" panose="02020603050405020304" pitchFamily="18" charset="0"/>
                                  </a:rPr>
                                  <m:t> ∣</m:t>
                                </m:r>
                                <m:r>
                                  <a:rPr lang="en-US" altLang="zh-CN" i="1">
                                    <a:latin typeface="Cambria Math" panose="02040503050406030204" pitchFamily="18" charset="0"/>
                                    <a:cs typeface="Times New Roman" panose="02020603050405020304" pitchFamily="18" charset="0"/>
                                  </a:rPr>
                                  <m:t>𝑠</m:t>
                                </m:r>
                              </m:e>
                              <m:sub>
                                <m:r>
                                  <a:rPr lang="en-US" altLang="zh-CN" i="1">
                                    <a:latin typeface="Cambria Math" panose="02040503050406030204" pitchFamily="18" charset="0"/>
                                    <a:cs typeface="Times New Roman" panose="02020603050405020304" pitchFamily="18" charset="0"/>
                                  </a:rPr>
                                  <m:t>𝑡</m:t>
                                </m:r>
                              </m:sub>
                            </m:sSub>
                          </m:e>
                        </m:d>
                      </m:den>
                    </m:f>
                  </m:oMath>
                </a14:m>
                <a:r>
                  <a:rPr lang="en-US" altLang="zh-CN" dirty="0">
                    <a:latin typeface="Times New Roman" panose="02020603050405020304" pitchFamily="18" charset="0"/>
                    <a:cs typeface="Times New Roman" panose="02020603050405020304" pitchFamily="18" charset="0"/>
                  </a:rPr>
                  <a:t> represents the policy ratio</a:t>
                </a:r>
              </a:p>
            </p:txBody>
          </p:sp>
        </mc:Choice>
        <mc:Fallback xmlns="">
          <p:sp>
            <p:nvSpPr>
              <p:cNvPr id="12" name="文本框 11"/>
              <p:cNvSpPr txBox="1">
                <a:spLocks noRot="1" noChangeAspect="1" noMove="1" noResize="1" noEditPoints="1" noAdjustHandles="1" noChangeArrowheads="1" noChangeShapeType="1" noTextEdit="1"/>
              </p:cNvSpPr>
              <p:nvPr/>
            </p:nvSpPr>
            <p:spPr>
              <a:xfrm>
                <a:off x="813585" y="3198356"/>
                <a:ext cx="7680334" cy="557845"/>
              </a:xfrm>
              <a:prstGeom prst="rect">
                <a:avLst/>
              </a:prstGeom>
              <a:blipFill rotWithShape="1">
                <a:blip r:embed="rId5"/>
                <a:stretch>
                  <a:fillRect l="-2" t="-89" r="2" b="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p:cNvSpPr txBox="1"/>
              <p:nvPr/>
            </p:nvSpPr>
            <p:spPr>
              <a:xfrm>
                <a:off x="777866" y="4411958"/>
                <a:ext cx="7751771" cy="646331"/>
              </a:xfrm>
              <a:prstGeom prst="rect">
                <a:avLst/>
              </a:prstGeom>
              <a:noFill/>
            </p:spPr>
            <p:txBody>
              <a:bodyPr wrap="square">
                <a:spAutoFit/>
              </a:bodyPr>
              <a:lstStyle/>
              <a:p>
                <a:r>
                  <a:rPr lang="en-US" altLang="zh-CN" i="0" dirty="0">
                    <a:latin typeface="Times New Roman" panose="02020603050405020304" pitchFamily="18" charset="0"/>
                    <a:cs typeface="Times New Roman" panose="02020603050405020304" pitchFamily="18" charset="0"/>
                  </a:rPr>
                  <a:t>The clip function and </a:t>
                </a:r>
                <a14:m>
                  <m:oMath xmlns:m="http://schemas.openxmlformats.org/officeDocument/2006/math">
                    <m:r>
                      <a:rPr lang="en-US" altLang="zh-CN" i="1" dirty="0" smtClean="0">
                        <a:latin typeface="Cambria Math" panose="02040503050406030204" pitchFamily="18" charset="0"/>
                        <a:cs typeface="Times New Roman" panose="02020603050405020304" pitchFamily="18" charset="0"/>
                      </a:rPr>
                      <m:t>𝜀</m:t>
                    </m:r>
                  </m:oMath>
                </a14:m>
                <a:r>
                  <a:rPr lang="en-US" altLang="zh-CN" i="0" dirty="0">
                    <a:latin typeface="Times New Roman" panose="02020603050405020304" pitchFamily="18" charset="0"/>
                    <a:cs typeface="Times New Roman" panose="02020603050405020304" pitchFamily="18" charset="0"/>
                  </a:rPr>
                  <a:t> constrain policy update magnitudes to ensure training stability.</a:t>
                </a:r>
                <a:endParaRPr lang="en-US" altLang="zh-CN" dirty="0">
                  <a:latin typeface="Times New Roman" panose="02020603050405020304" pitchFamily="18" charset="0"/>
                  <a:cs typeface="Times New Roman" panose="02020603050405020304" pitchFamily="18" charset="0"/>
                </a:endParaRPr>
              </a:p>
            </p:txBody>
          </p:sp>
        </mc:Choice>
        <mc:Fallback xmlns="">
          <p:sp>
            <p:nvSpPr>
              <p:cNvPr id="14" name="文本框 13"/>
              <p:cNvSpPr txBox="1">
                <a:spLocks noRot="1" noChangeAspect="1" noMove="1" noResize="1" noEditPoints="1" noAdjustHandles="1" noChangeArrowheads="1" noChangeShapeType="1" noTextEdit="1"/>
              </p:cNvSpPr>
              <p:nvPr/>
            </p:nvSpPr>
            <p:spPr>
              <a:xfrm>
                <a:off x="777866" y="4411958"/>
                <a:ext cx="7751771" cy="646331"/>
              </a:xfrm>
              <a:prstGeom prst="rect">
                <a:avLst/>
              </a:prstGeom>
              <a:blipFill rotWithShape="1">
                <a:blip r:embed="rId6"/>
                <a:stretch>
                  <a:fillRect l="-8" t="-95" r="4" b="80"/>
                </a:stretch>
              </a:blipFill>
            </p:spPr>
            <p:txBody>
              <a:bodyPr/>
              <a:lstStyle/>
              <a:p>
                <a:r>
                  <a:rPr lang="zh-CN" altLang="en-US">
                    <a:noFill/>
                  </a:rPr>
                  <a:t> </a:t>
                </a:r>
              </a:p>
            </p:txBody>
          </p:sp>
        </mc:Fallback>
      </mc:AlternateContent>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p:cNvSpPr txBox="1"/>
          <p:nvPr/>
        </p:nvSpPr>
        <p:spPr bwMode="auto">
          <a:xfrm>
            <a:off x="813585" y="287917"/>
            <a:ext cx="5647938"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DPO for Scorer</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 name="文本框 2"/>
          <p:cNvSpPr txBox="1"/>
          <p:nvPr/>
        </p:nvSpPr>
        <p:spPr>
          <a:xfrm>
            <a:off x="860420" y="1051358"/>
            <a:ext cx="7423159" cy="646331"/>
          </a:xfrm>
          <a:prstGeom prst="rect">
            <a:avLst/>
          </a:prstGeom>
          <a:noFill/>
        </p:spPr>
        <p:txBody>
          <a:bodyPr wrap="square">
            <a:spAutoFit/>
          </a:bodyPr>
          <a:lstStyle/>
          <a:p>
            <a:r>
              <a:rPr lang="en-US" altLang="zh-CN" i="1" dirty="0">
                <a:latin typeface="Times New Roman" panose="02020603050405020304" pitchFamily="18" charset="0"/>
                <a:cs typeface="Times New Roman" panose="02020603050405020304" pitchFamily="18" charset="0"/>
              </a:rPr>
              <a:t>Step1: Synthesizing Workflow Pairs with Preferences Controlled by Knowledge Richness. </a:t>
            </a:r>
            <a:endParaRPr lang="en-US" altLang="zh-CN" dirty="0">
              <a:latin typeface="Times New Roman" panose="02020603050405020304" pitchFamily="18" charset="0"/>
              <a:cs typeface="Times New Roman" panose="02020603050405020304" pitchFamily="18" charset="0"/>
            </a:endParaRPr>
          </a:p>
        </p:txBody>
      </p:sp>
      <p:pic>
        <p:nvPicPr>
          <p:cNvPr id="7" name="图片 6" descr="卡通人物&#10;&#10;AI 生成的内容可能不正确。"/>
          <p:cNvPicPr>
            <a:picLocks noChangeAspect="1"/>
          </p:cNvPicPr>
          <p:nvPr/>
        </p:nvPicPr>
        <p:blipFill>
          <a:blip r:embed="rId3"/>
          <a:stretch>
            <a:fillRect/>
          </a:stretch>
        </p:blipFill>
        <p:spPr>
          <a:xfrm>
            <a:off x="863591" y="4086688"/>
            <a:ext cx="6904762" cy="600000"/>
          </a:xfrm>
          <a:prstGeom prst="rect">
            <a:avLst/>
          </a:prstGeom>
        </p:spPr>
      </p:pic>
      <p:sp>
        <p:nvSpPr>
          <p:cNvPr id="8" name="文本框 7"/>
          <p:cNvSpPr txBox="1"/>
          <p:nvPr/>
        </p:nvSpPr>
        <p:spPr>
          <a:xfrm>
            <a:off x="813585" y="1945643"/>
            <a:ext cx="8058953" cy="1477328"/>
          </a:xfrm>
          <a:prstGeom prst="rect">
            <a:avLst/>
          </a:prstGeom>
          <a:noFill/>
        </p:spPr>
        <p:txBody>
          <a:bodyPr wrap="square">
            <a:spAutoFit/>
          </a:bodyPr>
          <a:lstStyle/>
          <a:p>
            <a:pPr marL="0" algn="l" rtl="0" eaLnBrk="1" latinLnBrk="0" hangingPunct="1">
              <a:buNone/>
            </a:pPr>
            <a:r>
              <a:rPr lang="en-US" altLang="zh-CN" sz="1800" kern="1200" dirty="0">
                <a:solidFill>
                  <a:srgbClr val="000000"/>
                </a:solidFill>
                <a:effectLst/>
                <a:latin typeface="Times New Roman" panose="02020603050405020304" pitchFamily="18" charset="0"/>
                <a:ea typeface="幼圆" panose="02010509060101010101" pitchFamily="49" charset="-122"/>
                <a:cs typeface="Times New Roman" panose="02020603050405020304" pitchFamily="18" charset="0"/>
              </a:rPr>
              <a:t>We generally consider the workflow quality to be positively correlated with key steps, determined by the richness of contextual knowledge. </a:t>
            </a:r>
            <a:endParaRPr lang="zh-CN" altLang="zh-CN" dirty="0">
              <a:effectLst/>
            </a:endParaRPr>
          </a:p>
          <a:p>
            <a:pPr marL="0" algn="l" rtl="0" eaLnBrk="1" latinLnBrk="0" hangingPunct="1">
              <a:buNone/>
            </a:pPr>
            <a:r>
              <a:rPr lang="en-US" altLang="zh-CN" sz="1800" kern="1200" dirty="0">
                <a:solidFill>
                  <a:srgbClr val="000000"/>
                </a:solidFill>
                <a:effectLst/>
                <a:latin typeface="Times New Roman" panose="02020603050405020304" pitchFamily="18" charset="0"/>
                <a:ea typeface="幼圆" panose="02010509060101010101" pitchFamily="49" charset="-122"/>
                <a:cs typeface="Times New Roman" panose="02020603050405020304" pitchFamily="18" charset="0"/>
              </a:rPr>
              <a:t>Therefore, we provide the Planner with </a:t>
            </a:r>
            <a:r>
              <a:rPr lang="en-US" altLang="zh-CN" sz="1800" b="1" kern="1200" dirty="0">
                <a:solidFill>
                  <a:srgbClr val="000000"/>
                </a:solidFill>
                <a:effectLst/>
                <a:latin typeface="Times New Roman" panose="02020603050405020304" pitchFamily="18" charset="0"/>
                <a:ea typeface="幼圆" panose="02010509060101010101" pitchFamily="49" charset="-122"/>
                <a:cs typeface="Times New Roman" panose="02020603050405020304" pitchFamily="18" charset="0"/>
              </a:rPr>
              <a:t>three</a:t>
            </a:r>
            <a:r>
              <a:rPr lang="en-US" altLang="zh-CN" sz="1800" kern="1200" dirty="0">
                <a:solidFill>
                  <a:srgbClr val="000000"/>
                </a:solidFill>
                <a:effectLst/>
                <a:latin typeface="Times New Roman" panose="02020603050405020304" pitchFamily="18" charset="0"/>
                <a:ea typeface="幼圆" panose="02010509060101010101" pitchFamily="49" charset="-122"/>
                <a:cs typeface="Times New Roman" panose="02020603050405020304" pitchFamily="18" charset="0"/>
              </a:rPr>
              <a:t> levels of contexts: complete and correctly ordered recommendations, complete but reversed ordered recommendations, and no context. </a:t>
            </a:r>
            <a:endParaRPr lang="zh-CN" altLang="zh-CN" dirty="0">
              <a:effectLst/>
            </a:endParaRPr>
          </a:p>
        </p:txBody>
      </p:sp>
      <p:sp>
        <p:nvSpPr>
          <p:cNvPr id="9" name="文本框 8"/>
          <p:cNvSpPr txBox="1"/>
          <p:nvPr/>
        </p:nvSpPr>
        <p:spPr>
          <a:xfrm>
            <a:off x="813585" y="3670926"/>
            <a:ext cx="7680334" cy="369332"/>
          </a:xfrm>
          <a:prstGeom prst="rect">
            <a:avLst/>
          </a:prstGeom>
          <a:noFill/>
        </p:spPr>
        <p:txBody>
          <a:bodyPr wrap="square">
            <a:spAutoFit/>
          </a:bodyPr>
          <a:lstStyle/>
          <a:p>
            <a:pPr marL="0" algn="l" rtl="0" eaLnBrk="1" latinLnBrk="0" hangingPunct="1">
              <a:buNone/>
            </a:pPr>
            <a:r>
              <a:rPr lang="en-US" altLang="zh-CN" sz="1800" kern="1200" dirty="0">
                <a:solidFill>
                  <a:srgbClr val="000000"/>
                </a:solidFill>
                <a:effectLst/>
                <a:latin typeface="Times New Roman" panose="02020603050405020304" pitchFamily="18" charset="0"/>
                <a:ea typeface="幼圆" panose="02010509060101010101" pitchFamily="49" charset="-122"/>
                <a:cs typeface="Times New Roman" panose="02020603050405020304" pitchFamily="18" charset="0"/>
              </a:rPr>
              <a:t>By pairing them, we obtain workflow pairs with preferences:</a:t>
            </a:r>
            <a:endParaRPr lang="zh-CN" altLang="zh-CN" dirty="0">
              <a:effectLst/>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p:cNvSpPr txBox="1"/>
          <p:nvPr/>
        </p:nvSpPr>
        <p:spPr bwMode="auto">
          <a:xfrm>
            <a:off x="813585" y="287917"/>
            <a:ext cx="5647938"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DPO for Scorer</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 name="文本框 2"/>
          <p:cNvSpPr txBox="1"/>
          <p:nvPr/>
        </p:nvSpPr>
        <p:spPr>
          <a:xfrm>
            <a:off x="813585" y="822937"/>
            <a:ext cx="2615803" cy="369332"/>
          </a:xfrm>
          <a:prstGeom prst="rect">
            <a:avLst/>
          </a:prstGeom>
          <a:noFill/>
        </p:spPr>
        <p:txBody>
          <a:bodyPr wrap="square">
            <a:spAutoFit/>
          </a:bodyPr>
          <a:lstStyle/>
          <a:p>
            <a:r>
              <a:rPr lang="en-US" altLang="zh-CN" i="1" dirty="0">
                <a:latin typeface="Times New Roman" panose="02020603050405020304" pitchFamily="18" charset="0"/>
                <a:cs typeface="Times New Roman" panose="02020603050405020304" pitchFamily="18" charset="0"/>
              </a:rPr>
              <a:t>Step 2: DPO Tuning.</a:t>
            </a:r>
            <a:endParaRPr lang="en-US" altLang="zh-C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文本框 8"/>
              <p:cNvSpPr txBox="1"/>
              <p:nvPr/>
            </p:nvSpPr>
            <p:spPr>
              <a:xfrm>
                <a:off x="713186" y="1775632"/>
                <a:ext cx="7940680" cy="945643"/>
              </a:xfrm>
              <a:prstGeom prst="rect">
                <a:avLst/>
              </a:prstGeom>
              <a:noFill/>
            </p:spPr>
            <p:txBody>
              <a:bodyPr wrap="square">
                <a:spAutoFit/>
              </a:bodyPr>
              <a:lstStyle/>
              <a:p>
                <a14:m>
                  <m:oMath xmlns:m="http://schemas.openxmlformats.org/officeDocument/2006/math">
                    <m:r>
                      <a:rPr lang="en-US" altLang="zh-CN" i="1" dirty="0" smtClean="0">
                        <a:solidFill>
                          <a:srgbClr val="000000"/>
                        </a:solidFill>
                        <a:latin typeface="Cambria Math" panose="02040503050406030204" pitchFamily="18" charset="0"/>
                        <a:ea typeface="幼圆" panose="02010509060101010101" pitchFamily="49" charset="-122"/>
                        <a:cs typeface="Times New Roman" panose="02020603050405020304" pitchFamily="18" charset="0"/>
                      </a:rPr>
                      <m:t>𝑋</m:t>
                    </m:r>
                  </m:oMath>
                </a14:m>
                <a:r>
                  <a:rPr lang="en-US" altLang="zh-CN" dirty="0">
                    <a:solidFill>
                      <a:srgbClr val="000000"/>
                    </a:solidFill>
                    <a:latin typeface="Times New Roman" panose="02020603050405020304" pitchFamily="18" charset="0"/>
                    <a:ea typeface="幼圆" panose="02010509060101010101" pitchFamily="49" charset="-122"/>
                    <a:cs typeface="Times New Roman" panose="02020603050405020304" pitchFamily="18" charset="0"/>
                  </a:rPr>
                  <a:t> is the prompt template integrating the query and normal contextual knowledge. </a:t>
                </a:r>
                <a14:m>
                  <m:oMath xmlns:m="http://schemas.openxmlformats.org/officeDocument/2006/math">
                    <m:sSub>
                      <m:sSubPr>
                        <m:ctrlPr>
                          <a:rPr lang="en-US" altLang="zh-CN" b="0" i="1" dirty="0" smtClean="0">
                            <a:solidFill>
                              <a:srgbClr val="000000"/>
                            </a:solidFill>
                            <a:latin typeface="Cambria Math" panose="02040503050406030204" pitchFamily="18" charset="0"/>
                            <a:ea typeface="幼圆" panose="02010509060101010101" pitchFamily="49" charset="-122"/>
                            <a:cs typeface="Times New Roman" panose="02020603050405020304" pitchFamily="18" charset="0"/>
                          </a:rPr>
                        </m:ctrlPr>
                      </m:sSubPr>
                      <m:e>
                        <m:r>
                          <a:rPr lang="en-US" altLang="zh-CN" i="1" dirty="0" smtClean="0">
                            <a:solidFill>
                              <a:srgbClr val="000000"/>
                            </a:solidFill>
                            <a:latin typeface="Cambria Math" panose="02040503050406030204" pitchFamily="18" charset="0"/>
                            <a:ea typeface="幼圆" panose="02010509060101010101" pitchFamily="49" charset="-122"/>
                            <a:cs typeface="Times New Roman" panose="02020603050405020304" pitchFamily="18" charset="0"/>
                          </a:rPr>
                          <m:t>𝑊</m:t>
                        </m:r>
                      </m:e>
                      <m:sub>
                        <m:r>
                          <a:rPr lang="en-US" altLang="zh-CN" i="1" dirty="0">
                            <a:solidFill>
                              <a:srgbClr val="000000"/>
                            </a:solidFill>
                            <a:latin typeface="Cambria Math" panose="02040503050406030204" pitchFamily="18" charset="0"/>
                            <a:ea typeface="幼圆" panose="02010509060101010101" pitchFamily="49" charset="-122"/>
                            <a:cs typeface="Times New Roman" panose="02020603050405020304" pitchFamily="18" charset="0"/>
                          </a:rPr>
                          <m:t>𝑎𝑐𝑐</m:t>
                        </m:r>
                      </m:sub>
                    </m:sSub>
                  </m:oMath>
                </a14:m>
                <a:r>
                  <a:rPr lang="en-US" altLang="zh-CN" dirty="0">
                    <a:solidFill>
                      <a:srgbClr val="000000"/>
                    </a:solidFill>
                    <a:latin typeface="Times New Roman" panose="02020603050405020304" pitchFamily="18" charset="0"/>
                    <a:ea typeface="幼圆" panose="02010509060101010101" pitchFamily="49" charset="-122"/>
                    <a:cs typeface="Times New Roman" panose="02020603050405020304" pitchFamily="18" charset="0"/>
                  </a:rPr>
                  <a:t> and </a:t>
                </a:r>
                <a14:m>
                  <m:oMath xmlns:m="http://schemas.openxmlformats.org/officeDocument/2006/math">
                    <m:sSub>
                      <m:sSubPr>
                        <m:ctrlPr>
                          <a:rPr lang="en-US" altLang="zh-CN" b="0" i="1" smtClean="0">
                            <a:solidFill>
                              <a:srgbClr val="000000"/>
                            </a:solidFill>
                            <a:latin typeface="Cambria Math" panose="02040503050406030204" pitchFamily="18" charset="0"/>
                            <a:ea typeface="幼圆" panose="02010509060101010101" pitchFamily="49" charset="-122"/>
                            <a:cs typeface="Times New Roman" panose="02020603050405020304" pitchFamily="18" charset="0"/>
                          </a:rPr>
                        </m:ctrlPr>
                      </m:sSubPr>
                      <m:e>
                        <m:r>
                          <a:rPr lang="en-US" altLang="zh-CN" b="0" i="1" smtClean="0">
                            <a:solidFill>
                              <a:srgbClr val="000000"/>
                            </a:solidFill>
                            <a:latin typeface="Cambria Math" panose="02040503050406030204" pitchFamily="18" charset="0"/>
                            <a:ea typeface="幼圆" panose="02010509060101010101" pitchFamily="49" charset="-122"/>
                            <a:cs typeface="Times New Roman" panose="02020603050405020304" pitchFamily="18" charset="0"/>
                          </a:rPr>
                          <m:t>𝑊</m:t>
                        </m:r>
                      </m:e>
                      <m:sub>
                        <m:r>
                          <a:rPr lang="en-US" altLang="zh-CN" b="0" i="1" smtClean="0">
                            <a:solidFill>
                              <a:srgbClr val="000000"/>
                            </a:solidFill>
                            <a:latin typeface="Cambria Math" panose="02040503050406030204" pitchFamily="18" charset="0"/>
                            <a:ea typeface="幼圆" panose="02010509060101010101" pitchFamily="49" charset="-122"/>
                            <a:cs typeface="Times New Roman" panose="02020603050405020304" pitchFamily="18" charset="0"/>
                          </a:rPr>
                          <m:t>𝑟𝑒𝑗</m:t>
                        </m:r>
                      </m:sub>
                    </m:sSub>
                  </m:oMath>
                </a14:m>
                <a:r>
                  <a:rPr lang="en-US" altLang="zh-CN" dirty="0">
                    <a:solidFill>
                      <a:srgbClr val="000000"/>
                    </a:solidFill>
                    <a:latin typeface="Times New Roman" panose="02020603050405020304" pitchFamily="18" charset="0"/>
                    <a:ea typeface="幼圆" panose="02010509060101010101" pitchFamily="49" charset="-122"/>
                    <a:cs typeface="Times New Roman" panose="02020603050405020304" pitchFamily="18" charset="0"/>
                  </a:rPr>
                  <a:t> denote the higher-quality and lower-quality workflows, respectively, within each pair of </a:t>
                </a:r>
                <a14:m>
                  <m:oMath xmlns:m="http://schemas.openxmlformats.org/officeDocument/2006/math">
                    <m:r>
                      <a:rPr lang="en-US" altLang="zh-CN" i="1" dirty="0" smtClean="0">
                        <a:solidFill>
                          <a:srgbClr val="000000"/>
                        </a:solidFill>
                        <a:latin typeface="Cambria Math" panose="02040503050406030204" pitchFamily="18" charset="0"/>
                        <a:ea typeface="幼圆" panose="02010509060101010101" pitchFamily="49" charset="-122"/>
                        <a:cs typeface="Times New Roman" panose="02020603050405020304" pitchFamily="18" charset="0"/>
                      </a:rPr>
                      <m:t>𝑃</m:t>
                    </m:r>
                  </m:oMath>
                </a14:m>
                <a:r>
                  <a:rPr lang="en-US" altLang="zh-CN" dirty="0">
                    <a:solidFill>
                      <a:srgbClr val="000000"/>
                    </a:solidFill>
                    <a:latin typeface="Times New Roman" panose="02020603050405020304" pitchFamily="18" charset="0"/>
                    <a:ea typeface="幼圆" panose="02010509060101010101" pitchFamily="49" charset="-122"/>
                    <a:cs typeface="Times New Roman" panose="02020603050405020304" pitchFamily="18" charset="0"/>
                  </a:rPr>
                  <a:t>.</a:t>
                </a:r>
                <a:endParaRPr lang="zh-CN" altLang="zh-CN" dirty="0">
                  <a:effectLst/>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713186" y="1775632"/>
                <a:ext cx="7940680" cy="945643"/>
              </a:xfrm>
              <a:prstGeom prst="rect">
                <a:avLst/>
              </a:prstGeom>
              <a:blipFill rotWithShape="1">
                <a:blip r:embed="rId3"/>
                <a:stretch>
                  <a:fillRect l="-1" t="-18" r="1" b="32"/>
                </a:stretch>
              </a:blipFill>
            </p:spPr>
            <p:txBody>
              <a:bodyPr/>
              <a:lstStyle/>
              <a:p>
                <a:r>
                  <a:rPr lang="zh-CN" altLang="en-US">
                    <a:noFill/>
                  </a:rPr>
                  <a:t> </a:t>
                </a:r>
              </a:p>
            </p:txBody>
          </p:sp>
        </mc:Fallback>
      </mc:AlternateContent>
      <p:pic>
        <p:nvPicPr>
          <p:cNvPr id="5" name="图片 4" descr="文本, 信件&#10;&#10;AI 生成的内容可能不正确。"/>
          <p:cNvPicPr>
            <a:picLocks noChangeAspect="1"/>
          </p:cNvPicPr>
          <p:nvPr/>
        </p:nvPicPr>
        <p:blipFill>
          <a:blip r:embed="rId4"/>
          <a:stretch>
            <a:fillRect/>
          </a:stretch>
        </p:blipFill>
        <p:spPr>
          <a:xfrm>
            <a:off x="1160019" y="3340548"/>
            <a:ext cx="6923976" cy="1515035"/>
          </a:xfrm>
          <a:prstGeom prst="rect">
            <a:avLst/>
          </a:prstGeom>
        </p:spPr>
      </p:pic>
      <p:pic>
        <p:nvPicPr>
          <p:cNvPr id="10" name="图片 9"/>
          <p:cNvPicPr>
            <a:picLocks noChangeAspect="1"/>
          </p:cNvPicPr>
          <p:nvPr/>
        </p:nvPicPr>
        <p:blipFill>
          <a:blip r:embed="rId5"/>
          <a:stretch>
            <a:fillRect/>
          </a:stretch>
        </p:blipFill>
        <p:spPr>
          <a:xfrm>
            <a:off x="752476" y="1442210"/>
            <a:ext cx="4391638" cy="333422"/>
          </a:xfrm>
          <a:prstGeom prst="rect">
            <a:avLst/>
          </a:prstGeom>
        </p:spPr>
      </p:pic>
      <p:sp>
        <p:nvSpPr>
          <p:cNvPr id="11" name="文本框 10"/>
          <p:cNvSpPr txBox="1"/>
          <p:nvPr/>
        </p:nvSpPr>
        <p:spPr>
          <a:xfrm>
            <a:off x="791766" y="2971216"/>
            <a:ext cx="7940680" cy="369332"/>
          </a:xfrm>
          <a:prstGeom prst="rect">
            <a:avLst/>
          </a:prstGeom>
          <a:noFill/>
        </p:spPr>
        <p:txBody>
          <a:bodyPr wrap="square">
            <a:spAutoFit/>
          </a:bodyPr>
          <a:lstStyle/>
          <a:p>
            <a:r>
              <a:rPr lang="en-US" altLang="zh-CN" i="0" dirty="0">
                <a:solidFill>
                  <a:srgbClr val="000000"/>
                </a:solidFill>
                <a:latin typeface="Times New Roman" panose="02020603050405020304" pitchFamily="18" charset="0"/>
                <a:ea typeface="幼圆" panose="02010509060101010101" pitchFamily="49" charset="-122"/>
                <a:cs typeface="Times New Roman" panose="02020603050405020304" pitchFamily="18" charset="0"/>
              </a:rPr>
              <a:t>The loss function is as follows:</a:t>
            </a:r>
            <a:endParaRPr lang="zh-CN" altLang="zh-CN" dirty="0">
              <a:effectLst/>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Experiment</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3" name="文本框 2"/>
          <p:cNvSpPr txBox="1"/>
          <p:nvPr/>
        </p:nvSpPr>
        <p:spPr>
          <a:xfrm>
            <a:off x="349642" y="1282679"/>
            <a:ext cx="8444716" cy="1289071"/>
          </a:xfrm>
          <a:prstGeom prst="rect">
            <a:avLst/>
          </a:prstGeom>
          <a:noFill/>
        </p:spPr>
        <p:txBody>
          <a:bodyPr wrap="square">
            <a:spAutoFit/>
          </a:bodyPr>
          <a:lstStyle/>
          <a:p>
            <a:pPr>
              <a:lnSpc>
                <a:spcPct val="150000"/>
              </a:lnSpc>
            </a:pPr>
            <a:r>
              <a:rPr lang="en-US" altLang="zh-CN" dirty="0">
                <a:latin typeface="Times New Roman" panose="02020603050405020304" pitchFamily="18" charset="0"/>
                <a:cs typeface="Times New Roman" panose="02020603050405020304" pitchFamily="18" charset="0"/>
              </a:rPr>
              <a:t>• RQ1: How to evaluate the workflow orchestration capability in the operation domain?</a:t>
            </a:r>
          </a:p>
          <a:p>
            <a:pPr>
              <a:lnSpc>
                <a:spcPct val="150000"/>
              </a:lnSpc>
            </a:pPr>
            <a:r>
              <a:rPr lang="en-US" altLang="zh-CN" dirty="0">
                <a:latin typeface="Times New Roman" panose="02020603050405020304" pitchFamily="18" charset="0"/>
                <a:cs typeface="Times New Roman" panose="02020603050405020304" pitchFamily="18" charset="0"/>
              </a:rPr>
              <a:t>• RQ2: How well does </a:t>
            </a:r>
            <a:r>
              <a:rPr lang="en-US" altLang="zh-CN" dirty="0" err="1">
                <a:latin typeface="Times New Roman" panose="02020603050405020304" pitchFamily="18" charset="0"/>
                <a:cs typeface="Times New Roman" panose="02020603050405020304" pitchFamily="18" charset="0"/>
              </a:rPr>
              <a:t>FlowXpert</a:t>
            </a:r>
            <a:r>
              <a:rPr lang="en-US" altLang="zh-CN" dirty="0">
                <a:latin typeface="Times New Roman" panose="02020603050405020304" pitchFamily="18" charset="0"/>
                <a:cs typeface="Times New Roman" panose="02020603050405020304" pitchFamily="18" charset="0"/>
              </a:rPr>
              <a:t> perform?</a:t>
            </a:r>
          </a:p>
          <a:p>
            <a:pPr>
              <a:lnSpc>
                <a:spcPct val="150000"/>
              </a:lnSpc>
            </a:pPr>
            <a:r>
              <a:rPr lang="en-US" altLang="zh-CN" dirty="0">
                <a:latin typeface="Times New Roman" panose="02020603050405020304" pitchFamily="18" charset="0"/>
                <a:cs typeface="Times New Roman" panose="02020603050405020304" pitchFamily="18" charset="0"/>
              </a:rPr>
              <a:t>• RQ3: Does each component contribute to </a:t>
            </a:r>
            <a:r>
              <a:rPr lang="en-US" altLang="zh-CN" dirty="0" err="1">
                <a:latin typeface="Times New Roman" panose="02020603050405020304" pitchFamily="18" charset="0"/>
                <a:cs typeface="Times New Roman" panose="02020603050405020304" pitchFamily="18" charset="0"/>
              </a:rPr>
              <a:t>FlowXpert</a:t>
            </a:r>
            <a:r>
              <a:rPr lang="en-US" altLang="zh-CN" dirty="0">
                <a:latin typeface="Times New Roman" panose="02020603050405020304" pitchFamily="18" charset="0"/>
                <a:cs typeface="Times New Roman" panose="02020603050405020304" pitchFamily="18" charset="0"/>
              </a:rPr>
              <a:t>?</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RQ1</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2" name="文本框 1"/>
          <p:cNvSpPr txBox="1"/>
          <p:nvPr/>
        </p:nvSpPr>
        <p:spPr>
          <a:xfrm>
            <a:off x="813585" y="846023"/>
            <a:ext cx="7385729" cy="2308324"/>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Dataset: </a:t>
            </a:r>
            <a:r>
              <a:rPr lang="en-US" altLang="zh-CN" b="1" dirty="0" err="1">
                <a:latin typeface="Times New Roman" panose="02020603050405020304" pitchFamily="18" charset="0"/>
                <a:cs typeface="Times New Roman" panose="02020603050405020304" pitchFamily="18" charset="0"/>
              </a:rPr>
              <a:t>OpsFlowBench</a:t>
            </a:r>
            <a:r>
              <a:rPr lang="en-US" altLang="zh-CN" b="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To address the absence of task-specific benchmarks for troubleshooting workflow planning, we construct </a:t>
            </a:r>
            <a:r>
              <a:rPr lang="en-US" altLang="zh-CN" dirty="0" err="1">
                <a:latin typeface="Times New Roman" panose="02020603050405020304" pitchFamily="18" charset="0"/>
                <a:cs typeface="Times New Roman" panose="02020603050405020304" pitchFamily="18" charset="0"/>
              </a:rPr>
              <a:t>OpsFlowBench</a:t>
            </a:r>
            <a:r>
              <a:rPr lang="en-US" altLang="zh-CN" dirty="0">
                <a:latin typeface="Times New Roman" panose="02020603050405020304" pitchFamily="18" charset="0"/>
                <a:cs typeface="Times New Roman" panose="02020603050405020304" pitchFamily="18" charset="0"/>
              </a:rPr>
              <a:t>, a dataset derived from Huawei Cloud datacenter switch operation documents. The above construction follows a multi-stage process: initial workflow generation via GPT-4o, followed by manual refinement and validation conducted by a team of three graduate researchers specializing in Artificial Intelligence for IT Operations (AIOps) and experienced OCEs at Huawei Cloud.</a:t>
            </a:r>
          </a:p>
        </p:txBody>
      </p:sp>
      <mc:AlternateContent xmlns:mc="http://schemas.openxmlformats.org/markup-compatibility/2006" xmlns:a14="http://schemas.microsoft.com/office/drawing/2010/main">
        <mc:Choice Requires="a14">
          <p:sp>
            <p:nvSpPr>
              <p:cNvPr id="3" name="文本框 2"/>
              <p:cNvSpPr txBox="1"/>
              <p:nvPr/>
            </p:nvSpPr>
            <p:spPr>
              <a:xfrm>
                <a:off x="813585" y="3265416"/>
                <a:ext cx="7385729" cy="1567352"/>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Metric: </a:t>
                </a:r>
                <a:r>
                  <a:rPr lang="en-US" altLang="zh-CN" b="1" dirty="0" err="1">
                    <a:latin typeface="Times New Roman" panose="02020603050405020304" pitchFamily="18" charset="0"/>
                    <a:cs typeface="Times New Roman" panose="02020603050405020304" pitchFamily="18" charset="0"/>
                  </a:rPr>
                  <a:t>STEPScore</a:t>
                </a:r>
                <a:r>
                  <a:rPr lang="en-US" altLang="zh-CN" b="1"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Specifically, both the generated and reference workflows are parsed into key step sets, </a:t>
                </a:r>
                <a14:m>
                  <m:oMath xmlns:m="http://schemas.openxmlformats.org/officeDocument/2006/math">
                    <m:sSub>
                      <m:sSubPr>
                        <m:ctrlPr>
                          <a:rPr lang="en-US" altLang="zh-CN" b="0" i="1" dirty="0" smtClean="0">
                            <a:latin typeface="Cambria Math" panose="02040503050406030204" pitchFamily="18" charset="0"/>
                            <a:cs typeface="Times New Roman" panose="02020603050405020304" pitchFamily="18" charset="0"/>
                          </a:rPr>
                        </m:ctrlPr>
                      </m:sSubPr>
                      <m:e>
                        <m:r>
                          <a:rPr lang="en-US" altLang="zh-CN" i="1" dirty="0" smtClean="0">
                            <a:latin typeface="Cambria Math" panose="02040503050406030204" pitchFamily="18" charset="0"/>
                            <a:cs typeface="Times New Roman" panose="02020603050405020304" pitchFamily="18" charset="0"/>
                          </a:rPr>
                          <m:t>𝑆</m:t>
                        </m:r>
                      </m:e>
                      <m:sub>
                        <m:r>
                          <a:rPr lang="en-US" altLang="zh-CN" i="1" dirty="0" smtClean="0">
                            <a:latin typeface="Cambria Math" panose="02040503050406030204" pitchFamily="18" charset="0"/>
                            <a:cs typeface="Times New Roman" panose="02020603050405020304" pitchFamily="18" charset="0"/>
                          </a:rPr>
                          <m:t>𝑔</m:t>
                        </m:r>
                      </m:sub>
                    </m:sSub>
                  </m:oMath>
                </a14:m>
                <a:r>
                  <a:rPr lang="en-US" altLang="zh-CN"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altLang="zh-CN" i="1" dirty="0" smtClean="0">
                            <a:latin typeface="Cambria Math" panose="02040503050406030204" pitchFamily="18" charset="0"/>
                            <a:cs typeface="Times New Roman" panose="02020603050405020304" pitchFamily="18" charset="0"/>
                          </a:rPr>
                        </m:ctrlPr>
                      </m:sSubPr>
                      <m:e>
                        <m:r>
                          <a:rPr lang="en-US" altLang="zh-CN" i="1" dirty="0" smtClean="0">
                            <a:latin typeface="Cambria Math" panose="02040503050406030204" pitchFamily="18" charset="0"/>
                            <a:cs typeface="Times New Roman" panose="02020603050405020304" pitchFamily="18" charset="0"/>
                          </a:rPr>
                          <m:t>𝑆</m:t>
                        </m:r>
                      </m:e>
                      <m:sub>
                        <m:r>
                          <a:rPr lang="en-US" altLang="zh-CN" i="1" dirty="0" smtClean="0">
                            <a:latin typeface="Cambria Math" panose="02040503050406030204" pitchFamily="18" charset="0"/>
                            <a:cs typeface="Times New Roman" panose="02020603050405020304" pitchFamily="18" charset="0"/>
                          </a:rPr>
                          <m:t>𝑟</m:t>
                        </m:r>
                      </m:sub>
                    </m:sSub>
                  </m:oMath>
                </a14:m>
                <a:r>
                  <a:rPr lang="en-US" altLang="zh-CN" dirty="0">
                    <a:latin typeface="Times New Roman" panose="02020603050405020304" pitchFamily="18" charset="0"/>
                    <a:cs typeface="Times New Roman" panose="02020603050405020304" pitchFamily="18" charset="0"/>
                  </a:rPr>
                  <a:t>, respectively. (1) For each step </a:t>
                </a:r>
                <a14:m>
                  <m:oMath xmlns:m="http://schemas.openxmlformats.org/officeDocument/2006/math">
                    <m:sSub>
                      <m:sSubPr>
                        <m:ctrlPr>
                          <a:rPr lang="en-US" altLang="zh-CN" b="0" i="1" dirty="0" smtClean="0">
                            <a:latin typeface="Cambria Math" panose="02040503050406030204" pitchFamily="18" charset="0"/>
                            <a:cs typeface="Times New Roman" panose="02020603050405020304" pitchFamily="18" charset="0"/>
                          </a:rPr>
                        </m:ctrlPr>
                      </m:sSubPr>
                      <m:e>
                        <m:r>
                          <a:rPr lang="en-US" altLang="zh-CN" i="1" dirty="0" smtClean="0">
                            <a:latin typeface="Cambria Math" panose="02040503050406030204" pitchFamily="18" charset="0"/>
                            <a:cs typeface="Times New Roman" panose="02020603050405020304" pitchFamily="18" charset="0"/>
                          </a:rPr>
                          <m:t>𝑠</m:t>
                        </m:r>
                      </m:e>
                      <m:sub>
                        <m:r>
                          <a:rPr lang="en-US" altLang="zh-CN" i="1" dirty="0" smtClean="0">
                            <a:latin typeface="Cambria Math" panose="02040503050406030204" pitchFamily="18" charset="0"/>
                            <a:cs typeface="Times New Roman" panose="02020603050405020304" pitchFamily="18" charset="0"/>
                          </a:rPr>
                          <m:t>𝑖</m:t>
                        </m:r>
                      </m:sub>
                    </m:sSub>
                  </m:oMath>
                </a14:m>
                <a:r>
                  <a:rPr lang="en-US" altLang="zh-CN" dirty="0">
                    <a:latin typeface="Times New Roman" panose="02020603050405020304" pitchFamily="18" charset="0"/>
                    <a:cs typeface="Times New Roman" panose="02020603050405020304" pitchFamily="18" charset="0"/>
                  </a:rPr>
                  <a:t> in </a:t>
                </a:r>
                <a14:m>
                  <m:oMath xmlns:m="http://schemas.openxmlformats.org/officeDocument/2006/math">
                    <m:sSub>
                      <m:sSubPr>
                        <m:ctrlPr>
                          <a:rPr lang="en-US" altLang="zh-CN" b="0" i="1" dirty="0" smtClean="0">
                            <a:latin typeface="Cambria Math" panose="02040503050406030204" pitchFamily="18" charset="0"/>
                            <a:cs typeface="Times New Roman" panose="02020603050405020304" pitchFamily="18" charset="0"/>
                          </a:rPr>
                        </m:ctrlPr>
                      </m:sSubPr>
                      <m:e>
                        <m:r>
                          <a:rPr lang="en-US" altLang="zh-CN" i="1" dirty="0" smtClean="0">
                            <a:latin typeface="Cambria Math" panose="02040503050406030204" pitchFamily="18" charset="0"/>
                            <a:cs typeface="Times New Roman" panose="02020603050405020304" pitchFamily="18" charset="0"/>
                          </a:rPr>
                          <m:t>𝑆</m:t>
                        </m:r>
                      </m:e>
                      <m:sub>
                        <m:r>
                          <a:rPr lang="en-US" altLang="zh-CN" i="1" dirty="0" smtClean="0">
                            <a:latin typeface="Cambria Math" panose="02040503050406030204" pitchFamily="18" charset="0"/>
                            <a:cs typeface="Times New Roman" panose="02020603050405020304" pitchFamily="18" charset="0"/>
                          </a:rPr>
                          <m:t>𝑔</m:t>
                        </m:r>
                      </m:sub>
                    </m:sSub>
                  </m:oMath>
                </a14:m>
                <a:r>
                  <a:rPr lang="en-US" altLang="zh-CN" dirty="0">
                    <a:latin typeface="Times New Roman" panose="02020603050405020304" pitchFamily="18" charset="0"/>
                    <a:cs typeface="Times New Roman" panose="02020603050405020304" pitchFamily="18" charset="0"/>
                  </a:rPr>
                  <a:t>, we compute its maximum cosine similarity with all steps in </a:t>
                </a:r>
                <a14:m>
                  <m:oMath xmlns:m="http://schemas.openxmlformats.org/officeDocument/2006/math">
                    <m:sSub>
                      <m:sSubPr>
                        <m:ctrlPr>
                          <a:rPr lang="en-US" altLang="zh-CN" b="0" i="1" dirty="0" smtClean="0">
                            <a:latin typeface="Cambria Math" panose="02040503050406030204" pitchFamily="18" charset="0"/>
                            <a:cs typeface="Times New Roman" panose="02020603050405020304" pitchFamily="18" charset="0"/>
                          </a:rPr>
                        </m:ctrlPr>
                      </m:sSubPr>
                      <m:e>
                        <m:r>
                          <a:rPr lang="en-US" altLang="zh-CN" i="1" dirty="0" smtClean="0">
                            <a:latin typeface="Cambria Math" panose="02040503050406030204" pitchFamily="18" charset="0"/>
                            <a:cs typeface="Times New Roman" panose="02020603050405020304" pitchFamily="18" charset="0"/>
                          </a:rPr>
                          <m:t>𝑆</m:t>
                        </m:r>
                      </m:e>
                      <m:sub>
                        <m:r>
                          <a:rPr lang="en-US" altLang="zh-CN" i="1" dirty="0" smtClean="0">
                            <a:latin typeface="Cambria Math" panose="02040503050406030204" pitchFamily="18" charset="0"/>
                            <a:cs typeface="Times New Roman" panose="02020603050405020304" pitchFamily="18" charset="0"/>
                          </a:rPr>
                          <m:t>𝑟</m:t>
                        </m:r>
                      </m:sub>
                    </m:sSub>
                  </m:oMath>
                </a14:m>
                <a:r>
                  <a:rPr lang="en-US" altLang="zh-CN" dirty="0">
                    <a:latin typeface="Times New Roman" panose="02020603050405020304" pitchFamily="18" charset="0"/>
                    <a:cs typeface="Times New Roman" panose="02020603050405020304" pitchFamily="18" charset="0"/>
                  </a:rPr>
                  <a:t>, denoted as </a:t>
                </a:r>
                <a14:m>
                  <m:oMath xmlns:m="http://schemas.openxmlformats.org/officeDocument/2006/math">
                    <m:sSub>
                      <m:sSubPr>
                        <m:ctrlPr>
                          <a:rPr lang="en-US" altLang="zh-CN" b="0" i="1" dirty="0" smtClean="0">
                            <a:latin typeface="Cambria Math" panose="02040503050406030204" pitchFamily="18" charset="0"/>
                            <a:cs typeface="Times New Roman" panose="02020603050405020304" pitchFamily="18" charset="0"/>
                          </a:rPr>
                        </m:ctrlPr>
                      </m:sSubPr>
                      <m:e>
                        <m:r>
                          <a:rPr lang="en-US" altLang="zh-CN" i="1" dirty="0" smtClean="0">
                            <a:latin typeface="Cambria Math" panose="02040503050406030204" pitchFamily="18" charset="0"/>
                            <a:cs typeface="Times New Roman" panose="02020603050405020304" pitchFamily="18" charset="0"/>
                          </a:rPr>
                          <m:t>𝑝</m:t>
                        </m:r>
                      </m:e>
                      <m:sub>
                        <m:r>
                          <a:rPr lang="en-US" altLang="zh-CN" i="1" dirty="0" smtClean="0">
                            <a:latin typeface="Cambria Math" panose="02040503050406030204" pitchFamily="18" charset="0"/>
                            <a:cs typeface="Times New Roman" panose="02020603050405020304" pitchFamily="18" charset="0"/>
                          </a:rPr>
                          <m:t>𝑖</m:t>
                        </m:r>
                      </m:sub>
                    </m:sSub>
                  </m:oMath>
                </a14:m>
                <a:r>
                  <a:rPr lang="en-US" altLang="zh-CN" dirty="0">
                    <a:latin typeface="Times New Roman" panose="02020603050405020304" pitchFamily="18" charset="0"/>
                    <a:cs typeface="Times New Roman" panose="02020603050405020304" pitchFamily="18" charset="0"/>
                  </a:rPr>
                  <a:t>. (2) For each  step </a:t>
                </a:r>
                <a14:m>
                  <m:oMath xmlns:m="http://schemas.openxmlformats.org/officeDocument/2006/math">
                    <m:sSub>
                      <m:sSubPr>
                        <m:ctrlPr>
                          <a:rPr lang="en-US" altLang="zh-CN" b="0" i="1" dirty="0" smtClean="0">
                            <a:latin typeface="Cambria Math" panose="02040503050406030204" pitchFamily="18" charset="0"/>
                            <a:cs typeface="Times New Roman" panose="02020603050405020304" pitchFamily="18" charset="0"/>
                          </a:rPr>
                        </m:ctrlPr>
                      </m:sSubPr>
                      <m:e>
                        <m:r>
                          <a:rPr lang="en-US" altLang="zh-CN" i="1" dirty="0" smtClean="0">
                            <a:latin typeface="Cambria Math" panose="02040503050406030204" pitchFamily="18" charset="0"/>
                            <a:cs typeface="Times New Roman" panose="02020603050405020304" pitchFamily="18" charset="0"/>
                          </a:rPr>
                          <m:t>𝑠</m:t>
                        </m:r>
                      </m:e>
                      <m:sub>
                        <m:r>
                          <a:rPr lang="en-US" altLang="zh-CN" i="1" dirty="0" smtClean="0">
                            <a:latin typeface="Cambria Math" panose="02040503050406030204" pitchFamily="18" charset="0"/>
                            <a:cs typeface="Times New Roman" panose="02020603050405020304" pitchFamily="18" charset="0"/>
                          </a:rPr>
                          <m:t>𝑗</m:t>
                        </m:r>
                      </m:sub>
                    </m:sSub>
                  </m:oMath>
                </a14:m>
                <a:r>
                  <a:rPr lang="en-US" altLang="zh-CN" dirty="0">
                    <a:latin typeface="Times New Roman" panose="02020603050405020304" pitchFamily="18" charset="0"/>
                    <a:cs typeface="Times New Roman" panose="02020603050405020304" pitchFamily="18" charset="0"/>
                  </a:rPr>
                  <a:t> in </a:t>
                </a:r>
                <a14:m>
                  <m:oMath xmlns:m="http://schemas.openxmlformats.org/officeDocument/2006/math">
                    <m:sSub>
                      <m:sSubPr>
                        <m:ctrlPr>
                          <a:rPr lang="en-US" altLang="zh-CN" b="0" i="1" dirty="0" smtClean="0">
                            <a:latin typeface="Cambria Math" panose="02040503050406030204" pitchFamily="18" charset="0"/>
                            <a:cs typeface="Times New Roman" panose="02020603050405020304" pitchFamily="18" charset="0"/>
                          </a:rPr>
                        </m:ctrlPr>
                      </m:sSubPr>
                      <m:e>
                        <m:r>
                          <a:rPr lang="en-US" altLang="zh-CN" i="1" dirty="0" smtClean="0">
                            <a:latin typeface="Cambria Math" panose="02040503050406030204" pitchFamily="18" charset="0"/>
                            <a:cs typeface="Times New Roman" panose="02020603050405020304" pitchFamily="18" charset="0"/>
                          </a:rPr>
                          <m:t>𝑆</m:t>
                        </m:r>
                      </m:e>
                      <m:sub>
                        <m:r>
                          <a:rPr lang="en-US" altLang="zh-CN" i="1" dirty="0" smtClean="0">
                            <a:latin typeface="Cambria Math" panose="02040503050406030204" pitchFamily="18" charset="0"/>
                            <a:cs typeface="Times New Roman" panose="02020603050405020304" pitchFamily="18" charset="0"/>
                          </a:rPr>
                          <m:t>𝑟</m:t>
                        </m:r>
                      </m:sub>
                    </m:sSub>
                  </m:oMath>
                </a14:m>
                <a:r>
                  <a:rPr lang="en-US" altLang="zh-CN" dirty="0">
                    <a:latin typeface="Times New Roman" panose="02020603050405020304" pitchFamily="18" charset="0"/>
                    <a:cs typeface="Times New Roman" panose="02020603050405020304" pitchFamily="18" charset="0"/>
                  </a:rPr>
                  <a:t>, we compute its maximum cosine similarity with all steps in </a:t>
                </a:r>
                <a14:m>
                  <m:oMath xmlns:m="http://schemas.openxmlformats.org/officeDocument/2006/math">
                    <m:sSub>
                      <m:sSubPr>
                        <m:ctrlPr>
                          <a:rPr lang="en-US" altLang="zh-CN" b="0" i="1" dirty="0" smtClean="0">
                            <a:latin typeface="Cambria Math" panose="02040503050406030204" pitchFamily="18" charset="0"/>
                            <a:cs typeface="Times New Roman" panose="02020603050405020304" pitchFamily="18" charset="0"/>
                          </a:rPr>
                        </m:ctrlPr>
                      </m:sSubPr>
                      <m:e>
                        <m:r>
                          <a:rPr lang="en-US" altLang="zh-CN" i="1" dirty="0" smtClean="0">
                            <a:latin typeface="Cambria Math" panose="02040503050406030204" pitchFamily="18" charset="0"/>
                            <a:cs typeface="Times New Roman" panose="02020603050405020304" pitchFamily="18" charset="0"/>
                          </a:rPr>
                          <m:t>𝑆</m:t>
                        </m:r>
                      </m:e>
                      <m:sub>
                        <m:r>
                          <a:rPr lang="en-US" altLang="zh-CN" i="1" dirty="0" smtClean="0">
                            <a:latin typeface="Cambria Math" panose="02040503050406030204" pitchFamily="18" charset="0"/>
                            <a:cs typeface="Times New Roman" panose="02020603050405020304" pitchFamily="18" charset="0"/>
                          </a:rPr>
                          <m:t>𝑔</m:t>
                        </m:r>
                      </m:sub>
                    </m:sSub>
                  </m:oMath>
                </a14:m>
                <a:r>
                  <a:rPr lang="en-US" altLang="zh-CN" dirty="0">
                    <a:latin typeface="Times New Roman" panose="02020603050405020304" pitchFamily="18" charset="0"/>
                    <a:cs typeface="Times New Roman" panose="02020603050405020304" pitchFamily="18" charset="0"/>
                  </a:rPr>
                  <a:t>, denoted as </a:t>
                </a:r>
                <a14:m>
                  <m:oMath xmlns:m="http://schemas.openxmlformats.org/officeDocument/2006/math">
                    <m:sSub>
                      <m:sSubPr>
                        <m:ctrlPr>
                          <a:rPr lang="en-US" altLang="zh-CN" i="1" dirty="0" smtClean="0">
                            <a:latin typeface="Cambria Math" panose="02040503050406030204" pitchFamily="18" charset="0"/>
                            <a:cs typeface="Times New Roman" panose="02020603050405020304" pitchFamily="18" charset="0"/>
                          </a:rPr>
                        </m:ctrlPr>
                      </m:sSubPr>
                      <m:e>
                        <m:r>
                          <a:rPr lang="en-US" altLang="zh-CN" i="1" dirty="0" smtClean="0">
                            <a:latin typeface="Cambria Math" panose="02040503050406030204" pitchFamily="18" charset="0"/>
                            <a:cs typeface="Times New Roman" panose="02020603050405020304" pitchFamily="18" charset="0"/>
                          </a:rPr>
                          <m:t>𝑝</m:t>
                        </m:r>
                      </m:e>
                      <m:sub>
                        <m:r>
                          <a:rPr lang="en-US" altLang="zh-CN" i="1" dirty="0" smtClean="0">
                            <a:latin typeface="Cambria Math" panose="02040503050406030204" pitchFamily="18" charset="0"/>
                            <a:cs typeface="Times New Roman" panose="02020603050405020304" pitchFamily="18" charset="0"/>
                          </a:rPr>
                          <m:t>𝑗</m:t>
                        </m:r>
                      </m:sub>
                    </m:sSub>
                  </m:oMath>
                </a14:m>
                <a:r>
                  <a:rPr lang="en-US" altLang="zh-CN" dirty="0">
                    <a:latin typeface="Times New Roman" panose="02020603050405020304" pitchFamily="18" charset="0"/>
                    <a:cs typeface="Times New Roman" panose="02020603050405020304" pitchFamily="18" charset="0"/>
                  </a:rPr>
                  <a:t>. </a:t>
                </a:r>
              </a:p>
            </p:txBody>
          </p:sp>
        </mc:Choice>
        <mc:Fallback xmlns="">
          <p:sp>
            <p:nvSpPr>
              <p:cNvPr id="3" name="文本框 2"/>
              <p:cNvSpPr txBox="1">
                <a:spLocks noRot="1" noChangeAspect="1" noMove="1" noResize="1" noEditPoints="1" noAdjustHandles="1" noChangeArrowheads="1" noChangeShapeType="1" noTextEdit="1"/>
              </p:cNvSpPr>
              <p:nvPr/>
            </p:nvSpPr>
            <p:spPr>
              <a:xfrm>
                <a:off x="813585" y="3265416"/>
                <a:ext cx="7385729" cy="1567352"/>
              </a:xfrm>
              <a:prstGeom prst="rect">
                <a:avLst/>
              </a:prstGeom>
              <a:blipFill rotWithShape="1">
                <a:blip r:embed="rId3"/>
                <a:stretch>
                  <a:fillRect l="-2" t="-16" r="3" b="27"/>
                </a:stretch>
              </a:blipFill>
            </p:spPr>
            <p:txBody>
              <a:bodyPr/>
              <a:lstStyle/>
              <a:p>
                <a:r>
                  <a:rPr lang="zh-CN" altLang="en-US">
                    <a:noFill/>
                  </a:rPr>
                  <a:t> </a:t>
                </a:r>
              </a:p>
            </p:txBody>
          </p:sp>
        </mc:Fallback>
      </mc:AlternateContent>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RQ2</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4" name="图片 3" descr="表格&#10;&#10;AI 生成的内容可能不正确。"/>
          <p:cNvPicPr>
            <a:picLocks noChangeAspect="1"/>
          </p:cNvPicPr>
          <p:nvPr/>
        </p:nvPicPr>
        <p:blipFill>
          <a:blip r:embed="rId3"/>
          <a:stretch>
            <a:fillRect/>
          </a:stretch>
        </p:blipFill>
        <p:spPr>
          <a:xfrm>
            <a:off x="611386" y="867224"/>
            <a:ext cx="7798221" cy="4276276"/>
          </a:xfrm>
          <a:prstGeom prst="rect">
            <a:avLst/>
          </a:prstGeo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RQ3</a:t>
            </a:r>
            <a:endParaRPr lang="zh-CN" altLang="en-US" dirty="0">
              <a:solidFill>
                <a:srgbClr val="E5DEDB">
                  <a:lumMod val="10000"/>
                  <a:alpha val="85000"/>
                </a:srgbClr>
              </a:solidFill>
              <a:latin typeface="Times New Roman" panose="02020603050405020304" pitchFamily="18" charset="0"/>
              <a:cs typeface="Times New Roman" panose="02020603050405020304" pitchFamily="18" charset="0"/>
            </a:endParaRPr>
          </a:p>
        </p:txBody>
      </p:sp>
      <p:pic>
        <p:nvPicPr>
          <p:cNvPr id="3" name="图片 2" descr="表格&#10;&#10;AI 生成的内容可能不正确。"/>
          <p:cNvPicPr>
            <a:picLocks noChangeAspect="1"/>
          </p:cNvPicPr>
          <p:nvPr/>
        </p:nvPicPr>
        <p:blipFill>
          <a:blip r:embed="rId3"/>
          <a:stretch>
            <a:fillRect/>
          </a:stretch>
        </p:blipFill>
        <p:spPr>
          <a:xfrm>
            <a:off x="1635203" y="1866546"/>
            <a:ext cx="5873593" cy="3110979"/>
          </a:xfrm>
          <a:prstGeom prst="rect">
            <a:avLst/>
          </a:prstGeom>
        </p:spPr>
      </p:pic>
      <p:sp>
        <p:nvSpPr>
          <p:cNvPr id="7" name="文本框 6"/>
          <p:cNvSpPr txBox="1"/>
          <p:nvPr/>
        </p:nvSpPr>
        <p:spPr>
          <a:xfrm>
            <a:off x="813585" y="871278"/>
            <a:ext cx="7008821" cy="873572"/>
          </a:xfrm>
          <a:prstGeom prst="rect">
            <a:avLst/>
          </a:prstGeom>
          <a:noFill/>
        </p:spPr>
        <p:txBody>
          <a:bodyPr wrap="square">
            <a:spAutoFit/>
          </a:bodyPr>
          <a:lstStyle/>
          <a:p>
            <a:pPr marL="342900" indent="-342900">
              <a:lnSpc>
                <a:spcPct val="150000"/>
              </a:lnSpc>
              <a:buAutoNum type="arabicParenBoth"/>
            </a:pPr>
            <a:r>
              <a:rPr lang="zh-CN" altLang="en-US" dirty="0">
                <a:latin typeface="Times New Roman" panose="02020603050405020304" pitchFamily="18" charset="0"/>
                <a:cs typeface="Times New Roman" panose="02020603050405020304" pitchFamily="18" charset="0"/>
              </a:rPr>
              <a:t>Importance of a </a:t>
            </a:r>
            <a:r>
              <a:rPr lang="en-US" altLang="zh-CN" dirty="0">
                <a:latin typeface="Times New Roman" panose="02020603050405020304" pitchFamily="18" charset="0"/>
                <a:cs typeface="Times New Roman" panose="02020603050405020304" pitchFamily="18" charset="0"/>
              </a:rPr>
              <a:t>Comprehensive Knowledge Base (A1, A2, A3).</a:t>
            </a:r>
          </a:p>
          <a:p>
            <a:pPr marL="342900" indent="-342900">
              <a:lnSpc>
                <a:spcPct val="150000"/>
              </a:lnSpc>
              <a:buAutoNum type="arabicParenBoth"/>
            </a:pPr>
            <a:r>
              <a:rPr lang="en-US" altLang="zh-CN" dirty="0">
                <a:latin typeface="Times New Roman" panose="02020603050405020304" pitchFamily="18" charset="0"/>
                <a:cs typeface="Times New Roman" panose="02020603050405020304" pitchFamily="18" charset="0"/>
              </a:rPr>
              <a:t>Effectiveness of Coevolution (B1, B2).</a:t>
            </a:r>
            <a:endParaRPr lang="zh-CN" altLang="en-US" dirty="0">
              <a:latin typeface="Times New Roman" panose="02020603050405020304" pitchFamily="18" charset="0"/>
              <a:cs typeface="Times New Roman" panose="02020603050405020304" pitchFamily="18"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Online Deployment: For OCEs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3" name="图片 2" descr="图表, 条形图&#10;&#10;AI 生成的内容可能不正确。"/>
          <p:cNvPicPr>
            <a:picLocks noChangeAspect="1"/>
          </p:cNvPicPr>
          <p:nvPr/>
        </p:nvPicPr>
        <p:blipFill>
          <a:blip r:embed="rId3"/>
          <a:stretch>
            <a:fillRect/>
          </a:stretch>
        </p:blipFill>
        <p:spPr>
          <a:xfrm>
            <a:off x="1004049" y="1028022"/>
            <a:ext cx="6513310" cy="4115478"/>
          </a:xfrm>
          <a:prstGeom prst="rect">
            <a:avLst/>
          </a:prstGeom>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矩形 43"/>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5" name="文本框 54"/>
          <p:cNvSpPr txBox="1"/>
          <p:nvPr/>
        </p:nvSpPr>
        <p:spPr bwMode="auto">
          <a:xfrm>
            <a:off x="813585" y="287917"/>
            <a:ext cx="6894239" cy="461665"/>
          </a:xfrm>
          <a:prstGeom prst="rect">
            <a:avLst/>
          </a:prstGeom>
        </p:spPr>
        <p:txBody>
          <a:bodyPr wrap="square">
            <a:spAutoFit/>
          </a:bodyPr>
          <a:lstStyle>
            <a:defPPr>
              <a:defRPr lang="zh-CN"/>
            </a:defPPr>
            <a:lvl1pPr>
              <a:defRPr sz="2400">
                <a:solidFill>
                  <a:schemeClr val="bg2">
                    <a:lumMod val="25000"/>
                    <a:alpha val="85000"/>
                  </a:schemeClr>
                </a:solidFill>
                <a:latin typeface="+mn-ea"/>
              </a:defRPr>
            </a:lvl1pPr>
          </a:lstStyle>
          <a:p>
            <a:pPr defTabSz="685800">
              <a:defRPr/>
            </a:pPr>
            <a:r>
              <a:rPr lang="en-US" altLang="zh-CN" dirty="0">
                <a:solidFill>
                  <a:srgbClr val="E5DEDB">
                    <a:lumMod val="10000"/>
                    <a:alpha val="85000"/>
                  </a:srgbClr>
                </a:solidFill>
                <a:latin typeface="Times New Roman" panose="02020603050405020304" pitchFamily="18" charset="0"/>
                <a:cs typeface="Times New Roman" panose="02020603050405020304" pitchFamily="18" charset="0"/>
              </a:rPr>
              <a:t>Case Study: For AI Executors</a:t>
            </a:r>
            <a:endParaRPr lang="zh-CN" altLang="en-US" dirty="0">
              <a:solidFill>
                <a:srgbClr val="E5DEDB">
                  <a:lumMod val="10000"/>
                  <a:alpha val="85000"/>
                </a:srgbClr>
              </a:solidFill>
              <a:latin typeface="Times New Roman" panose="02020603050405020304" pitchFamily="18" charset="0"/>
              <a:ea typeface="幼圆" panose="02010509060101010101" pitchFamily="49" charset="-122"/>
              <a:cs typeface="Times New Roman" panose="02020603050405020304" pitchFamily="18" charset="0"/>
            </a:endParaRPr>
          </a:p>
        </p:txBody>
      </p:sp>
      <p:pic>
        <p:nvPicPr>
          <p:cNvPr id="3" name="图片 2" descr="图形用户界面, 文本, 应用程序&#10;&#10;AI 生成的内容可能不正确。"/>
          <p:cNvPicPr>
            <a:picLocks noChangeAspect="1"/>
          </p:cNvPicPr>
          <p:nvPr/>
        </p:nvPicPr>
        <p:blipFill>
          <a:blip r:embed="rId3"/>
          <a:stretch>
            <a:fillRect/>
          </a:stretch>
        </p:blipFill>
        <p:spPr>
          <a:xfrm>
            <a:off x="2228431" y="770900"/>
            <a:ext cx="4687138" cy="4372600"/>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354CE-2DD4-8798-397F-13F65545C32B}"/>
            </a:ext>
          </a:extLst>
        </p:cNvPr>
        <p:cNvGrpSpPr/>
        <p:nvPr/>
      </p:nvGrpSpPr>
      <p:grpSpPr>
        <a:xfrm>
          <a:off x="0" y="0"/>
          <a:ext cx="0" cy="0"/>
          <a:chOff x="0" y="0"/>
          <a:chExt cx="0" cy="0"/>
        </a:xfrm>
      </p:grpSpPr>
      <p:sp>
        <p:nvSpPr>
          <p:cNvPr id="44" name="矩形 43">
            <a:extLst>
              <a:ext uri="{FF2B5EF4-FFF2-40B4-BE49-F238E27FC236}">
                <a16:creationId xmlns:a16="http://schemas.microsoft.com/office/drawing/2014/main" id="{6A55C209-CDBB-14FF-029C-C6F4CA3FB911}"/>
              </a:ext>
            </a:extLst>
          </p:cNvPr>
          <p:cNvSpPr/>
          <p:nvPr/>
        </p:nvSpPr>
        <p:spPr>
          <a:xfrm flipH="1">
            <a:off x="0" y="359398"/>
            <a:ext cx="251222" cy="597694"/>
          </a:xfrm>
          <a:prstGeom prst="rect">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9" name="矩形 48">
            <a:extLst>
              <a:ext uri="{FF2B5EF4-FFF2-40B4-BE49-F238E27FC236}">
                <a16:creationId xmlns:a16="http://schemas.microsoft.com/office/drawing/2014/main" id="{022C60A3-E6A2-2B0C-F53A-658036994F00}"/>
              </a:ext>
            </a:extLst>
          </p:cNvPr>
          <p:cNvSpPr/>
          <p:nvPr/>
        </p:nvSpPr>
        <p:spPr>
          <a:xfrm flipH="1">
            <a:off x="357188" y="359398"/>
            <a:ext cx="113109" cy="597694"/>
          </a:xfrm>
          <a:prstGeom prst="rect">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矩形 51">
            <a:extLst>
              <a:ext uri="{FF2B5EF4-FFF2-40B4-BE49-F238E27FC236}">
                <a16:creationId xmlns:a16="http://schemas.microsoft.com/office/drawing/2014/main" id="{68AE1E4A-8ABF-38A3-5310-357B72D7503F}"/>
              </a:ext>
            </a:extLst>
          </p:cNvPr>
          <p:cNvSpPr/>
          <p:nvPr/>
        </p:nvSpPr>
        <p:spPr>
          <a:xfrm flipH="1">
            <a:off x="576263" y="359398"/>
            <a:ext cx="70247" cy="597694"/>
          </a:xfrm>
          <a:prstGeom prst="rect">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3" name="矩形 52">
            <a:extLst>
              <a:ext uri="{FF2B5EF4-FFF2-40B4-BE49-F238E27FC236}">
                <a16:creationId xmlns:a16="http://schemas.microsoft.com/office/drawing/2014/main" id="{ADAD70B7-A1E6-CCC0-CA5F-281B949F2FB5}"/>
              </a:ext>
            </a:extLst>
          </p:cNvPr>
          <p:cNvSpPr/>
          <p:nvPr/>
        </p:nvSpPr>
        <p:spPr>
          <a:xfrm flipH="1">
            <a:off x="752476" y="359398"/>
            <a:ext cx="39290" cy="597694"/>
          </a:xfrm>
          <a:prstGeom prst="rect">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pic>
        <p:nvPicPr>
          <p:cNvPr id="4" name="图片 3">
            <a:extLst>
              <a:ext uri="{FF2B5EF4-FFF2-40B4-BE49-F238E27FC236}">
                <a16:creationId xmlns:a16="http://schemas.microsoft.com/office/drawing/2014/main" id="{E11267E1-766E-EECE-61CE-2A063B88B747}"/>
              </a:ext>
            </a:extLst>
          </p:cNvPr>
          <p:cNvPicPr>
            <a:picLocks noChangeAspect="1"/>
          </p:cNvPicPr>
          <p:nvPr/>
        </p:nvPicPr>
        <p:blipFill>
          <a:blip r:embed="rId3"/>
          <a:stretch>
            <a:fillRect/>
          </a:stretch>
        </p:blipFill>
        <p:spPr>
          <a:xfrm>
            <a:off x="1917081" y="957092"/>
            <a:ext cx="5309837" cy="1729380"/>
          </a:xfrm>
          <a:prstGeom prst="rect">
            <a:avLst/>
          </a:prstGeom>
        </p:spPr>
      </p:pic>
      <p:pic>
        <p:nvPicPr>
          <p:cNvPr id="6" name="图片 5">
            <a:extLst>
              <a:ext uri="{FF2B5EF4-FFF2-40B4-BE49-F238E27FC236}">
                <a16:creationId xmlns:a16="http://schemas.microsoft.com/office/drawing/2014/main" id="{095687E5-117D-2F58-3293-0BCB9812BD7E}"/>
              </a:ext>
            </a:extLst>
          </p:cNvPr>
          <p:cNvPicPr>
            <a:picLocks noChangeAspect="1"/>
          </p:cNvPicPr>
          <p:nvPr/>
        </p:nvPicPr>
        <p:blipFill>
          <a:blip r:embed="rId4"/>
          <a:stretch>
            <a:fillRect/>
          </a:stretch>
        </p:blipFill>
        <p:spPr>
          <a:xfrm>
            <a:off x="1917081" y="2848637"/>
            <a:ext cx="5366931" cy="2162481"/>
          </a:xfrm>
          <a:prstGeom prst="rect">
            <a:avLst/>
          </a:prstGeom>
        </p:spPr>
      </p:pic>
    </p:spTree>
    <p:extLst>
      <p:ext uri="{BB962C8B-B14F-4D97-AF65-F5344CB8AC3E}">
        <p14:creationId xmlns:p14="http://schemas.microsoft.com/office/powerpoint/2010/main" val="205524238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等腰三角形 8"/>
          <p:cNvSpPr/>
          <p:nvPr/>
        </p:nvSpPr>
        <p:spPr>
          <a:xfrm rot="1650064">
            <a:off x="6818085" y="670620"/>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 name="等腰三角形 9"/>
          <p:cNvSpPr/>
          <p:nvPr/>
        </p:nvSpPr>
        <p:spPr>
          <a:xfrm rot="12132218">
            <a:off x="5106647" y="570490"/>
            <a:ext cx="292713" cy="591282"/>
          </a:xfrm>
          <a:prstGeom prst="triangle">
            <a:avLst/>
          </a:prstGeom>
          <a:solidFill>
            <a:srgbClr val="FC6E5B">
              <a:alpha val="31000"/>
            </a:srgbClr>
          </a:soli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1" name="任意多边形 80"/>
          <p:cNvSpPr/>
          <p:nvPr/>
        </p:nvSpPr>
        <p:spPr>
          <a:xfrm rot="8289040">
            <a:off x="7578328" y="683419"/>
            <a:ext cx="1860947" cy="146447"/>
          </a:xfrm>
          <a:custGeom>
            <a:avLst/>
            <a:gdLst>
              <a:gd name="connsiteX0" fmla="*/ 0 w 2481081"/>
              <a:gd name="connsiteY0" fmla="*/ 194529 h 194529"/>
              <a:gd name="connsiteX1" fmla="*/ 174230 w 2481081"/>
              <a:gd name="connsiteY1" fmla="*/ 0 h 194529"/>
              <a:gd name="connsiteX2" fmla="*/ 2263889 w 2481081"/>
              <a:gd name="connsiteY2" fmla="*/ 0 h 194529"/>
              <a:gd name="connsiteX3" fmla="*/ 2481081 w 2481081"/>
              <a:gd name="connsiteY3" fmla="*/ 194529 h 194529"/>
            </a:gdLst>
            <a:ahLst/>
            <a:cxnLst>
              <a:cxn ang="0">
                <a:pos x="connsiteX0" y="connsiteY0"/>
              </a:cxn>
              <a:cxn ang="0">
                <a:pos x="connsiteX1" y="connsiteY1"/>
              </a:cxn>
              <a:cxn ang="0">
                <a:pos x="connsiteX2" y="connsiteY2"/>
              </a:cxn>
              <a:cxn ang="0">
                <a:pos x="connsiteX3" y="connsiteY3"/>
              </a:cxn>
            </a:cxnLst>
            <a:rect l="l" t="t" r="r" b="b"/>
            <a:pathLst>
              <a:path w="2481081" h="194529">
                <a:moveTo>
                  <a:pt x="0" y="194529"/>
                </a:moveTo>
                <a:lnTo>
                  <a:pt x="174230" y="0"/>
                </a:lnTo>
                <a:lnTo>
                  <a:pt x="2263889" y="0"/>
                </a:lnTo>
                <a:lnTo>
                  <a:pt x="2481081"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3" name="任意多边形 72"/>
          <p:cNvSpPr/>
          <p:nvPr/>
        </p:nvSpPr>
        <p:spPr>
          <a:xfrm rot="8289040">
            <a:off x="7637860" y="503635"/>
            <a:ext cx="1614488" cy="33338"/>
          </a:xfrm>
          <a:custGeom>
            <a:avLst/>
            <a:gdLst>
              <a:gd name="connsiteX0" fmla="*/ 51045 w 2151533"/>
              <a:gd name="connsiteY0" fmla="*/ 45719 h 45719"/>
              <a:gd name="connsiteX1" fmla="*/ 0 w 2151533"/>
              <a:gd name="connsiteY1" fmla="*/ 0 h 45719"/>
              <a:gd name="connsiteX2" fmla="*/ 2151533 w 2151533"/>
              <a:gd name="connsiteY2" fmla="*/ 0 h 45719"/>
              <a:gd name="connsiteX3" fmla="*/ 2151533 w 21515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151533" h="45719">
                <a:moveTo>
                  <a:pt x="51045" y="45719"/>
                </a:moveTo>
                <a:lnTo>
                  <a:pt x="0" y="0"/>
                </a:lnTo>
                <a:lnTo>
                  <a:pt x="2151533" y="0"/>
                </a:lnTo>
                <a:lnTo>
                  <a:pt x="2151533" y="45719"/>
                </a:lnTo>
                <a:close/>
              </a:path>
            </a:pathLst>
          </a:custGeom>
          <a:solidFill>
            <a:srgbClr val="79C7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7" name="任意多边形 46"/>
          <p:cNvSpPr/>
          <p:nvPr/>
        </p:nvSpPr>
        <p:spPr>
          <a:xfrm rot="8289040">
            <a:off x="7946231" y="1422798"/>
            <a:ext cx="1404938" cy="34528"/>
          </a:xfrm>
          <a:custGeom>
            <a:avLst/>
            <a:gdLst>
              <a:gd name="connsiteX0" fmla="*/ 0 w 1873652"/>
              <a:gd name="connsiteY0" fmla="*/ 45719 h 45719"/>
              <a:gd name="connsiteX1" fmla="*/ 40948 w 1873652"/>
              <a:gd name="connsiteY1" fmla="*/ 0 h 45719"/>
              <a:gd name="connsiteX2" fmla="*/ 1873652 w 1873652"/>
              <a:gd name="connsiteY2" fmla="*/ 0 h 45719"/>
              <a:gd name="connsiteX3" fmla="*/ 1873652 w 187365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73652" h="45719">
                <a:moveTo>
                  <a:pt x="0" y="45719"/>
                </a:moveTo>
                <a:lnTo>
                  <a:pt x="40948" y="0"/>
                </a:lnTo>
                <a:lnTo>
                  <a:pt x="1873652" y="0"/>
                </a:lnTo>
                <a:lnTo>
                  <a:pt x="1873652" y="45719"/>
                </a:lnTo>
                <a:close/>
              </a:path>
            </a:pathLst>
          </a:custGeom>
          <a:solidFill>
            <a:srgbClr val="FC6E5B">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6" name="任意多边形 75"/>
          <p:cNvSpPr/>
          <p:nvPr/>
        </p:nvSpPr>
        <p:spPr>
          <a:xfrm rot="8289040">
            <a:off x="7749778" y="1759744"/>
            <a:ext cx="1643063" cy="115491"/>
          </a:xfrm>
          <a:custGeom>
            <a:avLst/>
            <a:gdLst>
              <a:gd name="connsiteX0" fmla="*/ 0 w 2190050"/>
              <a:gd name="connsiteY0" fmla="*/ 155058 h 155058"/>
              <a:gd name="connsiteX1" fmla="*/ 138878 w 2190050"/>
              <a:gd name="connsiteY1" fmla="*/ 0 h 155058"/>
              <a:gd name="connsiteX2" fmla="*/ 2016928 w 2190050"/>
              <a:gd name="connsiteY2" fmla="*/ 0 h 155058"/>
              <a:gd name="connsiteX3" fmla="*/ 2190050 w 2190050"/>
              <a:gd name="connsiteY3" fmla="*/ 155058 h 155058"/>
            </a:gdLst>
            <a:ahLst/>
            <a:cxnLst>
              <a:cxn ang="0">
                <a:pos x="connsiteX0" y="connsiteY0"/>
              </a:cxn>
              <a:cxn ang="0">
                <a:pos x="connsiteX1" y="connsiteY1"/>
              </a:cxn>
              <a:cxn ang="0">
                <a:pos x="connsiteX2" y="connsiteY2"/>
              </a:cxn>
              <a:cxn ang="0">
                <a:pos x="connsiteX3" y="connsiteY3"/>
              </a:cxn>
            </a:cxnLst>
            <a:rect l="l" t="t" r="r" b="b"/>
            <a:pathLst>
              <a:path w="2190050" h="155058">
                <a:moveTo>
                  <a:pt x="0" y="155058"/>
                </a:moveTo>
                <a:lnTo>
                  <a:pt x="138878" y="0"/>
                </a:lnTo>
                <a:lnTo>
                  <a:pt x="2016928" y="0"/>
                </a:lnTo>
                <a:lnTo>
                  <a:pt x="2190050" y="155058"/>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5" name="任意多边形 44"/>
          <p:cNvSpPr/>
          <p:nvPr/>
        </p:nvSpPr>
        <p:spPr>
          <a:xfrm rot="8289040">
            <a:off x="8521304" y="1850231"/>
            <a:ext cx="744140" cy="34529"/>
          </a:xfrm>
          <a:custGeom>
            <a:avLst/>
            <a:gdLst>
              <a:gd name="connsiteX0" fmla="*/ 0 w 991862"/>
              <a:gd name="connsiteY0" fmla="*/ 45719 h 45719"/>
              <a:gd name="connsiteX1" fmla="*/ 40948 w 991862"/>
              <a:gd name="connsiteY1" fmla="*/ 0 h 45719"/>
              <a:gd name="connsiteX2" fmla="*/ 991862 w 991862"/>
              <a:gd name="connsiteY2" fmla="*/ 0 h 45719"/>
              <a:gd name="connsiteX3" fmla="*/ 991862 w 99186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991862" h="45719">
                <a:moveTo>
                  <a:pt x="0" y="45719"/>
                </a:moveTo>
                <a:lnTo>
                  <a:pt x="40948" y="0"/>
                </a:lnTo>
                <a:lnTo>
                  <a:pt x="991862" y="0"/>
                </a:lnTo>
                <a:lnTo>
                  <a:pt x="99186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2" name="组合 163"/>
          <p:cNvGrpSpPr/>
          <p:nvPr/>
        </p:nvGrpSpPr>
        <p:grpSpPr bwMode="auto">
          <a:xfrm>
            <a:off x="8003382" y="2431256"/>
            <a:ext cx="721519" cy="838200"/>
            <a:chOff x="10670736" y="3241053"/>
            <a:chExt cx="962659" cy="1118718"/>
          </a:xfrm>
        </p:grpSpPr>
        <p:sp>
          <p:nvSpPr>
            <p:cNvPr id="16" name="等腰三角形 1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7" name="等腰三角形 16"/>
            <p:cNvSpPr/>
            <p:nvPr/>
          </p:nvSpPr>
          <p:spPr>
            <a:xfrm rot="20901646">
              <a:off x="10936527" y="3445371"/>
              <a:ext cx="696868"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24" name="等腰三角形 23"/>
          <p:cNvSpPr/>
          <p:nvPr/>
        </p:nvSpPr>
        <p:spPr>
          <a:xfrm rot="14549936" flipH="1">
            <a:off x="5116580" y="3430487"/>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0" name="等腰三角形 29"/>
          <p:cNvSpPr/>
          <p:nvPr/>
        </p:nvSpPr>
        <p:spPr>
          <a:xfrm rot="14549936" flipH="1">
            <a:off x="4147800" y="3563063"/>
            <a:ext cx="333809" cy="574152"/>
          </a:xfrm>
          <a:prstGeom prst="triangle">
            <a:avLst/>
          </a:prstGeom>
          <a:solidFill>
            <a:srgbClr val="66BFBC"/>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1" name="等腰三角形 30"/>
          <p:cNvSpPr/>
          <p:nvPr/>
        </p:nvSpPr>
        <p:spPr>
          <a:xfrm rot="14549936" flipH="1">
            <a:off x="5551738" y="3580769"/>
            <a:ext cx="333809" cy="574152"/>
          </a:xfrm>
          <a:prstGeom prst="triangle">
            <a:avLst/>
          </a:prstGeom>
          <a:solidFill>
            <a:srgbClr val="FC6E5B"/>
          </a:solidFill>
          <a:ln>
            <a:noFill/>
          </a:ln>
          <a:effectLst>
            <a:softEdge rad="889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3" name="组合 10"/>
          <p:cNvGrpSpPr/>
          <p:nvPr/>
        </p:nvGrpSpPr>
        <p:grpSpPr bwMode="auto">
          <a:xfrm>
            <a:off x="720329" y="1735932"/>
            <a:ext cx="620315" cy="692944"/>
            <a:chOff x="1354861" y="2750116"/>
            <a:chExt cx="828164" cy="924005"/>
          </a:xfrm>
        </p:grpSpPr>
        <p:sp>
          <p:nvSpPr>
            <p:cNvPr id="33" name="直角三角形 32"/>
            <p:cNvSpPr/>
            <p:nvPr/>
          </p:nvSpPr>
          <p:spPr>
            <a:xfrm rot="3161904">
              <a:off x="1665936" y="3157032"/>
              <a:ext cx="517570" cy="516609"/>
            </a:xfrm>
            <a:prstGeom prst="rtTriangle">
              <a:avLst/>
            </a:prstGeom>
            <a:solidFill>
              <a:srgbClr val="66BFBC">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34" name="直角三角形 33"/>
            <p:cNvSpPr/>
            <p:nvPr/>
          </p:nvSpPr>
          <p:spPr>
            <a:xfrm rot="3161904" flipH="1">
              <a:off x="1354381" y="2750596"/>
              <a:ext cx="517570" cy="516609"/>
            </a:xfrm>
            <a:prstGeom prst="rtTriangle">
              <a:avLst/>
            </a:prstGeom>
            <a:solidFill>
              <a:srgbClr val="66BFBC">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sp>
        <p:nvSpPr>
          <p:cNvPr id="39" name="直角三角形 38"/>
          <p:cNvSpPr/>
          <p:nvPr/>
        </p:nvSpPr>
        <p:spPr>
          <a:xfrm rot="3176496">
            <a:off x="2666724" y="3947868"/>
            <a:ext cx="230419" cy="230418"/>
          </a:xfrm>
          <a:prstGeom prst="rtTriangle">
            <a:avLst/>
          </a:prstGeom>
          <a:solidFill>
            <a:srgbClr val="66BFBC">
              <a:alpha val="6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40" name="直角三角形 39"/>
          <p:cNvSpPr/>
          <p:nvPr/>
        </p:nvSpPr>
        <p:spPr>
          <a:xfrm rot="3176496" flipH="1">
            <a:off x="2545217" y="3786292"/>
            <a:ext cx="230419" cy="230418"/>
          </a:xfrm>
          <a:prstGeom prst="rtTriangle">
            <a:avLst/>
          </a:prstGeom>
          <a:solidFill>
            <a:srgbClr val="66BFBC">
              <a:alpha val="90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2" name="等腰三角形 81"/>
          <p:cNvSpPr/>
          <p:nvPr/>
        </p:nvSpPr>
        <p:spPr>
          <a:xfrm rot="8943941">
            <a:off x="2458504" y="963636"/>
            <a:ext cx="646247" cy="809888"/>
          </a:xfrm>
          <a:prstGeom prst="triangle">
            <a:avLst/>
          </a:prstGeom>
          <a:solidFill>
            <a:srgbClr val="FC6E5B">
              <a:alpha val="62000"/>
            </a:srgbClr>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3" name="椭圆 82"/>
          <p:cNvSpPr/>
          <p:nvPr/>
        </p:nvSpPr>
        <p:spPr>
          <a:xfrm>
            <a:off x="1959685" y="1250983"/>
            <a:ext cx="582704" cy="644636"/>
          </a:xfrm>
          <a:prstGeom prst="ellipse">
            <a:avLst/>
          </a:prstGeom>
          <a:solidFill>
            <a:srgbClr val="FBC75D">
              <a:alpha val="56000"/>
            </a:srgbClr>
          </a:soli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8" name="等腰三角形 87"/>
          <p:cNvSpPr/>
          <p:nvPr/>
        </p:nvSpPr>
        <p:spPr>
          <a:xfrm rot="7669978">
            <a:off x="1265381" y="1570446"/>
            <a:ext cx="227435" cy="216216"/>
          </a:xfrm>
          <a:prstGeom prst="triangle">
            <a:avLst/>
          </a:prstGeom>
          <a:solidFill>
            <a:srgbClr val="8CC066">
              <a:alpha val="62000"/>
            </a:srgbClr>
          </a:solidFill>
          <a:ln>
            <a:noFill/>
          </a:ln>
          <a:effectLst>
            <a:softEdge rad="25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8" name="任意多边形 77"/>
          <p:cNvSpPr/>
          <p:nvPr/>
        </p:nvSpPr>
        <p:spPr>
          <a:xfrm rot="8289040">
            <a:off x="5639991" y="4461273"/>
            <a:ext cx="2016919" cy="145256"/>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6" name="任意多边形 65"/>
          <p:cNvSpPr/>
          <p:nvPr/>
        </p:nvSpPr>
        <p:spPr>
          <a:xfrm rot="8289040">
            <a:off x="6201967" y="4785122"/>
            <a:ext cx="1087040" cy="33338"/>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4" name="任意多边形 63"/>
          <p:cNvSpPr/>
          <p:nvPr/>
        </p:nvSpPr>
        <p:spPr>
          <a:xfrm rot="8289040">
            <a:off x="6536532" y="4701779"/>
            <a:ext cx="1332310" cy="34528"/>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0" name="任意多边形 69"/>
          <p:cNvSpPr/>
          <p:nvPr/>
        </p:nvSpPr>
        <p:spPr>
          <a:xfrm rot="8289040">
            <a:off x="5232798" y="4589860"/>
            <a:ext cx="1674019" cy="34528"/>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72" name="任意多边形 71"/>
          <p:cNvSpPr/>
          <p:nvPr/>
        </p:nvSpPr>
        <p:spPr>
          <a:xfrm rot="8289040">
            <a:off x="4748212" y="4879181"/>
            <a:ext cx="806054" cy="33338"/>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80" name="任意多边形 79"/>
          <p:cNvSpPr/>
          <p:nvPr/>
        </p:nvSpPr>
        <p:spPr>
          <a:xfrm rot="8289040">
            <a:off x="-406004" y="4099322"/>
            <a:ext cx="2983707" cy="94059"/>
          </a:xfrm>
          <a:custGeom>
            <a:avLst/>
            <a:gdLst>
              <a:gd name="connsiteX0" fmla="*/ 139966 w 3978903"/>
              <a:gd name="connsiteY0" fmla="*/ 125361 h 125361"/>
              <a:gd name="connsiteX1" fmla="*/ 0 w 3978903"/>
              <a:gd name="connsiteY1" fmla="*/ 0 h 125361"/>
              <a:gd name="connsiteX2" fmla="*/ 3939559 w 3978903"/>
              <a:gd name="connsiteY2" fmla="*/ 0 h 125361"/>
              <a:gd name="connsiteX3" fmla="*/ 3978903 w 3978903"/>
              <a:gd name="connsiteY3" fmla="*/ 35238 h 125361"/>
              <a:gd name="connsiteX4" fmla="*/ 3898184 w 3978903"/>
              <a:gd name="connsiteY4" fmla="*/ 125361 h 125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8903" h="125361">
                <a:moveTo>
                  <a:pt x="139966" y="125361"/>
                </a:moveTo>
                <a:lnTo>
                  <a:pt x="0" y="0"/>
                </a:lnTo>
                <a:lnTo>
                  <a:pt x="3939559" y="0"/>
                </a:lnTo>
                <a:lnTo>
                  <a:pt x="3978903" y="35238"/>
                </a:lnTo>
                <a:lnTo>
                  <a:pt x="3898184" y="125361"/>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6" name="任意多边形 55"/>
          <p:cNvSpPr/>
          <p:nvPr/>
        </p:nvSpPr>
        <p:spPr>
          <a:xfrm rot="8289040">
            <a:off x="-426244" y="3720704"/>
            <a:ext cx="3161110" cy="34528"/>
          </a:xfrm>
          <a:custGeom>
            <a:avLst/>
            <a:gdLst>
              <a:gd name="connsiteX0" fmla="*/ 0 w 4213929"/>
              <a:gd name="connsiteY0" fmla="*/ 45719 h 45719"/>
              <a:gd name="connsiteX1" fmla="*/ 0 w 4213929"/>
              <a:gd name="connsiteY1" fmla="*/ 0 h 45719"/>
              <a:gd name="connsiteX2" fmla="*/ 4213929 w 4213929"/>
              <a:gd name="connsiteY2" fmla="*/ 0 h 45719"/>
              <a:gd name="connsiteX3" fmla="*/ 4172980 w 4213929"/>
              <a:gd name="connsiteY3" fmla="*/ 45719 h 45719"/>
            </a:gdLst>
            <a:ahLst/>
            <a:cxnLst>
              <a:cxn ang="0">
                <a:pos x="connsiteX0" y="connsiteY0"/>
              </a:cxn>
              <a:cxn ang="0">
                <a:pos x="connsiteX1" y="connsiteY1"/>
              </a:cxn>
              <a:cxn ang="0">
                <a:pos x="connsiteX2" y="connsiteY2"/>
              </a:cxn>
              <a:cxn ang="0">
                <a:pos x="connsiteX3" y="connsiteY3"/>
              </a:cxn>
            </a:cxnLst>
            <a:rect l="l" t="t" r="r" b="b"/>
            <a:pathLst>
              <a:path w="4213929" h="45719">
                <a:moveTo>
                  <a:pt x="0" y="45719"/>
                </a:moveTo>
                <a:lnTo>
                  <a:pt x="0" y="0"/>
                </a:lnTo>
                <a:lnTo>
                  <a:pt x="4213929" y="0"/>
                </a:lnTo>
                <a:lnTo>
                  <a:pt x="4172980"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4" name="任意多边形 53"/>
          <p:cNvSpPr/>
          <p:nvPr/>
        </p:nvSpPr>
        <p:spPr>
          <a:xfrm rot="8289040">
            <a:off x="-200025" y="3527823"/>
            <a:ext cx="1385888" cy="34528"/>
          </a:xfrm>
          <a:custGeom>
            <a:avLst/>
            <a:gdLst>
              <a:gd name="connsiteX0" fmla="*/ 0 w 1847733"/>
              <a:gd name="connsiteY0" fmla="*/ 45719 h 45719"/>
              <a:gd name="connsiteX1" fmla="*/ 0 w 1847733"/>
              <a:gd name="connsiteY1" fmla="*/ 0 h 45719"/>
              <a:gd name="connsiteX2" fmla="*/ 1847733 w 1847733"/>
              <a:gd name="connsiteY2" fmla="*/ 0 h 45719"/>
              <a:gd name="connsiteX3" fmla="*/ 1806784 w 1847733"/>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847733" h="45719">
                <a:moveTo>
                  <a:pt x="0" y="45719"/>
                </a:moveTo>
                <a:lnTo>
                  <a:pt x="0" y="0"/>
                </a:lnTo>
                <a:lnTo>
                  <a:pt x="1847733" y="0"/>
                </a:lnTo>
                <a:lnTo>
                  <a:pt x="1806784"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52" name="任意多边形 51"/>
          <p:cNvSpPr/>
          <p:nvPr/>
        </p:nvSpPr>
        <p:spPr>
          <a:xfrm rot="8289040">
            <a:off x="-221457" y="3196829"/>
            <a:ext cx="1557338" cy="34528"/>
          </a:xfrm>
          <a:custGeom>
            <a:avLst/>
            <a:gdLst>
              <a:gd name="connsiteX0" fmla="*/ 0 w 2076814"/>
              <a:gd name="connsiteY0" fmla="*/ 45719 h 45719"/>
              <a:gd name="connsiteX1" fmla="*/ 0 w 2076814"/>
              <a:gd name="connsiteY1" fmla="*/ 0 h 45719"/>
              <a:gd name="connsiteX2" fmla="*/ 2076814 w 2076814"/>
              <a:gd name="connsiteY2" fmla="*/ 0 h 45719"/>
              <a:gd name="connsiteX3" fmla="*/ 2035866 w 2076814"/>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076814" h="45719">
                <a:moveTo>
                  <a:pt x="0" y="45719"/>
                </a:moveTo>
                <a:lnTo>
                  <a:pt x="0" y="0"/>
                </a:lnTo>
                <a:lnTo>
                  <a:pt x="2076814" y="0"/>
                </a:lnTo>
                <a:lnTo>
                  <a:pt x="2035866"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60" name="任意多边形 59"/>
          <p:cNvSpPr/>
          <p:nvPr/>
        </p:nvSpPr>
        <p:spPr>
          <a:xfrm rot="8289040">
            <a:off x="211931" y="4530329"/>
            <a:ext cx="1824038" cy="34528"/>
          </a:xfrm>
          <a:custGeom>
            <a:avLst/>
            <a:gdLst>
              <a:gd name="connsiteX0" fmla="*/ 0 w 2432620"/>
              <a:gd name="connsiteY0" fmla="*/ 45719 h 45719"/>
              <a:gd name="connsiteX1" fmla="*/ 0 w 2432620"/>
              <a:gd name="connsiteY1" fmla="*/ 0 h 45719"/>
              <a:gd name="connsiteX2" fmla="*/ 2381575 w 2432620"/>
              <a:gd name="connsiteY2" fmla="*/ 0 h 45719"/>
              <a:gd name="connsiteX3" fmla="*/ 2432620 w 243262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432620" h="45719">
                <a:moveTo>
                  <a:pt x="0" y="45719"/>
                </a:moveTo>
                <a:lnTo>
                  <a:pt x="0" y="0"/>
                </a:lnTo>
                <a:lnTo>
                  <a:pt x="2381575" y="0"/>
                </a:lnTo>
                <a:lnTo>
                  <a:pt x="2432620"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0" name="任意多边形 89"/>
          <p:cNvSpPr/>
          <p:nvPr/>
        </p:nvSpPr>
        <p:spPr>
          <a:xfrm rot="8289040">
            <a:off x="2164557" y="4819650"/>
            <a:ext cx="989410" cy="71438"/>
          </a:xfrm>
          <a:custGeom>
            <a:avLst/>
            <a:gdLst>
              <a:gd name="connsiteX0" fmla="*/ 217193 w 2688632"/>
              <a:gd name="connsiteY0" fmla="*/ 194530 h 194530"/>
              <a:gd name="connsiteX1" fmla="*/ 0 w 2688632"/>
              <a:gd name="connsiteY1" fmla="*/ 0 h 194530"/>
              <a:gd name="connsiteX2" fmla="*/ 2471440 w 2688632"/>
              <a:gd name="connsiteY2" fmla="*/ 0 h 194530"/>
              <a:gd name="connsiteX3" fmla="*/ 2688632 w 2688632"/>
              <a:gd name="connsiteY3" fmla="*/ 194529 h 194530"/>
            </a:gdLst>
            <a:ahLst/>
            <a:cxnLst>
              <a:cxn ang="0">
                <a:pos x="connsiteX0" y="connsiteY0"/>
              </a:cxn>
              <a:cxn ang="0">
                <a:pos x="connsiteX1" y="connsiteY1"/>
              </a:cxn>
              <a:cxn ang="0">
                <a:pos x="connsiteX2" y="connsiteY2"/>
              </a:cxn>
              <a:cxn ang="0">
                <a:pos x="connsiteX3" y="connsiteY3"/>
              </a:cxn>
            </a:cxnLst>
            <a:rect l="l" t="t" r="r" b="b"/>
            <a:pathLst>
              <a:path w="2688632" h="194530">
                <a:moveTo>
                  <a:pt x="217193" y="194530"/>
                </a:moveTo>
                <a:lnTo>
                  <a:pt x="0" y="0"/>
                </a:lnTo>
                <a:lnTo>
                  <a:pt x="2471440" y="0"/>
                </a:lnTo>
                <a:lnTo>
                  <a:pt x="2688632" y="194529"/>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1" name="任意多边形 90"/>
          <p:cNvSpPr/>
          <p:nvPr/>
        </p:nvSpPr>
        <p:spPr>
          <a:xfrm rot="8289040">
            <a:off x="2439591" y="4979194"/>
            <a:ext cx="533400" cy="16669"/>
          </a:xfrm>
          <a:custGeom>
            <a:avLst/>
            <a:gdLst>
              <a:gd name="connsiteX0" fmla="*/ 0 w 1448568"/>
              <a:gd name="connsiteY0" fmla="*/ 45719 h 45719"/>
              <a:gd name="connsiteX1" fmla="*/ 0 w 1448568"/>
              <a:gd name="connsiteY1" fmla="*/ 0 h 45719"/>
              <a:gd name="connsiteX2" fmla="*/ 1397523 w 1448568"/>
              <a:gd name="connsiteY2" fmla="*/ 0 h 45719"/>
              <a:gd name="connsiteX3" fmla="*/ 1448568 w 1448568"/>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448568" h="45719">
                <a:moveTo>
                  <a:pt x="0" y="45719"/>
                </a:moveTo>
                <a:lnTo>
                  <a:pt x="0" y="0"/>
                </a:lnTo>
                <a:lnTo>
                  <a:pt x="1397523" y="0"/>
                </a:lnTo>
                <a:lnTo>
                  <a:pt x="1448568" y="45719"/>
                </a:lnTo>
                <a:close/>
              </a:path>
            </a:pathLst>
          </a:custGeom>
          <a:solidFill>
            <a:srgbClr val="FC6E5B">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2" name="任意多边形 91"/>
          <p:cNvSpPr/>
          <p:nvPr/>
        </p:nvSpPr>
        <p:spPr>
          <a:xfrm rot="8289040">
            <a:off x="2603898" y="4937523"/>
            <a:ext cx="653653" cy="16669"/>
          </a:xfrm>
          <a:custGeom>
            <a:avLst/>
            <a:gdLst>
              <a:gd name="connsiteX0" fmla="*/ 0 w 1776912"/>
              <a:gd name="connsiteY0" fmla="*/ 45719 h 45719"/>
              <a:gd name="connsiteX1" fmla="*/ 0 w 1776912"/>
              <a:gd name="connsiteY1" fmla="*/ 0 h 45719"/>
              <a:gd name="connsiteX2" fmla="*/ 1725868 w 1776912"/>
              <a:gd name="connsiteY2" fmla="*/ 1 h 45719"/>
              <a:gd name="connsiteX3" fmla="*/ 1776912 w 177691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776912" h="45719">
                <a:moveTo>
                  <a:pt x="0" y="45719"/>
                </a:moveTo>
                <a:lnTo>
                  <a:pt x="0" y="0"/>
                </a:lnTo>
                <a:lnTo>
                  <a:pt x="1725868" y="1"/>
                </a:lnTo>
                <a:lnTo>
                  <a:pt x="1776912"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3" name="任意多边形 92"/>
          <p:cNvSpPr/>
          <p:nvPr/>
        </p:nvSpPr>
        <p:spPr>
          <a:xfrm rot="8289040">
            <a:off x="1964531" y="4882754"/>
            <a:ext cx="820341" cy="16669"/>
          </a:xfrm>
          <a:custGeom>
            <a:avLst/>
            <a:gdLst>
              <a:gd name="connsiteX0" fmla="*/ 0 w 2230870"/>
              <a:gd name="connsiteY0" fmla="*/ 45719 h 45719"/>
              <a:gd name="connsiteX1" fmla="*/ 0 w 2230870"/>
              <a:gd name="connsiteY1" fmla="*/ 0 h 45719"/>
              <a:gd name="connsiteX2" fmla="*/ 2179825 w 2230870"/>
              <a:gd name="connsiteY2" fmla="*/ 0 h 45719"/>
              <a:gd name="connsiteX3" fmla="*/ 2230870 w 2230870"/>
              <a:gd name="connsiteY3" fmla="*/ 45719 h 45719"/>
            </a:gdLst>
            <a:ahLst/>
            <a:cxnLst>
              <a:cxn ang="0">
                <a:pos x="connsiteX0" y="connsiteY0"/>
              </a:cxn>
              <a:cxn ang="0">
                <a:pos x="connsiteX1" y="connsiteY1"/>
              </a:cxn>
              <a:cxn ang="0">
                <a:pos x="connsiteX2" y="connsiteY2"/>
              </a:cxn>
              <a:cxn ang="0">
                <a:pos x="connsiteX3" y="connsiteY3"/>
              </a:cxn>
            </a:cxnLst>
            <a:rect l="l" t="t" r="r" b="b"/>
            <a:pathLst>
              <a:path w="2230870" h="45719">
                <a:moveTo>
                  <a:pt x="0" y="45719"/>
                </a:moveTo>
                <a:lnTo>
                  <a:pt x="0" y="0"/>
                </a:lnTo>
                <a:lnTo>
                  <a:pt x="2179825" y="0"/>
                </a:lnTo>
                <a:lnTo>
                  <a:pt x="2230870" y="45719"/>
                </a:lnTo>
                <a:close/>
              </a:path>
            </a:pathLst>
          </a:custGeom>
          <a:solidFill>
            <a:srgbClr val="66BFBC">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94" name="任意多边形 93"/>
          <p:cNvSpPr/>
          <p:nvPr/>
        </p:nvSpPr>
        <p:spPr>
          <a:xfrm rot="8289040">
            <a:off x="1726406" y="5024438"/>
            <a:ext cx="395288" cy="16669"/>
          </a:xfrm>
          <a:custGeom>
            <a:avLst/>
            <a:gdLst>
              <a:gd name="connsiteX0" fmla="*/ 0 w 1075142"/>
              <a:gd name="connsiteY0" fmla="*/ 45719 h 45719"/>
              <a:gd name="connsiteX1" fmla="*/ 0 w 1075142"/>
              <a:gd name="connsiteY1" fmla="*/ 0 h 45719"/>
              <a:gd name="connsiteX2" fmla="*/ 1024097 w 1075142"/>
              <a:gd name="connsiteY2" fmla="*/ 0 h 45719"/>
              <a:gd name="connsiteX3" fmla="*/ 1075142 w 1075142"/>
              <a:gd name="connsiteY3" fmla="*/ 45719 h 45719"/>
            </a:gdLst>
            <a:ahLst/>
            <a:cxnLst>
              <a:cxn ang="0">
                <a:pos x="connsiteX0" y="connsiteY0"/>
              </a:cxn>
              <a:cxn ang="0">
                <a:pos x="connsiteX1" y="connsiteY1"/>
              </a:cxn>
              <a:cxn ang="0">
                <a:pos x="connsiteX2" y="connsiteY2"/>
              </a:cxn>
              <a:cxn ang="0">
                <a:pos x="connsiteX3" y="connsiteY3"/>
              </a:cxn>
            </a:cxnLst>
            <a:rect l="l" t="t" r="r" b="b"/>
            <a:pathLst>
              <a:path w="1075142" h="45719">
                <a:moveTo>
                  <a:pt x="0" y="45719"/>
                </a:moveTo>
                <a:lnTo>
                  <a:pt x="0" y="0"/>
                </a:lnTo>
                <a:lnTo>
                  <a:pt x="1024097" y="0"/>
                </a:lnTo>
                <a:lnTo>
                  <a:pt x="1075142" y="45719"/>
                </a:lnTo>
                <a:close/>
              </a:path>
            </a:pathLst>
          </a:custGeom>
          <a:solidFill>
            <a:srgbClr val="8CC0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4" name="等腰三角形 103"/>
          <p:cNvSpPr/>
          <p:nvPr/>
        </p:nvSpPr>
        <p:spPr>
          <a:xfrm rot="8791815">
            <a:off x="3680223" y="707232"/>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5" name="等腰三角形 104"/>
          <p:cNvSpPr/>
          <p:nvPr/>
        </p:nvSpPr>
        <p:spPr>
          <a:xfrm rot="10800000">
            <a:off x="3735451" y="543949"/>
            <a:ext cx="1030688" cy="1037132"/>
          </a:xfrm>
          <a:prstGeom prst="triangle">
            <a:avLst/>
          </a:prstGeom>
          <a:solidFill>
            <a:srgbClr val="66BFBC"/>
          </a:solidFill>
          <a:ln>
            <a:noFill/>
          </a:ln>
          <a:effectLst>
            <a:softEdge rad="3683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6" name="等腰三角形 105"/>
          <p:cNvSpPr/>
          <p:nvPr/>
        </p:nvSpPr>
        <p:spPr>
          <a:xfrm rot="8791815">
            <a:off x="6009085" y="823912"/>
            <a:ext cx="205978"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7" name="等腰三角形 106"/>
          <p:cNvSpPr/>
          <p:nvPr/>
        </p:nvSpPr>
        <p:spPr>
          <a:xfrm rot="8791815">
            <a:off x="6568679" y="3526632"/>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8" name="等腰三角形 107"/>
          <p:cNvSpPr/>
          <p:nvPr/>
        </p:nvSpPr>
        <p:spPr>
          <a:xfrm rot="8791815">
            <a:off x="5689998" y="4532710"/>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09" name="等腰三角形 108"/>
          <p:cNvSpPr/>
          <p:nvPr/>
        </p:nvSpPr>
        <p:spPr>
          <a:xfrm rot="8791815">
            <a:off x="4199335" y="4115991"/>
            <a:ext cx="205978" cy="98822"/>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0" name="等腰三角形 109"/>
          <p:cNvSpPr/>
          <p:nvPr/>
        </p:nvSpPr>
        <p:spPr>
          <a:xfrm rot="8791815">
            <a:off x="3458766" y="3836194"/>
            <a:ext cx="205978" cy="100013"/>
          </a:xfrm>
          <a:prstGeom prs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1" name="等腰三角形 110"/>
          <p:cNvSpPr/>
          <p:nvPr/>
        </p:nvSpPr>
        <p:spPr>
          <a:xfrm rot="8791815">
            <a:off x="4926530" y="3899794"/>
            <a:ext cx="517410" cy="580007"/>
          </a:xfrm>
          <a:prstGeom prst="triangle">
            <a:avLst/>
          </a:prstGeom>
          <a:solidFill>
            <a:srgbClr val="8CC066"/>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2" name="等腰三角形 111"/>
          <p:cNvSpPr/>
          <p:nvPr/>
        </p:nvSpPr>
        <p:spPr>
          <a:xfrm rot="12808185" flipH="1">
            <a:off x="4394598" y="4475560"/>
            <a:ext cx="205978" cy="98822"/>
          </a:xfrm>
          <a:prstGeom prs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3" name="等腰三角形 112"/>
          <p:cNvSpPr/>
          <p:nvPr/>
        </p:nvSpPr>
        <p:spPr>
          <a:xfrm rot="8791815">
            <a:off x="1835944" y="4321969"/>
            <a:ext cx="205979" cy="100013"/>
          </a:xfrm>
          <a:prstGeom prs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5" name="等腰三角形 114"/>
          <p:cNvSpPr/>
          <p:nvPr/>
        </p:nvSpPr>
        <p:spPr>
          <a:xfrm rot="9746558" flipV="1">
            <a:off x="7453390" y="3395174"/>
            <a:ext cx="180053" cy="364038"/>
          </a:xfrm>
          <a:prstGeom prst="triangle">
            <a:avLst>
              <a:gd name="adj" fmla="val 41342"/>
            </a:avLst>
          </a:pr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17" name="直角三角形 116"/>
          <p:cNvSpPr/>
          <p:nvPr/>
        </p:nvSpPr>
        <p:spPr>
          <a:xfrm rot="11669251" flipH="1">
            <a:off x="8460582" y="4707732"/>
            <a:ext cx="160735" cy="160735"/>
          </a:xfrm>
          <a:prstGeom prst="rtTriangle">
            <a:avLst/>
          </a:pr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1" name="直角三角形 120"/>
          <p:cNvSpPr/>
          <p:nvPr/>
        </p:nvSpPr>
        <p:spPr>
          <a:xfrm rot="8729171" flipH="1">
            <a:off x="3640133" y="4237150"/>
            <a:ext cx="1302486" cy="536711"/>
          </a:xfrm>
          <a:prstGeom prst="rtTriangle">
            <a:avLst/>
          </a:prstGeom>
          <a:solidFill>
            <a:srgbClr val="FBC75D"/>
          </a:solidFill>
          <a:ln>
            <a:noFill/>
          </a:ln>
          <a:effectLst>
            <a:softEdge rad="1524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2" name="直角三角形 121"/>
          <p:cNvSpPr/>
          <p:nvPr/>
        </p:nvSpPr>
        <p:spPr>
          <a:xfrm rot="1054849">
            <a:off x="7460457" y="1371601"/>
            <a:ext cx="117872" cy="145256"/>
          </a:xfrm>
          <a:prstGeom prst="rtTriangle">
            <a:avLst/>
          </a:prstGeom>
          <a:solidFill>
            <a:srgbClr val="FC6E5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5" name="直角三角形 124"/>
          <p:cNvSpPr/>
          <p:nvPr/>
        </p:nvSpPr>
        <p:spPr>
          <a:xfrm rot="11669251" flipH="1">
            <a:off x="8715375" y="4249341"/>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6" name="直角三角形 125"/>
          <p:cNvSpPr/>
          <p:nvPr/>
        </p:nvSpPr>
        <p:spPr>
          <a:xfrm rot="9930749">
            <a:off x="8058150" y="4216004"/>
            <a:ext cx="160735" cy="159544"/>
          </a:xfrm>
          <a:prstGeom prst="rtTriangle">
            <a:avLst/>
          </a:prstGeom>
          <a:solidFill>
            <a:srgbClr val="FBC75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7" name="直角三角形 126"/>
          <p:cNvSpPr/>
          <p:nvPr/>
        </p:nvSpPr>
        <p:spPr>
          <a:xfrm rot="11669251" flipH="1">
            <a:off x="7781925" y="4777979"/>
            <a:ext cx="160735" cy="159544"/>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8" name="直角三角形 127"/>
          <p:cNvSpPr/>
          <p:nvPr/>
        </p:nvSpPr>
        <p:spPr>
          <a:xfrm rot="9930749">
            <a:off x="8785622" y="3448050"/>
            <a:ext cx="160734" cy="160735"/>
          </a:xfrm>
          <a:prstGeom prst="rtTriangle">
            <a:avLst/>
          </a:prstGeom>
          <a:solidFill>
            <a:srgbClr val="FC6E5B">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29" name="直角三角形 128"/>
          <p:cNvSpPr/>
          <p:nvPr/>
        </p:nvSpPr>
        <p:spPr>
          <a:xfrm rot="11669251" flipH="1">
            <a:off x="8337947" y="3655219"/>
            <a:ext cx="160734" cy="160735"/>
          </a:xfrm>
          <a:prstGeom prst="rtTriangle">
            <a:avLst/>
          </a:pr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45" name="任意多边形 144"/>
          <p:cNvSpPr/>
          <p:nvPr/>
        </p:nvSpPr>
        <p:spPr>
          <a:xfrm rot="10011152">
            <a:off x="2958703" y="917973"/>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3" name="任意多边形 152"/>
          <p:cNvSpPr/>
          <p:nvPr/>
        </p:nvSpPr>
        <p:spPr>
          <a:xfrm rot="17730414">
            <a:off x="5966738" y="660491"/>
            <a:ext cx="848059" cy="70666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4" name="任意多边形 153"/>
          <p:cNvSpPr/>
          <p:nvPr/>
        </p:nvSpPr>
        <p:spPr>
          <a:xfrm rot="10011152">
            <a:off x="6686551" y="644129"/>
            <a:ext cx="183356"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6" name="任意多边形 155"/>
          <p:cNvSpPr/>
          <p:nvPr/>
        </p:nvSpPr>
        <p:spPr>
          <a:xfrm rot="10011152">
            <a:off x="7405688" y="760810"/>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7" name="任意多边形 156"/>
          <p:cNvSpPr/>
          <p:nvPr/>
        </p:nvSpPr>
        <p:spPr>
          <a:xfrm rot="10011152">
            <a:off x="4637485" y="632223"/>
            <a:ext cx="184547" cy="153590"/>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58" name="任意多边形 157"/>
          <p:cNvSpPr/>
          <p:nvPr/>
        </p:nvSpPr>
        <p:spPr>
          <a:xfrm rot="10011152">
            <a:off x="3036043" y="825417"/>
            <a:ext cx="707769" cy="952955"/>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FBC75D"/>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1" name="任意多边形 160"/>
          <p:cNvSpPr/>
          <p:nvPr/>
        </p:nvSpPr>
        <p:spPr>
          <a:xfrm rot="17840340">
            <a:off x="2689682" y="3005288"/>
            <a:ext cx="808761" cy="673914"/>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66BFBC"/>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3" name="任意多边形 162"/>
          <p:cNvSpPr/>
          <p:nvPr/>
        </p:nvSpPr>
        <p:spPr>
          <a:xfrm rot="10011152">
            <a:off x="3321844" y="4398169"/>
            <a:ext cx="183356" cy="153591"/>
          </a:xfrm>
          <a:custGeom>
            <a:avLst/>
            <a:gdLst>
              <a:gd name="connsiteX0" fmla="*/ 0 w 525192"/>
              <a:gd name="connsiteY0" fmla="*/ 0 h 648350"/>
              <a:gd name="connsiteX1" fmla="*/ 525192 w 525192"/>
              <a:gd name="connsiteY1" fmla="*/ 525192 h 648350"/>
              <a:gd name="connsiteX2" fmla="*/ 0 w 525192"/>
              <a:gd name="connsiteY2" fmla="*/ 648350 h 648350"/>
            </a:gdLst>
            <a:ahLst/>
            <a:cxnLst>
              <a:cxn ang="0">
                <a:pos x="connsiteX0" y="connsiteY0"/>
              </a:cxn>
              <a:cxn ang="0">
                <a:pos x="connsiteX1" y="connsiteY1"/>
              </a:cxn>
              <a:cxn ang="0">
                <a:pos x="connsiteX2" y="connsiteY2"/>
              </a:cxn>
            </a:cxnLst>
            <a:rect l="l" t="t" r="r" b="b"/>
            <a:pathLst>
              <a:path w="525192" h="648350">
                <a:moveTo>
                  <a:pt x="0" y="0"/>
                </a:moveTo>
                <a:lnTo>
                  <a:pt x="525192" y="525192"/>
                </a:lnTo>
                <a:lnTo>
                  <a:pt x="0" y="648350"/>
                </a:lnTo>
                <a:close/>
              </a:path>
            </a:pathLst>
          </a:custGeom>
          <a:solidFill>
            <a:srgbClr val="8CC0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nvGrpSpPr>
          <p:cNvPr id="4" name="组合 164"/>
          <p:cNvGrpSpPr/>
          <p:nvPr/>
        </p:nvGrpSpPr>
        <p:grpSpPr bwMode="auto">
          <a:xfrm rot="11957288">
            <a:off x="1591867" y="1173957"/>
            <a:ext cx="431006" cy="498872"/>
            <a:chOff x="10670736" y="3241053"/>
            <a:chExt cx="917923" cy="1060882"/>
          </a:xfrm>
        </p:grpSpPr>
        <p:sp>
          <p:nvSpPr>
            <p:cNvPr id="166" name="等腰三角形 165"/>
            <p:cNvSpPr/>
            <p:nvPr/>
          </p:nvSpPr>
          <p:spPr>
            <a:xfrm rot="2928219">
              <a:off x="10597584" y="3314205"/>
              <a:ext cx="1060704" cy="914400"/>
            </a:xfrm>
            <a:prstGeom prst="triangle">
              <a:avLst/>
            </a:prstGeom>
            <a:solidFill>
              <a:srgbClr val="66BFBC">
                <a:alpha val="76000"/>
              </a:srgbClr>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
          <p:nvSpPr>
            <p:cNvPr id="167" name="等腰三角形 16"/>
            <p:cNvSpPr/>
            <p:nvPr/>
          </p:nvSpPr>
          <p:spPr>
            <a:xfrm rot="20901646">
              <a:off x="10891792" y="3387535"/>
              <a:ext cx="696867" cy="914400"/>
            </a:xfrm>
            <a:custGeom>
              <a:avLst/>
              <a:gdLst>
                <a:gd name="connsiteX0" fmla="*/ 0 w 1060704"/>
                <a:gd name="connsiteY0" fmla="*/ 914400 h 914400"/>
                <a:gd name="connsiteX1" fmla="*/ 530352 w 1060704"/>
                <a:gd name="connsiteY1" fmla="*/ 0 h 914400"/>
                <a:gd name="connsiteX2" fmla="*/ 1060704 w 1060704"/>
                <a:gd name="connsiteY2" fmla="*/ 914400 h 914400"/>
                <a:gd name="connsiteX3" fmla="*/ 0 w 1060704"/>
                <a:gd name="connsiteY3" fmla="*/ 914400 h 914400"/>
                <a:gd name="connsiteX0-1" fmla="*/ 0 w 696868"/>
                <a:gd name="connsiteY0-2" fmla="*/ 914400 h 914400"/>
                <a:gd name="connsiteX1-3" fmla="*/ 530352 w 696868"/>
                <a:gd name="connsiteY1-4" fmla="*/ 0 h 914400"/>
                <a:gd name="connsiteX2-5" fmla="*/ 696868 w 696868"/>
                <a:gd name="connsiteY2-6" fmla="*/ 839454 h 914400"/>
                <a:gd name="connsiteX3-7" fmla="*/ 0 w 696868"/>
                <a:gd name="connsiteY3-8" fmla="*/ 914400 h 914400"/>
              </a:gdLst>
              <a:ahLst/>
              <a:cxnLst>
                <a:cxn ang="0">
                  <a:pos x="connsiteX0-1" y="connsiteY0-2"/>
                </a:cxn>
                <a:cxn ang="0">
                  <a:pos x="connsiteX1-3" y="connsiteY1-4"/>
                </a:cxn>
                <a:cxn ang="0">
                  <a:pos x="connsiteX2-5" y="connsiteY2-6"/>
                </a:cxn>
                <a:cxn ang="0">
                  <a:pos x="connsiteX3-7" y="connsiteY3-8"/>
                </a:cxn>
              </a:cxnLst>
              <a:rect l="l" t="t" r="r" b="b"/>
              <a:pathLst>
                <a:path w="696868" h="914400">
                  <a:moveTo>
                    <a:pt x="0" y="914400"/>
                  </a:moveTo>
                  <a:lnTo>
                    <a:pt x="530352" y="0"/>
                  </a:lnTo>
                  <a:lnTo>
                    <a:pt x="696868" y="839454"/>
                  </a:lnTo>
                  <a:lnTo>
                    <a:pt x="0" y="914400"/>
                  </a:lnTo>
                  <a:close/>
                </a:path>
              </a:pathLst>
            </a:custGeom>
            <a:solidFill>
              <a:srgbClr val="66BFBC"/>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grpSp>
      <p:pic>
        <p:nvPicPr>
          <p:cNvPr id="6" name="Mika - Relax(Take It Easy)">
            <a:hlinkClick r:id="" action="ppaction://media"/>
          </p:cNvPr>
          <p:cNvPicPr>
            <a:picLocks noChangeAspect="1"/>
          </p:cNvPicPr>
          <p:nvPr>
            <a:videoFile r:link="rId1"/>
          </p:nvPr>
        </p:nvPicPr>
        <p:blipFill>
          <a:blip r:embed="rId4">
            <a:extLst>
              <a:ext uri="{28A0092B-C50C-407E-A947-70E740481C1C}">
                <a14:useLocalDpi xmlns:a14="http://schemas.microsoft.com/office/drawing/2010/main" val="0"/>
              </a:ext>
            </a:extLst>
          </a:blip>
          <a:srcRect/>
          <a:stretch>
            <a:fillRect/>
          </a:stretch>
        </p:blipFill>
        <p:spPr bwMode="auto">
          <a:xfrm>
            <a:off x="9239250" y="4885135"/>
            <a:ext cx="305991" cy="307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矩形 11"/>
          <p:cNvSpPr>
            <a:spLocks noChangeArrowheads="1"/>
          </p:cNvSpPr>
          <p:nvPr/>
        </p:nvSpPr>
        <p:spPr bwMode="auto">
          <a:xfrm>
            <a:off x="1929121" y="1961099"/>
            <a:ext cx="54774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dist" defTabSz="685800" fontAlgn="base">
              <a:spcBef>
                <a:spcPct val="0"/>
              </a:spcBef>
              <a:spcAft>
                <a:spcPct val="0"/>
              </a:spcAft>
            </a:pPr>
            <a:r>
              <a:rPr lang="en-US" altLang="zh-CN" sz="2800" dirty="0">
                <a:solidFill>
                  <a:prstClr val="black"/>
                </a:solidFill>
                <a:latin typeface="Times New Roman" panose="02020603050405020304" pitchFamily="18" charset="0"/>
                <a:ea typeface="幼圆" panose="02010509060101010101" pitchFamily="49" charset="-122"/>
                <a:cs typeface="Times New Roman" panose="02020603050405020304" pitchFamily="18" charset="0"/>
              </a:rPr>
              <a:t>THANK YOU FOR LISTENING</a:t>
            </a:r>
            <a:endParaRPr lang="zh-CN" altLang="en-US" sz="2800" dirty="0">
              <a:solidFill>
                <a:prstClr val="black"/>
              </a:solidFill>
              <a:latin typeface="Times New Roman" panose="02020603050405020304" pitchFamily="18" charset="0"/>
              <a:ea typeface="幼圆" panose="02010509060101010101" pitchFamily="49" charset="-122"/>
              <a:cs typeface="Times New Roman" panose="02020603050405020304" pitchFamily="18" charset="0"/>
            </a:endParaRPr>
          </a:p>
        </p:txBody>
      </p:sp>
      <p:sp>
        <p:nvSpPr>
          <p:cNvPr id="162" name="等腰三角形 161"/>
          <p:cNvSpPr/>
          <p:nvPr/>
        </p:nvSpPr>
        <p:spPr>
          <a:xfrm rot="1650064">
            <a:off x="7255663" y="2696716"/>
            <a:ext cx="333809" cy="574152"/>
          </a:xfrm>
          <a:prstGeom prst="triangle">
            <a:avLst/>
          </a:prstGeom>
          <a:solidFill>
            <a:srgbClr val="66BFBC"/>
          </a:soli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zh-CN" altLang="en-US" sz="1350">
              <a:solidFill>
                <a:prstClr val="white"/>
              </a:solidFill>
              <a:latin typeface="Arial" panose="020B0604020202020204"/>
              <a:ea typeface="幼圆" panose="02010509060101010101" pitchFamily="49" charset="-122"/>
            </a:endParaRPr>
          </a:p>
        </p:txBody>
      </p:sp>
    </p:spTree>
  </p:cSld>
  <p:clrMapOvr>
    <a:masterClrMapping/>
  </p:clrMapOvr>
  <p:transition/>
  <p:timing>
    <p:tnLst>
      <p:par>
        <p:cTn id="1" dur="indefinite" restart="never" nodeType="tmRoot">
          <p:childTnLst>
            <p:video>
              <p:cMediaNode vol="80000" numSld="999" showWhenStopped="0">
                <p:cTn id="2" repeatCount="indefinite" fill="remove" display="0">
                  <p:stCondLst>
                    <p:cond delay="indefinite"/>
                  </p:stCondLst>
                  <p:endCondLst>
                    <p:cond evt="onStopAudio" delay="0">
                      <p:tgtEl>
                        <p:sldTgt/>
                      </p:tgtEl>
                    </p:cond>
                  </p:endCondLst>
                </p:cTn>
                <p:tgtEl>
                  <p:spTgt spid="6"/>
                </p:tgtEl>
              </p:cMediaNode>
            </p:video>
          </p:childTnLst>
        </p:cTn>
      </p:par>
    </p:tnLst>
  </p:timing>
</p:sld>
</file>

<file path=ppt/theme/theme1.xml><?xml version="1.0" encoding="utf-8"?>
<a:theme xmlns:a="http://schemas.openxmlformats.org/drawingml/2006/main" name="PPTe吧 | PPT爱好者之家">
  <a:themeElements>
    <a:clrScheme name="自定义 66">
      <a:dk1>
        <a:sysClr val="windowText" lastClr="000000"/>
      </a:dk1>
      <a:lt1>
        <a:sysClr val="window" lastClr="FFFFFF"/>
      </a:lt1>
      <a:dk2>
        <a:srgbClr val="39302A"/>
      </a:dk2>
      <a:lt2>
        <a:srgbClr val="E5DEDB"/>
      </a:lt2>
      <a:accent1>
        <a:srgbClr val="C8886E"/>
      </a:accent1>
      <a:accent2>
        <a:srgbClr val="A59183"/>
      </a:accent2>
      <a:accent3>
        <a:srgbClr val="AC8282"/>
      </a:accent3>
      <a:accent4>
        <a:srgbClr val="E79747"/>
      </a:accent4>
      <a:accent5>
        <a:srgbClr val="7F723D"/>
      </a:accent5>
      <a:accent6>
        <a:srgbClr val="CA4A62"/>
      </a:accent6>
      <a:hlink>
        <a:srgbClr val="868B57"/>
      </a:hlink>
      <a:folHlink>
        <a:srgbClr val="657A56"/>
      </a:folHlink>
    </a:clrScheme>
    <a:fontScheme name="自定义 11">
      <a:majorFont>
        <a:latin typeface="Arial"/>
        <a:ea typeface="幼圆"/>
        <a:cs typeface=""/>
      </a:majorFont>
      <a:minorFont>
        <a:latin typeface="Arial"/>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511</TotalTime>
  <Words>3896</Words>
  <Application>Microsoft Office PowerPoint</Application>
  <PresentationFormat>全屏显示(16:9)</PresentationFormat>
  <Paragraphs>178</Paragraphs>
  <Slides>25</Slides>
  <Notes>25</Notes>
  <HiddenSlides>0</HiddenSlides>
  <MMClips>1</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25</vt:i4>
      </vt:variant>
    </vt:vector>
  </HeadingPairs>
  <TitlesOfParts>
    <vt:vector size="33" baseType="lpstr">
      <vt:lpstr>等线</vt:lpstr>
      <vt:lpstr>仿宋</vt:lpstr>
      <vt:lpstr>Arial</vt:lpstr>
      <vt:lpstr>Calibri</vt:lpstr>
      <vt:lpstr>Cambria Math</vt:lpstr>
      <vt:lpstr>Times New Roman</vt:lpstr>
      <vt:lpstr>Wingdings</vt:lpstr>
      <vt:lpstr>PPTe吧 | PPT爱好者之家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rush pencil</dc:creator>
  <cp:lastModifiedBy>pencil</cp:lastModifiedBy>
  <cp:revision>224</cp:revision>
  <dcterms:created xsi:type="dcterms:W3CDTF">2017-09-03T13:26:00Z</dcterms:created>
  <dcterms:modified xsi:type="dcterms:W3CDTF">2026-03-08T11:41:48Z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A5BB37F60EFF4CA69CDCEF250FD7AFED_12</vt:lpwstr>
  </property>
  <property fmtid="{D5CDD505-2E9C-101B-9397-08002B2CF9AE}" pid="3" name="KSOProductBuildVer">
    <vt:lpwstr>2052-12.1.0.25225</vt:lpwstr>
  </property>
</Properties>
</file>