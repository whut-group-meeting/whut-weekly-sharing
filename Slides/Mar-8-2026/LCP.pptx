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98" r:id="rId3"/>
    <p:sldId id="299" r:id="rId4"/>
    <p:sldId id="300" r:id="rId5"/>
    <p:sldId id="306" r:id="rId6"/>
    <p:sldId id="307" r:id="rId7"/>
    <p:sldId id="304" r:id="rId8"/>
    <p:sldId id="301" r:id="rId9"/>
    <p:sldId id="302" r:id="rId10"/>
    <p:sldId id="312" r:id="rId11"/>
    <p:sldId id="303" r:id="rId12"/>
    <p:sldId id="308" r:id="rId13"/>
    <p:sldId id="309" r:id="rId14"/>
    <p:sldId id="311" r:id="rId15"/>
    <p:sldId id="310" r:id="rId16"/>
    <p:sldId id="296"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769" autoAdjust="0"/>
  </p:normalViewPr>
  <p:slideViewPr>
    <p:cSldViewPr snapToGrid="0">
      <p:cViewPr varScale="1">
        <p:scale>
          <a:sx n="103" d="100"/>
          <a:sy n="103" d="100"/>
        </p:scale>
        <p:origin x="6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443828-E76F-43D4-AB8A-A485F7C3A9F2}" type="datetimeFigureOut">
              <a:rPr lang="zh-CN" altLang="en-US" smtClean="0"/>
              <a:t>2026/3/8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29E728-C088-4D7E-83A0-4C0ABBFFDAF2}"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b="0"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10</a:t>
            </a:fld>
            <a:endParaRPr lang="zh-CN" altLang="en-US"/>
          </a:p>
        </p:txBody>
      </p:sp>
    </p:spTree>
    <p:extLst>
      <p:ext uri="{BB962C8B-B14F-4D97-AF65-F5344CB8AC3E}">
        <p14:creationId xmlns:p14="http://schemas.microsoft.com/office/powerpoint/2010/main" val="1694599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endParaRPr lang="zh-CN" altLang="en-US" dirty="0"/>
              </a:p>
            </p:txBody>
          </p:sp>
        </mc:Choice>
        <mc:Fallback xmlns="">
          <p:sp>
            <p:nvSpPr>
              <p:cNvPr id="3" name="备注占位符 2"/>
              <p:cNvSpPr>
                <a:spLocks noGrp="1"/>
              </p:cNvSpPr>
              <p:nvPr>
                <p:ph type="body" idx="1"/>
              </p:nvPr>
            </p:nvSpPr>
            <p:spPr/>
            <p:txBody>
              <a:bodyPr/>
              <a:lstStyle/>
              <a:p>
                <a:r>
                  <a:rPr lang="zh-CN" altLang="en-US" dirty="0"/>
                  <a:t>选择哪些特定的测试用例（由</a:t>
                </a:r>
                <a:r>
                  <a:rPr lang="en-US" altLang="zh-CN" dirty="0" err="1"/>
                  <a:t>i</a:t>
                </a:r>
                <a:r>
                  <a:rPr lang="zh-CN" altLang="en-US" dirty="0"/>
                  <a:t>索引）和样本代码（由</a:t>
                </a:r>
                <a:r>
                  <a:rPr lang="en-US" altLang="zh-CN" dirty="0"/>
                  <a:t>j</a:t>
                </a:r>
                <a:r>
                  <a:rPr lang="zh-CN" altLang="en-US" dirty="0"/>
                  <a:t>索引）包含在下一次迭代的提示中由贝叶斯更新规则管理：</a:t>
                </a:r>
                <a:endParaRPr lang="en-US" altLang="zh-CN" dirty="0"/>
              </a:p>
              <a:p>
                <a:endParaRPr lang="en-US" altLang="zh-CN" dirty="0"/>
              </a:p>
              <a:p>
                <a:r>
                  <a:rPr lang="en-US" altLang="zh-CN" i="0" dirty="0">
                    <a:latin typeface="Cambria Math" panose="02040503050406030204" pitchFamily="18" charset="0"/>
                  </a:rPr>
                  <a:t>p(〖</a:t>
                </a:r>
                <a:r>
                  <a:rPr lang="en-US" altLang="zh-CN" i="0" dirty="0">
                    <a:latin typeface="Cambria Math" panose="02040503050406030204" pitchFamily="18" charset="0"/>
                    <a:cs typeface="Cambria Math" panose="02040503050406030204" pitchFamily="18" charset="0"/>
                  </a:rPr>
                  <a:t>𝑃𝑟𝑜𝑚𝑝𝑡〗_𝑖𝑗^𝑡)</a:t>
                </a:r>
                <a:r>
                  <a:rPr lang="zh-CN" altLang="en-US" dirty="0"/>
                  <a:t>是为提示选择成对 </a:t>
                </a:r>
                <a:r>
                  <a:rPr lang="en-US" altLang="zh-CN" dirty="0"/>
                  <a:t>(</a:t>
                </a:r>
                <a:r>
                  <a:rPr lang="zh-CN" altLang="en-US" dirty="0"/>
                  <a:t>测试用例 </a:t>
                </a:r>
                <a:r>
                  <a:rPr lang="en-US" altLang="zh-CN" dirty="0"/>
                  <a:t>i</a:t>
                </a:r>
                <a:r>
                  <a:rPr lang="zh-CN" altLang="en-US" dirty="0"/>
                  <a:t>，示例代码 </a:t>
                </a:r>
                <a:r>
                  <a:rPr lang="en-US" altLang="zh-CN" dirty="0"/>
                  <a:t>j) </a:t>
                </a:r>
                <a:r>
                  <a:rPr lang="zh-CN" altLang="en-US" dirty="0"/>
                  <a:t>的先验概率。</a:t>
                </a:r>
                <a:endParaRPr lang="en-US" altLang="zh-CN" dirty="0"/>
              </a:p>
              <a:p>
                <a:r>
                  <a:rPr lang="en-US" altLang="zh-CN" i="0" dirty="0">
                    <a:latin typeface="Cambria Math" panose="02040503050406030204" pitchFamily="18" charset="0"/>
                  </a:rPr>
                  <a:t>p(</a:t>
                </a:r>
                <a:r>
                  <a:rPr lang="en-US" altLang="zh-CN" i="0" dirty="0">
                    <a:latin typeface="Cambria Math" panose="02040503050406030204" pitchFamily="18" charset="0"/>
                    <a:cs typeface="Cambria Math" panose="02040503050406030204" pitchFamily="18" charset="0"/>
                  </a:rPr>
                  <a:t>𝑆_3^𝑡 </a:t>
                </a:r>
                <a:r>
                  <a:rPr lang="en-US" altLang="zh-CN" i="0" dirty="0">
                    <a:latin typeface="Cambria Math" panose="02040503050406030204" pitchFamily="18" charset="0"/>
                  </a:rPr>
                  <a:t>|〖</a:t>
                </a:r>
                <a:r>
                  <a:rPr lang="en-US" altLang="zh-CN" i="0" dirty="0">
                    <a:latin typeface="Cambria Math" panose="02040503050406030204" pitchFamily="18" charset="0"/>
                    <a:cs typeface="Cambria Math" panose="02040503050406030204" pitchFamily="18" charset="0"/>
                  </a:rPr>
                  <a:t>𝑃𝑟𝑜𝑚𝑝𝑡〗_𝑖𝑗^𝑡)</a:t>
                </a:r>
                <a:r>
                  <a:rPr lang="zh-CN" altLang="en-US" dirty="0"/>
                  <a:t>是在给定提示是使用测试用例 </a:t>
                </a:r>
                <a:r>
                  <a:rPr lang="en-US" altLang="zh-CN" dirty="0"/>
                  <a:t>i </a:t>
                </a:r>
                <a:r>
                  <a:rPr lang="zh-CN" altLang="en-US" dirty="0"/>
                  <a:t>和示例代码 </a:t>
                </a:r>
                <a:r>
                  <a:rPr lang="en-US" altLang="zh-CN" dirty="0"/>
                  <a:t>j </a:t>
                </a:r>
                <a:r>
                  <a:rPr lang="zh-CN" altLang="en-US" dirty="0"/>
                  <a:t>形成的情况下，观察到分数 𝑆</a:t>
                </a:r>
                <a:r>
                  <a:rPr lang="en-US" altLang="zh-CN" dirty="0"/>
                  <a:t>_3^</a:t>
                </a:r>
                <a:r>
                  <a:rPr lang="zh-CN" altLang="en-US" dirty="0"/>
                  <a:t>𝑡 的可能性</a:t>
                </a:r>
                <a:endParaRPr lang="en-US" altLang="zh-CN" dirty="0"/>
              </a:p>
              <a:p>
                <a:endParaRPr lang="en-US" altLang="zh-CN" dirty="0"/>
              </a:p>
              <a:p>
                <a:r>
                  <a:rPr lang="zh-CN" altLang="en-US" sz="1200" b="0" i="0" kern="1200" dirty="0">
                    <a:solidFill>
                      <a:schemeClr val="tx1"/>
                    </a:solidFill>
                    <a:effectLst/>
                    <a:latin typeface="+mn-lt"/>
                    <a:ea typeface="+mn-ea"/>
                    <a:cs typeface="+mn-cs"/>
                  </a:rPr>
                  <a:t>基本直觉是识别并优先考虑“教师</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主题”对</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特定的示例代码和测试用例组合，这些组合能持续产生高分提示。</a:t>
                </a:r>
                <a:endParaRPr lang="zh-CN" altLang="en-US" dirty="0"/>
              </a:p>
            </p:txBody>
          </p:sp>
        </mc:Fallback>
      </mc:AlternateContent>
      <p:sp>
        <p:nvSpPr>
          <p:cNvPr id="4" name="灯片编号占位符 3"/>
          <p:cNvSpPr>
            <a:spLocks noGrp="1"/>
          </p:cNvSpPr>
          <p:nvPr>
            <p:ph type="sldNum" sz="quarter" idx="5"/>
          </p:nvPr>
        </p:nvSpPr>
        <p:spPr/>
        <p:txBody>
          <a:bodyPr/>
          <a:lstStyle/>
          <a:p>
            <a:fld id="{6A29E728-C088-4D7E-83A0-4C0ABBFFDAF2}"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12</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13</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29E728-C088-4D7E-83A0-4C0ABBFFDAF2}" type="slidenum">
              <a:rPr lang="zh-CN" altLang="en-US" smtClean="0"/>
              <a:t>15</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14869CE-D8CB-4E59-A1D5-D5BBD6D7AD16}" type="slidenum">
              <a:rPr lang="zh-CN" altLang="en-US" smtClean="0"/>
              <a:t>16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8DA51C9-0C62-49AE-8AFD-F2F881EE4B7F}" type="datetimeFigureOut">
              <a:rPr lang="zh-CN" altLang="en-US" smtClean="0"/>
              <a:t>2026/3/8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A30A05-C6FD-4609-85C4-B95B8DE5195D}"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DA51C9-0C62-49AE-8AFD-F2F881EE4B7F}" type="datetimeFigureOut">
              <a:rPr lang="zh-CN" altLang="en-US" smtClean="0"/>
              <a:t>2026/3/8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A30A05-C6FD-4609-85C4-B95B8DE5195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endParaRPr lang="zh-CN" altLang="en-US" dirty="0"/>
          </a:p>
        </p:txBody>
      </p:sp>
      <p:sp>
        <p:nvSpPr>
          <p:cNvPr id="3" name="副标题 2"/>
          <p:cNvSpPr>
            <a:spLocks noGrp="1"/>
          </p:cNvSpPr>
          <p:nvPr>
            <p:ph type="subTitle" idx="1"/>
          </p:nvPr>
        </p:nvSpPr>
        <p:spPr/>
        <p:txBody>
          <a:bodyPr/>
          <a:lstStyle/>
          <a:p>
            <a:endParaRPr lang="zh-CN" altLang="en-US" dirty="0"/>
          </a:p>
        </p:txBody>
      </p:sp>
      <p:pic>
        <p:nvPicPr>
          <p:cNvPr id="6" name="图片 5"/>
          <p:cNvPicPr>
            <a:picLocks noChangeAspect="1"/>
          </p:cNvPicPr>
          <p:nvPr/>
        </p:nvPicPr>
        <p:blipFill>
          <a:blip r:embed="rId3"/>
          <a:stretch>
            <a:fillRect/>
          </a:stretch>
        </p:blipFill>
        <p:spPr>
          <a:xfrm>
            <a:off x="1742467" y="1171005"/>
            <a:ext cx="8707065" cy="40867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Background</a:t>
            </a:r>
            <a:endParaRPr lang="zh-CN" altLang="en-US" b="1" dirty="0"/>
          </a:p>
        </p:txBody>
      </p:sp>
      <p:sp>
        <p:nvSpPr>
          <p:cNvPr id="3" name="内容占位符 2"/>
          <p:cNvSpPr>
            <a:spLocks noGrp="1"/>
          </p:cNvSpPr>
          <p:nvPr>
            <p:ph idx="1"/>
          </p:nvPr>
        </p:nvSpPr>
        <p:spPr/>
        <p:txBody>
          <a:bodyPr>
            <a:normAutofit fontScale="92500"/>
          </a:bodyPr>
          <a:lstStyle/>
          <a:p>
            <a:r>
              <a:rPr lang="en-US" altLang="zh-CN" dirty="0"/>
              <a:t>Several challenges hinder LLM’s reliable application in AI4S research:</a:t>
            </a:r>
          </a:p>
          <a:p>
            <a:pPr marL="0" indent="0">
              <a:buNone/>
            </a:pPr>
            <a:r>
              <a:rPr lang="en-US" altLang="zh-CN" dirty="0"/>
              <a:t>(1) LLM’s reliability is undermined by the probabilistic nature of LLMs, which can produce hallucinations in both generated code and its corresponding test cases. In a multi-agent architecture, these errors can propagate and compound, leading to flawed final outputs.</a:t>
            </a:r>
          </a:p>
          <a:p>
            <a:pPr marL="0" indent="0">
              <a:buNone/>
            </a:pPr>
            <a:r>
              <a:rPr lang="en-US" altLang="zh-CN" dirty="0"/>
              <a:t>(2) potentially unclear prompt descriptions from domain scientists without computer science backgrounds.</a:t>
            </a:r>
          </a:p>
          <a:p>
            <a:pPr marL="0" indent="0">
              <a:buNone/>
            </a:pPr>
            <a:r>
              <a:rPr lang="en-US" altLang="zh-CN" dirty="0"/>
              <a:t>(3) evaluating the code of domain-specific tasks is often difficult.</a:t>
            </a:r>
            <a:r>
              <a:rPr lang="zh-CN" altLang="en-US" dirty="0"/>
              <a:t> </a:t>
            </a:r>
            <a:r>
              <a:rPr lang="en-US" altLang="zh-CN" dirty="0"/>
              <a:t>(the need to maintain adherence to physical laws and domain-specific constraints.)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Contributions</a:t>
            </a:r>
            <a:endParaRPr lang="zh-CN" altLang="en-US" b="1" dirty="0"/>
          </a:p>
        </p:txBody>
      </p:sp>
      <p:sp>
        <p:nvSpPr>
          <p:cNvPr id="3" name="内容占位符 2"/>
          <p:cNvSpPr>
            <a:spLocks noGrp="1"/>
          </p:cNvSpPr>
          <p:nvPr>
            <p:ph idx="1"/>
          </p:nvPr>
        </p:nvSpPr>
        <p:spPr/>
        <p:txBody>
          <a:bodyPr/>
          <a:lstStyle/>
          <a:p>
            <a:r>
              <a:rPr lang="en-US" altLang="zh-CN" dirty="0"/>
              <a:t>A Novel AI4S Low-Code Platform(LCP) with Bayesian Adversarial Framework:</a:t>
            </a:r>
            <a:r>
              <a:rPr lang="zh-CN" altLang="en-US" dirty="0"/>
              <a:t> </a:t>
            </a:r>
            <a:r>
              <a:rPr lang="en-US" altLang="zh-CN" dirty="0"/>
              <a:t>We introduce a multi-agent framework that employs a </a:t>
            </a:r>
            <a:r>
              <a:rPr lang="en-US" altLang="zh-CN" b="1" dirty="0"/>
              <a:t>Bayesian recursive co-updating strategy</a:t>
            </a:r>
            <a:r>
              <a:rPr lang="en-US" altLang="zh-CN" dirty="0"/>
              <a:t> to iteratively refine generated code and test cases using a </a:t>
            </a:r>
            <a:r>
              <a:rPr lang="en-US" altLang="zh-CN" b="1" dirty="0"/>
              <a:t>non-LLM-based</a:t>
            </a:r>
            <a:r>
              <a:rPr lang="en-US" altLang="zh-CN" dirty="0"/>
              <a:t> adversarial score.</a:t>
            </a:r>
          </a:p>
          <a:p>
            <a:r>
              <a:rPr lang="en-US" altLang="zh-CN" dirty="0"/>
              <a:t>Bayesian Optimization for code performance estimation: We proposed a </a:t>
            </a:r>
            <a:r>
              <a:rPr lang="en-US" altLang="zh-CN" b="1" dirty="0"/>
              <a:t>Bayesian Optimization method</a:t>
            </a:r>
            <a:r>
              <a:rPr lang="en-US" altLang="zh-CN" dirty="0"/>
              <a:t> to estimate the performance of a given code</a:t>
            </a:r>
          </a:p>
          <a:p>
            <a:r>
              <a:rPr lang="en-US" altLang="zh-CN" dirty="0"/>
              <a:t>Domain Knowledge Refinement for scientific tasks</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Overview</a:t>
            </a:r>
            <a:endParaRPr lang="zh-CN" altLang="en-US" b="1" dirty="0"/>
          </a:p>
        </p:txBody>
      </p:sp>
      <p:sp>
        <p:nvSpPr>
          <p:cNvPr id="3" name="内容占位符 2"/>
          <p:cNvSpPr>
            <a:spLocks noGrp="1"/>
          </p:cNvSpPr>
          <p:nvPr>
            <p:ph idx="1"/>
          </p:nvPr>
        </p:nvSpPr>
        <p:spPr/>
        <p:txBody>
          <a:bodyPr/>
          <a:lstStyle/>
          <a:p>
            <a:r>
              <a:rPr lang="en-US" altLang="zh-CN" dirty="0"/>
              <a:t>Task Manager (TM) agent serving as Challenger, </a:t>
            </a:r>
          </a:p>
          <a:p>
            <a:r>
              <a:rPr lang="en-US" altLang="zh-CN" dirty="0"/>
              <a:t>Solution Generator (SG) agent as Solver, </a:t>
            </a:r>
          </a:p>
          <a:p>
            <a:r>
              <a:rPr lang="en-US" altLang="zh-CN" dirty="0"/>
              <a:t>Evaluator agent for comprehensive assessment</a:t>
            </a:r>
            <a:endParaRPr lang="zh-CN" altLang="en-US" dirty="0"/>
          </a:p>
        </p:txBody>
      </p:sp>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7461" y="3429000"/>
            <a:ext cx="5997077" cy="30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TM agent and </a:t>
            </a:r>
            <a:r>
              <a:rPr lang="en-US" altLang="zh-CN" b="1" dirty="0">
                <a:sym typeface="+mn-ea"/>
              </a:rPr>
              <a:t>SG agent</a:t>
            </a:r>
            <a:endParaRPr lang="zh-CN" altLang="en-US" b="1" dirty="0"/>
          </a:p>
        </p:txBody>
      </p:sp>
      <p:sp>
        <p:nvSpPr>
          <p:cNvPr id="3" name="内容占位符 2"/>
          <p:cNvSpPr>
            <a:spLocks noGrp="1"/>
          </p:cNvSpPr>
          <p:nvPr>
            <p:ph idx="1"/>
          </p:nvPr>
        </p:nvSpPr>
        <p:spPr/>
        <p:txBody>
          <a:bodyPr>
            <a:normAutofit lnSpcReduction="10000"/>
          </a:bodyPr>
          <a:lstStyle/>
          <a:p>
            <a:pPr marL="0" indent="0">
              <a:buNone/>
            </a:pPr>
            <a:r>
              <a:rPr lang="en-US" altLang="zh-CN" dirty="0">
                <a:sym typeface="+mn-ea"/>
              </a:rPr>
              <a:t>Task Manager (TM) agent:</a:t>
            </a:r>
            <a:endParaRPr lang="en-US" altLang="zh-CN" dirty="0"/>
          </a:p>
          <a:p>
            <a:r>
              <a:rPr lang="en-US" altLang="zh-CN" dirty="0"/>
              <a:t>1. Decomposing the primary task into sub-tasks. </a:t>
            </a:r>
          </a:p>
          <a:p>
            <a:r>
              <a:rPr lang="en-US" altLang="zh-CN" dirty="0"/>
              <a:t>2. Posing Sanity Checks for data structure and range. </a:t>
            </a:r>
          </a:p>
          <a:p>
            <a:r>
              <a:rPr lang="en-US" altLang="zh-CN" dirty="0"/>
              <a:t>3. Reasoning about the logical workflow and dependencies between sub-tasks. </a:t>
            </a:r>
          </a:p>
          <a:p>
            <a:r>
              <a:rPr lang="en-US" altLang="zh-CN" dirty="0"/>
              <a:t>4. Formulating strategic advice for the generation of effective test cases.</a:t>
            </a:r>
          </a:p>
          <a:p>
            <a:pPr marL="0" indent="0">
              <a:buNone/>
            </a:pPr>
            <a:r>
              <a:rPr lang="en-US" altLang="zh-CN" dirty="0">
                <a:sym typeface="+mn-ea"/>
              </a:rPr>
              <a:t>Solution Generator (SG) agent:</a:t>
            </a:r>
            <a:endParaRPr lang="en-US" altLang="zh-CN" dirty="0"/>
          </a:p>
          <a:p>
            <a:r>
              <a:rPr lang="en-US" altLang="zh-CN" dirty="0">
                <a:sym typeface="+mn-ea"/>
              </a:rPr>
              <a:t>The code generation agent uses prompt to produce N candidate solutions (codes).</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Adversarial interaction</a:t>
            </a:r>
            <a:endParaRPr lang="zh-CN" altLang="en-US" b="1" dirty="0"/>
          </a:p>
        </p:txBody>
      </p:sp>
      <p:sp>
        <p:nvSpPr>
          <p:cNvPr id="3" name="内容占位符 2"/>
          <p:cNvSpPr>
            <a:spLocks noGrp="1"/>
          </p:cNvSpPr>
          <p:nvPr>
            <p:ph idx="1"/>
          </p:nvPr>
        </p:nvSpPr>
        <p:spPr/>
        <p:txBody>
          <a:bodyPr/>
          <a:lstStyle/>
          <a:p>
            <a:r>
              <a:rPr lang="en-US" altLang="zh-CN" dirty="0"/>
              <a:t>The TM agent’s role evolves to that of a Challenger. It aims to create test suites that are optimally challenging for the SG’s current learned capabilities</a:t>
            </a:r>
          </a:p>
          <a:p>
            <a:r>
              <a:rPr lang="en-US" altLang="zh-CN" dirty="0"/>
              <a:t>The SG agent, as the Solver, implicitly adapts by producing code in response to these evolving challenges.</a:t>
            </a:r>
            <a:endParaRPr lang="zh-CN" altLang="en-US" dirty="0"/>
          </a:p>
        </p:txBody>
      </p:sp>
      <p:pic>
        <p:nvPicPr>
          <p:cNvPr id="5" name="图片 4"/>
          <p:cNvPicPr>
            <a:picLocks noChangeAspect="1"/>
          </p:cNvPicPr>
          <p:nvPr/>
        </p:nvPicPr>
        <p:blipFill>
          <a:blip r:embed="rId3"/>
          <a:stretch>
            <a:fillRect/>
          </a:stretch>
        </p:blipFill>
        <p:spPr>
          <a:xfrm>
            <a:off x="1904415" y="4001294"/>
            <a:ext cx="8383170" cy="234347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Evaluator agent</a:t>
            </a:r>
            <a:endParaRPr lang="zh-CN" altLang="en-US" b="1" dirty="0"/>
          </a:p>
        </p:txBody>
      </p:sp>
      <p:sp>
        <p:nvSpPr>
          <p:cNvPr id="3" name="内容占位符 2"/>
          <p:cNvSpPr>
            <a:spLocks noGrp="1"/>
          </p:cNvSpPr>
          <p:nvPr>
            <p:ph idx="1"/>
          </p:nvPr>
        </p:nvSpPr>
        <p:spPr>
          <a:xfrm>
            <a:off x="838200" y="1389529"/>
            <a:ext cx="10515600" cy="4787434"/>
          </a:xfrm>
        </p:spPr>
        <p:txBody>
          <a:bodyPr>
            <a:normAutofit/>
          </a:bodyPr>
          <a:lstStyle/>
          <a:p>
            <a:r>
              <a:rPr lang="en-US" altLang="zh-CN" dirty="0"/>
              <a:t>The Evaluator agent is responsible for assessing the candidate codes, the effectiveness of the test cases, and the overall quality of the prompts used in each iteration.</a:t>
            </a:r>
          </a:p>
          <a:p>
            <a:endParaRPr lang="en-US" altLang="zh-CN" dirty="0"/>
          </a:p>
          <a:p>
            <a:r>
              <a:rPr lang="en-US" altLang="zh-CN" dirty="0"/>
              <a:t>Test case score(S1)</a:t>
            </a:r>
          </a:p>
          <a:p>
            <a:endParaRPr lang="en-US" altLang="zh-CN" dirty="0"/>
          </a:p>
          <a:p>
            <a:r>
              <a:rPr lang="en-US" altLang="zh-CN" dirty="0"/>
              <a:t>Code score(S2)</a:t>
            </a:r>
          </a:p>
          <a:p>
            <a:pPr marL="0" indent="0">
              <a:buNone/>
            </a:pPr>
            <a:endParaRPr lang="en-US" altLang="zh-CN" dirty="0"/>
          </a:p>
          <a:p>
            <a:r>
              <a:rPr lang="en-US" altLang="zh-CN" dirty="0"/>
              <a:t>Prompt Score (S3)</a:t>
            </a:r>
          </a:p>
          <a:p>
            <a:endParaRPr lang="en-US" altLang="zh-CN" dirty="0"/>
          </a:p>
          <a:p>
            <a:endParaRPr lang="en-US" altLang="zh-CN" dirty="0"/>
          </a:p>
          <a:p>
            <a:endParaRPr lang="zh-CN" altLang="en-US" dirty="0"/>
          </a:p>
        </p:txBody>
      </p:sp>
      <p:pic>
        <p:nvPicPr>
          <p:cNvPr id="5" name="图片 4"/>
          <p:cNvPicPr>
            <a:picLocks noChangeAspect="1"/>
          </p:cNvPicPr>
          <p:nvPr/>
        </p:nvPicPr>
        <p:blipFill>
          <a:blip r:embed="rId3"/>
          <a:stretch>
            <a:fillRect/>
          </a:stretch>
        </p:blipFill>
        <p:spPr>
          <a:xfrm>
            <a:off x="4200515" y="2853942"/>
            <a:ext cx="6281399" cy="1150116"/>
          </a:xfrm>
          <a:prstGeom prst="rect">
            <a:avLst/>
          </a:prstGeom>
        </p:spPr>
      </p:pic>
      <p:pic>
        <p:nvPicPr>
          <p:cNvPr id="7" name="图片 6"/>
          <p:cNvPicPr>
            <a:picLocks noChangeAspect="1"/>
          </p:cNvPicPr>
          <p:nvPr/>
        </p:nvPicPr>
        <p:blipFill>
          <a:blip r:embed="rId4"/>
          <a:stretch>
            <a:fillRect/>
          </a:stretch>
        </p:blipFill>
        <p:spPr>
          <a:xfrm>
            <a:off x="4200515" y="4004058"/>
            <a:ext cx="3566816" cy="823786"/>
          </a:xfrm>
          <a:prstGeom prst="rect">
            <a:avLst/>
          </a:prstGeom>
        </p:spPr>
      </p:pic>
      <p:pic>
        <p:nvPicPr>
          <p:cNvPr id="9" name="图片 8"/>
          <p:cNvPicPr>
            <a:picLocks noChangeAspect="1"/>
          </p:cNvPicPr>
          <p:nvPr/>
        </p:nvPicPr>
        <p:blipFill>
          <a:blip r:embed="rId5"/>
          <a:stretch>
            <a:fillRect/>
          </a:stretch>
        </p:blipFill>
        <p:spPr>
          <a:xfrm>
            <a:off x="4200515" y="5109305"/>
            <a:ext cx="3355032" cy="7183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Algorithm</a:t>
            </a:r>
            <a:endParaRPr lang="zh-CN" altLang="en-US" b="1" dirty="0"/>
          </a:p>
        </p:txBody>
      </p:sp>
      <p:sp>
        <p:nvSpPr>
          <p:cNvPr id="3" name="内容占位符 2"/>
          <p:cNvSpPr>
            <a:spLocks noGrp="1"/>
          </p:cNvSpPr>
          <p:nvPr>
            <p:ph idx="1"/>
          </p:nvPr>
        </p:nvSpPr>
        <p:spPr/>
        <p:txBody>
          <a:bodyPr/>
          <a:lstStyle/>
          <a:p>
            <a:endParaRPr lang="zh-CN" altLang="en-US" dirty="0"/>
          </a:p>
        </p:txBody>
      </p:sp>
      <p:grpSp>
        <p:nvGrpSpPr>
          <p:cNvPr id="7" name="组合 6"/>
          <p:cNvGrpSpPr/>
          <p:nvPr/>
        </p:nvGrpSpPr>
        <p:grpSpPr>
          <a:xfrm>
            <a:off x="3276291" y="1947282"/>
            <a:ext cx="5639417" cy="4108024"/>
            <a:chOff x="5499231" y="1947282"/>
            <a:chExt cx="5639417" cy="4108024"/>
          </a:xfrm>
        </p:grpSpPr>
        <p:pic>
          <p:nvPicPr>
            <p:cNvPr id="5" name="图片 4"/>
            <p:cNvPicPr>
              <a:picLocks noChangeAspect="1"/>
            </p:cNvPicPr>
            <p:nvPr/>
          </p:nvPicPr>
          <p:blipFill>
            <a:blip r:embed="rId3"/>
            <a:stretch>
              <a:fillRect/>
            </a:stretch>
          </p:blipFill>
          <p:spPr>
            <a:xfrm>
              <a:off x="5499231" y="1947282"/>
              <a:ext cx="5639417" cy="4108024"/>
            </a:xfrm>
            <a:prstGeom prst="rect">
              <a:avLst/>
            </a:prstGeom>
          </p:spPr>
        </p:pic>
        <p:pic>
          <p:nvPicPr>
            <p:cNvPr id="6" name="图片 5"/>
            <p:cNvPicPr/>
            <p:nvPr/>
          </p:nvPicPr>
          <p:blipFill>
            <a:blip r:embed="rId4"/>
            <a:srcRect l="4466" t="-1511"/>
            <a:stretch>
              <a:fillRect/>
            </a:stretch>
          </p:blipFill>
          <p:spPr>
            <a:xfrm>
              <a:off x="8089106" y="3486151"/>
              <a:ext cx="1917479" cy="160053"/>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Bayesian optimization</a:t>
            </a:r>
            <a:endParaRPr lang="zh-CN" altLang="en-US" b="1" dirty="0"/>
          </a:p>
        </p:txBody>
      </p:sp>
      <p:sp>
        <p:nvSpPr>
          <p:cNvPr id="3" name="内容占位符 2"/>
          <p:cNvSpPr>
            <a:spLocks noGrp="1"/>
          </p:cNvSpPr>
          <p:nvPr>
            <p:ph idx="1"/>
          </p:nvPr>
        </p:nvSpPr>
        <p:spPr/>
        <p:txBody>
          <a:bodyPr>
            <a:normAutofit fontScale="97500" lnSpcReduction="10000"/>
          </a:bodyPr>
          <a:lstStyle/>
          <a:p>
            <a:r>
              <a:rPr lang="en-US" altLang="zh-CN" dirty="0"/>
              <a:t>We noticed that executing all the generated codes for testing can be computationally expensive.</a:t>
            </a:r>
          </a:p>
          <a:p>
            <a:pPr marL="0" indent="0">
              <a:buNone/>
            </a:pPr>
            <a:r>
              <a:rPr lang="en-US" altLang="zh-CN" dirty="0"/>
              <a:t>1. code embeddings: This embedding model is used to map generated code candidates into a semantic-structural vector space.</a:t>
            </a:r>
          </a:p>
          <a:p>
            <a:pPr marL="0" indent="0">
              <a:buNone/>
            </a:pPr>
            <a:r>
              <a:rPr lang="en-US" altLang="zh-CN" dirty="0"/>
              <a:t>2. obtain the pair-wise similarity between all the code embeddings. These pairwise similarities {k(xi, xj)}i,j form the kernel matrix K</a:t>
            </a:r>
          </a:p>
          <a:p>
            <a:endParaRPr lang="en-US" altLang="zh-CN" dirty="0"/>
          </a:p>
          <a:p>
            <a:endParaRPr lang="en-US" altLang="zh-CN" dirty="0"/>
          </a:p>
          <a:p>
            <a:pPr marL="0" indent="0">
              <a:buNone/>
            </a:pPr>
            <a:r>
              <a:rPr lang="en-US" altLang="zh-CN" dirty="0"/>
              <a:t>3. follow a standard Bayesian Optimization practice and fit a Gaussian Processes (GP) model</a:t>
            </a:r>
          </a:p>
        </p:txBody>
      </p:sp>
      <p:pic>
        <p:nvPicPr>
          <p:cNvPr id="4" name="图片 3"/>
          <p:cNvPicPr>
            <a:picLocks noChangeAspect="1"/>
          </p:cNvPicPr>
          <p:nvPr/>
        </p:nvPicPr>
        <p:blipFill>
          <a:blip r:embed="rId3"/>
          <a:stretch>
            <a:fillRect/>
          </a:stretch>
        </p:blipFill>
        <p:spPr>
          <a:xfrm>
            <a:off x="4634230" y="4304665"/>
            <a:ext cx="2923540" cy="7740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ym typeface="+mn-ea"/>
              </a:rPr>
              <a:t>Bayesian optimization</a:t>
            </a:r>
            <a:endParaRPr lang="zh-CN" altLang="en-US"/>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marL="0" indent="0">
                  <a:buNone/>
                </a:pPr>
                <a:r>
                  <a:rPr lang="en-US" altLang="zh-CN" dirty="0"/>
                  <a:t>4.This model allows us to estimate the score of any new, untested code </a:t>
                </a:r>
                <a14:m>
                  <m:oMath xmlns:m="http://schemas.openxmlformats.org/officeDocument/2006/math">
                    <m:sSup>
                      <m:sSupPr>
                        <m:ctrlPr>
                          <a:rPr lang="en-US" altLang="zh-CN" i="1">
                            <a:latin typeface="Cambria Math" panose="02040503050406030204" pitchFamily="18" charset="0"/>
                            <a:cs typeface="Cambria Math" panose="02040503050406030204" pitchFamily="18" charset="0"/>
                          </a:rPr>
                        </m:ctrlPr>
                      </m:sSupPr>
                      <m:e>
                        <m:r>
                          <a:rPr lang="en-US" altLang="zh-CN" i="1">
                            <a:latin typeface="Cambria Math" panose="02040503050406030204" pitchFamily="18" charset="0"/>
                            <a:cs typeface="Cambria Math" panose="02040503050406030204" pitchFamily="18" charset="0"/>
                          </a:rPr>
                          <m:t>𝑥</m:t>
                        </m:r>
                      </m:e>
                      <m:sup>
                        <m:r>
                          <a:rPr lang="en-US" altLang="zh-CN" i="1">
                            <a:latin typeface="Cambria Math" panose="02040503050406030204" pitchFamily="18" charset="0"/>
                            <a:cs typeface="Cambria Math" panose="02040503050406030204" pitchFamily="18" charset="0"/>
                          </a:rPr>
                          <m:t>∗</m:t>
                        </m:r>
                      </m:sup>
                    </m:sSup>
                  </m:oMath>
                </a14:m>
                <a:r>
                  <a:rPr lang="en-US" altLang="zh-CN" dirty="0"/>
                  <a:t> without running the full evaluation.</a:t>
                </a:r>
              </a:p>
              <a:p>
                <a:pPr marL="0" indent="0">
                  <a:buNone/>
                </a:pPr>
                <a:r>
                  <a:rPr lang="en-US" altLang="zh-CN" dirty="0"/>
                  <a:t>5.use the Upper Confidence Bound (UCB) acquisition function</a:t>
                </a:r>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en-US" altLang="zh-CN" dirty="0"/>
                  <a:t>6. The next code selected for full evaluation is the one that maximizes this UCB score</a:t>
                </a:r>
              </a:p>
              <a:p>
                <a:pPr marL="0" indent="0">
                  <a:buNone/>
                </a:pPr>
                <a:endParaRPr lang="en-US" altLang="zh-CN" dirty="0"/>
              </a:p>
              <a:p>
                <a:pPr marL="0" indent="0">
                  <a:buNone/>
                </a:pPr>
                <a:endParaRPr lang="en-US" altLang="zh-CN" dirty="0"/>
              </a:p>
            </p:txBody>
          </p:sp>
        </mc:Choice>
        <mc:Fallback xmlns="">
          <p:sp>
            <p:nvSpPr>
              <p:cNvPr id="3" name="内容占位符 2"/>
              <p:cNvSpPr>
                <a:spLocks noRot="1" noChangeAspect="1" noMove="1" noResize="1" noEditPoints="1" noAdjustHandles="1" noChangeArrowheads="1" noChangeShapeType="1" noTextEdit="1"/>
              </p:cNvSpPr>
              <p:nvPr>
                <p:ph idx="1"/>
              </p:nvPr>
            </p:nvSpPr>
            <p:spPr>
              <a:blipFill rotWithShape="1">
                <a:blip r:embed="rId3"/>
                <a:stretch>
                  <a:fillRect b="-9624"/>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4543425" y="3166745"/>
            <a:ext cx="3105150" cy="523875"/>
          </a:xfrm>
          <a:prstGeom prst="rect">
            <a:avLst/>
          </a:prstGeom>
        </p:spPr>
      </p:pic>
      <p:pic>
        <p:nvPicPr>
          <p:cNvPr id="5" name="图片 4"/>
          <p:cNvPicPr>
            <a:picLocks noChangeAspect="1"/>
          </p:cNvPicPr>
          <p:nvPr/>
        </p:nvPicPr>
        <p:blipFill>
          <a:blip r:embed="rId5"/>
          <a:stretch>
            <a:fillRect/>
          </a:stretch>
        </p:blipFill>
        <p:spPr>
          <a:xfrm>
            <a:off x="4681855" y="5529580"/>
            <a:ext cx="2828925" cy="533400"/>
          </a:xfrm>
          <a:prstGeom prst="rect">
            <a:avLst/>
          </a:prstGeom>
        </p:spPr>
      </p:pic>
      <p:pic>
        <p:nvPicPr>
          <p:cNvPr id="6" name="图片 5"/>
          <p:cNvPicPr>
            <a:picLocks noChangeAspect="1"/>
          </p:cNvPicPr>
          <p:nvPr/>
        </p:nvPicPr>
        <p:blipFill>
          <a:blip r:embed="rId6"/>
          <a:stretch>
            <a:fillRect/>
          </a:stretch>
        </p:blipFill>
        <p:spPr>
          <a:xfrm>
            <a:off x="4562475" y="3690620"/>
            <a:ext cx="3067050" cy="504825"/>
          </a:xfrm>
          <a:prstGeom prst="rect">
            <a:avLst/>
          </a:prstGeom>
        </p:spPr>
      </p:pic>
      <p:pic>
        <p:nvPicPr>
          <p:cNvPr id="7" name="图片 6"/>
          <p:cNvPicPr>
            <a:picLocks noChangeAspect="1"/>
          </p:cNvPicPr>
          <p:nvPr/>
        </p:nvPicPr>
        <p:blipFill>
          <a:blip r:embed="rId7"/>
          <a:stretch>
            <a:fillRect/>
          </a:stretch>
        </p:blipFill>
        <p:spPr>
          <a:xfrm>
            <a:off x="3948430" y="4260215"/>
            <a:ext cx="4295775" cy="4095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Bayesian prompt updates</a:t>
            </a:r>
            <a:endParaRPr lang="zh-CN" altLang="en-US" b="1"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87500" lnSpcReduction="10000"/>
              </a:bodyPr>
              <a:lstStyle/>
              <a:p>
                <a:r>
                  <a:rPr lang="en-US" altLang="zh-CN" dirty="0"/>
                  <a:t>The selection of which specific test cases (indexed by </a:t>
                </a:r>
                <a:r>
                  <a:rPr lang="en-US" altLang="zh-CN" dirty="0" err="1"/>
                  <a:t>i</a:t>
                </a:r>
                <a:r>
                  <a:rPr lang="en-US" altLang="zh-CN" dirty="0"/>
                  <a:t>) and sample codes (indexed by j) to include in the prompt for the next iteration (</a:t>
                </a:r>
                <a14:m>
                  <m:oMath xmlns:m="http://schemas.openxmlformats.org/officeDocument/2006/math">
                    <m:sSubSup>
                      <m:sSubSupPr>
                        <m:ctrlPr>
                          <a:rPr lang="en-US" altLang="zh-CN" b="0" i="1" dirty="0" smtClean="0">
                            <a:latin typeface="Cambria Math" panose="02040503050406030204" pitchFamily="18" charset="0"/>
                          </a:rPr>
                        </m:ctrlPr>
                      </m:sSubSupPr>
                      <m:e>
                        <m:r>
                          <a:rPr lang="en-US" altLang="zh-CN" b="0" i="1" dirty="0" smtClean="0">
                            <a:latin typeface="Cambria Math" panose="02040503050406030204" pitchFamily="18" charset="0"/>
                          </a:rPr>
                          <m:t>𝑃𝑟𝑜𝑚𝑝𝑡</m:t>
                        </m:r>
                      </m:e>
                      <m:sub>
                        <m:r>
                          <a:rPr lang="en-US" altLang="zh-CN" b="0" i="1" dirty="0" smtClean="0">
                            <a:latin typeface="Cambria Math" panose="02040503050406030204" pitchFamily="18" charset="0"/>
                          </a:rPr>
                          <m:t>𝑖𝑗</m:t>
                        </m:r>
                      </m:sub>
                      <m:sup>
                        <m:r>
                          <a:rPr lang="en-US" altLang="zh-CN" b="0" i="1" dirty="0" smtClean="0">
                            <a:latin typeface="Cambria Math" panose="02040503050406030204" pitchFamily="18" charset="0"/>
                          </a:rPr>
                          <m:t>𝑡</m:t>
                        </m:r>
                        <m:r>
                          <a:rPr lang="en-US" altLang="zh-CN" b="0" i="1" dirty="0" smtClean="0">
                            <a:latin typeface="Cambria Math" panose="02040503050406030204" pitchFamily="18" charset="0"/>
                          </a:rPr>
                          <m:t>+1</m:t>
                        </m:r>
                      </m:sup>
                    </m:sSubSup>
                  </m:oMath>
                </a14:m>
                <a:r>
                  <a:rPr lang="en-US" altLang="zh-CN" dirty="0"/>
                  <a:t>) is governed by a Bayesian update rule:</a:t>
                </a:r>
              </a:p>
              <a:p>
                <a:endParaRPr lang="en-US" altLang="zh-CN" dirty="0"/>
              </a:p>
              <a:p>
                <a14:m>
                  <m:oMath xmlns:m="http://schemas.openxmlformats.org/officeDocument/2006/math">
                    <m:r>
                      <m:rPr>
                        <m:sty m:val="p"/>
                      </m:rPr>
                      <a:rPr lang="en-US" altLang="zh-CN" dirty="0">
                        <a:latin typeface="Cambria Math" panose="02040503050406030204" pitchFamily="18" charset="0"/>
                      </a:rPr>
                      <m:t>p</m:t>
                    </m:r>
                    <m:r>
                      <a:rPr lang="en-US" altLang="zh-CN" dirty="0">
                        <a:latin typeface="Cambria Math" panose="02040503050406030204" pitchFamily="18" charset="0"/>
                      </a:rPr>
                      <m:t>(</m:t>
                    </m:r>
                    <m:sSubSup>
                      <m:sSubSupPr>
                        <m:ctrlPr>
                          <a:rPr lang="en-US" altLang="zh-CN" i="1" dirty="0">
                            <a:latin typeface="Cambria Math" panose="02040503050406030204" pitchFamily="18" charset="0"/>
                            <a:cs typeface="Cambria Math" panose="02040503050406030204" pitchFamily="18" charset="0"/>
                          </a:rPr>
                        </m:ctrlPr>
                      </m:sSubSupPr>
                      <m:e>
                        <m:r>
                          <a:rPr lang="en-US" altLang="zh-CN" i="1" dirty="0">
                            <a:latin typeface="Cambria Math" panose="02040503050406030204" pitchFamily="18" charset="0"/>
                            <a:cs typeface="Cambria Math" panose="02040503050406030204" pitchFamily="18" charset="0"/>
                          </a:rPr>
                          <m:t>𝑃𝑟𝑜𝑚𝑝𝑡</m:t>
                        </m:r>
                      </m:e>
                      <m:sub>
                        <m:r>
                          <a:rPr lang="en-US" altLang="zh-CN" i="1" dirty="0">
                            <a:latin typeface="Cambria Math" panose="02040503050406030204" pitchFamily="18" charset="0"/>
                            <a:cs typeface="Cambria Math" panose="02040503050406030204" pitchFamily="18" charset="0"/>
                          </a:rPr>
                          <m:t>𝑖𝑗</m:t>
                        </m:r>
                      </m:sub>
                      <m:sup>
                        <m:r>
                          <a:rPr lang="en-US" altLang="zh-CN" i="1" dirty="0">
                            <a:latin typeface="Cambria Math" panose="02040503050406030204" pitchFamily="18" charset="0"/>
                            <a:cs typeface="Cambria Math" panose="02040503050406030204" pitchFamily="18" charset="0"/>
                          </a:rPr>
                          <m:t>𝑡</m:t>
                        </m:r>
                      </m:sup>
                    </m:sSubSup>
                    <m:r>
                      <a:rPr lang="en-US" altLang="zh-CN" i="1" dirty="0">
                        <a:latin typeface="Cambria Math" panose="02040503050406030204" pitchFamily="18" charset="0"/>
                        <a:cs typeface="Cambria Math" panose="02040503050406030204" pitchFamily="18" charset="0"/>
                      </a:rPr>
                      <m:t>)</m:t>
                    </m:r>
                  </m:oMath>
                </a14:m>
                <a:r>
                  <a:rPr lang="en-US" altLang="zh-CN" dirty="0"/>
                  <a:t> is the prior probability of selecting the pair (Test Case i, Sample Code j) for the prompt.</a:t>
                </a:r>
              </a:p>
              <a:p>
                <a14:m>
                  <m:oMath xmlns:m="http://schemas.openxmlformats.org/officeDocument/2006/math">
                    <m:r>
                      <m:rPr>
                        <m:sty m:val="p"/>
                      </m:rPr>
                      <a:rPr lang="en-US" altLang="zh-CN" dirty="0">
                        <a:latin typeface="Cambria Math" panose="02040503050406030204" pitchFamily="18" charset="0"/>
                      </a:rPr>
                      <m:t>p</m:t>
                    </m:r>
                    <m:r>
                      <a:rPr lang="en-US" altLang="zh-CN" dirty="0">
                        <a:latin typeface="Cambria Math" panose="02040503050406030204" pitchFamily="18" charset="0"/>
                      </a:rPr>
                      <m:t>(</m:t>
                    </m:r>
                    <m:sSubSup>
                      <m:sSubSupPr>
                        <m:ctrlPr>
                          <a:rPr lang="en-US" altLang="zh-CN" i="1" dirty="0">
                            <a:latin typeface="Cambria Math" panose="02040503050406030204" pitchFamily="18" charset="0"/>
                            <a:cs typeface="Cambria Math" panose="02040503050406030204" pitchFamily="18" charset="0"/>
                          </a:rPr>
                        </m:ctrlPr>
                      </m:sSubSupPr>
                      <m:e>
                        <m:r>
                          <a:rPr lang="en-US" altLang="zh-CN" i="1" dirty="0">
                            <a:latin typeface="Cambria Math" panose="02040503050406030204" pitchFamily="18" charset="0"/>
                            <a:cs typeface="Cambria Math" panose="02040503050406030204" pitchFamily="18" charset="0"/>
                          </a:rPr>
                          <m:t>𝑆</m:t>
                        </m:r>
                      </m:e>
                      <m:sub>
                        <m:r>
                          <a:rPr lang="en-US" altLang="zh-CN" i="1" dirty="0">
                            <a:latin typeface="Cambria Math" panose="02040503050406030204" pitchFamily="18" charset="0"/>
                            <a:cs typeface="Cambria Math" panose="02040503050406030204" pitchFamily="18" charset="0"/>
                          </a:rPr>
                          <m:t>3</m:t>
                        </m:r>
                      </m:sub>
                      <m:sup>
                        <m:r>
                          <a:rPr lang="en-US" altLang="zh-CN" i="1" dirty="0">
                            <a:latin typeface="Cambria Math" panose="02040503050406030204" pitchFamily="18" charset="0"/>
                            <a:cs typeface="Cambria Math" panose="02040503050406030204" pitchFamily="18" charset="0"/>
                          </a:rPr>
                          <m:t>𝑡</m:t>
                        </m:r>
                      </m:sup>
                    </m:sSubSup>
                    <m:r>
                      <a:rPr lang="en-US" altLang="zh-CN" dirty="0">
                        <a:latin typeface="Cambria Math" panose="02040503050406030204" pitchFamily="18" charset="0"/>
                      </a:rPr>
                      <m:t>|</m:t>
                    </m:r>
                    <m:sSubSup>
                      <m:sSubSupPr>
                        <m:ctrlPr>
                          <a:rPr lang="en-US" altLang="zh-CN" i="1" dirty="0">
                            <a:latin typeface="Cambria Math" panose="02040503050406030204" pitchFamily="18" charset="0"/>
                            <a:cs typeface="Cambria Math" panose="02040503050406030204" pitchFamily="18" charset="0"/>
                          </a:rPr>
                        </m:ctrlPr>
                      </m:sSubSupPr>
                      <m:e>
                        <m:r>
                          <a:rPr lang="en-US" altLang="zh-CN" i="1" dirty="0">
                            <a:latin typeface="Cambria Math" panose="02040503050406030204" pitchFamily="18" charset="0"/>
                            <a:cs typeface="Cambria Math" panose="02040503050406030204" pitchFamily="18" charset="0"/>
                          </a:rPr>
                          <m:t>𝑃𝑟𝑜𝑚𝑝𝑡</m:t>
                        </m:r>
                      </m:e>
                      <m:sub>
                        <m:r>
                          <a:rPr lang="en-US" altLang="zh-CN" i="1" dirty="0">
                            <a:latin typeface="Cambria Math" panose="02040503050406030204" pitchFamily="18" charset="0"/>
                            <a:cs typeface="Cambria Math" panose="02040503050406030204" pitchFamily="18" charset="0"/>
                          </a:rPr>
                          <m:t>𝑖𝑗</m:t>
                        </m:r>
                      </m:sub>
                      <m:sup>
                        <m:r>
                          <a:rPr lang="en-US" altLang="zh-CN" i="1" dirty="0">
                            <a:latin typeface="Cambria Math" panose="02040503050406030204" pitchFamily="18" charset="0"/>
                            <a:cs typeface="Cambria Math" panose="02040503050406030204" pitchFamily="18" charset="0"/>
                          </a:rPr>
                          <m:t>𝑡</m:t>
                        </m:r>
                      </m:sup>
                    </m:sSubSup>
                    <m:r>
                      <a:rPr lang="en-US" altLang="zh-CN" i="1" dirty="0">
                        <a:latin typeface="Cambria Math" panose="02040503050406030204" pitchFamily="18" charset="0"/>
                        <a:cs typeface="Cambria Math" panose="02040503050406030204" pitchFamily="18" charset="0"/>
                      </a:rPr>
                      <m:t>)</m:t>
                    </m:r>
                  </m:oMath>
                </a14:m>
                <a:r>
                  <a:rPr lang="en-US" altLang="zh-CN" dirty="0"/>
                  <a:t> is the likelihood of observing the score </a:t>
                </a:r>
                <a14:m>
                  <m:oMath xmlns:m="http://schemas.openxmlformats.org/officeDocument/2006/math">
                    <m:sSubSup>
                      <m:sSubSupPr>
                        <m:ctrlPr>
                          <a:rPr lang="en-US" altLang="zh-CN" i="1" dirty="0">
                            <a:latin typeface="Cambria Math" panose="02040503050406030204" pitchFamily="18" charset="0"/>
                            <a:cs typeface="Cambria Math" panose="02040503050406030204" pitchFamily="18" charset="0"/>
                          </a:rPr>
                        </m:ctrlPr>
                      </m:sSubSupPr>
                      <m:e>
                        <m:r>
                          <a:rPr lang="en-US" altLang="zh-CN" i="1" dirty="0">
                            <a:latin typeface="Cambria Math" panose="02040503050406030204" pitchFamily="18" charset="0"/>
                            <a:cs typeface="Cambria Math" panose="02040503050406030204" pitchFamily="18" charset="0"/>
                          </a:rPr>
                          <m:t>𝑆</m:t>
                        </m:r>
                      </m:e>
                      <m:sub>
                        <m:r>
                          <a:rPr lang="en-US" altLang="zh-CN" i="1" dirty="0">
                            <a:latin typeface="Cambria Math" panose="02040503050406030204" pitchFamily="18" charset="0"/>
                            <a:cs typeface="Cambria Math" panose="02040503050406030204" pitchFamily="18" charset="0"/>
                          </a:rPr>
                          <m:t>3</m:t>
                        </m:r>
                      </m:sub>
                      <m:sup>
                        <m:r>
                          <a:rPr lang="en-US" altLang="zh-CN" i="1" dirty="0">
                            <a:latin typeface="Cambria Math" panose="02040503050406030204" pitchFamily="18" charset="0"/>
                            <a:cs typeface="Cambria Math" panose="02040503050406030204" pitchFamily="18" charset="0"/>
                          </a:rPr>
                          <m:t>𝑡</m:t>
                        </m:r>
                      </m:sup>
                    </m:sSubSup>
                  </m:oMath>
                </a14:m>
                <a:r>
                  <a:rPr lang="en-US" altLang="zh-CN" dirty="0"/>
                  <a:t> given that the prompt was formed using Test Case i and Sample Code j.</a:t>
                </a:r>
              </a:p>
              <a:p>
                <a:r>
                  <a:rPr lang="en-US" altLang="zh-CN" dirty="0"/>
                  <a:t>The underlying intuition is to identify and prioritize "teacher-subject" pairs-specific combinations of sample code and test cases that consistently yield high-scoring prompts.</a:t>
                </a:r>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3"/>
                <a:stretch>
                  <a:fillRect l="-870" t="-2521" r="-696"/>
                </a:stretch>
              </a:blipFill>
            </p:spPr>
            <p:txBody>
              <a:bodyPr/>
              <a:lstStyle/>
              <a:p>
                <a:r>
                  <a:rPr lang="zh-CN" altLang="en-US">
                    <a:noFill/>
                  </a:rPr>
                  <a:t> </a:t>
                </a:r>
              </a:p>
            </p:txBody>
          </p:sp>
        </mc:Fallback>
      </mc:AlternateContent>
      <p:pic>
        <p:nvPicPr>
          <p:cNvPr id="5" name="图片 4"/>
          <p:cNvPicPr>
            <a:picLocks noChangeAspect="1"/>
          </p:cNvPicPr>
          <p:nvPr/>
        </p:nvPicPr>
        <p:blipFill>
          <a:blip r:embed="rId4"/>
          <a:stretch>
            <a:fillRect/>
          </a:stretch>
        </p:blipFill>
        <p:spPr>
          <a:xfrm>
            <a:off x="3375025" y="2806700"/>
            <a:ext cx="5441950" cy="54737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Experimental setup</a:t>
            </a:r>
            <a:endParaRPr lang="zh-CN" altLang="en-US" b="1" dirty="0"/>
          </a:p>
        </p:txBody>
      </p:sp>
      <p:sp>
        <p:nvSpPr>
          <p:cNvPr id="3" name="内容占位符 2"/>
          <p:cNvSpPr>
            <a:spLocks noGrp="1"/>
          </p:cNvSpPr>
          <p:nvPr>
            <p:ph idx="1"/>
          </p:nvPr>
        </p:nvSpPr>
        <p:spPr/>
        <p:txBody>
          <a:bodyPr>
            <a:normAutofit fontScale="92500" lnSpcReduction="10000"/>
          </a:bodyPr>
          <a:lstStyle/>
          <a:p>
            <a:r>
              <a:rPr lang="en-US" altLang="zh-CN" b="1" dirty="0"/>
              <a:t>Benchmarks</a:t>
            </a:r>
            <a:r>
              <a:rPr lang="en-US" altLang="zh-CN" dirty="0"/>
              <a:t>: For general code generation: we use </a:t>
            </a:r>
            <a:r>
              <a:rPr lang="en-US" altLang="zh-CN" dirty="0" err="1"/>
              <a:t>HumanEval</a:t>
            </a:r>
            <a:r>
              <a:rPr lang="en-US" altLang="zh-CN" dirty="0"/>
              <a:t>,</a:t>
            </a:r>
          </a:p>
          <a:p>
            <a:pPr marL="0" indent="0">
              <a:buNone/>
            </a:pPr>
            <a:r>
              <a:rPr lang="en-US" altLang="zh-CN" dirty="0"/>
              <a:t> </a:t>
            </a:r>
            <a:r>
              <a:rPr lang="en-US" altLang="zh-CN" dirty="0" err="1"/>
              <a:t>HumanEval</a:t>
            </a:r>
            <a:r>
              <a:rPr lang="en-US" altLang="zh-CN" dirty="0"/>
              <a:t>-ET, MBPP, MBPP-ET, </a:t>
            </a:r>
            <a:r>
              <a:rPr lang="en-US" altLang="zh-CN" dirty="0" err="1"/>
              <a:t>APPS.For</a:t>
            </a:r>
            <a:r>
              <a:rPr lang="en-US" altLang="zh-CN" dirty="0"/>
              <a:t> AI for Science tasks: </a:t>
            </a:r>
            <a:r>
              <a:rPr lang="en-US" altLang="zh-CN" dirty="0" err="1"/>
              <a:t>SciCode</a:t>
            </a:r>
            <a:r>
              <a:rPr lang="en-US" altLang="zh-CN" dirty="0"/>
              <a:t>, </a:t>
            </a:r>
          </a:p>
          <a:p>
            <a:pPr marL="0" indent="0">
              <a:buNone/>
            </a:pPr>
            <a:r>
              <a:rPr lang="en-US" altLang="zh-CN" dirty="0" err="1"/>
              <a:t>ScienceAgentBench</a:t>
            </a:r>
            <a:endParaRPr lang="en-US" altLang="zh-CN" dirty="0"/>
          </a:p>
          <a:p>
            <a:r>
              <a:rPr lang="en-US" altLang="zh-CN" b="1" dirty="0"/>
              <a:t>Base Models</a:t>
            </a:r>
            <a:r>
              <a:rPr lang="en-US" altLang="zh-CN" dirty="0"/>
              <a:t>: model-agnostic</a:t>
            </a:r>
          </a:p>
          <a:p>
            <a:r>
              <a:rPr lang="en-US" altLang="zh-CN" b="1" dirty="0"/>
              <a:t>Compared Methods</a:t>
            </a:r>
            <a:r>
              <a:rPr lang="en-US" altLang="zh-CN" dirty="0"/>
              <a:t>: Few-Shot prompting, Chain-of-Thought (</a:t>
            </a:r>
            <a:r>
              <a:rPr lang="en-US" altLang="zh-CN" dirty="0" err="1"/>
              <a:t>CoT</a:t>
            </a:r>
            <a:r>
              <a:rPr lang="en-US" altLang="zh-CN" dirty="0"/>
              <a:t>), other prominent agent-based systems</a:t>
            </a:r>
          </a:p>
          <a:p>
            <a:r>
              <a:rPr lang="en-US" altLang="zh-CN" b="1" dirty="0"/>
              <a:t>Evaluation Metrics</a:t>
            </a:r>
            <a:r>
              <a:rPr lang="en-US" altLang="zh-CN" dirty="0"/>
              <a:t>: </a:t>
            </a:r>
            <a:r>
              <a:rPr lang="en-US" altLang="zh-CN" dirty="0" err="1"/>
              <a:t>pass@k</a:t>
            </a:r>
            <a:endParaRPr lang="en-US" altLang="zh-CN" dirty="0"/>
          </a:p>
          <a:p>
            <a:r>
              <a:rPr lang="en-US" altLang="zh-CN" b="1" dirty="0"/>
              <a:t>Parameter Setting</a:t>
            </a:r>
            <a:r>
              <a:rPr lang="en-US" altLang="zh-CN" dirty="0"/>
              <a:t>: The number of initial test cases was set to 15. The number of distinct code snippets generated in each round was 20. The number of codes chosen by acquisition function for further evaluation was set to 5.</a:t>
            </a:r>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Results</a:t>
            </a:r>
            <a:endParaRPr lang="zh-CN" altLang="en-US" b="1" dirty="0"/>
          </a:p>
        </p:txBody>
      </p:sp>
      <p:sp>
        <p:nvSpPr>
          <p:cNvPr id="3" name="内容占位符 2"/>
          <p:cNvSpPr>
            <a:spLocks noGrp="1"/>
          </p:cNvSpPr>
          <p:nvPr>
            <p:ph idx="1"/>
          </p:nvPr>
        </p:nvSpPr>
        <p:spPr/>
        <p:txBody>
          <a:bodyPr/>
          <a:lstStyle/>
          <a:p>
            <a:r>
              <a:rPr lang="en-US" altLang="zh-CN" dirty="0"/>
              <a:t>1</a:t>
            </a:r>
          </a:p>
          <a:p>
            <a:endParaRPr lang="en-US" altLang="zh-CN" dirty="0"/>
          </a:p>
          <a:p>
            <a:pPr marL="0" indent="0">
              <a:buNone/>
            </a:pPr>
            <a:endParaRPr lang="en-US" altLang="zh-CN" dirty="0"/>
          </a:p>
          <a:p>
            <a:r>
              <a:rPr lang="en-US" altLang="zh-CN" dirty="0"/>
              <a:t>Valid Execution Rate (VER), Success Rate (SR), Code-Based Score (CBS)</a:t>
            </a:r>
            <a:endParaRPr lang="zh-CN" altLang="en-US" dirty="0"/>
          </a:p>
        </p:txBody>
      </p:sp>
      <p:pic>
        <p:nvPicPr>
          <p:cNvPr id="5" name="图片 4"/>
          <p:cNvPicPr>
            <a:picLocks noChangeAspect="1"/>
          </p:cNvPicPr>
          <p:nvPr/>
        </p:nvPicPr>
        <p:blipFill>
          <a:blip r:embed="rId3"/>
          <a:stretch>
            <a:fillRect/>
          </a:stretch>
        </p:blipFill>
        <p:spPr>
          <a:xfrm>
            <a:off x="2722184" y="444307"/>
            <a:ext cx="8926171" cy="2762636"/>
          </a:xfrm>
          <a:prstGeom prst="rect">
            <a:avLst/>
          </a:prstGeom>
        </p:spPr>
      </p:pic>
      <p:pic>
        <p:nvPicPr>
          <p:cNvPr id="7" name="图片 6"/>
          <p:cNvPicPr>
            <a:picLocks noChangeAspect="1"/>
          </p:cNvPicPr>
          <p:nvPr/>
        </p:nvPicPr>
        <p:blipFill>
          <a:blip r:embed="rId4"/>
          <a:stretch>
            <a:fillRect/>
          </a:stretch>
        </p:blipFill>
        <p:spPr>
          <a:xfrm>
            <a:off x="1632914" y="4216066"/>
            <a:ext cx="8926171" cy="23911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Results</a:t>
            </a:r>
            <a:endParaRPr lang="zh-CN" altLang="en-US" b="1" dirty="0"/>
          </a:p>
        </p:txBody>
      </p:sp>
      <p:sp>
        <p:nvSpPr>
          <p:cNvPr id="3" name="内容占位符 2"/>
          <p:cNvSpPr>
            <a:spLocks noGrp="1"/>
          </p:cNvSpPr>
          <p:nvPr>
            <p:ph idx="1"/>
          </p:nvPr>
        </p:nvSpPr>
        <p:spPr/>
        <p:txBody>
          <a:bodyPr/>
          <a:lstStyle/>
          <a:p>
            <a:pPr marL="0" indent="457200">
              <a:buNone/>
            </a:pPr>
            <a:r>
              <a:rPr lang="en-US" altLang="zh-CN" dirty="0"/>
              <a:t>Adversarial Test Cases (ATC)</a:t>
            </a:r>
          </a:p>
        </p:txBody>
      </p:sp>
      <p:pic>
        <p:nvPicPr>
          <p:cNvPr id="9" name="图片 8"/>
          <p:cNvPicPr>
            <a:picLocks noChangeAspect="1"/>
          </p:cNvPicPr>
          <p:nvPr/>
        </p:nvPicPr>
        <p:blipFill>
          <a:blip r:embed="rId3"/>
          <a:stretch>
            <a:fillRect/>
          </a:stretch>
        </p:blipFill>
        <p:spPr>
          <a:xfrm>
            <a:off x="1522428" y="2396721"/>
            <a:ext cx="8869013" cy="35152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Results</a:t>
            </a:r>
            <a:endParaRPr lang="zh-CN" altLang="en-US" b="1" dirty="0"/>
          </a:p>
        </p:txBody>
      </p:sp>
      <p:sp>
        <p:nvSpPr>
          <p:cNvPr id="3" name="内容占位符 2"/>
          <p:cNvSpPr>
            <a:spLocks noGrp="1"/>
          </p:cNvSpPr>
          <p:nvPr>
            <p:ph idx="1"/>
          </p:nvPr>
        </p:nvSpPr>
        <p:spPr/>
        <p:txBody>
          <a:bodyPr/>
          <a:lstStyle/>
          <a:p>
            <a:pPr marL="0" indent="0">
              <a:buNone/>
            </a:pPr>
            <a:endParaRPr lang="zh-CN" altLang="en-US" dirty="0"/>
          </a:p>
        </p:txBody>
      </p:sp>
      <p:pic>
        <p:nvPicPr>
          <p:cNvPr id="5" name="图片 4"/>
          <p:cNvPicPr>
            <a:picLocks noChangeAspect="1"/>
          </p:cNvPicPr>
          <p:nvPr/>
        </p:nvPicPr>
        <p:blipFill>
          <a:blip r:embed="rId3"/>
          <a:stretch>
            <a:fillRect/>
          </a:stretch>
        </p:blipFill>
        <p:spPr>
          <a:xfrm>
            <a:off x="1761178" y="2530152"/>
            <a:ext cx="8668960" cy="23530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199" y="365125"/>
            <a:ext cx="10636625" cy="5937063"/>
          </a:xfrm>
        </p:spPr>
        <p:txBody>
          <a:bodyPr>
            <a:normAutofit/>
          </a:bodyPr>
          <a:lstStyle/>
          <a:p>
            <a:pPr algn="ctr"/>
            <a:r>
              <a:rPr lang="en-US" altLang="zh-CN" sz="5400" b="1" dirty="0"/>
              <a:t>Thank you for listening!</a:t>
            </a:r>
            <a:endParaRPr lang="zh-CN" altLang="en-US" sz="5400" b="1" dirty="0"/>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771</Words>
  <Application>Microsoft Office PowerPoint</Application>
  <PresentationFormat>宽屏</PresentationFormat>
  <Paragraphs>86</Paragraphs>
  <Slides>16</Slides>
  <Notes>16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16</vt:i4>
      </vt:variant>
    </vt:vector>
  </HeadingPairs>
  <TitlesOfParts>
    <vt:vector size="21" baseType="lpstr">
      <vt:lpstr>等线</vt:lpstr>
      <vt:lpstr>等线 Light</vt:lpstr>
      <vt:lpstr>Arial</vt:lpstr>
      <vt:lpstr>Cambria Math</vt:lpstr>
      <vt:lpstr>Office 主题​​</vt:lpstr>
      <vt:lpstr>PowerPoint 演示文稿</vt:lpstr>
      <vt:lpstr>Background</vt:lpstr>
      <vt:lpstr>Contributions</vt:lpstr>
      <vt:lpstr>Overview</vt:lpstr>
      <vt:lpstr>TM agent and SG agent</vt:lpstr>
      <vt:lpstr>Adversarial interaction</vt:lpstr>
      <vt:lpstr>Evaluator agent</vt:lpstr>
      <vt:lpstr>Algorithm</vt:lpstr>
      <vt:lpstr>Bayesian optimization</vt:lpstr>
      <vt:lpstr>Bayesian optimization</vt:lpstr>
      <vt:lpstr>Bayesian prompt updates</vt:lpstr>
      <vt:lpstr>Experimental setup</vt:lpstr>
      <vt:lpstr>Results</vt:lpstr>
      <vt:lpstr>Results</vt:lpstr>
      <vt:lpstr>Results</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凯文 王</dc:creator>
  <cp:lastModifiedBy>凯文 王</cp:lastModifiedBy>
  <cp:revision>11</cp:revision>
  <dcterms:created xsi:type="dcterms:W3CDTF">2026-03-02T03:40:00Z</dcterms:created>
  <dcterms:modified xsi:type="dcterms:W3CDTF">2026-03-08T12:04:54Z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2284E5EF24FF4774B3C7EC9B7541B54A_12</vt:lpwstr>
  </property>
</Properties>
</file>