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9" r:id="rId4"/>
    <p:sldId id="260" r:id="rId6"/>
    <p:sldId id="258" r:id="rId7"/>
    <p:sldId id="261" r:id="rId8"/>
    <p:sldId id="276" r:id="rId9"/>
    <p:sldId id="277" r:id="rId10"/>
    <p:sldId id="278" r:id="rId11"/>
    <p:sldId id="279" r:id="rId12"/>
    <p:sldId id="280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/>
          </p:nvPr>
        </p:nvSpPr>
        <p:spPr>
          <a:xfrm>
            <a:off x="987425" y="3201988"/>
            <a:ext cx="7897813" cy="3033712"/>
          </a:xfrm>
        </p:spPr>
        <p:txBody>
          <a:bodyPr wrap="square" lIns="90553" tIns="45277" rIns="90553" bIns="45277" anchor="t" anchorCtr="0"/>
          <a:lstStyle/>
          <a:p>
            <a:pPr lvl="0" defTabSz="91440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5591175" y="6402388"/>
            <a:ext cx="4276725" cy="336550"/>
          </a:xfrm>
          <a:prstGeom prst="rect">
            <a:avLst/>
          </a:prstGeom>
          <a:noFill/>
          <a:ln w="9525">
            <a:noFill/>
          </a:ln>
        </p:spPr>
        <p:txBody>
          <a:bodyPr lIns="90553" tIns="45277" rIns="90553" bIns="45277"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6687" y="740411"/>
            <a:ext cx="10515600" cy="1325033"/>
          </a:xfrm>
        </p:spPr>
        <p:txBody>
          <a:bodyPr>
            <a:normAutofit fontScale="90000"/>
          </a:bodyPr>
          <a:p>
            <a:pPr marL="0" indent="0" algn="ctr" latinLnBrk="0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GFM-RAG: Graph Foundation Model for Retrieval</a:t>
            </a:r>
            <a:b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Augmented Generation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1342390" y="2526030"/>
            <a:ext cx="9610725" cy="1056640"/>
          </a:xfrm>
          <a:prstGeom prst="rect">
            <a:avLst/>
          </a:prstGeom>
          <a:noFill/>
          <a:ln w="9525">
            <a:noFill/>
          </a:ln>
        </p:spPr>
        <p:txBody>
          <a:bodyPr lIns="77925" tIns="38963" rIns="77925" bIns="38963"/>
          <a:lstStyle>
            <a:lvl1pPr marL="157480" indent="-157480" algn="l" defTabSz="631825" rtl="0" eaLnBrk="0" fontAlgn="base" hangingPunct="0">
              <a:lnSpc>
                <a:spcPct val="90000"/>
              </a:lnSpc>
              <a:spcBef>
                <a:spcPts val="69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9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1pPr>
            <a:lvl2pPr marL="474980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2pPr>
            <a:lvl3pPr marL="79057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3pPr>
            <a:lvl4pPr marL="11068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4pPr>
            <a:lvl5pPr marL="1424305" indent="-157480" algn="l" defTabSz="631825" rtl="0" eaLnBrk="0" fontAlgn="base" hangingPunct="0">
              <a:lnSpc>
                <a:spcPct val="90000"/>
              </a:lnSpc>
              <a:spcBef>
                <a:spcPts val="34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等线" panose="02010600030101010101" charset="-122"/>
              </a:defRPr>
            </a:lvl5pPr>
            <a:lvl6pPr marL="174117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6pPr>
            <a:lvl7pPr marL="205740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7pPr>
            <a:lvl8pPr marL="2374265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8pPr>
            <a:lvl9pPr marL="2691130" indent="-158115" algn="l" defTabSz="633095" rtl="0" eaLnBrk="1" latinLnBrk="0" hangingPunct="1">
              <a:lnSpc>
                <a:spcPct val="90000"/>
              </a:lnSpc>
              <a:spcBef>
                <a:spcPts val="345"/>
              </a:spcBef>
              <a:buFont typeface="Arial" panose="020B0604020202020204" pitchFamily="34" charset="0"/>
              <a:buChar char="•"/>
              <a:defRPr sz="1200" kern="1200">
                <a:solidFill>
                  <a:sysClr val="windowText" lastClr="000000"/>
                </a:solidFill>
                <a:latin typeface="等线" panose="02010600030101010101" charset="-122"/>
                <a:ea typeface="+mn-ea"/>
                <a:cs typeface="+mn-ea"/>
              </a:defRPr>
            </a:lvl9pPr>
          </a:lstStyle>
          <a:p>
            <a:pPr marL="0" indent="0" algn="just" latinLnBrk="0">
              <a:lnSpc>
                <a:spcPts val="2000"/>
              </a:lnSpc>
              <a:spcBef>
                <a:spcPts val="0"/>
              </a:spcBef>
              <a:buNone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Linhao Luo, Zicheng Zhao, Gholamreza Haffari, Chen Gong, Dinh Phung, Shirui Pan Monash University, Nanjing University of Science and Technology,Shanghai Jiao Tong University, Griffith University, 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latinLnBrk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11 D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ec 2025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Related</a:t>
            </a: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 work &amp; Limitations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/>
          <p:cNvSpPr>
            <a:spLocks noGrp="1"/>
          </p:cNvSpPr>
          <p:nvPr/>
        </p:nvSpPr>
        <p:spPr>
          <a:xfrm>
            <a:off x="239607" y="3141133"/>
            <a:ext cx="11203940" cy="1325033"/>
          </a:xfrm>
          <a:prstGeom prst="rect">
            <a:avLst/>
          </a:prstGeom>
          <a:noFill/>
          <a:ln w="9525">
            <a:noFill/>
          </a:ln>
        </p:spPr>
        <p:txBody>
          <a:bodyPr lIns="103900" tIns="51950" rIns="103900" bIns="51950" anchor="ctr" anchorCtr="0"/>
          <a:lstStyle>
            <a:lvl1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+mj-lt"/>
                <a:ea typeface="+mj-ea"/>
                <a:cs typeface="等线 Light" panose="02010600030101010101" pitchFamily="2" charset="-122"/>
              </a:defRPr>
            </a:lvl1pPr>
            <a:lvl2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2pPr>
            <a:lvl3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3pPr>
            <a:lvl4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4pPr>
            <a:lvl5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5pPr>
            <a:lvl6pPr marL="389890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6pPr>
            <a:lvl7pPr marL="779145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7pPr>
            <a:lvl8pPr marL="1169035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8pPr>
            <a:lvl9pPr marL="1558290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9pPr>
          </a:lstStyle>
          <a:p>
            <a:pPr marL="0" indent="0" algn="just" latinLnBrk="0"/>
            <a:endParaRPr lang="en-US" altLang="zh-CN" sz="2135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1470" y="1290955"/>
            <a:ext cx="10617835" cy="590042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spcAft>
                <a:spcPct val="600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RAG (Retrieval-Augmented Generation)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Representative: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Dense Retrieval (e.g., Contriever), Multi-step RAG (e.g., IRCOT)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Retrieves documents based on vector similarity or iterative LLM reasoning.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Structure: Struggles to capture complex, multi-hop relationships between documents.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High Cost: Multi-step reasoning is computationally expensive.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ct val="60000"/>
              </a:spcAft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Graph-Enhanced RAG (GraphRAG)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 LightRAG, HippoRAG, G-retriever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Uses Knowledge Graphs (KGs) or GNNs to model explicit relationships for retrieval.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Noise Sensitivity: Performance suffers from noisy or incomplete graph structures.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Generalizability: GNN models usually require training from scratch on specific datasets.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ct val="60000"/>
              </a:spcAft>
            </a:pP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Related Work &amp; Limitations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86690" y="1946910"/>
            <a:ext cx="9594215" cy="2489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Aft>
                <a:spcPct val="60000"/>
              </a:spcAft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Graph Foundation Models (GFM)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Representative: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ULTRA, OpenGraph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Method: 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Pre-trained large-scale models that generalize across different graphs.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Limitation: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just">
              <a:spcAft>
                <a:spcPct val="60000"/>
              </a:spcAft>
              <a:buSzPct val="50000"/>
              <a:buFont typeface="Wingdings" panose="05000000000000000000" charset="0"/>
              <a:buChar char="l"/>
            </a:pP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Task Mismatch: Primarily designed for link prediction/classification, not optimized for LLM reasoning.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Contribution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1"/>
          <p:cNvSpPr>
            <a:spLocks noGrp="1"/>
          </p:cNvSpPr>
          <p:nvPr/>
        </p:nvSpPr>
        <p:spPr>
          <a:xfrm>
            <a:off x="299720" y="1569085"/>
            <a:ext cx="10268585" cy="4316730"/>
          </a:xfrm>
          <a:prstGeom prst="rect">
            <a:avLst/>
          </a:prstGeom>
          <a:noFill/>
          <a:ln w="9525">
            <a:noFill/>
          </a:ln>
        </p:spPr>
        <p:txBody>
          <a:bodyPr lIns="103900" tIns="51950" rIns="103900" bIns="51950" anchor="ctr" anchorCtr="0"/>
          <a:lstStyle>
            <a:lvl1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+mj-lt"/>
                <a:ea typeface="+mj-ea"/>
                <a:cs typeface="等线 Light" panose="02010600030101010101" pitchFamily="2" charset="-122"/>
              </a:defRPr>
            </a:lvl1pPr>
            <a:lvl2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2pPr>
            <a:lvl3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3pPr>
            <a:lvl4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4pPr>
            <a:lvl5pPr algn="l" defTabSz="631825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5pPr>
            <a:lvl6pPr marL="389890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6pPr>
            <a:lvl7pPr marL="779145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7pPr>
            <a:lvl8pPr marL="1169035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8pPr>
            <a:lvl9pPr marL="1558290" algn="l" defTabSz="633095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等线 Light" panose="02010600030101010101" pitchFamily="2" charset="-122"/>
                <a:ea typeface="等线 Light" panose="02010600030101010101" pitchFamily="2" charset="-122"/>
                <a:cs typeface="等线 Light" panose="02010600030101010101" pitchFamily="2" charset="-122"/>
              </a:defRPr>
            </a:lvl9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We introduce a graph foundation model for retrieval augmented generation (GFM-RAG), powered by a novel query-dependent GNN to enable efficient multi-hop retrieval within a single step.</a:t>
            </a:r>
            <a:endParaRPr lang="en-US" altLang="zh-CN" sz="1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1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We train a large-scale model with 8M parameters, marking the first graph foundation model (GFM) that can be applied directly to various unseen datasets for retrieval augmented generation.</a:t>
            </a:r>
            <a:endParaRPr lang="en-US" altLang="zh-CN" sz="1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 sz="1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b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 GFM-RAG on three multi-hop QA datasets and seven domain-specific RAG datasets, achieving state-of-the-art performance across all, demonstrating its effectiveness, efficiency, generalizability, and potential as a foundational model for further enhancement.</a:t>
            </a:r>
            <a:endParaRPr lang="en-US" altLang="zh-CN" sz="1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29055" y="4988560"/>
            <a:ext cx="9534525" cy="11988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Overall Framework: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Consists of three stages: KG-Index Construction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, GFM Retrieval, and Answer Generation.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indent="0">
              <a:spcBef>
                <a:spcPct val="0"/>
              </a:spcBef>
              <a:buFont typeface="Arial" panose="020B0604020202020204"/>
              <a:buNone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Pipeline: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Documents → Knowledge Graph 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  <a:sym typeface="+mn-ea"/>
              </a:rPr>
              <a:t>→ 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GFM Reasoning 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  <a:sym typeface="+mn-ea"/>
              </a:rPr>
              <a:t>→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Ranked Documents 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  <a:sym typeface="+mn-ea"/>
              </a:rPr>
              <a:t>→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LLM Answer.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3120" y="4926965"/>
            <a:ext cx="10814050" cy="17532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KG-Index Construction: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Extraction: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Uses OpenIE (via LLM) to extract entities and relations from documents,build inverted indexes for entities and documents.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Entity Resolution: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Merges semantically similar entities (e.g., "USA" and "United States") using dense embeddings to improve connectivity.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Result: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Creates a structured index bridging unstructured documents, enabling global context access.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3120" y="4794250"/>
            <a:ext cx="11123295" cy="20300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Query-dependent GNN: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Initialization: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The query is embedded and used to initialize specific "anchor nodes" in the graph. Other nodes start as zero.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Message Passing: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Information propagates from query nodes to neighbors based on relation semantics (e.g., "born_in" implies location).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Mechanism: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Performs Multi-hop Reasoning in a single forward pass, dynamically adjusting attention based on the user's specific question.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3120" y="5048250"/>
            <a:ext cx="11123295" cy="11988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Retrieval &amp; Ranking: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Output: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Generates relevance scores for all entities in the graph.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Doc Selection: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Maps top-scored entities back to documents via the Inverted Index to select the Top-K supporting documents.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3120" y="5048250"/>
            <a:ext cx="11123295" cy="11988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Self-supervised KG Completion (Pre-training)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Task: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Randomly mask entities in triples (e.g., (Obama, born_in, ?)) and ask the model to predict the missing link.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Goal: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Learn general graph reasoning patterns and logical structures from large-scale data (14M triples).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Result: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Universal graph understanding capability independent of specific domains.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Proposed Method: GFM-RAG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8800" y="1388110"/>
            <a:ext cx="5993765" cy="34061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3120" y="5048250"/>
            <a:ext cx="11123295" cy="1476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Supervised Document Retrieval (Fine-tuning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)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Task: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Optimize the model to identify target entities (mapped from ground-truth documents) as high-relevance nodes given a natural language question.</a:t>
            </a:r>
            <a:endParaRPr lang="en-US" altLang="zh-CN" b="1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Goal: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Align the graph reasoning capability with natural language understanding.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Result:</a:t>
            </a:r>
            <a:r>
              <a:rPr lang="en-US" altLang="zh-CN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 A robust retriever that generalizes to unseen datasets (Zero-shot).</a:t>
            </a:r>
            <a:endParaRPr lang="en-US" altLang="zh-CN">
              <a:latin typeface="Times New Roman" panose="02020603050405020304" pitchFamily="18" charset="0"/>
              <a:ea typeface="Google Sans Text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Retrieval Performance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217295" y="5279390"/>
            <a:ext cx="9738995" cy="147637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Performance: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GFM-RAG achieves the best performance across all three datasets, outperforming the previous SOTA (IRCoT + HippoRAG) by significant margins (e.g., +16.8% on HotpotQA).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Superiority over Multi-step Methods: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Remarkably, the single-step GFM-RAG surpasses computationally expensive multi-step methods like IRCoT, proving its efficient reasoning capability.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97250" y="129063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Table1:Retrieval performance comparison.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725" y="1659255"/>
            <a:ext cx="5297805" cy="349821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Question Answering Performance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167380" y="133953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Table2:Question answering performance comparison.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82090" y="4787900"/>
            <a:ext cx="838009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QA Performance: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Single-step GFM-RAG outperforms all baselines across three datasets, achieving state-of-the-art results in exact match (EM) and F1 scores.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Excellent Compatibility: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Integrating GFM-RAG with the IRCoT framework further boosts performance, demonstrating its effectiveness as a flexible foundation model.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870" y="1740535"/>
            <a:ext cx="6824345" cy="28562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Efficiency Analysis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300095" y="1445895"/>
            <a:ext cx="567944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Table3:Retrieval efficiency and performance comparison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037715" y="4523740"/>
            <a:ext cx="7630160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Reasoning at Speed: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GFM-RAG conducts complex multi-hop reasoning within a single step, making it significantly faster (e.g., ~30x faster on HotpotQA) than multi-step methods like IRCoT. 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Best Efficiency-Performance Balance: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It achieves state-of-the-art retrieval accuracy (highest R@5) with low latency comparable to standard single-step retrievers.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6955" y="1814195"/>
            <a:ext cx="7219950" cy="271018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Model Generalizability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7470" y="1615440"/>
            <a:ext cx="4152900" cy="33432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887470" y="129063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Figure3:Model generalizability comparison.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89200" y="5100320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Strong Zero-shot Generalizability: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GFM-RAG achieves state-of-the-art performance across 7 unseen domain datasets (e.g., Medical, Tech) without any fine-tuning, validating its robust transferability.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Model Neural Scaling Law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0955" y="1696720"/>
            <a:ext cx="4555490" cy="34982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85515" y="131476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Figure4:Neural scaling law of GFM-RAG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45360" y="5283200"/>
            <a:ext cx="770064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Scalability: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The model follows neural scaling laws, where performance improves linearly with the power of data size and parameters, indicating significant potential for future scaling.</a:t>
            </a:r>
            <a:endParaRPr lang="en-US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86613" y="119016"/>
            <a:ext cx="2693670" cy="912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Outline</a:t>
            </a:r>
            <a:endParaRPr kumimoji="0" lang="zh-CN" altLang="en-US" sz="533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953" y="229077"/>
            <a:ext cx="11265647" cy="7480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65" b="1" dirty="0">
                <a:solidFill>
                  <a:srgbClr val="00489A"/>
                </a:solidFill>
                <a:latin typeface="微软雅黑" panose="020B0503020204020204" charset="-122"/>
                <a:ea typeface="微软雅黑" panose="020B0503020204020204" charset="-122"/>
                <a:sym typeface="Source Han Serif SC" panose="02020400000000000000" pitchFamily="18" charset="-122"/>
              </a:rPr>
              <a:t>Path Interpretations</a:t>
            </a:r>
            <a:endParaRPr lang="en-US" altLang="zh-CN" sz="4265" b="1" dirty="0">
              <a:solidFill>
                <a:srgbClr val="00489A"/>
              </a:solidFill>
              <a:latin typeface="微软雅黑" panose="020B0503020204020204" charset="-122"/>
              <a:ea typeface="微软雅黑" panose="020B0503020204020204" charset="-122"/>
              <a:sym typeface="Source Han Serif SC" panose="02020400000000000000" pitchFamily="18" charset="-122"/>
            </a:endParaRPr>
          </a:p>
        </p:txBody>
      </p:sp>
      <p:cxnSp>
        <p:nvCxnSpPr>
          <p:cNvPr id="11" name="直接连接符 34"/>
          <p:cNvCxnSpPr/>
          <p:nvPr/>
        </p:nvCxnSpPr>
        <p:spPr>
          <a:xfrm>
            <a:off x="1052389" y="1134291"/>
            <a:ext cx="11139611" cy="0"/>
          </a:xfrm>
          <a:prstGeom prst="line">
            <a:avLst/>
          </a:prstGeom>
          <a:ln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-12483" y="1134291"/>
            <a:ext cx="1064872" cy="0"/>
          </a:xfrm>
          <a:prstGeom prst="line">
            <a:avLst/>
          </a:prstGeom>
          <a:ln w="57150">
            <a:solidFill>
              <a:srgbClr val="0548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045" y="2005965"/>
            <a:ext cx="5925820" cy="336105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677795" y="1290955"/>
                <a:ext cx="6836410" cy="655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just"/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Table 4: Path interpretations of GFM for multi-hop reasoning,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denotes the inverse of original relation.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795" y="1290955"/>
                <a:ext cx="6836410" cy="6553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234440" y="5583555"/>
            <a:ext cx="951103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ea typeface="Google Sans Text"/>
                <a:cs typeface="Times New Roman" panose="02020603050405020304" pitchFamily="18" charset="0"/>
              </a:rPr>
              <a:t>Explicit Reasoning Paths: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It visualizes how GFM-RAG successfully traces multi-hop logical chains (e.g., Song → Singer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→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Club) to answer complex queries.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</a:pPr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Interpretability: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Unlike black-box models, it provides readable reasoning paths with importance scores, explaining why a specific answer was retrieved.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6343</Words>
  <Application>WPS 演示</Application>
  <PresentationFormat>宽屏</PresentationFormat>
  <Paragraphs>152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Wingdings</vt:lpstr>
      <vt:lpstr>Times New Roman</vt:lpstr>
      <vt:lpstr>等线</vt:lpstr>
      <vt:lpstr>微软雅黑</vt:lpstr>
      <vt:lpstr>Source Han Serif SC</vt:lpstr>
      <vt:lpstr>等线 Light</vt:lpstr>
      <vt:lpstr>Google Sans Text</vt:lpstr>
      <vt:lpstr>Arial</vt:lpstr>
      <vt:lpstr>Cambria Math</vt:lpstr>
      <vt:lpstr>ESRI AMFM Electric</vt:lpstr>
      <vt:lpstr>Arial Unicode MS</vt:lpstr>
      <vt:lpstr>Calibri</vt:lpstr>
      <vt:lpstr>WPS</vt:lpstr>
      <vt:lpstr>GFM-RAG: Graph Foundation Model for Retrieval Augmented Generation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墨染</cp:lastModifiedBy>
  <cp:revision>160</cp:revision>
  <dcterms:created xsi:type="dcterms:W3CDTF">2019-06-19T02:08:00Z</dcterms:created>
  <dcterms:modified xsi:type="dcterms:W3CDTF">2026-01-18T13:04:31Z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2337689CF1744FFD9C0837B984B039EC_13</vt:lpwstr>
  </property>
</Properties>
</file>