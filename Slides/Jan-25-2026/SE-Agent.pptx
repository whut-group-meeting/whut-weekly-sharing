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9" r:id="rId12"/>
    <p:sldId id="270" r:id="rId13"/>
    <p:sldId id="267" r:id="rId14"/>
    <p:sldId id="271" r:id="rId15"/>
    <p:sldId id="272" r:id="rId16"/>
    <p:sldId id="273" r:id="rId17"/>
    <p:sldId id="274" r:id="rId18"/>
    <p:sldId id="26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74" autoAdjust="0"/>
    <p:restoredTop sz="94660"/>
  </p:normalViewPr>
  <p:slideViewPr>
    <p:cSldViewPr snapToGrid="0">
      <p:cViewPr>
        <p:scale>
          <a:sx n="60" d="100"/>
          <a:sy n="60" d="100"/>
        </p:scale>
        <p:origin x="48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9391E-AB4D-9B06-B6D8-43A520628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0F46CE-C07E-10A6-BC4A-C98A69A35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57381E-1A18-E878-FC69-96099AC12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C3781-1F4A-F6F3-8CF2-6E3AE7E1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DDA70-4671-BA0B-93AF-401D19BB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621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5D849-24F3-F550-83B9-F14E6849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6AECD-5A94-BA52-377F-EC17D6FB5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1E5B5-E456-4A00-6D56-70B737F6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DDBBC4-6831-E8D9-F403-B1D5AF2B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BBDA5-2CA9-0CA6-6985-DD96483B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85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CFC01-943A-108F-3F6F-30A5AA9F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6A6ED2-7AAA-82FA-6EAE-6AAD41BE6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FB0E9-4057-201D-93A1-DEE6A049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544B2C-7D96-583C-53BC-68B8F2DC1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055A91-FD99-27D4-4E66-C893E26B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5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F4FA5-F068-F4C7-F1A2-DEE959E86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F7A57-19BC-38C9-3468-66E0CBD48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6D7427-B739-C2E9-AFE7-58B9FD19D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6C3884-ABCD-0CD7-E379-29AEF188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A80D0F-9DF3-F295-602E-ADDE3D3D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DDFE18-D778-6627-525D-6F8F0776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9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52C52-9973-65DF-2AD0-23B31493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0EDC24-04A6-1113-45FB-F9E77EC48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B65401-9647-6F3F-5783-35D04B240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76CBC6-8C3D-1CE4-1341-741B420F6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9A5BD8-6C70-D94C-0F71-3C4290990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62A528-B595-9FD2-C4D6-3D4FB96A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F9C26E-5CB5-F28B-6DC0-329F41CB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5E30A2-F92C-C23A-0008-4B55B9E8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25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E6D23-881D-7B22-6391-FCBA8392F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EAA76B-6A37-81FA-B530-CE408642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03F50C-A91D-A61C-FECD-748EB5F1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204683-1287-229D-854B-1E3D2AEC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155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F4F741-E8F4-CCFF-6266-D772BE8F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3DDAC3-197F-E21A-001B-554453D68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5F27A-4625-9279-32BA-6A099B24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27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16D0D-ABE8-A3B5-FDD3-57486D8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C09CDF-560C-7113-55AD-24F4394E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BE655E-0767-3059-5E85-080880AFE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AFA7E7-6CD1-363C-E6BF-50CE3D56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6B2D69-C8CA-AC69-8AE2-F885BB5BA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4C4CBC-C202-9726-ED9D-48253E8A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36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72B93-DF6A-F337-C225-8C78640B0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3B2A00-395C-F282-2F59-BE0D5BD0F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A03768-2234-37CF-02CE-AF1C90EEE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17117-7E67-066B-88A8-72388B13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BE571E-5E0D-9D71-24AA-91778434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D5DEB-66A1-675C-5EE4-42D23C69E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74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EC4CD-3218-DCB0-4AA1-AA72430B0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D243C4-7243-D007-A1A0-D4FB5A0FB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7DD504-3065-B719-A167-DD327BC5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1F5A42-F3C4-17C4-5686-6E2FA69A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FE515B-A34F-AAE2-D6CE-87AEC17A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5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0165B5-91C0-3AA8-48D6-017699951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D6655C-AF78-4227-D99B-0823E48E9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8B2B5-3F45-D1D5-6EFB-96B8A473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B4D1CC-8862-95ED-1752-D903CD47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F74643-68F5-A923-4DE5-8D18DA21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7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9D335A-3DB9-ED81-B0C3-3CBC823D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F2A20C-4AF6-6CF3-576A-76D834525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89CB09-9187-4869-5B91-EEAB87DAC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285EE-CE55-4CD6-8C25-608ADE0148B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D5DC26-06C2-83D8-946B-2700C3BE0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C095E0-6EEC-76DC-1694-F7293F4CB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1C77C-B969-4DC4-A03A-D85A634EC2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57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8F40A-7DA1-72C9-D7C7-EF94F1BB4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3600" y="1214438"/>
            <a:ext cx="10464800" cy="238760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SE-Agent: Self-Evolution Trajectory Optimization in Multi-Step Reasoning with LLM-Based Agents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E17351-1A80-C466-25C0-F0A35F72A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15271"/>
          </a:xfrm>
        </p:spPr>
        <p:txBody>
          <a:bodyPr>
            <a:normAutofit/>
          </a:bodyPr>
          <a:lstStyle/>
          <a:p>
            <a:r>
              <a:rPr lang="en-US" altLang="zh-CN" dirty="0"/>
              <a:t>Yifu Guo, </a:t>
            </a:r>
            <a:r>
              <a:rPr lang="en-US" altLang="zh-CN" dirty="0" err="1"/>
              <a:t>Jiaye</a:t>
            </a:r>
            <a:r>
              <a:rPr lang="en-US" altLang="zh-CN" dirty="0"/>
              <a:t> Lin, </a:t>
            </a:r>
            <a:r>
              <a:rPr lang="en-US" altLang="zh-CN" dirty="0" err="1"/>
              <a:t>Huacan</a:t>
            </a:r>
            <a:r>
              <a:rPr lang="en-US" altLang="zh-CN" dirty="0"/>
              <a:t> Wang, Yuzhen Han, Sen Hu, Ziyi Ni, Licheng Wang, </a:t>
            </a:r>
            <a:r>
              <a:rPr lang="en-US" altLang="zh-CN" dirty="0" err="1"/>
              <a:t>Mingguang</a:t>
            </a:r>
            <a:r>
              <a:rPr lang="en-US" altLang="zh-CN" dirty="0"/>
              <a:t> Chen</a:t>
            </a:r>
          </a:p>
          <a:p>
            <a:r>
              <a:rPr lang="en-US" altLang="zh-CN" dirty="0" err="1"/>
              <a:t>NeurIPS</a:t>
            </a:r>
            <a:r>
              <a:rPr lang="en-US" altLang="zh-CN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65381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5A32-084B-D8AB-A8CF-C9C0E53FA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4AC0F-F573-1E84-BD20-F2328F0AD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Background</a:t>
            </a:r>
            <a:endParaRPr lang="zh-CN" altLang="en-US" sz="44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EFC72A-3A2D-E2DF-2B8B-984230AD26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9636" y="1218143"/>
            <a:ext cx="11309928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LLMs have demonstrated remarkable capabilities in various domains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equipped with external tools and environmental interaction capabilities, these models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evolve into autonomous agents that can tackle increasingly complex real-world tasks.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interaction processes naturally form trajectories.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trajectories contain rich signals about problem-solving strategies.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trajectory is a full attempt at solving a problem.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agents often under-exploit these trajectories.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revailing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methods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effectively balance exploration and exploitation, but they ignore the interdependence among various trajectories and lack the diversity of search spaces.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7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2A749-6106-6A65-0804-92C75B50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105E6-3899-E640-CB7C-4690C1AC3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Challenges</a:t>
            </a:r>
            <a:endParaRPr lang="zh-CN" altLang="en-US" sz="44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0E84F4-BE20-FA22-0402-F23FB60728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4868" y="1398232"/>
            <a:ext cx="10431895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like Monte Carlo Tree Search (MCTS) balance exploration/exploitation but treat each trajectory in isolation. They fail to exploit the </a:t>
            </a:r>
            <a:r>
              <a:rPr kumimoji="0" lang="zh-CN" altLang="zh-CN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different reasoning paths.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 with diverse sampling (varying prompts or temperature), agents tend to converge on </a:t>
            </a:r>
            <a:r>
              <a:rPr kumimoji="0" lang="zh-CN" altLang="zh-CN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homogeneous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trajectories that differ only superficially. High-probability solution patterns dominate, limiting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redundant reasoning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suboptimal outcomes. Many generated trajectories essentially repeat the same strategy, so the agent misses alternative solution approaches.</a:t>
            </a:r>
          </a:p>
        </p:txBody>
      </p:sp>
    </p:spTree>
    <p:extLst>
      <p:ext uri="{BB962C8B-B14F-4D97-AF65-F5344CB8AC3E}">
        <p14:creationId xmlns:p14="http://schemas.microsoft.com/office/powerpoint/2010/main" val="267743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3EE2-AC27-B10E-EB61-4FD5F96B2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D220C-8D62-3836-5F4D-B27CC8CDD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Contributions</a:t>
            </a:r>
            <a:endParaRPr lang="zh-CN" altLang="en-US" sz="4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78F57F-48FF-9C07-9F38-FB0101E462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9636" y="1675230"/>
            <a:ext cx="10822204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SE-Agent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novel </a:t>
            </a:r>
            <a:r>
              <a:rPr kumimoji="0" lang="zh-CN" altLang="zh-CN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self-evolution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LLM-based agents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enables a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iteratively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reasoning trajectories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revisiting and enhancing past solution paths.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applies three trajectory-level operations—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Revision, Recombination, and Refinement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—to expand the search space beyond local optima and leverage insights across different solution paths.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the SWE-bench Verified benchmark, SE-Agent achieves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open-source agents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up to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55% relative improvement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174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4C5B-57DE-9EB2-462E-5B9B07E3F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E4418-8238-E9DA-565F-8CDCC0814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Preliminaries and Problem Setup</a:t>
            </a:r>
            <a:endParaRPr lang="zh-CN" altLang="en-US" sz="4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52CCEA-579A-528D-8E50-5C61811366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9636" y="1444398"/>
            <a:ext cx="10822204" cy="491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Task-Oriented Reasoning Environment: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Formally, we model the reasoning environment as a tuple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Ɛ= (T, S, A, P, R)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Trajectories: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task t ∈ T , a reasoning trajectory τ is defined as an ordered sequence: τ = (s0, a0, s1, a1, . . . 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Agent: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given a task t ∈ T , we aim to find a policy π∗ that maximizes the expected reward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D53A03-94BA-65D3-C2F0-B98FE8428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026" y="5897347"/>
            <a:ext cx="5228571" cy="46666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7B8AF13-6F16-145D-100B-31B0CD8B0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18" y="4498585"/>
            <a:ext cx="3316941" cy="5003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9DD5380-6962-7052-04FC-818F09C91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013" y="3776762"/>
            <a:ext cx="2831463" cy="491042"/>
          </a:xfrm>
          <a:prstGeom prst="rect">
            <a:avLst/>
          </a:prstGeom>
        </p:spPr>
      </p:pic>
      <p:pic>
        <p:nvPicPr>
          <p:cNvPr id="21" name="图片 20" descr="图片包含 游戏机, 家具, 桌子, 椅子&#10;&#10;AI 生成的内容可能不正确。">
            <a:extLst>
              <a:ext uri="{FF2B5EF4-FFF2-40B4-BE49-F238E27FC236}">
                <a16:creationId xmlns:a16="http://schemas.microsoft.com/office/drawing/2014/main" id="{AEFC7981-F36B-6DD1-DCE7-28A7BED41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692" y="4502753"/>
            <a:ext cx="3917002" cy="490614"/>
          </a:xfrm>
          <a:prstGeom prst="rect">
            <a:avLst/>
          </a:prstGeom>
        </p:spPr>
      </p:pic>
      <p:pic>
        <p:nvPicPr>
          <p:cNvPr id="23" name="图片 22" descr="图标&#10;&#10;AI 生成的内容可能不正确。">
            <a:extLst>
              <a:ext uri="{FF2B5EF4-FFF2-40B4-BE49-F238E27FC236}">
                <a16:creationId xmlns:a16="http://schemas.microsoft.com/office/drawing/2014/main" id="{BC7D0188-80A3-36CD-D5C4-123FCB82D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961" y="2674102"/>
            <a:ext cx="2893946" cy="365979"/>
          </a:xfrm>
          <a:prstGeom prst="rect">
            <a:avLst/>
          </a:prstGeom>
        </p:spPr>
      </p:pic>
      <p:pic>
        <p:nvPicPr>
          <p:cNvPr id="25" name="图片 24" descr="卡通人物&#10;&#10;AI 生成的内容可能不正确。">
            <a:extLst>
              <a:ext uri="{FF2B5EF4-FFF2-40B4-BE49-F238E27FC236}">
                <a16:creationId xmlns:a16="http://schemas.microsoft.com/office/drawing/2014/main" id="{22850666-70D2-D316-1472-EEEA885EB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589" y="2632943"/>
            <a:ext cx="3485887" cy="44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3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1F1C1-AEC7-5D8C-F476-8381C43D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AE3D5-9C63-A76A-8BFD-8C3A04BF8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SE-Agent</a:t>
            </a:r>
            <a:endParaRPr lang="zh-CN" altLang="en-US" sz="4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0382C2-ED1C-61EF-C7AA-FD22DF1CDBEC}"/>
              </a:ext>
            </a:extLst>
          </p:cNvPr>
          <p:cNvSpPr txBox="1"/>
          <p:nvPr/>
        </p:nvSpPr>
        <p:spPr>
          <a:xfrm>
            <a:off x="994521" y="5713654"/>
            <a:ext cx="99160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section, we introduce SE-Agent, a novel yet self-evolution paradigm to tackle intricate tasks involving multi-step executions.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59FDA7-CDCA-9C2D-C510-24CB4EB3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506" y="1275994"/>
            <a:ext cx="8445874" cy="430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3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14B5-FB4F-0747-ABF6-B146F415A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2E2FB-6E14-BD2D-5162-55F55E2F1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Overview of SE-Agent</a:t>
            </a:r>
            <a:endParaRPr lang="zh-CN" altLang="en-US" sz="4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8AA597-D355-79ED-4DE5-DAFA22BE8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506" y="1275994"/>
            <a:ext cx="8445874" cy="430601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C83C343-ECFD-DE35-813D-258AE0E7C7F9}"/>
              </a:ext>
            </a:extLst>
          </p:cNvPr>
          <p:cNvSpPr txBox="1"/>
          <p:nvPr/>
        </p:nvSpPr>
        <p:spPr>
          <a:xfrm>
            <a:off x="1380565" y="5638798"/>
            <a:ext cx="99597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Revision: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individual trajectories through self-reflection and targeted improvement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Recombination: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new trajectories by combining strengths from existing paths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Refinement: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trajectories by eliminating redundancies and enhancing efficiency</a:t>
            </a:r>
          </a:p>
        </p:txBody>
      </p:sp>
    </p:spTree>
    <p:extLst>
      <p:ext uri="{BB962C8B-B14F-4D97-AF65-F5344CB8AC3E}">
        <p14:creationId xmlns:p14="http://schemas.microsoft.com/office/powerpoint/2010/main" val="577661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8C91-8590-967E-41E9-87AA99DB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C92BC-A742-F68F-988A-5D982B07F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Revision Operation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1AE866-CCEA-E793-21EE-13D14100FAC8}"/>
              </a:ext>
            </a:extLst>
          </p:cNvPr>
          <p:cNvSpPr txBox="1"/>
          <p:nvPr/>
        </p:nvSpPr>
        <p:spPr>
          <a:xfrm>
            <a:off x="669636" y="1434352"/>
            <a:ext cx="99597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Initial Trajectories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diverse starting point for evolution, we employ two complementary approaches.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Multi-Planning Exploration: We first generate several distinct trajectories for task T by varying planning strategies, prompting techniques, and reasoning approaches.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Mutation-Based Diversification: We further expand the trajectory pool by applying controlled mutations to existing trajectories, producing M additional paths.</a:t>
            </a:r>
          </a:p>
          <a:p>
            <a:pPr lvl="1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and Revision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0883BEDB-89C2-1F47-0654-DFC461800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510" y="2982221"/>
            <a:ext cx="1980952" cy="600000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BC590599-F6E8-7835-55D5-55A9D55D2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666" y="4495907"/>
            <a:ext cx="5066667" cy="571429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667F53C9-C79F-2FC5-2039-EBE7A9B99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878" y="4529240"/>
            <a:ext cx="2704762" cy="504762"/>
          </a:xfrm>
          <a:prstGeom prst="rect">
            <a:avLst/>
          </a:prstGeom>
        </p:spPr>
      </p:pic>
      <p:pic>
        <p:nvPicPr>
          <p:cNvPr id="12" name="图片 11" descr="徽标&#10;&#10;AI 生成的内容可能不正确。">
            <a:extLst>
              <a:ext uri="{FF2B5EF4-FFF2-40B4-BE49-F238E27FC236}">
                <a16:creationId xmlns:a16="http://schemas.microsoft.com/office/drawing/2014/main" id="{82DD8A6E-FB28-D480-A9DB-C3E296E20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405" y="5231288"/>
            <a:ext cx="2495238" cy="619048"/>
          </a:xfrm>
          <a:prstGeom prst="rect">
            <a:avLst/>
          </a:prstGeom>
        </p:spPr>
      </p:pic>
      <p:pic>
        <p:nvPicPr>
          <p:cNvPr id="14" name="图片 13" descr="文本&#10;&#10;AI 生成的内容可能不正确。">
            <a:extLst>
              <a:ext uri="{FF2B5EF4-FFF2-40B4-BE49-F238E27FC236}">
                <a16:creationId xmlns:a16="http://schemas.microsoft.com/office/drawing/2014/main" id="{5760E85E-089B-01A7-EBB8-E7FBE1B6F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405" y="5950641"/>
            <a:ext cx="2447619" cy="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A3AE-A571-7D69-6F6C-4088891D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00697-387E-FFD4-4836-A5CA1A1B4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Recombination Operation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A998FC-91DE-7A29-4CFB-2EBF7D9B2485}"/>
              </a:ext>
            </a:extLst>
          </p:cNvPr>
          <p:cNvSpPr txBox="1"/>
          <p:nvPr/>
        </p:nvSpPr>
        <p:spPr>
          <a:xfrm>
            <a:off x="669636" y="1434352"/>
            <a:ext cx="99597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implement three complementary recombination strategies to generate superior trajectories.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Crossover: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identify high-performing trajectory segments across different paths and combine them to create hybrid trajectories that inherit the strengths of multiple parents.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and strategies from successful trajectories are systematically transferred to enhance less developed paths.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Restructuring: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 restructuring based on collective insights from the trajectory pool.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9070AC-8FFE-B813-6EC9-075767B7A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144" y="2983822"/>
            <a:ext cx="3491760" cy="5280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224A1A-DEE0-2850-63E7-DF48B14EB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541" y="4515784"/>
            <a:ext cx="3936161" cy="528022"/>
          </a:xfrm>
          <a:prstGeom prst="rect">
            <a:avLst/>
          </a:prstGeom>
        </p:spPr>
      </p:pic>
      <p:pic>
        <p:nvPicPr>
          <p:cNvPr id="13" name="图片 12" descr="徽标&#10;&#10;AI 生成的内容可能不正确。">
            <a:extLst>
              <a:ext uri="{FF2B5EF4-FFF2-40B4-BE49-F238E27FC236}">
                <a16:creationId xmlns:a16="http://schemas.microsoft.com/office/drawing/2014/main" id="{1F854C49-DF86-36FF-A8DE-6EE4693CF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144" y="5605728"/>
            <a:ext cx="3491760" cy="45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79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5889-ED93-91E2-50CA-154ADEE3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15E65-8719-43F7-ED97-B34B3C9CD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Refinement Operation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25245D-DDA5-D73B-958F-60DF4B30B162}"/>
              </a:ext>
            </a:extLst>
          </p:cNvPr>
          <p:cNvSpPr txBox="1"/>
          <p:nvPr/>
        </p:nvSpPr>
        <p:spPr>
          <a:xfrm>
            <a:off x="669636" y="1434352"/>
            <a:ext cx="99597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refinement phase represents the culmination of our self-evolution approach, focusing on trajectory optimization and final selection based on comprehensive evaluation metrics.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Function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design a multidimensional reward function that evaluates trajectory quality.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063607-0976-AE55-98AB-6CB693E5A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5" y="3659427"/>
            <a:ext cx="9959788" cy="5046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E51C9A-6C38-FF95-A37D-88D1E11B7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77" y="4574107"/>
            <a:ext cx="7596165" cy="45703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A12C86E-8F00-1014-DFA1-F53FA50D6F10}"/>
              </a:ext>
            </a:extLst>
          </p:cNvPr>
          <p:cNvSpPr txBox="1"/>
          <p:nvPr/>
        </p:nvSpPr>
        <p:spPr>
          <a:xfrm>
            <a:off x="967439" y="5198487"/>
            <a:ext cx="93240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AutoEval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rule-based structural validation metrics, while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ExpertEval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incorporates LLM-based evaluation of solution quality.</a:t>
            </a:r>
          </a:p>
        </p:txBody>
      </p:sp>
    </p:spTree>
    <p:extLst>
      <p:ext uri="{BB962C8B-B14F-4D97-AF65-F5344CB8AC3E}">
        <p14:creationId xmlns:p14="http://schemas.microsoft.com/office/powerpoint/2010/main" val="962302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9F1B7-1298-D9D1-6614-98EE4644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B9D1A-B4EE-EB85-E916-125F57187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Refinement Operation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50AE4B-A421-278D-1D81-5089FE9B9890}"/>
              </a:ext>
            </a:extLst>
          </p:cNvPr>
          <p:cNvSpPr txBox="1"/>
          <p:nvPr/>
        </p:nvSpPr>
        <p:spPr>
          <a:xfrm>
            <a:off x="669636" y="1434352"/>
            <a:ext cx="99597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and Convergence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upon our comprehensive evaluation function, we implement a strategic selection mechanism that balances trajectory quality and diversity to drive the evolutionary process forward.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49FABC-D04C-9CD3-6066-F6E3B408A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781" y="3219163"/>
            <a:ext cx="4537572" cy="53762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D7980E-C566-C4C9-68CA-7A588DFD05D2}"/>
              </a:ext>
            </a:extLst>
          </p:cNvPr>
          <p:cNvSpPr txBox="1"/>
          <p:nvPr/>
        </p:nvSpPr>
        <p:spPr>
          <a:xfrm>
            <a:off x="669636" y="4061030"/>
            <a:ext cx="102914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selection process continues iteratively until either a predefined number of evolution cycles is completed or convergence criteria are met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BE0DF99-D606-319C-7F38-F24233392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863" y="5109362"/>
            <a:ext cx="3533333" cy="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93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4114-8753-9107-A920-D7B1A2F3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97D82-5A4F-F114-F4CA-C71CCFE05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Refinement Operation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5D6C73-AE8D-3F75-B9A8-02C8EA5985ED}"/>
              </a:ext>
            </a:extLst>
          </p:cNvPr>
          <p:cNvSpPr txBox="1"/>
          <p:nvPr/>
        </p:nvSpPr>
        <p:spPr>
          <a:xfrm>
            <a:off x="669636" y="1721223"/>
            <a:ext cx="9959788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critical advantages: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exploring substantially larger solution spaces by systematically navigating beyond local optima and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leveraging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crosstrajectory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inspiration to efficiently enhance performance while minimizing the impact of suboptimal reasoning paths.</a:t>
            </a:r>
          </a:p>
        </p:txBody>
      </p:sp>
    </p:spTree>
    <p:extLst>
      <p:ext uri="{BB962C8B-B14F-4D97-AF65-F5344CB8AC3E}">
        <p14:creationId xmlns:p14="http://schemas.microsoft.com/office/powerpoint/2010/main" val="1990987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403F4-F220-238C-21FC-6D97A16F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A7ED6-D3C9-3576-0D85-298A03C70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Experiments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BAEE25-43C1-B81E-DD11-DBF8909BC88F}"/>
              </a:ext>
            </a:extLst>
          </p:cNvPr>
          <p:cNvSpPr txBox="1"/>
          <p:nvPr/>
        </p:nvSpPr>
        <p:spPr>
          <a:xfrm>
            <a:off x="669636" y="1434352"/>
            <a:ext cx="99597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Benchmark: In our experiments, we utilize SWE-bench Verified, a curated subset of the broader SWE-bench, consisting of 500 real-world GitHub issues.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To evaluate the performance of our proposed SE-Agent, we employ two key metrics, i.e., the resolve rate (Pass@1) and Pass@5.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Baselines: We compare the performance of SE-Agent against two widely recognized baselines: SWE-Agent 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CodeAct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-based) and SWE-Search (MCTS-based). </a:t>
            </a:r>
          </a:p>
        </p:txBody>
      </p:sp>
    </p:spTree>
    <p:extLst>
      <p:ext uri="{BB962C8B-B14F-4D97-AF65-F5344CB8AC3E}">
        <p14:creationId xmlns:p14="http://schemas.microsoft.com/office/powerpoint/2010/main" val="401308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4C99-C4D0-DA11-79A4-0AF5F4C6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8FF31-7449-63CC-FD10-714596FE7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Experiments</a:t>
            </a:r>
            <a:endParaRPr lang="zh-CN" altLang="en-US" sz="4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594D01-1FC9-4449-D97E-F4C88653F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29" y="1736297"/>
            <a:ext cx="9889584" cy="338540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474B836-1363-A8BC-2B2D-BA931B97FF48}"/>
              </a:ext>
            </a:extLst>
          </p:cNvPr>
          <p:cNvSpPr txBox="1"/>
          <p:nvPr/>
        </p:nvSpPr>
        <p:spPr>
          <a:xfrm>
            <a:off x="1029429" y="5289176"/>
            <a:ext cx="99597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we evaluate three leading open-source models (DeepSeek-V3-0324, Qwen-2.5-72bInstruct, and Llama-3.1-70b-Instruct) as well as two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stateof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-the-art closed-source models (GPT-4o and Claude-3.7Sonnet).</a:t>
            </a:r>
          </a:p>
        </p:txBody>
      </p:sp>
    </p:spTree>
    <p:extLst>
      <p:ext uri="{BB962C8B-B14F-4D97-AF65-F5344CB8AC3E}">
        <p14:creationId xmlns:p14="http://schemas.microsoft.com/office/powerpoint/2010/main" val="1780750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E46E-F5D4-9B88-99C7-0B5E6637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D8E59-4E94-7C7B-994A-88A4C41C0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Experiments</a:t>
            </a:r>
            <a:endParaRPr lang="zh-CN" altLang="en-US" sz="4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BC0DC5-2DFA-4940-9CA7-C9C013E240D7}"/>
              </a:ext>
            </a:extLst>
          </p:cNvPr>
          <p:cNvSpPr txBox="1"/>
          <p:nvPr/>
        </p:nvSpPr>
        <p:spPr>
          <a:xfrm>
            <a:off x="669636" y="1434352"/>
            <a:ext cx="10823117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w/o Revision, i.e., the Revision operation is removed, resulting in only multiple homogenized trajectories.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w/o Recombination, where we do not use the Recombination operation for trajectory interaction. </a:t>
            </a:r>
          </a:p>
          <a:p>
            <a:pPr marL="637200" lvl="1" indent="-1800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(iii) w/o All, which does not use any trajectory optimization operation.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9C4557-668F-742F-671B-4FE918F6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64" y="3429000"/>
            <a:ext cx="6508377" cy="33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61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F07C-9994-F4A0-37EA-8E404645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B6C96-FA13-BE53-71EF-3A25147CF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Experiments</a:t>
            </a:r>
            <a:endParaRPr lang="zh-CN" altLang="en-US" sz="4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A2C2F6-F4AC-331F-9C70-AD6DD5A22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48" y="1219201"/>
            <a:ext cx="4180913" cy="47781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948AA8-F89F-DACB-13F9-65D00AED9E95}"/>
              </a:ext>
            </a:extLst>
          </p:cNvPr>
          <p:cNvSpPr txBox="1"/>
          <p:nvPr/>
        </p:nvSpPr>
        <p:spPr>
          <a:xfrm>
            <a:off x="1001331" y="2590799"/>
            <a:ext cx="45926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further conduct a detailed analysis of the overlap in successfully resolved issue instances across different frameworks on SWE-bench Verified, using a Venn diagram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451603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7CF6-BF47-212C-E46C-D695A064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657AF-D7C0-1899-5478-3CDAD9422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Experiments</a:t>
            </a:r>
            <a:endParaRPr lang="zh-CN" altLang="en-US" sz="4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AF2914-0DB2-139F-0E79-B99B73C2C0D0}"/>
              </a:ext>
            </a:extLst>
          </p:cNvPr>
          <p:cNvSpPr txBox="1"/>
          <p:nvPr/>
        </p:nvSpPr>
        <p:spPr>
          <a:xfrm>
            <a:off x="1001331" y="5265512"/>
            <a:ext cx="96096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investigate the effect of two key hyperparameters on the performance of SE-Agent: the number of candidate trajectories and the maximum API cost.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CA008570-8A14-0EDE-82F5-D96A78E7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43" y="1325815"/>
            <a:ext cx="1005714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23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EC9F-C82A-DE1A-3D58-A19F0000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4E01D-4DBE-E8D5-8287-C415AA5D3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6" y="447819"/>
            <a:ext cx="11032837" cy="771382"/>
          </a:xfrm>
        </p:spPr>
        <p:txBody>
          <a:bodyPr>
            <a:noAutofit/>
          </a:bodyPr>
          <a:lstStyle/>
          <a:p>
            <a:pPr algn="l"/>
            <a:r>
              <a:rPr lang="en-US" altLang="zh-CN" sz="4400" b="1" dirty="0"/>
              <a:t>Conclusion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3FD571-EB75-325B-A63D-6181BC7DEAC2}"/>
              </a:ext>
            </a:extLst>
          </p:cNvPr>
          <p:cNvSpPr txBox="1"/>
          <p:nvPr/>
        </p:nvSpPr>
        <p:spPr>
          <a:xfrm>
            <a:off x="669636" y="1452282"/>
            <a:ext cx="99597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work, we proposed SE-Agent, a self-evolution framework designed to enhance the multi-step reasoning capabilities of LLM-based agents through iterative trajectory optimization.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evaluations on SWE-bench Verified demonstrate that SE-Agent consistently outperforms strong baselines across multiple </a:t>
            </a:r>
            <a:r>
              <a:rPr lang="en-US" altLang="zh-CN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effectiveness and robustness of trajectory-level optimization.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forward, we aim to extend the self-evolution paradigm of SE-Agent to a wider spectrum of path-search problems, including iterative search-based reasoning, reinforcement learning policy discovery, and embodied intelligence.</a:t>
            </a:r>
          </a:p>
        </p:txBody>
      </p:sp>
    </p:spTree>
    <p:extLst>
      <p:ext uri="{BB962C8B-B14F-4D97-AF65-F5344CB8AC3E}">
        <p14:creationId xmlns:p14="http://schemas.microsoft.com/office/powerpoint/2010/main" val="318314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4662</TotalTime>
  <Words>1092</Words>
  <Application>Microsoft Office PowerPoint</Application>
  <PresentationFormat>宽屏</PresentationFormat>
  <Paragraphs>77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Arial</vt:lpstr>
      <vt:lpstr>Times New Roman</vt:lpstr>
      <vt:lpstr>Office 主题​​</vt:lpstr>
      <vt:lpstr>SE-Agent: Self-Evolution Trajectory Optimization in Multi-Step Reasoning with LLM-Based Agents</vt:lpstr>
      <vt:lpstr>Background</vt:lpstr>
      <vt:lpstr>Challenges</vt:lpstr>
      <vt:lpstr>Contributions</vt:lpstr>
      <vt:lpstr>Preliminaries and Problem Setup</vt:lpstr>
      <vt:lpstr>SE-Agent</vt:lpstr>
      <vt:lpstr>Overview of SE-Agent</vt:lpstr>
      <vt:lpstr>Revision Operation</vt:lpstr>
      <vt:lpstr>Recombination Operation</vt:lpstr>
      <vt:lpstr>Refinement Operation</vt:lpstr>
      <vt:lpstr>Refinement Operation</vt:lpstr>
      <vt:lpstr>Refinement Operation</vt:lpstr>
      <vt:lpstr>Experiments</vt:lpstr>
      <vt:lpstr>Experiments</vt:lpstr>
      <vt:lpstr>Experiments</vt:lpstr>
      <vt:lpstr>Experiments</vt:lpstr>
      <vt:lpstr>Experiments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志鹏 段</dc:creator>
  <cp:lastModifiedBy>志鹏 段</cp:lastModifiedBy>
  <cp:revision>21</cp:revision>
  <dcterms:created xsi:type="dcterms:W3CDTF">2026-01-19T06:41:57Z</dcterms:created>
  <dcterms:modified xsi:type="dcterms:W3CDTF">2026-01-25T07:09:26Z</dcterms:modified>
</cp:coreProperties>
</file>