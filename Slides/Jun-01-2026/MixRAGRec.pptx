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686" autoAdjust="0"/>
  </p:normalViewPr>
  <p:slideViewPr>
    <p:cSldViewPr snapToGrid="0">
      <p:cViewPr varScale="1">
        <p:scale>
          <a:sx n="84" d="100"/>
          <a:sy n="84" d="100"/>
        </p:scale>
        <p:origin x="13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070CB-86D8-41A4-A31E-98CB2ECE8323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545DD-3BA6-425C-851C-5F01F7C233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56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B695D7-D13A-4211-9AE5-AE04E3831FC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39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150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298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58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749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096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490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38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1170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3508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66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697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187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AutoNum type="romanLcParenBoth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545DD-3BA6-425C-851C-5F01F7C2339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485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4869CE-D8CB-4E59-A1D5-D5BBD6D7AD1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929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4D0EF-02C6-3645-6B1C-DA4FE69EF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53343C-32D5-D819-2DB0-CD21A0278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FAC40-2FB6-0BD2-D099-3E987CA8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F1180-77ED-4961-8532-2688CB1918A6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F98734-D852-93DA-C56B-881D6A08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92DA39-F90A-7F12-7D81-39A6299E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67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F2711-6311-178E-E3A7-534212925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52B3E-44AF-42ED-2BEC-955A23CD2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A8F573-0259-5F90-518B-872084F4F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CC4AA-6750-471D-9C06-216F1E0AF715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DDDF53-AAEA-F7D6-0FBB-D4AA740B9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D6C314-CABE-220B-DD78-8AF4BEA4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757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1A461-BFB5-A4F5-18A4-7C0482EE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04D98C-A96A-D3DB-64FF-7E6C4A66E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904572-881F-6C81-58E4-5CAA3D8E2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75C9-A632-4FB5-8CBE-90840B9F5BF2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D3E1EB-50C5-EDEA-DD83-3D322DF1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660C0-BF7B-81C2-09E4-F9568899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931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EE334-21F3-72BD-C50A-260AE020A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8A274-4E28-517F-538D-4C98645B9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0B0262-CC9C-C23B-D48F-AB79B061C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792E5C-5544-FADC-D255-C46D4088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B4E54-362A-43ED-BBE7-F64352323E2D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813FA7-E7FA-A553-85FC-5D20CA4A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BD0A67-7082-8477-13BF-A396D7CA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57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845DC-20A4-DACB-28B8-25A334B6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E42A3E-38D4-E49A-D296-03D6C288C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4124F1-E740-7CB3-D604-B256089F5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70DC9E-50AF-F6E4-3B65-A53053D41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8660CA-D90D-95EA-F1F6-1C3E8E5DF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C703786-FBFD-6AFD-5EE8-E6652148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F19D1-301E-4D52-9E85-273891B17698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0998CE8-4FE4-AEC4-09BA-EE0AE4301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E5CEBF-2DEE-0D6D-DEE3-C78F24A3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319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E2E68-8AA8-B256-8D95-31FE4F7D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E9B2FA-D601-C97B-2497-C96169E81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EE296-F959-44ED-8148-D1A5FF987F06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CFC01F-E6DB-52A5-7A62-3D81BD03F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CEC060-9492-35EE-91D8-9B4EECA0B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88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5266EA-BE81-C0D7-D231-EEE3299E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312F8-0E15-4511-A634-FE68537C1D6A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18230EF-9947-46DE-F328-09BC565E8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350A02-2200-5FEC-C251-C523479A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619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65269-05B0-F2E8-48F0-803618FAB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AC1973-92C2-E33C-2ADD-4548B9221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1EE83C-E88E-C2A2-FAC4-0510024A7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461258-AD89-8F5C-3A0C-4E3091FE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1F1F0-4698-4530-8268-9990D30682B2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355655-DF5D-D52C-9789-BE12E01D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CF971A-86BD-6DDC-0D36-ABC6AE197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255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84403E-7EB4-DDD0-72DD-E462B6E4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6445A43-CCC8-6F1F-F94B-D54D44FCD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7FCB24-5A7C-B3AF-A050-A03963DAD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44FDA-54BB-2950-8FB9-306159A57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8CD0E-006D-42C3-9868-B34DD75593D0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F89FEF-8002-BB77-246A-DD52DC71F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C2EF62-92CA-3920-BE08-25A47D424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72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44CDF2-1A2A-9023-14AE-3FB0398E3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628C4-C554-2AF3-CEBB-12D1C7303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38F590-4E3F-8DF4-C3A2-68E62252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DD71E-B4B8-456A-A2C5-8D4B4A1025BF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632A7C-ED09-83F5-F166-163E382E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AF18FB-0273-2390-3A7B-1AD35942F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41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49F038-DD77-79AA-6BE5-49677ED696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C5BC7B1-161B-9FDA-D89D-1AA9C681D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57D91-F866-6178-1488-9D4EE3EC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0BAF5-5E1F-4F4A-B154-7F5EB817563E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9A862C-28ED-2D7F-ACD4-B13A6A4B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A47DBF-C1C4-DE1E-1EB7-3C5D9B4F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157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E6AE4B-87C4-D5D1-9280-6DBD80EC2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F7749C-2230-163B-52D3-F0595C9F2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6D2AD9-2C45-4562-39CF-4BBDA004CE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A8CC5-A22C-4E70-A4C0-22F03B5E2E12}" type="datetime1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0FB3B4-DC7E-58BE-B4FE-9847E1B2F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189FD8-7957-D89F-01D5-A7CF27B9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E0179-9005-42D9-ADCC-BE5A58C5D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94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00CF3-B296-215E-380D-CC5E60CD09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000" b="1" dirty="0"/>
              <a:t>Mixture-of-Experts Knowledge Graph Retrieval-Augmented Generation for Multi-Agent LLM-based Recommendation</a:t>
            </a:r>
            <a:endParaRPr lang="zh-CN" altLang="en-US" sz="40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293B1B-F932-B4E3-7C51-EE2B856929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KDD 2026</a:t>
            </a:r>
          </a:p>
          <a:p>
            <a:r>
              <a:rPr lang="en-US" altLang="zh-CN" dirty="0"/>
              <a:t>2026-06-01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0A5D29-9D5B-2FB6-1C1D-C8B04773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25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E1079-622F-9686-8610-7357CE35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Background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C7A298-9813-7FB8-7C1C-DAC9D8348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Existing LLM-based recommender systems still suffer from critical limitations, including hallucinations and insufficient up-to-date, domain-specific knowledge.</a:t>
            </a:r>
          </a:p>
          <a:p>
            <a:r>
              <a:rPr lang="en-US" altLang="zh-CN" dirty="0"/>
              <a:t>Recent Retrieval-Augmented Generation (RAG) leveraging external Knowledge Graph (KG) has emerged as a promising solution to provide the latest and domain-specific structured knowledge without costly fine-tuning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88F16E-5094-971C-200E-5031F0E2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78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368C95-B3B0-7D6D-BFBE-13D608D8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Challenges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5B61C-84ED-8132-F8CF-AD6144A4C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user queries require KG knowledge at different granularities, while existing KG-RAG recommender systems typically adopt a one-size-fits-all retrieval granularity.</a:t>
            </a:r>
          </a:p>
          <a:p>
            <a:r>
              <a:rPr lang="en-US" altLang="zh-CN" dirty="0"/>
              <a:t>The retrieved knowledge is naturally graph-structured, while the input to LLMs is plain text. Directly describing structured knowledge into text can introduce redundant noise and lose structural information, reducing the utility of retrieved knowledge.</a:t>
            </a:r>
          </a:p>
          <a:p>
            <a:r>
              <a:rPr lang="en-US" altLang="zh-CN" dirty="0"/>
              <a:t>the selection of retrieval granularity lacks direct supervision and can only be inferred from the final recommendation outcome after alignment and downstream utilization.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BE1CF3-1BCF-F428-F802-FF7666DA9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95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1A1E5A-886B-85DA-B834-98F7848A9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Contributions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27D111-BF16-059A-B18B-9230FEC46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We propose </a:t>
            </a:r>
            <a:r>
              <a:rPr lang="en-US" altLang="zh-CN" dirty="0" err="1"/>
              <a:t>MixRAGRec</a:t>
            </a:r>
            <a:r>
              <a:rPr lang="en-US" altLang="zh-CN" dirty="0"/>
              <a:t>, a multi-agent KG-RAG framework for LLM-based recommendation that performs query-aware retrieval with different granularities via a mixture of KG experts. </a:t>
            </a:r>
          </a:p>
          <a:p>
            <a:r>
              <a:rPr lang="en-US" altLang="zh-CN" dirty="0"/>
              <a:t>We introduce a Knowledge Preference Alignment agent that converts structured KG knowledge into concise, LLM-friendly natural language, mitigating the structure-semantics gap. </a:t>
            </a:r>
          </a:p>
          <a:p>
            <a:r>
              <a:rPr lang="en-US" altLang="zh-CN" dirty="0"/>
              <a:t>We propose MMAPO, a unified optimization framework that couples agents with a shared objective and a retrieval-utility reward for cost-aware retrieval. </a:t>
            </a:r>
          </a:p>
          <a:p>
            <a:r>
              <a:rPr lang="en-US" altLang="zh-CN" dirty="0"/>
              <a:t>We conduct comprehensive experiments on various real-world datasets to demonstrate the effectiveness of the proposed </a:t>
            </a:r>
            <a:r>
              <a:rPr lang="en-US" altLang="zh-CN" dirty="0" err="1"/>
              <a:t>MixRAGRec</a:t>
            </a:r>
            <a:r>
              <a:rPr lang="en-US" altLang="zh-CN" dirty="0"/>
              <a:t> framework.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9E2A2E-DE05-025C-2FDC-4DD5787B5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410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E21C49-38DB-1B43-8933-3C8E6885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Overview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6C8354-5AFB-AEF0-61D6-4217BD1DA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overview of the </a:t>
            </a:r>
            <a:r>
              <a:rPr lang="en-US" altLang="zh-CN" dirty="0" err="1"/>
              <a:t>MixRAGRec</a:t>
            </a:r>
            <a:r>
              <a:rPr lang="en-US" altLang="zh-CN" dirty="0"/>
              <a:t>: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9A093F-8AC3-791A-9C21-37C9ED2B2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914" y="2667733"/>
            <a:ext cx="10334171" cy="266712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E17DA1-7B98-597E-2F57-BC5463758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14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26334-EC7E-6388-B9F0-76F280572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Mixture-of-Experts Retrieval agent 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5F3F72-CDF9-483F-10EB-79AB42185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715697"/>
            <a:ext cx="6310374" cy="464924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Step 1. KG Construction and Indexing</a:t>
            </a:r>
          </a:p>
          <a:p>
            <a:pPr marL="0" indent="0">
              <a:buNone/>
            </a:pPr>
            <a:r>
              <a:rPr lang="en-US" altLang="zh-CN" dirty="0"/>
              <a:t>Step 2. Mixture-of-Experts KG Retrieval</a:t>
            </a:r>
          </a:p>
          <a:p>
            <a:r>
              <a:rPr lang="en-US" altLang="zh-CN" dirty="0"/>
              <a:t>Expert 1: </a:t>
            </a:r>
            <a:r>
              <a:rPr lang="en-US" altLang="zh-CN" dirty="0" err="1"/>
              <a:t>DirectGenerator</a:t>
            </a:r>
            <a:r>
              <a:rPr lang="en-US" altLang="zh-CN" dirty="0"/>
              <a:t> (no retrieval).</a:t>
            </a:r>
          </a:p>
          <a:p>
            <a:r>
              <a:rPr lang="en-US" altLang="zh-CN" dirty="0"/>
              <a:t>Expert 2: </a:t>
            </a:r>
            <a:r>
              <a:rPr lang="en-US" altLang="zh-CN" dirty="0" err="1"/>
              <a:t>TripleRetriever</a:t>
            </a:r>
            <a:r>
              <a:rPr lang="en-US" altLang="zh-CN" dirty="0"/>
              <a:t> (triple-level retrieval).</a:t>
            </a:r>
          </a:p>
          <a:p>
            <a:r>
              <a:rPr lang="en-US" altLang="zh-CN" dirty="0"/>
              <a:t>Expert 3: </a:t>
            </a:r>
            <a:r>
              <a:rPr lang="en-US" altLang="zh-CN" dirty="0" err="1"/>
              <a:t>SubgraphRetriever</a:t>
            </a:r>
            <a:r>
              <a:rPr lang="en-US" altLang="zh-CN" dirty="0"/>
              <a:t> (k-hop neighborhood subgraph).</a:t>
            </a:r>
          </a:p>
          <a:p>
            <a:r>
              <a:rPr lang="en-US" altLang="zh-CN" dirty="0"/>
              <a:t>Expert 4: </a:t>
            </a:r>
            <a:r>
              <a:rPr lang="en-US" altLang="zh-CN" dirty="0" err="1"/>
              <a:t>ConnectedGraphRetriever</a:t>
            </a:r>
            <a:r>
              <a:rPr lang="en-US" altLang="zh-CN" dirty="0"/>
              <a:t> (connected subgraph)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8DE1DE-D497-4FCB-BBD9-DD27EB058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574" y="2304328"/>
            <a:ext cx="5043426" cy="278408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3CA588-5E2E-0134-2CBE-688C276F4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62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A9D9E4-D5E7-4E52-615B-2A2FEF60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Knowledge Preference Alignment agent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12EBAB-E623-05B7-0A69-DC5CC50D6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MixRAGRec introduces a knowledge preference alignment agent that converts retrieved KG knowledge into LLM-friendly representations while preserving recommendation-relevant information.</a:t>
                </a:r>
              </a:p>
              <a:p>
                <a:r>
                  <a:rPr lang="en-US" altLang="zh-CN" dirty="0"/>
                  <a:t>Input: retrieved knowledge returned by the selected retrieval expert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altLang="zh-CN" dirty="0"/>
                  <a:t>, query q</a:t>
                </a:r>
              </a:p>
              <a:p>
                <a:r>
                  <a:rPr lang="en-US" altLang="zh-CN" dirty="0"/>
                  <a:t>Output: We first transform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𝒦</m:t>
                    </m:r>
                  </m:oMath>
                </a14:m>
                <a:r>
                  <a:rPr lang="en-US" altLang="zh-CN" dirty="0"/>
                  <a:t>into a stable textual draft using a carefully crafted template module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Temp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·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; further refines the draft into an aligned knowledge snippet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</m:acc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𝐴𝑙𝑖𝑔𝑛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l-GR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Temp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𝒦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412EBAB-E623-05B7-0A69-DC5CC50D6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 b="-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8AEE2A-8884-61D6-069C-4D04419B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5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681A3-EB78-CD0F-1154-D2FF5524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Contrastive learning-reinforced rec agent 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3FD68-7199-A72B-D43B-ED8669F25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Input: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query q, aligned knowledge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𝒦</m:t>
                        </m:r>
                      </m:e>
                    </m:acc>
                  </m:oMath>
                </a14:m>
                <a:r>
                  <a:rPr lang="en-US" altLang="zh-CN" dirty="0"/>
                  <a:t>, the candidate item set O.</a:t>
                </a:r>
              </a:p>
              <a:p>
                <a:r>
                  <a:rPr lang="en-US" altLang="zh-CN" dirty="0"/>
                  <a:t>The objective is to train the model to assign a higher probability to the positive item than to negative items.</a:t>
                </a:r>
              </a:p>
              <a:p>
                <a:r>
                  <a:rPr lang="en-US" altLang="zh-CN" dirty="0"/>
                  <a:t>Hard negative sampling: construct preference pairs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,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𝒩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h𝑎𝑟𝑑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The training objective is then defined as: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483FD68-7199-A72B-D43B-ED8669F25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F6B92E3-B785-42F0-0DB2-3D789E0EE1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095" y="5314164"/>
            <a:ext cx="4693209" cy="71289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42B1D80-1C87-47E1-8AA4-E19A72D9EA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494" y="4001294"/>
            <a:ext cx="3549792" cy="51907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3634B0-A3D7-318E-8B16-33E4B16E3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460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63082-8281-9E0F-F1E8-9EDB6F31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Mixture-of-Experts Multi-Agent Policy  Optimization (MMAPO)</a:t>
            </a:r>
            <a:endParaRPr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057749-75B4-54B5-5E2F-A5E1705736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Why need MMAPO?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 Mixture-of-Experts retrieval agent affects the final reward only through the downstream aligned knowledge and the subsequent recommendation. This delayed dependency makes the retrieval policy difficult to optimize from raw returns.</a:t>
                </a:r>
              </a:p>
              <a:p>
                <a:r>
                  <a:rPr lang="en-US" altLang="zh-CN" dirty="0"/>
                  <a:t>Reward design: The recommendation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𝑟𝑒𝑐</m:t>
                        </m:r>
                      </m:sub>
                    </m:sSub>
                  </m:oMath>
                </a14:m>
                <a:r>
                  <a:rPr lang="en-US" altLang="zh-CN" dirty="0"/>
                  <a:t> measures the performance of the final recommendation.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𝑀𝐼𝐺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: marginal information gain reward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057749-75B4-54B5-5E2F-A5E1705736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18B6B068-E80A-8AC5-AA9E-E4C620B56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463" y="5341258"/>
            <a:ext cx="2927073" cy="7239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C721D0-49A7-4DE8-1530-6F30CFCAA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473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EB814-2BFD-640B-F61E-A7FE0B5F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Mixture-of-Experts Multi-Agent Policy  Optimization (MMAPO)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919129-DBF3-B788-458E-DADFE143F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Using GAE for Advantage Estimation ;</a:t>
            </a:r>
          </a:p>
          <a:p>
            <a:r>
              <a:rPr lang="en-US" altLang="zh-CN" dirty="0"/>
              <a:t>Retrieval &amp; Alignment Agent: PPO-style clipped update;</a:t>
            </a:r>
          </a:p>
          <a:p>
            <a:r>
              <a:rPr lang="en-US" altLang="zh-CN" dirty="0"/>
              <a:t>Recommender Agent: Contrastive Preference Optimization.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CAE3857-DC32-9804-1697-5329D818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162" y="3740417"/>
            <a:ext cx="7391676" cy="217959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8E8053-EE2D-6EE4-FC25-98AAFEB0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592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C77AB2-852D-3C7F-B630-E0C71536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Experiment setup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302C3C-EDE1-AA86-6403-8DCC5DC8B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Dataset: MovieLens-1M/20M; LastFM-1K</a:t>
            </a:r>
          </a:p>
          <a:p>
            <a:r>
              <a:rPr lang="en-US" altLang="zh-CN" dirty="0"/>
              <a:t>Baselines: Zero-shot inference; LLM-based Recommendation Models; KG-RAG for LLM-based Recommendation Models.</a:t>
            </a:r>
          </a:p>
          <a:p>
            <a:r>
              <a:rPr lang="en-US" altLang="zh-CN" dirty="0"/>
              <a:t>Evaluation Metrics: </a:t>
            </a:r>
            <a:r>
              <a:rPr lang="en-US" altLang="zh-CN" dirty="0" err="1"/>
              <a:t>Recall@K</a:t>
            </a:r>
            <a:r>
              <a:rPr lang="en-US" altLang="zh-CN" dirty="0"/>
              <a:t> (K = 3, 5), Accuracy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74DCB0-6822-E23A-E357-5DDE3F1C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800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E47EA6-213D-938F-3717-D075B593B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Experiment result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0C39CD-0A97-4CE1-589F-647415F28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072649" cy="4836433"/>
          </a:xfrm>
        </p:spPr>
        <p:txBody>
          <a:bodyPr/>
          <a:lstStyle/>
          <a:p>
            <a:r>
              <a:rPr lang="en-US" altLang="zh-CN" dirty="0"/>
              <a:t>Zero-shot prompting is insufficient for recommendation.</a:t>
            </a:r>
          </a:p>
          <a:p>
            <a:r>
              <a:rPr lang="en-US" altLang="zh-CN" dirty="0"/>
              <a:t>Retrieving external knowledge from the KG can substantially improve recommendation performance.</a:t>
            </a:r>
          </a:p>
          <a:p>
            <a:r>
              <a:rPr lang="en-US" altLang="zh-CN" dirty="0" err="1"/>
              <a:t>MixRAGRec</a:t>
            </a:r>
            <a:r>
              <a:rPr lang="en-US" altLang="zh-CN" dirty="0"/>
              <a:t> outperforms the strongest baselines on all three datasets under both backbones.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C79855E-2959-F238-A482-FD0633B14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849" y="2130424"/>
            <a:ext cx="6179551" cy="371384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149C1A-83C2-7132-C28D-ED8A27633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34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52A6D-266C-8D00-00CA-A811C2D6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Efficiency Study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0EBF6-F521-C346-70B1-94C55FA5D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Efficiency comparison on MovieLens-1M with the LLaMA3-8B backbone.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8717B9F-9AB4-998E-AEDF-2B0DDEA1B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74" y="3095172"/>
            <a:ext cx="6458851" cy="260068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EDC7BA-E894-5AB0-1F60-168CA8F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2136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CEE12-D68F-6101-D63F-C7ED9430C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Ablation Study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3F76B0-136C-CF42-DD98-76EA343DC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796314" cy="437197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(i) w/o </a:t>
            </a:r>
            <a:r>
              <a:rPr lang="en-US" altLang="zh-CN" dirty="0" err="1"/>
              <a:t>MoESel</a:t>
            </a:r>
            <a:r>
              <a:rPr lang="en-US" altLang="zh-CN" dirty="0"/>
              <a:t>: replaces the Mixture-of-Experts selector policy with random expert selection;</a:t>
            </a:r>
          </a:p>
          <a:p>
            <a:r>
              <a:rPr lang="en-US" altLang="zh-CN" dirty="0"/>
              <a:t>(ii) w/o Align: removes the Knowledge Preference Alignment agent;</a:t>
            </a:r>
          </a:p>
          <a:p>
            <a:r>
              <a:rPr lang="en-US" altLang="zh-CN" dirty="0"/>
              <a:t>(iii) w/o </a:t>
            </a:r>
            <a:r>
              <a:rPr lang="en-US" altLang="zh-CN" dirty="0" err="1"/>
              <a:t>HardNeg</a:t>
            </a:r>
            <a:r>
              <a:rPr lang="en-US" altLang="zh-CN" dirty="0"/>
              <a:t>: replaces hard negative sampling with random negatives;</a:t>
            </a:r>
          </a:p>
          <a:p>
            <a:r>
              <a:rPr lang="en-US" altLang="zh-CN" dirty="0"/>
              <a:t>(iv) w/o </a:t>
            </a:r>
            <a:r>
              <a:rPr lang="en-US" altLang="zh-CN" dirty="0" err="1"/>
              <a:t>PrefOpt</a:t>
            </a:r>
            <a:r>
              <a:rPr lang="en-US" altLang="zh-CN" dirty="0"/>
              <a:t>: removes contrastive preference feedback;</a:t>
            </a:r>
          </a:p>
          <a:p>
            <a:r>
              <a:rPr lang="en-US" altLang="zh-CN" dirty="0"/>
              <a:t>(v) w/o MMAPO: removes the shared objective and coordinated updates.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CE12E7-B162-7DBC-B1D3-36EE94701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514" y="1086304"/>
            <a:ext cx="4259501" cy="540657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3DF3B0-2616-D408-C2EB-B3B6D41FF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E0179-9005-42D9-ADCC-BE5A58C5D46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616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554DE-7C84-DAD2-DF6A-217FF7DE3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36625" cy="5937063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b="1" dirty="0"/>
              <a:t>Thank you for listening!</a:t>
            </a:r>
            <a:endParaRPr lang="zh-CN" altLang="en-US" sz="5400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23B728D-FB38-2A22-8AF2-E8D5758E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AE793E-9FED-4275-AEA9-63DBF770A0C6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47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728</Words>
  <Application>Microsoft Office PowerPoint</Application>
  <PresentationFormat>宽屏</PresentationFormat>
  <Paragraphs>90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等线</vt:lpstr>
      <vt:lpstr>等线 Light</vt:lpstr>
      <vt:lpstr>Arial</vt:lpstr>
      <vt:lpstr>Cambria Math</vt:lpstr>
      <vt:lpstr>Office 主题​​</vt:lpstr>
      <vt:lpstr>Mixture-of-Experts Knowledge Graph Retrieval-Augmented Generation for Multi-Agent LLM-based Recommendation</vt:lpstr>
      <vt:lpstr>Background</vt:lpstr>
      <vt:lpstr>Challenges</vt:lpstr>
      <vt:lpstr>Contributions</vt:lpstr>
      <vt:lpstr>Overview</vt:lpstr>
      <vt:lpstr>Mixture-of-Experts Retrieval agent </vt:lpstr>
      <vt:lpstr>Knowledge Preference Alignment agent</vt:lpstr>
      <vt:lpstr>Contrastive learning-reinforced rec agent </vt:lpstr>
      <vt:lpstr>Mixture-of-Experts Multi-Agent Policy  Optimization (MMAPO)</vt:lpstr>
      <vt:lpstr>Mixture-of-Experts Multi-Agent Policy  Optimization (MMAPO)</vt:lpstr>
      <vt:lpstr>Experiment setup</vt:lpstr>
      <vt:lpstr>Experiment result</vt:lpstr>
      <vt:lpstr>Efficiency Study</vt:lpstr>
      <vt:lpstr>Ablation Study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凯文 王</dc:creator>
  <cp:lastModifiedBy>凯文 王</cp:lastModifiedBy>
  <cp:revision>12</cp:revision>
  <dcterms:created xsi:type="dcterms:W3CDTF">2026-05-22T01:45:34Z</dcterms:created>
  <dcterms:modified xsi:type="dcterms:W3CDTF">2026-06-01T05:59:39Z</dcterms:modified>
</cp:coreProperties>
</file>