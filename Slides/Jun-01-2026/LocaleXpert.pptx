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0" r:id="rId3"/>
    <p:sldId id="271" r:id="rId4"/>
    <p:sldId id="272" r:id="rId5"/>
    <p:sldId id="273" r:id="rId6"/>
    <p:sldId id="260" r:id="rId7"/>
    <p:sldId id="261" r:id="rId8"/>
    <p:sldId id="262" r:id="rId9"/>
    <p:sldId id="275" r:id="rId10"/>
    <p:sldId id="276" r:id="rId11"/>
    <p:sldId id="278" r:id="rId12"/>
    <p:sldId id="279" r:id="rId13"/>
    <p:sldId id="263" r:id="rId14"/>
    <p:sldId id="280" r:id="rId15"/>
    <p:sldId id="281" r:id="rId16"/>
    <p:sldId id="282" r:id="rId17"/>
    <p:sldId id="283" r:id="rId18"/>
    <p:sldId id="284" r:id="rId19"/>
    <p:sldId id="266" r:id="rId20"/>
    <p:sldId id="285" r:id="rId21"/>
    <p:sldId id="267" r:id="rId22"/>
    <p:sldId id="269" r:id="rId23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65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110" d="100"/>
          <a:sy n="110" d="100"/>
        </p:scale>
        <p:origin x="426" y="108"/>
      </p:cViewPr>
      <p:guideLst>
        <p:guide pos="416"/>
        <p:guide pos="7256"/>
        <p:guide orient="horz" pos="665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组合 8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矩形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 l="-111" r="-111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9202056" y="4849848"/>
              <a:ext cx="2989944" cy="2008152"/>
              <a:chOff x="9202056" y="4849848"/>
              <a:chExt cx="2989944" cy="2008152"/>
            </a:xfrm>
          </p:grpSpPr>
          <p:sp>
            <p:nvSpPr>
              <p:cNvPr id="66" name="任意多边形 65"/>
              <p:cNvSpPr/>
              <p:nvPr/>
            </p:nvSpPr>
            <p:spPr>
              <a:xfrm>
                <a:off x="9202056" y="4849848"/>
                <a:ext cx="2989943" cy="2008151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 59"/>
              <p:cNvSpPr/>
              <p:nvPr/>
            </p:nvSpPr>
            <p:spPr>
              <a:xfrm>
                <a:off x="9436022" y="5006988"/>
                <a:ext cx="2755978" cy="1851012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0" y="0"/>
              <a:ext cx="2989943" cy="2008151"/>
              <a:chOff x="0" y="0"/>
              <a:chExt cx="2989943" cy="2008151"/>
            </a:xfrm>
          </p:grpSpPr>
          <p:sp>
            <p:nvSpPr>
              <p:cNvPr id="67" name="任意多边形 66"/>
              <p:cNvSpPr/>
              <p:nvPr/>
            </p:nvSpPr>
            <p:spPr>
              <a:xfrm flipH="1" flipV="1">
                <a:off x="0" y="0"/>
                <a:ext cx="2989943" cy="2008151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 63"/>
              <p:cNvSpPr/>
              <p:nvPr/>
            </p:nvSpPr>
            <p:spPr>
              <a:xfrm flipH="1" flipV="1">
                <a:off x="0" y="0"/>
                <a:ext cx="2755978" cy="1851012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5353798" y="594610"/>
              <a:ext cx="1471702" cy="1471702"/>
              <a:chOff x="5353798" y="594610"/>
              <a:chExt cx="1471702" cy="1471702"/>
            </a:xfrm>
          </p:grpSpPr>
          <p:sp>
            <p:nvSpPr>
              <p:cNvPr id="51" name="任意多边形 50"/>
              <p:cNvSpPr/>
              <p:nvPr/>
            </p:nvSpPr>
            <p:spPr>
              <a:xfrm>
                <a:off x="5532347" y="978311"/>
                <a:ext cx="1114605" cy="704301"/>
              </a:xfrm>
              <a:custGeom>
                <a:avLst/>
                <a:gdLst>
                  <a:gd name="connsiteX0" fmla="*/ 104550 w 604718"/>
                  <a:gd name="connsiteY0" fmla="*/ 208330 h 382112"/>
                  <a:gd name="connsiteX1" fmla="*/ 156180 w 604718"/>
                  <a:gd name="connsiteY1" fmla="*/ 208330 h 382112"/>
                  <a:gd name="connsiteX2" fmla="*/ 261642 w 604718"/>
                  <a:gd name="connsiteY2" fmla="*/ 248878 h 382112"/>
                  <a:gd name="connsiteX3" fmla="*/ 298947 w 604718"/>
                  <a:gd name="connsiteY3" fmla="*/ 255007 h 382112"/>
                  <a:gd name="connsiteX4" fmla="*/ 340187 w 604718"/>
                  <a:gd name="connsiteY4" fmla="*/ 247621 h 382112"/>
                  <a:gd name="connsiteX5" fmla="*/ 433687 w 604718"/>
                  <a:gd name="connsiteY5" fmla="*/ 208330 h 382112"/>
                  <a:gd name="connsiteX6" fmla="*/ 490825 w 604718"/>
                  <a:gd name="connsiteY6" fmla="*/ 208330 h 382112"/>
                  <a:gd name="connsiteX7" fmla="*/ 490825 w 604718"/>
                  <a:gd name="connsiteY7" fmla="*/ 271509 h 382112"/>
                  <a:gd name="connsiteX8" fmla="*/ 458400 w 604718"/>
                  <a:gd name="connsiteY8" fmla="*/ 320701 h 382112"/>
                  <a:gd name="connsiteX9" fmla="*/ 329326 w 604718"/>
                  <a:gd name="connsiteY9" fmla="*/ 376337 h 382112"/>
                  <a:gd name="connsiteX10" fmla="*/ 264632 w 604718"/>
                  <a:gd name="connsiteY10" fmla="*/ 376337 h 382112"/>
                  <a:gd name="connsiteX11" fmla="*/ 136819 w 604718"/>
                  <a:gd name="connsiteY11" fmla="*/ 320701 h 382112"/>
                  <a:gd name="connsiteX12" fmla="*/ 104550 w 604718"/>
                  <a:gd name="connsiteY12" fmla="*/ 271509 h 382112"/>
                  <a:gd name="connsiteX13" fmla="*/ 300973 w 604718"/>
                  <a:gd name="connsiteY13" fmla="*/ 5 h 382112"/>
                  <a:gd name="connsiteX14" fmla="*/ 334162 w 604718"/>
                  <a:gd name="connsiteY14" fmla="*/ 4701 h 382112"/>
                  <a:gd name="connsiteX15" fmla="*/ 581267 w 604718"/>
                  <a:gd name="connsiteY15" fmla="*/ 92552 h 382112"/>
                  <a:gd name="connsiteX16" fmla="*/ 588822 w 604718"/>
                  <a:gd name="connsiteY16" fmla="*/ 114398 h 382112"/>
                  <a:gd name="connsiteX17" fmla="*/ 589136 w 604718"/>
                  <a:gd name="connsiteY17" fmla="*/ 114398 h 382112"/>
                  <a:gd name="connsiteX18" fmla="*/ 589136 w 604718"/>
                  <a:gd name="connsiteY18" fmla="*/ 270771 h 382112"/>
                  <a:gd name="connsiteX19" fmla="*/ 604718 w 604718"/>
                  <a:gd name="connsiteY19" fmla="*/ 321376 h 382112"/>
                  <a:gd name="connsiteX20" fmla="*/ 561278 w 604718"/>
                  <a:gd name="connsiteY20" fmla="*/ 321376 h 382112"/>
                  <a:gd name="connsiteX21" fmla="*/ 576388 w 604718"/>
                  <a:gd name="connsiteY21" fmla="*/ 271242 h 382112"/>
                  <a:gd name="connsiteX22" fmla="*/ 576388 w 604718"/>
                  <a:gd name="connsiteY22" fmla="*/ 120370 h 382112"/>
                  <a:gd name="connsiteX23" fmla="*/ 333376 w 604718"/>
                  <a:gd name="connsiteY23" fmla="*/ 222680 h 382112"/>
                  <a:gd name="connsiteX24" fmla="*/ 268058 w 604718"/>
                  <a:gd name="connsiteY24" fmla="*/ 223780 h 382112"/>
                  <a:gd name="connsiteX25" fmla="*/ 13556 w 604718"/>
                  <a:gd name="connsiteY25" fmla="*/ 125870 h 382112"/>
                  <a:gd name="connsiteX26" fmla="*/ 13714 w 604718"/>
                  <a:gd name="connsiteY26" fmla="*/ 100882 h 382112"/>
                  <a:gd name="connsiteX27" fmla="*/ 267901 w 604718"/>
                  <a:gd name="connsiteY27" fmla="*/ 5329 h 382112"/>
                  <a:gd name="connsiteX28" fmla="*/ 300973 w 604718"/>
                  <a:gd name="connsiteY28" fmla="*/ 5 h 382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04718" h="382112">
                    <a:moveTo>
                      <a:pt x="104550" y="208330"/>
                    </a:moveTo>
                    <a:lnTo>
                      <a:pt x="156180" y="208330"/>
                    </a:lnTo>
                    <a:lnTo>
                      <a:pt x="261642" y="248878"/>
                    </a:lnTo>
                    <a:cubicBezTo>
                      <a:pt x="274864" y="253907"/>
                      <a:pt x="289188" y="255007"/>
                      <a:pt x="298947" y="255007"/>
                    </a:cubicBezTo>
                    <a:cubicBezTo>
                      <a:pt x="314373" y="255007"/>
                      <a:pt x="329012" y="252493"/>
                      <a:pt x="340187" y="247621"/>
                    </a:cubicBezTo>
                    <a:lnTo>
                      <a:pt x="433687" y="208330"/>
                    </a:lnTo>
                    <a:lnTo>
                      <a:pt x="490825" y="208330"/>
                    </a:lnTo>
                    <a:lnTo>
                      <a:pt x="490825" y="271509"/>
                    </a:lnTo>
                    <a:cubicBezTo>
                      <a:pt x="490825" y="290998"/>
                      <a:pt x="476344" y="313000"/>
                      <a:pt x="458400" y="320701"/>
                    </a:cubicBezTo>
                    <a:lnTo>
                      <a:pt x="329326" y="376337"/>
                    </a:lnTo>
                    <a:cubicBezTo>
                      <a:pt x="311382" y="384038"/>
                      <a:pt x="282419" y="384038"/>
                      <a:pt x="264632" y="376337"/>
                    </a:cubicBezTo>
                    <a:lnTo>
                      <a:pt x="136819" y="320701"/>
                    </a:lnTo>
                    <a:cubicBezTo>
                      <a:pt x="119032" y="313000"/>
                      <a:pt x="104550" y="290998"/>
                      <a:pt x="104550" y="271509"/>
                    </a:cubicBezTo>
                    <a:close/>
                    <a:moveTo>
                      <a:pt x="300973" y="5"/>
                    </a:moveTo>
                    <a:cubicBezTo>
                      <a:pt x="312954" y="-93"/>
                      <a:pt x="324955" y="1479"/>
                      <a:pt x="334162" y="4701"/>
                    </a:cubicBezTo>
                    <a:lnTo>
                      <a:pt x="581267" y="92552"/>
                    </a:lnTo>
                    <a:cubicBezTo>
                      <a:pt x="596849" y="98053"/>
                      <a:pt x="599210" y="107168"/>
                      <a:pt x="588822" y="114398"/>
                    </a:cubicBezTo>
                    <a:lnTo>
                      <a:pt x="589136" y="114398"/>
                    </a:lnTo>
                    <a:lnTo>
                      <a:pt x="589136" y="270771"/>
                    </a:lnTo>
                    <a:lnTo>
                      <a:pt x="604718" y="321376"/>
                    </a:lnTo>
                    <a:lnTo>
                      <a:pt x="561278" y="321376"/>
                    </a:lnTo>
                    <a:lnTo>
                      <a:pt x="576388" y="271242"/>
                    </a:lnTo>
                    <a:lnTo>
                      <a:pt x="576388" y="120370"/>
                    </a:lnTo>
                    <a:lnTo>
                      <a:pt x="333376" y="222680"/>
                    </a:lnTo>
                    <a:cubicBezTo>
                      <a:pt x="315433" y="230224"/>
                      <a:pt x="286158" y="230695"/>
                      <a:pt x="268058" y="223780"/>
                    </a:cubicBezTo>
                    <a:lnTo>
                      <a:pt x="13556" y="125870"/>
                    </a:lnTo>
                    <a:cubicBezTo>
                      <a:pt x="-4544" y="118798"/>
                      <a:pt x="-4544" y="107640"/>
                      <a:pt x="13714" y="100882"/>
                    </a:cubicBezTo>
                    <a:lnTo>
                      <a:pt x="267901" y="5329"/>
                    </a:lnTo>
                    <a:cubicBezTo>
                      <a:pt x="277030" y="1872"/>
                      <a:pt x="288991" y="104"/>
                      <a:pt x="300973" y="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5353798" y="594610"/>
                <a:ext cx="1471702" cy="1471702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2279072" y="4910172"/>
              <a:ext cx="571700" cy="571700"/>
              <a:chOff x="1787721" y="4928420"/>
              <a:chExt cx="571700" cy="571700"/>
            </a:xfrm>
          </p:grpSpPr>
          <p:sp>
            <p:nvSpPr>
              <p:cNvPr id="78" name="椭圆 77"/>
              <p:cNvSpPr/>
              <p:nvPr/>
            </p:nvSpPr>
            <p:spPr>
              <a:xfrm>
                <a:off x="1787721" y="4928420"/>
                <a:ext cx="571700" cy="5717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任意多边形 75"/>
              <p:cNvSpPr/>
              <p:nvPr/>
            </p:nvSpPr>
            <p:spPr>
              <a:xfrm>
                <a:off x="1925105" y="5064585"/>
                <a:ext cx="296932" cy="299370"/>
              </a:xfrm>
              <a:custGeom>
                <a:avLst/>
                <a:gdLst>
                  <a:gd name="T0" fmla="*/ 2773 w 11164"/>
                  <a:gd name="T1" fmla="*/ 2760 h 11255"/>
                  <a:gd name="T2" fmla="*/ 5568 w 11164"/>
                  <a:gd name="T3" fmla="*/ 5520 h 11255"/>
                  <a:gd name="T4" fmla="*/ 8363 w 11164"/>
                  <a:gd name="T5" fmla="*/ 2760 h 11255"/>
                  <a:gd name="T6" fmla="*/ 5568 w 11164"/>
                  <a:gd name="T7" fmla="*/ 0 h 11255"/>
                  <a:gd name="T8" fmla="*/ 2773 w 11164"/>
                  <a:gd name="T9" fmla="*/ 2760 h 11255"/>
                  <a:gd name="T10" fmla="*/ 5582 w 11164"/>
                  <a:gd name="T11" fmla="*/ 6064 h 11255"/>
                  <a:gd name="T12" fmla="*/ 0 w 11164"/>
                  <a:gd name="T13" fmla="*/ 11255 h 11255"/>
                  <a:gd name="T14" fmla="*/ 11164 w 11164"/>
                  <a:gd name="T15" fmla="*/ 11255 h 11255"/>
                  <a:gd name="T16" fmla="*/ 5582 w 11164"/>
                  <a:gd name="T17" fmla="*/ 6064 h 11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64" h="11255">
                    <a:moveTo>
                      <a:pt x="2773" y="2760"/>
                    </a:moveTo>
                    <a:cubicBezTo>
                      <a:pt x="2773" y="4284"/>
                      <a:pt x="4025" y="5520"/>
                      <a:pt x="5568" y="5520"/>
                    </a:cubicBezTo>
                    <a:cubicBezTo>
                      <a:pt x="7112" y="5520"/>
                      <a:pt x="8363" y="4284"/>
                      <a:pt x="8363" y="2760"/>
                    </a:cubicBezTo>
                    <a:cubicBezTo>
                      <a:pt x="8363" y="1236"/>
                      <a:pt x="7112" y="0"/>
                      <a:pt x="5568" y="0"/>
                    </a:cubicBezTo>
                    <a:cubicBezTo>
                      <a:pt x="4025" y="0"/>
                      <a:pt x="2773" y="1236"/>
                      <a:pt x="2773" y="2760"/>
                    </a:cubicBezTo>
                    <a:close/>
                    <a:moveTo>
                      <a:pt x="5582" y="6064"/>
                    </a:moveTo>
                    <a:cubicBezTo>
                      <a:pt x="2556" y="6064"/>
                      <a:pt x="93" y="8373"/>
                      <a:pt x="0" y="11255"/>
                    </a:cubicBezTo>
                    <a:lnTo>
                      <a:pt x="11164" y="11255"/>
                    </a:lnTo>
                    <a:cubicBezTo>
                      <a:pt x="11071" y="8373"/>
                      <a:pt x="8608" y="6064"/>
                      <a:pt x="5582" y="60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6386776" y="4910172"/>
              <a:ext cx="571700" cy="571700"/>
              <a:chOff x="5895425" y="4891924"/>
              <a:chExt cx="571700" cy="571700"/>
            </a:xfrm>
          </p:grpSpPr>
          <p:sp>
            <p:nvSpPr>
              <p:cNvPr id="79" name="椭圆 78"/>
              <p:cNvSpPr/>
              <p:nvPr/>
            </p:nvSpPr>
            <p:spPr>
              <a:xfrm>
                <a:off x="5895425" y="4891924"/>
                <a:ext cx="571700" cy="5717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任意多边形 76"/>
              <p:cNvSpPr/>
              <p:nvPr/>
            </p:nvSpPr>
            <p:spPr>
              <a:xfrm>
                <a:off x="6031590" y="5030540"/>
                <a:ext cx="299370" cy="294468"/>
              </a:xfrm>
              <a:custGeom>
                <a:avLst/>
                <a:gdLst>
                  <a:gd name="T0" fmla="*/ 4737 w 4872"/>
                  <a:gd name="T1" fmla="*/ 3626 h 4800"/>
                  <a:gd name="T2" fmla="*/ 4051 w 4872"/>
                  <a:gd name="T3" fmla="*/ 2917 h 4800"/>
                  <a:gd name="T4" fmla="*/ 3718 w 4872"/>
                  <a:gd name="T5" fmla="*/ 2818 h 4800"/>
                  <a:gd name="T6" fmla="*/ 3591 w 4872"/>
                  <a:gd name="T7" fmla="*/ 2833 h 4800"/>
                  <a:gd name="T8" fmla="*/ 3185 w 4872"/>
                  <a:gd name="T9" fmla="*/ 3030 h 4800"/>
                  <a:gd name="T10" fmla="*/ 3030 w 4872"/>
                  <a:gd name="T11" fmla="*/ 3078 h 4800"/>
                  <a:gd name="T12" fmla="*/ 2823 w 4872"/>
                  <a:gd name="T13" fmla="*/ 3012 h 4800"/>
                  <a:gd name="T14" fmla="*/ 1801 w 4872"/>
                  <a:gd name="T15" fmla="*/ 1989 h 4800"/>
                  <a:gd name="T16" fmla="*/ 1782 w 4872"/>
                  <a:gd name="T17" fmla="*/ 1628 h 4800"/>
                  <a:gd name="T18" fmla="*/ 1980 w 4872"/>
                  <a:gd name="T19" fmla="*/ 1221 h 4800"/>
                  <a:gd name="T20" fmla="*/ 1896 w 4872"/>
                  <a:gd name="T21" fmla="*/ 762 h 4800"/>
                  <a:gd name="T22" fmla="*/ 1187 w 4872"/>
                  <a:gd name="T23" fmla="*/ 76 h 4800"/>
                  <a:gd name="T24" fmla="*/ 892 w 4872"/>
                  <a:gd name="T25" fmla="*/ 0 h 4800"/>
                  <a:gd name="T26" fmla="*/ 447 w 4872"/>
                  <a:gd name="T27" fmla="*/ 207 h 4800"/>
                  <a:gd name="T28" fmla="*/ 108 w 4872"/>
                  <a:gd name="T29" fmla="*/ 621 h 4800"/>
                  <a:gd name="T30" fmla="*/ 16 w 4872"/>
                  <a:gd name="T31" fmla="*/ 1083 h 4800"/>
                  <a:gd name="T32" fmla="*/ 17 w 4872"/>
                  <a:gd name="T33" fmla="*/ 1086 h 4800"/>
                  <a:gd name="T34" fmla="*/ 231 w 4872"/>
                  <a:gd name="T35" fmla="*/ 1767 h 4800"/>
                  <a:gd name="T36" fmla="*/ 1195 w 4872"/>
                  <a:gd name="T37" fmla="*/ 3091 h 4800"/>
                  <a:gd name="T38" fmla="*/ 1721 w 4872"/>
                  <a:gd name="T39" fmla="*/ 3618 h 4800"/>
                  <a:gd name="T40" fmla="*/ 3046 w 4872"/>
                  <a:gd name="T41" fmla="*/ 4581 h 4800"/>
                  <a:gd name="T42" fmla="*/ 3726 w 4872"/>
                  <a:gd name="T43" fmla="*/ 4796 h 4800"/>
                  <a:gd name="T44" fmla="*/ 3730 w 4872"/>
                  <a:gd name="T45" fmla="*/ 4796 h 4800"/>
                  <a:gd name="T46" fmla="*/ 3850 w 4872"/>
                  <a:gd name="T47" fmla="*/ 4800 h 4800"/>
                  <a:gd name="T48" fmla="*/ 3850 w 4872"/>
                  <a:gd name="T49" fmla="*/ 4800 h 4800"/>
                  <a:gd name="T50" fmla="*/ 4192 w 4872"/>
                  <a:gd name="T51" fmla="*/ 4704 h 4800"/>
                  <a:gd name="T52" fmla="*/ 4606 w 4872"/>
                  <a:gd name="T53" fmla="*/ 4366 h 4800"/>
                  <a:gd name="T54" fmla="*/ 4737 w 4872"/>
                  <a:gd name="T55" fmla="*/ 3626 h 4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72" h="4800">
                    <a:moveTo>
                      <a:pt x="4737" y="3626"/>
                    </a:moveTo>
                    <a:cubicBezTo>
                      <a:pt x="4581" y="3328"/>
                      <a:pt x="4351" y="3089"/>
                      <a:pt x="4051" y="2917"/>
                    </a:cubicBezTo>
                    <a:cubicBezTo>
                      <a:pt x="3936" y="2850"/>
                      <a:pt x="3827" y="2818"/>
                      <a:pt x="3718" y="2818"/>
                    </a:cubicBezTo>
                    <a:cubicBezTo>
                      <a:pt x="3675" y="2818"/>
                      <a:pt x="3633" y="2823"/>
                      <a:pt x="3591" y="2833"/>
                    </a:cubicBezTo>
                    <a:cubicBezTo>
                      <a:pt x="3453" y="2866"/>
                      <a:pt x="3320" y="2931"/>
                      <a:pt x="3185" y="3030"/>
                    </a:cubicBezTo>
                    <a:cubicBezTo>
                      <a:pt x="3143" y="3062"/>
                      <a:pt x="3091" y="3078"/>
                      <a:pt x="3030" y="3078"/>
                    </a:cubicBezTo>
                    <a:cubicBezTo>
                      <a:pt x="2957" y="3078"/>
                      <a:pt x="2878" y="3053"/>
                      <a:pt x="2823" y="3012"/>
                    </a:cubicBezTo>
                    <a:cubicBezTo>
                      <a:pt x="2429" y="2718"/>
                      <a:pt x="2095" y="2384"/>
                      <a:pt x="1801" y="1989"/>
                    </a:cubicBezTo>
                    <a:cubicBezTo>
                      <a:pt x="1743" y="1912"/>
                      <a:pt x="1697" y="1743"/>
                      <a:pt x="1782" y="1628"/>
                    </a:cubicBezTo>
                    <a:cubicBezTo>
                      <a:pt x="1882" y="1493"/>
                      <a:pt x="1947" y="1360"/>
                      <a:pt x="1980" y="1221"/>
                    </a:cubicBezTo>
                    <a:cubicBezTo>
                      <a:pt x="2016" y="1072"/>
                      <a:pt x="1989" y="922"/>
                      <a:pt x="1896" y="762"/>
                    </a:cubicBezTo>
                    <a:cubicBezTo>
                      <a:pt x="1724" y="462"/>
                      <a:pt x="1485" y="231"/>
                      <a:pt x="1187" y="76"/>
                    </a:cubicBezTo>
                    <a:cubicBezTo>
                      <a:pt x="1090" y="26"/>
                      <a:pt x="991" y="0"/>
                      <a:pt x="892" y="0"/>
                    </a:cubicBezTo>
                    <a:cubicBezTo>
                      <a:pt x="728" y="0"/>
                      <a:pt x="574" y="72"/>
                      <a:pt x="447" y="207"/>
                    </a:cubicBezTo>
                    <a:cubicBezTo>
                      <a:pt x="330" y="331"/>
                      <a:pt x="227" y="462"/>
                      <a:pt x="108" y="621"/>
                    </a:cubicBezTo>
                    <a:cubicBezTo>
                      <a:pt x="0" y="767"/>
                      <a:pt x="9" y="935"/>
                      <a:pt x="16" y="1083"/>
                    </a:cubicBezTo>
                    <a:lnTo>
                      <a:pt x="17" y="1086"/>
                    </a:lnTo>
                    <a:cubicBezTo>
                      <a:pt x="30" y="1274"/>
                      <a:pt x="100" y="1497"/>
                      <a:pt x="231" y="1767"/>
                    </a:cubicBezTo>
                    <a:cubicBezTo>
                      <a:pt x="453" y="2223"/>
                      <a:pt x="769" y="2656"/>
                      <a:pt x="1195" y="3091"/>
                    </a:cubicBezTo>
                    <a:cubicBezTo>
                      <a:pt x="1283" y="3181"/>
                      <a:pt x="1632" y="3530"/>
                      <a:pt x="1721" y="3618"/>
                    </a:cubicBezTo>
                    <a:cubicBezTo>
                      <a:pt x="2156" y="4044"/>
                      <a:pt x="2590" y="4359"/>
                      <a:pt x="3046" y="4581"/>
                    </a:cubicBezTo>
                    <a:cubicBezTo>
                      <a:pt x="3316" y="4713"/>
                      <a:pt x="3538" y="4783"/>
                      <a:pt x="3726" y="4796"/>
                    </a:cubicBezTo>
                    <a:lnTo>
                      <a:pt x="3730" y="4796"/>
                    </a:lnTo>
                    <a:cubicBezTo>
                      <a:pt x="3768" y="4798"/>
                      <a:pt x="3810" y="4800"/>
                      <a:pt x="3850" y="4800"/>
                    </a:cubicBezTo>
                    <a:lnTo>
                      <a:pt x="3850" y="4800"/>
                    </a:lnTo>
                    <a:cubicBezTo>
                      <a:pt x="3949" y="4800"/>
                      <a:pt x="4078" y="4789"/>
                      <a:pt x="4192" y="4704"/>
                    </a:cubicBezTo>
                    <a:cubicBezTo>
                      <a:pt x="4351" y="4585"/>
                      <a:pt x="4482" y="4482"/>
                      <a:pt x="4606" y="4366"/>
                    </a:cubicBezTo>
                    <a:cubicBezTo>
                      <a:pt x="4823" y="4162"/>
                      <a:pt x="4872" y="3886"/>
                      <a:pt x="4737" y="362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399" y="2144315"/>
            <a:ext cx="10858500" cy="152251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3733800" y="3882131"/>
            <a:ext cx="4711700" cy="58294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tabLst>
                <a:tab pos="7797800" algn="l"/>
              </a:tabLst>
              <a:defRPr lang="en-US" sz="2000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962282" y="4988741"/>
            <a:ext cx="2830242" cy="414562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7069986" y="4988741"/>
            <a:ext cx="2830242" cy="414562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5513364"/>
            <a:ext cx="12192000" cy="1344636"/>
            <a:chOff x="0" y="5513364"/>
            <a:chExt cx="12192000" cy="1344636"/>
          </a:xfrm>
        </p:grpSpPr>
        <p:sp>
          <p:nvSpPr>
            <p:cNvPr id="24" name="任意多边形 23"/>
            <p:cNvSpPr/>
            <p:nvPr/>
          </p:nvSpPr>
          <p:spPr>
            <a:xfrm>
              <a:off x="0" y="5513364"/>
              <a:ext cx="12192000" cy="1344636"/>
            </a:xfrm>
            <a:custGeom>
              <a:avLst/>
              <a:gdLst>
                <a:gd name="connsiteX0" fmla="*/ 0 w 12192000"/>
                <a:gd name="connsiteY0" fmla="*/ 0 h 1344636"/>
                <a:gd name="connsiteX1" fmla="*/ 33819 w 12192000"/>
                <a:gd name="connsiteY1" fmla="*/ 16709 h 1344636"/>
                <a:gd name="connsiteX2" fmla="*/ 6096000 w 12192000"/>
                <a:gd name="connsiteY2" fmla="*/ 875413 h 1344636"/>
                <a:gd name="connsiteX3" fmla="*/ 12158181 w 12192000"/>
                <a:gd name="connsiteY3" fmla="*/ 16709 h 1344636"/>
                <a:gd name="connsiteX4" fmla="*/ 12192000 w 12192000"/>
                <a:gd name="connsiteY4" fmla="*/ 0 h 1344636"/>
                <a:gd name="connsiteX5" fmla="*/ 12192000 w 12192000"/>
                <a:gd name="connsiteY5" fmla="*/ 1344636 h 1344636"/>
                <a:gd name="connsiteX6" fmla="*/ 0 w 12192000"/>
                <a:gd name="connsiteY6" fmla="*/ 1344636 h 1344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344636">
                  <a:moveTo>
                    <a:pt x="0" y="0"/>
                  </a:moveTo>
                  <a:lnTo>
                    <a:pt x="33819" y="16709"/>
                  </a:lnTo>
                  <a:cubicBezTo>
                    <a:pt x="1201292" y="528192"/>
                    <a:pt x="3478270" y="875413"/>
                    <a:pt x="6096000" y="875413"/>
                  </a:cubicBezTo>
                  <a:cubicBezTo>
                    <a:pt x="8713730" y="875413"/>
                    <a:pt x="10990708" y="528192"/>
                    <a:pt x="12158181" y="16709"/>
                  </a:cubicBezTo>
                  <a:lnTo>
                    <a:pt x="12192000" y="0"/>
                  </a:lnTo>
                  <a:lnTo>
                    <a:pt x="12192000" y="1344636"/>
                  </a:lnTo>
                  <a:lnTo>
                    <a:pt x="0" y="1344636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0" y="6054064"/>
              <a:ext cx="12192000" cy="803936"/>
            </a:xfrm>
            <a:custGeom>
              <a:avLst/>
              <a:gdLst>
                <a:gd name="connsiteX0" fmla="*/ 0 w 12192000"/>
                <a:gd name="connsiteY0" fmla="*/ 0 h 803936"/>
                <a:gd name="connsiteX1" fmla="*/ 374491 w 12192000"/>
                <a:gd name="connsiteY1" fmla="*/ 52753 h 803936"/>
                <a:gd name="connsiteX2" fmla="*/ 6096000 w 12192000"/>
                <a:gd name="connsiteY2" fmla="*/ 372604 h 803936"/>
                <a:gd name="connsiteX3" fmla="*/ 11817509 w 12192000"/>
                <a:gd name="connsiteY3" fmla="*/ 52753 h 803936"/>
                <a:gd name="connsiteX4" fmla="*/ 12192000 w 12192000"/>
                <a:gd name="connsiteY4" fmla="*/ 0 h 803936"/>
                <a:gd name="connsiteX5" fmla="*/ 12192000 w 12192000"/>
                <a:gd name="connsiteY5" fmla="*/ 803936 h 803936"/>
                <a:gd name="connsiteX6" fmla="*/ 0 w 12192000"/>
                <a:gd name="connsiteY6" fmla="*/ 803936 h 80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803936">
                  <a:moveTo>
                    <a:pt x="0" y="0"/>
                  </a:moveTo>
                  <a:lnTo>
                    <a:pt x="374491" y="52753"/>
                  </a:lnTo>
                  <a:cubicBezTo>
                    <a:pt x="1879965" y="251345"/>
                    <a:pt x="3889238" y="372604"/>
                    <a:pt x="6096000" y="372604"/>
                  </a:cubicBezTo>
                  <a:cubicBezTo>
                    <a:pt x="8302762" y="372604"/>
                    <a:pt x="10312035" y="251345"/>
                    <a:pt x="11817509" y="52753"/>
                  </a:cubicBezTo>
                  <a:lnTo>
                    <a:pt x="12192000" y="0"/>
                  </a:lnTo>
                  <a:lnTo>
                    <a:pt x="12192000" y="803936"/>
                  </a:lnTo>
                  <a:lnTo>
                    <a:pt x="0" y="803936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446233"/>
            <a:ext cx="1911688" cy="1296056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942677" y="1446234"/>
            <a:ext cx="8588921" cy="4186204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2757383" y="1446233"/>
            <a:ext cx="0" cy="4186204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任意多边形 9"/>
          <p:cNvSpPr>
            <a:spLocks noChangeAspect="1"/>
          </p:cNvSpPr>
          <p:nvPr/>
        </p:nvSpPr>
        <p:spPr bwMode="auto">
          <a:xfrm>
            <a:off x="1611070" y="4588223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1" name="矩形 30"/>
            <p:cNvSpPr/>
            <p:nvPr/>
          </p:nvSpPr>
          <p:spPr>
            <a:xfrm>
              <a:off x="0" y="5080"/>
              <a:ext cx="12192000" cy="6847840"/>
            </a:xfrm>
            <a:prstGeom prst="rect">
              <a:avLst/>
            </a:prstGeom>
            <a:blipFill>
              <a:blip r:embed="rId2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 anchor="ctr"/>
            <a:lstStyle/>
            <a:p>
              <a:pPr algn="ctr"/>
              <a:endParaRPr 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 40"/>
            <p:cNvSpPr/>
            <p:nvPr/>
          </p:nvSpPr>
          <p:spPr>
            <a:xfrm>
              <a:off x="9202056" y="4849848"/>
              <a:ext cx="2989943" cy="2008151"/>
            </a:xfrm>
            <a:custGeom>
              <a:avLst/>
              <a:gdLst>
                <a:gd name="connsiteX0" fmla="*/ 2687120 w 2755978"/>
                <a:gd name="connsiteY0" fmla="*/ 0 h 1851012"/>
                <a:gd name="connsiteX1" fmla="*/ 2755978 w 2755978"/>
                <a:gd name="connsiteY1" fmla="*/ 1108 h 1851012"/>
                <a:gd name="connsiteX2" fmla="*/ 2755978 w 2755978"/>
                <a:gd name="connsiteY2" fmla="*/ 1851012 h 1851012"/>
                <a:gd name="connsiteX3" fmla="*/ 8191 w 2755978"/>
                <a:gd name="connsiteY3" fmla="*/ 1851012 h 1851012"/>
                <a:gd name="connsiteX4" fmla="*/ 390 w 2755978"/>
                <a:gd name="connsiteY4" fmla="*/ 1795336 h 1851012"/>
                <a:gd name="connsiteX5" fmla="*/ 789448 w 2755978"/>
                <a:gd name="connsiteY5" fmla="*/ 1108535 h 1851012"/>
                <a:gd name="connsiteX6" fmla="*/ 854037 w 2755978"/>
                <a:gd name="connsiteY6" fmla="*/ 1106059 h 1851012"/>
                <a:gd name="connsiteX7" fmla="*/ 1500883 w 2755978"/>
                <a:gd name="connsiteY7" fmla="*/ 826214 h 1851012"/>
                <a:gd name="connsiteX8" fmla="*/ 2120559 w 2755978"/>
                <a:gd name="connsiteY8" fmla="*/ 216519 h 1851012"/>
                <a:gd name="connsiteX9" fmla="*/ 2687120 w 2755978"/>
                <a:gd name="connsiteY9" fmla="*/ 0 h 1851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55978" h="1851012">
                  <a:moveTo>
                    <a:pt x="2687120" y="0"/>
                  </a:moveTo>
                  <a:lnTo>
                    <a:pt x="2755978" y="1108"/>
                  </a:lnTo>
                  <a:lnTo>
                    <a:pt x="2755978" y="1851012"/>
                  </a:lnTo>
                  <a:lnTo>
                    <a:pt x="8191" y="1851012"/>
                  </a:lnTo>
                  <a:lnTo>
                    <a:pt x="390" y="1795336"/>
                  </a:lnTo>
                  <a:cubicBezTo>
                    <a:pt x="-11482" y="1466818"/>
                    <a:pt x="247709" y="1132348"/>
                    <a:pt x="789448" y="1108535"/>
                  </a:cubicBezTo>
                  <a:cubicBezTo>
                    <a:pt x="811613" y="1107582"/>
                    <a:pt x="833183" y="1106725"/>
                    <a:pt x="854037" y="1106059"/>
                  </a:cubicBezTo>
                  <a:cubicBezTo>
                    <a:pt x="1112156" y="1097296"/>
                    <a:pt x="1350254" y="993949"/>
                    <a:pt x="1500883" y="826214"/>
                  </a:cubicBezTo>
                  <a:cubicBezTo>
                    <a:pt x="1710858" y="592375"/>
                    <a:pt x="1920117" y="390255"/>
                    <a:pt x="2120559" y="216519"/>
                  </a:cubicBezTo>
                  <a:cubicBezTo>
                    <a:pt x="2282255" y="76353"/>
                    <a:pt x="2484904" y="8470"/>
                    <a:pt x="2687120" y="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9436022" y="5006988"/>
              <a:ext cx="2755978" cy="1851012"/>
            </a:xfrm>
            <a:custGeom>
              <a:avLst/>
              <a:gdLst>
                <a:gd name="connsiteX0" fmla="*/ 2687120 w 2755978"/>
                <a:gd name="connsiteY0" fmla="*/ 0 h 1851012"/>
                <a:gd name="connsiteX1" fmla="*/ 2755978 w 2755978"/>
                <a:gd name="connsiteY1" fmla="*/ 1108 h 1851012"/>
                <a:gd name="connsiteX2" fmla="*/ 2755978 w 2755978"/>
                <a:gd name="connsiteY2" fmla="*/ 1851012 h 1851012"/>
                <a:gd name="connsiteX3" fmla="*/ 8191 w 2755978"/>
                <a:gd name="connsiteY3" fmla="*/ 1851012 h 1851012"/>
                <a:gd name="connsiteX4" fmla="*/ 390 w 2755978"/>
                <a:gd name="connsiteY4" fmla="*/ 1795336 h 1851012"/>
                <a:gd name="connsiteX5" fmla="*/ 789448 w 2755978"/>
                <a:gd name="connsiteY5" fmla="*/ 1108535 h 1851012"/>
                <a:gd name="connsiteX6" fmla="*/ 854037 w 2755978"/>
                <a:gd name="connsiteY6" fmla="*/ 1106059 h 1851012"/>
                <a:gd name="connsiteX7" fmla="*/ 1500883 w 2755978"/>
                <a:gd name="connsiteY7" fmla="*/ 826214 h 1851012"/>
                <a:gd name="connsiteX8" fmla="*/ 2120559 w 2755978"/>
                <a:gd name="connsiteY8" fmla="*/ 216519 h 1851012"/>
                <a:gd name="connsiteX9" fmla="*/ 2687120 w 2755978"/>
                <a:gd name="connsiteY9" fmla="*/ 0 h 1851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55978" h="1851012">
                  <a:moveTo>
                    <a:pt x="2687120" y="0"/>
                  </a:moveTo>
                  <a:lnTo>
                    <a:pt x="2755978" y="1108"/>
                  </a:lnTo>
                  <a:lnTo>
                    <a:pt x="2755978" y="1851012"/>
                  </a:lnTo>
                  <a:lnTo>
                    <a:pt x="8191" y="1851012"/>
                  </a:lnTo>
                  <a:lnTo>
                    <a:pt x="390" y="1795336"/>
                  </a:lnTo>
                  <a:cubicBezTo>
                    <a:pt x="-11482" y="1466818"/>
                    <a:pt x="247709" y="1132348"/>
                    <a:pt x="789448" y="1108535"/>
                  </a:cubicBezTo>
                  <a:cubicBezTo>
                    <a:pt x="811613" y="1107582"/>
                    <a:pt x="833183" y="1106725"/>
                    <a:pt x="854037" y="1106059"/>
                  </a:cubicBezTo>
                  <a:cubicBezTo>
                    <a:pt x="1112156" y="1097296"/>
                    <a:pt x="1350254" y="993949"/>
                    <a:pt x="1500883" y="826214"/>
                  </a:cubicBezTo>
                  <a:cubicBezTo>
                    <a:pt x="1710858" y="592375"/>
                    <a:pt x="1920117" y="390255"/>
                    <a:pt x="2120559" y="216519"/>
                  </a:cubicBezTo>
                  <a:cubicBezTo>
                    <a:pt x="2282255" y="76353"/>
                    <a:pt x="2484904" y="8470"/>
                    <a:pt x="2687120" y="0"/>
                  </a:cubicBezTo>
                  <a:close/>
                </a:path>
              </a:pathLst>
            </a:custGeom>
            <a:solidFill>
              <a:schemeClr val="accent1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 42"/>
            <p:cNvSpPr/>
            <p:nvPr/>
          </p:nvSpPr>
          <p:spPr>
            <a:xfrm flipH="1" flipV="1">
              <a:off x="0" y="0"/>
              <a:ext cx="2989943" cy="2008151"/>
            </a:xfrm>
            <a:custGeom>
              <a:avLst/>
              <a:gdLst>
                <a:gd name="connsiteX0" fmla="*/ 2687120 w 2755978"/>
                <a:gd name="connsiteY0" fmla="*/ 0 h 1851012"/>
                <a:gd name="connsiteX1" fmla="*/ 2755978 w 2755978"/>
                <a:gd name="connsiteY1" fmla="*/ 1108 h 1851012"/>
                <a:gd name="connsiteX2" fmla="*/ 2755978 w 2755978"/>
                <a:gd name="connsiteY2" fmla="*/ 1851012 h 1851012"/>
                <a:gd name="connsiteX3" fmla="*/ 8191 w 2755978"/>
                <a:gd name="connsiteY3" fmla="*/ 1851012 h 1851012"/>
                <a:gd name="connsiteX4" fmla="*/ 390 w 2755978"/>
                <a:gd name="connsiteY4" fmla="*/ 1795336 h 1851012"/>
                <a:gd name="connsiteX5" fmla="*/ 789448 w 2755978"/>
                <a:gd name="connsiteY5" fmla="*/ 1108535 h 1851012"/>
                <a:gd name="connsiteX6" fmla="*/ 854037 w 2755978"/>
                <a:gd name="connsiteY6" fmla="*/ 1106059 h 1851012"/>
                <a:gd name="connsiteX7" fmla="*/ 1500883 w 2755978"/>
                <a:gd name="connsiteY7" fmla="*/ 826214 h 1851012"/>
                <a:gd name="connsiteX8" fmla="*/ 2120559 w 2755978"/>
                <a:gd name="connsiteY8" fmla="*/ 216519 h 1851012"/>
                <a:gd name="connsiteX9" fmla="*/ 2687120 w 2755978"/>
                <a:gd name="connsiteY9" fmla="*/ 0 h 1851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55978" h="1851012">
                  <a:moveTo>
                    <a:pt x="2687120" y="0"/>
                  </a:moveTo>
                  <a:lnTo>
                    <a:pt x="2755978" y="1108"/>
                  </a:lnTo>
                  <a:lnTo>
                    <a:pt x="2755978" y="1851012"/>
                  </a:lnTo>
                  <a:lnTo>
                    <a:pt x="8191" y="1851012"/>
                  </a:lnTo>
                  <a:lnTo>
                    <a:pt x="390" y="1795336"/>
                  </a:lnTo>
                  <a:cubicBezTo>
                    <a:pt x="-11482" y="1466818"/>
                    <a:pt x="247709" y="1132348"/>
                    <a:pt x="789448" y="1108535"/>
                  </a:cubicBezTo>
                  <a:cubicBezTo>
                    <a:pt x="811613" y="1107582"/>
                    <a:pt x="833183" y="1106725"/>
                    <a:pt x="854037" y="1106059"/>
                  </a:cubicBezTo>
                  <a:cubicBezTo>
                    <a:pt x="1112156" y="1097296"/>
                    <a:pt x="1350254" y="993949"/>
                    <a:pt x="1500883" y="826214"/>
                  </a:cubicBezTo>
                  <a:cubicBezTo>
                    <a:pt x="1710858" y="592375"/>
                    <a:pt x="1920117" y="390255"/>
                    <a:pt x="2120559" y="216519"/>
                  </a:cubicBezTo>
                  <a:cubicBezTo>
                    <a:pt x="2282255" y="76353"/>
                    <a:pt x="2484904" y="8470"/>
                    <a:pt x="2687120" y="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 43"/>
            <p:cNvSpPr/>
            <p:nvPr/>
          </p:nvSpPr>
          <p:spPr>
            <a:xfrm flipH="1" flipV="1">
              <a:off x="0" y="0"/>
              <a:ext cx="2755978" cy="1851012"/>
            </a:xfrm>
            <a:custGeom>
              <a:avLst/>
              <a:gdLst>
                <a:gd name="connsiteX0" fmla="*/ 2687120 w 2755978"/>
                <a:gd name="connsiteY0" fmla="*/ 0 h 1851012"/>
                <a:gd name="connsiteX1" fmla="*/ 2755978 w 2755978"/>
                <a:gd name="connsiteY1" fmla="*/ 1108 h 1851012"/>
                <a:gd name="connsiteX2" fmla="*/ 2755978 w 2755978"/>
                <a:gd name="connsiteY2" fmla="*/ 1851012 h 1851012"/>
                <a:gd name="connsiteX3" fmla="*/ 8191 w 2755978"/>
                <a:gd name="connsiteY3" fmla="*/ 1851012 h 1851012"/>
                <a:gd name="connsiteX4" fmla="*/ 390 w 2755978"/>
                <a:gd name="connsiteY4" fmla="*/ 1795336 h 1851012"/>
                <a:gd name="connsiteX5" fmla="*/ 789448 w 2755978"/>
                <a:gd name="connsiteY5" fmla="*/ 1108535 h 1851012"/>
                <a:gd name="connsiteX6" fmla="*/ 854037 w 2755978"/>
                <a:gd name="connsiteY6" fmla="*/ 1106059 h 1851012"/>
                <a:gd name="connsiteX7" fmla="*/ 1500883 w 2755978"/>
                <a:gd name="connsiteY7" fmla="*/ 826214 h 1851012"/>
                <a:gd name="connsiteX8" fmla="*/ 2120559 w 2755978"/>
                <a:gd name="connsiteY8" fmla="*/ 216519 h 1851012"/>
                <a:gd name="connsiteX9" fmla="*/ 2687120 w 2755978"/>
                <a:gd name="connsiteY9" fmla="*/ 0 h 1851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55978" h="1851012">
                  <a:moveTo>
                    <a:pt x="2687120" y="0"/>
                  </a:moveTo>
                  <a:lnTo>
                    <a:pt x="2755978" y="1108"/>
                  </a:lnTo>
                  <a:lnTo>
                    <a:pt x="2755978" y="1851012"/>
                  </a:lnTo>
                  <a:lnTo>
                    <a:pt x="8191" y="1851012"/>
                  </a:lnTo>
                  <a:lnTo>
                    <a:pt x="390" y="1795336"/>
                  </a:lnTo>
                  <a:cubicBezTo>
                    <a:pt x="-11482" y="1466818"/>
                    <a:pt x="247709" y="1132348"/>
                    <a:pt x="789448" y="1108535"/>
                  </a:cubicBezTo>
                  <a:cubicBezTo>
                    <a:pt x="811613" y="1107582"/>
                    <a:pt x="833183" y="1106725"/>
                    <a:pt x="854037" y="1106059"/>
                  </a:cubicBezTo>
                  <a:cubicBezTo>
                    <a:pt x="1112156" y="1097296"/>
                    <a:pt x="1350254" y="993949"/>
                    <a:pt x="1500883" y="826214"/>
                  </a:cubicBezTo>
                  <a:cubicBezTo>
                    <a:pt x="1710858" y="592375"/>
                    <a:pt x="1920117" y="390255"/>
                    <a:pt x="2120559" y="216519"/>
                  </a:cubicBezTo>
                  <a:cubicBezTo>
                    <a:pt x="2282255" y="76353"/>
                    <a:pt x="2484904" y="8470"/>
                    <a:pt x="2687120" y="0"/>
                  </a:cubicBezTo>
                  <a:close/>
                </a:path>
              </a:pathLst>
            </a:custGeom>
            <a:solidFill>
              <a:schemeClr val="accent1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41930" y="2841170"/>
            <a:ext cx="8895442" cy="121720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1641930" y="4058376"/>
            <a:ext cx="8895442" cy="143891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4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矩形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 l="-111" r="-111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9202056" y="4849848"/>
              <a:ext cx="2989944" cy="2008152"/>
              <a:chOff x="9202056" y="4849848"/>
              <a:chExt cx="2989944" cy="2008152"/>
            </a:xfrm>
          </p:grpSpPr>
          <p:sp>
            <p:nvSpPr>
              <p:cNvPr id="10" name="任意多边形 9"/>
              <p:cNvSpPr/>
              <p:nvPr/>
            </p:nvSpPr>
            <p:spPr>
              <a:xfrm>
                <a:off x="9202056" y="4849848"/>
                <a:ext cx="2989943" cy="2008151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436022" y="5006988"/>
                <a:ext cx="2755978" cy="1851012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0" y="0"/>
              <a:ext cx="2989943" cy="2008151"/>
              <a:chOff x="0" y="0"/>
              <a:chExt cx="2989943" cy="2008151"/>
            </a:xfrm>
          </p:grpSpPr>
          <p:sp>
            <p:nvSpPr>
              <p:cNvPr id="26" name="任意多边形 25"/>
              <p:cNvSpPr/>
              <p:nvPr/>
            </p:nvSpPr>
            <p:spPr>
              <a:xfrm flipH="1" flipV="1">
                <a:off x="0" y="0"/>
                <a:ext cx="2989943" cy="2008151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 26"/>
              <p:cNvSpPr/>
              <p:nvPr/>
            </p:nvSpPr>
            <p:spPr>
              <a:xfrm flipH="1" flipV="1">
                <a:off x="0" y="0"/>
                <a:ext cx="2755978" cy="1851012"/>
              </a:xfrm>
              <a:custGeom>
                <a:avLst/>
                <a:gdLst>
                  <a:gd name="connsiteX0" fmla="*/ 2687120 w 2755978"/>
                  <a:gd name="connsiteY0" fmla="*/ 0 h 1851012"/>
                  <a:gd name="connsiteX1" fmla="*/ 2755978 w 2755978"/>
                  <a:gd name="connsiteY1" fmla="*/ 1108 h 1851012"/>
                  <a:gd name="connsiteX2" fmla="*/ 2755978 w 2755978"/>
                  <a:gd name="connsiteY2" fmla="*/ 1851012 h 1851012"/>
                  <a:gd name="connsiteX3" fmla="*/ 8191 w 2755978"/>
                  <a:gd name="connsiteY3" fmla="*/ 1851012 h 1851012"/>
                  <a:gd name="connsiteX4" fmla="*/ 390 w 2755978"/>
                  <a:gd name="connsiteY4" fmla="*/ 1795336 h 1851012"/>
                  <a:gd name="connsiteX5" fmla="*/ 789448 w 2755978"/>
                  <a:gd name="connsiteY5" fmla="*/ 1108535 h 1851012"/>
                  <a:gd name="connsiteX6" fmla="*/ 854037 w 2755978"/>
                  <a:gd name="connsiteY6" fmla="*/ 1106059 h 1851012"/>
                  <a:gd name="connsiteX7" fmla="*/ 1500883 w 2755978"/>
                  <a:gd name="connsiteY7" fmla="*/ 826214 h 1851012"/>
                  <a:gd name="connsiteX8" fmla="*/ 2120559 w 2755978"/>
                  <a:gd name="connsiteY8" fmla="*/ 216519 h 1851012"/>
                  <a:gd name="connsiteX9" fmla="*/ 2687120 w 2755978"/>
                  <a:gd name="connsiteY9" fmla="*/ 0 h 1851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55978" h="1851012">
                    <a:moveTo>
                      <a:pt x="2687120" y="0"/>
                    </a:moveTo>
                    <a:lnTo>
                      <a:pt x="2755978" y="1108"/>
                    </a:lnTo>
                    <a:lnTo>
                      <a:pt x="2755978" y="1851012"/>
                    </a:lnTo>
                    <a:lnTo>
                      <a:pt x="8191" y="1851012"/>
                    </a:lnTo>
                    <a:lnTo>
                      <a:pt x="390" y="1795336"/>
                    </a:lnTo>
                    <a:cubicBezTo>
                      <a:pt x="-11482" y="1466818"/>
                      <a:pt x="247709" y="1132348"/>
                      <a:pt x="789448" y="1108535"/>
                    </a:cubicBezTo>
                    <a:cubicBezTo>
                      <a:pt x="811613" y="1107582"/>
                      <a:pt x="833183" y="1106725"/>
                      <a:pt x="854037" y="1106059"/>
                    </a:cubicBezTo>
                    <a:cubicBezTo>
                      <a:pt x="1112156" y="1097296"/>
                      <a:pt x="1350254" y="993949"/>
                      <a:pt x="1500883" y="826214"/>
                    </a:cubicBezTo>
                    <a:cubicBezTo>
                      <a:pt x="1710858" y="592375"/>
                      <a:pt x="1920117" y="390255"/>
                      <a:pt x="2120559" y="216519"/>
                    </a:cubicBezTo>
                    <a:cubicBezTo>
                      <a:pt x="2282255" y="76353"/>
                      <a:pt x="2484904" y="8470"/>
                      <a:pt x="26871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19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5353798" y="594610"/>
              <a:ext cx="1471702" cy="1471702"/>
              <a:chOff x="5353798" y="594610"/>
              <a:chExt cx="1471702" cy="1471702"/>
            </a:xfrm>
          </p:grpSpPr>
          <p:sp>
            <p:nvSpPr>
              <p:cNvPr id="9" name="任意多边形 8"/>
              <p:cNvSpPr/>
              <p:nvPr/>
            </p:nvSpPr>
            <p:spPr>
              <a:xfrm>
                <a:off x="5532347" y="978311"/>
                <a:ext cx="1114605" cy="704301"/>
              </a:xfrm>
              <a:custGeom>
                <a:avLst/>
                <a:gdLst>
                  <a:gd name="connsiteX0" fmla="*/ 104550 w 604718"/>
                  <a:gd name="connsiteY0" fmla="*/ 208330 h 382112"/>
                  <a:gd name="connsiteX1" fmla="*/ 156180 w 604718"/>
                  <a:gd name="connsiteY1" fmla="*/ 208330 h 382112"/>
                  <a:gd name="connsiteX2" fmla="*/ 261642 w 604718"/>
                  <a:gd name="connsiteY2" fmla="*/ 248878 h 382112"/>
                  <a:gd name="connsiteX3" fmla="*/ 298947 w 604718"/>
                  <a:gd name="connsiteY3" fmla="*/ 255007 h 382112"/>
                  <a:gd name="connsiteX4" fmla="*/ 340187 w 604718"/>
                  <a:gd name="connsiteY4" fmla="*/ 247621 h 382112"/>
                  <a:gd name="connsiteX5" fmla="*/ 433687 w 604718"/>
                  <a:gd name="connsiteY5" fmla="*/ 208330 h 382112"/>
                  <a:gd name="connsiteX6" fmla="*/ 490825 w 604718"/>
                  <a:gd name="connsiteY6" fmla="*/ 208330 h 382112"/>
                  <a:gd name="connsiteX7" fmla="*/ 490825 w 604718"/>
                  <a:gd name="connsiteY7" fmla="*/ 271509 h 382112"/>
                  <a:gd name="connsiteX8" fmla="*/ 458400 w 604718"/>
                  <a:gd name="connsiteY8" fmla="*/ 320701 h 382112"/>
                  <a:gd name="connsiteX9" fmla="*/ 329326 w 604718"/>
                  <a:gd name="connsiteY9" fmla="*/ 376337 h 382112"/>
                  <a:gd name="connsiteX10" fmla="*/ 264632 w 604718"/>
                  <a:gd name="connsiteY10" fmla="*/ 376337 h 382112"/>
                  <a:gd name="connsiteX11" fmla="*/ 136819 w 604718"/>
                  <a:gd name="connsiteY11" fmla="*/ 320701 h 382112"/>
                  <a:gd name="connsiteX12" fmla="*/ 104550 w 604718"/>
                  <a:gd name="connsiteY12" fmla="*/ 271509 h 382112"/>
                  <a:gd name="connsiteX13" fmla="*/ 300973 w 604718"/>
                  <a:gd name="connsiteY13" fmla="*/ 5 h 382112"/>
                  <a:gd name="connsiteX14" fmla="*/ 334162 w 604718"/>
                  <a:gd name="connsiteY14" fmla="*/ 4701 h 382112"/>
                  <a:gd name="connsiteX15" fmla="*/ 581267 w 604718"/>
                  <a:gd name="connsiteY15" fmla="*/ 92552 h 382112"/>
                  <a:gd name="connsiteX16" fmla="*/ 588822 w 604718"/>
                  <a:gd name="connsiteY16" fmla="*/ 114398 h 382112"/>
                  <a:gd name="connsiteX17" fmla="*/ 589136 w 604718"/>
                  <a:gd name="connsiteY17" fmla="*/ 114398 h 382112"/>
                  <a:gd name="connsiteX18" fmla="*/ 589136 w 604718"/>
                  <a:gd name="connsiteY18" fmla="*/ 270771 h 382112"/>
                  <a:gd name="connsiteX19" fmla="*/ 604718 w 604718"/>
                  <a:gd name="connsiteY19" fmla="*/ 321376 h 382112"/>
                  <a:gd name="connsiteX20" fmla="*/ 561278 w 604718"/>
                  <a:gd name="connsiteY20" fmla="*/ 321376 h 382112"/>
                  <a:gd name="connsiteX21" fmla="*/ 576388 w 604718"/>
                  <a:gd name="connsiteY21" fmla="*/ 271242 h 382112"/>
                  <a:gd name="connsiteX22" fmla="*/ 576388 w 604718"/>
                  <a:gd name="connsiteY22" fmla="*/ 120370 h 382112"/>
                  <a:gd name="connsiteX23" fmla="*/ 333376 w 604718"/>
                  <a:gd name="connsiteY23" fmla="*/ 222680 h 382112"/>
                  <a:gd name="connsiteX24" fmla="*/ 268058 w 604718"/>
                  <a:gd name="connsiteY24" fmla="*/ 223780 h 382112"/>
                  <a:gd name="connsiteX25" fmla="*/ 13556 w 604718"/>
                  <a:gd name="connsiteY25" fmla="*/ 125870 h 382112"/>
                  <a:gd name="connsiteX26" fmla="*/ 13714 w 604718"/>
                  <a:gd name="connsiteY26" fmla="*/ 100882 h 382112"/>
                  <a:gd name="connsiteX27" fmla="*/ 267901 w 604718"/>
                  <a:gd name="connsiteY27" fmla="*/ 5329 h 382112"/>
                  <a:gd name="connsiteX28" fmla="*/ 300973 w 604718"/>
                  <a:gd name="connsiteY28" fmla="*/ 5 h 382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04718" h="382112">
                    <a:moveTo>
                      <a:pt x="104550" y="208330"/>
                    </a:moveTo>
                    <a:lnTo>
                      <a:pt x="156180" y="208330"/>
                    </a:lnTo>
                    <a:lnTo>
                      <a:pt x="261642" y="248878"/>
                    </a:lnTo>
                    <a:cubicBezTo>
                      <a:pt x="274864" y="253907"/>
                      <a:pt x="289188" y="255007"/>
                      <a:pt x="298947" y="255007"/>
                    </a:cubicBezTo>
                    <a:cubicBezTo>
                      <a:pt x="314373" y="255007"/>
                      <a:pt x="329012" y="252493"/>
                      <a:pt x="340187" y="247621"/>
                    </a:cubicBezTo>
                    <a:lnTo>
                      <a:pt x="433687" y="208330"/>
                    </a:lnTo>
                    <a:lnTo>
                      <a:pt x="490825" y="208330"/>
                    </a:lnTo>
                    <a:lnTo>
                      <a:pt x="490825" y="271509"/>
                    </a:lnTo>
                    <a:cubicBezTo>
                      <a:pt x="490825" y="290998"/>
                      <a:pt x="476344" y="313000"/>
                      <a:pt x="458400" y="320701"/>
                    </a:cubicBezTo>
                    <a:lnTo>
                      <a:pt x="329326" y="376337"/>
                    </a:lnTo>
                    <a:cubicBezTo>
                      <a:pt x="311382" y="384038"/>
                      <a:pt x="282419" y="384038"/>
                      <a:pt x="264632" y="376337"/>
                    </a:cubicBezTo>
                    <a:lnTo>
                      <a:pt x="136819" y="320701"/>
                    </a:lnTo>
                    <a:cubicBezTo>
                      <a:pt x="119032" y="313000"/>
                      <a:pt x="104550" y="290998"/>
                      <a:pt x="104550" y="271509"/>
                    </a:cubicBezTo>
                    <a:close/>
                    <a:moveTo>
                      <a:pt x="300973" y="5"/>
                    </a:moveTo>
                    <a:cubicBezTo>
                      <a:pt x="312954" y="-93"/>
                      <a:pt x="324955" y="1479"/>
                      <a:pt x="334162" y="4701"/>
                    </a:cubicBezTo>
                    <a:lnTo>
                      <a:pt x="581267" y="92552"/>
                    </a:lnTo>
                    <a:cubicBezTo>
                      <a:pt x="596849" y="98053"/>
                      <a:pt x="599210" y="107168"/>
                      <a:pt x="588822" y="114398"/>
                    </a:cubicBezTo>
                    <a:lnTo>
                      <a:pt x="589136" y="114398"/>
                    </a:lnTo>
                    <a:lnTo>
                      <a:pt x="589136" y="270771"/>
                    </a:lnTo>
                    <a:lnTo>
                      <a:pt x="604718" y="321376"/>
                    </a:lnTo>
                    <a:lnTo>
                      <a:pt x="561278" y="321376"/>
                    </a:lnTo>
                    <a:lnTo>
                      <a:pt x="576388" y="271242"/>
                    </a:lnTo>
                    <a:lnTo>
                      <a:pt x="576388" y="120370"/>
                    </a:lnTo>
                    <a:lnTo>
                      <a:pt x="333376" y="222680"/>
                    </a:lnTo>
                    <a:cubicBezTo>
                      <a:pt x="315433" y="230224"/>
                      <a:pt x="286158" y="230695"/>
                      <a:pt x="268058" y="223780"/>
                    </a:cubicBezTo>
                    <a:lnTo>
                      <a:pt x="13556" y="125870"/>
                    </a:lnTo>
                    <a:cubicBezTo>
                      <a:pt x="-4544" y="118798"/>
                      <a:pt x="-4544" y="107640"/>
                      <a:pt x="13714" y="100882"/>
                    </a:cubicBezTo>
                    <a:lnTo>
                      <a:pt x="267901" y="5329"/>
                    </a:lnTo>
                    <a:cubicBezTo>
                      <a:pt x="277030" y="1872"/>
                      <a:pt x="288991" y="104"/>
                      <a:pt x="300973" y="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5353798" y="594610"/>
                <a:ext cx="1471702" cy="1471702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400" y="2164542"/>
            <a:ext cx="10858500" cy="2280458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181081" y="4943288"/>
            <a:ext cx="5817137" cy="276999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181081" y="5220287"/>
            <a:ext cx="5817137" cy="276999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0" y="0"/>
            <a:ext cx="12192003" cy="6858000"/>
            <a:chOff x="0" y="0"/>
            <a:chExt cx="12192003" cy="6858000"/>
          </a:xfrm>
        </p:grpSpPr>
        <p:sp>
          <p:nvSpPr>
            <p:cNvPr id="50" name="矩形 49"/>
            <p:cNvSpPr/>
            <p:nvPr/>
          </p:nvSpPr>
          <p:spPr>
            <a:xfrm>
              <a:off x="0" y="0"/>
              <a:ext cx="12192000" cy="6847840"/>
            </a:xfrm>
            <a:prstGeom prst="rect">
              <a:avLst/>
            </a:prstGeom>
            <a:blipFill>
              <a:blip r:embed="rId9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 anchor="ctr"/>
            <a:lstStyle/>
            <a:p>
              <a:pPr algn="ctr"/>
              <a:endParaRPr 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1" y="1"/>
              <a:ext cx="12192002" cy="6857998"/>
              <a:chOff x="1" y="1"/>
              <a:chExt cx="12192002" cy="6857998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1" y="1"/>
                <a:ext cx="1080654" cy="725805"/>
                <a:chOff x="0" y="0"/>
                <a:chExt cx="2100139" cy="1410527"/>
              </a:xfrm>
            </p:grpSpPr>
            <p:sp>
              <p:nvSpPr>
                <p:cNvPr id="11" name="任意多边形 10"/>
                <p:cNvSpPr/>
                <p:nvPr/>
              </p:nvSpPr>
              <p:spPr>
                <a:xfrm flipH="1" flipV="1">
                  <a:off x="0" y="0"/>
                  <a:ext cx="2100139" cy="1410527"/>
                </a:xfrm>
                <a:custGeom>
                  <a:avLst/>
                  <a:gdLst>
                    <a:gd name="connsiteX0" fmla="*/ 2687120 w 2755978"/>
                    <a:gd name="connsiteY0" fmla="*/ 0 h 1851012"/>
                    <a:gd name="connsiteX1" fmla="*/ 2755978 w 2755978"/>
                    <a:gd name="connsiteY1" fmla="*/ 1108 h 1851012"/>
                    <a:gd name="connsiteX2" fmla="*/ 2755978 w 2755978"/>
                    <a:gd name="connsiteY2" fmla="*/ 1851012 h 1851012"/>
                    <a:gd name="connsiteX3" fmla="*/ 8191 w 2755978"/>
                    <a:gd name="connsiteY3" fmla="*/ 1851012 h 1851012"/>
                    <a:gd name="connsiteX4" fmla="*/ 390 w 2755978"/>
                    <a:gd name="connsiteY4" fmla="*/ 1795336 h 1851012"/>
                    <a:gd name="connsiteX5" fmla="*/ 789448 w 2755978"/>
                    <a:gd name="connsiteY5" fmla="*/ 1108535 h 1851012"/>
                    <a:gd name="connsiteX6" fmla="*/ 854037 w 2755978"/>
                    <a:gd name="connsiteY6" fmla="*/ 1106059 h 1851012"/>
                    <a:gd name="connsiteX7" fmla="*/ 1500883 w 2755978"/>
                    <a:gd name="connsiteY7" fmla="*/ 826214 h 1851012"/>
                    <a:gd name="connsiteX8" fmla="*/ 2120559 w 2755978"/>
                    <a:gd name="connsiteY8" fmla="*/ 216519 h 1851012"/>
                    <a:gd name="connsiteX9" fmla="*/ 2687120 w 2755978"/>
                    <a:gd name="connsiteY9" fmla="*/ 0 h 1851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755978" h="1851012">
                      <a:moveTo>
                        <a:pt x="2687120" y="0"/>
                      </a:moveTo>
                      <a:lnTo>
                        <a:pt x="2755978" y="1108"/>
                      </a:lnTo>
                      <a:lnTo>
                        <a:pt x="2755978" y="1851012"/>
                      </a:lnTo>
                      <a:lnTo>
                        <a:pt x="8191" y="1851012"/>
                      </a:lnTo>
                      <a:lnTo>
                        <a:pt x="390" y="1795336"/>
                      </a:lnTo>
                      <a:cubicBezTo>
                        <a:pt x="-11482" y="1466818"/>
                        <a:pt x="247709" y="1132348"/>
                        <a:pt x="789448" y="1108535"/>
                      </a:cubicBezTo>
                      <a:cubicBezTo>
                        <a:pt x="811613" y="1107582"/>
                        <a:pt x="833183" y="1106725"/>
                        <a:pt x="854037" y="1106059"/>
                      </a:cubicBezTo>
                      <a:cubicBezTo>
                        <a:pt x="1112156" y="1097296"/>
                        <a:pt x="1350254" y="993949"/>
                        <a:pt x="1500883" y="826214"/>
                      </a:cubicBezTo>
                      <a:cubicBezTo>
                        <a:pt x="1710858" y="592375"/>
                        <a:pt x="1920117" y="390255"/>
                        <a:pt x="2120559" y="216519"/>
                      </a:cubicBezTo>
                      <a:cubicBezTo>
                        <a:pt x="2282255" y="76353"/>
                        <a:pt x="2484904" y="8470"/>
                        <a:pt x="2687120" y="0"/>
                      </a:cubicBezTo>
                      <a:close/>
                    </a:path>
                  </a:pathLst>
                </a:custGeom>
                <a:solidFill>
                  <a:schemeClr val="accent1">
                    <a:alpha val="15000"/>
                  </a:schemeClr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任意多边形 14"/>
                <p:cNvSpPr/>
                <p:nvPr/>
              </p:nvSpPr>
              <p:spPr>
                <a:xfrm flipH="1" flipV="1">
                  <a:off x="0" y="0"/>
                  <a:ext cx="1935802" cy="1300152"/>
                </a:xfrm>
                <a:custGeom>
                  <a:avLst/>
                  <a:gdLst>
                    <a:gd name="connsiteX0" fmla="*/ 2687120 w 2755978"/>
                    <a:gd name="connsiteY0" fmla="*/ 0 h 1851012"/>
                    <a:gd name="connsiteX1" fmla="*/ 2755978 w 2755978"/>
                    <a:gd name="connsiteY1" fmla="*/ 1108 h 1851012"/>
                    <a:gd name="connsiteX2" fmla="*/ 2755978 w 2755978"/>
                    <a:gd name="connsiteY2" fmla="*/ 1851012 h 1851012"/>
                    <a:gd name="connsiteX3" fmla="*/ 8191 w 2755978"/>
                    <a:gd name="connsiteY3" fmla="*/ 1851012 h 1851012"/>
                    <a:gd name="connsiteX4" fmla="*/ 390 w 2755978"/>
                    <a:gd name="connsiteY4" fmla="*/ 1795336 h 1851012"/>
                    <a:gd name="connsiteX5" fmla="*/ 789448 w 2755978"/>
                    <a:gd name="connsiteY5" fmla="*/ 1108535 h 1851012"/>
                    <a:gd name="connsiteX6" fmla="*/ 854037 w 2755978"/>
                    <a:gd name="connsiteY6" fmla="*/ 1106059 h 1851012"/>
                    <a:gd name="connsiteX7" fmla="*/ 1500883 w 2755978"/>
                    <a:gd name="connsiteY7" fmla="*/ 826214 h 1851012"/>
                    <a:gd name="connsiteX8" fmla="*/ 2120559 w 2755978"/>
                    <a:gd name="connsiteY8" fmla="*/ 216519 h 1851012"/>
                    <a:gd name="connsiteX9" fmla="*/ 2687120 w 2755978"/>
                    <a:gd name="connsiteY9" fmla="*/ 0 h 1851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755978" h="1851012">
                      <a:moveTo>
                        <a:pt x="2687120" y="0"/>
                      </a:moveTo>
                      <a:lnTo>
                        <a:pt x="2755978" y="1108"/>
                      </a:lnTo>
                      <a:lnTo>
                        <a:pt x="2755978" y="1851012"/>
                      </a:lnTo>
                      <a:lnTo>
                        <a:pt x="8191" y="1851012"/>
                      </a:lnTo>
                      <a:lnTo>
                        <a:pt x="390" y="1795336"/>
                      </a:lnTo>
                      <a:cubicBezTo>
                        <a:pt x="-11482" y="1466818"/>
                        <a:pt x="247709" y="1132348"/>
                        <a:pt x="789448" y="1108535"/>
                      </a:cubicBezTo>
                      <a:cubicBezTo>
                        <a:pt x="811613" y="1107582"/>
                        <a:pt x="833183" y="1106725"/>
                        <a:pt x="854037" y="1106059"/>
                      </a:cubicBezTo>
                      <a:cubicBezTo>
                        <a:pt x="1112156" y="1097296"/>
                        <a:pt x="1350254" y="993949"/>
                        <a:pt x="1500883" y="826214"/>
                      </a:cubicBezTo>
                      <a:cubicBezTo>
                        <a:pt x="1710858" y="592375"/>
                        <a:pt x="1920117" y="390255"/>
                        <a:pt x="2120559" y="216519"/>
                      </a:cubicBezTo>
                      <a:cubicBezTo>
                        <a:pt x="2282255" y="76353"/>
                        <a:pt x="2484904" y="8470"/>
                        <a:pt x="26871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686477" y="5892798"/>
                <a:ext cx="1505526" cy="965201"/>
                <a:chOff x="9890343" y="5382395"/>
                <a:chExt cx="2301656" cy="1475605"/>
              </a:xfrm>
            </p:grpSpPr>
            <p:sp>
              <p:nvSpPr>
                <p:cNvPr id="20" name="任意多边形 19"/>
                <p:cNvSpPr/>
                <p:nvPr/>
              </p:nvSpPr>
              <p:spPr>
                <a:xfrm>
                  <a:off x="9890343" y="5382395"/>
                  <a:ext cx="2301656" cy="1475602"/>
                </a:xfrm>
                <a:custGeom>
                  <a:avLst/>
                  <a:gdLst>
                    <a:gd name="connsiteX0" fmla="*/ 2687120 w 2755978"/>
                    <a:gd name="connsiteY0" fmla="*/ 0 h 1851012"/>
                    <a:gd name="connsiteX1" fmla="*/ 2755978 w 2755978"/>
                    <a:gd name="connsiteY1" fmla="*/ 1108 h 1851012"/>
                    <a:gd name="connsiteX2" fmla="*/ 2755978 w 2755978"/>
                    <a:gd name="connsiteY2" fmla="*/ 1851012 h 1851012"/>
                    <a:gd name="connsiteX3" fmla="*/ 8191 w 2755978"/>
                    <a:gd name="connsiteY3" fmla="*/ 1851012 h 1851012"/>
                    <a:gd name="connsiteX4" fmla="*/ 390 w 2755978"/>
                    <a:gd name="connsiteY4" fmla="*/ 1795336 h 1851012"/>
                    <a:gd name="connsiteX5" fmla="*/ 789448 w 2755978"/>
                    <a:gd name="connsiteY5" fmla="*/ 1108535 h 1851012"/>
                    <a:gd name="connsiteX6" fmla="*/ 854037 w 2755978"/>
                    <a:gd name="connsiteY6" fmla="*/ 1106059 h 1851012"/>
                    <a:gd name="connsiteX7" fmla="*/ 1500883 w 2755978"/>
                    <a:gd name="connsiteY7" fmla="*/ 826214 h 1851012"/>
                    <a:gd name="connsiteX8" fmla="*/ 2120559 w 2755978"/>
                    <a:gd name="connsiteY8" fmla="*/ 216519 h 1851012"/>
                    <a:gd name="connsiteX9" fmla="*/ 2687120 w 2755978"/>
                    <a:gd name="connsiteY9" fmla="*/ 0 h 1851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755978" h="1851012">
                      <a:moveTo>
                        <a:pt x="2687120" y="0"/>
                      </a:moveTo>
                      <a:lnTo>
                        <a:pt x="2755978" y="1108"/>
                      </a:lnTo>
                      <a:lnTo>
                        <a:pt x="2755978" y="1851012"/>
                      </a:lnTo>
                      <a:lnTo>
                        <a:pt x="8191" y="1851012"/>
                      </a:lnTo>
                      <a:lnTo>
                        <a:pt x="390" y="1795336"/>
                      </a:lnTo>
                      <a:cubicBezTo>
                        <a:pt x="-11482" y="1466818"/>
                        <a:pt x="247709" y="1132348"/>
                        <a:pt x="789448" y="1108535"/>
                      </a:cubicBezTo>
                      <a:cubicBezTo>
                        <a:pt x="811613" y="1107582"/>
                        <a:pt x="833183" y="1106725"/>
                        <a:pt x="854037" y="1106059"/>
                      </a:cubicBezTo>
                      <a:cubicBezTo>
                        <a:pt x="1112156" y="1097296"/>
                        <a:pt x="1350254" y="993949"/>
                        <a:pt x="1500883" y="826214"/>
                      </a:cubicBezTo>
                      <a:cubicBezTo>
                        <a:pt x="1710858" y="592375"/>
                        <a:pt x="1920117" y="390255"/>
                        <a:pt x="2120559" y="216519"/>
                      </a:cubicBezTo>
                      <a:cubicBezTo>
                        <a:pt x="2282255" y="76353"/>
                        <a:pt x="2484904" y="8470"/>
                        <a:pt x="2687120" y="0"/>
                      </a:cubicBezTo>
                      <a:close/>
                    </a:path>
                  </a:pathLst>
                </a:custGeom>
                <a:solidFill>
                  <a:schemeClr val="accent1">
                    <a:alpha val="15000"/>
                  </a:schemeClr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任意多边形 20"/>
                <p:cNvSpPr/>
                <p:nvPr/>
              </p:nvSpPr>
              <p:spPr>
                <a:xfrm>
                  <a:off x="10070446" y="5497865"/>
                  <a:ext cx="2121550" cy="1360135"/>
                </a:xfrm>
                <a:custGeom>
                  <a:avLst/>
                  <a:gdLst>
                    <a:gd name="connsiteX0" fmla="*/ 2687120 w 2755978"/>
                    <a:gd name="connsiteY0" fmla="*/ 0 h 1851012"/>
                    <a:gd name="connsiteX1" fmla="*/ 2755978 w 2755978"/>
                    <a:gd name="connsiteY1" fmla="*/ 1108 h 1851012"/>
                    <a:gd name="connsiteX2" fmla="*/ 2755978 w 2755978"/>
                    <a:gd name="connsiteY2" fmla="*/ 1851012 h 1851012"/>
                    <a:gd name="connsiteX3" fmla="*/ 8191 w 2755978"/>
                    <a:gd name="connsiteY3" fmla="*/ 1851012 h 1851012"/>
                    <a:gd name="connsiteX4" fmla="*/ 390 w 2755978"/>
                    <a:gd name="connsiteY4" fmla="*/ 1795336 h 1851012"/>
                    <a:gd name="connsiteX5" fmla="*/ 789448 w 2755978"/>
                    <a:gd name="connsiteY5" fmla="*/ 1108535 h 1851012"/>
                    <a:gd name="connsiteX6" fmla="*/ 854037 w 2755978"/>
                    <a:gd name="connsiteY6" fmla="*/ 1106059 h 1851012"/>
                    <a:gd name="connsiteX7" fmla="*/ 1500883 w 2755978"/>
                    <a:gd name="connsiteY7" fmla="*/ 826214 h 1851012"/>
                    <a:gd name="connsiteX8" fmla="*/ 2120559 w 2755978"/>
                    <a:gd name="connsiteY8" fmla="*/ 216519 h 1851012"/>
                    <a:gd name="connsiteX9" fmla="*/ 2687120 w 2755978"/>
                    <a:gd name="connsiteY9" fmla="*/ 0 h 1851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755978" h="1851012">
                      <a:moveTo>
                        <a:pt x="2687120" y="0"/>
                      </a:moveTo>
                      <a:lnTo>
                        <a:pt x="2755978" y="1108"/>
                      </a:lnTo>
                      <a:lnTo>
                        <a:pt x="2755978" y="1851012"/>
                      </a:lnTo>
                      <a:lnTo>
                        <a:pt x="8191" y="1851012"/>
                      </a:lnTo>
                      <a:lnTo>
                        <a:pt x="390" y="1795336"/>
                      </a:lnTo>
                      <a:cubicBezTo>
                        <a:pt x="-11482" y="1466818"/>
                        <a:pt x="247709" y="1132348"/>
                        <a:pt x="789448" y="1108535"/>
                      </a:cubicBezTo>
                      <a:cubicBezTo>
                        <a:pt x="811613" y="1107582"/>
                        <a:pt x="833183" y="1106725"/>
                        <a:pt x="854037" y="1106059"/>
                      </a:cubicBezTo>
                      <a:cubicBezTo>
                        <a:pt x="1112156" y="1097296"/>
                        <a:pt x="1350254" y="993949"/>
                        <a:pt x="1500883" y="826214"/>
                      </a:cubicBezTo>
                      <a:cubicBezTo>
                        <a:pt x="1710858" y="592375"/>
                        <a:pt x="1920117" y="390255"/>
                        <a:pt x="2120559" y="216519"/>
                      </a:cubicBezTo>
                      <a:cubicBezTo>
                        <a:pt x="2282255" y="76353"/>
                        <a:pt x="2484904" y="8470"/>
                        <a:pt x="268712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190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3" Type="http://schemas.openxmlformats.org/officeDocument/2006/relationships/tags" Target="../tags/tag10.xml"/><Relationship Id="rId21" Type="http://schemas.openxmlformats.org/officeDocument/2006/relationships/tags" Target="../tags/tag28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image" Target="../media/image6.png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slideLayout" Target="../slideLayouts/slideLayout5.xml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image" Target="../media/image8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7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image" Target="../media/image10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4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/>
        <p:txBody>
          <a:bodyPr>
            <a:noAutofit/>
          </a:bodyPr>
          <a:lstStyle/>
          <a:p>
            <a:pPr marL="0" marR="0" lvl="0" indent="0" algn="ctr">
              <a:lnSpc>
                <a:spcPct val="100000"/>
              </a:lnSpc>
            </a:pPr>
            <a:r>
              <a:rPr lang="zh-CN" altLang="en-US" sz="2400" b="1" baseline="0" dirty="0">
                <a:solidFill>
                  <a:schemeClr val="accent1"/>
                </a:solidFill>
              </a:rPr>
              <a:t>LLM-Enhanced Failure Localization in Microservices: Integrating Multi-Modal Data and Expert Interpretation</a:t>
            </a:r>
            <a:endParaRPr lang="zh-CN" alt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/>
        <p:txBody>
          <a:bodyPr>
            <a:normAutofit/>
          </a:bodyPr>
          <a:lstStyle/>
          <a:p>
            <a:pPr marL="0" marR="0" lvl="0" indent="0" algn="ctr">
              <a:lnSpc>
                <a:spcPct val="100000"/>
              </a:lnSpc>
            </a:pPr>
            <a:r>
              <a:rPr lang="zh-CN" altLang="en-US" sz="2000" baseline="0" dirty="0">
                <a:solidFill>
                  <a:srgbClr val="FFFFFF"/>
                </a:solidFill>
              </a:rPr>
              <a:t>IEEE TSC 2026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1200" baseline="0" dirty="0">
                <a:solidFill>
                  <a:schemeClr val="tx1"/>
                </a:solidFill>
              </a:rPr>
              <a:t>刘军辉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1200" baseline="0" dirty="0">
                <a:solidFill>
                  <a:schemeClr val="tx1"/>
                </a:solidFill>
              </a:rPr>
              <a:t>2026/6/1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506dc21b-7223-4111-bdc1-7d2b884b41ff.source.3.zh-Hans.pptx"/>
          <p:cNvGrpSpPr/>
          <p:nvPr/>
        </p:nvGrpSpPr>
        <p:grpSpPr>
          <a:xfrm>
            <a:off x="660400" y="1130301"/>
            <a:ext cx="10858501" cy="5003799"/>
            <a:chOff x="660400" y="1130301"/>
            <a:chExt cx="10858501" cy="5003799"/>
          </a:xfrm>
        </p:grpSpPr>
        <p:sp>
          <p:nvSpPr>
            <p:cNvPr id="3" name="Title"/>
            <p:cNvSpPr>
              <a:spLocks noChangeAspect="1"/>
            </p:cNvSpPr>
            <p:nvPr/>
          </p:nvSpPr>
          <p:spPr>
            <a:xfrm>
              <a:off x="660400" y="1130301"/>
              <a:ext cx="10858500" cy="736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Identifying root causes and failure-indicating metrics in large-scale, interdependent systems</a:t>
              </a:r>
              <a:endParaRPr lang="en-US" dirty="0"/>
            </a:p>
          </p:txBody>
        </p:sp>
        <p:grpSp>
          <p:nvGrpSpPr>
            <p:cNvPr id="162" name="组合 161"/>
            <p:cNvGrpSpPr/>
            <p:nvPr/>
          </p:nvGrpSpPr>
          <p:grpSpPr>
            <a:xfrm>
              <a:off x="660400" y="2119973"/>
              <a:ext cx="3385849" cy="4014127"/>
              <a:chOff x="2331877" y="2119973"/>
              <a:chExt cx="3385849" cy="4014127"/>
            </a:xfrm>
          </p:grpSpPr>
          <p:sp>
            <p:nvSpPr>
              <p:cNvPr id="110" name="ComponentBackground1"/>
              <p:cNvSpPr/>
              <p:nvPr/>
            </p:nvSpPr>
            <p:spPr>
              <a:xfrm>
                <a:off x="2331877" y="2562826"/>
                <a:ext cx="3385849" cy="3571274"/>
              </a:xfrm>
              <a:prstGeom prst="roundRect">
                <a:avLst>
                  <a:gd name="adj" fmla="val 4413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1" name="Bullet1"/>
              <p:cNvSpPr/>
              <p:nvPr/>
            </p:nvSpPr>
            <p:spPr>
              <a:xfrm>
                <a:off x="2444754" y="3075709"/>
                <a:ext cx="3160094" cy="575094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Challenge of Failure Propagation in Microservices</a:t>
                </a:r>
                <a:endParaRPr lang="en-US" dirty="0"/>
              </a:p>
            </p:txBody>
          </p:sp>
          <p:sp>
            <p:nvSpPr>
              <p:cNvPr id="112" name="Text1"/>
              <p:cNvSpPr txBox="1"/>
              <p:nvPr/>
            </p:nvSpPr>
            <p:spPr>
              <a:xfrm>
                <a:off x="2444754" y="3650802"/>
                <a:ext cx="3160094" cy="2334362"/>
              </a:xfrm>
              <a:prstGeom prst="rect">
                <a:avLst/>
              </a:prstGeom>
              <a:noFill/>
              <a:effectLst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050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Modern microservice systems are large-scale and highly interdependent. A single failure may propagate through service call chains and trigger multiple symptoms.</a:t>
                </a:r>
                <a:endParaRPr lang="en-US" dirty="0"/>
              </a:p>
            </p:txBody>
          </p:sp>
          <p:sp>
            <p:nvSpPr>
              <p:cNvPr id="114" name="IconBackground1"/>
              <p:cNvSpPr/>
              <p:nvPr/>
            </p:nvSpPr>
            <p:spPr>
              <a:xfrm>
                <a:off x="3689102" y="2119973"/>
                <a:ext cx="900000" cy="900000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endParaRPr lang="zh-C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3" name="Icon1"/>
              <p:cNvSpPr/>
              <p:nvPr/>
            </p:nvSpPr>
            <p:spPr>
              <a:xfrm>
                <a:off x="3958190" y="2382282"/>
                <a:ext cx="341896" cy="341838"/>
              </a:xfrm>
              <a:custGeom>
                <a:avLst/>
                <a:gdLst>
                  <a:gd name="connsiteX0" fmla="*/ 175554 w 488862"/>
                  <a:gd name="connsiteY0" fmla="*/ 224764 h 488782"/>
                  <a:gd name="connsiteX1" fmla="*/ 316096 w 488862"/>
                  <a:gd name="connsiteY1" fmla="*/ 224764 h 488782"/>
                  <a:gd name="connsiteX2" fmla="*/ 327664 w 488862"/>
                  <a:gd name="connsiteY2" fmla="*/ 236219 h 488782"/>
                  <a:gd name="connsiteX3" fmla="*/ 327664 w 488862"/>
                  <a:gd name="connsiteY3" fmla="*/ 240382 h 488782"/>
                  <a:gd name="connsiteX4" fmla="*/ 347938 w 488862"/>
                  <a:gd name="connsiteY4" fmla="*/ 261117 h 488782"/>
                  <a:gd name="connsiteX5" fmla="*/ 363707 w 488862"/>
                  <a:gd name="connsiteY5" fmla="*/ 261117 h 488782"/>
                  <a:gd name="connsiteX6" fmla="*/ 383980 w 488862"/>
                  <a:gd name="connsiteY6" fmla="*/ 240382 h 488782"/>
                  <a:gd name="connsiteX7" fmla="*/ 383980 w 488862"/>
                  <a:gd name="connsiteY7" fmla="*/ 235990 h 488782"/>
                  <a:gd name="connsiteX8" fmla="*/ 397878 w 488862"/>
                  <a:gd name="connsiteY8" fmla="*/ 224840 h 488782"/>
                  <a:gd name="connsiteX9" fmla="*/ 476301 w 488862"/>
                  <a:gd name="connsiteY9" fmla="*/ 224840 h 488782"/>
                  <a:gd name="connsiteX10" fmla="*/ 488786 w 488862"/>
                  <a:gd name="connsiteY10" fmla="*/ 237250 h 488782"/>
                  <a:gd name="connsiteX11" fmla="*/ 488786 w 488862"/>
                  <a:gd name="connsiteY11" fmla="*/ 447350 h 488782"/>
                  <a:gd name="connsiteX12" fmla="*/ 448276 w 488862"/>
                  <a:gd name="connsiteY12" fmla="*/ 488782 h 488782"/>
                  <a:gd name="connsiteX13" fmla="*/ 40548 w 488862"/>
                  <a:gd name="connsiteY13" fmla="*/ 488782 h 488782"/>
                  <a:gd name="connsiteX14" fmla="*/ 0 w 488862"/>
                  <a:gd name="connsiteY14" fmla="*/ 447350 h 488782"/>
                  <a:gd name="connsiteX15" fmla="*/ 0 w 488862"/>
                  <a:gd name="connsiteY15" fmla="*/ 240305 h 488782"/>
                  <a:gd name="connsiteX16" fmla="*/ 15578 w 488862"/>
                  <a:gd name="connsiteY16" fmla="*/ 224840 h 488782"/>
                  <a:gd name="connsiteX17" fmla="*/ 90144 w 488862"/>
                  <a:gd name="connsiteY17" fmla="*/ 224840 h 488782"/>
                  <a:gd name="connsiteX18" fmla="*/ 104194 w 488862"/>
                  <a:gd name="connsiteY18" fmla="*/ 238663 h 488782"/>
                  <a:gd name="connsiteX19" fmla="*/ 104194 w 488862"/>
                  <a:gd name="connsiteY19" fmla="*/ 240305 h 488782"/>
                  <a:gd name="connsiteX20" fmla="*/ 124468 w 488862"/>
                  <a:gd name="connsiteY20" fmla="*/ 261040 h 488782"/>
                  <a:gd name="connsiteX21" fmla="*/ 140733 w 488862"/>
                  <a:gd name="connsiteY21" fmla="*/ 261040 h 488782"/>
                  <a:gd name="connsiteX22" fmla="*/ 161007 w 488862"/>
                  <a:gd name="connsiteY22" fmla="*/ 240305 h 488782"/>
                  <a:gd name="connsiteX23" fmla="*/ 161007 w 488862"/>
                  <a:gd name="connsiteY23" fmla="*/ 237632 h 488782"/>
                  <a:gd name="connsiteX24" fmla="*/ 175554 w 488862"/>
                  <a:gd name="connsiteY24" fmla="*/ 224764 h 488782"/>
                  <a:gd name="connsiteX25" fmla="*/ 356061 w 488862"/>
                  <a:gd name="connsiteY25" fmla="*/ 177775 h 488782"/>
                  <a:gd name="connsiteX26" fmla="*/ 371220 w 488862"/>
                  <a:gd name="connsiteY26" fmla="*/ 198056 h 488782"/>
                  <a:gd name="connsiteX27" fmla="*/ 371220 w 488862"/>
                  <a:gd name="connsiteY27" fmla="*/ 222958 h 488782"/>
                  <a:gd name="connsiteX28" fmla="*/ 356061 w 488862"/>
                  <a:gd name="connsiteY28" fmla="*/ 243238 h 488782"/>
                  <a:gd name="connsiteX29" fmla="*/ 340864 w 488862"/>
                  <a:gd name="connsiteY29" fmla="*/ 222958 h 488782"/>
                  <a:gd name="connsiteX30" fmla="*/ 340864 w 488862"/>
                  <a:gd name="connsiteY30" fmla="*/ 198056 h 488782"/>
                  <a:gd name="connsiteX31" fmla="*/ 356061 w 488862"/>
                  <a:gd name="connsiteY31" fmla="*/ 177775 h 488782"/>
                  <a:gd name="connsiteX32" fmla="*/ 132801 w 488862"/>
                  <a:gd name="connsiteY32" fmla="*/ 177775 h 488782"/>
                  <a:gd name="connsiteX33" fmla="*/ 147960 w 488862"/>
                  <a:gd name="connsiteY33" fmla="*/ 198056 h 488782"/>
                  <a:gd name="connsiteX34" fmla="*/ 147960 w 488862"/>
                  <a:gd name="connsiteY34" fmla="*/ 222958 h 488782"/>
                  <a:gd name="connsiteX35" fmla="*/ 132801 w 488862"/>
                  <a:gd name="connsiteY35" fmla="*/ 243238 h 488782"/>
                  <a:gd name="connsiteX36" fmla="*/ 117642 w 488862"/>
                  <a:gd name="connsiteY36" fmla="*/ 222958 h 488782"/>
                  <a:gd name="connsiteX37" fmla="*/ 117642 w 488862"/>
                  <a:gd name="connsiteY37" fmla="*/ 198056 h 488782"/>
                  <a:gd name="connsiteX38" fmla="*/ 132801 w 488862"/>
                  <a:gd name="connsiteY38" fmla="*/ 177775 h 488782"/>
                  <a:gd name="connsiteX39" fmla="*/ 40624 w 488862"/>
                  <a:gd name="connsiteY39" fmla="*/ 115971 h 488782"/>
                  <a:gd name="connsiteX40" fmla="*/ 448353 w 488862"/>
                  <a:gd name="connsiteY40" fmla="*/ 115971 h 488782"/>
                  <a:gd name="connsiteX41" fmla="*/ 488862 w 488862"/>
                  <a:gd name="connsiteY41" fmla="*/ 157403 h 488782"/>
                  <a:gd name="connsiteX42" fmla="*/ 488862 w 488862"/>
                  <a:gd name="connsiteY42" fmla="*/ 180582 h 488782"/>
                  <a:gd name="connsiteX43" fmla="*/ 475270 w 488862"/>
                  <a:gd name="connsiteY43" fmla="*/ 193871 h 488782"/>
                  <a:gd name="connsiteX44" fmla="*/ 397267 w 488862"/>
                  <a:gd name="connsiteY44" fmla="*/ 193871 h 488782"/>
                  <a:gd name="connsiteX45" fmla="*/ 383980 w 488862"/>
                  <a:gd name="connsiteY45" fmla="*/ 181919 h 488782"/>
                  <a:gd name="connsiteX46" fmla="*/ 383980 w 488862"/>
                  <a:gd name="connsiteY46" fmla="*/ 178291 h 488782"/>
                  <a:gd name="connsiteX47" fmla="*/ 363707 w 488862"/>
                  <a:gd name="connsiteY47" fmla="*/ 157556 h 488782"/>
                  <a:gd name="connsiteX48" fmla="*/ 347938 w 488862"/>
                  <a:gd name="connsiteY48" fmla="*/ 157556 h 488782"/>
                  <a:gd name="connsiteX49" fmla="*/ 327664 w 488862"/>
                  <a:gd name="connsiteY49" fmla="*/ 178291 h 488782"/>
                  <a:gd name="connsiteX50" fmla="*/ 327664 w 488862"/>
                  <a:gd name="connsiteY50" fmla="*/ 182950 h 488782"/>
                  <a:gd name="connsiteX51" fmla="*/ 316248 w 488862"/>
                  <a:gd name="connsiteY51" fmla="*/ 193871 h 488782"/>
                  <a:gd name="connsiteX52" fmla="*/ 174981 w 488862"/>
                  <a:gd name="connsiteY52" fmla="*/ 193871 h 488782"/>
                  <a:gd name="connsiteX53" fmla="*/ 160930 w 488862"/>
                  <a:gd name="connsiteY53" fmla="*/ 181308 h 488782"/>
                  <a:gd name="connsiteX54" fmla="*/ 160930 w 488862"/>
                  <a:gd name="connsiteY54" fmla="*/ 178291 h 488782"/>
                  <a:gd name="connsiteX55" fmla="*/ 140657 w 488862"/>
                  <a:gd name="connsiteY55" fmla="*/ 157556 h 488782"/>
                  <a:gd name="connsiteX56" fmla="*/ 124468 w 488862"/>
                  <a:gd name="connsiteY56" fmla="*/ 157556 h 488782"/>
                  <a:gd name="connsiteX57" fmla="*/ 104194 w 488862"/>
                  <a:gd name="connsiteY57" fmla="*/ 178291 h 488782"/>
                  <a:gd name="connsiteX58" fmla="*/ 104194 w 488862"/>
                  <a:gd name="connsiteY58" fmla="*/ 181117 h 488782"/>
                  <a:gd name="connsiteX59" fmla="*/ 89724 w 488862"/>
                  <a:gd name="connsiteY59" fmla="*/ 193795 h 488782"/>
                  <a:gd name="connsiteX60" fmla="*/ 16036 w 488862"/>
                  <a:gd name="connsiteY60" fmla="*/ 193795 h 488782"/>
                  <a:gd name="connsiteX61" fmla="*/ 76 w 488862"/>
                  <a:gd name="connsiteY61" fmla="*/ 179093 h 488782"/>
                  <a:gd name="connsiteX62" fmla="*/ 76 w 488862"/>
                  <a:gd name="connsiteY62" fmla="*/ 157403 h 488782"/>
                  <a:gd name="connsiteX63" fmla="*/ 40624 w 488862"/>
                  <a:gd name="connsiteY63" fmla="*/ 115971 h 488782"/>
                  <a:gd name="connsiteX64" fmla="*/ 244698 w 488862"/>
                  <a:gd name="connsiteY64" fmla="*/ 0 h 488782"/>
                  <a:gd name="connsiteX65" fmla="*/ 364967 w 488862"/>
                  <a:gd name="connsiteY65" fmla="*/ 94282 h 488782"/>
                  <a:gd name="connsiteX66" fmla="*/ 348931 w 488862"/>
                  <a:gd name="connsiteY66" fmla="*/ 105928 h 488782"/>
                  <a:gd name="connsiteX67" fmla="*/ 330070 w 488862"/>
                  <a:gd name="connsiteY67" fmla="*/ 94282 h 488782"/>
                  <a:gd name="connsiteX68" fmla="*/ 244698 w 488862"/>
                  <a:gd name="connsiteY68" fmla="*/ 34024 h 488782"/>
                  <a:gd name="connsiteX69" fmla="*/ 159289 w 488862"/>
                  <a:gd name="connsiteY69" fmla="*/ 94282 h 488782"/>
                  <a:gd name="connsiteX70" fmla="*/ 140122 w 488862"/>
                  <a:gd name="connsiteY70" fmla="*/ 104439 h 488782"/>
                  <a:gd name="connsiteX71" fmla="*/ 124392 w 488862"/>
                  <a:gd name="connsiteY71" fmla="*/ 94282 h 488782"/>
                  <a:gd name="connsiteX72" fmla="*/ 244698 w 488862"/>
                  <a:gd name="connsiteY72" fmla="*/ 0 h 488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488862" h="488782">
                    <a:moveTo>
                      <a:pt x="175554" y="224764"/>
                    </a:moveTo>
                    <a:lnTo>
                      <a:pt x="316096" y="224764"/>
                    </a:lnTo>
                    <a:cubicBezTo>
                      <a:pt x="325221" y="224764"/>
                      <a:pt x="327664" y="227246"/>
                      <a:pt x="327664" y="236219"/>
                    </a:cubicBezTo>
                    <a:lnTo>
                      <a:pt x="327664" y="240382"/>
                    </a:lnTo>
                    <a:cubicBezTo>
                      <a:pt x="327664" y="251838"/>
                      <a:pt x="336751" y="261117"/>
                      <a:pt x="347938" y="261117"/>
                    </a:cubicBezTo>
                    <a:lnTo>
                      <a:pt x="363707" y="261117"/>
                    </a:lnTo>
                    <a:cubicBezTo>
                      <a:pt x="374855" y="261117"/>
                      <a:pt x="383980" y="251761"/>
                      <a:pt x="383980" y="240382"/>
                    </a:cubicBezTo>
                    <a:lnTo>
                      <a:pt x="383980" y="235990"/>
                    </a:lnTo>
                    <a:cubicBezTo>
                      <a:pt x="383980" y="226711"/>
                      <a:pt x="386882" y="224840"/>
                      <a:pt x="397878" y="224840"/>
                    </a:cubicBezTo>
                    <a:lnTo>
                      <a:pt x="476301" y="224840"/>
                    </a:lnTo>
                    <a:cubicBezTo>
                      <a:pt x="484968" y="224840"/>
                      <a:pt x="488786" y="227971"/>
                      <a:pt x="488786" y="237250"/>
                    </a:cubicBezTo>
                    <a:lnTo>
                      <a:pt x="488786" y="447350"/>
                    </a:lnTo>
                    <a:cubicBezTo>
                      <a:pt x="488786" y="470147"/>
                      <a:pt x="470574" y="488782"/>
                      <a:pt x="448276" y="488782"/>
                    </a:cubicBezTo>
                    <a:lnTo>
                      <a:pt x="40548" y="488782"/>
                    </a:lnTo>
                    <a:cubicBezTo>
                      <a:pt x="18327" y="488782"/>
                      <a:pt x="0" y="470147"/>
                      <a:pt x="0" y="447350"/>
                    </a:cubicBezTo>
                    <a:lnTo>
                      <a:pt x="0" y="240305"/>
                    </a:lnTo>
                    <a:cubicBezTo>
                      <a:pt x="0" y="227971"/>
                      <a:pt x="3245" y="224840"/>
                      <a:pt x="15578" y="224840"/>
                    </a:cubicBezTo>
                    <a:lnTo>
                      <a:pt x="90144" y="224840"/>
                    </a:lnTo>
                    <a:cubicBezTo>
                      <a:pt x="101216" y="224840"/>
                      <a:pt x="104194" y="226558"/>
                      <a:pt x="104194" y="238663"/>
                    </a:cubicBezTo>
                    <a:lnTo>
                      <a:pt x="104194" y="240305"/>
                    </a:lnTo>
                    <a:cubicBezTo>
                      <a:pt x="104194" y="251685"/>
                      <a:pt x="113319" y="261040"/>
                      <a:pt x="124468" y="261040"/>
                    </a:cubicBezTo>
                    <a:lnTo>
                      <a:pt x="140733" y="261040"/>
                    </a:lnTo>
                    <a:cubicBezTo>
                      <a:pt x="151882" y="261040"/>
                      <a:pt x="161007" y="251685"/>
                      <a:pt x="161007" y="240305"/>
                    </a:cubicBezTo>
                    <a:lnTo>
                      <a:pt x="161007" y="237632"/>
                    </a:lnTo>
                    <a:cubicBezTo>
                      <a:pt x="161007" y="227246"/>
                      <a:pt x="163985" y="224764"/>
                      <a:pt x="175554" y="224764"/>
                    </a:cubicBezTo>
                    <a:close/>
                    <a:moveTo>
                      <a:pt x="356061" y="177775"/>
                    </a:moveTo>
                    <a:cubicBezTo>
                      <a:pt x="364385" y="177775"/>
                      <a:pt x="371220" y="186903"/>
                      <a:pt x="371220" y="198056"/>
                    </a:cubicBezTo>
                    <a:lnTo>
                      <a:pt x="371220" y="222958"/>
                    </a:lnTo>
                    <a:cubicBezTo>
                      <a:pt x="371220" y="234110"/>
                      <a:pt x="364385" y="243238"/>
                      <a:pt x="356061" y="243238"/>
                    </a:cubicBezTo>
                    <a:cubicBezTo>
                      <a:pt x="347699" y="243238"/>
                      <a:pt x="340864" y="234110"/>
                      <a:pt x="340864" y="222958"/>
                    </a:cubicBezTo>
                    <a:lnTo>
                      <a:pt x="340864" y="198056"/>
                    </a:lnTo>
                    <a:cubicBezTo>
                      <a:pt x="340864" y="186903"/>
                      <a:pt x="347699" y="177775"/>
                      <a:pt x="356061" y="177775"/>
                    </a:cubicBezTo>
                    <a:close/>
                    <a:moveTo>
                      <a:pt x="132801" y="177775"/>
                    </a:moveTo>
                    <a:cubicBezTo>
                      <a:pt x="141125" y="177775"/>
                      <a:pt x="147960" y="186903"/>
                      <a:pt x="147960" y="198056"/>
                    </a:cubicBezTo>
                    <a:lnTo>
                      <a:pt x="147960" y="222958"/>
                    </a:lnTo>
                    <a:cubicBezTo>
                      <a:pt x="147960" y="234110"/>
                      <a:pt x="141125" y="243238"/>
                      <a:pt x="132801" y="243238"/>
                    </a:cubicBezTo>
                    <a:cubicBezTo>
                      <a:pt x="124477" y="243238"/>
                      <a:pt x="117642" y="234110"/>
                      <a:pt x="117642" y="222958"/>
                    </a:cubicBezTo>
                    <a:lnTo>
                      <a:pt x="117642" y="198056"/>
                    </a:lnTo>
                    <a:cubicBezTo>
                      <a:pt x="117642" y="186903"/>
                      <a:pt x="124477" y="177775"/>
                      <a:pt x="132801" y="177775"/>
                    </a:cubicBezTo>
                    <a:close/>
                    <a:moveTo>
                      <a:pt x="40624" y="115971"/>
                    </a:moveTo>
                    <a:lnTo>
                      <a:pt x="448353" y="115971"/>
                    </a:lnTo>
                    <a:cubicBezTo>
                      <a:pt x="470574" y="115971"/>
                      <a:pt x="488862" y="134606"/>
                      <a:pt x="488862" y="157403"/>
                    </a:cubicBezTo>
                    <a:lnTo>
                      <a:pt x="488862" y="180582"/>
                    </a:lnTo>
                    <a:cubicBezTo>
                      <a:pt x="488862" y="190969"/>
                      <a:pt x="485808" y="193871"/>
                      <a:pt x="475270" y="193871"/>
                    </a:cubicBezTo>
                    <a:lnTo>
                      <a:pt x="397267" y="193871"/>
                    </a:lnTo>
                    <a:cubicBezTo>
                      <a:pt x="387455" y="193871"/>
                      <a:pt x="383980" y="192229"/>
                      <a:pt x="383980" y="181919"/>
                    </a:cubicBezTo>
                    <a:lnTo>
                      <a:pt x="383980" y="178291"/>
                    </a:lnTo>
                    <a:cubicBezTo>
                      <a:pt x="383980" y="166835"/>
                      <a:pt x="374855" y="157556"/>
                      <a:pt x="363707" y="157556"/>
                    </a:cubicBezTo>
                    <a:lnTo>
                      <a:pt x="347938" y="157556"/>
                    </a:lnTo>
                    <a:cubicBezTo>
                      <a:pt x="336751" y="157556"/>
                      <a:pt x="327664" y="166912"/>
                      <a:pt x="327664" y="178291"/>
                    </a:cubicBezTo>
                    <a:lnTo>
                      <a:pt x="327664" y="182950"/>
                    </a:lnTo>
                    <a:cubicBezTo>
                      <a:pt x="327664" y="192458"/>
                      <a:pt x="326557" y="193871"/>
                      <a:pt x="316248" y="193871"/>
                    </a:cubicBezTo>
                    <a:lnTo>
                      <a:pt x="174981" y="193871"/>
                    </a:lnTo>
                    <a:cubicBezTo>
                      <a:pt x="163756" y="193871"/>
                      <a:pt x="160930" y="192764"/>
                      <a:pt x="160930" y="181308"/>
                    </a:cubicBezTo>
                    <a:lnTo>
                      <a:pt x="160930" y="178291"/>
                    </a:lnTo>
                    <a:cubicBezTo>
                      <a:pt x="160930" y="166835"/>
                      <a:pt x="151805" y="157556"/>
                      <a:pt x="140657" y="157556"/>
                    </a:cubicBezTo>
                    <a:lnTo>
                      <a:pt x="124468" y="157556"/>
                    </a:lnTo>
                    <a:cubicBezTo>
                      <a:pt x="113319" y="157556"/>
                      <a:pt x="104194" y="166912"/>
                      <a:pt x="104194" y="178291"/>
                    </a:cubicBezTo>
                    <a:lnTo>
                      <a:pt x="104194" y="181117"/>
                    </a:lnTo>
                    <a:cubicBezTo>
                      <a:pt x="104194" y="192458"/>
                      <a:pt x="101445" y="193795"/>
                      <a:pt x="89724" y="193795"/>
                    </a:cubicBezTo>
                    <a:lnTo>
                      <a:pt x="16036" y="193795"/>
                    </a:lnTo>
                    <a:cubicBezTo>
                      <a:pt x="3474" y="193795"/>
                      <a:pt x="76" y="190702"/>
                      <a:pt x="76" y="179093"/>
                    </a:cubicBezTo>
                    <a:lnTo>
                      <a:pt x="76" y="157403"/>
                    </a:lnTo>
                    <a:cubicBezTo>
                      <a:pt x="76" y="134606"/>
                      <a:pt x="18327" y="115971"/>
                      <a:pt x="40624" y="115971"/>
                    </a:cubicBezTo>
                    <a:close/>
                    <a:moveTo>
                      <a:pt x="244698" y="0"/>
                    </a:moveTo>
                    <a:cubicBezTo>
                      <a:pt x="302351" y="0"/>
                      <a:pt x="350763" y="39981"/>
                      <a:pt x="364967" y="94282"/>
                    </a:cubicBezTo>
                    <a:cubicBezTo>
                      <a:pt x="364967" y="94282"/>
                      <a:pt x="365043" y="105928"/>
                      <a:pt x="348931" y="105928"/>
                    </a:cubicBezTo>
                    <a:cubicBezTo>
                      <a:pt x="332819" y="105928"/>
                      <a:pt x="330070" y="94282"/>
                      <a:pt x="330070" y="94282"/>
                    </a:cubicBezTo>
                    <a:cubicBezTo>
                      <a:pt x="317050" y="59112"/>
                      <a:pt x="283719" y="34024"/>
                      <a:pt x="244698" y="34024"/>
                    </a:cubicBezTo>
                    <a:cubicBezTo>
                      <a:pt x="205563" y="34024"/>
                      <a:pt x="172308" y="58998"/>
                      <a:pt x="159289" y="94282"/>
                    </a:cubicBezTo>
                    <a:cubicBezTo>
                      <a:pt x="159289" y="94282"/>
                      <a:pt x="156769" y="104439"/>
                      <a:pt x="140122" y="104439"/>
                    </a:cubicBezTo>
                    <a:cubicBezTo>
                      <a:pt x="123514" y="104439"/>
                      <a:pt x="124392" y="94282"/>
                      <a:pt x="124392" y="94282"/>
                    </a:cubicBezTo>
                    <a:cubicBezTo>
                      <a:pt x="138595" y="39981"/>
                      <a:pt x="187084" y="0"/>
                      <a:pt x="2446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endParaRPr sz="16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4396725" y="2119973"/>
              <a:ext cx="3385849" cy="4014127"/>
              <a:chOff x="4655038" y="2119973"/>
              <a:chExt cx="3385849" cy="4014127"/>
            </a:xfrm>
          </p:grpSpPr>
          <p:sp>
            <p:nvSpPr>
              <p:cNvPr id="117" name="ComponentBackground2"/>
              <p:cNvSpPr/>
              <p:nvPr/>
            </p:nvSpPr>
            <p:spPr>
              <a:xfrm>
                <a:off x="4655038" y="2562826"/>
                <a:ext cx="3385849" cy="3571274"/>
              </a:xfrm>
              <a:prstGeom prst="roundRect">
                <a:avLst>
                  <a:gd name="adj" fmla="val 4413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8" name="Bullet2"/>
              <p:cNvSpPr/>
              <p:nvPr/>
            </p:nvSpPr>
            <p:spPr>
              <a:xfrm>
                <a:off x="4773079" y="3075709"/>
                <a:ext cx="3160094" cy="575094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Core Questions for Failure Localization</a:t>
                </a:r>
                <a:endParaRPr lang="en-US" dirty="0"/>
              </a:p>
            </p:txBody>
          </p:sp>
          <p:sp>
            <p:nvSpPr>
              <p:cNvPr id="119" name="Text2"/>
              <p:cNvSpPr txBox="1"/>
              <p:nvPr/>
            </p:nvSpPr>
            <p:spPr>
              <a:xfrm>
                <a:off x="4773079" y="3650802"/>
                <a:ext cx="3160094" cy="2334362"/>
              </a:xfrm>
              <a:prstGeom prst="rect">
                <a:avLst/>
              </a:prstGeom>
              <a:noFill/>
              <a:effectLst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050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Failure localization needs to answer two questions: Which service or instance is the root cause? Which metric reflects the underlying failure?</a:t>
                </a:r>
                <a:endParaRPr lang="en-US" dirty="0"/>
              </a:p>
            </p:txBody>
          </p:sp>
          <p:sp>
            <p:nvSpPr>
              <p:cNvPr id="121" name="IconBackground2"/>
              <p:cNvSpPr/>
              <p:nvPr/>
            </p:nvSpPr>
            <p:spPr>
              <a:xfrm>
                <a:off x="5897963" y="2119973"/>
                <a:ext cx="900000" cy="900000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endParaRPr lang="zh-C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5" name="Icon2"/>
              <p:cNvSpPr/>
              <p:nvPr/>
            </p:nvSpPr>
            <p:spPr>
              <a:xfrm flipH="1">
                <a:off x="6208528" y="2405839"/>
                <a:ext cx="308067" cy="341896"/>
              </a:xfrm>
              <a:custGeom>
                <a:avLst/>
                <a:gdLst>
                  <a:gd name="T0" fmla="*/ 10558 w 11535"/>
                  <a:gd name="T1" fmla="*/ 0 h 12800"/>
                  <a:gd name="T2" fmla="*/ 977 w 11535"/>
                  <a:gd name="T3" fmla="*/ 0 h 12800"/>
                  <a:gd name="T4" fmla="*/ 0 w 11535"/>
                  <a:gd name="T5" fmla="*/ 977 h 12800"/>
                  <a:gd name="T6" fmla="*/ 0 w 11535"/>
                  <a:gd name="T7" fmla="*/ 11823 h 12800"/>
                  <a:gd name="T8" fmla="*/ 977 w 11535"/>
                  <a:gd name="T9" fmla="*/ 12800 h 12800"/>
                  <a:gd name="T10" fmla="*/ 10558 w 11535"/>
                  <a:gd name="T11" fmla="*/ 12800 h 12800"/>
                  <a:gd name="T12" fmla="*/ 11535 w 11535"/>
                  <a:gd name="T13" fmla="*/ 11823 h 12800"/>
                  <a:gd name="T14" fmla="*/ 11535 w 11535"/>
                  <a:gd name="T15" fmla="*/ 977 h 12800"/>
                  <a:gd name="T16" fmla="*/ 10558 w 11535"/>
                  <a:gd name="T17" fmla="*/ 0 h 12800"/>
                  <a:gd name="T18" fmla="*/ 6591 w 11535"/>
                  <a:gd name="T19" fmla="*/ 10544 h 12800"/>
                  <a:gd name="T20" fmla="*/ 1463 w 11535"/>
                  <a:gd name="T21" fmla="*/ 10544 h 12800"/>
                  <a:gd name="T22" fmla="*/ 1197 w 11535"/>
                  <a:gd name="T23" fmla="*/ 10278 h 12800"/>
                  <a:gd name="T24" fmla="*/ 1463 w 11535"/>
                  <a:gd name="T25" fmla="*/ 10012 h 12800"/>
                  <a:gd name="T26" fmla="*/ 6591 w 11535"/>
                  <a:gd name="T27" fmla="*/ 10012 h 12800"/>
                  <a:gd name="T28" fmla="*/ 6857 w 11535"/>
                  <a:gd name="T29" fmla="*/ 10278 h 12800"/>
                  <a:gd name="T30" fmla="*/ 6591 w 11535"/>
                  <a:gd name="T31" fmla="*/ 10544 h 12800"/>
                  <a:gd name="T32" fmla="*/ 6591 w 11535"/>
                  <a:gd name="T33" fmla="*/ 7859 h 12800"/>
                  <a:gd name="T34" fmla="*/ 1463 w 11535"/>
                  <a:gd name="T35" fmla="*/ 7859 h 12800"/>
                  <a:gd name="T36" fmla="*/ 1197 w 11535"/>
                  <a:gd name="T37" fmla="*/ 7593 h 12800"/>
                  <a:gd name="T38" fmla="*/ 1463 w 11535"/>
                  <a:gd name="T39" fmla="*/ 7327 h 12800"/>
                  <a:gd name="T40" fmla="*/ 6591 w 11535"/>
                  <a:gd name="T41" fmla="*/ 7327 h 12800"/>
                  <a:gd name="T42" fmla="*/ 6857 w 11535"/>
                  <a:gd name="T43" fmla="*/ 7593 h 12800"/>
                  <a:gd name="T44" fmla="*/ 6591 w 11535"/>
                  <a:gd name="T45" fmla="*/ 7859 h 12800"/>
                  <a:gd name="T46" fmla="*/ 6591 w 11535"/>
                  <a:gd name="T47" fmla="*/ 5175 h 12800"/>
                  <a:gd name="T48" fmla="*/ 1463 w 11535"/>
                  <a:gd name="T49" fmla="*/ 5175 h 12800"/>
                  <a:gd name="T50" fmla="*/ 1197 w 11535"/>
                  <a:gd name="T51" fmla="*/ 4909 h 12800"/>
                  <a:gd name="T52" fmla="*/ 1463 w 11535"/>
                  <a:gd name="T53" fmla="*/ 4642 h 12800"/>
                  <a:gd name="T54" fmla="*/ 6591 w 11535"/>
                  <a:gd name="T55" fmla="*/ 4642 h 12800"/>
                  <a:gd name="T56" fmla="*/ 6857 w 11535"/>
                  <a:gd name="T57" fmla="*/ 4909 h 12800"/>
                  <a:gd name="T58" fmla="*/ 6591 w 11535"/>
                  <a:gd name="T59" fmla="*/ 5175 h 12800"/>
                  <a:gd name="T60" fmla="*/ 6591 w 11535"/>
                  <a:gd name="T61" fmla="*/ 2490 h 12800"/>
                  <a:gd name="T62" fmla="*/ 1463 w 11535"/>
                  <a:gd name="T63" fmla="*/ 2490 h 12800"/>
                  <a:gd name="T64" fmla="*/ 1197 w 11535"/>
                  <a:gd name="T65" fmla="*/ 2222 h 12800"/>
                  <a:gd name="T66" fmla="*/ 1463 w 11535"/>
                  <a:gd name="T67" fmla="*/ 1956 h 12800"/>
                  <a:gd name="T68" fmla="*/ 6591 w 11535"/>
                  <a:gd name="T69" fmla="*/ 1956 h 12800"/>
                  <a:gd name="T70" fmla="*/ 6857 w 11535"/>
                  <a:gd name="T71" fmla="*/ 2222 h 12800"/>
                  <a:gd name="T72" fmla="*/ 6591 w 11535"/>
                  <a:gd name="T73" fmla="*/ 2490 h 12800"/>
                  <a:gd name="T74" fmla="*/ 9620 w 11535"/>
                  <a:gd name="T75" fmla="*/ 8931 h 12800"/>
                  <a:gd name="T76" fmla="*/ 9611 w 11535"/>
                  <a:gd name="T77" fmla="*/ 8978 h 12800"/>
                  <a:gd name="T78" fmla="*/ 8945 w 11535"/>
                  <a:gd name="T79" fmla="*/ 10435 h 12800"/>
                  <a:gd name="T80" fmla="*/ 8865 w 11535"/>
                  <a:gd name="T81" fmla="*/ 10528 h 12800"/>
                  <a:gd name="T82" fmla="*/ 8742 w 11535"/>
                  <a:gd name="T83" fmla="*/ 10562 h 12800"/>
                  <a:gd name="T84" fmla="*/ 8543 w 11535"/>
                  <a:gd name="T85" fmla="*/ 10424 h 12800"/>
                  <a:gd name="T86" fmla="*/ 7959 w 11535"/>
                  <a:gd name="T87" fmla="*/ 8967 h 12800"/>
                  <a:gd name="T88" fmla="*/ 9620 w 11535"/>
                  <a:gd name="T89" fmla="*/ 8931 h 12800"/>
                  <a:gd name="T90" fmla="*/ 9620 w 11535"/>
                  <a:gd name="T91" fmla="*/ 8931 h 12800"/>
                  <a:gd name="T92" fmla="*/ 9638 w 11535"/>
                  <a:gd name="T93" fmla="*/ 8492 h 12800"/>
                  <a:gd name="T94" fmla="*/ 7924 w 11535"/>
                  <a:gd name="T95" fmla="*/ 8529 h 12800"/>
                  <a:gd name="T96" fmla="*/ 7895 w 11535"/>
                  <a:gd name="T97" fmla="*/ 4044 h 12800"/>
                  <a:gd name="T98" fmla="*/ 9712 w 11535"/>
                  <a:gd name="T99" fmla="*/ 4003 h 12800"/>
                  <a:gd name="T100" fmla="*/ 9638 w 11535"/>
                  <a:gd name="T101" fmla="*/ 8492 h 12800"/>
                  <a:gd name="T102" fmla="*/ 9722 w 11535"/>
                  <a:gd name="T103" fmla="*/ 3567 h 12800"/>
                  <a:gd name="T104" fmla="*/ 7902 w 11535"/>
                  <a:gd name="T105" fmla="*/ 3608 h 12800"/>
                  <a:gd name="T106" fmla="*/ 7918 w 11535"/>
                  <a:gd name="T107" fmla="*/ 3162 h 12800"/>
                  <a:gd name="T108" fmla="*/ 8188 w 11535"/>
                  <a:gd name="T109" fmla="*/ 2710 h 12800"/>
                  <a:gd name="T110" fmla="*/ 8479 w 11535"/>
                  <a:gd name="T111" fmla="*/ 2610 h 12800"/>
                  <a:gd name="T112" fmla="*/ 9242 w 11535"/>
                  <a:gd name="T113" fmla="*/ 2601 h 12800"/>
                  <a:gd name="T114" fmla="*/ 9306 w 11535"/>
                  <a:gd name="T115" fmla="*/ 2617 h 12800"/>
                  <a:gd name="T116" fmla="*/ 9726 w 11535"/>
                  <a:gd name="T117" fmla="*/ 3121 h 12800"/>
                  <a:gd name="T118" fmla="*/ 9722 w 11535"/>
                  <a:gd name="T119" fmla="*/ 3567 h 12800"/>
                  <a:gd name="T120" fmla="*/ 9722 w 11535"/>
                  <a:gd name="T121" fmla="*/ 3567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535" h="12800">
                    <a:moveTo>
                      <a:pt x="10558" y="0"/>
                    </a:moveTo>
                    <a:lnTo>
                      <a:pt x="977" y="0"/>
                    </a:lnTo>
                    <a:cubicBezTo>
                      <a:pt x="439" y="0"/>
                      <a:pt x="0" y="438"/>
                      <a:pt x="0" y="977"/>
                    </a:cubicBezTo>
                    <a:lnTo>
                      <a:pt x="0" y="11823"/>
                    </a:lnTo>
                    <a:cubicBezTo>
                      <a:pt x="0" y="12362"/>
                      <a:pt x="439" y="12800"/>
                      <a:pt x="977" y="12800"/>
                    </a:cubicBezTo>
                    <a:lnTo>
                      <a:pt x="10558" y="12800"/>
                    </a:lnTo>
                    <a:cubicBezTo>
                      <a:pt x="11098" y="12800"/>
                      <a:pt x="11535" y="12362"/>
                      <a:pt x="11535" y="11823"/>
                    </a:cubicBezTo>
                    <a:lnTo>
                      <a:pt x="11535" y="977"/>
                    </a:lnTo>
                    <a:cubicBezTo>
                      <a:pt x="11535" y="438"/>
                      <a:pt x="11096" y="0"/>
                      <a:pt x="10558" y="0"/>
                    </a:cubicBezTo>
                    <a:close/>
                    <a:moveTo>
                      <a:pt x="6591" y="10544"/>
                    </a:moveTo>
                    <a:lnTo>
                      <a:pt x="1463" y="10544"/>
                    </a:lnTo>
                    <a:cubicBezTo>
                      <a:pt x="1316" y="10544"/>
                      <a:pt x="1197" y="10424"/>
                      <a:pt x="1197" y="10278"/>
                    </a:cubicBezTo>
                    <a:cubicBezTo>
                      <a:pt x="1197" y="10131"/>
                      <a:pt x="1316" y="10012"/>
                      <a:pt x="1463" y="10012"/>
                    </a:cubicBezTo>
                    <a:lnTo>
                      <a:pt x="6591" y="10012"/>
                    </a:lnTo>
                    <a:cubicBezTo>
                      <a:pt x="6737" y="10012"/>
                      <a:pt x="6857" y="10131"/>
                      <a:pt x="6857" y="10278"/>
                    </a:cubicBezTo>
                    <a:cubicBezTo>
                      <a:pt x="6859" y="10424"/>
                      <a:pt x="6739" y="10544"/>
                      <a:pt x="6591" y="10544"/>
                    </a:cubicBezTo>
                    <a:close/>
                    <a:moveTo>
                      <a:pt x="6591" y="7859"/>
                    </a:moveTo>
                    <a:lnTo>
                      <a:pt x="1463" y="7859"/>
                    </a:lnTo>
                    <a:cubicBezTo>
                      <a:pt x="1316" y="7859"/>
                      <a:pt x="1197" y="7740"/>
                      <a:pt x="1197" y="7593"/>
                    </a:cubicBezTo>
                    <a:cubicBezTo>
                      <a:pt x="1197" y="7447"/>
                      <a:pt x="1316" y="7327"/>
                      <a:pt x="1463" y="7327"/>
                    </a:cubicBezTo>
                    <a:lnTo>
                      <a:pt x="6591" y="7327"/>
                    </a:lnTo>
                    <a:cubicBezTo>
                      <a:pt x="6737" y="7327"/>
                      <a:pt x="6857" y="7447"/>
                      <a:pt x="6857" y="7593"/>
                    </a:cubicBezTo>
                    <a:cubicBezTo>
                      <a:pt x="6859" y="7740"/>
                      <a:pt x="6739" y="7859"/>
                      <a:pt x="6591" y="7859"/>
                    </a:cubicBezTo>
                    <a:close/>
                    <a:moveTo>
                      <a:pt x="6591" y="5175"/>
                    </a:moveTo>
                    <a:lnTo>
                      <a:pt x="1463" y="5175"/>
                    </a:lnTo>
                    <a:cubicBezTo>
                      <a:pt x="1316" y="5175"/>
                      <a:pt x="1197" y="5055"/>
                      <a:pt x="1197" y="4909"/>
                    </a:cubicBezTo>
                    <a:cubicBezTo>
                      <a:pt x="1197" y="4762"/>
                      <a:pt x="1316" y="4642"/>
                      <a:pt x="1463" y="4642"/>
                    </a:cubicBezTo>
                    <a:lnTo>
                      <a:pt x="6591" y="4642"/>
                    </a:lnTo>
                    <a:cubicBezTo>
                      <a:pt x="6737" y="4642"/>
                      <a:pt x="6857" y="4762"/>
                      <a:pt x="6857" y="4909"/>
                    </a:cubicBezTo>
                    <a:cubicBezTo>
                      <a:pt x="6859" y="5055"/>
                      <a:pt x="6739" y="5175"/>
                      <a:pt x="6591" y="5175"/>
                    </a:cubicBezTo>
                    <a:close/>
                    <a:moveTo>
                      <a:pt x="6591" y="2490"/>
                    </a:moveTo>
                    <a:lnTo>
                      <a:pt x="1463" y="2490"/>
                    </a:lnTo>
                    <a:cubicBezTo>
                      <a:pt x="1316" y="2490"/>
                      <a:pt x="1197" y="2370"/>
                      <a:pt x="1197" y="2222"/>
                    </a:cubicBezTo>
                    <a:cubicBezTo>
                      <a:pt x="1197" y="2076"/>
                      <a:pt x="1316" y="1956"/>
                      <a:pt x="1463" y="1956"/>
                    </a:cubicBezTo>
                    <a:lnTo>
                      <a:pt x="6591" y="1956"/>
                    </a:lnTo>
                    <a:cubicBezTo>
                      <a:pt x="6737" y="1956"/>
                      <a:pt x="6857" y="2076"/>
                      <a:pt x="6857" y="2222"/>
                    </a:cubicBezTo>
                    <a:cubicBezTo>
                      <a:pt x="6859" y="2370"/>
                      <a:pt x="6739" y="2490"/>
                      <a:pt x="6591" y="2490"/>
                    </a:cubicBezTo>
                    <a:close/>
                    <a:moveTo>
                      <a:pt x="9620" y="8931"/>
                    </a:moveTo>
                    <a:cubicBezTo>
                      <a:pt x="9617" y="8947"/>
                      <a:pt x="9619" y="8963"/>
                      <a:pt x="9611" y="8978"/>
                    </a:cubicBezTo>
                    <a:lnTo>
                      <a:pt x="8945" y="10435"/>
                    </a:lnTo>
                    <a:cubicBezTo>
                      <a:pt x="8927" y="10474"/>
                      <a:pt x="8899" y="10507"/>
                      <a:pt x="8865" y="10528"/>
                    </a:cubicBezTo>
                    <a:cubicBezTo>
                      <a:pt x="8829" y="10551"/>
                      <a:pt x="8786" y="10564"/>
                      <a:pt x="8742" y="10562"/>
                    </a:cubicBezTo>
                    <a:cubicBezTo>
                      <a:pt x="8654" y="10560"/>
                      <a:pt x="8577" y="10507"/>
                      <a:pt x="8543" y="10424"/>
                    </a:cubicBezTo>
                    <a:lnTo>
                      <a:pt x="7959" y="8967"/>
                    </a:lnTo>
                    <a:lnTo>
                      <a:pt x="9620" y="8931"/>
                    </a:lnTo>
                    <a:cubicBezTo>
                      <a:pt x="9620" y="8929"/>
                      <a:pt x="9620" y="8931"/>
                      <a:pt x="9620" y="8931"/>
                    </a:cubicBezTo>
                    <a:close/>
                    <a:moveTo>
                      <a:pt x="9638" y="8492"/>
                    </a:moveTo>
                    <a:lnTo>
                      <a:pt x="7924" y="8529"/>
                    </a:lnTo>
                    <a:lnTo>
                      <a:pt x="7895" y="4044"/>
                    </a:lnTo>
                    <a:lnTo>
                      <a:pt x="9712" y="4003"/>
                    </a:lnTo>
                    <a:lnTo>
                      <a:pt x="9638" y="8492"/>
                    </a:lnTo>
                    <a:close/>
                    <a:moveTo>
                      <a:pt x="9722" y="3567"/>
                    </a:moveTo>
                    <a:lnTo>
                      <a:pt x="7902" y="3608"/>
                    </a:lnTo>
                    <a:lnTo>
                      <a:pt x="7918" y="3162"/>
                    </a:lnTo>
                    <a:cubicBezTo>
                      <a:pt x="7920" y="3128"/>
                      <a:pt x="7943" y="2867"/>
                      <a:pt x="8188" y="2710"/>
                    </a:cubicBezTo>
                    <a:cubicBezTo>
                      <a:pt x="8272" y="2656"/>
                      <a:pt x="8368" y="2622"/>
                      <a:pt x="8479" y="2610"/>
                    </a:cubicBezTo>
                    <a:cubicBezTo>
                      <a:pt x="8847" y="2567"/>
                      <a:pt x="9226" y="2599"/>
                      <a:pt x="9242" y="2601"/>
                    </a:cubicBezTo>
                    <a:cubicBezTo>
                      <a:pt x="9263" y="2603"/>
                      <a:pt x="9285" y="2608"/>
                      <a:pt x="9306" y="2617"/>
                    </a:cubicBezTo>
                    <a:cubicBezTo>
                      <a:pt x="9349" y="2635"/>
                      <a:pt x="9719" y="2794"/>
                      <a:pt x="9726" y="3121"/>
                    </a:cubicBezTo>
                    <a:cubicBezTo>
                      <a:pt x="9729" y="3213"/>
                      <a:pt x="9726" y="3399"/>
                      <a:pt x="9722" y="3567"/>
                    </a:cubicBezTo>
                    <a:close/>
                    <a:moveTo>
                      <a:pt x="9722" y="3567"/>
                    </a:move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endParaRPr sz="16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64" name="组合 163"/>
            <p:cNvGrpSpPr/>
            <p:nvPr/>
          </p:nvGrpSpPr>
          <p:grpSpPr>
            <a:xfrm>
              <a:off x="8133052" y="2119973"/>
              <a:ext cx="3385849" cy="4014127"/>
              <a:chOff x="6978201" y="2119973"/>
              <a:chExt cx="3385849" cy="4014127"/>
            </a:xfrm>
          </p:grpSpPr>
          <p:sp>
            <p:nvSpPr>
              <p:cNvPr id="124" name="ComponentBackground3"/>
              <p:cNvSpPr/>
              <p:nvPr/>
            </p:nvSpPr>
            <p:spPr>
              <a:xfrm>
                <a:off x="6978201" y="2562826"/>
                <a:ext cx="3385849" cy="3571274"/>
              </a:xfrm>
              <a:prstGeom prst="roundRect">
                <a:avLst>
                  <a:gd name="adj" fmla="val 4413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5" name="Bullet3"/>
              <p:cNvSpPr/>
              <p:nvPr/>
            </p:nvSpPr>
            <p:spPr>
              <a:xfrm>
                <a:off x="7091078" y="3075709"/>
                <a:ext cx="3160094" cy="575094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Heterogeneous Observability Data Sources</a:t>
                </a:r>
                <a:endParaRPr lang="en-US" dirty="0"/>
              </a:p>
            </p:txBody>
          </p:sp>
          <p:sp>
            <p:nvSpPr>
              <p:cNvPr id="126" name="Text3"/>
              <p:cNvSpPr txBox="1"/>
              <p:nvPr/>
            </p:nvSpPr>
            <p:spPr>
              <a:xfrm>
                <a:off x="7091078" y="3650802"/>
                <a:ext cx="3160094" cy="2334362"/>
              </a:xfrm>
              <a:prstGeom prst="rect">
                <a:avLst/>
              </a:prstGeom>
              <a:noFill/>
              <a:effectLst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050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Logs, metrics, and traces are widely used, but they have different data formats.</a:t>
                </a:r>
                <a:endParaRPr lang="en-US" dirty="0"/>
              </a:p>
            </p:txBody>
          </p:sp>
          <p:sp>
            <p:nvSpPr>
              <p:cNvPr id="128" name="IconBackground3"/>
              <p:cNvSpPr/>
              <p:nvPr/>
            </p:nvSpPr>
            <p:spPr>
              <a:xfrm>
                <a:off x="8106824" y="2119973"/>
                <a:ext cx="900000" cy="900000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endParaRPr lang="zh-C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4" name="Icon3"/>
              <p:cNvSpPr/>
              <p:nvPr/>
            </p:nvSpPr>
            <p:spPr>
              <a:xfrm flipH="1">
                <a:off x="8383271" y="2393824"/>
                <a:ext cx="341896" cy="307770"/>
              </a:xfrm>
              <a:custGeom>
                <a:avLst/>
                <a:gdLst>
                  <a:gd name="T0" fmla="*/ 12800 w 14221"/>
                  <a:gd name="T1" fmla="*/ 2845 h 12800"/>
                  <a:gd name="T2" fmla="*/ 1421 w 14221"/>
                  <a:gd name="T3" fmla="*/ 2845 h 12800"/>
                  <a:gd name="T4" fmla="*/ 0 w 14221"/>
                  <a:gd name="T5" fmla="*/ 4267 h 12800"/>
                  <a:gd name="T6" fmla="*/ 0 w 14221"/>
                  <a:gd name="T7" fmla="*/ 11378 h 12800"/>
                  <a:gd name="T8" fmla="*/ 1421 w 14221"/>
                  <a:gd name="T9" fmla="*/ 12800 h 12800"/>
                  <a:gd name="T10" fmla="*/ 12800 w 14221"/>
                  <a:gd name="T11" fmla="*/ 12800 h 12800"/>
                  <a:gd name="T12" fmla="*/ 14221 w 14221"/>
                  <a:gd name="T13" fmla="*/ 11378 h 12800"/>
                  <a:gd name="T14" fmla="*/ 14221 w 14221"/>
                  <a:gd name="T15" fmla="*/ 4267 h 12800"/>
                  <a:gd name="T16" fmla="*/ 12800 w 14221"/>
                  <a:gd name="T17" fmla="*/ 2845 h 12800"/>
                  <a:gd name="T18" fmla="*/ 12088 w 14221"/>
                  <a:gd name="T19" fmla="*/ 7112 h 12800"/>
                  <a:gd name="T20" fmla="*/ 11376 w 14221"/>
                  <a:gd name="T21" fmla="*/ 7112 h 12800"/>
                  <a:gd name="T22" fmla="*/ 11376 w 14221"/>
                  <a:gd name="T23" fmla="*/ 8533 h 12800"/>
                  <a:gd name="T24" fmla="*/ 10665 w 14221"/>
                  <a:gd name="T25" fmla="*/ 9245 h 12800"/>
                  <a:gd name="T26" fmla="*/ 9953 w 14221"/>
                  <a:gd name="T27" fmla="*/ 8533 h 12800"/>
                  <a:gd name="T28" fmla="*/ 9953 w 14221"/>
                  <a:gd name="T29" fmla="*/ 7112 h 12800"/>
                  <a:gd name="T30" fmla="*/ 4266 w 14221"/>
                  <a:gd name="T31" fmla="*/ 7112 h 12800"/>
                  <a:gd name="T32" fmla="*/ 4266 w 14221"/>
                  <a:gd name="T33" fmla="*/ 8533 h 12800"/>
                  <a:gd name="T34" fmla="*/ 3555 w 14221"/>
                  <a:gd name="T35" fmla="*/ 9245 h 12800"/>
                  <a:gd name="T36" fmla="*/ 2843 w 14221"/>
                  <a:gd name="T37" fmla="*/ 8533 h 12800"/>
                  <a:gd name="T38" fmla="*/ 2843 w 14221"/>
                  <a:gd name="T39" fmla="*/ 7112 h 12800"/>
                  <a:gd name="T40" fmla="*/ 2131 w 14221"/>
                  <a:gd name="T41" fmla="*/ 7112 h 12800"/>
                  <a:gd name="T42" fmla="*/ 1420 w 14221"/>
                  <a:gd name="T43" fmla="*/ 6400 h 12800"/>
                  <a:gd name="T44" fmla="*/ 2131 w 14221"/>
                  <a:gd name="T45" fmla="*/ 5688 h 12800"/>
                  <a:gd name="T46" fmla="*/ 12086 w 14221"/>
                  <a:gd name="T47" fmla="*/ 5688 h 12800"/>
                  <a:gd name="T48" fmla="*/ 12798 w 14221"/>
                  <a:gd name="T49" fmla="*/ 6400 h 12800"/>
                  <a:gd name="T50" fmla="*/ 12088 w 14221"/>
                  <a:gd name="T51" fmla="*/ 7112 h 12800"/>
                  <a:gd name="T52" fmla="*/ 4978 w 14221"/>
                  <a:gd name="T53" fmla="*/ 1778 h 12800"/>
                  <a:gd name="T54" fmla="*/ 5333 w 14221"/>
                  <a:gd name="T55" fmla="*/ 1423 h 12800"/>
                  <a:gd name="T56" fmla="*/ 8888 w 14221"/>
                  <a:gd name="T57" fmla="*/ 1423 h 12800"/>
                  <a:gd name="T58" fmla="*/ 9243 w 14221"/>
                  <a:gd name="T59" fmla="*/ 1778 h 12800"/>
                  <a:gd name="T60" fmla="*/ 9243 w 14221"/>
                  <a:gd name="T61" fmla="*/ 2845 h 12800"/>
                  <a:gd name="T62" fmla="*/ 10666 w 14221"/>
                  <a:gd name="T63" fmla="*/ 2845 h 12800"/>
                  <a:gd name="T64" fmla="*/ 10666 w 14221"/>
                  <a:gd name="T65" fmla="*/ 1778 h 12800"/>
                  <a:gd name="T66" fmla="*/ 8888 w 14221"/>
                  <a:gd name="T67" fmla="*/ 0 h 12800"/>
                  <a:gd name="T68" fmla="*/ 5333 w 14221"/>
                  <a:gd name="T69" fmla="*/ 0 h 12800"/>
                  <a:gd name="T70" fmla="*/ 3555 w 14221"/>
                  <a:gd name="T71" fmla="*/ 1778 h 12800"/>
                  <a:gd name="T72" fmla="*/ 3555 w 14221"/>
                  <a:gd name="T73" fmla="*/ 2845 h 12800"/>
                  <a:gd name="T74" fmla="*/ 4976 w 14221"/>
                  <a:gd name="T75" fmla="*/ 2845 h 12800"/>
                  <a:gd name="T76" fmla="*/ 4976 w 14221"/>
                  <a:gd name="T77" fmla="*/ 1778 h 12800"/>
                  <a:gd name="T78" fmla="*/ 4978 w 14221"/>
                  <a:gd name="T79" fmla="*/ 1778 h 12800"/>
                  <a:gd name="T80" fmla="*/ 4978 w 14221"/>
                  <a:gd name="T81" fmla="*/ 1778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4221" h="12800">
                    <a:moveTo>
                      <a:pt x="12800" y="2845"/>
                    </a:moveTo>
                    <a:lnTo>
                      <a:pt x="1421" y="2845"/>
                    </a:lnTo>
                    <a:cubicBezTo>
                      <a:pt x="638" y="2845"/>
                      <a:pt x="0" y="3485"/>
                      <a:pt x="0" y="4267"/>
                    </a:cubicBezTo>
                    <a:lnTo>
                      <a:pt x="0" y="11378"/>
                    </a:lnTo>
                    <a:cubicBezTo>
                      <a:pt x="0" y="12161"/>
                      <a:pt x="640" y="12800"/>
                      <a:pt x="1421" y="12800"/>
                    </a:cubicBezTo>
                    <a:lnTo>
                      <a:pt x="12800" y="12800"/>
                    </a:lnTo>
                    <a:cubicBezTo>
                      <a:pt x="13583" y="12800"/>
                      <a:pt x="14221" y="12160"/>
                      <a:pt x="14221" y="11378"/>
                    </a:cubicBezTo>
                    <a:lnTo>
                      <a:pt x="14221" y="4267"/>
                    </a:lnTo>
                    <a:cubicBezTo>
                      <a:pt x="14221" y="3484"/>
                      <a:pt x="13583" y="2845"/>
                      <a:pt x="12800" y="2845"/>
                    </a:cubicBezTo>
                    <a:close/>
                    <a:moveTo>
                      <a:pt x="12088" y="7112"/>
                    </a:moveTo>
                    <a:lnTo>
                      <a:pt x="11376" y="7112"/>
                    </a:lnTo>
                    <a:lnTo>
                      <a:pt x="11376" y="8533"/>
                    </a:lnTo>
                    <a:cubicBezTo>
                      <a:pt x="11376" y="8960"/>
                      <a:pt x="11093" y="9245"/>
                      <a:pt x="10665" y="9245"/>
                    </a:cubicBezTo>
                    <a:cubicBezTo>
                      <a:pt x="10237" y="9245"/>
                      <a:pt x="9953" y="8961"/>
                      <a:pt x="9953" y="8533"/>
                    </a:cubicBezTo>
                    <a:lnTo>
                      <a:pt x="9953" y="7112"/>
                    </a:lnTo>
                    <a:lnTo>
                      <a:pt x="4266" y="7112"/>
                    </a:lnTo>
                    <a:lnTo>
                      <a:pt x="4266" y="8533"/>
                    </a:lnTo>
                    <a:cubicBezTo>
                      <a:pt x="4266" y="8960"/>
                      <a:pt x="3983" y="9245"/>
                      <a:pt x="3555" y="9245"/>
                    </a:cubicBezTo>
                    <a:cubicBezTo>
                      <a:pt x="3128" y="9245"/>
                      <a:pt x="2843" y="8961"/>
                      <a:pt x="2843" y="8533"/>
                    </a:cubicBezTo>
                    <a:lnTo>
                      <a:pt x="2843" y="7112"/>
                    </a:lnTo>
                    <a:lnTo>
                      <a:pt x="2131" y="7112"/>
                    </a:lnTo>
                    <a:cubicBezTo>
                      <a:pt x="1705" y="7112"/>
                      <a:pt x="1420" y="6828"/>
                      <a:pt x="1420" y="6400"/>
                    </a:cubicBezTo>
                    <a:cubicBezTo>
                      <a:pt x="1420" y="5974"/>
                      <a:pt x="1703" y="5688"/>
                      <a:pt x="2131" y="5688"/>
                    </a:cubicBezTo>
                    <a:lnTo>
                      <a:pt x="12086" y="5688"/>
                    </a:lnTo>
                    <a:cubicBezTo>
                      <a:pt x="12513" y="5688"/>
                      <a:pt x="12798" y="5972"/>
                      <a:pt x="12798" y="6400"/>
                    </a:cubicBezTo>
                    <a:cubicBezTo>
                      <a:pt x="12800" y="6826"/>
                      <a:pt x="12516" y="7112"/>
                      <a:pt x="12088" y="7112"/>
                    </a:cubicBezTo>
                    <a:close/>
                    <a:moveTo>
                      <a:pt x="4978" y="1778"/>
                    </a:moveTo>
                    <a:cubicBezTo>
                      <a:pt x="4978" y="1564"/>
                      <a:pt x="5121" y="1423"/>
                      <a:pt x="5333" y="1423"/>
                    </a:cubicBezTo>
                    <a:lnTo>
                      <a:pt x="8888" y="1423"/>
                    </a:lnTo>
                    <a:cubicBezTo>
                      <a:pt x="9102" y="1423"/>
                      <a:pt x="9243" y="1566"/>
                      <a:pt x="9243" y="1778"/>
                    </a:cubicBezTo>
                    <a:lnTo>
                      <a:pt x="9243" y="2845"/>
                    </a:lnTo>
                    <a:lnTo>
                      <a:pt x="10666" y="2845"/>
                    </a:lnTo>
                    <a:lnTo>
                      <a:pt x="10666" y="1778"/>
                    </a:lnTo>
                    <a:cubicBezTo>
                      <a:pt x="10666" y="783"/>
                      <a:pt x="9883" y="0"/>
                      <a:pt x="8888" y="0"/>
                    </a:cubicBezTo>
                    <a:lnTo>
                      <a:pt x="5333" y="0"/>
                    </a:lnTo>
                    <a:cubicBezTo>
                      <a:pt x="4338" y="0"/>
                      <a:pt x="3555" y="783"/>
                      <a:pt x="3555" y="1778"/>
                    </a:cubicBezTo>
                    <a:lnTo>
                      <a:pt x="3555" y="2845"/>
                    </a:lnTo>
                    <a:lnTo>
                      <a:pt x="4976" y="2845"/>
                    </a:lnTo>
                    <a:lnTo>
                      <a:pt x="4976" y="1778"/>
                    </a:lnTo>
                    <a:lnTo>
                      <a:pt x="4978" y="1778"/>
                    </a:lnTo>
                    <a:close/>
                    <a:moveTo>
                      <a:pt x="4978" y="1778"/>
                    </a:move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endParaRPr sz="16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Modern Microservice Failure Localization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2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d3fb0efb-92bf-4090-88ef-060858c61e43.source.4.zh-Hans.pptx"/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grpSp>
          <p:nvGrpSpPr>
            <p:cNvPr id="38" name="组合 37"/>
            <p:cNvGrpSpPr/>
            <p:nvPr/>
          </p:nvGrpSpPr>
          <p:grpSpPr>
            <a:xfrm>
              <a:off x="660400" y="2041218"/>
              <a:ext cx="10858500" cy="4092882"/>
              <a:chOff x="660400" y="2041218"/>
              <a:chExt cx="10858500" cy="4092882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660400" y="2041218"/>
                <a:ext cx="2791743" cy="4092882"/>
                <a:chOff x="660400" y="2041218"/>
                <a:chExt cx="2791743" cy="4092882"/>
              </a:xfrm>
            </p:grpSpPr>
            <p:grpSp>
              <p:nvGrpSpPr>
                <p:cNvPr id="12" name="组合 11"/>
                <p:cNvGrpSpPr/>
                <p:nvPr/>
              </p:nvGrpSpPr>
              <p:grpSpPr>
                <a:xfrm>
                  <a:off x="998220" y="2779679"/>
                  <a:ext cx="2453923" cy="3354421"/>
                  <a:chOff x="998220" y="2779679"/>
                  <a:chExt cx="2453923" cy="3354421"/>
                </a:xfrm>
              </p:grpSpPr>
              <p:sp>
                <p:nvSpPr>
                  <p:cNvPr id="40" name="Text1"/>
                  <p:cNvSpPr txBox="1"/>
                  <p:nvPr/>
                </p:nvSpPr>
                <p:spPr>
                  <a:xfrm>
                    <a:off x="998221" y="3335964"/>
                    <a:ext cx="2453922" cy="279813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Ahmed et al. fine-tuned GPT-X for root cause identification.</a:t>
                    </a:r>
                    <a:endParaRPr lang="en-US" dirty="0"/>
                  </a:p>
                </p:txBody>
              </p:sp>
              <p:sp>
                <p:nvSpPr>
                  <p:cNvPr id="41" name="Bullet1"/>
                  <p:cNvSpPr txBox="1"/>
                  <p:nvPr/>
                </p:nvSpPr>
                <p:spPr>
                  <a:xfrm>
                    <a:off x="998220" y="2779679"/>
                    <a:ext cx="2453923" cy="53995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Fine-tuning-based methods</a:t>
                    </a:r>
                    <a:endParaRPr lang="en-US" dirty="0"/>
                  </a:p>
                </p:txBody>
              </p:sp>
            </p:grpSp>
            <p:grpSp>
              <p:nvGrpSpPr>
                <p:cNvPr id="45" name="组合 44"/>
                <p:cNvGrpSpPr/>
                <p:nvPr/>
              </p:nvGrpSpPr>
              <p:grpSpPr>
                <a:xfrm>
                  <a:off x="660400" y="2041218"/>
                  <a:ext cx="590550" cy="4092882"/>
                  <a:chOff x="660400" y="2041218"/>
                  <a:chExt cx="590550" cy="4092882"/>
                </a:xfrm>
              </p:grpSpPr>
              <p:sp>
                <p:nvSpPr>
                  <p:cNvPr id="42" name="Number1"/>
                  <p:cNvSpPr/>
                  <p:nvPr/>
                </p:nvSpPr>
                <p:spPr>
                  <a:xfrm>
                    <a:off x="660400" y="2041218"/>
                    <a:ext cx="590550" cy="590548"/>
                  </a:xfrm>
                  <a:prstGeom prst="ellipse">
                    <a:avLst/>
                  </a:prstGeom>
                  <a:solidFill>
                    <a:schemeClr val="accent1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>
                    <a:normAutofit/>
                  </a:bodyPr>
                  <a:lstStyle/>
                  <a:p>
                    <a:pPr algn="ctr"/>
                    <a:r>
                      <a:rPr lang="en-US" altLang="zh-CN" dirty="0">
                        <a:solidFill>
                          <a:srgbClr val="FFFFFF"/>
                        </a:solidFill>
                      </a:rPr>
                      <a:t>1</a:t>
                    </a:r>
                    <a:endParaRPr lang="zh-CN" altLang="en-US" dirty="0">
                      <a:solidFill>
                        <a:srgbClr val="FFFFFF"/>
                      </a:solidFill>
                    </a:endParaRPr>
                  </a:p>
                </p:txBody>
              </p:sp>
              <p:cxnSp>
                <p:nvCxnSpPr>
                  <p:cNvPr id="44" name="直接连接符 43"/>
                  <p:cNvCxnSpPr>
                    <a:stCxn id="42" idx="4"/>
                  </p:cNvCxnSpPr>
                  <p:nvPr/>
                </p:nvCxnSpPr>
                <p:spPr>
                  <a:xfrm>
                    <a:off x="955675" y="2631766"/>
                    <a:ext cx="0" cy="3502334"/>
                  </a:xfrm>
                  <a:prstGeom prst="line">
                    <a:avLst/>
                  </a:prstGeom>
                  <a:ln>
                    <a:solidFill>
                      <a:schemeClr val="tx1">
                        <a:alpha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4" name="组合 13"/>
              <p:cNvGrpSpPr/>
              <p:nvPr/>
            </p:nvGrpSpPr>
            <p:grpSpPr>
              <a:xfrm>
                <a:off x="3349319" y="2041218"/>
                <a:ext cx="2791743" cy="4092882"/>
                <a:chOff x="660400" y="2041218"/>
                <a:chExt cx="2791743" cy="4092882"/>
              </a:xfrm>
            </p:grpSpPr>
            <p:grpSp>
              <p:nvGrpSpPr>
                <p:cNvPr id="15" name="组合 14"/>
                <p:cNvGrpSpPr/>
                <p:nvPr/>
              </p:nvGrpSpPr>
              <p:grpSpPr>
                <a:xfrm>
                  <a:off x="998220" y="2779679"/>
                  <a:ext cx="2453923" cy="3354421"/>
                  <a:chOff x="998220" y="2779679"/>
                  <a:chExt cx="2453923" cy="3354421"/>
                </a:xfrm>
              </p:grpSpPr>
              <p:sp>
                <p:nvSpPr>
                  <p:cNvPr id="19" name="Text2"/>
                  <p:cNvSpPr txBox="1"/>
                  <p:nvPr/>
                </p:nvSpPr>
                <p:spPr>
                  <a:xfrm>
                    <a:off x="998221" y="3335964"/>
                    <a:ext cx="2453922" cy="279813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Zhang et al. used historical incidents as contextual examples.</a:t>
                    </a:r>
                    <a:endParaRPr lang="en-US" dirty="0"/>
                  </a:p>
                </p:txBody>
              </p:sp>
              <p:sp>
                <p:nvSpPr>
                  <p:cNvPr id="20" name="Bullet2"/>
                  <p:cNvSpPr txBox="1"/>
                  <p:nvPr/>
                </p:nvSpPr>
                <p:spPr>
                  <a:xfrm>
                    <a:off x="998220" y="2779679"/>
                    <a:ext cx="2453923" cy="53995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In-context learning methods</a:t>
                    </a:r>
                    <a:endParaRPr lang="en-US" dirty="0"/>
                  </a:p>
                </p:txBody>
              </p:sp>
            </p:grpSp>
            <p:grpSp>
              <p:nvGrpSpPr>
                <p:cNvPr id="16" name="组合 15"/>
                <p:cNvGrpSpPr/>
                <p:nvPr/>
              </p:nvGrpSpPr>
              <p:grpSpPr>
                <a:xfrm>
                  <a:off x="660400" y="2041218"/>
                  <a:ext cx="590550" cy="4092882"/>
                  <a:chOff x="660400" y="2041218"/>
                  <a:chExt cx="590550" cy="4092882"/>
                </a:xfrm>
              </p:grpSpPr>
              <p:sp>
                <p:nvSpPr>
                  <p:cNvPr id="17" name="Number2"/>
                  <p:cNvSpPr/>
                  <p:nvPr/>
                </p:nvSpPr>
                <p:spPr>
                  <a:xfrm>
                    <a:off x="660400" y="2041218"/>
                    <a:ext cx="590550" cy="590548"/>
                  </a:xfrm>
                  <a:prstGeom prst="ellipse">
                    <a:avLst/>
                  </a:prstGeom>
                  <a:solidFill>
                    <a:schemeClr val="accent1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>
                    <a:normAutofit/>
                  </a:bodyPr>
                  <a:lstStyle/>
                  <a:p>
                    <a:pPr algn="ctr"/>
                    <a:r>
                      <a:rPr lang="en-US" altLang="zh-CN" dirty="0">
                        <a:solidFill>
                          <a:srgbClr val="FFFFFF"/>
                        </a:solidFill>
                      </a:rPr>
                      <a:t>2</a:t>
                    </a:r>
                    <a:endParaRPr lang="zh-CN" altLang="en-US" dirty="0">
                      <a:solidFill>
                        <a:srgbClr val="FFFFFF"/>
                      </a:solidFill>
                    </a:endParaRPr>
                  </a:p>
                </p:txBody>
              </p:sp>
              <p:cxnSp>
                <p:nvCxnSpPr>
                  <p:cNvPr id="18" name="直接连接符 17"/>
                  <p:cNvCxnSpPr>
                    <a:stCxn id="17" idx="4"/>
                  </p:cNvCxnSpPr>
                  <p:nvPr/>
                </p:nvCxnSpPr>
                <p:spPr>
                  <a:xfrm>
                    <a:off x="955675" y="2631766"/>
                    <a:ext cx="0" cy="3502334"/>
                  </a:xfrm>
                  <a:prstGeom prst="line">
                    <a:avLst/>
                  </a:prstGeom>
                  <a:ln>
                    <a:solidFill>
                      <a:schemeClr val="tx1">
                        <a:alpha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1" name="组合 20"/>
              <p:cNvGrpSpPr/>
              <p:nvPr/>
            </p:nvGrpSpPr>
            <p:grpSpPr>
              <a:xfrm>
                <a:off x="6038238" y="2041218"/>
                <a:ext cx="2791743" cy="4092882"/>
                <a:chOff x="660400" y="2041218"/>
                <a:chExt cx="2791743" cy="4092882"/>
              </a:xfrm>
            </p:grpSpPr>
            <p:grpSp>
              <p:nvGrpSpPr>
                <p:cNvPr id="22" name="组合 21"/>
                <p:cNvGrpSpPr/>
                <p:nvPr/>
              </p:nvGrpSpPr>
              <p:grpSpPr>
                <a:xfrm>
                  <a:off x="998220" y="2779679"/>
                  <a:ext cx="2453923" cy="3354421"/>
                  <a:chOff x="998220" y="2779679"/>
                  <a:chExt cx="2453923" cy="3354421"/>
                </a:xfrm>
              </p:grpSpPr>
              <p:sp>
                <p:nvSpPr>
                  <p:cNvPr id="26" name="Text3"/>
                  <p:cNvSpPr txBox="1"/>
                  <p:nvPr/>
                </p:nvSpPr>
                <p:spPr>
                  <a:xfrm>
                    <a:off x="998221" y="3335964"/>
                    <a:ext cx="2453922" cy="279813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RCACopilot collected multi-modal diagnostic data using predefined handlers.</a:t>
                    </a:r>
                    <a:endParaRPr lang="en-US" dirty="0"/>
                  </a:p>
                </p:txBody>
              </p:sp>
              <p:sp>
                <p:nvSpPr>
                  <p:cNvPr id="27" name="Bullet3"/>
                  <p:cNvSpPr txBox="1"/>
                  <p:nvPr/>
                </p:nvSpPr>
                <p:spPr>
                  <a:xfrm>
                    <a:off x="998220" y="2779679"/>
                    <a:ext cx="2453923" cy="53995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LLM with diagnostic handlers</a:t>
                    </a:r>
                    <a:endParaRPr lang="en-US" dirty="0"/>
                  </a:p>
                </p:txBody>
              </p:sp>
            </p:grpSp>
            <p:grpSp>
              <p:nvGrpSpPr>
                <p:cNvPr id="23" name="组合 22"/>
                <p:cNvGrpSpPr/>
                <p:nvPr/>
              </p:nvGrpSpPr>
              <p:grpSpPr>
                <a:xfrm>
                  <a:off x="660400" y="2041218"/>
                  <a:ext cx="590550" cy="4092882"/>
                  <a:chOff x="660400" y="2041218"/>
                  <a:chExt cx="590550" cy="4092882"/>
                </a:xfrm>
              </p:grpSpPr>
              <p:sp>
                <p:nvSpPr>
                  <p:cNvPr id="24" name="Number3"/>
                  <p:cNvSpPr/>
                  <p:nvPr/>
                </p:nvSpPr>
                <p:spPr>
                  <a:xfrm>
                    <a:off x="660400" y="2041218"/>
                    <a:ext cx="590550" cy="590548"/>
                  </a:xfrm>
                  <a:prstGeom prst="ellipse">
                    <a:avLst/>
                  </a:prstGeom>
                  <a:solidFill>
                    <a:schemeClr val="accent1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>
                    <a:normAutofit/>
                  </a:bodyPr>
                  <a:lstStyle/>
                  <a:p>
                    <a:pPr algn="ctr"/>
                    <a:r>
                      <a:rPr lang="en-US" altLang="zh-CN" dirty="0">
                        <a:solidFill>
                          <a:srgbClr val="FFFFFF"/>
                        </a:solidFill>
                      </a:rPr>
                      <a:t>3</a:t>
                    </a:r>
                    <a:endParaRPr lang="zh-CN" altLang="en-US" dirty="0">
                      <a:solidFill>
                        <a:srgbClr val="FFFFFF"/>
                      </a:solidFill>
                    </a:endParaRPr>
                  </a:p>
                </p:txBody>
              </p:sp>
              <p:cxnSp>
                <p:nvCxnSpPr>
                  <p:cNvPr id="25" name="直接连接符 24"/>
                  <p:cNvCxnSpPr>
                    <a:stCxn id="24" idx="4"/>
                  </p:cNvCxnSpPr>
                  <p:nvPr/>
                </p:nvCxnSpPr>
                <p:spPr>
                  <a:xfrm>
                    <a:off x="955675" y="2631766"/>
                    <a:ext cx="0" cy="3502334"/>
                  </a:xfrm>
                  <a:prstGeom prst="line">
                    <a:avLst/>
                  </a:prstGeom>
                  <a:ln>
                    <a:solidFill>
                      <a:schemeClr val="tx1">
                        <a:alpha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8" name="组合 27"/>
              <p:cNvGrpSpPr/>
              <p:nvPr/>
            </p:nvGrpSpPr>
            <p:grpSpPr>
              <a:xfrm>
                <a:off x="8727157" y="2041218"/>
                <a:ext cx="2791743" cy="4092882"/>
                <a:chOff x="660400" y="2041218"/>
                <a:chExt cx="2791743" cy="4092882"/>
              </a:xfrm>
            </p:grpSpPr>
            <p:grpSp>
              <p:nvGrpSpPr>
                <p:cNvPr id="29" name="组合 28"/>
                <p:cNvGrpSpPr/>
                <p:nvPr/>
              </p:nvGrpSpPr>
              <p:grpSpPr>
                <a:xfrm>
                  <a:off x="998220" y="2779679"/>
                  <a:ext cx="2453923" cy="3354421"/>
                  <a:chOff x="998220" y="2779679"/>
                  <a:chExt cx="2453923" cy="3354421"/>
                </a:xfrm>
              </p:grpSpPr>
              <p:sp>
                <p:nvSpPr>
                  <p:cNvPr id="33" name="Text4"/>
                  <p:cNvSpPr txBox="1"/>
                  <p:nvPr/>
                </p:nvSpPr>
                <p:spPr>
                  <a:xfrm>
                    <a:off x="998221" y="3335964"/>
                    <a:ext cx="2453922" cy="279813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RCAgent enhanced a locally deployed LLM with external tool</a:t>
                    </a:r>
                    <a:endParaRPr lang="en-US" dirty="0"/>
                  </a:p>
                </p:txBody>
              </p:sp>
              <p:sp>
                <p:nvSpPr>
                  <p:cNvPr id="34" name="Bullet4"/>
                  <p:cNvSpPr txBox="1"/>
                  <p:nvPr/>
                </p:nvSpPr>
                <p:spPr>
                  <a:xfrm>
                    <a:off x="998220" y="2779679"/>
                    <a:ext cx="2453923" cy="53995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Tool-augmented local LLM</a:t>
                    </a:r>
                    <a:endParaRPr lang="en-US" dirty="0"/>
                  </a:p>
                </p:txBody>
              </p:sp>
            </p:grpSp>
            <p:grpSp>
              <p:nvGrpSpPr>
                <p:cNvPr id="30" name="组合 29"/>
                <p:cNvGrpSpPr/>
                <p:nvPr/>
              </p:nvGrpSpPr>
              <p:grpSpPr>
                <a:xfrm>
                  <a:off x="660400" y="2041218"/>
                  <a:ext cx="590550" cy="4092882"/>
                  <a:chOff x="660400" y="2041218"/>
                  <a:chExt cx="590550" cy="4092882"/>
                </a:xfrm>
              </p:grpSpPr>
              <p:sp>
                <p:nvSpPr>
                  <p:cNvPr id="31" name="Number4"/>
                  <p:cNvSpPr/>
                  <p:nvPr/>
                </p:nvSpPr>
                <p:spPr>
                  <a:xfrm>
                    <a:off x="660400" y="2041218"/>
                    <a:ext cx="590550" cy="590548"/>
                  </a:xfrm>
                  <a:prstGeom prst="ellipse">
                    <a:avLst/>
                  </a:prstGeom>
                  <a:solidFill>
                    <a:schemeClr val="accent1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>
                    <a:normAutofit/>
                  </a:bodyPr>
                  <a:lstStyle/>
                  <a:p>
                    <a:pPr algn="ctr"/>
                    <a:r>
                      <a:rPr lang="en-US" altLang="zh-CN" dirty="0">
                        <a:solidFill>
                          <a:srgbClr val="FFFFFF"/>
                        </a:solidFill>
                      </a:rPr>
                      <a:t>4</a:t>
                    </a:r>
                    <a:endParaRPr lang="zh-CN" altLang="en-US" dirty="0">
                      <a:solidFill>
                        <a:srgbClr val="FFFFFF"/>
                      </a:solidFill>
                    </a:endParaRPr>
                  </a:p>
                </p:txBody>
              </p:sp>
              <p:cxnSp>
                <p:nvCxnSpPr>
                  <p:cNvPr id="32" name="直接连接符 31"/>
                  <p:cNvCxnSpPr>
                    <a:stCxn id="31" idx="4"/>
                  </p:cNvCxnSpPr>
                  <p:nvPr/>
                </p:nvCxnSpPr>
                <p:spPr>
                  <a:xfrm>
                    <a:off x="955675" y="2631766"/>
                    <a:ext cx="0" cy="3502334"/>
                  </a:xfrm>
                  <a:prstGeom prst="line">
                    <a:avLst/>
                  </a:prstGeom>
                  <a:ln>
                    <a:solidFill>
                      <a:schemeClr val="tx1">
                        <a:alpha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39" name="Title"/>
            <p:cNvSpPr/>
            <p:nvPr/>
          </p:nvSpPr>
          <p:spPr>
            <a:xfrm>
              <a:off x="660399" y="1130300"/>
              <a:ext cx="10858500" cy="732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Classification of current approaches to root cause analysis using large language models</a:t>
              </a:r>
              <a:endParaRPr 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Existing LLM-based RCA Methods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80cc5d80-a764-4939-8654-c8a6e0fb501c.source.5.zh-Hans.pptx"/>
          <p:cNvGrpSpPr/>
          <p:nvPr/>
        </p:nvGrpSpPr>
        <p:grpSpPr>
          <a:xfrm>
            <a:off x="660399" y="1130300"/>
            <a:ext cx="10858501" cy="5003799"/>
            <a:chOff x="660399" y="1130300"/>
            <a:chExt cx="10858501" cy="5003799"/>
          </a:xfrm>
        </p:grpSpPr>
        <p:sp>
          <p:nvSpPr>
            <p:cNvPr id="2" name="Title"/>
            <p:cNvSpPr/>
            <p:nvPr/>
          </p:nvSpPr>
          <p:spPr>
            <a:xfrm>
              <a:off x="660399" y="1130300"/>
              <a:ext cx="10858500" cy="732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Key challenges hindering effective root cause analysis and operational intelligence</a:t>
              </a:r>
              <a:endParaRPr 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660400" y="4137379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组合 16"/>
            <p:cNvGrpSpPr/>
            <p:nvPr/>
          </p:nvGrpSpPr>
          <p:grpSpPr>
            <a:xfrm>
              <a:off x="2506286" y="4285544"/>
              <a:ext cx="3474955" cy="1848555"/>
              <a:chOff x="1186023" y="2000101"/>
              <a:chExt cx="3811568" cy="2052613"/>
            </a:xfrm>
          </p:grpSpPr>
          <p:sp>
            <p:nvSpPr>
              <p:cNvPr id="22" name="Text1"/>
              <p:cNvSpPr txBox="1"/>
              <p:nvPr/>
            </p:nvSpPr>
            <p:spPr>
              <a:xfrm>
                <a:off x="1676400" y="2769440"/>
                <a:ext cx="3321191" cy="1283274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Fine-tuning large models requires significant GPU resources. Continuous fine-tuning may be needed when new data arrives.</a:t>
                </a:r>
                <a:endParaRPr lang="en-US" dirty="0"/>
              </a:p>
            </p:txBody>
          </p:sp>
          <p:sp>
            <p:nvSpPr>
              <p:cNvPr id="24" name="Bullet1"/>
              <p:cNvSpPr txBox="1"/>
              <p:nvPr/>
            </p:nvSpPr>
            <p:spPr>
              <a:xfrm>
                <a:off x="1676400" y="2157013"/>
                <a:ext cx="3321191" cy="596754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High fine-tuning cost</a:t>
                </a:r>
                <a:endParaRPr lang="en-US" dirty="0"/>
              </a:p>
            </p:txBody>
          </p:sp>
          <p:sp>
            <p:nvSpPr>
              <p:cNvPr id="25" name="Number1"/>
              <p:cNvSpPr/>
              <p:nvPr/>
            </p:nvSpPr>
            <p:spPr>
              <a:xfrm>
                <a:off x="1186023" y="2000101"/>
                <a:ext cx="490376" cy="9406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accent1">
                        <a:lumMod val="100000"/>
                      </a:schemeClr>
                    </a:solidFill>
                  </a:rPr>
                  <a:t>2</a:t>
                </a:r>
                <a:endParaRPr lang="zh-CN" altLang="en-US" sz="4400" dirty="0">
                  <a:solidFill>
                    <a:schemeClr val="accent1">
                      <a:lumMod val="100000"/>
                    </a:schemeClr>
                  </a:solidFill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60400" y="2204159"/>
              <a:ext cx="3474955" cy="1848555"/>
              <a:chOff x="1186023" y="2000101"/>
              <a:chExt cx="3811568" cy="2052613"/>
            </a:xfrm>
          </p:grpSpPr>
          <p:sp>
            <p:nvSpPr>
              <p:cNvPr id="3" name="Text2"/>
              <p:cNvSpPr txBox="1"/>
              <p:nvPr/>
            </p:nvSpPr>
            <p:spPr>
              <a:xfrm>
                <a:off x="1676400" y="2769440"/>
                <a:ext cx="3321191" cy="1283274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LLMs are mainly designed for text. Metrics are time series, and traces are call trees, which are hard to process directly.</a:t>
                </a:r>
                <a:endParaRPr lang="en-US" dirty="0"/>
              </a:p>
            </p:txBody>
          </p:sp>
          <p:sp>
            <p:nvSpPr>
              <p:cNvPr id="4" name="Bullet2"/>
              <p:cNvSpPr txBox="1"/>
              <p:nvPr/>
            </p:nvSpPr>
            <p:spPr>
              <a:xfrm>
                <a:off x="1676400" y="2157013"/>
                <a:ext cx="3321191" cy="596754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Weak handling of structured data</a:t>
                </a:r>
                <a:endParaRPr lang="en-US" dirty="0"/>
              </a:p>
            </p:txBody>
          </p:sp>
          <p:sp>
            <p:nvSpPr>
              <p:cNvPr id="10" name="Number2"/>
              <p:cNvSpPr/>
              <p:nvPr/>
            </p:nvSpPr>
            <p:spPr>
              <a:xfrm>
                <a:off x="1186023" y="2000101"/>
                <a:ext cx="490376" cy="9406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accent1"/>
                    </a:solidFill>
                  </a:rPr>
                  <a:t>1</a:t>
                </a:r>
                <a:endParaRPr lang="zh-CN" altLang="en-US" sz="4400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352172" y="2204159"/>
              <a:ext cx="3474955" cy="1848555"/>
              <a:chOff x="1186023" y="2000101"/>
              <a:chExt cx="3811568" cy="2052613"/>
            </a:xfrm>
          </p:grpSpPr>
          <p:sp>
            <p:nvSpPr>
              <p:cNvPr id="27" name="Text3"/>
              <p:cNvSpPr txBox="1"/>
              <p:nvPr/>
            </p:nvSpPr>
            <p:spPr>
              <a:xfrm>
                <a:off x="1676400" y="2769440"/>
                <a:ext cx="3321191" cy="1283274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Logs, metrics, and traces are not systematically fused.</a:t>
                </a:r>
                <a:endParaRPr lang="en-US" dirty="0"/>
              </a:p>
            </p:txBody>
          </p:sp>
          <p:sp>
            <p:nvSpPr>
              <p:cNvPr id="28" name="Bullet3"/>
              <p:cNvSpPr txBox="1"/>
              <p:nvPr/>
            </p:nvSpPr>
            <p:spPr>
              <a:xfrm>
                <a:off x="1676400" y="2157013"/>
                <a:ext cx="3321191" cy="596754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Insufficient multi-modal integration</a:t>
                </a:r>
                <a:endParaRPr lang="en-US" dirty="0"/>
              </a:p>
            </p:txBody>
          </p:sp>
          <p:sp>
            <p:nvSpPr>
              <p:cNvPr id="29" name="Number3"/>
              <p:cNvSpPr/>
              <p:nvPr/>
            </p:nvSpPr>
            <p:spPr>
              <a:xfrm>
                <a:off x="1186023" y="2000101"/>
                <a:ext cx="490376" cy="9406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accent1">
                        <a:lumMod val="100000"/>
                      </a:schemeClr>
                    </a:solidFill>
                  </a:rPr>
                  <a:t>3</a:t>
                </a:r>
                <a:endParaRPr lang="zh-CN" altLang="en-US" sz="4400" dirty="0">
                  <a:solidFill>
                    <a:schemeClr val="accent1">
                      <a:lumMod val="100000"/>
                    </a:schemeClr>
                  </a:solidFill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6198057" y="4285544"/>
              <a:ext cx="3474955" cy="1848555"/>
              <a:chOff x="1186023" y="2000101"/>
              <a:chExt cx="3811568" cy="2052613"/>
            </a:xfrm>
          </p:grpSpPr>
          <p:sp>
            <p:nvSpPr>
              <p:cNvPr id="8" name="Text4"/>
              <p:cNvSpPr txBox="1"/>
              <p:nvPr/>
            </p:nvSpPr>
            <p:spPr>
              <a:xfrm>
                <a:off x="1676400" y="2769440"/>
                <a:ext cx="3321191" cy="1283274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Many methods directly output root causes. They lack clear observations, reasoning, and evidence chains.</a:t>
                </a:r>
                <a:endParaRPr lang="en-US" dirty="0"/>
              </a:p>
            </p:txBody>
          </p:sp>
          <p:sp>
            <p:nvSpPr>
              <p:cNvPr id="9" name="Bullet4"/>
              <p:cNvSpPr txBox="1"/>
              <p:nvPr/>
            </p:nvSpPr>
            <p:spPr>
              <a:xfrm>
                <a:off x="1676400" y="2157013"/>
                <a:ext cx="3321191" cy="596754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Limited interpretability</a:t>
                </a:r>
                <a:endParaRPr lang="en-US" dirty="0"/>
              </a:p>
            </p:txBody>
          </p:sp>
          <p:sp>
            <p:nvSpPr>
              <p:cNvPr id="11" name="Number4"/>
              <p:cNvSpPr/>
              <p:nvPr/>
            </p:nvSpPr>
            <p:spPr>
              <a:xfrm>
                <a:off x="1186023" y="2000101"/>
                <a:ext cx="490376" cy="9406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accent1">
                        <a:lumMod val="100000"/>
                      </a:schemeClr>
                    </a:solidFill>
                  </a:rPr>
                  <a:t>4</a:t>
                </a:r>
                <a:endParaRPr lang="zh-CN" altLang="en-US" sz="4400" dirty="0">
                  <a:solidFill>
                    <a:schemeClr val="accent1">
                      <a:lumMod val="100000"/>
                    </a:schemeClr>
                  </a:solidFill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8043945" y="2204159"/>
              <a:ext cx="3474955" cy="1848555"/>
              <a:chOff x="1186023" y="2000101"/>
              <a:chExt cx="3811568" cy="2052613"/>
            </a:xfrm>
          </p:grpSpPr>
          <p:sp>
            <p:nvSpPr>
              <p:cNvPr id="13" name="Text5"/>
              <p:cNvSpPr txBox="1"/>
              <p:nvPr/>
            </p:nvSpPr>
            <p:spPr>
              <a:xfrm>
                <a:off x="1676400" y="2769440"/>
                <a:ext cx="3321191" cy="1283274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Some methods rely on external API models, which may expose sensitive operational data.</a:t>
                </a:r>
                <a:endParaRPr lang="en-US" dirty="0"/>
              </a:p>
            </p:txBody>
          </p:sp>
          <p:sp>
            <p:nvSpPr>
              <p:cNvPr id="14" name="Bullet5"/>
              <p:cNvSpPr txBox="1"/>
              <p:nvPr/>
            </p:nvSpPr>
            <p:spPr>
              <a:xfrm>
                <a:off x="1676400" y="2157013"/>
                <a:ext cx="3321191" cy="596754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Privacy concerns</a:t>
                </a:r>
                <a:endParaRPr lang="en-US" dirty="0"/>
              </a:p>
            </p:txBody>
          </p:sp>
          <p:sp>
            <p:nvSpPr>
              <p:cNvPr id="15" name="Number5"/>
              <p:cNvSpPr/>
              <p:nvPr/>
            </p:nvSpPr>
            <p:spPr>
              <a:xfrm>
                <a:off x="1186023" y="2000101"/>
                <a:ext cx="490376" cy="9406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accent1">
                        <a:lumMod val="100000"/>
                      </a:schemeClr>
                    </a:solidFill>
                  </a:rPr>
                  <a:t>5</a:t>
                </a:r>
                <a:endParaRPr lang="zh-CN" altLang="en-US" sz="4400" dirty="0">
                  <a:solidFill>
                    <a:schemeClr val="accent1">
                      <a:lumMod val="100000"/>
                    </a:schemeClr>
                  </a:solidFill>
                </a:endParaRPr>
              </a:p>
            </p:txBody>
          </p:sp>
        </p:grpSp>
      </p:grpSp>
      <p:sp>
        <p:nvSpPr>
          <p:cNvPr id="18" name="标题 1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Limitations of Previous Methods in Observability AI</a:t>
            </a:r>
            <a:endParaRPr lang="en-US" dirty="0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4f2a26cf-8e24-4fe5-97e7-2e245b41b5d3.source.5.zh-Hans.pptx"/>
          <p:cNvGrpSpPr/>
          <p:nvPr/>
        </p:nvGrpSpPr>
        <p:grpSpPr>
          <a:xfrm>
            <a:off x="660400" y="1130300"/>
            <a:ext cx="10858500" cy="4977130"/>
            <a:chOff x="660400" y="1130300"/>
            <a:chExt cx="10858500" cy="3523973"/>
          </a:xfrm>
        </p:grpSpPr>
        <p:sp>
          <p:nvSpPr>
            <p:cNvPr id="16" name="Title"/>
            <p:cNvSpPr/>
            <p:nvPr/>
          </p:nvSpPr>
          <p:spPr>
            <a:xfrm>
              <a:off x="660400" y="1130300"/>
              <a:ext cx="10858500" cy="6297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Improving failure localization through multi-modal analysis, dynamic prompting, tool integration, and collaborative reasoning</a:t>
              </a:r>
              <a:endParaRPr lang="en-US" dirty="0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60400" y="1835150"/>
              <a:ext cx="5275323" cy="1339297"/>
              <a:chOff x="660400" y="2221657"/>
              <a:chExt cx="5726091" cy="1863563"/>
            </a:xfrm>
          </p:grpSpPr>
          <p:sp>
            <p:nvSpPr>
              <p:cNvPr id="67" name="矩形: 圆角 66"/>
              <p:cNvSpPr/>
              <p:nvPr/>
            </p:nvSpPr>
            <p:spPr>
              <a:xfrm>
                <a:off x="660400" y="2221657"/>
                <a:ext cx="5726091" cy="1863563"/>
              </a:xfrm>
              <a:prstGeom prst="roundRect">
                <a:avLst>
                  <a:gd name="adj" fmla="val 0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dirty="0"/>
              </a:p>
            </p:txBody>
          </p:sp>
          <p:grpSp>
            <p:nvGrpSpPr>
              <p:cNvPr id="68" name="组合 67"/>
              <p:cNvGrpSpPr/>
              <p:nvPr/>
            </p:nvGrpSpPr>
            <p:grpSpPr>
              <a:xfrm>
                <a:off x="1377048" y="2282504"/>
                <a:ext cx="4884857" cy="1725849"/>
                <a:chOff x="1377048" y="2276013"/>
                <a:chExt cx="4884857" cy="1725849"/>
              </a:xfrm>
            </p:grpSpPr>
            <p:sp>
              <p:nvSpPr>
                <p:cNvPr id="70" name="Text1"/>
                <p:cNvSpPr txBox="1"/>
                <p:nvPr/>
              </p:nvSpPr>
              <p:spPr>
                <a:xfrm>
                  <a:off x="1377049" y="2876323"/>
                  <a:ext cx="4884856" cy="1125539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It converts metrics and traces into natural language descriptions. Logs are filtered and directly processed by LLM agents.</a:t>
                  </a:r>
                  <a:endParaRPr lang="en-US" dirty="0"/>
                </a:p>
              </p:txBody>
            </p:sp>
            <p:sp>
              <p:nvSpPr>
                <p:cNvPr id="71" name="Bullet1"/>
                <p:cNvSpPr txBox="1"/>
                <p:nvPr/>
              </p:nvSpPr>
              <p:spPr>
                <a:xfrm>
                  <a:off x="1377048" y="2276013"/>
                  <a:ext cx="4884856" cy="60031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Multi-modal data transformation</a:t>
                  </a:r>
                  <a:endParaRPr lang="en-US" dirty="0"/>
                </a:p>
              </p:txBody>
            </p:sp>
          </p:grpSp>
          <p:sp>
            <p:nvSpPr>
              <p:cNvPr id="69" name="Number1"/>
              <p:cNvSpPr/>
              <p:nvPr/>
            </p:nvSpPr>
            <p:spPr>
              <a:xfrm>
                <a:off x="738067" y="2370580"/>
                <a:ext cx="561313" cy="156571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5400" dirty="0">
                    <a:solidFill>
                      <a:schemeClr val="accent1"/>
                    </a:solidFill>
                  </a:rPr>
                  <a:t>1</a:t>
                </a:r>
                <a:endParaRPr lang="zh-CN" altLang="en-US" sz="5400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60400" y="3289802"/>
              <a:ext cx="5275323" cy="1339297"/>
              <a:chOff x="660400" y="127525"/>
              <a:chExt cx="5726091" cy="1863563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660400" y="127525"/>
                <a:ext cx="5726091" cy="1863563"/>
              </a:xfrm>
              <a:prstGeom prst="roundRect">
                <a:avLst>
                  <a:gd name="adj" fmla="val 0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dirty="0"/>
              </a:p>
            </p:txBody>
          </p:sp>
          <p:grpSp>
            <p:nvGrpSpPr>
              <p:cNvPr id="54" name="组合 53"/>
              <p:cNvGrpSpPr/>
              <p:nvPr/>
            </p:nvGrpSpPr>
            <p:grpSpPr>
              <a:xfrm>
                <a:off x="1377048" y="204603"/>
                <a:ext cx="4884857" cy="1709619"/>
                <a:chOff x="1377048" y="198112"/>
                <a:chExt cx="4884857" cy="1709619"/>
              </a:xfrm>
            </p:grpSpPr>
            <p:sp>
              <p:nvSpPr>
                <p:cNvPr id="59" name="Text3"/>
                <p:cNvSpPr txBox="1"/>
                <p:nvPr/>
              </p:nvSpPr>
              <p:spPr>
                <a:xfrm>
                  <a:off x="1377049" y="782192"/>
                  <a:ext cx="4884856" cy="1125539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LLMs do not infer root causes alone. External modules such as MEPFL and MicroCause provide root cause candidates.</a:t>
                  </a:r>
                  <a:endParaRPr lang="en-US" dirty="0"/>
                </a:p>
              </p:txBody>
            </p:sp>
            <p:sp>
              <p:nvSpPr>
                <p:cNvPr id="60" name="Bullet3"/>
                <p:cNvSpPr txBox="1"/>
                <p:nvPr/>
              </p:nvSpPr>
              <p:spPr>
                <a:xfrm>
                  <a:off x="1377048" y="198112"/>
                  <a:ext cx="4884856" cy="60031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 lnSpcReduction="2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Integration with traditional failure localization tools</a:t>
                  </a:r>
                  <a:endParaRPr lang="en-US" dirty="0"/>
                </a:p>
              </p:txBody>
            </p:sp>
          </p:grpSp>
          <p:sp>
            <p:nvSpPr>
              <p:cNvPr id="58" name="Number3"/>
              <p:cNvSpPr/>
              <p:nvPr/>
            </p:nvSpPr>
            <p:spPr>
              <a:xfrm>
                <a:off x="738067" y="276448"/>
                <a:ext cx="561313" cy="156571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5400" dirty="0">
                    <a:solidFill>
                      <a:schemeClr val="accent1"/>
                    </a:solidFill>
                  </a:rPr>
                  <a:t>2</a:t>
                </a: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6243577" y="1835150"/>
              <a:ext cx="5275323" cy="1339297"/>
              <a:chOff x="660400" y="2221657"/>
              <a:chExt cx="5726091" cy="1863563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660400" y="2221657"/>
                <a:ext cx="5726091" cy="1863563"/>
              </a:xfrm>
              <a:prstGeom prst="roundRect">
                <a:avLst>
                  <a:gd name="adj" fmla="val 0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dirty="0"/>
              </a:p>
            </p:txBody>
          </p:sp>
          <p:grpSp>
            <p:nvGrpSpPr>
              <p:cNvPr id="46" name="组合 45"/>
              <p:cNvGrpSpPr/>
              <p:nvPr/>
            </p:nvGrpSpPr>
            <p:grpSpPr>
              <a:xfrm>
                <a:off x="1377048" y="2282504"/>
                <a:ext cx="4884857" cy="1725849"/>
                <a:chOff x="1377048" y="2276013"/>
                <a:chExt cx="4884857" cy="1725849"/>
              </a:xfrm>
            </p:grpSpPr>
            <p:sp>
              <p:nvSpPr>
                <p:cNvPr id="48" name="Text4"/>
                <p:cNvSpPr txBox="1"/>
                <p:nvPr/>
              </p:nvSpPr>
              <p:spPr>
                <a:xfrm>
                  <a:off x="1377049" y="2876323"/>
                  <a:ext cx="4884856" cy="1125539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Trace Expert, Metric Expert, and Log Expert analyze different data modalities. Failure Localization Expert synthesizes the final conclusion.</a:t>
                  </a:r>
                  <a:endParaRPr lang="en-US" dirty="0"/>
                </a:p>
              </p:txBody>
            </p:sp>
            <p:sp>
              <p:nvSpPr>
                <p:cNvPr id="49" name="Bullet4"/>
                <p:cNvSpPr txBox="1"/>
                <p:nvPr/>
              </p:nvSpPr>
              <p:spPr>
                <a:xfrm>
                  <a:off x="1377048" y="2276013"/>
                  <a:ext cx="4884856" cy="60031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Multi-agent collaboration</a:t>
                  </a:r>
                  <a:endParaRPr lang="en-US" dirty="0"/>
                </a:p>
              </p:txBody>
            </p:sp>
          </p:grpSp>
          <p:sp>
            <p:nvSpPr>
              <p:cNvPr id="47" name="Number4"/>
              <p:cNvSpPr/>
              <p:nvPr/>
            </p:nvSpPr>
            <p:spPr>
              <a:xfrm>
                <a:off x="738067" y="2370580"/>
                <a:ext cx="561313" cy="156571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5400" dirty="0">
                    <a:solidFill>
                      <a:schemeClr val="accent1"/>
                    </a:solidFill>
                  </a:rPr>
                  <a:t>3</a:t>
                </a: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6243577" y="3314976"/>
              <a:ext cx="5275323" cy="1339297"/>
              <a:chOff x="660400" y="2221657"/>
              <a:chExt cx="5726091" cy="1863563"/>
            </a:xfrm>
          </p:grpSpPr>
          <p:sp>
            <p:nvSpPr>
              <p:cNvPr id="40" name="矩形: 圆角 39"/>
              <p:cNvSpPr/>
              <p:nvPr/>
            </p:nvSpPr>
            <p:spPr>
              <a:xfrm>
                <a:off x="660400" y="2221657"/>
                <a:ext cx="5726091" cy="1863563"/>
              </a:xfrm>
              <a:prstGeom prst="roundRect">
                <a:avLst>
                  <a:gd name="adj" fmla="val 0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dirty="0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377048" y="2282504"/>
                <a:ext cx="4884857" cy="1725849"/>
                <a:chOff x="1377048" y="2276013"/>
                <a:chExt cx="4884857" cy="1725849"/>
              </a:xfrm>
            </p:grpSpPr>
            <p:sp>
              <p:nvSpPr>
                <p:cNvPr id="43" name="Text5"/>
                <p:cNvSpPr txBox="1"/>
                <p:nvPr/>
              </p:nvSpPr>
              <p:spPr>
                <a:xfrm>
                  <a:off x="1377049" y="2876323"/>
                  <a:ext cx="4884856" cy="1125539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The system outputs Observation, Reasoning, and Final Answer. It provides evidence chains to improve trustworthiness.</a:t>
                  </a:r>
                  <a:endParaRPr lang="en-US" dirty="0"/>
                </a:p>
              </p:txBody>
            </p:sp>
            <p:sp>
              <p:nvSpPr>
                <p:cNvPr id="44" name="Bullet5"/>
                <p:cNvSpPr txBox="1"/>
                <p:nvPr/>
              </p:nvSpPr>
              <p:spPr>
                <a:xfrm>
                  <a:off x="1377048" y="2276013"/>
                  <a:ext cx="4884856" cy="60031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Interpretable output</a:t>
                  </a:r>
                  <a:endParaRPr lang="en-US" dirty="0"/>
                </a:p>
              </p:txBody>
            </p:sp>
          </p:grpSp>
          <p:sp>
            <p:nvSpPr>
              <p:cNvPr id="42" name="Number5"/>
              <p:cNvSpPr/>
              <p:nvPr/>
            </p:nvSpPr>
            <p:spPr>
              <a:xfrm>
                <a:off x="738067" y="2370580"/>
                <a:ext cx="561313" cy="156571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5400" dirty="0">
                    <a:solidFill>
                      <a:schemeClr val="accent1"/>
                    </a:solidFill>
                  </a:rPr>
                  <a:t>4</a:t>
                </a: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LocaleXpert: A Multi-Agent Framework for Interpretable Microservice Failure Localization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5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LocaleXpert System Architecture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"/>
          <p:cNvSpPr/>
          <p:nvPr/>
        </p:nvSpPr>
        <p:spPr>
          <a:xfrm>
            <a:off x="0" y="754415"/>
            <a:ext cx="12192000" cy="5349170"/>
          </a:xfrm>
          <a:prstGeom prst="roundRect">
            <a:avLst>
              <a:gd name="adj" fmla="val 100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age"/>
          <p:cNvSpPr/>
          <p:nvPr/>
        </p:nvSpPr>
        <p:spPr>
          <a:xfrm>
            <a:off x="6396303" y="1525733"/>
            <a:ext cx="4972050" cy="3590925"/>
          </a:xfrm>
          <a:prstGeom prst="roundRect">
            <a:avLst>
              <a:gd name="adj" fmla="val 100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mage"/>
          <p:cNvSpPr/>
          <p:nvPr/>
        </p:nvSpPr>
        <p:spPr>
          <a:xfrm>
            <a:off x="322057" y="825646"/>
            <a:ext cx="5162550" cy="4991100"/>
          </a:xfrm>
          <a:prstGeom prst="roundRect">
            <a:avLst>
              <a:gd name="adj" fmla="val 100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2c2b8d33-ec3a-4902-b3bc-d845a734e9b4.source.4.zh-Hans.pptx"/>
          <p:cNvGrpSpPr/>
          <p:nvPr>
            <p:custDataLst>
              <p:tags r:id="rId2"/>
            </p:custDataLst>
          </p:nvPr>
        </p:nvGrpSpPr>
        <p:grpSpPr>
          <a:xfrm>
            <a:off x="4886349" y="1130300"/>
            <a:ext cx="6632551" cy="5003801"/>
            <a:chOff x="660400" y="1130300"/>
            <a:chExt cx="10858500" cy="5003801"/>
          </a:xfrm>
        </p:grpSpPr>
        <p:grpSp>
          <p:nvGrpSpPr>
            <p:cNvPr id="36" name="组合 35"/>
            <p:cNvGrpSpPr/>
            <p:nvPr/>
          </p:nvGrpSpPr>
          <p:grpSpPr>
            <a:xfrm>
              <a:off x="660400" y="1926336"/>
              <a:ext cx="2611366" cy="4207765"/>
              <a:chOff x="446010" y="1926336"/>
              <a:chExt cx="2611366" cy="4207765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446010" y="1926336"/>
                <a:ext cx="2611366" cy="4207765"/>
                <a:chOff x="168085" y="1926336"/>
                <a:chExt cx="5996631" cy="4207765"/>
              </a:xfrm>
            </p:grpSpPr>
            <p:grpSp>
              <p:nvGrpSpPr>
                <p:cNvPr id="18" name="组合 17"/>
                <p:cNvGrpSpPr/>
                <p:nvPr/>
              </p:nvGrpSpPr>
              <p:grpSpPr>
                <a:xfrm>
                  <a:off x="293772" y="2032000"/>
                  <a:ext cx="5753536" cy="3629065"/>
                  <a:chOff x="2827648" y="3524891"/>
                  <a:chExt cx="6545173" cy="2421216"/>
                </a:xfrm>
              </p:grpSpPr>
              <p:sp>
                <p:nvSpPr>
                  <p:cNvPr id="3" name="Text1"/>
                  <p:cNvSpPr txBox="1"/>
                  <p:nvPr>
                    <p:custDataLst>
                      <p:tags r:id="rId21"/>
                    </p:custDataLst>
                  </p:nvPr>
                </p:nvSpPr>
                <p:spPr>
                  <a:xfrm>
                    <a:off x="2827648" y="3924656"/>
                    <a:ext cx="6545173" cy="202145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Autofit/>
                  </a:bodyPr>
                  <a:lstStyle/>
                  <a:p>
                    <a:pPr marL="0" marR="0" lvl="0" indent="0" algn="l">
                      <a:lnSpc>
                        <a:spcPct val="120000"/>
                      </a:lnSpc>
                    </a:pPr>
                    <a:r>
                      <a:rPr lang="zh-CN" altLang="en-US" sz="1200" baseline="0" dirty="0">
                        <a:solidFill>
                          <a:schemeClr val="tx1"/>
                        </a:solidFill>
                      </a:rPr>
                      <a:t>Based on statistical outlier detection. Normal distribution assumption: ~99.7% of points fall within ±3σ. Points outside the range are treated as anomalies. Used for detecting: spikes, level shifts, sudden changes.</a:t>
                    </a:r>
                    <a:endParaRPr lang="zh-CN" altLang="en-US" dirty="0"/>
                  </a:p>
                </p:txBody>
              </p:sp>
              <p:sp>
                <p:nvSpPr>
                  <p:cNvPr id="4" name="Bullet1"/>
                  <p:cNvSpPr txBox="1"/>
                  <p:nvPr>
                    <p:custDataLst>
                      <p:tags r:id="rId22"/>
                    </p:custDataLst>
                  </p:nvPr>
                </p:nvSpPr>
                <p:spPr>
                  <a:xfrm>
                    <a:off x="2827648" y="3524891"/>
                    <a:ext cx="6545173" cy="39976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lstStyle/>
                  <a:p>
                    <a:pPr marL="0" marR="0" lvl="0" indent="0" algn="l">
                      <a:lnSpc>
                        <a:spcPct val="120000"/>
                      </a:lnSpc>
                    </a:pPr>
                    <a:r>
                      <a:rPr lang="zh-CN" altLang="en-US" sz="1200" b="1" i="0" u="none" strike="noStrike" baseline="0" dirty="0">
                        <a:ln>
                          <a:noFill/>
                        </a:ln>
                        <a:solidFill>
                          <a:schemeClr val="tx1"/>
                        </a:solidFill>
                      </a:rPr>
                      <a:t>Default Method: 3-Sigma Rule</a:t>
                    </a:r>
                    <a:endParaRPr lang="zh-CN" altLang="en-US" dirty="0"/>
                  </a:p>
                </p:txBody>
              </p:sp>
            </p:grpSp>
            <p:sp>
              <p:nvSpPr>
                <p:cNvPr id="19" name="ComponentBackground1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168085" y="1926336"/>
                  <a:ext cx="5996631" cy="4207765"/>
                </a:xfrm>
                <a:prstGeom prst="roundRect">
                  <a:avLst>
                    <a:gd name="adj" fmla="val 2791"/>
                  </a:avLst>
                </a:prstGeom>
                <a:ln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>
                <a:off x="2736342" y="5931695"/>
                <a:ext cx="256472" cy="146770"/>
                <a:chOff x="5510812" y="5763249"/>
                <a:chExt cx="412713" cy="236181"/>
              </a:xfrm>
            </p:grpSpPr>
            <p:sp>
              <p:nvSpPr>
                <p:cNvPr id="12" name="椭圆 11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5687345" y="5763251"/>
                  <a:ext cx="236180" cy="236179"/>
                </a:xfrm>
                <a:prstGeom prst="ellipse">
                  <a:avLst/>
                </a:prstGeom>
                <a:solidFill>
                  <a:schemeClr val="accent2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  <p:sp>
              <p:nvSpPr>
                <p:cNvPr id="24" name="椭圆 23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5510812" y="5763249"/>
                  <a:ext cx="236180" cy="236179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</p:grpSp>
        </p:grpSp>
        <p:grpSp>
          <p:nvGrpSpPr>
            <p:cNvPr id="101" name="组合 100"/>
            <p:cNvGrpSpPr/>
            <p:nvPr/>
          </p:nvGrpSpPr>
          <p:grpSpPr>
            <a:xfrm>
              <a:off x="3409445" y="1926336"/>
              <a:ext cx="2611366" cy="4207765"/>
              <a:chOff x="446010" y="1926336"/>
              <a:chExt cx="2611366" cy="4207765"/>
            </a:xfrm>
          </p:grpSpPr>
          <p:grpSp>
            <p:nvGrpSpPr>
              <p:cNvPr id="102" name="组合 101"/>
              <p:cNvGrpSpPr/>
              <p:nvPr/>
            </p:nvGrpSpPr>
            <p:grpSpPr>
              <a:xfrm>
                <a:off x="446010" y="1926336"/>
                <a:ext cx="2611366" cy="4207765"/>
                <a:chOff x="168085" y="1926336"/>
                <a:chExt cx="5996631" cy="4207765"/>
              </a:xfrm>
            </p:grpSpPr>
            <p:grpSp>
              <p:nvGrpSpPr>
                <p:cNvPr id="106" name="组合 105"/>
                <p:cNvGrpSpPr/>
                <p:nvPr/>
              </p:nvGrpSpPr>
              <p:grpSpPr>
                <a:xfrm>
                  <a:off x="293772" y="2032000"/>
                  <a:ext cx="5753536" cy="3629065"/>
                  <a:chOff x="2827648" y="3524891"/>
                  <a:chExt cx="6545173" cy="2421216"/>
                </a:xfrm>
              </p:grpSpPr>
              <p:sp>
                <p:nvSpPr>
                  <p:cNvPr id="108" name="Text2"/>
                  <p:cNvSpPr txBox="1"/>
                  <p:nvPr>
                    <p:custDataLst>
                      <p:tags r:id="rId16"/>
                    </p:custDataLst>
                  </p:nvPr>
                </p:nvSpPr>
                <p:spPr>
                  <a:xfrm>
                    <a:off x="2827648" y="3924656"/>
                    <a:ext cx="6545173" cy="202145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Autofit/>
                  </a:bodyPr>
                  <a:lstStyle/>
                  <a:p>
                    <a:pPr marL="0" marR="0" lvl="0" indent="0" algn="l">
                      <a:lnSpc>
                        <a:spcPct val="120000"/>
                      </a:lnSpc>
                    </a:pPr>
                    <a:endParaRPr lang="zh-CN" altLang="en-US" sz="1200" baseline="0" dirty="0">
                      <a:solidFill>
                        <a:schemeClr val="tx1"/>
                      </a:solidFill>
                    </a:endParaRPr>
                  </a:p>
                  <a:p>
                    <a:pPr marL="0" marR="0" lvl="0" indent="0" algn="l">
                      <a:lnSpc>
                        <a:spcPct val="120000"/>
                      </a:lnSpc>
                    </a:pPr>
                    <a:r>
                      <a:rPr lang="zh-CN" altLang="en-US" sz="1200" baseline="0" dirty="0">
                        <a:solidFill>
                          <a:schemeClr val="tx1"/>
                        </a:solidFill>
                      </a:rPr>
                      <a:t>For non-Gaussian metrics: DBSCAN, density-based anomaly detection, Percentile-based methods, quantile-based thresholds, Deep learning methods, OmniAnomaly, USAD.</a:t>
                    </a:r>
                    <a:endParaRPr lang="zh-CN" altLang="en-US" dirty="0"/>
                  </a:p>
                </p:txBody>
              </p:sp>
              <p:sp>
                <p:nvSpPr>
                  <p:cNvPr id="109" name="Bullet2"/>
                  <p:cNvSpPr txBox="1"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2827648" y="3524891"/>
                    <a:ext cx="6545173" cy="39976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lstStyle/>
                  <a:p>
                    <a:pPr marL="0" marR="0" lvl="0" indent="0" algn="l">
                      <a:lnSpc>
                        <a:spcPct val="120000"/>
                      </a:lnSpc>
                    </a:pPr>
                    <a:r>
                      <a:rPr lang="zh-CN" altLang="en-US" sz="1200" b="1" i="0" u="none" strike="noStrike" baseline="0" dirty="0">
                        <a:ln>
                          <a:noFill/>
                        </a:ln>
                        <a:solidFill>
                          <a:schemeClr val="tx1"/>
                        </a:solidFill>
                      </a:rPr>
                      <a:t>Alternative Methods for Metrics</a:t>
                    </a:r>
                    <a:endParaRPr lang="zh-CN" altLang="en-US" dirty="0"/>
                  </a:p>
                </p:txBody>
              </p:sp>
            </p:grpSp>
            <p:sp>
              <p:nvSpPr>
                <p:cNvPr id="107" name="ComponentBackground2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168085" y="1926336"/>
                  <a:ext cx="5996631" cy="4207765"/>
                </a:xfrm>
                <a:prstGeom prst="roundRect">
                  <a:avLst>
                    <a:gd name="adj" fmla="val 2791"/>
                  </a:avLst>
                </a:prstGeom>
                <a:ln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2736342" y="5931695"/>
                <a:ext cx="256472" cy="146770"/>
                <a:chOff x="5510812" y="5763249"/>
                <a:chExt cx="412713" cy="236181"/>
              </a:xfrm>
            </p:grpSpPr>
            <p:sp>
              <p:nvSpPr>
                <p:cNvPr id="104" name="椭圆 103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687345" y="5763251"/>
                  <a:ext cx="236180" cy="236179"/>
                </a:xfrm>
                <a:prstGeom prst="ellipse">
                  <a:avLst/>
                </a:prstGeom>
                <a:solidFill>
                  <a:schemeClr val="accent2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  <p:sp>
              <p:nvSpPr>
                <p:cNvPr id="105" name="椭圆 104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5510812" y="5763249"/>
                  <a:ext cx="236180" cy="236179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</p:grpSp>
        </p:grpSp>
        <p:grpSp>
          <p:nvGrpSpPr>
            <p:cNvPr id="110" name="组合 109"/>
            <p:cNvGrpSpPr/>
            <p:nvPr/>
          </p:nvGrpSpPr>
          <p:grpSpPr>
            <a:xfrm>
              <a:off x="6158490" y="1926336"/>
              <a:ext cx="2611366" cy="4207765"/>
              <a:chOff x="446010" y="1926336"/>
              <a:chExt cx="2611366" cy="4207765"/>
            </a:xfrm>
          </p:grpSpPr>
          <p:grpSp>
            <p:nvGrpSpPr>
              <p:cNvPr id="111" name="组合 110"/>
              <p:cNvGrpSpPr/>
              <p:nvPr/>
            </p:nvGrpSpPr>
            <p:grpSpPr>
              <a:xfrm>
                <a:off x="446010" y="1926336"/>
                <a:ext cx="2611366" cy="4207765"/>
                <a:chOff x="168085" y="1926336"/>
                <a:chExt cx="5996631" cy="4207765"/>
              </a:xfrm>
            </p:grpSpPr>
            <p:grpSp>
              <p:nvGrpSpPr>
                <p:cNvPr id="115" name="组合 114"/>
                <p:cNvGrpSpPr/>
                <p:nvPr/>
              </p:nvGrpSpPr>
              <p:grpSpPr>
                <a:xfrm>
                  <a:off x="293772" y="2032000"/>
                  <a:ext cx="5753536" cy="3629065"/>
                  <a:chOff x="2827648" y="3524891"/>
                  <a:chExt cx="6545173" cy="2421216"/>
                </a:xfrm>
              </p:grpSpPr>
              <p:sp>
                <p:nvSpPr>
                  <p:cNvPr id="117" name="Text3"/>
                  <p:cNvSpPr txBox="1"/>
                  <p:nvPr>
                    <p:custDataLst>
                      <p:tags r:id="rId11"/>
                    </p:custDataLst>
                  </p:nvPr>
                </p:nvSpPr>
                <p:spPr>
                  <a:xfrm>
                    <a:off x="2827648" y="3924656"/>
                    <a:ext cx="6545173" cy="202145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Autofit/>
                  </a:bodyPr>
                  <a:lstStyle/>
                  <a:p>
                    <a:pPr marL="0" marR="0" lvl="0" indent="0" algn="l">
                      <a:lnSpc>
                        <a:spcPct val="120000"/>
                      </a:lnSpc>
                    </a:pPr>
                    <a:r>
                      <a:rPr lang="zh-CN" altLang="en-US" sz="1200" baseline="0" dirty="0">
                        <a:solidFill>
                          <a:schemeClr val="tx1"/>
                        </a:solidFill>
                      </a:rPr>
                      <a:t>Default Method: </a:t>
                    </a:r>
                    <a:r>
                      <a:rPr lang="zh-CN" altLang="en-US" sz="1200" b="1" baseline="0" dirty="0">
                        <a:solidFill>
                          <a:schemeClr val="tx1"/>
                        </a:solidFill>
                      </a:rPr>
                      <a:t>TraceAnomaly. </a:t>
                    </a:r>
                    <a:r>
                      <a:rPr lang="zh-CN" altLang="en-US" sz="1200" baseline="0" dirty="0">
                        <a:solidFill>
                          <a:schemeClr val="tx1"/>
                        </a:solidFill>
                      </a:rPr>
                      <a:t>Detects: long latency, abnormal request paths, unusual service dependencies, deviations from normal trace patterns. Based on: unsupervised learning, offline training on normal traces.</a:t>
                    </a:r>
                    <a:endParaRPr lang="zh-CN" altLang="en-US" dirty="0"/>
                  </a:p>
                </p:txBody>
              </p:sp>
              <p:sp>
                <p:nvSpPr>
                  <p:cNvPr id="118" name="Bullet3"/>
                  <p:cNvSpPr txBox="1"/>
                  <p:nvPr>
                    <p:custDataLst>
                      <p:tags r:id="rId12"/>
                    </p:custDataLst>
                  </p:nvPr>
                </p:nvSpPr>
                <p:spPr>
                  <a:xfrm>
                    <a:off x="2827648" y="3524891"/>
                    <a:ext cx="6545173" cy="39976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lstStyle/>
                  <a:p>
                    <a:pPr marL="0" marR="0" lvl="0" indent="0" algn="l">
                      <a:lnSpc>
                        <a:spcPct val="120000"/>
                      </a:lnSpc>
                    </a:pPr>
                    <a:r>
                      <a:rPr lang="zh-CN" altLang="en-US" sz="1200" b="1" i="0" u="none" strike="noStrike" baseline="0" dirty="0">
                        <a:ln>
                          <a:noFill/>
                        </a:ln>
                        <a:solidFill>
                          <a:schemeClr val="tx1"/>
                        </a:solidFill>
                      </a:rPr>
                      <a:t>Trace Anomaly Detection</a:t>
                    </a:r>
                    <a:endParaRPr lang="zh-CN" altLang="en-US" dirty="0"/>
                  </a:p>
                </p:txBody>
              </p:sp>
            </p:grpSp>
            <p:sp>
              <p:nvSpPr>
                <p:cNvPr id="116" name="ComponentBackground3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68085" y="1926336"/>
                  <a:ext cx="5996631" cy="4207765"/>
                </a:xfrm>
                <a:prstGeom prst="roundRect">
                  <a:avLst>
                    <a:gd name="adj" fmla="val 2791"/>
                  </a:avLst>
                </a:prstGeom>
                <a:ln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</p:grpSp>
          <p:grpSp>
            <p:nvGrpSpPr>
              <p:cNvPr id="112" name="组合 111"/>
              <p:cNvGrpSpPr/>
              <p:nvPr/>
            </p:nvGrpSpPr>
            <p:grpSpPr>
              <a:xfrm>
                <a:off x="2736342" y="5931695"/>
                <a:ext cx="256472" cy="146770"/>
                <a:chOff x="5510812" y="5763249"/>
                <a:chExt cx="412713" cy="236181"/>
              </a:xfrm>
            </p:grpSpPr>
            <p:sp>
              <p:nvSpPr>
                <p:cNvPr id="113" name="椭圆 112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5687345" y="5763251"/>
                  <a:ext cx="236180" cy="236179"/>
                </a:xfrm>
                <a:prstGeom prst="ellipse">
                  <a:avLst/>
                </a:prstGeom>
                <a:solidFill>
                  <a:schemeClr val="accent2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  <p:sp>
              <p:nvSpPr>
                <p:cNvPr id="114" name="椭圆 113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510812" y="5763249"/>
                  <a:ext cx="236180" cy="236179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</p:grpSp>
        </p:grpSp>
        <p:grpSp>
          <p:nvGrpSpPr>
            <p:cNvPr id="119" name="组合 118"/>
            <p:cNvGrpSpPr/>
            <p:nvPr/>
          </p:nvGrpSpPr>
          <p:grpSpPr>
            <a:xfrm>
              <a:off x="8907534" y="1926336"/>
              <a:ext cx="2611366" cy="4207765"/>
              <a:chOff x="446010" y="1926336"/>
              <a:chExt cx="2611366" cy="4207765"/>
            </a:xfrm>
          </p:grpSpPr>
          <p:grpSp>
            <p:nvGrpSpPr>
              <p:cNvPr id="120" name="组合 119"/>
              <p:cNvGrpSpPr/>
              <p:nvPr/>
            </p:nvGrpSpPr>
            <p:grpSpPr>
              <a:xfrm>
                <a:off x="446010" y="1926336"/>
                <a:ext cx="2611366" cy="4207765"/>
                <a:chOff x="168085" y="1926336"/>
                <a:chExt cx="5996631" cy="4207765"/>
              </a:xfrm>
            </p:grpSpPr>
            <p:grpSp>
              <p:nvGrpSpPr>
                <p:cNvPr id="124" name="组合 123"/>
                <p:cNvGrpSpPr/>
                <p:nvPr/>
              </p:nvGrpSpPr>
              <p:grpSpPr>
                <a:xfrm>
                  <a:off x="293772" y="2032000"/>
                  <a:ext cx="5753536" cy="3629065"/>
                  <a:chOff x="2827648" y="3524891"/>
                  <a:chExt cx="6545173" cy="2421216"/>
                </a:xfrm>
              </p:grpSpPr>
              <p:sp>
                <p:nvSpPr>
                  <p:cNvPr id="126" name="Text4"/>
                  <p:cNvSpPr txBox="1"/>
                  <p:nvPr>
                    <p:custDataLst>
                      <p:tags r:id="rId6"/>
                    </p:custDataLst>
                  </p:nvPr>
                </p:nvSpPr>
                <p:spPr>
                  <a:xfrm>
                    <a:off x="2827648" y="3924656"/>
                    <a:ext cx="6545173" cy="202145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Autofit/>
                  </a:bodyPr>
                  <a:lstStyle/>
                  <a:p>
                    <a:pPr marL="0" marR="0" lvl="0" indent="0" algn="l">
                      <a:lnSpc>
                        <a:spcPct val="120000"/>
                      </a:lnSpc>
                    </a:pPr>
                    <a:r>
                      <a:rPr lang="zh-CN" altLang="en-US" sz="1200" baseline="0" dirty="0">
                        <a:solidFill>
                          <a:schemeClr val="tx1"/>
                        </a:solidFill>
                      </a:rPr>
                      <a:t>Logs around incidents provide important context. Full logs from the event window outperform only anomalous logs. Therefore: logs are filtered, directly sent to Log Expert.</a:t>
                    </a:r>
                    <a:endParaRPr lang="zh-CN" altLang="en-US" dirty="0"/>
                  </a:p>
                </p:txBody>
              </p:sp>
              <p:sp>
                <p:nvSpPr>
                  <p:cNvPr id="127" name="Bullet4"/>
                  <p:cNvSpPr txBox="1"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2827648" y="3524891"/>
                    <a:ext cx="6545173" cy="39976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lstStyle/>
                  <a:p>
                    <a:pPr marL="0" marR="0" lvl="0" indent="0" algn="l">
                      <a:lnSpc>
                        <a:spcPct val="120000"/>
                      </a:lnSpc>
                    </a:pPr>
                    <a:r>
                      <a:rPr lang="zh-CN" altLang="en-US" sz="1200" b="1" i="0" u="none" strike="noStrike" baseline="0" dirty="0">
                        <a:ln>
                          <a:noFill/>
                        </a:ln>
                        <a:solidFill>
                          <a:schemeClr val="tx1"/>
                        </a:solidFill>
                      </a:rPr>
                      <a:t>Why No Log Anomaly Detection?</a:t>
                    </a:r>
                    <a:endParaRPr lang="zh-CN" altLang="en-US" dirty="0"/>
                  </a:p>
                </p:txBody>
              </p:sp>
            </p:grpSp>
            <p:sp>
              <p:nvSpPr>
                <p:cNvPr id="125" name="ComponentBackground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68085" y="1926336"/>
                  <a:ext cx="5996631" cy="4207765"/>
                </a:xfrm>
                <a:prstGeom prst="roundRect">
                  <a:avLst>
                    <a:gd name="adj" fmla="val 2791"/>
                  </a:avLst>
                </a:prstGeom>
                <a:ln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2736342" y="5931695"/>
                <a:ext cx="256472" cy="146770"/>
                <a:chOff x="5510812" y="5763249"/>
                <a:chExt cx="412713" cy="236181"/>
              </a:xfrm>
            </p:grpSpPr>
            <p:sp>
              <p:nvSpPr>
                <p:cNvPr id="122" name="椭圆 121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5687345" y="5763251"/>
                  <a:ext cx="236180" cy="236179"/>
                </a:xfrm>
                <a:prstGeom prst="ellipse">
                  <a:avLst/>
                </a:prstGeom>
                <a:solidFill>
                  <a:schemeClr val="accent2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  <p:sp>
              <p:nvSpPr>
                <p:cNvPr id="123" name="椭圆 122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5510812" y="5763249"/>
                  <a:ext cx="236180" cy="236179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</p:grp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Metric Anomaly Detection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9</a:t>
            </a:fld>
            <a:endParaRPr lang="en-US"/>
          </a:p>
        </p:txBody>
      </p:sp>
      <p:sp>
        <p:nvSpPr>
          <p:cNvPr id="130" name="Title"/>
          <p:cNvSpPr/>
          <p:nvPr/>
        </p:nvSpPr>
        <p:spPr>
          <a:xfrm>
            <a:off x="535644" y="1056249"/>
            <a:ext cx="10858500" cy="582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rmAutofit/>
          </a:bodyPr>
          <a:lstStyle/>
          <a:p>
            <a:pPr>
              <a:buSzPct val="25000"/>
            </a:pP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Statistical and machine learning approaches for identifying deviations in time-series metrics and distributed traces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4368" y="1765340"/>
            <a:ext cx="3851910" cy="38957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b503a4c8-eae9-41ce-bf1b-b8d4bf0114a4.source.4.zh-Hans.pptx"/>
          <p:cNvGrpSpPr/>
          <p:nvPr>
            <p:custDataLst>
              <p:tags r:id="rId2"/>
            </p:custDataLst>
          </p:nvPr>
        </p:nvGrpSpPr>
        <p:grpSpPr>
          <a:xfrm>
            <a:off x="-243498" y="-141352"/>
            <a:ext cx="12340564" cy="5299765"/>
            <a:chOff x="660400" y="1130299"/>
            <a:chExt cx="10858500" cy="5324643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660400" y="1130299"/>
              <a:ext cx="0" cy="5003800"/>
            </a:xfrm>
            <a:prstGeom prst="line">
              <a:avLst/>
            </a:prstGeom>
            <a:noFill/>
            <a:ln w="444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IconMisc"/>
            <p:cNvSpPr>
              <a:spLocks noChangeAspect="1"/>
            </p:cNvSpPr>
            <p:nvPr/>
          </p:nvSpPr>
          <p:spPr bwMode="auto">
            <a:xfrm>
              <a:off x="10947234" y="1782414"/>
              <a:ext cx="517485" cy="407055"/>
            </a:xfrm>
            <a:custGeom>
              <a:avLst/>
              <a:gdLst>
                <a:gd name="T0" fmla="*/ 6792 w 11226"/>
                <a:gd name="T1" fmla="*/ 6401 h 8831"/>
                <a:gd name="T2" fmla="*/ 800 w 11226"/>
                <a:gd name="T3" fmla="*/ 6401 h 8831"/>
                <a:gd name="T4" fmla="*/ 800 w 11226"/>
                <a:gd name="T5" fmla="*/ 913 h 8831"/>
                <a:gd name="T6" fmla="*/ 912 w 11226"/>
                <a:gd name="T7" fmla="*/ 801 h 8831"/>
                <a:gd name="T8" fmla="*/ 10262 w 11226"/>
                <a:gd name="T9" fmla="*/ 801 h 8831"/>
                <a:gd name="T10" fmla="*/ 10375 w 11226"/>
                <a:gd name="T11" fmla="*/ 913 h 8831"/>
                <a:gd name="T12" fmla="*/ 10375 w 11226"/>
                <a:gd name="T13" fmla="*/ 4384 h 8831"/>
                <a:gd name="T14" fmla="*/ 10775 w 11226"/>
                <a:gd name="T15" fmla="*/ 4784 h 8831"/>
                <a:gd name="T16" fmla="*/ 11175 w 11226"/>
                <a:gd name="T17" fmla="*/ 4384 h 8831"/>
                <a:gd name="T18" fmla="*/ 11175 w 11226"/>
                <a:gd name="T19" fmla="*/ 913 h 8831"/>
                <a:gd name="T20" fmla="*/ 10262 w 11226"/>
                <a:gd name="T21" fmla="*/ 0 h 8831"/>
                <a:gd name="T22" fmla="*/ 912 w 11226"/>
                <a:gd name="T23" fmla="*/ 0 h 8831"/>
                <a:gd name="T24" fmla="*/ 0 w 11226"/>
                <a:gd name="T25" fmla="*/ 913 h 8831"/>
                <a:gd name="T26" fmla="*/ 0 w 11226"/>
                <a:gd name="T27" fmla="*/ 7882 h 8831"/>
                <a:gd name="T28" fmla="*/ 912 w 11226"/>
                <a:gd name="T29" fmla="*/ 8794 h 8831"/>
                <a:gd name="T30" fmla="*/ 6792 w 11226"/>
                <a:gd name="T31" fmla="*/ 8794 h 8831"/>
                <a:gd name="T32" fmla="*/ 7192 w 11226"/>
                <a:gd name="T33" fmla="*/ 8394 h 8831"/>
                <a:gd name="T34" fmla="*/ 7192 w 11226"/>
                <a:gd name="T35" fmla="*/ 8393 h 8831"/>
                <a:gd name="T36" fmla="*/ 6792 w 11226"/>
                <a:gd name="T37" fmla="*/ 7993 h 8831"/>
                <a:gd name="T38" fmla="*/ 912 w 11226"/>
                <a:gd name="T39" fmla="*/ 7993 h 8831"/>
                <a:gd name="T40" fmla="*/ 800 w 11226"/>
                <a:gd name="T41" fmla="*/ 7881 h 8831"/>
                <a:gd name="T42" fmla="*/ 800 w 11226"/>
                <a:gd name="T43" fmla="*/ 7201 h 8831"/>
                <a:gd name="T44" fmla="*/ 6792 w 11226"/>
                <a:gd name="T45" fmla="*/ 7201 h 8831"/>
                <a:gd name="T46" fmla="*/ 7192 w 11226"/>
                <a:gd name="T47" fmla="*/ 6801 h 8831"/>
                <a:gd name="T48" fmla="*/ 6792 w 11226"/>
                <a:gd name="T49" fmla="*/ 6401 h 8831"/>
                <a:gd name="T50" fmla="*/ 11189 w 11226"/>
                <a:gd name="T51" fmla="*/ 6004 h 8831"/>
                <a:gd name="T52" fmla="*/ 10784 w 11226"/>
                <a:gd name="T53" fmla="*/ 5599 h 8831"/>
                <a:gd name="T54" fmla="*/ 8395 w 11226"/>
                <a:gd name="T55" fmla="*/ 5599 h 8831"/>
                <a:gd name="T56" fmla="*/ 8109 w 11226"/>
                <a:gd name="T57" fmla="*/ 5716 h 8831"/>
                <a:gd name="T58" fmla="*/ 7992 w 11226"/>
                <a:gd name="T59" fmla="*/ 6002 h 8831"/>
                <a:gd name="T60" fmla="*/ 7992 w 11226"/>
                <a:gd name="T61" fmla="*/ 8391 h 8831"/>
                <a:gd name="T62" fmla="*/ 8397 w 11226"/>
                <a:gd name="T63" fmla="*/ 8796 h 8831"/>
                <a:gd name="T64" fmla="*/ 8802 w 11226"/>
                <a:gd name="T65" fmla="*/ 8391 h 8831"/>
                <a:gd name="T66" fmla="*/ 8802 w 11226"/>
                <a:gd name="T67" fmla="*/ 6974 h 8831"/>
                <a:gd name="T68" fmla="*/ 10504 w 11226"/>
                <a:gd name="T69" fmla="*/ 8676 h 8831"/>
                <a:gd name="T70" fmla="*/ 11070 w 11226"/>
                <a:gd name="T71" fmla="*/ 8676 h 8831"/>
                <a:gd name="T72" fmla="*/ 11070 w 11226"/>
                <a:gd name="T73" fmla="*/ 8109 h 8831"/>
                <a:gd name="T74" fmla="*/ 9369 w 11226"/>
                <a:gd name="T75" fmla="*/ 6409 h 8831"/>
                <a:gd name="T76" fmla="*/ 10784 w 11226"/>
                <a:gd name="T77" fmla="*/ 6409 h 8831"/>
                <a:gd name="T78" fmla="*/ 11189 w 11226"/>
                <a:gd name="T79" fmla="*/ 6004 h 8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26" h="8831">
                  <a:moveTo>
                    <a:pt x="6792" y="6401"/>
                  </a:moveTo>
                  <a:lnTo>
                    <a:pt x="800" y="6401"/>
                  </a:lnTo>
                  <a:lnTo>
                    <a:pt x="800" y="913"/>
                  </a:lnTo>
                  <a:cubicBezTo>
                    <a:pt x="800" y="851"/>
                    <a:pt x="850" y="801"/>
                    <a:pt x="912" y="801"/>
                  </a:cubicBezTo>
                  <a:lnTo>
                    <a:pt x="10262" y="801"/>
                  </a:lnTo>
                  <a:cubicBezTo>
                    <a:pt x="10325" y="801"/>
                    <a:pt x="10375" y="851"/>
                    <a:pt x="10375" y="913"/>
                  </a:cubicBezTo>
                  <a:lnTo>
                    <a:pt x="10375" y="4384"/>
                  </a:lnTo>
                  <a:cubicBezTo>
                    <a:pt x="10375" y="4606"/>
                    <a:pt x="10554" y="4784"/>
                    <a:pt x="10775" y="4784"/>
                  </a:cubicBezTo>
                  <a:cubicBezTo>
                    <a:pt x="10996" y="4784"/>
                    <a:pt x="11175" y="4606"/>
                    <a:pt x="11175" y="4384"/>
                  </a:cubicBezTo>
                  <a:lnTo>
                    <a:pt x="11175" y="913"/>
                  </a:lnTo>
                  <a:cubicBezTo>
                    <a:pt x="11175" y="409"/>
                    <a:pt x="10766" y="0"/>
                    <a:pt x="10262" y="0"/>
                  </a:cubicBezTo>
                  <a:lnTo>
                    <a:pt x="912" y="0"/>
                  </a:lnTo>
                  <a:cubicBezTo>
                    <a:pt x="410" y="0"/>
                    <a:pt x="0" y="409"/>
                    <a:pt x="0" y="913"/>
                  </a:cubicBezTo>
                  <a:lnTo>
                    <a:pt x="0" y="7882"/>
                  </a:lnTo>
                  <a:cubicBezTo>
                    <a:pt x="0" y="8384"/>
                    <a:pt x="408" y="8794"/>
                    <a:pt x="912" y="8794"/>
                  </a:cubicBezTo>
                  <a:lnTo>
                    <a:pt x="6792" y="8794"/>
                  </a:lnTo>
                  <a:cubicBezTo>
                    <a:pt x="7014" y="8794"/>
                    <a:pt x="7192" y="8616"/>
                    <a:pt x="7192" y="8394"/>
                  </a:cubicBezTo>
                  <a:lnTo>
                    <a:pt x="7192" y="8393"/>
                  </a:lnTo>
                  <a:cubicBezTo>
                    <a:pt x="7192" y="8172"/>
                    <a:pt x="7014" y="7993"/>
                    <a:pt x="6792" y="7993"/>
                  </a:cubicBezTo>
                  <a:lnTo>
                    <a:pt x="912" y="7993"/>
                  </a:lnTo>
                  <a:cubicBezTo>
                    <a:pt x="850" y="7993"/>
                    <a:pt x="800" y="7943"/>
                    <a:pt x="800" y="7881"/>
                  </a:cubicBezTo>
                  <a:lnTo>
                    <a:pt x="800" y="7201"/>
                  </a:lnTo>
                  <a:lnTo>
                    <a:pt x="6792" y="7201"/>
                  </a:lnTo>
                  <a:cubicBezTo>
                    <a:pt x="7014" y="7201"/>
                    <a:pt x="7192" y="7022"/>
                    <a:pt x="7192" y="6801"/>
                  </a:cubicBezTo>
                  <a:cubicBezTo>
                    <a:pt x="7192" y="6579"/>
                    <a:pt x="7012" y="6401"/>
                    <a:pt x="6792" y="6401"/>
                  </a:cubicBezTo>
                  <a:close/>
                  <a:moveTo>
                    <a:pt x="11189" y="6004"/>
                  </a:moveTo>
                  <a:cubicBezTo>
                    <a:pt x="11189" y="5782"/>
                    <a:pt x="11006" y="5599"/>
                    <a:pt x="10784" y="5599"/>
                  </a:cubicBezTo>
                  <a:lnTo>
                    <a:pt x="8395" y="5599"/>
                  </a:lnTo>
                  <a:cubicBezTo>
                    <a:pt x="8291" y="5598"/>
                    <a:pt x="8187" y="5637"/>
                    <a:pt x="8109" y="5716"/>
                  </a:cubicBezTo>
                  <a:cubicBezTo>
                    <a:pt x="8030" y="5794"/>
                    <a:pt x="7991" y="5898"/>
                    <a:pt x="7992" y="6002"/>
                  </a:cubicBezTo>
                  <a:lnTo>
                    <a:pt x="7992" y="8391"/>
                  </a:lnTo>
                  <a:cubicBezTo>
                    <a:pt x="7992" y="8613"/>
                    <a:pt x="8175" y="8796"/>
                    <a:pt x="8397" y="8796"/>
                  </a:cubicBezTo>
                  <a:cubicBezTo>
                    <a:pt x="8620" y="8796"/>
                    <a:pt x="8802" y="8613"/>
                    <a:pt x="8802" y="8391"/>
                  </a:cubicBezTo>
                  <a:lnTo>
                    <a:pt x="8802" y="6974"/>
                  </a:lnTo>
                  <a:lnTo>
                    <a:pt x="10504" y="8676"/>
                  </a:lnTo>
                  <a:cubicBezTo>
                    <a:pt x="10659" y="8831"/>
                    <a:pt x="10914" y="8831"/>
                    <a:pt x="11070" y="8676"/>
                  </a:cubicBezTo>
                  <a:cubicBezTo>
                    <a:pt x="11226" y="8521"/>
                    <a:pt x="11225" y="8266"/>
                    <a:pt x="11070" y="8109"/>
                  </a:cubicBezTo>
                  <a:lnTo>
                    <a:pt x="9369" y="6409"/>
                  </a:lnTo>
                  <a:lnTo>
                    <a:pt x="10784" y="6409"/>
                  </a:lnTo>
                  <a:cubicBezTo>
                    <a:pt x="11006" y="6409"/>
                    <a:pt x="11189" y="6227"/>
                    <a:pt x="11189" y="6004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endParaRPr lang="zh-CN" altLang="en-US" sz="1600">
                <a:solidFill>
                  <a:srgbClr val="000000"/>
                </a:solidFill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850901" y="2482912"/>
              <a:ext cx="2572648" cy="3887666"/>
              <a:chOff x="850901" y="2482912"/>
              <a:chExt cx="1583542" cy="3887666"/>
            </a:xfrm>
          </p:grpSpPr>
          <p:sp>
            <p:nvSpPr>
              <p:cNvPr id="10" name="Text1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50901" y="3429150"/>
                <a:ext cx="1583542" cy="29414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Generated information includes: affected metric, anomaly pattern, start time / end time, duration, peak value, relative magnitude change, anomaly score</a:t>
                </a:r>
                <a:endParaRPr lang="en-US" dirty="0"/>
              </a:p>
            </p:txBody>
          </p:sp>
          <p:sp>
            <p:nvSpPr>
              <p:cNvPr id="11" name="Bullet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50901" y="2482912"/>
                <a:ext cx="1583542" cy="615727"/>
              </a:xfrm>
              <a:prstGeom prst="rect">
                <a:avLst/>
              </a:prstGeom>
              <a:noFill/>
            </p:spPr>
            <p:txBody>
              <a:bodyPr wrap="square" rtlCol="0" anchor="t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Metric Anomaly Description Components</a:t>
                </a:r>
                <a:endParaRPr lang="en-US" dirty="0"/>
              </a:p>
            </p:txBody>
          </p:sp>
        </p:grpSp>
        <p:cxnSp>
          <p:nvCxnSpPr>
            <p:cNvPr id="13" name="直接连接符 12"/>
            <p:cNvCxnSpPr/>
            <p:nvPr/>
          </p:nvCxnSpPr>
          <p:spPr>
            <a:xfrm>
              <a:off x="731640" y="2388821"/>
              <a:ext cx="10787260" cy="0"/>
            </a:xfrm>
            <a:prstGeom prst="line">
              <a:avLst/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6" name="组合 25"/>
            <p:cNvGrpSpPr/>
            <p:nvPr/>
          </p:nvGrpSpPr>
          <p:grpSpPr>
            <a:xfrm>
              <a:off x="3515745" y="2413230"/>
              <a:ext cx="2580471" cy="4041712"/>
              <a:chOff x="830216" y="2413230"/>
              <a:chExt cx="1588357" cy="4041712"/>
            </a:xfrm>
          </p:grpSpPr>
          <p:sp>
            <p:nvSpPr>
              <p:cNvPr id="27" name="Text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830216" y="3513514"/>
                <a:ext cx="1583542" cy="29414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PatternMatcher supports: spike, dip, increase, decrease, level shift, fluctuation</a:t>
                </a:r>
                <a:endParaRPr lang="en-US" dirty="0"/>
              </a:p>
            </p:txBody>
          </p:sp>
          <p:sp>
            <p:nvSpPr>
              <p:cNvPr id="28" name="Bullet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35031" y="2413230"/>
                <a:ext cx="1583542" cy="615727"/>
              </a:xfrm>
              <a:prstGeom prst="rect">
                <a:avLst/>
              </a:prstGeom>
              <a:noFill/>
            </p:spPr>
            <p:txBody>
              <a:bodyPr wrap="square" rtlCol="0" anchor="t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Metric Pattern Recognition via PatternMatcher</a:t>
                </a:r>
                <a:endParaRPr lang="en-US" dirty="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6247801" y="2482984"/>
              <a:ext cx="2572648" cy="3758226"/>
              <a:chOff x="850901" y="2482984"/>
              <a:chExt cx="1583542" cy="3758226"/>
            </a:xfrm>
          </p:grpSpPr>
          <p:sp>
            <p:nvSpPr>
              <p:cNvPr id="30" name="Text3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50901" y="3299782"/>
                <a:ext cx="1583542" cy="29414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Two types: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 Structural anomaly (abnormal call path, missing / unexpected services) and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 Timeout anomaly (normal path, abnormal latency on one or more nodes)</a:t>
                </a:r>
                <a:endParaRPr lang="en-US" dirty="0"/>
              </a:p>
            </p:txBody>
          </p:sp>
          <p:sp>
            <p:nvSpPr>
              <p:cNvPr id="31" name="Bullet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850901" y="2482984"/>
                <a:ext cx="1583542" cy="615727"/>
              </a:xfrm>
              <a:prstGeom prst="rect">
                <a:avLst/>
              </a:prstGeom>
              <a:noFill/>
            </p:spPr>
            <p:txBody>
              <a:bodyPr wrap="square" rtlCol="0" anchor="t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Trace Description Generation Overview</a:t>
                </a:r>
                <a:endParaRPr lang="en-US" dirty="0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8683228" y="2482982"/>
              <a:ext cx="2781441" cy="3822566"/>
              <a:chOff x="850901" y="2311534"/>
              <a:chExt cx="1585252" cy="3822566"/>
            </a:xfrm>
          </p:grpSpPr>
          <p:sp>
            <p:nvSpPr>
              <p:cNvPr id="33" name="Text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850901" y="3192672"/>
                <a:ext cx="1583542" cy="29414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Generated information includes: trace ID, start/end time, call path sequence, abnormal services, slow nodes, exceeded latency threshold</a:t>
                </a:r>
                <a:endParaRPr lang="en-US" dirty="0"/>
              </a:p>
            </p:txBody>
          </p:sp>
          <p:sp>
            <p:nvSpPr>
              <p:cNvPr id="34" name="Bullet4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852611" y="2311534"/>
                <a:ext cx="1583542" cy="615727"/>
              </a:xfrm>
              <a:prstGeom prst="rect">
                <a:avLst/>
              </a:prstGeom>
              <a:noFill/>
            </p:spPr>
            <p:txBody>
              <a:bodyPr wrap="square" rtlCol="0" anchor="t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Trace Anomaly Description Components</a:t>
                </a:r>
                <a:endParaRPr lang="en-US" dirty="0"/>
              </a:p>
            </p:txBody>
          </p:sp>
        </p:grpSp>
      </p:grp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Metric and Trace Anomaly Description Generation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10</a:t>
            </a:fld>
            <a:endParaRPr lang="en-US"/>
          </a:p>
        </p:txBody>
      </p:sp>
      <p:sp>
        <p:nvSpPr>
          <p:cNvPr id="45" name="image"/>
          <p:cNvSpPr/>
          <p:nvPr/>
        </p:nvSpPr>
        <p:spPr>
          <a:xfrm>
            <a:off x="320715" y="3447898"/>
            <a:ext cx="2032275" cy="2386130"/>
          </a:xfrm>
          <a:prstGeom prst="roundRect">
            <a:avLst>
              <a:gd name="adj" fmla="val 0"/>
            </a:avLst>
          </a:prstGeom>
          <a:blipFill>
            <a:blip r:embed="rId12"/>
            <a:stretch>
              <a:fillRect t="-4971" b="-497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image"/>
          <p:cNvSpPr/>
          <p:nvPr/>
        </p:nvSpPr>
        <p:spPr>
          <a:xfrm>
            <a:off x="3219007" y="3234909"/>
            <a:ext cx="6400800" cy="1333500"/>
          </a:xfrm>
          <a:prstGeom prst="roundRect">
            <a:avLst>
              <a:gd name="adj" fmla="val 1000"/>
            </a:avLst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image"/>
          <p:cNvSpPr/>
          <p:nvPr/>
        </p:nvSpPr>
        <p:spPr>
          <a:xfrm>
            <a:off x="3442851" y="4618135"/>
            <a:ext cx="5953125" cy="1428750"/>
          </a:xfrm>
          <a:prstGeom prst="roundRect">
            <a:avLst>
              <a:gd name="adj" fmla="val 1000"/>
            </a:avLst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4f2a26cf-8e24-4fe5-97e7-2e245b41b5d3.source.2.zh-Hans.pptx"/>
          <p:cNvGrpSpPr/>
          <p:nvPr>
            <p:custDataLst>
              <p:tags r:id="rId2"/>
            </p:custDataLst>
          </p:nvPr>
        </p:nvGrpSpPr>
        <p:grpSpPr>
          <a:xfrm>
            <a:off x="494603" y="1130300"/>
            <a:ext cx="11024297" cy="4913519"/>
            <a:chOff x="494603" y="1130300"/>
            <a:chExt cx="11024297" cy="4913519"/>
          </a:xfrm>
        </p:grpSpPr>
        <p:sp>
          <p:nvSpPr>
            <p:cNvPr id="11" name="Title"/>
            <p:cNvSpPr/>
            <p:nvPr/>
          </p:nvSpPr>
          <p:spPr>
            <a:xfrm>
              <a:off x="660400" y="1130300"/>
              <a:ext cx="10858500" cy="9023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Comparative overview of MEPFL and MicroCause for microservice failure diagnosis</a:t>
              </a:r>
              <a:endParaRPr lang="en-US" dirty="0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94603" y="2032681"/>
              <a:ext cx="5909479" cy="4011138"/>
              <a:chOff x="660399" y="2122962"/>
              <a:chExt cx="10858500" cy="4011138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660400" y="2122962"/>
                <a:ext cx="10858499" cy="1905594"/>
                <a:chOff x="660400" y="2221657"/>
                <a:chExt cx="11786341" cy="1863563"/>
              </a:xfrm>
            </p:grpSpPr>
            <p:sp>
              <p:nvSpPr>
                <p:cNvPr id="5" name="矩形: 圆角 4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660400" y="2221657"/>
                  <a:ext cx="11786341" cy="1863563"/>
                </a:xfrm>
                <a:prstGeom prst="roundRect">
                  <a:avLst>
                    <a:gd name="adj" fmla="val 0"/>
                  </a:avLst>
                </a:prstGeom>
                <a:ln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  <p:grpSp>
              <p:nvGrpSpPr>
                <p:cNvPr id="12" name="组合 11"/>
                <p:cNvGrpSpPr/>
                <p:nvPr/>
              </p:nvGrpSpPr>
              <p:grpSpPr>
                <a:xfrm>
                  <a:off x="1377048" y="2282504"/>
                  <a:ext cx="10945108" cy="1725849"/>
                  <a:chOff x="1377048" y="2276013"/>
                  <a:chExt cx="10945108" cy="1725849"/>
                </a:xfrm>
              </p:grpSpPr>
              <p:sp>
                <p:nvSpPr>
                  <p:cNvPr id="3" name="Text1"/>
                  <p:cNvSpPr txBox="1"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1377049" y="2876323"/>
                    <a:ext cx="10945106" cy="112553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Input: trace logs, service interactions. Feature extraction: configuration features, resource features, instance features, interaction features. ML models: Random Forest, KNN, MLP. Output: suspicious faulty services, root cause service ranking.</a:t>
                    </a:r>
                    <a:endParaRPr lang="en-US" dirty="0"/>
                  </a:p>
                </p:txBody>
              </p:sp>
              <p:sp>
                <p:nvSpPr>
                  <p:cNvPr id="4" name="Bullet1"/>
                  <p:cNvSpPr txBox="1"/>
                  <p:nvPr>
                    <p:custDataLst>
                      <p:tags r:id="rId10"/>
                    </p:custDataLst>
                  </p:nvPr>
                </p:nvSpPr>
                <p:spPr>
                  <a:xfrm>
                    <a:off x="1377048" y="2276013"/>
                    <a:ext cx="10945108" cy="6003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Trace-based Failure Localization (MEPFL)</a:t>
                    </a:r>
                    <a:endParaRPr lang="en-US" dirty="0"/>
                  </a:p>
                </p:txBody>
              </p:sp>
            </p:grpSp>
            <p:sp>
              <p:nvSpPr>
                <p:cNvPr id="10" name="Number1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738067" y="2370580"/>
                  <a:ext cx="561313" cy="156571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/>
                </a:bodyPr>
                <a:lstStyle/>
                <a:p>
                  <a:pPr algn="ctr"/>
                  <a:r>
                    <a:rPr lang="en-US" altLang="zh-CN" sz="6000" dirty="0">
                      <a:solidFill>
                        <a:schemeClr val="accent1"/>
                      </a:solidFill>
                    </a:rPr>
                    <a:t>1</a:t>
                  </a:r>
                  <a:endParaRPr lang="zh-CN" altLang="en-US" sz="6000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2" name="组合 1"/>
              <p:cNvGrpSpPr/>
              <p:nvPr/>
            </p:nvGrpSpPr>
            <p:grpSpPr>
              <a:xfrm>
                <a:off x="660399" y="4228506"/>
                <a:ext cx="10858500" cy="1905594"/>
                <a:chOff x="660399" y="2221657"/>
                <a:chExt cx="11786342" cy="1863563"/>
              </a:xfrm>
            </p:grpSpPr>
            <p:sp>
              <p:nvSpPr>
                <p:cNvPr id="6" name="矩形: 圆角 5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660399" y="2221657"/>
                  <a:ext cx="11786342" cy="1863563"/>
                </a:xfrm>
                <a:prstGeom prst="roundRect">
                  <a:avLst>
                    <a:gd name="adj" fmla="val 0"/>
                  </a:avLst>
                </a:prstGeom>
                <a:ln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  <p:grpSp>
              <p:nvGrpSpPr>
                <p:cNvPr id="7" name="组合 6"/>
                <p:cNvGrpSpPr/>
                <p:nvPr/>
              </p:nvGrpSpPr>
              <p:grpSpPr>
                <a:xfrm>
                  <a:off x="1377048" y="2282504"/>
                  <a:ext cx="10945108" cy="1725849"/>
                  <a:chOff x="1377048" y="2276013"/>
                  <a:chExt cx="10945108" cy="1725849"/>
                </a:xfrm>
              </p:grpSpPr>
              <p:sp>
                <p:nvSpPr>
                  <p:cNvPr id="9" name="Text2"/>
                  <p:cNvSpPr txBox="1"/>
                  <p:nvPr>
                    <p:custDataLst>
                      <p:tags r:id="rId5"/>
                    </p:custDataLst>
                  </p:nvPr>
                </p:nvSpPr>
                <p:spPr>
                  <a:xfrm>
                    <a:off x="1377048" y="2876323"/>
                    <a:ext cx="10945107" cy="112553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Uses: Path Condition Time Series (PCTS), Temporal Cause-Oriented Random Walk. Captures: time-lag propagation, causal dependency, temporal order, priority information. Output: ranked root cause metrics, suspicious components.</a:t>
                    </a:r>
                    <a:endParaRPr lang="en-US" dirty="0"/>
                  </a:p>
                </p:txBody>
              </p:sp>
              <p:sp>
                <p:nvSpPr>
                  <p:cNvPr id="14" name="Bullet2"/>
                  <p:cNvSpPr txBox="1"/>
                  <p:nvPr>
                    <p:custDataLst>
                      <p:tags r:id="rId6"/>
                    </p:custDataLst>
                  </p:nvPr>
                </p:nvSpPr>
                <p:spPr>
                  <a:xfrm>
                    <a:off x="1377048" y="2276013"/>
                    <a:ext cx="10945108" cy="6003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Metric-based Failure Localization (MicroCause)</a:t>
                    </a:r>
                    <a:endParaRPr lang="en-US" dirty="0"/>
                  </a:p>
                </p:txBody>
              </p:sp>
            </p:grpSp>
            <p:sp>
              <p:nvSpPr>
                <p:cNvPr id="8" name="Number2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738067" y="2370580"/>
                  <a:ext cx="561313" cy="156571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/>
                </a:bodyPr>
                <a:lstStyle/>
                <a:p>
                  <a:pPr algn="ctr"/>
                  <a:r>
                    <a:rPr lang="en-US" altLang="zh-CN" sz="6000" dirty="0">
                      <a:solidFill>
                        <a:schemeClr val="accent1"/>
                      </a:solidFill>
                    </a:rPr>
                    <a:t>2</a:t>
                  </a:r>
                  <a:endParaRPr lang="zh-CN" altLang="en-US" sz="6000" dirty="0">
                    <a:solidFill>
                      <a:schemeClr val="accent1"/>
                    </a:solidFill>
                  </a:endParaRPr>
                </a:p>
              </p:txBody>
            </p:sp>
          </p:grpSp>
        </p:grpSp>
      </p:grp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Trace-based and Metric-based Failure Localization Methods</a:t>
            </a:r>
            <a:endParaRPr lang="en-US" dirty="0"/>
          </a:p>
        </p:txBody>
      </p:sp>
      <p:sp>
        <p:nvSpPr>
          <p:cNvPr id="18" name="日期占位符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11</a:t>
            </a:fld>
            <a:endParaRPr lang="en-US"/>
          </a:p>
        </p:txBody>
      </p:sp>
      <p:sp>
        <p:nvSpPr>
          <p:cNvPr id="21" name="image"/>
          <p:cNvSpPr/>
          <p:nvPr/>
        </p:nvSpPr>
        <p:spPr>
          <a:xfrm>
            <a:off x="6800898" y="1981121"/>
            <a:ext cx="4505325" cy="4048125"/>
          </a:xfrm>
          <a:prstGeom prst="roundRect">
            <a:avLst>
              <a:gd name="adj" fmla="val 1000"/>
            </a:avLst>
          </a:prstGeom>
          <a:blipFill>
            <a:blip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0540" y="2003425"/>
            <a:ext cx="3939540" cy="38881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bcd78159-1c6a-4550-a96e-3f6f8f7d65ce.source.4.zh-Hans.pptx"/>
          <p:cNvGrpSpPr/>
          <p:nvPr/>
        </p:nvGrpSpPr>
        <p:grpSpPr>
          <a:xfrm>
            <a:off x="660400" y="1130299"/>
            <a:ext cx="10858500" cy="4870727"/>
            <a:chOff x="660400" y="1130299"/>
            <a:chExt cx="10858500" cy="4870727"/>
          </a:xfrm>
        </p:grpSpPr>
        <p:sp>
          <p:nvSpPr>
            <p:cNvPr id="3" name="Title"/>
            <p:cNvSpPr txBox="1"/>
            <p:nvPr/>
          </p:nvSpPr>
          <p:spPr>
            <a:xfrm>
              <a:off x="660400" y="1130299"/>
              <a:ext cx="3376671" cy="871221"/>
            </a:xfrm>
            <a:prstGeom prst="rect">
              <a:avLst/>
            </a:prstGeom>
            <a:noFill/>
          </p:spPr>
          <p:txBody>
            <a:bodyPr vert="horz" wrap="square" rtlCol="0" anchor="t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cs typeface="+mn-ea"/>
                  <a:sym typeface="+mn-lt"/>
                </a:rPr>
                <a:t>Four specialized LLM experts for comprehensive system observability analysis</a:t>
              </a:r>
              <a:endParaRPr lang="en-US" dirty="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4145676" y="1130300"/>
              <a:ext cx="3595257" cy="2201409"/>
              <a:chOff x="4775169" y="1901003"/>
              <a:chExt cx="3595257" cy="2201409"/>
            </a:xfrm>
          </p:grpSpPr>
          <p:sp>
            <p:nvSpPr>
              <p:cNvPr id="40" name="Number1"/>
              <p:cNvSpPr/>
              <p:nvPr/>
            </p:nvSpPr>
            <p:spPr>
              <a:xfrm>
                <a:off x="4775169" y="1901003"/>
                <a:ext cx="493756" cy="493754"/>
              </a:xfrm>
              <a:custGeom>
                <a:avLst/>
                <a:gdLst>
                  <a:gd name="connsiteX0" fmla="*/ 0 w 670873"/>
                  <a:gd name="connsiteY0" fmla="*/ 335437 h 670873"/>
                  <a:gd name="connsiteX1" fmla="*/ 335437 w 670873"/>
                  <a:gd name="connsiteY1" fmla="*/ 0 h 670873"/>
                  <a:gd name="connsiteX2" fmla="*/ 670874 w 670873"/>
                  <a:gd name="connsiteY2" fmla="*/ 335437 h 670873"/>
                  <a:gd name="connsiteX3" fmla="*/ 335437 w 670873"/>
                  <a:gd name="connsiteY3" fmla="*/ 670874 h 670873"/>
                  <a:gd name="connsiteX4" fmla="*/ 0 w 670873"/>
                  <a:gd name="connsiteY4" fmla="*/ 335437 h 670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0873" h="670873">
                    <a:moveTo>
                      <a:pt x="0" y="335437"/>
                    </a:moveTo>
                    <a:cubicBezTo>
                      <a:pt x="0" y="150180"/>
                      <a:pt x="150180" y="0"/>
                      <a:pt x="335437" y="0"/>
                    </a:cubicBezTo>
                    <a:cubicBezTo>
                      <a:pt x="520694" y="0"/>
                      <a:pt x="670874" y="150180"/>
                      <a:pt x="670874" y="335437"/>
                    </a:cubicBezTo>
                    <a:cubicBezTo>
                      <a:pt x="670874" y="520694"/>
                      <a:pt x="520694" y="670874"/>
                      <a:pt x="335437" y="670874"/>
                    </a:cubicBezTo>
                    <a:cubicBezTo>
                      <a:pt x="150180" y="670874"/>
                      <a:pt x="0" y="520694"/>
                      <a:pt x="0" y="3354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non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cs typeface="+mn-ea"/>
                    <a:sym typeface="+mn-lt"/>
                  </a:rPr>
                  <a:t>1</a:t>
                </a:r>
                <a:endParaRPr b="1" dirty="0">
                  <a:cs typeface="+mn-ea"/>
                  <a:sym typeface="+mn-lt"/>
                </a:endParaRPr>
              </a:p>
            </p:txBody>
          </p:sp>
          <p:sp>
            <p:nvSpPr>
              <p:cNvPr id="41" name="Text1"/>
              <p:cNvSpPr txBox="1"/>
              <p:nvPr/>
            </p:nvSpPr>
            <p:spPr>
              <a:xfrm>
                <a:off x="5340316" y="2434053"/>
                <a:ext cx="3030110" cy="166835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analyzes trace anomalies focuses on call paths, latency, and service dependencies</a:t>
                </a:r>
                <a:endParaRPr lang="en-US" dirty="0"/>
              </a:p>
            </p:txBody>
          </p:sp>
          <p:sp>
            <p:nvSpPr>
              <p:cNvPr id="42" name="Bullet1"/>
              <p:cNvSpPr txBox="1"/>
              <p:nvPr/>
            </p:nvSpPr>
            <p:spPr>
              <a:xfrm>
                <a:off x="5340316" y="1901003"/>
                <a:ext cx="3030110" cy="5330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Trace Expert</a:t>
                </a:r>
                <a:endParaRPr lang="en-US" dirty="0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7923643" y="1130300"/>
              <a:ext cx="3595257" cy="2201409"/>
              <a:chOff x="8442268" y="1901003"/>
              <a:chExt cx="3595257" cy="2201409"/>
            </a:xfrm>
          </p:grpSpPr>
          <p:sp>
            <p:nvSpPr>
              <p:cNvPr id="37" name="Number2"/>
              <p:cNvSpPr/>
              <p:nvPr/>
            </p:nvSpPr>
            <p:spPr>
              <a:xfrm>
                <a:off x="8442268" y="1901003"/>
                <a:ext cx="493756" cy="493754"/>
              </a:xfrm>
              <a:custGeom>
                <a:avLst/>
                <a:gdLst>
                  <a:gd name="connsiteX0" fmla="*/ 0 w 670873"/>
                  <a:gd name="connsiteY0" fmla="*/ 335437 h 670873"/>
                  <a:gd name="connsiteX1" fmla="*/ 335437 w 670873"/>
                  <a:gd name="connsiteY1" fmla="*/ 0 h 670873"/>
                  <a:gd name="connsiteX2" fmla="*/ 670874 w 670873"/>
                  <a:gd name="connsiteY2" fmla="*/ 335437 h 670873"/>
                  <a:gd name="connsiteX3" fmla="*/ 335437 w 670873"/>
                  <a:gd name="connsiteY3" fmla="*/ 670874 h 670873"/>
                  <a:gd name="connsiteX4" fmla="*/ 0 w 670873"/>
                  <a:gd name="connsiteY4" fmla="*/ 335437 h 670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0873" h="670873">
                    <a:moveTo>
                      <a:pt x="0" y="335437"/>
                    </a:moveTo>
                    <a:cubicBezTo>
                      <a:pt x="0" y="150180"/>
                      <a:pt x="150180" y="0"/>
                      <a:pt x="335437" y="0"/>
                    </a:cubicBezTo>
                    <a:cubicBezTo>
                      <a:pt x="520694" y="0"/>
                      <a:pt x="670874" y="150180"/>
                      <a:pt x="670874" y="335437"/>
                    </a:cubicBezTo>
                    <a:cubicBezTo>
                      <a:pt x="670874" y="520694"/>
                      <a:pt x="520694" y="670874"/>
                      <a:pt x="335437" y="670874"/>
                    </a:cubicBezTo>
                    <a:cubicBezTo>
                      <a:pt x="150180" y="670874"/>
                      <a:pt x="0" y="520694"/>
                      <a:pt x="0" y="3354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non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cs typeface="+mn-ea"/>
                    <a:sym typeface="+mn-lt"/>
                  </a:rPr>
                  <a:t>2</a:t>
                </a:r>
                <a:endParaRPr b="1" dirty="0">
                  <a:cs typeface="+mn-ea"/>
                  <a:sym typeface="+mn-lt"/>
                </a:endParaRPr>
              </a:p>
            </p:txBody>
          </p:sp>
          <p:sp>
            <p:nvSpPr>
              <p:cNvPr id="38" name="Text2"/>
              <p:cNvSpPr txBox="1"/>
              <p:nvPr/>
            </p:nvSpPr>
            <p:spPr>
              <a:xfrm>
                <a:off x="9007415" y="2434053"/>
                <a:ext cx="3030110" cy="166835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analyzes metric anomalies focuses on abnormal metrics and root cause metrics</a:t>
                </a:r>
                <a:endParaRPr lang="en-US" dirty="0"/>
              </a:p>
            </p:txBody>
          </p:sp>
          <p:sp>
            <p:nvSpPr>
              <p:cNvPr id="39" name="Bullet2"/>
              <p:cNvSpPr txBox="1"/>
              <p:nvPr/>
            </p:nvSpPr>
            <p:spPr>
              <a:xfrm>
                <a:off x="9007415" y="1901003"/>
                <a:ext cx="3030110" cy="5330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Metric Expert</a:t>
                </a:r>
                <a:endParaRPr lang="en-US" dirty="0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4145676" y="3824609"/>
              <a:ext cx="3595257" cy="2176417"/>
              <a:chOff x="4775169" y="3442408"/>
              <a:chExt cx="3595257" cy="2176417"/>
            </a:xfrm>
          </p:grpSpPr>
          <p:sp>
            <p:nvSpPr>
              <p:cNvPr id="34" name="Number3"/>
              <p:cNvSpPr/>
              <p:nvPr/>
            </p:nvSpPr>
            <p:spPr>
              <a:xfrm>
                <a:off x="4775169" y="3442408"/>
                <a:ext cx="493756" cy="493754"/>
              </a:xfrm>
              <a:custGeom>
                <a:avLst/>
                <a:gdLst>
                  <a:gd name="connsiteX0" fmla="*/ 0 w 670873"/>
                  <a:gd name="connsiteY0" fmla="*/ 335437 h 670873"/>
                  <a:gd name="connsiteX1" fmla="*/ 335437 w 670873"/>
                  <a:gd name="connsiteY1" fmla="*/ 0 h 670873"/>
                  <a:gd name="connsiteX2" fmla="*/ 670874 w 670873"/>
                  <a:gd name="connsiteY2" fmla="*/ 335437 h 670873"/>
                  <a:gd name="connsiteX3" fmla="*/ 335437 w 670873"/>
                  <a:gd name="connsiteY3" fmla="*/ 670874 h 670873"/>
                  <a:gd name="connsiteX4" fmla="*/ 0 w 670873"/>
                  <a:gd name="connsiteY4" fmla="*/ 335437 h 670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0873" h="670873">
                    <a:moveTo>
                      <a:pt x="0" y="335437"/>
                    </a:moveTo>
                    <a:cubicBezTo>
                      <a:pt x="0" y="150180"/>
                      <a:pt x="150180" y="0"/>
                      <a:pt x="335437" y="0"/>
                    </a:cubicBezTo>
                    <a:cubicBezTo>
                      <a:pt x="520694" y="0"/>
                      <a:pt x="670874" y="150180"/>
                      <a:pt x="670874" y="335437"/>
                    </a:cubicBezTo>
                    <a:cubicBezTo>
                      <a:pt x="670874" y="520694"/>
                      <a:pt x="520694" y="670874"/>
                      <a:pt x="335437" y="670874"/>
                    </a:cubicBezTo>
                    <a:cubicBezTo>
                      <a:pt x="150180" y="670874"/>
                      <a:pt x="0" y="520694"/>
                      <a:pt x="0" y="3354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non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cs typeface="+mn-ea"/>
                    <a:sym typeface="+mn-lt"/>
                  </a:rPr>
                  <a:t>3</a:t>
                </a:r>
                <a:endParaRPr b="1" dirty="0">
                  <a:cs typeface="+mn-ea"/>
                  <a:sym typeface="+mn-lt"/>
                </a:endParaRPr>
              </a:p>
            </p:txBody>
          </p:sp>
          <p:sp>
            <p:nvSpPr>
              <p:cNvPr id="35" name="Text3"/>
              <p:cNvSpPr txBox="1"/>
              <p:nvPr/>
            </p:nvSpPr>
            <p:spPr>
              <a:xfrm>
                <a:off x="5340316" y="3975458"/>
                <a:ext cx="3030110" cy="164336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analyzes logs focuses on errors, warnings, and semantic clues</a:t>
                </a:r>
                <a:endParaRPr lang="en-US" dirty="0"/>
              </a:p>
            </p:txBody>
          </p:sp>
          <p:sp>
            <p:nvSpPr>
              <p:cNvPr id="36" name="Bullet3"/>
              <p:cNvSpPr txBox="1"/>
              <p:nvPr/>
            </p:nvSpPr>
            <p:spPr>
              <a:xfrm>
                <a:off x="5340316" y="3442408"/>
                <a:ext cx="3030110" cy="5330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Log Expert</a:t>
                </a:r>
                <a:endParaRPr lang="en-US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7923643" y="3824609"/>
              <a:ext cx="3595257" cy="2176417"/>
              <a:chOff x="8442268" y="3437544"/>
              <a:chExt cx="3595257" cy="2176417"/>
            </a:xfrm>
          </p:grpSpPr>
          <p:sp>
            <p:nvSpPr>
              <p:cNvPr id="31" name="Number4"/>
              <p:cNvSpPr/>
              <p:nvPr/>
            </p:nvSpPr>
            <p:spPr>
              <a:xfrm>
                <a:off x="8442268" y="3437544"/>
                <a:ext cx="493756" cy="493754"/>
              </a:xfrm>
              <a:custGeom>
                <a:avLst/>
                <a:gdLst>
                  <a:gd name="connsiteX0" fmla="*/ 0 w 670873"/>
                  <a:gd name="connsiteY0" fmla="*/ 335437 h 670873"/>
                  <a:gd name="connsiteX1" fmla="*/ 335437 w 670873"/>
                  <a:gd name="connsiteY1" fmla="*/ 0 h 670873"/>
                  <a:gd name="connsiteX2" fmla="*/ 670874 w 670873"/>
                  <a:gd name="connsiteY2" fmla="*/ 335437 h 670873"/>
                  <a:gd name="connsiteX3" fmla="*/ 335437 w 670873"/>
                  <a:gd name="connsiteY3" fmla="*/ 670874 h 670873"/>
                  <a:gd name="connsiteX4" fmla="*/ 0 w 670873"/>
                  <a:gd name="connsiteY4" fmla="*/ 335437 h 670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0873" h="670873">
                    <a:moveTo>
                      <a:pt x="0" y="335437"/>
                    </a:moveTo>
                    <a:cubicBezTo>
                      <a:pt x="0" y="150180"/>
                      <a:pt x="150180" y="0"/>
                      <a:pt x="335437" y="0"/>
                    </a:cubicBezTo>
                    <a:cubicBezTo>
                      <a:pt x="520694" y="0"/>
                      <a:pt x="670874" y="150180"/>
                      <a:pt x="670874" y="335437"/>
                    </a:cubicBezTo>
                    <a:cubicBezTo>
                      <a:pt x="670874" y="520694"/>
                      <a:pt x="520694" y="670874"/>
                      <a:pt x="335437" y="670874"/>
                    </a:cubicBezTo>
                    <a:cubicBezTo>
                      <a:pt x="150180" y="670874"/>
                      <a:pt x="0" y="520694"/>
                      <a:pt x="0" y="3354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non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cs typeface="+mn-ea"/>
                    <a:sym typeface="+mn-lt"/>
                  </a:rPr>
                  <a:t>4</a:t>
                </a:r>
                <a:endParaRPr b="1" dirty="0">
                  <a:cs typeface="+mn-ea"/>
                  <a:sym typeface="+mn-lt"/>
                </a:endParaRPr>
              </a:p>
            </p:txBody>
          </p:sp>
          <p:sp>
            <p:nvSpPr>
              <p:cNvPr id="32" name="Text4"/>
              <p:cNvSpPr txBox="1"/>
              <p:nvPr/>
            </p:nvSpPr>
            <p:spPr>
              <a:xfrm>
                <a:off x="9007415" y="3970594"/>
                <a:ext cx="3030110" cy="164336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integrates outputs from all experts generates final diagnosis</a:t>
                </a:r>
                <a:endParaRPr lang="en-US" dirty="0"/>
              </a:p>
            </p:txBody>
          </p:sp>
          <p:sp>
            <p:nvSpPr>
              <p:cNvPr id="33" name="Bullet4"/>
              <p:cNvSpPr txBox="1"/>
              <p:nvPr/>
            </p:nvSpPr>
            <p:spPr>
              <a:xfrm>
                <a:off x="9007415" y="3437544"/>
                <a:ext cx="3030110" cy="5330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Failure Localization Expert</a:t>
                </a:r>
                <a:endParaRPr 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LocaleXpert Analysis Agents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12</a:t>
            </a:fld>
            <a:endParaRPr lang="en-US"/>
          </a:p>
        </p:txBody>
      </p:sp>
      <p:sp>
        <p:nvSpPr>
          <p:cNvPr id="45" name="image"/>
          <p:cNvSpPr/>
          <p:nvPr/>
        </p:nvSpPr>
        <p:spPr>
          <a:xfrm>
            <a:off x="398238" y="2542715"/>
            <a:ext cx="3448050" cy="3762375"/>
          </a:xfrm>
          <a:prstGeom prst="roundRect">
            <a:avLst>
              <a:gd name="adj" fmla="val 100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ctr">
              <a:lnSpc>
                <a:spcPct val="100000"/>
              </a:lnSpc>
            </a:pPr>
            <a:r>
              <a:rPr lang="zh-CN" altLang="en-US" sz="4400" b="1" baseline="0" dirty="0">
                <a:solidFill>
                  <a:schemeClr val="accent1"/>
                </a:solidFill>
              </a:rPr>
              <a:t> EXPERIMENT</a:t>
            </a:r>
            <a:r>
              <a:rPr lang="en-US" altLang="zh-CN" sz="4400" b="1" baseline="0" dirty="0">
                <a:solidFill>
                  <a:schemeClr val="accent1"/>
                </a:solidFill>
              </a:rPr>
              <a:t> </a:t>
            </a:r>
            <a:r>
              <a:rPr lang="zh-CN" altLang="en-US" sz="4400" b="1" baseline="0" dirty="0">
                <a:solidFill>
                  <a:schemeClr val="accent1"/>
                </a:solidFill>
              </a:rPr>
              <a:t>Components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80cc5d80-a764-4939-8654-c8a6e0fb501c.source.2.zh-Hans.pptx"/>
          <p:cNvGrpSpPr/>
          <p:nvPr/>
        </p:nvGrpSpPr>
        <p:grpSpPr>
          <a:xfrm>
            <a:off x="660400" y="1130301"/>
            <a:ext cx="10858500" cy="4920902"/>
            <a:chOff x="660400" y="1130301"/>
            <a:chExt cx="10858500" cy="4920902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660400" y="4002682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660400" y="1871264"/>
              <a:ext cx="6022340" cy="1924826"/>
              <a:chOff x="660400" y="1871264"/>
              <a:chExt cx="6022340" cy="1924826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1280160" y="1969714"/>
                <a:ext cx="5402580" cy="1826376"/>
                <a:chOff x="772160" y="1969714"/>
                <a:chExt cx="5402580" cy="1826376"/>
              </a:xfrm>
            </p:grpSpPr>
            <p:sp>
              <p:nvSpPr>
                <p:cNvPr id="3" name="Text1"/>
                <p:cNvSpPr txBox="1"/>
                <p:nvPr/>
              </p:nvSpPr>
              <p:spPr>
                <a:xfrm>
                  <a:off x="772160" y="2515212"/>
                  <a:ext cx="5402580" cy="1280878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Evaluate whether LocaleXpert can accurately identify: root cause services, root cause instances, root cause metrics.</a:t>
                  </a:r>
                  <a:endParaRPr lang="en-US" dirty="0"/>
                </a:p>
              </p:txBody>
            </p:sp>
            <p:sp>
              <p:nvSpPr>
                <p:cNvPr id="4" name="Bullet1"/>
                <p:cNvSpPr txBox="1"/>
                <p:nvPr/>
              </p:nvSpPr>
              <p:spPr>
                <a:xfrm>
                  <a:off x="772160" y="1969714"/>
                  <a:ext cx="5402580" cy="54549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Failure Localization Performance</a:t>
                  </a:r>
                  <a:endParaRPr lang="en-US" dirty="0"/>
                </a:p>
              </p:txBody>
            </p:sp>
          </p:grpSp>
          <p:sp>
            <p:nvSpPr>
              <p:cNvPr id="10" name="Number1"/>
              <p:cNvSpPr/>
              <p:nvPr/>
            </p:nvSpPr>
            <p:spPr>
              <a:xfrm>
                <a:off x="660400" y="1871264"/>
                <a:ext cx="579121" cy="7423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 fontScale="92500" lnSpcReduction="2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sz="4800" dirty="0">
                    <a:solidFill>
                      <a:schemeClr val="accent1"/>
                    </a:solidFill>
                  </a:rPr>
                  <a:t>1</a:t>
                </a:r>
                <a:endParaRPr lang="zh-CN" altLang="en-US" sz="4800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7" name="Title"/>
            <p:cNvSpPr/>
            <p:nvPr/>
          </p:nvSpPr>
          <p:spPr>
            <a:xfrm>
              <a:off x="660400" y="1130301"/>
              <a:ext cx="10858500" cy="675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Systematic Evaluation of LocaleXpert</a:t>
              </a:r>
              <a:endParaRPr lang="en-US" dirty="0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5297604" y="4126377"/>
              <a:ext cx="6022340" cy="1924826"/>
              <a:chOff x="660400" y="1871264"/>
              <a:chExt cx="6022340" cy="1924826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1280160" y="1969714"/>
                <a:ext cx="5402580" cy="1826376"/>
                <a:chOff x="772160" y="1969714"/>
                <a:chExt cx="5402580" cy="1826376"/>
              </a:xfrm>
            </p:grpSpPr>
            <p:sp>
              <p:nvSpPr>
                <p:cNvPr id="24" name="Text2"/>
                <p:cNvSpPr txBox="1"/>
                <p:nvPr/>
              </p:nvSpPr>
              <p:spPr>
                <a:xfrm>
                  <a:off x="772160" y="2515212"/>
                  <a:ext cx="5402580" cy="1280878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Evaluate the quality of explanations generated by: Log Expert, Metric Expert, Trace Expert. Focus on: clarity, reasoning quality, interpretability, usefulness for operators.</a:t>
                  </a:r>
                  <a:endParaRPr lang="en-US" dirty="0"/>
                </a:p>
              </p:txBody>
            </p:sp>
            <p:sp>
              <p:nvSpPr>
                <p:cNvPr id="25" name="Bullet2"/>
                <p:cNvSpPr txBox="1"/>
                <p:nvPr/>
              </p:nvSpPr>
              <p:spPr>
                <a:xfrm>
                  <a:off x="772160" y="1969714"/>
                  <a:ext cx="5402580" cy="54549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Reasoning Interpretability</a:t>
                  </a:r>
                  <a:endParaRPr lang="en-US" dirty="0"/>
                </a:p>
              </p:txBody>
            </p:sp>
          </p:grpSp>
          <p:sp>
            <p:nvSpPr>
              <p:cNvPr id="23" name="Number2"/>
              <p:cNvSpPr/>
              <p:nvPr/>
            </p:nvSpPr>
            <p:spPr>
              <a:xfrm>
                <a:off x="660400" y="1871264"/>
                <a:ext cx="579121" cy="7423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 fontScale="92500" lnSpcReduction="2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sz="4800" dirty="0">
                    <a:solidFill>
                      <a:schemeClr val="accent1">
                        <a:lumMod val="100000"/>
                      </a:schemeClr>
                    </a:solidFill>
                  </a:rPr>
                  <a:t>2</a:t>
                </a:r>
                <a:endParaRPr lang="zh-CN" altLang="en-US" sz="4800" dirty="0">
                  <a:solidFill>
                    <a:schemeClr val="accent1">
                      <a:lumMod val="100000"/>
                    </a:schemeClr>
                  </a:solidFill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Experimental Evaluation Objectives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14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4f2a26cf-8e24-4fe5-97e7-2e245b41b5d3.source.2.zh-Hans.pptx"/>
          <p:cNvGrpSpPr/>
          <p:nvPr/>
        </p:nvGrpSpPr>
        <p:grpSpPr>
          <a:xfrm>
            <a:off x="660399" y="1130300"/>
            <a:ext cx="11146771" cy="5003800"/>
            <a:chOff x="660399" y="1130300"/>
            <a:chExt cx="11146771" cy="5003800"/>
          </a:xfrm>
        </p:grpSpPr>
        <p:sp>
          <p:nvSpPr>
            <p:cNvPr id="11" name="Title"/>
            <p:cNvSpPr/>
            <p:nvPr/>
          </p:nvSpPr>
          <p:spPr>
            <a:xfrm>
              <a:off x="660400" y="1130300"/>
              <a:ext cx="10858500" cy="9023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Systematic evaluation of component contributions and practical deployment constraints</a:t>
              </a:r>
              <a:endParaRPr lang="en-US" dirty="0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60399" y="2032681"/>
              <a:ext cx="11146771" cy="4101419"/>
              <a:chOff x="660399" y="2032681"/>
              <a:chExt cx="10864917" cy="4101419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666817" y="2032681"/>
                <a:ext cx="10858499" cy="1905594"/>
                <a:chOff x="660400" y="2221657"/>
                <a:chExt cx="11786341" cy="1863563"/>
              </a:xfrm>
            </p:grpSpPr>
            <p:sp>
              <p:nvSpPr>
                <p:cNvPr id="5" name="矩形: 圆角 4"/>
                <p:cNvSpPr/>
                <p:nvPr/>
              </p:nvSpPr>
              <p:spPr>
                <a:xfrm>
                  <a:off x="660400" y="2221657"/>
                  <a:ext cx="11786341" cy="1863563"/>
                </a:xfrm>
                <a:prstGeom prst="roundRect">
                  <a:avLst>
                    <a:gd name="adj" fmla="val 0"/>
                  </a:avLst>
                </a:prstGeom>
                <a:ln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  <p:grpSp>
              <p:nvGrpSpPr>
                <p:cNvPr id="12" name="组合 11"/>
                <p:cNvGrpSpPr/>
                <p:nvPr/>
              </p:nvGrpSpPr>
              <p:grpSpPr>
                <a:xfrm>
                  <a:off x="1377048" y="2282504"/>
                  <a:ext cx="10945108" cy="1725849"/>
                  <a:chOff x="1377048" y="2276013"/>
                  <a:chExt cx="10945108" cy="1725849"/>
                </a:xfrm>
              </p:grpSpPr>
              <p:sp>
                <p:nvSpPr>
                  <p:cNvPr id="3" name="Text1"/>
                  <p:cNvSpPr txBox="1"/>
                  <p:nvPr/>
                </p:nvSpPr>
                <p:spPr>
                  <a:xfrm>
                    <a:off x="1377049" y="2876323"/>
                    <a:ext cx="10945106" cy="112553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Analyze the contribution of key components by removing them individually: Anomaly Description Module, External Failure Localization Module, Interpretation Module. Measure how each module affects overall performance.</a:t>
                    </a:r>
                    <a:endParaRPr lang="en-US" dirty="0"/>
                  </a:p>
                </p:txBody>
              </p:sp>
              <p:sp>
                <p:nvSpPr>
                  <p:cNvPr id="4" name="Bullet1"/>
                  <p:cNvSpPr txBox="1"/>
                  <p:nvPr/>
                </p:nvSpPr>
                <p:spPr>
                  <a:xfrm>
                    <a:off x="1377048" y="2276013"/>
                    <a:ext cx="10945108" cy="6003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Ablation Study</a:t>
                    </a:r>
                    <a:endParaRPr lang="en-US" dirty="0"/>
                  </a:p>
                </p:txBody>
              </p:sp>
            </p:grpSp>
            <p:sp>
              <p:nvSpPr>
                <p:cNvPr id="10" name="Number1"/>
                <p:cNvSpPr/>
                <p:nvPr/>
              </p:nvSpPr>
              <p:spPr>
                <a:xfrm>
                  <a:off x="738067" y="2370580"/>
                  <a:ext cx="561313" cy="156571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/>
                </a:bodyPr>
                <a:lstStyle/>
                <a:p>
                  <a:pPr marL="0" marR="0" lvl="0" indent="0" algn="ctr"/>
                  <a:r>
                    <a:rPr lang="zh-CN" altLang="en-US" sz="6000" baseline="0" dirty="0">
                      <a:solidFill>
                        <a:schemeClr val="accent1"/>
                      </a:solidFill>
                      <a:latin typeface="Arial" panose="020B0604020202020204"/>
                      <a:ea typeface="Arial" panose="020B0604020202020204"/>
                    </a:rPr>
                    <a:t>3</a:t>
                  </a:r>
                  <a:endParaRPr lang="zh-CN" altLang="en-US" dirty="0"/>
                </a:p>
              </p:txBody>
            </p:sp>
          </p:grpSp>
          <p:grpSp>
            <p:nvGrpSpPr>
              <p:cNvPr id="2" name="组合 1"/>
              <p:cNvGrpSpPr/>
              <p:nvPr/>
            </p:nvGrpSpPr>
            <p:grpSpPr>
              <a:xfrm>
                <a:off x="660399" y="4228506"/>
                <a:ext cx="10858500" cy="1905594"/>
                <a:chOff x="660399" y="2221657"/>
                <a:chExt cx="11786342" cy="1863563"/>
              </a:xfrm>
            </p:grpSpPr>
            <p:sp>
              <p:nvSpPr>
                <p:cNvPr id="6" name="矩形: 圆角 5"/>
                <p:cNvSpPr/>
                <p:nvPr/>
              </p:nvSpPr>
              <p:spPr>
                <a:xfrm>
                  <a:off x="660399" y="2221657"/>
                  <a:ext cx="11786342" cy="1863563"/>
                </a:xfrm>
                <a:prstGeom prst="roundRect">
                  <a:avLst>
                    <a:gd name="adj" fmla="val 0"/>
                  </a:avLst>
                </a:prstGeom>
                <a:ln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/>
                </a:p>
              </p:txBody>
            </p:sp>
            <p:grpSp>
              <p:nvGrpSpPr>
                <p:cNvPr id="7" name="组合 6"/>
                <p:cNvGrpSpPr/>
                <p:nvPr/>
              </p:nvGrpSpPr>
              <p:grpSpPr>
                <a:xfrm>
                  <a:off x="1377048" y="2282504"/>
                  <a:ext cx="10945108" cy="1725849"/>
                  <a:chOff x="1377048" y="2276013"/>
                  <a:chExt cx="10945108" cy="1725849"/>
                </a:xfrm>
              </p:grpSpPr>
              <p:sp>
                <p:nvSpPr>
                  <p:cNvPr id="9" name="Text2"/>
                  <p:cNvSpPr txBox="1"/>
                  <p:nvPr/>
                </p:nvSpPr>
                <p:spPr>
                  <a:xfrm>
                    <a:off x="1377048" y="2876323"/>
                    <a:ext cx="10945107" cy="112553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Evaluate the trade-off between: model size, inference latency, diagnostic performance. Compare different LLM scales to support practical deployment decisions.</a:t>
                    </a:r>
                    <a:endParaRPr lang="en-US" dirty="0"/>
                  </a:p>
                </p:txBody>
              </p:sp>
              <p:sp>
                <p:nvSpPr>
                  <p:cNvPr id="14" name="Bullet2"/>
                  <p:cNvSpPr txBox="1"/>
                  <p:nvPr/>
                </p:nvSpPr>
                <p:spPr>
                  <a:xfrm>
                    <a:off x="1377048" y="2276013"/>
                    <a:ext cx="10945108" cy="6003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Deployment Trade-off Analysis</a:t>
                    </a:r>
                    <a:endParaRPr lang="en-US" dirty="0"/>
                  </a:p>
                </p:txBody>
              </p:sp>
            </p:grpSp>
            <p:sp>
              <p:nvSpPr>
                <p:cNvPr id="8" name="Number2"/>
                <p:cNvSpPr/>
                <p:nvPr/>
              </p:nvSpPr>
              <p:spPr>
                <a:xfrm>
                  <a:off x="738067" y="2370580"/>
                  <a:ext cx="561313" cy="156571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rmAutofit/>
                </a:bodyPr>
                <a:lstStyle/>
                <a:p>
                  <a:pPr marL="0" marR="0" lvl="0" indent="0" algn="ctr"/>
                  <a:r>
                    <a:rPr lang="zh-CN" altLang="en-US" sz="6000" baseline="0" dirty="0">
                      <a:solidFill>
                        <a:schemeClr val="accent1"/>
                      </a:solidFill>
                      <a:latin typeface="Arial" panose="020B0604020202020204"/>
                      <a:ea typeface="Arial" panose="020B0604020202020204"/>
                    </a:rPr>
                    <a:t>4</a:t>
                  </a:r>
                  <a:endParaRPr lang="zh-CN" altLang="en-US" dirty="0"/>
                </a:p>
              </p:txBody>
            </p:sp>
          </p:grpSp>
        </p:grpSp>
      </p:grp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Ablation and Deployment Trade-off Analysis</a:t>
            </a:r>
            <a:endParaRPr lang="en-US" dirty="0"/>
          </a:p>
        </p:txBody>
      </p:sp>
      <p:sp>
        <p:nvSpPr>
          <p:cNvPr id="18" name="日期占位符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15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2c2b8d33-ec3a-4902-b3bc-d845a734e9b4.source.2.zh-Hans.pptx"/>
          <p:cNvGrpSpPr/>
          <p:nvPr/>
        </p:nvGrpSpPr>
        <p:grpSpPr>
          <a:xfrm>
            <a:off x="660400" y="1063625"/>
            <a:ext cx="10861256" cy="5053410"/>
            <a:chOff x="660400" y="1130300"/>
            <a:chExt cx="10861256" cy="5053410"/>
          </a:xfrm>
        </p:grpSpPr>
        <p:sp>
          <p:nvSpPr>
            <p:cNvPr id="2" name="Title"/>
            <p:cNvSpPr/>
            <p:nvPr/>
          </p:nvSpPr>
          <p:spPr>
            <a:xfrm>
              <a:off x="660400" y="1130300"/>
              <a:ext cx="10858500" cy="609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LocaleXpert is evaluated on two large-scale multi-modal AIOps datasets</a:t>
              </a:r>
              <a:endParaRPr lang="en-US" dirty="0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660400" y="1926336"/>
              <a:ext cx="5216144" cy="4207765"/>
              <a:chOff x="660400" y="1926336"/>
              <a:chExt cx="5216144" cy="4207765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717764" y="2025906"/>
                <a:ext cx="5101416" cy="3522351"/>
                <a:chOff x="3309979" y="3520824"/>
                <a:chExt cx="5803327" cy="2350019"/>
              </a:xfrm>
            </p:grpSpPr>
            <p:sp>
              <p:nvSpPr>
                <p:cNvPr id="3" name="Text1"/>
                <p:cNvSpPr txBox="1"/>
                <p:nvPr/>
              </p:nvSpPr>
              <p:spPr>
                <a:xfrm>
                  <a:off x="3309979" y="3880595"/>
                  <a:ext cx="5803327" cy="1990248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Generic AIOps Atlas Dataset (GAIA) Collected from CloudWise based on the MicroSS business simulation system. Dataset Statistics Microservices: 5 Instances: 10 Logs: 87.9M+ Metrics: 0.73M+ Traces: 28.6M+ Failure Types Includes five representative failure categories: system stuck process crash login failure file missing access denied</a:t>
                  </a:r>
                  <a:endParaRPr lang="en-US" dirty="0"/>
                </a:p>
              </p:txBody>
            </p:sp>
            <p:sp>
              <p:nvSpPr>
                <p:cNvPr id="4" name="Bullet1"/>
                <p:cNvSpPr txBox="1"/>
                <p:nvPr/>
              </p:nvSpPr>
              <p:spPr>
                <a:xfrm>
                  <a:off x="3309979" y="3520824"/>
                  <a:ext cx="5803326" cy="35977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GAIA Dataset</a:t>
                  </a:r>
                  <a:endParaRPr lang="en-US" dirty="0"/>
                </a:p>
              </p:txBody>
            </p:sp>
          </p:grpSp>
          <p:sp>
            <p:nvSpPr>
              <p:cNvPr id="19" name="ComponentBackground1"/>
              <p:cNvSpPr/>
              <p:nvPr/>
            </p:nvSpPr>
            <p:spPr>
              <a:xfrm>
                <a:off x="660400" y="1926336"/>
                <a:ext cx="5216144" cy="4207765"/>
              </a:xfrm>
              <a:prstGeom prst="roundRect">
                <a:avLst>
                  <a:gd name="adj" fmla="val 2791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dirty="0"/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5469699" y="5763251"/>
                <a:ext cx="236179" cy="236179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b="1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5293160" y="5763249"/>
                <a:ext cx="236179" cy="236179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b="1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3995880" y="1926299"/>
              <a:ext cx="7525776" cy="4257411"/>
              <a:chOff x="-1706596" y="2025906"/>
              <a:chExt cx="7525776" cy="4257411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717764" y="2025906"/>
                <a:ext cx="5101416" cy="3522351"/>
                <a:chOff x="3309979" y="3520824"/>
                <a:chExt cx="5803327" cy="2350019"/>
              </a:xfrm>
            </p:grpSpPr>
            <p:sp>
              <p:nvSpPr>
                <p:cNvPr id="21" name="Text2"/>
                <p:cNvSpPr txBox="1"/>
                <p:nvPr/>
              </p:nvSpPr>
              <p:spPr>
                <a:xfrm>
                  <a:off x="3309979" y="3880595"/>
                  <a:ext cx="5803327" cy="1990248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Collected from a real-world e-commerce microservice system deployed on CCB Cloud. Traffic patterns follow real production business workloads. Dataset Statistics Microservices: 10 Instances: 40 Logs: 26.0M+ Metrics: 18.5M+ Traces: 44.8M+ Failure Types Includes 15 real-world failures, such as: Resource Failures CPU failure memory failure disk failure Network Failures packet loss network latency Application Failures process termination service interruption</a:t>
                  </a:r>
                  <a:endParaRPr lang="en-US" dirty="0"/>
                </a:p>
              </p:txBody>
            </p:sp>
            <p:sp>
              <p:nvSpPr>
                <p:cNvPr id="22" name="Bullet2"/>
                <p:cNvSpPr txBox="1"/>
                <p:nvPr/>
              </p:nvSpPr>
              <p:spPr>
                <a:xfrm>
                  <a:off x="3309979" y="3520824"/>
                  <a:ext cx="5803326" cy="35977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CCB Cloud Dataset</a:t>
                  </a:r>
                  <a:endParaRPr lang="en-US" dirty="0"/>
                </a:p>
              </p:txBody>
            </p:sp>
          </p:grpSp>
          <p:sp>
            <p:nvSpPr>
              <p:cNvPr id="16" name="ComponentBackground2"/>
              <p:cNvSpPr/>
              <p:nvPr/>
            </p:nvSpPr>
            <p:spPr>
              <a:xfrm>
                <a:off x="-1706596" y="4305513"/>
                <a:ext cx="3525021" cy="1977804"/>
              </a:xfrm>
              <a:prstGeom prst="roundRect">
                <a:avLst>
                  <a:gd name="adj" fmla="val 2791"/>
                </a:avLst>
              </a:prstGeom>
              <a:blipFill>
                <a:blip r:embed="rId3"/>
                <a:stretch>
                  <a:fillRect l="-950" r="-950"/>
                </a:stretch>
              </a:blip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dirty="0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5469699" y="5763251"/>
                <a:ext cx="236179" cy="236179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b="1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5293160" y="5763249"/>
                <a:ext cx="236179" cy="236179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b="1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Evaluation Datasets</a:t>
            </a:r>
            <a:endParaRPr 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16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506dc21b-7223-4111-bdc1-7d2b884b41ff.source.2.zh-Hans.pptx"/>
          <p:cNvGrpSpPr/>
          <p:nvPr/>
        </p:nvGrpSpPr>
        <p:grpSpPr>
          <a:xfrm>
            <a:off x="660400" y="1130301"/>
            <a:ext cx="10858500" cy="5003799"/>
            <a:chOff x="660400" y="1130301"/>
            <a:chExt cx="10858500" cy="5003799"/>
          </a:xfrm>
        </p:grpSpPr>
        <p:sp>
          <p:nvSpPr>
            <p:cNvPr id="3" name="Title"/>
            <p:cNvSpPr>
              <a:spLocks noChangeAspect="1"/>
            </p:cNvSpPr>
            <p:nvPr/>
          </p:nvSpPr>
          <p:spPr>
            <a:xfrm>
              <a:off x="660400" y="1130301"/>
              <a:ext cx="10858500" cy="736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Comparative overview of traditional and LLM-based approaches for root cause identification</a:t>
              </a:r>
              <a:endParaRPr lang="en-US" dirty="0"/>
            </a:p>
          </p:txBody>
        </p:sp>
        <p:sp>
          <p:nvSpPr>
            <p:cNvPr id="4" name="矩形: 圆角 5"/>
            <p:cNvSpPr/>
            <p:nvPr/>
          </p:nvSpPr>
          <p:spPr>
            <a:xfrm>
              <a:off x="660400" y="2562826"/>
              <a:ext cx="5281980" cy="3571274"/>
            </a:xfrm>
            <a:prstGeom prst="roundRect">
              <a:avLst>
                <a:gd name="adj" fmla="val 4413"/>
              </a:avLst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: 圆角 5"/>
            <p:cNvSpPr/>
            <p:nvPr/>
          </p:nvSpPr>
          <p:spPr>
            <a:xfrm>
              <a:off x="6236920" y="2562826"/>
              <a:ext cx="5281980" cy="3571274"/>
            </a:xfrm>
            <a:prstGeom prst="roundRect">
              <a:avLst>
                <a:gd name="adj" fmla="val 4413"/>
              </a:avLst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 panose="020B0604020202020204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729012" y="2119973"/>
              <a:ext cx="5144754" cy="3917572"/>
              <a:chOff x="729012" y="2119973"/>
              <a:chExt cx="5144754" cy="3917572"/>
            </a:xfrm>
          </p:grpSpPr>
          <p:sp>
            <p:nvSpPr>
              <p:cNvPr id="9" name="Bullet1"/>
              <p:cNvSpPr/>
              <p:nvPr/>
            </p:nvSpPr>
            <p:spPr>
              <a:xfrm>
                <a:off x="729012" y="3048000"/>
                <a:ext cx="5144754" cy="519153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Traditional Failure Localization Methods</a:t>
                </a:r>
                <a:endParaRPr lang="en-US" dirty="0"/>
              </a:p>
            </p:txBody>
          </p:sp>
          <p:sp>
            <p:nvSpPr>
              <p:cNvPr id="10" name="Text1"/>
              <p:cNvSpPr txBox="1"/>
              <p:nvPr/>
            </p:nvSpPr>
            <p:spPr>
              <a:xfrm>
                <a:off x="729012" y="3567153"/>
                <a:ext cx="5144754" cy="2470392"/>
              </a:xfrm>
              <a:prstGeom prst="rect">
                <a:avLst/>
              </a:prstGeom>
              <a:noFill/>
              <a:effectLst/>
            </p:spPr>
            <p:txBody>
              <a:bodyPr wrap="square" rtlCol="0" anchor="t" anchorCtr="0">
                <a:normAutofit fontScale="91670"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050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marL="0" marR="0" lvl="0" indent="0" algn="l">
                  <a:lnSpc>
                    <a:spcPct val="120000"/>
                  </a:lnSpc>
                </a:pPr>
                <a:r>
                  <a:rPr lang="zh-CN" altLang="en-US" sz="1200" b="1" baseline="0" dirty="0">
                    <a:solidFill>
                      <a:schemeClr val="tx1"/>
                    </a:solidFill>
                  </a:rPr>
                  <a:t>Eadro</a:t>
                </a:r>
                <a:r>
                  <a:rPr lang="zh-CN" altLang="en-US" sz="1200" baseline="0" dirty="0">
                    <a:solidFill>
                      <a:schemeClr val="tx1"/>
                    </a:solidFill>
                  </a:rPr>
                  <a:t>: Uses logs, metrics, and traces together for failure localization. Combines anomaly detection with root cause localization. Applies multi-modal fusion strategies. Uses Graph Attention Network (GAT) to model dependencies across monitoring data. </a:t>
                </a:r>
                <a:endParaRPr lang="zh-CN" altLang="en-US" dirty="0"/>
              </a:p>
              <a:p>
                <a:pPr marL="0" marR="0" lvl="0" indent="0" algn="l">
                  <a:lnSpc>
                    <a:spcPct val="120000"/>
                  </a:lnSpc>
                </a:pPr>
                <a:r>
                  <a:rPr lang="zh-CN" altLang="en-US" sz="1200" b="1" baseline="0" dirty="0">
                    <a:solidFill>
                      <a:schemeClr val="tx1"/>
                    </a:solidFill>
                  </a:rPr>
                  <a:t>DiagFusion</a:t>
                </a:r>
                <a:r>
                  <a:rPr lang="zh-CN" altLang="en-US" sz="1200" baseline="0" dirty="0">
                    <a:solidFill>
                      <a:schemeClr val="tx1"/>
                    </a:solidFill>
                  </a:rPr>
                  <a:t>: Incorporates CMDB information, traces, and deployment data. Builds dependency graphs between services. Encodes events into vector representations. Uses Graph Neural Network (GNN) for failure localization. </a:t>
                </a:r>
                <a:endParaRPr lang="zh-CN" altLang="en-US" dirty="0"/>
              </a:p>
              <a:p>
                <a:pPr marL="0" marR="0" lvl="0" indent="0" algn="l">
                  <a:lnSpc>
                    <a:spcPct val="120000"/>
                  </a:lnSpc>
                </a:pPr>
                <a:r>
                  <a:rPr lang="zh-CN" altLang="en-US" sz="1200" b="1" baseline="0" dirty="0">
                    <a:solidFill>
                      <a:schemeClr val="tx1"/>
                    </a:solidFill>
                  </a:rPr>
                  <a:t>PDiagnose</a:t>
                </a:r>
                <a:r>
                  <a:rPr lang="zh-CN" altLang="en-US" sz="1200" baseline="0" dirty="0">
                    <a:solidFill>
                      <a:schemeClr val="tx1"/>
                    </a:solidFill>
                  </a:rPr>
                  <a:t>: Performs anomaly detection separately on each data modality. Builds an anomaly microservice queue. Uses a voting mechanism to identify the final root cause.</a:t>
                </a:r>
                <a:endParaRPr lang="zh-CN" altLang="en-US" dirty="0"/>
              </a:p>
            </p:txBody>
          </p:sp>
          <p:sp>
            <p:nvSpPr>
              <p:cNvPr id="7" name="IconBackground1"/>
              <p:cNvSpPr/>
              <p:nvPr/>
            </p:nvSpPr>
            <p:spPr>
              <a:xfrm>
                <a:off x="2841776" y="2119973"/>
                <a:ext cx="900000" cy="900000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endParaRPr lang="zh-C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Icon1"/>
              <p:cNvSpPr/>
              <p:nvPr/>
            </p:nvSpPr>
            <p:spPr>
              <a:xfrm flipH="1">
                <a:off x="3153857" y="2376810"/>
                <a:ext cx="308067" cy="341896"/>
              </a:xfrm>
              <a:custGeom>
                <a:avLst/>
                <a:gdLst>
                  <a:gd name="T0" fmla="*/ 10558 w 11535"/>
                  <a:gd name="T1" fmla="*/ 0 h 12800"/>
                  <a:gd name="T2" fmla="*/ 977 w 11535"/>
                  <a:gd name="T3" fmla="*/ 0 h 12800"/>
                  <a:gd name="T4" fmla="*/ 0 w 11535"/>
                  <a:gd name="T5" fmla="*/ 977 h 12800"/>
                  <a:gd name="T6" fmla="*/ 0 w 11535"/>
                  <a:gd name="T7" fmla="*/ 11823 h 12800"/>
                  <a:gd name="T8" fmla="*/ 977 w 11535"/>
                  <a:gd name="T9" fmla="*/ 12800 h 12800"/>
                  <a:gd name="T10" fmla="*/ 10558 w 11535"/>
                  <a:gd name="T11" fmla="*/ 12800 h 12800"/>
                  <a:gd name="T12" fmla="*/ 11535 w 11535"/>
                  <a:gd name="T13" fmla="*/ 11823 h 12800"/>
                  <a:gd name="T14" fmla="*/ 11535 w 11535"/>
                  <a:gd name="T15" fmla="*/ 977 h 12800"/>
                  <a:gd name="T16" fmla="*/ 10558 w 11535"/>
                  <a:gd name="T17" fmla="*/ 0 h 12800"/>
                  <a:gd name="T18" fmla="*/ 6591 w 11535"/>
                  <a:gd name="T19" fmla="*/ 10544 h 12800"/>
                  <a:gd name="T20" fmla="*/ 1463 w 11535"/>
                  <a:gd name="T21" fmla="*/ 10544 h 12800"/>
                  <a:gd name="T22" fmla="*/ 1197 w 11535"/>
                  <a:gd name="T23" fmla="*/ 10278 h 12800"/>
                  <a:gd name="T24" fmla="*/ 1463 w 11535"/>
                  <a:gd name="T25" fmla="*/ 10012 h 12800"/>
                  <a:gd name="T26" fmla="*/ 6591 w 11535"/>
                  <a:gd name="T27" fmla="*/ 10012 h 12800"/>
                  <a:gd name="T28" fmla="*/ 6857 w 11535"/>
                  <a:gd name="T29" fmla="*/ 10278 h 12800"/>
                  <a:gd name="T30" fmla="*/ 6591 w 11535"/>
                  <a:gd name="T31" fmla="*/ 10544 h 12800"/>
                  <a:gd name="T32" fmla="*/ 6591 w 11535"/>
                  <a:gd name="T33" fmla="*/ 7859 h 12800"/>
                  <a:gd name="T34" fmla="*/ 1463 w 11535"/>
                  <a:gd name="T35" fmla="*/ 7859 h 12800"/>
                  <a:gd name="T36" fmla="*/ 1197 w 11535"/>
                  <a:gd name="T37" fmla="*/ 7593 h 12800"/>
                  <a:gd name="T38" fmla="*/ 1463 w 11535"/>
                  <a:gd name="T39" fmla="*/ 7327 h 12800"/>
                  <a:gd name="T40" fmla="*/ 6591 w 11535"/>
                  <a:gd name="T41" fmla="*/ 7327 h 12800"/>
                  <a:gd name="T42" fmla="*/ 6857 w 11535"/>
                  <a:gd name="T43" fmla="*/ 7593 h 12800"/>
                  <a:gd name="T44" fmla="*/ 6591 w 11535"/>
                  <a:gd name="T45" fmla="*/ 7859 h 12800"/>
                  <a:gd name="T46" fmla="*/ 6591 w 11535"/>
                  <a:gd name="T47" fmla="*/ 5175 h 12800"/>
                  <a:gd name="T48" fmla="*/ 1463 w 11535"/>
                  <a:gd name="T49" fmla="*/ 5175 h 12800"/>
                  <a:gd name="T50" fmla="*/ 1197 w 11535"/>
                  <a:gd name="T51" fmla="*/ 4909 h 12800"/>
                  <a:gd name="T52" fmla="*/ 1463 w 11535"/>
                  <a:gd name="T53" fmla="*/ 4642 h 12800"/>
                  <a:gd name="T54" fmla="*/ 6591 w 11535"/>
                  <a:gd name="T55" fmla="*/ 4642 h 12800"/>
                  <a:gd name="T56" fmla="*/ 6857 w 11535"/>
                  <a:gd name="T57" fmla="*/ 4909 h 12800"/>
                  <a:gd name="T58" fmla="*/ 6591 w 11535"/>
                  <a:gd name="T59" fmla="*/ 5175 h 12800"/>
                  <a:gd name="T60" fmla="*/ 6591 w 11535"/>
                  <a:gd name="T61" fmla="*/ 2490 h 12800"/>
                  <a:gd name="T62" fmla="*/ 1463 w 11535"/>
                  <a:gd name="T63" fmla="*/ 2490 h 12800"/>
                  <a:gd name="T64" fmla="*/ 1197 w 11535"/>
                  <a:gd name="T65" fmla="*/ 2222 h 12800"/>
                  <a:gd name="T66" fmla="*/ 1463 w 11535"/>
                  <a:gd name="T67" fmla="*/ 1956 h 12800"/>
                  <a:gd name="T68" fmla="*/ 6591 w 11535"/>
                  <a:gd name="T69" fmla="*/ 1956 h 12800"/>
                  <a:gd name="T70" fmla="*/ 6857 w 11535"/>
                  <a:gd name="T71" fmla="*/ 2222 h 12800"/>
                  <a:gd name="T72" fmla="*/ 6591 w 11535"/>
                  <a:gd name="T73" fmla="*/ 2490 h 12800"/>
                  <a:gd name="T74" fmla="*/ 9620 w 11535"/>
                  <a:gd name="T75" fmla="*/ 8931 h 12800"/>
                  <a:gd name="T76" fmla="*/ 9611 w 11535"/>
                  <a:gd name="T77" fmla="*/ 8978 h 12800"/>
                  <a:gd name="T78" fmla="*/ 8945 w 11535"/>
                  <a:gd name="T79" fmla="*/ 10435 h 12800"/>
                  <a:gd name="T80" fmla="*/ 8865 w 11535"/>
                  <a:gd name="T81" fmla="*/ 10528 h 12800"/>
                  <a:gd name="T82" fmla="*/ 8742 w 11535"/>
                  <a:gd name="T83" fmla="*/ 10562 h 12800"/>
                  <a:gd name="T84" fmla="*/ 8543 w 11535"/>
                  <a:gd name="T85" fmla="*/ 10424 h 12800"/>
                  <a:gd name="T86" fmla="*/ 7959 w 11535"/>
                  <a:gd name="T87" fmla="*/ 8967 h 12800"/>
                  <a:gd name="T88" fmla="*/ 9620 w 11535"/>
                  <a:gd name="T89" fmla="*/ 8931 h 12800"/>
                  <a:gd name="T90" fmla="*/ 9620 w 11535"/>
                  <a:gd name="T91" fmla="*/ 8931 h 12800"/>
                  <a:gd name="T92" fmla="*/ 9638 w 11535"/>
                  <a:gd name="T93" fmla="*/ 8492 h 12800"/>
                  <a:gd name="T94" fmla="*/ 7924 w 11535"/>
                  <a:gd name="T95" fmla="*/ 8529 h 12800"/>
                  <a:gd name="T96" fmla="*/ 7895 w 11535"/>
                  <a:gd name="T97" fmla="*/ 4044 h 12800"/>
                  <a:gd name="T98" fmla="*/ 9712 w 11535"/>
                  <a:gd name="T99" fmla="*/ 4003 h 12800"/>
                  <a:gd name="T100" fmla="*/ 9638 w 11535"/>
                  <a:gd name="T101" fmla="*/ 8492 h 12800"/>
                  <a:gd name="T102" fmla="*/ 9722 w 11535"/>
                  <a:gd name="T103" fmla="*/ 3567 h 12800"/>
                  <a:gd name="T104" fmla="*/ 7902 w 11535"/>
                  <a:gd name="T105" fmla="*/ 3608 h 12800"/>
                  <a:gd name="T106" fmla="*/ 7918 w 11535"/>
                  <a:gd name="T107" fmla="*/ 3162 h 12800"/>
                  <a:gd name="T108" fmla="*/ 8188 w 11535"/>
                  <a:gd name="T109" fmla="*/ 2710 h 12800"/>
                  <a:gd name="T110" fmla="*/ 8479 w 11535"/>
                  <a:gd name="T111" fmla="*/ 2610 h 12800"/>
                  <a:gd name="T112" fmla="*/ 9242 w 11535"/>
                  <a:gd name="T113" fmla="*/ 2601 h 12800"/>
                  <a:gd name="T114" fmla="*/ 9306 w 11535"/>
                  <a:gd name="T115" fmla="*/ 2617 h 12800"/>
                  <a:gd name="T116" fmla="*/ 9726 w 11535"/>
                  <a:gd name="T117" fmla="*/ 3121 h 12800"/>
                  <a:gd name="T118" fmla="*/ 9722 w 11535"/>
                  <a:gd name="T119" fmla="*/ 3567 h 12800"/>
                  <a:gd name="T120" fmla="*/ 9722 w 11535"/>
                  <a:gd name="T121" fmla="*/ 3567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535" h="12800">
                    <a:moveTo>
                      <a:pt x="10558" y="0"/>
                    </a:moveTo>
                    <a:lnTo>
                      <a:pt x="977" y="0"/>
                    </a:lnTo>
                    <a:cubicBezTo>
                      <a:pt x="439" y="0"/>
                      <a:pt x="0" y="438"/>
                      <a:pt x="0" y="977"/>
                    </a:cubicBezTo>
                    <a:lnTo>
                      <a:pt x="0" y="11823"/>
                    </a:lnTo>
                    <a:cubicBezTo>
                      <a:pt x="0" y="12362"/>
                      <a:pt x="439" y="12800"/>
                      <a:pt x="977" y="12800"/>
                    </a:cubicBezTo>
                    <a:lnTo>
                      <a:pt x="10558" y="12800"/>
                    </a:lnTo>
                    <a:cubicBezTo>
                      <a:pt x="11098" y="12800"/>
                      <a:pt x="11535" y="12362"/>
                      <a:pt x="11535" y="11823"/>
                    </a:cubicBezTo>
                    <a:lnTo>
                      <a:pt x="11535" y="977"/>
                    </a:lnTo>
                    <a:cubicBezTo>
                      <a:pt x="11535" y="438"/>
                      <a:pt x="11096" y="0"/>
                      <a:pt x="10558" y="0"/>
                    </a:cubicBezTo>
                    <a:close/>
                    <a:moveTo>
                      <a:pt x="6591" y="10544"/>
                    </a:moveTo>
                    <a:lnTo>
                      <a:pt x="1463" y="10544"/>
                    </a:lnTo>
                    <a:cubicBezTo>
                      <a:pt x="1316" y="10544"/>
                      <a:pt x="1197" y="10424"/>
                      <a:pt x="1197" y="10278"/>
                    </a:cubicBezTo>
                    <a:cubicBezTo>
                      <a:pt x="1197" y="10131"/>
                      <a:pt x="1316" y="10012"/>
                      <a:pt x="1463" y="10012"/>
                    </a:cubicBezTo>
                    <a:lnTo>
                      <a:pt x="6591" y="10012"/>
                    </a:lnTo>
                    <a:cubicBezTo>
                      <a:pt x="6737" y="10012"/>
                      <a:pt x="6857" y="10131"/>
                      <a:pt x="6857" y="10278"/>
                    </a:cubicBezTo>
                    <a:cubicBezTo>
                      <a:pt x="6859" y="10424"/>
                      <a:pt x="6739" y="10544"/>
                      <a:pt x="6591" y="10544"/>
                    </a:cubicBezTo>
                    <a:close/>
                    <a:moveTo>
                      <a:pt x="6591" y="7859"/>
                    </a:moveTo>
                    <a:lnTo>
                      <a:pt x="1463" y="7859"/>
                    </a:lnTo>
                    <a:cubicBezTo>
                      <a:pt x="1316" y="7859"/>
                      <a:pt x="1197" y="7740"/>
                      <a:pt x="1197" y="7593"/>
                    </a:cubicBezTo>
                    <a:cubicBezTo>
                      <a:pt x="1197" y="7447"/>
                      <a:pt x="1316" y="7327"/>
                      <a:pt x="1463" y="7327"/>
                    </a:cubicBezTo>
                    <a:lnTo>
                      <a:pt x="6591" y="7327"/>
                    </a:lnTo>
                    <a:cubicBezTo>
                      <a:pt x="6737" y="7327"/>
                      <a:pt x="6857" y="7447"/>
                      <a:pt x="6857" y="7593"/>
                    </a:cubicBezTo>
                    <a:cubicBezTo>
                      <a:pt x="6859" y="7740"/>
                      <a:pt x="6739" y="7859"/>
                      <a:pt x="6591" y="7859"/>
                    </a:cubicBezTo>
                    <a:close/>
                    <a:moveTo>
                      <a:pt x="6591" y="5175"/>
                    </a:moveTo>
                    <a:lnTo>
                      <a:pt x="1463" y="5175"/>
                    </a:lnTo>
                    <a:cubicBezTo>
                      <a:pt x="1316" y="5175"/>
                      <a:pt x="1197" y="5055"/>
                      <a:pt x="1197" y="4909"/>
                    </a:cubicBezTo>
                    <a:cubicBezTo>
                      <a:pt x="1197" y="4762"/>
                      <a:pt x="1316" y="4642"/>
                      <a:pt x="1463" y="4642"/>
                    </a:cubicBezTo>
                    <a:lnTo>
                      <a:pt x="6591" y="4642"/>
                    </a:lnTo>
                    <a:cubicBezTo>
                      <a:pt x="6737" y="4642"/>
                      <a:pt x="6857" y="4762"/>
                      <a:pt x="6857" y="4909"/>
                    </a:cubicBezTo>
                    <a:cubicBezTo>
                      <a:pt x="6859" y="5055"/>
                      <a:pt x="6739" y="5175"/>
                      <a:pt x="6591" y="5175"/>
                    </a:cubicBezTo>
                    <a:close/>
                    <a:moveTo>
                      <a:pt x="6591" y="2490"/>
                    </a:moveTo>
                    <a:lnTo>
                      <a:pt x="1463" y="2490"/>
                    </a:lnTo>
                    <a:cubicBezTo>
                      <a:pt x="1316" y="2490"/>
                      <a:pt x="1197" y="2370"/>
                      <a:pt x="1197" y="2222"/>
                    </a:cubicBezTo>
                    <a:cubicBezTo>
                      <a:pt x="1197" y="2076"/>
                      <a:pt x="1316" y="1956"/>
                      <a:pt x="1463" y="1956"/>
                    </a:cubicBezTo>
                    <a:lnTo>
                      <a:pt x="6591" y="1956"/>
                    </a:lnTo>
                    <a:cubicBezTo>
                      <a:pt x="6737" y="1956"/>
                      <a:pt x="6857" y="2076"/>
                      <a:pt x="6857" y="2222"/>
                    </a:cubicBezTo>
                    <a:cubicBezTo>
                      <a:pt x="6859" y="2370"/>
                      <a:pt x="6739" y="2490"/>
                      <a:pt x="6591" y="2490"/>
                    </a:cubicBezTo>
                    <a:close/>
                    <a:moveTo>
                      <a:pt x="9620" y="8931"/>
                    </a:moveTo>
                    <a:cubicBezTo>
                      <a:pt x="9617" y="8947"/>
                      <a:pt x="9619" y="8963"/>
                      <a:pt x="9611" y="8978"/>
                    </a:cubicBezTo>
                    <a:lnTo>
                      <a:pt x="8945" y="10435"/>
                    </a:lnTo>
                    <a:cubicBezTo>
                      <a:pt x="8927" y="10474"/>
                      <a:pt x="8899" y="10507"/>
                      <a:pt x="8865" y="10528"/>
                    </a:cubicBezTo>
                    <a:cubicBezTo>
                      <a:pt x="8829" y="10551"/>
                      <a:pt x="8786" y="10564"/>
                      <a:pt x="8742" y="10562"/>
                    </a:cubicBezTo>
                    <a:cubicBezTo>
                      <a:pt x="8654" y="10560"/>
                      <a:pt x="8577" y="10507"/>
                      <a:pt x="8543" y="10424"/>
                    </a:cubicBezTo>
                    <a:lnTo>
                      <a:pt x="7959" y="8967"/>
                    </a:lnTo>
                    <a:lnTo>
                      <a:pt x="9620" y="8931"/>
                    </a:lnTo>
                    <a:cubicBezTo>
                      <a:pt x="9620" y="8929"/>
                      <a:pt x="9620" y="8931"/>
                      <a:pt x="9620" y="8931"/>
                    </a:cubicBezTo>
                    <a:close/>
                    <a:moveTo>
                      <a:pt x="9638" y="8492"/>
                    </a:moveTo>
                    <a:lnTo>
                      <a:pt x="7924" y="8529"/>
                    </a:lnTo>
                    <a:lnTo>
                      <a:pt x="7895" y="4044"/>
                    </a:lnTo>
                    <a:lnTo>
                      <a:pt x="9712" y="4003"/>
                    </a:lnTo>
                    <a:lnTo>
                      <a:pt x="9638" y="8492"/>
                    </a:lnTo>
                    <a:close/>
                    <a:moveTo>
                      <a:pt x="9722" y="3567"/>
                    </a:moveTo>
                    <a:lnTo>
                      <a:pt x="7902" y="3608"/>
                    </a:lnTo>
                    <a:lnTo>
                      <a:pt x="7918" y="3162"/>
                    </a:lnTo>
                    <a:cubicBezTo>
                      <a:pt x="7920" y="3128"/>
                      <a:pt x="7943" y="2867"/>
                      <a:pt x="8188" y="2710"/>
                    </a:cubicBezTo>
                    <a:cubicBezTo>
                      <a:pt x="8272" y="2656"/>
                      <a:pt x="8368" y="2622"/>
                      <a:pt x="8479" y="2610"/>
                    </a:cubicBezTo>
                    <a:cubicBezTo>
                      <a:pt x="8847" y="2567"/>
                      <a:pt x="9226" y="2599"/>
                      <a:pt x="9242" y="2601"/>
                    </a:cubicBezTo>
                    <a:cubicBezTo>
                      <a:pt x="9263" y="2603"/>
                      <a:pt x="9285" y="2608"/>
                      <a:pt x="9306" y="2617"/>
                    </a:cubicBezTo>
                    <a:cubicBezTo>
                      <a:pt x="9349" y="2635"/>
                      <a:pt x="9719" y="2794"/>
                      <a:pt x="9726" y="3121"/>
                    </a:cubicBezTo>
                    <a:cubicBezTo>
                      <a:pt x="9729" y="3213"/>
                      <a:pt x="9726" y="3399"/>
                      <a:pt x="9722" y="3567"/>
                    </a:cubicBezTo>
                    <a:close/>
                    <a:moveTo>
                      <a:pt x="9722" y="3567"/>
                    </a:move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endParaRPr sz="16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6305532" y="2119973"/>
              <a:ext cx="5144754" cy="3917572"/>
              <a:chOff x="6305532" y="2119973"/>
              <a:chExt cx="5144754" cy="3917572"/>
            </a:xfrm>
          </p:grpSpPr>
          <p:sp>
            <p:nvSpPr>
              <p:cNvPr id="20" name="Bullet2"/>
              <p:cNvSpPr/>
              <p:nvPr/>
            </p:nvSpPr>
            <p:spPr>
              <a:xfrm>
                <a:off x="6305532" y="3048000"/>
                <a:ext cx="5144754" cy="519153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LLM-based Baseline: ReAct</a:t>
                </a:r>
                <a:endParaRPr lang="en-US" dirty="0"/>
              </a:p>
            </p:txBody>
          </p:sp>
          <p:sp>
            <p:nvSpPr>
              <p:cNvPr id="21" name="Text2"/>
              <p:cNvSpPr txBox="1"/>
              <p:nvPr/>
            </p:nvSpPr>
            <p:spPr>
              <a:xfrm>
                <a:off x="6305532" y="3567153"/>
                <a:ext cx="5144754" cy="2470392"/>
              </a:xfrm>
              <a:prstGeom prst="rect">
                <a:avLst/>
              </a:prstGeom>
              <a:noFill/>
              <a:effectLst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050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marL="0" marR="0" lvl="0" indent="0" algn="l">
                  <a:lnSpc>
                    <a:spcPct val="120000"/>
                  </a:lnSpc>
                </a:pPr>
                <a:r>
                  <a:rPr lang="zh-CN" altLang="en-US" sz="1200" b="1" baseline="0" dirty="0">
                    <a:solidFill>
                      <a:schemeClr val="tx1"/>
                    </a:solidFill>
                  </a:rPr>
                  <a:t>ReAct</a:t>
                </a:r>
                <a:r>
                  <a:rPr lang="zh-CN" altLang="en-US" sz="1200" baseline="0" dirty="0">
                    <a:solidFill>
                      <a:schemeClr val="tx1"/>
                    </a:solidFill>
                  </a:rPr>
                  <a:t>: Combines reasoning + action. Allows LLM to: reason step-by-step; call tools; interact with external analyzers or data sources. Supports dynamic information gathering during diagnosis.</a:t>
                </a:r>
                <a:endParaRPr lang="zh-CN" altLang="en-US" dirty="0"/>
              </a:p>
              <a:p>
                <a:pPr marL="0" marR="0" lvl="0" indent="0" algn="l">
                  <a:lnSpc>
                    <a:spcPct val="120000"/>
                  </a:lnSpc>
                </a:pPr>
                <a:endParaRPr lang="zh-CN" altLang="en-US" dirty="0"/>
              </a:p>
              <a:p>
                <a:pPr marL="0" marR="0" lvl="0" indent="0" algn="l">
                  <a:lnSpc>
                    <a:spcPct val="120000"/>
                  </a:lnSpc>
                </a:pPr>
                <a:r>
                  <a:rPr lang="zh-CN" altLang="en-US" sz="1200" b="1" baseline="0" dirty="0">
                    <a:solidFill>
                      <a:schemeClr val="tx1"/>
                    </a:solidFill>
                  </a:rPr>
                  <a:t>RCACopilot</a:t>
                </a:r>
                <a:endParaRPr lang="zh-CN" altLang="en-US" dirty="0"/>
              </a:p>
              <a:p>
                <a:pPr marL="0" marR="0" lvl="0" indent="0" algn="l">
                  <a:lnSpc>
                    <a:spcPct val="120000"/>
                  </a:lnSpc>
                </a:pPr>
                <a:endParaRPr lang="zh-CN" altLang="en-US" dirty="0"/>
              </a:p>
              <a:p>
                <a:pPr marL="0" marR="0" lvl="0" indent="0" algn="l">
                  <a:lnSpc>
                    <a:spcPct val="120000"/>
                  </a:lnSpc>
                </a:pPr>
                <a:r>
                  <a:rPr lang="zh-CN" altLang="en-US" sz="1200" b="1" baseline="0" dirty="0">
                    <a:solidFill>
                      <a:schemeClr val="tx1"/>
                    </a:solidFill>
                  </a:rPr>
                  <a:t>RCAgent</a:t>
                </a:r>
                <a:endParaRPr lang="zh-CN" altLang="en-US" dirty="0"/>
              </a:p>
              <a:p>
                <a:pPr marL="0" marR="0" lvl="0" indent="0" algn="l">
                  <a:lnSpc>
                    <a:spcPct val="120000"/>
                  </a:lnSpc>
                </a:pPr>
                <a:endParaRPr lang="zh-CN" altLang="en-US" dirty="0"/>
              </a:p>
              <a:p>
                <a:pPr marL="0" marR="0" lvl="0" indent="0" algn="l">
                  <a:lnSpc>
                    <a:spcPct val="120000"/>
                  </a:lnSpc>
                </a:pPr>
                <a:endParaRPr lang="zh-CN" altLang="en-US" dirty="0"/>
              </a:p>
            </p:txBody>
          </p:sp>
          <p:sp>
            <p:nvSpPr>
              <p:cNvPr id="23" name="IconBackground2"/>
              <p:cNvSpPr/>
              <p:nvPr/>
            </p:nvSpPr>
            <p:spPr>
              <a:xfrm>
                <a:off x="8418296" y="2119973"/>
                <a:ext cx="900000" cy="900000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endParaRPr lang="zh-C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Icon2"/>
              <p:cNvSpPr/>
              <p:nvPr/>
            </p:nvSpPr>
            <p:spPr>
              <a:xfrm>
                <a:off x="8697691" y="2367768"/>
                <a:ext cx="341896" cy="341838"/>
              </a:xfrm>
              <a:custGeom>
                <a:avLst/>
                <a:gdLst>
                  <a:gd name="connsiteX0" fmla="*/ 175554 w 488862"/>
                  <a:gd name="connsiteY0" fmla="*/ 224764 h 488782"/>
                  <a:gd name="connsiteX1" fmla="*/ 316096 w 488862"/>
                  <a:gd name="connsiteY1" fmla="*/ 224764 h 488782"/>
                  <a:gd name="connsiteX2" fmla="*/ 327664 w 488862"/>
                  <a:gd name="connsiteY2" fmla="*/ 236219 h 488782"/>
                  <a:gd name="connsiteX3" fmla="*/ 327664 w 488862"/>
                  <a:gd name="connsiteY3" fmla="*/ 240382 h 488782"/>
                  <a:gd name="connsiteX4" fmla="*/ 347938 w 488862"/>
                  <a:gd name="connsiteY4" fmla="*/ 261117 h 488782"/>
                  <a:gd name="connsiteX5" fmla="*/ 363707 w 488862"/>
                  <a:gd name="connsiteY5" fmla="*/ 261117 h 488782"/>
                  <a:gd name="connsiteX6" fmla="*/ 383980 w 488862"/>
                  <a:gd name="connsiteY6" fmla="*/ 240382 h 488782"/>
                  <a:gd name="connsiteX7" fmla="*/ 383980 w 488862"/>
                  <a:gd name="connsiteY7" fmla="*/ 235990 h 488782"/>
                  <a:gd name="connsiteX8" fmla="*/ 397878 w 488862"/>
                  <a:gd name="connsiteY8" fmla="*/ 224840 h 488782"/>
                  <a:gd name="connsiteX9" fmla="*/ 476301 w 488862"/>
                  <a:gd name="connsiteY9" fmla="*/ 224840 h 488782"/>
                  <a:gd name="connsiteX10" fmla="*/ 488786 w 488862"/>
                  <a:gd name="connsiteY10" fmla="*/ 237250 h 488782"/>
                  <a:gd name="connsiteX11" fmla="*/ 488786 w 488862"/>
                  <a:gd name="connsiteY11" fmla="*/ 447350 h 488782"/>
                  <a:gd name="connsiteX12" fmla="*/ 448276 w 488862"/>
                  <a:gd name="connsiteY12" fmla="*/ 488782 h 488782"/>
                  <a:gd name="connsiteX13" fmla="*/ 40548 w 488862"/>
                  <a:gd name="connsiteY13" fmla="*/ 488782 h 488782"/>
                  <a:gd name="connsiteX14" fmla="*/ 0 w 488862"/>
                  <a:gd name="connsiteY14" fmla="*/ 447350 h 488782"/>
                  <a:gd name="connsiteX15" fmla="*/ 0 w 488862"/>
                  <a:gd name="connsiteY15" fmla="*/ 240305 h 488782"/>
                  <a:gd name="connsiteX16" fmla="*/ 15578 w 488862"/>
                  <a:gd name="connsiteY16" fmla="*/ 224840 h 488782"/>
                  <a:gd name="connsiteX17" fmla="*/ 90144 w 488862"/>
                  <a:gd name="connsiteY17" fmla="*/ 224840 h 488782"/>
                  <a:gd name="connsiteX18" fmla="*/ 104194 w 488862"/>
                  <a:gd name="connsiteY18" fmla="*/ 238663 h 488782"/>
                  <a:gd name="connsiteX19" fmla="*/ 104194 w 488862"/>
                  <a:gd name="connsiteY19" fmla="*/ 240305 h 488782"/>
                  <a:gd name="connsiteX20" fmla="*/ 124468 w 488862"/>
                  <a:gd name="connsiteY20" fmla="*/ 261040 h 488782"/>
                  <a:gd name="connsiteX21" fmla="*/ 140733 w 488862"/>
                  <a:gd name="connsiteY21" fmla="*/ 261040 h 488782"/>
                  <a:gd name="connsiteX22" fmla="*/ 161007 w 488862"/>
                  <a:gd name="connsiteY22" fmla="*/ 240305 h 488782"/>
                  <a:gd name="connsiteX23" fmla="*/ 161007 w 488862"/>
                  <a:gd name="connsiteY23" fmla="*/ 237632 h 488782"/>
                  <a:gd name="connsiteX24" fmla="*/ 175554 w 488862"/>
                  <a:gd name="connsiteY24" fmla="*/ 224764 h 488782"/>
                  <a:gd name="connsiteX25" fmla="*/ 356061 w 488862"/>
                  <a:gd name="connsiteY25" fmla="*/ 177775 h 488782"/>
                  <a:gd name="connsiteX26" fmla="*/ 371220 w 488862"/>
                  <a:gd name="connsiteY26" fmla="*/ 198056 h 488782"/>
                  <a:gd name="connsiteX27" fmla="*/ 371220 w 488862"/>
                  <a:gd name="connsiteY27" fmla="*/ 222958 h 488782"/>
                  <a:gd name="connsiteX28" fmla="*/ 356061 w 488862"/>
                  <a:gd name="connsiteY28" fmla="*/ 243238 h 488782"/>
                  <a:gd name="connsiteX29" fmla="*/ 340864 w 488862"/>
                  <a:gd name="connsiteY29" fmla="*/ 222958 h 488782"/>
                  <a:gd name="connsiteX30" fmla="*/ 340864 w 488862"/>
                  <a:gd name="connsiteY30" fmla="*/ 198056 h 488782"/>
                  <a:gd name="connsiteX31" fmla="*/ 356061 w 488862"/>
                  <a:gd name="connsiteY31" fmla="*/ 177775 h 488782"/>
                  <a:gd name="connsiteX32" fmla="*/ 132801 w 488862"/>
                  <a:gd name="connsiteY32" fmla="*/ 177775 h 488782"/>
                  <a:gd name="connsiteX33" fmla="*/ 147960 w 488862"/>
                  <a:gd name="connsiteY33" fmla="*/ 198056 h 488782"/>
                  <a:gd name="connsiteX34" fmla="*/ 147960 w 488862"/>
                  <a:gd name="connsiteY34" fmla="*/ 222958 h 488782"/>
                  <a:gd name="connsiteX35" fmla="*/ 132801 w 488862"/>
                  <a:gd name="connsiteY35" fmla="*/ 243238 h 488782"/>
                  <a:gd name="connsiteX36" fmla="*/ 117642 w 488862"/>
                  <a:gd name="connsiteY36" fmla="*/ 222958 h 488782"/>
                  <a:gd name="connsiteX37" fmla="*/ 117642 w 488862"/>
                  <a:gd name="connsiteY37" fmla="*/ 198056 h 488782"/>
                  <a:gd name="connsiteX38" fmla="*/ 132801 w 488862"/>
                  <a:gd name="connsiteY38" fmla="*/ 177775 h 488782"/>
                  <a:gd name="connsiteX39" fmla="*/ 40624 w 488862"/>
                  <a:gd name="connsiteY39" fmla="*/ 115971 h 488782"/>
                  <a:gd name="connsiteX40" fmla="*/ 448353 w 488862"/>
                  <a:gd name="connsiteY40" fmla="*/ 115971 h 488782"/>
                  <a:gd name="connsiteX41" fmla="*/ 488862 w 488862"/>
                  <a:gd name="connsiteY41" fmla="*/ 157403 h 488782"/>
                  <a:gd name="connsiteX42" fmla="*/ 488862 w 488862"/>
                  <a:gd name="connsiteY42" fmla="*/ 180582 h 488782"/>
                  <a:gd name="connsiteX43" fmla="*/ 475270 w 488862"/>
                  <a:gd name="connsiteY43" fmla="*/ 193871 h 488782"/>
                  <a:gd name="connsiteX44" fmla="*/ 397267 w 488862"/>
                  <a:gd name="connsiteY44" fmla="*/ 193871 h 488782"/>
                  <a:gd name="connsiteX45" fmla="*/ 383980 w 488862"/>
                  <a:gd name="connsiteY45" fmla="*/ 181919 h 488782"/>
                  <a:gd name="connsiteX46" fmla="*/ 383980 w 488862"/>
                  <a:gd name="connsiteY46" fmla="*/ 178291 h 488782"/>
                  <a:gd name="connsiteX47" fmla="*/ 363707 w 488862"/>
                  <a:gd name="connsiteY47" fmla="*/ 157556 h 488782"/>
                  <a:gd name="connsiteX48" fmla="*/ 347938 w 488862"/>
                  <a:gd name="connsiteY48" fmla="*/ 157556 h 488782"/>
                  <a:gd name="connsiteX49" fmla="*/ 327664 w 488862"/>
                  <a:gd name="connsiteY49" fmla="*/ 178291 h 488782"/>
                  <a:gd name="connsiteX50" fmla="*/ 327664 w 488862"/>
                  <a:gd name="connsiteY50" fmla="*/ 182950 h 488782"/>
                  <a:gd name="connsiteX51" fmla="*/ 316248 w 488862"/>
                  <a:gd name="connsiteY51" fmla="*/ 193871 h 488782"/>
                  <a:gd name="connsiteX52" fmla="*/ 174981 w 488862"/>
                  <a:gd name="connsiteY52" fmla="*/ 193871 h 488782"/>
                  <a:gd name="connsiteX53" fmla="*/ 160930 w 488862"/>
                  <a:gd name="connsiteY53" fmla="*/ 181308 h 488782"/>
                  <a:gd name="connsiteX54" fmla="*/ 160930 w 488862"/>
                  <a:gd name="connsiteY54" fmla="*/ 178291 h 488782"/>
                  <a:gd name="connsiteX55" fmla="*/ 140657 w 488862"/>
                  <a:gd name="connsiteY55" fmla="*/ 157556 h 488782"/>
                  <a:gd name="connsiteX56" fmla="*/ 124468 w 488862"/>
                  <a:gd name="connsiteY56" fmla="*/ 157556 h 488782"/>
                  <a:gd name="connsiteX57" fmla="*/ 104194 w 488862"/>
                  <a:gd name="connsiteY57" fmla="*/ 178291 h 488782"/>
                  <a:gd name="connsiteX58" fmla="*/ 104194 w 488862"/>
                  <a:gd name="connsiteY58" fmla="*/ 181117 h 488782"/>
                  <a:gd name="connsiteX59" fmla="*/ 89724 w 488862"/>
                  <a:gd name="connsiteY59" fmla="*/ 193795 h 488782"/>
                  <a:gd name="connsiteX60" fmla="*/ 16036 w 488862"/>
                  <a:gd name="connsiteY60" fmla="*/ 193795 h 488782"/>
                  <a:gd name="connsiteX61" fmla="*/ 76 w 488862"/>
                  <a:gd name="connsiteY61" fmla="*/ 179093 h 488782"/>
                  <a:gd name="connsiteX62" fmla="*/ 76 w 488862"/>
                  <a:gd name="connsiteY62" fmla="*/ 157403 h 488782"/>
                  <a:gd name="connsiteX63" fmla="*/ 40624 w 488862"/>
                  <a:gd name="connsiteY63" fmla="*/ 115971 h 488782"/>
                  <a:gd name="connsiteX64" fmla="*/ 244698 w 488862"/>
                  <a:gd name="connsiteY64" fmla="*/ 0 h 488782"/>
                  <a:gd name="connsiteX65" fmla="*/ 364967 w 488862"/>
                  <a:gd name="connsiteY65" fmla="*/ 94282 h 488782"/>
                  <a:gd name="connsiteX66" fmla="*/ 348931 w 488862"/>
                  <a:gd name="connsiteY66" fmla="*/ 105928 h 488782"/>
                  <a:gd name="connsiteX67" fmla="*/ 330070 w 488862"/>
                  <a:gd name="connsiteY67" fmla="*/ 94282 h 488782"/>
                  <a:gd name="connsiteX68" fmla="*/ 244698 w 488862"/>
                  <a:gd name="connsiteY68" fmla="*/ 34024 h 488782"/>
                  <a:gd name="connsiteX69" fmla="*/ 159289 w 488862"/>
                  <a:gd name="connsiteY69" fmla="*/ 94282 h 488782"/>
                  <a:gd name="connsiteX70" fmla="*/ 140122 w 488862"/>
                  <a:gd name="connsiteY70" fmla="*/ 104439 h 488782"/>
                  <a:gd name="connsiteX71" fmla="*/ 124392 w 488862"/>
                  <a:gd name="connsiteY71" fmla="*/ 94282 h 488782"/>
                  <a:gd name="connsiteX72" fmla="*/ 244698 w 488862"/>
                  <a:gd name="connsiteY72" fmla="*/ 0 h 488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488862" h="488782">
                    <a:moveTo>
                      <a:pt x="175554" y="224764"/>
                    </a:moveTo>
                    <a:lnTo>
                      <a:pt x="316096" y="224764"/>
                    </a:lnTo>
                    <a:cubicBezTo>
                      <a:pt x="325221" y="224764"/>
                      <a:pt x="327664" y="227246"/>
                      <a:pt x="327664" y="236219"/>
                    </a:cubicBezTo>
                    <a:lnTo>
                      <a:pt x="327664" y="240382"/>
                    </a:lnTo>
                    <a:cubicBezTo>
                      <a:pt x="327664" y="251838"/>
                      <a:pt x="336751" y="261117"/>
                      <a:pt x="347938" y="261117"/>
                    </a:cubicBezTo>
                    <a:lnTo>
                      <a:pt x="363707" y="261117"/>
                    </a:lnTo>
                    <a:cubicBezTo>
                      <a:pt x="374855" y="261117"/>
                      <a:pt x="383980" y="251761"/>
                      <a:pt x="383980" y="240382"/>
                    </a:cubicBezTo>
                    <a:lnTo>
                      <a:pt x="383980" y="235990"/>
                    </a:lnTo>
                    <a:cubicBezTo>
                      <a:pt x="383980" y="226711"/>
                      <a:pt x="386882" y="224840"/>
                      <a:pt x="397878" y="224840"/>
                    </a:cubicBezTo>
                    <a:lnTo>
                      <a:pt x="476301" y="224840"/>
                    </a:lnTo>
                    <a:cubicBezTo>
                      <a:pt x="484968" y="224840"/>
                      <a:pt x="488786" y="227971"/>
                      <a:pt x="488786" y="237250"/>
                    </a:cubicBezTo>
                    <a:lnTo>
                      <a:pt x="488786" y="447350"/>
                    </a:lnTo>
                    <a:cubicBezTo>
                      <a:pt x="488786" y="470147"/>
                      <a:pt x="470574" y="488782"/>
                      <a:pt x="448276" y="488782"/>
                    </a:cubicBezTo>
                    <a:lnTo>
                      <a:pt x="40548" y="488782"/>
                    </a:lnTo>
                    <a:cubicBezTo>
                      <a:pt x="18327" y="488782"/>
                      <a:pt x="0" y="470147"/>
                      <a:pt x="0" y="447350"/>
                    </a:cubicBezTo>
                    <a:lnTo>
                      <a:pt x="0" y="240305"/>
                    </a:lnTo>
                    <a:cubicBezTo>
                      <a:pt x="0" y="227971"/>
                      <a:pt x="3245" y="224840"/>
                      <a:pt x="15578" y="224840"/>
                    </a:cubicBezTo>
                    <a:lnTo>
                      <a:pt x="90144" y="224840"/>
                    </a:lnTo>
                    <a:cubicBezTo>
                      <a:pt x="101216" y="224840"/>
                      <a:pt x="104194" y="226558"/>
                      <a:pt x="104194" y="238663"/>
                    </a:cubicBezTo>
                    <a:lnTo>
                      <a:pt x="104194" y="240305"/>
                    </a:lnTo>
                    <a:cubicBezTo>
                      <a:pt x="104194" y="251685"/>
                      <a:pt x="113319" y="261040"/>
                      <a:pt x="124468" y="261040"/>
                    </a:cubicBezTo>
                    <a:lnTo>
                      <a:pt x="140733" y="261040"/>
                    </a:lnTo>
                    <a:cubicBezTo>
                      <a:pt x="151882" y="261040"/>
                      <a:pt x="161007" y="251685"/>
                      <a:pt x="161007" y="240305"/>
                    </a:cubicBezTo>
                    <a:lnTo>
                      <a:pt x="161007" y="237632"/>
                    </a:lnTo>
                    <a:cubicBezTo>
                      <a:pt x="161007" y="227246"/>
                      <a:pt x="163985" y="224764"/>
                      <a:pt x="175554" y="224764"/>
                    </a:cubicBezTo>
                    <a:close/>
                    <a:moveTo>
                      <a:pt x="356061" y="177775"/>
                    </a:moveTo>
                    <a:cubicBezTo>
                      <a:pt x="364385" y="177775"/>
                      <a:pt x="371220" y="186903"/>
                      <a:pt x="371220" y="198056"/>
                    </a:cubicBezTo>
                    <a:lnTo>
                      <a:pt x="371220" y="222958"/>
                    </a:lnTo>
                    <a:cubicBezTo>
                      <a:pt x="371220" y="234110"/>
                      <a:pt x="364385" y="243238"/>
                      <a:pt x="356061" y="243238"/>
                    </a:cubicBezTo>
                    <a:cubicBezTo>
                      <a:pt x="347699" y="243238"/>
                      <a:pt x="340864" y="234110"/>
                      <a:pt x="340864" y="222958"/>
                    </a:cubicBezTo>
                    <a:lnTo>
                      <a:pt x="340864" y="198056"/>
                    </a:lnTo>
                    <a:cubicBezTo>
                      <a:pt x="340864" y="186903"/>
                      <a:pt x="347699" y="177775"/>
                      <a:pt x="356061" y="177775"/>
                    </a:cubicBezTo>
                    <a:close/>
                    <a:moveTo>
                      <a:pt x="132801" y="177775"/>
                    </a:moveTo>
                    <a:cubicBezTo>
                      <a:pt x="141125" y="177775"/>
                      <a:pt x="147960" y="186903"/>
                      <a:pt x="147960" y="198056"/>
                    </a:cubicBezTo>
                    <a:lnTo>
                      <a:pt x="147960" y="222958"/>
                    </a:lnTo>
                    <a:cubicBezTo>
                      <a:pt x="147960" y="234110"/>
                      <a:pt x="141125" y="243238"/>
                      <a:pt x="132801" y="243238"/>
                    </a:cubicBezTo>
                    <a:cubicBezTo>
                      <a:pt x="124477" y="243238"/>
                      <a:pt x="117642" y="234110"/>
                      <a:pt x="117642" y="222958"/>
                    </a:cubicBezTo>
                    <a:lnTo>
                      <a:pt x="117642" y="198056"/>
                    </a:lnTo>
                    <a:cubicBezTo>
                      <a:pt x="117642" y="186903"/>
                      <a:pt x="124477" y="177775"/>
                      <a:pt x="132801" y="177775"/>
                    </a:cubicBezTo>
                    <a:close/>
                    <a:moveTo>
                      <a:pt x="40624" y="115971"/>
                    </a:moveTo>
                    <a:lnTo>
                      <a:pt x="448353" y="115971"/>
                    </a:lnTo>
                    <a:cubicBezTo>
                      <a:pt x="470574" y="115971"/>
                      <a:pt x="488862" y="134606"/>
                      <a:pt x="488862" y="157403"/>
                    </a:cubicBezTo>
                    <a:lnTo>
                      <a:pt x="488862" y="180582"/>
                    </a:lnTo>
                    <a:cubicBezTo>
                      <a:pt x="488862" y="190969"/>
                      <a:pt x="485808" y="193871"/>
                      <a:pt x="475270" y="193871"/>
                    </a:cubicBezTo>
                    <a:lnTo>
                      <a:pt x="397267" y="193871"/>
                    </a:lnTo>
                    <a:cubicBezTo>
                      <a:pt x="387455" y="193871"/>
                      <a:pt x="383980" y="192229"/>
                      <a:pt x="383980" y="181919"/>
                    </a:cubicBezTo>
                    <a:lnTo>
                      <a:pt x="383980" y="178291"/>
                    </a:lnTo>
                    <a:cubicBezTo>
                      <a:pt x="383980" y="166835"/>
                      <a:pt x="374855" y="157556"/>
                      <a:pt x="363707" y="157556"/>
                    </a:cubicBezTo>
                    <a:lnTo>
                      <a:pt x="347938" y="157556"/>
                    </a:lnTo>
                    <a:cubicBezTo>
                      <a:pt x="336751" y="157556"/>
                      <a:pt x="327664" y="166912"/>
                      <a:pt x="327664" y="178291"/>
                    </a:cubicBezTo>
                    <a:lnTo>
                      <a:pt x="327664" y="182950"/>
                    </a:lnTo>
                    <a:cubicBezTo>
                      <a:pt x="327664" y="192458"/>
                      <a:pt x="326557" y="193871"/>
                      <a:pt x="316248" y="193871"/>
                    </a:cubicBezTo>
                    <a:lnTo>
                      <a:pt x="174981" y="193871"/>
                    </a:lnTo>
                    <a:cubicBezTo>
                      <a:pt x="163756" y="193871"/>
                      <a:pt x="160930" y="192764"/>
                      <a:pt x="160930" y="181308"/>
                    </a:cubicBezTo>
                    <a:lnTo>
                      <a:pt x="160930" y="178291"/>
                    </a:lnTo>
                    <a:cubicBezTo>
                      <a:pt x="160930" y="166835"/>
                      <a:pt x="151805" y="157556"/>
                      <a:pt x="140657" y="157556"/>
                    </a:cubicBezTo>
                    <a:lnTo>
                      <a:pt x="124468" y="157556"/>
                    </a:lnTo>
                    <a:cubicBezTo>
                      <a:pt x="113319" y="157556"/>
                      <a:pt x="104194" y="166912"/>
                      <a:pt x="104194" y="178291"/>
                    </a:cubicBezTo>
                    <a:lnTo>
                      <a:pt x="104194" y="181117"/>
                    </a:lnTo>
                    <a:cubicBezTo>
                      <a:pt x="104194" y="192458"/>
                      <a:pt x="101445" y="193795"/>
                      <a:pt x="89724" y="193795"/>
                    </a:cubicBezTo>
                    <a:lnTo>
                      <a:pt x="16036" y="193795"/>
                    </a:lnTo>
                    <a:cubicBezTo>
                      <a:pt x="3474" y="193795"/>
                      <a:pt x="76" y="190702"/>
                      <a:pt x="76" y="179093"/>
                    </a:cubicBezTo>
                    <a:lnTo>
                      <a:pt x="76" y="157403"/>
                    </a:lnTo>
                    <a:cubicBezTo>
                      <a:pt x="76" y="134606"/>
                      <a:pt x="18327" y="115971"/>
                      <a:pt x="40624" y="115971"/>
                    </a:cubicBezTo>
                    <a:close/>
                    <a:moveTo>
                      <a:pt x="244698" y="0"/>
                    </a:moveTo>
                    <a:cubicBezTo>
                      <a:pt x="302351" y="0"/>
                      <a:pt x="350763" y="39981"/>
                      <a:pt x="364967" y="94282"/>
                    </a:cubicBezTo>
                    <a:cubicBezTo>
                      <a:pt x="364967" y="94282"/>
                      <a:pt x="365043" y="105928"/>
                      <a:pt x="348931" y="105928"/>
                    </a:cubicBezTo>
                    <a:cubicBezTo>
                      <a:pt x="332819" y="105928"/>
                      <a:pt x="330070" y="94282"/>
                      <a:pt x="330070" y="94282"/>
                    </a:cubicBezTo>
                    <a:cubicBezTo>
                      <a:pt x="317050" y="59112"/>
                      <a:pt x="283719" y="34024"/>
                      <a:pt x="244698" y="34024"/>
                    </a:cubicBezTo>
                    <a:cubicBezTo>
                      <a:pt x="205563" y="34024"/>
                      <a:pt x="172308" y="58998"/>
                      <a:pt x="159289" y="94282"/>
                    </a:cubicBezTo>
                    <a:cubicBezTo>
                      <a:pt x="159289" y="94282"/>
                      <a:pt x="156769" y="104439"/>
                      <a:pt x="140122" y="104439"/>
                    </a:cubicBezTo>
                    <a:cubicBezTo>
                      <a:pt x="123514" y="104439"/>
                      <a:pt x="124392" y="94282"/>
                      <a:pt x="124392" y="94282"/>
                    </a:cubicBezTo>
                    <a:cubicBezTo>
                      <a:pt x="138595" y="39981"/>
                      <a:pt x="187084" y="0"/>
                      <a:pt x="2446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endParaRPr sz="16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Failure Localization Methods in Distributed Systems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17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80cc5d80-a764-4939-8654-c8a6e0fb501c.source.2.zh-Hans.pptx"/>
          <p:cNvGrpSpPr/>
          <p:nvPr/>
        </p:nvGrpSpPr>
        <p:grpSpPr>
          <a:xfrm>
            <a:off x="660400" y="1130301"/>
            <a:ext cx="10858500" cy="4904322"/>
            <a:chOff x="660400" y="1130301"/>
            <a:chExt cx="10858500" cy="4904322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660400" y="4002682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660400" y="1871264"/>
              <a:ext cx="6022340" cy="1924826"/>
              <a:chOff x="660400" y="1871264"/>
              <a:chExt cx="6022340" cy="1924826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1280160" y="1969714"/>
                <a:ext cx="5402580" cy="1826376"/>
                <a:chOff x="772160" y="1969714"/>
                <a:chExt cx="5402580" cy="1826376"/>
              </a:xfrm>
            </p:grpSpPr>
            <p:sp>
              <p:nvSpPr>
                <p:cNvPr id="3" name="Text1"/>
                <p:cNvSpPr txBox="1"/>
                <p:nvPr/>
              </p:nvSpPr>
              <p:spPr>
                <a:xfrm>
                  <a:off x="772160" y="2515212"/>
                  <a:ext cx="5402580" cy="1280878"/>
                </a:xfrm>
                <a:prstGeom prst="rect">
                  <a:avLst/>
                </a:prstGeom>
                <a:noFill/>
              </p:spPr>
              <p:txBody>
                <a:bodyPr wrap="square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A@1: true root cause ranked 1st. A@3: true root cause in top 3. A@5: true root cause in top 5.</a:t>
                  </a:r>
                  <a:endParaRPr lang="en-US" dirty="0"/>
                </a:p>
              </p:txBody>
            </p:sp>
            <p:sp>
              <p:nvSpPr>
                <p:cNvPr id="4" name="Bullet1"/>
                <p:cNvSpPr txBox="1"/>
                <p:nvPr/>
              </p:nvSpPr>
              <p:spPr>
                <a:xfrm>
                  <a:off x="772160" y="1969714"/>
                  <a:ext cx="5402580" cy="54549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Localization Metric: Top-k Accuracy (A@k)</a:t>
                  </a:r>
                  <a:endParaRPr lang="en-US" dirty="0"/>
                </a:p>
              </p:txBody>
            </p:sp>
          </p:grpSp>
          <p:sp>
            <p:nvSpPr>
              <p:cNvPr id="10" name="Number1"/>
              <p:cNvSpPr/>
              <p:nvPr/>
            </p:nvSpPr>
            <p:spPr>
              <a:xfrm>
                <a:off x="660400" y="1871264"/>
                <a:ext cx="579121" cy="7423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 fontScale="92500" lnSpcReduction="2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sz="4800" dirty="0">
                    <a:solidFill>
                      <a:schemeClr val="accent1"/>
                    </a:solidFill>
                  </a:rPr>
                  <a:t>1</a:t>
                </a:r>
                <a:endParaRPr lang="zh-CN" altLang="en-US" sz="4800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7" name="Title"/>
            <p:cNvSpPr/>
            <p:nvPr/>
          </p:nvSpPr>
          <p:spPr>
            <a:xfrm>
              <a:off x="660400" y="1130301"/>
              <a:ext cx="10858500" cy="675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Failure localization accuracy and reasoning quality assessment metrics</a:t>
              </a:r>
              <a:endParaRPr lang="en-US" dirty="0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746495" y="4109797"/>
              <a:ext cx="10457392" cy="1924826"/>
              <a:chOff x="660400" y="1871264"/>
              <a:chExt cx="10457392" cy="1924826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1280160" y="1969714"/>
                <a:ext cx="9837632" cy="1826376"/>
                <a:chOff x="772160" y="1969714"/>
                <a:chExt cx="5402580" cy="1826376"/>
              </a:xfrm>
            </p:grpSpPr>
            <p:sp>
              <p:nvSpPr>
                <p:cNvPr id="24" name="Text2"/>
                <p:cNvSpPr txBox="1"/>
                <p:nvPr/>
              </p:nvSpPr>
              <p:spPr>
                <a:xfrm>
                  <a:off x="772160" y="2515212"/>
                  <a:ext cx="5402580" cy="1280878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/>
                <a:p>
                  <a:pPr marL="0" marR="0" lvl="0" indent="0" algn="l">
                    <a:lnSpc>
                      <a:spcPct val="120000"/>
                    </a:lnSpc>
                  </a:pPr>
                  <a:r>
                    <a:rPr lang="zh-CN" altLang="en-US" sz="1200" b="1" baseline="0" dirty="0">
                      <a:solidFill>
                        <a:schemeClr val="tx1"/>
                      </a:solidFill>
                    </a:rPr>
                    <a:t>BLEU-4:</a:t>
                  </a:r>
                  <a:r>
                    <a:rPr lang="zh-CN" altLang="en-US" sz="1200" baseline="0" dirty="0">
                      <a:solidFill>
                        <a:schemeClr val="tx1"/>
                      </a:solidFill>
                    </a:rPr>
                    <a:t> Measures word-level precision by checking 4-word phrase overlap with expert-written explanations. </a:t>
                  </a:r>
                  <a:endParaRPr lang="zh-CN" altLang="en-US" dirty="0"/>
                </a:p>
                <a:p>
                  <a:pPr marL="0" marR="0" lvl="0" indent="0" algn="l">
                    <a:lnSpc>
                      <a:spcPct val="120000"/>
                    </a:lnSpc>
                  </a:pPr>
                  <a:r>
                    <a:rPr lang="zh-CN" altLang="en-US" sz="1200" b="1" baseline="0" dirty="0">
                      <a:solidFill>
                        <a:schemeClr val="tx1"/>
                      </a:solidFill>
                    </a:rPr>
                    <a:t>ROUGE-L:</a:t>
                  </a:r>
                  <a:r>
                    <a:rPr lang="zh-CN" altLang="en-US" sz="1200" baseline="0" dirty="0">
                      <a:solidFill>
                        <a:schemeClr val="tx1"/>
                      </a:solidFill>
                    </a:rPr>
                    <a:t> Measures content coverage based on the longest common subsequence between generated and reference reasoning. </a:t>
                  </a:r>
                  <a:endParaRPr lang="zh-CN" altLang="en-US" dirty="0"/>
                </a:p>
                <a:p>
                  <a:pPr marL="0" marR="0" lvl="0" indent="0" algn="l">
                    <a:lnSpc>
                      <a:spcPct val="120000"/>
                    </a:lnSpc>
                  </a:pPr>
                  <a:r>
                    <a:rPr lang="zh-CN" altLang="en-US" sz="1200" b="1" baseline="0" dirty="0">
                      <a:solidFill>
                        <a:schemeClr val="tx1"/>
                      </a:solidFill>
                    </a:rPr>
                    <a:t>G-sim</a:t>
                  </a:r>
                  <a:r>
                    <a:rPr lang="zh-CN" altLang="en-US" sz="1200" baseline="0" dirty="0">
                      <a:solidFill>
                        <a:schemeClr val="tx1"/>
                      </a:solidFill>
                    </a:rPr>
                    <a:t>: Uses GPT-4 to score semantic similarity, clarity, and coherence on a scale from 0 to 1. </a:t>
                  </a:r>
                  <a:endParaRPr lang="zh-CN" altLang="en-US" dirty="0"/>
                </a:p>
                <a:p>
                  <a:pPr marL="0" marR="0" lvl="0" indent="0" algn="l">
                    <a:lnSpc>
                      <a:spcPct val="120000"/>
                    </a:lnSpc>
                  </a:pPr>
                  <a:r>
                    <a:rPr lang="zh-CN" altLang="en-US" sz="1200" b="1" baseline="0" dirty="0">
                      <a:solidFill>
                        <a:schemeClr val="tx1"/>
                      </a:solidFill>
                    </a:rPr>
                    <a:t>W-rate</a:t>
                  </a:r>
                  <a:r>
                    <a:rPr lang="zh-CN" altLang="en-US" sz="1200" baseline="0" dirty="0">
                      <a:solidFill>
                        <a:schemeClr val="tx1"/>
                      </a:solidFill>
                    </a:rPr>
                    <a:t>: Uses human expert voting to judge which method gives the most reasonable and correct explanation.</a:t>
                  </a:r>
                  <a:endParaRPr lang="zh-CN" altLang="en-US" dirty="0"/>
                </a:p>
              </p:txBody>
            </p:sp>
            <p:sp>
              <p:nvSpPr>
                <p:cNvPr id="25" name="Bullet2"/>
                <p:cNvSpPr txBox="1"/>
                <p:nvPr/>
              </p:nvSpPr>
              <p:spPr>
                <a:xfrm>
                  <a:off x="772160" y="1969714"/>
                  <a:ext cx="5402580" cy="54549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Reasoning Metrics</a:t>
                  </a:r>
                  <a:endParaRPr lang="en-US" dirty="0"/>
                </a:p>
              </p:txBody>
            </p:sp>
          </p:grpSp>
          <p:sp>
            <p:nvSpPr>
              <p:cNvPr id="23" name="Number2"/>
              <p:cNvSpPr/>
              <p:nvPr/>
            </p:nvSpPr>
            <p:spPr>
              <a:xfrm>
                <a:off x="660400" y="1871264"/>
                <a:ext cx="579121" cy="7423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 fontScale="92500" lnSpcReduction="2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sz="4800" dirty="0">
                    <a:solidFill>
                      <a:schemeClr val="accent1">
                        <a:lumMod val="100000"/>
                      </a:schemeClr>
                    </a:solidFill>
                  </a:rPr>
                  <a:t>2</a:t>
                </a:r>
                <a:endParaRPr lang="zh-CN" altLang="en-US" sz="4800" dirty="0">
                  <a:solidFill>
                    <a:schemeClr val="accent1">
                      <a:lumMod val="100000"/>
                    </a:schemeClr>
                  </a:solidFill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Two Evaluation Goals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18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ctr">
              <a:lnSpc>
                <a:spcPct val="100000"/>
              </a:lnSpc>
            </a:pPr>
            <a:r>
              <a:rPr lang="zh-CN" altLang="en-US" sz="4400" b="1" baseline="0" dirty="0">
                <a:solidFill>
                  <a:schemeClr val="accent1"/>
                </a:solidFill>
              </a:rPr>
              <a:t> Experimental Results</a:t>
            </a:r>
            <a:endParaRPr lang="zh-CN" altLang="en-US" dirty="0"/>
          </a:p>
          <a:p>
            <a:pPr marL="0" marR="0" lvl="0" indent="0" algn="ctr">
              <a:lnSpc>
                <a:spcPct val="10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baseline="0" dirty="0">
                <a:solidFill>
                  <a:schemeClr val="tx1"/>
                </a:solidFill>
              </a:rPr>
              <a:t>Effectiveness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20</a:t>
            </a:fld>
            <a:endParaRPr lang="en-US"/>
          </a:p>
        </p:txBody>
      </p:sp>
      <p:sp>
        <p:nvSpPr>
          <p:cNvPr id="6" name="image"/>
          <p:cNvSpPr/>
          <p:nvPr/>
        </p:nvSpPr>
        <p:spPr>
          <a:xfrm>
            <a:off x="81" y="1972032"/>
            <a:ext cx="5114925" cy="2781300"/>
          </a:xfrm>
          <a:prstGeom prst="roundRect">
            <a:avLst>
              <a:gd name="adj" fmla="val 100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image"/>
          <p:cNvSpPr/>
          <p:nvPr/>
        </p:nvSpPr>
        <p:spPr>
          <a:xfrm>
            <a:off x="5283093" y="252869"/>
            <a:ext cx="5505450" cy="2638425"/>
          </a:xfrm>
          <a:prstGeom prst="roundRect">
            <a:avLst>
              <a:gd name="adj" fmla="val 1000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image"/>
          <p:cNvSpPr/>
          <p:nvPr/>
        </p:nvSpPr>
        <p:spPr>
          <a:xfrm>
            <a:off x="5283192" y="2811430"/>
            <a:ext cx="5572125" cy="2428875"/>
          </a:xfrm>
          <a:prstGeom prst="roundRect">
            <a:avLst>
              <a:gd name="adj" fmla="val 1000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image"/>
          <p:cNvSpPr/>
          <p:nvPr/>
        </p:nvSpPr>
        <p:spPr>
          <a:xfrm>
            <a:off x="5495495" y="5134344"/>
            <a:ext cx="5210175" cy="1657350"/>
          </a:xfrm>
          <a:prstGeom prst="roundRect">
            <a:avLst>
              <a:gd name="adj" fmla="val 1000"/>
            </a:avLst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"/>
          <p:cNvSpPr/>
          <p:nvPr/>
        </p:nvSpPr>
        <p:spPr>
          <a:xfrm>
            <a:off x="3207894" y="1651033"/>
            <a:ext cx="5229225" cy="2362200"/>
          </a:xfrm>
          <a:prstGeom prst="roundRect">
            <a:avLst>
              <a:gd name="adj" fmla="val 100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Thank You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/>
        <p:txBody>
          <a:bodyPr>
            <a:normAutofit/>
          </a:bodyPr>
          <a:lstStyle/>
          <a:p>
            <a:pPr marL="0" marR="0" lvl="0" indent="0" algn="ctr">
              <a:lnSpc>
                <a:spcPct val="100000"/>
              </a:lnSpc>
            </a:pPr>
            <a:r>
              <a:rPr lang="zh-CN" altLang="en-US" sz="1200" baseline="0" dirty="0">
                <a:solidFill>
                  <a:schemeClr val="tx1"/>
                </a:solidFill>
              </a:rPr>
              <a:t>2026/6/1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AIGC" val="{&quot;Label&quot;:&quot;1&quot;,&quot;ContentProducer&quot;:&quot;\u6210\u90fd\u8292\u610f\u8f6f\u4ef6\u6280\u672f\u6709\u9650\u516c\u53f8&quot;,&quot;ProduceID&quot;:&quot;786966e6a619f2dca96b2bee208f2631&quot;,&quot;ReservedCode1&quot;:&quot;d29b53fce04bc7cec926bb29e739ebb838da05293aa38546d5d7a6bec3c10600&quot;,&quot;ContentPropagator&quot;:&quot;\u6210\u90fd\u8292\u610f\u8f6f\u4ef6\u6280\u672f\u6709\u9650\u516c\u53f8&quot;,&quot;PropagateID&quot;:&quot;786966e6a619f2dca96b2bee208f2631&quot;,&quot;ReservedCode2&quot;:&quot;d29b53fce04bc7cec926bb29e739ebb838da05293aa38546d5d7a6bec3c10600&quot;}"/>
  <p:tag name="TASKID" val="f1dc73f3247bf6ba22f9ae535dd8e52b"/>
  <p:tag name="THEMEID" val="2810a8e3-6a82-4c7f-89b2-2e617314ca45-them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506dc21b-7223-4111-bdc1-7d2b884b41f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d3fb0efb-92bf-4090-88ef-060858c61e4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80cc5d80-a764-4939-8654-c8a6e0fb501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4f2a26cf-8e24-4fe5-97e7-2e245b41b5d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8ebe6f13-4d18-49c9-b4d3-aed2ced2b22f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28b67850-4048-44e5-b87e-1a9618ac1bd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2c2b8d33-ec3a-4902-b3bc-d845a734e9b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07874015745,&quot;left&quot;:384.75188976377956,&quot;top&quot;:89,&quot;width&quot;:522.248110236220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b503a4c8-eae9-41ce-bf1b-b8d4bf0114a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043307086614,&quot;left&quot;:-19.17307086614173,&quot;top&quot;:-11.130078740157481,&quot;width&quot;:971.697952755905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043307086614,&quot;left&quot;:-19.17307086614173,&quot;top&quot;:-11.130078740157481,&quot;width&quot;:971.697952755905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043307086614,&quot;left&quot;:-19.17307086614173,&quot;top&quot;:-11.130078740157481,&quot;width&quot;:971.697952755905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043307086614,&quot;left&quot;:-19.17307086614173,&quot;top&quot;:-11.130078740157481,&quot;width&quot;:971.697952755905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043307086614,&quot;left&quot;:-19.17307086614173,&quot;top&quot;:-11.130078740157481,&quot;width&quot;:971.697952755905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043307086614,&quot;left&quot;:-19.17307086614173,&quot;top&quot;:-11.130078740157481,&quot;width&quot;:971.697952755905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043307086614,&quot;left&quot;:-19.17307086614173,&quot;top&quot;:-11.130078740157481,&quot;width&quot;:971.697952755905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043307086614,&quot;left&quot;:-19.17307086614173,&quot;top&quot;:-11.130078740157481,&quot;width&quot;:971.697952755905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3043307086614,&quot;left&quot;:-19.17307086614173,&quot;top&quot;:-11.130078740157481,&quot;width&quot;:971.697952755905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4f2a26cf-8e24-4fe5-97e7-2e245b41b5d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8912598425197,&quot;left&quot;:38.94511811023622,&quot;top&quot;:89,&quot;width&quot;:868.054881889763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8912598425197,&quot;left&quot;:38.94511811023622,&quot;top&quot;:89,&quot;width&quot;:868.0548818897638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8912598425197,&quot;left&quot;:38.94511811023622,&quot;top&quot;:89,&quot;width&quot;:868.0548818897638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8912598425197,&quot;left&quot;:38.94511811023622,&quot;top&quot;:89,&quot;width&quot;:868.0548818897638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8912598425197,&quot;left&quot;:38.94511811023622,&quot;top&quot;:89,&quot;width&quot;:868.0548818897638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8912598425197,&quot;left&quot;:38.94511811023622,&quot;top&quot;:89,&quot;width&quot;:868.0548818897638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8912598425197,&quot;left&quot;:38.94511811023622,&quot;top&quot;:89,&quot;width&quot;:868.0548818897638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8912598425197,&quot;left&quot;:38.94511811023622,&quot;top&quot;:89,&quot;width&quot;:868.0548818897638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8912598425197,&quot;left&quot;:38.94511811023622,&quot;top&quot;:89,&quot;width&quot;:868.0548818897638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bcd78159-1c6a-4550-a96e-3f6f8f7d65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80cc5d80-a764-4939-8654-c8a6e0fb501c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4f2a26cf-8e24-4fe5-97e7-2e245b41b5d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2c2b8d33-ec3a-4902-b3bc-d845a734e9b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506dc21b-7223-4111-bdc1-7d2b884b41ff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80cc5d80-a764-4939-8654-c8a6e0fb501c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80cc5d80-a764-4939-8654-c8a6e0fb501c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PT.DIAGRAM" val="366f40f4-7d9b-4b48-a46d-df2ab32fe827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2349A2"/>
      </a:accent1>
      <a:accent2>
        <a:srgbClr val="5CACA3"/>
      </a:accent2>
      <a:accent3>
        <a:srgbClr val="717FB0"/>
      </a:accent3>
      <a:accent4>
        <a:srgbClr val="A47558"/>
      </a:accent4>
      <a:accent5>
        <a:srgbClr val="B24E6A"/>
      </a:accent5>
      <a:accent6>
        <a:srgbClr val="7B70B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Cappt Presentation Template</Template>
  <TotalTime>20</TotalTime>
  <Words>1632</Words>
  <Application>Microsoft Office PowerPoint</Application>
  <PresentationFormat>宽屏</PresentationFormat>
  <Paragraphs>166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4" baseType="lpstr">
      <vt:lpstr>Arial</vt:lpstr>
      <vt:lpstr>Designed by iSlide</vt:lpstr>
      <vt:lpstr>LLM-Enhanced Failure Localization in Microservices: Integrating Multi-Modal Data and Expert Interpretation</vt:lpstr>
      <vt:lpstr>Modern Microservice Failure Localization</vt:lpstr>
      <vt:lpstr>Existing LLM-based RCA Methods</vt:lpstr>
      <vt:lpstr>Limitations of Previous Methods in Observability AI</vt:lpstr>
      <vt:lpstr>LocaleXpert: A Multi-Agent Framework for Interpretable Microservice Failure Localization</vt:lpstr>
      <vt:lpstr>LocaleXpert System Architecture</vt:lpstr>
      <vt:lpstr>PowerPoint 演示文稿</vt:lpstr>
      <vt:lpstr>PowerPoint 演示文稿</vt:lpstr>
      <vt:lpstr>Metric Anomaly Detection</vt:lpstr>
      <vt:lpstr>Metric and Trace Anomaly Description Generation</vt:lpstr>
      <vt:lpstr>Trace-based and Metric-based Failure Localization Methods</vt:lpstr>
      <vt:lpstr>LocaleXpert Analysis Agents</vt:lpstr>
      <vt:lpstr> EXPERIMENT Components</vt:lpstr>
      <vt:lpstr>Experimental Evaluation Objectives</vt:lpstr>
      <vt:lpstr>Ablation and Deployment Trade-off Analysis</vt:lpstr>
      <vt:lpstr>Evaluation Datasets</vt:lpstr>
      <vt:lpstr>Failure Localization Methods in Distributed Systems</vt:lpstr>
      <vt:lpstr>Two Evaluation Goals</vt:lpstr>
      <vt:lpstr> Experimental Results </vt:lpstr>
      <vt:lpstr>Effectiveness</vt:lpstr>
      <vt:lpstr>PowerPoint 演示文稿</vt:lpstr>
      <vt:lpstr>Thank You</vt:lpstr>
    </vt:vector>
  </TitlesOfParts>
  <Manager>Cappt</Manager>
  <Company>Cappt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LLM-Enhanced Failure Localization in Microservices: Integrating Multi-Modal Data and Expert Interpretation</dc:title>
  <dc:creator>Cappt</dc:creator>
  <cp:lastModifiedBy>金hui 牛</cp:lastModifiedBy>
  <cp:revision>4</cp:revision>
  <dcterms:created xsi:type="dcterms:W3CDTF">2026-06-01T02:34:38Z</dcterms:created>
  <dcterms:modified xsi:type="dcterms:W3CDTF">2026-06-01T05:52:36Z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2810a8e3-6a82-4c7f-89b2-2e617314ca45</vt:lpwstr>
  </property>
  <property fmtid="{D5CDD505-2E9C-101B-9397-08002B2CF9AE}" pid="3" name="ICV">
    <vt:lpwstr>5A6AD22D70EF440A8C05E17460DD82C2_12</vt:lpwstr>
  </property>
  <property fmtid="{D5CDD505-2E9C-101B-9397-08002B2CF9AE}" pid="4" name="KSOProductBuildVer">
    <vt:lpwstr>2052-12.1.0.25865</vt:lpwstr>
  </property>
</Properties>
</file>