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7" r:id="rId2"/>
    <p:sldId id="311" r:id="rId3"/>
    <p:sldId id="312" r:id="rId4"/>
    <p:sldId id="313" r:id="rId5"/>
    <p:sldId id="314" r:id="rId6"/>
    <p:sldId id="315" r:id="rId7"/>
    <p:sldId id="316" r:id="rId8"/>
    <p:sldId id="317" r:id="rId9"/>
    <p:sldId id="299" r:id="rId10"/>
    <p:sldId id="300" r:id="rId11"/>
    <p:sldId id="301" r:id="rId12"/>
    <p:sldId id="302" r:id="rId13"/>
    <p:sldId id="304" r:id="rId14"/>
    <p:sldId id="305" r:id="rId15"/>
    <p:sldId id="266" r:id="rId16"/>
    <p:sldId id="260" r:id="rId17"/>
    <p:sldId id="306" r:id="rId18"/>
    <p:sldId id="309" r:id="rId19"/>
    <p:sldId id="284" r:id="rId20"/>
    <p:sldId id="307" r:id="rId21"/>
    <p:sldId id="310" r:id="rId22"/>
    <p:sldId id="286" r:id="rId23"/>
  </p:sldIdLst>
  <p:sldSz cx="12192000" cy="6858000"/>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p:cViewPr varScale="1">
        <p:scale>
          <a:sx n="93" d="100"/>
          <a:sy n="93" d="100"/>
        </p:scale>
        <p:origin x="106" y="13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reserve="1">
  <p:cSld name="Title Slide">
    <p:spTree>
      <p:nvGrpSpPr>
        <p:cNvPr id="1" name=""/>
        <p:cNvGrpSpPr/>
        <p:nvPr/>
      </p:nvGrpSpPr>
      <p:grpSpPr>
        <a:xfrm>
          <a:off x="0" y="0"/>
          <a:ext cx="0" cy="0"/>
          <a:chOff x="0" y="0"/>
          <a:chExt cx="0" cy="0"/>
        </a:xfrm>
      </p:grpSpPr>
      <p:grpSp>
        <p:nvGrpSpPr>
          <p:cNvPr id="40" name="组合 39"/>
          <p:cNvGrpSpPr/>
          <p:nvPr/>
        </p:nvGrpSpPr>
        <p:grpSpPr>
          <a:xfrm>
            <a:off x="0" y="0"/>
            <a:ext cx="12192002" cy="6858000"/>
            <a:chOff x="0" y="0"/>
            <a:chExt cx="12192002" cy="6858000"/>
          </a:xfrm>
        </p:grpSpPr>
        <p:sp>
          <p:nvSpPr>
            <p:cNvPr id="10" name="任意多边形 9"/>
            <p:cNvSpPr/>
            <p:nvPr/>
          </p:nvSpPr>
          <p:spPr>
            <a:xfrm>
              <a:off x="0" y="4986000"/>
              <a:ext cx="12192002" cy="1872000"/>
            </a:xfrm>
            <a:custGeom>
              <a:avLst/>
              <a:gdLst>
                <a:gd name="connsiteX0" fmla="*/ 12192002 w 12192002"/>
                <a:gd name="connsiteY0" fmla="*/ 0 h 1942911"/>
                <a:gd name="connsiteX1" fmla="*/ 12192002 w 12192002"/>
                <a:gd name="connsiteY1" fmla="*/ 1942911 h 1942911"/>
                <a:gd name="connsiteX2" fmla="*/ 0 w 12192002"/>
                <a:gd name="connsiteY2" fmla="*/ 1942911 h 1942911"/>
                <a:gd name="connsiteX3" fmla="*/ 0 w 12192002"/>
                <a:gd name="connsiteY3" fmla="*/ 0 h 1942911"/>
                <a:gd name="connsiteX4" fmla="*/ 6096000 w 12192002"/>
                <a:gd name="connsiteY4" fmla="*/ 1455517 h 194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2" h="1942911">
                  <a:moveTo>
                    <a:pt x="12192002" y="0"/>
                  </a:moveTo>
                  <a:lnTo>
                    <a:pt x="12192002" y="1942911"/>
                  </a:lnTo>
                  <a:lnTo>
                    <a:pt x="0" y="1942911"/>
                  </a:lnTo>
                  <a:lnTo>
                    <a:pt x="0" y="0"/>
                  </a:lnTo>
                  <a:lnTo>
                    <a:pt x="6096000" y="145551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6" name="矩形 5"/>
            <p:cNvSpPr/>
            <p:nvPr/>
          </p:nvSpPr>
          <p:spPr>
            <a:xfrm>
              <a:off x="0" y="0"/>
              <a:ext cx="12192002" cy="21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35" name="任意多边形 34"/>
            <p:cNvSpPr/>
            <p:nvPr/>
          </p:nvSpPr>
          <p:spPr>
            <a:xfrm>
              <a:off x="5080264" y="706022"/>
              <a:ext cx="2018771" cy="1494742"/>
            </a:xfrm>
            <a:custGeom>
              <a:avLst/>
              <a:gdLst>
                <a:gd name="connsiteX0" fmla="*/ 105213 w 607850"/>
                <a:gd name="connsiteY0" fmla="*/ 237029 h 450066"/>
                <a:gd name="connsiteX1" fmla="*/ 303784 w 607850"/>
                <a:gd name="connsiteY1" fmla="*/ 332583 h 450066"/>
                <a:gd name="connsiteX2" fmla="*/ 502355 w 607850"/>
                <a:gd name="connsiteY2" fmla="*/ 237029 h 450066"/>
                <a:gd name="connsiteX3" fmla="*/ 502355 w 607850"/>
                <a:gd name="connsiteY3" fmla="*/ 323554 h 450066"/>
                <a:gd name="connsiteX4" fmla="*/ 501884 w 607850"/>
                <a:gd name="connsiteY4" fmla="*/ 324683 h 450066"/>
                <a:gd name="connsiteX5" fmla="*/ 319233 w 607850"/>
                <a:gd name="connsiteY5" fmla="*/ 412525 h 450066"/>
                <a:gd name="connsiteX6" fmla="*/ 288430 w 607850"/>
                <a:gd name="connsiteY6" fmla="*/ 412525 h 450066"/>
                <a:gd name="connsiteX7" fmla="*/ 105213 w 607850"/>
                <a:gd name="connsiteY7" fmla="*/ 324495 h 450066"/>
                <a:gd name="connsiteX8" fmla="*/ 575837 w 607850"/>
                <a:gd name="connsiteY8" fmla="*/ 200688 h 450066"/>
                <a:gd name="connsiteX9" fmla="*/ 575837 w 607850"/>
                <a:gd name="connsiteY9" fmla="*/ 370765 h 450066"/>
                <a:gd name="connsiteX10" fmla="*/ 591549 w 607850"/>
                <a:gd name="connsiteY10" fmla="*/ 418459 h 450066"/>
                <a:gd name="connsiteX11" fmla="*/ 567839 w 607850"/>
                <a:gd name="connsiteY11" fmla="*/ 450066 h 450066"/>
                <a:gd name="connsiteX12" fmla="*/ 559842 w 607850"/>
                <a:gd name="connsiteY12" fmla="*/ 450066 h 450066"/>
                <a:gd name="connsiteX13" fmla="*/ 536226 w 607850"/>
                <a:gd name="connsiteY13" fmla="*/ 418459 h 450066"/>
                <a:gd name="connsiteX14" fmla="*/ 551844 w 607850"/>
                <a:gd name="connsiteY14" fmla="*/ 370765 h 450066"/>
                <a:gd name="connsiteX15" fmla="*/ 551844 w 607850"/>
                <a:gd name="connsiteY15" fmla="*/ 212823 h 450066"/>
                <a:gd name="connsiteX16" fmla="*/ 303784 w 607850"/>
                <a:gd name="connsiteY16" fmla="*/ 0 h 450066"/>
                <a:gd name="connsiteX17" fmla="*/ 607850 w 607850"/>
                <a:gd name="connsiteY17" fmla="*/ 146272 h 450066"/>
                <a:gd name="connsiteX18" fmla="*/ 607850 w 607850"/>
                <a:gd name="connsiteY18" fmla="*/ 159629 h 450066"/>
                <a:gd name="connsiteX19" fmla="*/ 303784 w 607850"/>
                <a:gd name="connsiteY19" fmla="*/ 305901 h 450066"/>
                <a:gd name="connsiteX20" fmla="*/ 0 w 607850"/>
                <a:gd name="connsiteY20" fmla="*/ 159817 h 450066"/>
                <a:gd name="connsiteX21" fmla="*/ 0 w 607850"/>
                <a:gd name="connsiteY21" fmla="*/ 146178 h 45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850" h="450066">
                  <a:moveTo>
                    <a:pt x="105213" y="237029"/>
                  </a:moveTo>
                  <a:lnTo>
                    <a:pt x="303784" y="332583"/>
                  </a:lnTo>
                  <a:lnTo>
                    <a:pt x="502355" y="237029"/>
                  </a:lnTo>
                  <a:lnTo>
                    <a:pt x="502355" y="323554"/>
                  </a:lnTo>
                  <a:cubicBezTo>
                    <a:pt x="502167" y="323931"/>
                    <a:pt x="502072" y="324307"/>
                    <a:pt x="501884" y="324683"/>
                  </a:cubicBezTo>
                  <a:lnTo>
                    <a:pt x="319233" y="412525"/>
                  </a:lnTo>
                  <a:lnTo>
                    <a:pt x="288430" y="412525"/>
                  </a:lnTo>
                  <a:lnTo>
                    <a:pt x="105213" y="324495"/>
                  </a:lnTo>
                  <a:close/>
                  <a:moveTo>
                    <a:pt x="575837" y="200688"/>
                  </a:moveTo>
                  <a:lnTo>
                    <a:pt x="575837" y="370765"/>
                  </a:lnTo>
                  <a:lnTo>
                    <a:pt x="591549" y="418459"/>
                  </a:lnTo>
                  <a:lnTo>
                    <a:pt x="567839" y="450066"/>
                  </a:lnTo>
                  <a:lnTo>
                    <a:pt x="559842" y="450066"/>
                  </a:lnTo>
                  <a:lnTo>
                    <a:pt x="536226" y="418459"/>
                  </a:lnTo>
                  <a:lnTo>
                    <a:pt x="551844" y="370765"/>
                  </a:lnTo>
                  <a:lnTo>
                    <a:pt x="551844" y="212823"/>
                  </a:lnTo>
                  <a:close/>
                  <a:moveTo>
                    <a:pt x="303784" y="0"/>
                  </a:moveTo>
                  <a:lnTo>
                    <a:pt x="607850" y="146272"/>
                  </a:lnTo>
                  <a:lnTo>
                    <a:pt x="607850" y="159629"/>
                  </a:lnTo>
                  <a:lnTo>
                    <a:pt x="303784" y="305901"/>
                  </a:lnTo>
                  <a:lnTo>
                    <a:pt x="0" y="159817"/>
                  </a:lnTo>
                  <a:lnTo>
                    <a:pt x="0" y="146178"/>
                  </a:ln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直接连接符 38"/>
            <p:cNvCxnSpPr/>
            <p:nvPr/>
          </p:nvCxnSpPr>
          <p:spPr>
            <a:xfrm>
              <a:off x="1319650" y="4217400"/>
              <a:ext cx="954000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标题 4"/>
          <p:cNvSpPr>
            <a:spLocks noGrp="1"/>
          </p:cNvSpPr>
          <p:nvPr>
            <p:ph type="ctrTitle" hasCustomPrompt="1"/>
          </p:nvPr>
        </p:nvSpPr>
        <p:spPr>
          <a:xfrm>
            <a:off x="1229649" y="1028700"/>
            <a:ext cx="9720000" cy="2376000"/>
          </a:xfrm>
          <a:prstGeom prst="rect">
            <a:avLst/>
          </a:prstGeom>
        </p:spPr>
        <p:txBody>
          <a:bodyPr wrap="square" anchor="b">
            <a:noAutofit/>
          </a:bodyPr>
          <a:lstStyle>
            <a:lvl1pPr algn="ctr">
              <a:lnSpc>
                <a:spcPct val="100000"/>
              </a:lnSpc>
              <a:defRPr sz="5400">
                <a:ln w="19050">
                  <a:noFill/>
                </a:ln>
                <a:solidFill>
                  <a:schemeClr val="tx1"/>
                </a:solidFill>
              </a:defRPr>
            </a:lvl1pPr>
          </a:lstStyle>
          <a:p>
            <a:pPr lvl="0"/>
            <a:r>
              <a:rPr lang="zh-CN" altLang="en-US" dirty="0"/>
              <a:t>Click to add title</a:t>
            </a:r>
            <a:endParaRPr lang="en-US" dirty="0"/>
          </a:p>
        </p:txBody>
      </p:sp>
      <p:sp>
        <p:nvSpPr>
          <p:cNvPr id="9" name="副标题 8"/>
          <p:cNvSpPr>
            <a:spLocks noGrp="1"/>
          </p:cNvSpPr>
          <p:nvPr>
            <p:ph type="subTitle" sz="quarter" idx="1" hasCustomPrompt="1"/>
          </p:nvPr>
        </p:nvSpPr>
        <p:spPr>
          <a:xfrm>
            <a:off x="1229652" y="3492703"/>
            <a:ext cx="9720000" cy="648000"/>
          </a:xfrm>
          <a:prstGeom prst="rect">
            <a:avLst/>
          </a:prstGeom>
          <a:noFill/>
          <a:ln>
            <a:noFill/>
          </a:ln>
        </p:spPr>
        <p:txBody>
          <a:bodyPr vert="horz" wrap="square" lIns="91440" tIns="45720" rIns="91440" bIns="45720" rtlCol="0" anchor="t" anchorCtr="0">
            <a:normAutofit/>
          </a:bodyPr>
          <a:lstStyle>
            <a:lvl1pPr marL="0" indent="0" algn="ctr">
              <a:lnSpc>
                <a:spcPct val="100000"/>
              </a:lnSpc>
              <a:buNone/>
              <a:defRPr lang="en-US" sz="2400" dirty="0">
                <a:solidFill>
                  <a:schemeClr val="tx1"/>
                </a:solidFill>
                <a:latin typeface="+mj-lt"/>
              </a:defRPr>
            </a:lvl1pPr>
          </a:lstStyle>
          <a:p>
            <a:pPr lvl="0"/>
            <a:r>
              <a:rPr lang="zh-CN" altLang="en-US" dirty="0"/>
              <a:t>Click to add subtitle</a:t>
            </a:r>
            <a:endParaRPr lang="en-US" dirty="0"/>
          </a:p>
        </p:txBody>
      </p:sp>
      <p:sp>
        <p:nvSpPr>
          <p:cNvPr id="4" name="文本占位符 3"/>
          <p:cNvSpPr>
            <a:spLocks noGrp="1"/>
          </p:cNvSpPr>
          <p:nvPr>
            <p:ph type="body" sz="quarter" idx="13" hasCustomPrompt="1"/>
          </p:nvPr>
        </p:nvSpPr>
        <p:spPr>
          <a:xfrm>
            <a:off x="3674922" y="4561558"/>
            <a:ext cx="2340000" cy="432000"/>
          </a:xfrm>
          <a:prstGeom prst="rect">
            <a:avLst/>
          </a:prstGeom>
        </p:spPr>
        <p:txBody>
          <a:bodyPr wrap="square" lIns="90000" anchor="ctr">
            <a:normAutofit/>
          </a:bodyPr>
          <a:lstStyle>
            <a:lvl1pPr marL="0" indent="0" algn="l">
              <a:lnSpc>
                <a:spcPct val="100000"/>
              </a:lnSpc>
              <a:buNone/>
              <a:defRPr sz="1400"/>
            </a:lvl1pPr>
          </a:lstStyle>
          <a:p>
            <a:pPr lvl="0"/>
            <a:r>
              <a:rPr lang="zh-CN" altLang="en-US" dirty="0"/>
              <a:t>Presenter name</a:t>
            </a:r>
            <a:endParaRPr lang="en-US" dirty="0"/>
          </a:p>
        </p:txBody>
      </p:sp>
      <p:sp>
        <p:nvSpPr>
          <p:cNvPr id="7" name="文本占位符 6"/>
          <p:cNvSpPr>
            <a:spLocks noGrp="1"/>
          </p:cNvSpPr>
          <p:nvPr>
            <p:ph type="body" sz="quarter" idx="14" hasCustomPrompt="1"/>
          </p:nvPr>
        </p:nvSpPr>
        <p:spPr>
          <a:xfrm>
            <a:off x="6896452" y="4561558"/>
            <a:ext cx="2340000" cy="432000"/>
          </a:xfrm>
          <a:prstGeom prst="rect">
            <a:avLst/>
          </a:prstGeom>
        </p:spPr>
        <p:txBody>
          <a:bodyPr wrap="none" anchor="ctr">
            <a:normAutofit/>
          </a:bodyPr>
          <a:lstStyle>
            <a:lvl1pPr marL="0" indent="0" algn="l">
              <a:lnSpc>
                <a:spcPct val="100000"/>
              </a:lnSpc>
              <a:buNone/>
              <a:defRPr sz="1400"/>
            </a:lvl1pPr>
          </a:lstStyle>
          <a:p>
            <a:pPr lvl="0"/>
            <a:r>
              <a:rPr lang="zh-CN" altLang="en-US" dirty="0">
                <a:solidFill>
                  <a:schemeClr val="tx1"/>
                </a:solidFill>
              </a:rPr>
              <a:t>20XX.XX.XX</a:t>
            </a:r>
            <a:endParaRPr lang="en-US" dirty="0"/>
          </a:p>
        </p:txBody>
      </p:sp>
      <p:grpSp>
        <p:nvGrpSpPr>
          <p:cNvPr id="36" name="组合 35"/>
          <p:cNvGrpSpPr/>
          <p:nvPr/>
        </p:nvGrpSpPr>
        <p:grpSpPr>
          <a:xfrm>
            <a:off x="3118380" y="4543558"/>
            <a:ext cx="468000" cy="468000"/>
            <a:chOff x="3118380" y="4543558"/>
            <a:chExt cx="468000" cy="468000"/>
          </a:xfrm>
        </p:grpSpPr>
        <p:sp>
          <p:nvSpPr>
            <p:cNvPr id="14" name="椭圆 13"/>
            <p:cNvSpPr>
              <a:spLocks noChangeAspect="1"/>
            </p:cNvSpPr>
            <p:nvPr/>
          </p:nvSpPr>
          <p:spPr>
            <a:xfrm>
              <a:off x="3118380" y="4543558"/>
              <a:ext cx="468000" cy="468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任意多边形 26"/>
            <p:cNvSpPr>
              <a:spLocks noChangeAspect="1"/>
            </p:cNvSpPr>
            <p:nvPr/>
          </p:nvSpPr>
          <p:spPr>
            <a:xfrm>
              <a:off x="3232712" y="4651558"/>
              <a:ext cx="239337" cy="252000"/>
            </a:xfrm>
            <a:custGeom>
              <a:avLst/>
              <a:gdLst>
                <a:gd name="T0" fmla="*/ 6150 w 6474"/>
                <a:gd name="T1" fmla="*/ 5849 h 6827"/>
                <a:gd name="T2" fmla="*/ 4672 w 6474"/>
                <a:gd name="T3" fmla="*/ 4081 h 6827"/>
                <a:gd name="T4" fmla="*/ 3237 w 6474"/>
                <a:gd name="T5" fmla="*/ 0 h 6827"/>
                <a:gd name="T6" fmla="*/ 1802 w 6474"/>
                <a:gd name="T7" fmla="*/ 4081 h 6827"/>
                <a:gd name="T8" fmla="*/ 325 w 6474"/>
                <a:gd name="T9" fmla="*/ 5849 h 6827"/>
                <a:gd name="T10" fmla="*/ 782 w 6474"/>
                <a:gd name="T11" fmla="*/ 6827 h 6827"/>
                <a:gd name="T12" fmla="*/ 5693 w 6474"/>
                <a:gd name="T13" fmla="*/ 6827 h 6827"/>
                <a:gd name="T14" fmla="*/ 6150 w 6474"/>
                <a:gd name="T15" fmla="*/ 5849 h 6827"/>
                <a:gd name="T16" fmla="*/ 1509 w 6474"/>
                <a:gd name="T17" fmla="*/ 2427 h 6827"/>
                <a:gd name="T18" fmla="*/ 3237 w 6474"/>
                <a:gd name="T19" fmla="*/ 557 h 6827"/>
                <a:gd name="T20" fmla="*/ 4913 w 6474"/>
                <a:gd name="T21" fmla="*/ 1866 h 6827"/>
                <a:gd name="T22" fmla="*/ 2472 w 6474"/>
                <a:gd name="T23" fmla="*/ 1687 h 6827"/>
                <a:gd name="T24" fmla="*/ 2006 w 6474"/>
                <a:gd name="T25" fmla="*/ 1762 h 6827"/>
                <a:gd name="T26" fmla="*/ 1509 w 6474"/>
                <a:gd name="T27" fmla="*/ 2427 h 6827"/>
                <a:gd name="T28" fmla="*/ 1651 w 6474"/>
                <a:gd name="T29" fmla="*/ 3012 h 6827"/>
                <a:gd name="T30" fmla="*/ 2335 w 6474"/>
                <a:gd name="T31" fmla="*/ 2326 h 6827"/>
                <a:gd name="T32" fmla="*/ 4958 w 6474"/>
                <a:gd name="T33" fmla="*/ 2517 h 6827"/>
                <a:gd name="T34" fmla="*/ 1651 w 6474"/>
                <a:gd name="T35" fmla="*/ 3012 h 6827"/>
                <a:gd name="T36" fmla="*/ 4053 w 6474"/>
                <a:gd name="T37" fmla="*/ 4435 h 6827"/>
                <a:gd name="T38" fmla="*/ 2422 w 6474"/>
                <a:gd name="T39" fmla="*/ 4435 h 6827"/>
                <a:gd name="T40" fmla="*/ 4053 w 6474"/>
                <a:gd name="T41" fmla="*/ 4435 h 6827"/>
                <a:gd name="T42" fmla="*/ 5693 w 6474"/>
                <a:gd name="T43" fmla="*/ 6270 h 6827"/>
                <a:gd name="T44" fmla="*/ 782 w 6474"/>
                <a:gd name="T45" fmla="*/ 6270 h 6827"/>
                <a:gd name="T46" fmla="*/ 752 w 6474"/>
                <a:gd name="T47" fmla="*/ 6206 h 6827"/>
                <a:gd name="T48" fmla="*/ 1965 w 6474"/>
                <a:gd name="T49" fmla="*/ 4754 h 6827"/>
                <a:gd name="T50" fmla="*/ 4510 w 6474"/>
                <a:gd name="T51" fmla="*/ 4755 h 6827"/>
                <a:gd name="T52" fmla="*/ 5723 w 6474"/>
                <a:gd name="T53" fmla="*/ 6206 h 6827"/>
                <a:gd name="T54" fmla="*/ 5693 w 6474"/>
                <a:gd name="T55" fmla="*/ 6270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474" h="6827">
                  <a:moveTo>
                    <a:pt x="6150" y="5849"/>
                  </a:moveTo>
                  <a:lnTo>
                    <a:pt x="4672" y="4081"/>
                  </a:lnTo>
                  <a:cubicBezTo>
                    <a:pt x="6334" y="2771"/>
                    <a:pt x="5433" y="0"/>
                    <a:pt x="3237" y="0"/>
                  </a:cubicBezTo>
                  <a:cubicBezTo>
                    <a:pt x="1047" y="0"/>
                    <a:pt x="134" y="2766"/>
                    <a:pt x="1802" y="4081"/>
                  </a:cubicBezTo>
                  <a:lnTo>
                    <a:pt x="325" y="5849"/>
                  </a:lnTo>
                  <a:cubicBezTo>
                    <a:pt x="0" y="6237"/>
                    <a:pt x="276" y="6827"/>
                    <a:pt x="782" y="6827"/>
                  </a:cubicBezTo>
                  <a:lnTo>
                    <a:pt x="5693" y="6827"/>
                  </a:lnTo>
                  <a:cubicBezTo>
                    <a:pt x="6199" y="6827"/>
                    <a:pt x="6474" y="6236"/>
                    <a:pt x="6150" y="5849"/>
                  </a:cubicBezTo>
                  <a:close/>
                  <a:moveTo>
                    <a:pt x="1509" y="2427"/>
                  </a:moveTo>
                  <a:cubicBezTo>
                    <a:pt x="1446" y="1415"/>
                    <a:pt x="2213" y="557"/>
                    <a:pt x="3237" y="557"/>
                  </a:cubicBezTo>
                  <a:cubicBezTo>
                    <a:pt x="3991" y="557"/>
                    <a:pt x="4706" y="1049"/>
                    <a:pt x="4913" y="1866"/>
                  </a:cubicBezTo>
                  <a:cubicBezTo>
                    <a:pt x="4202" y="2480"/>
                    <a:pt x="3109" y="2420"/>
                    <a:pt x="2472" y="1687"/>
                  </a:cubicBezTo>
                  <a:cubicBezTo>
                    <a:pt x="2337" y="1532"/>
                    <a:pt x="2086" y="1572"/>
                    <a:pt x="2006" y="1762"/>
                  </a:cubicBezTo>
                  <a:cubicBezTo>
                    <a:pt x="1896" y="2022"/>
                    <a:pt x="1725" y="2250"/>
                    <a:pt x="1509" y="2427"/>
                  </a:cubicBezTo>
                  <a:close/>
                  <a:moveTo>
                    <a:pt x="1651" y="3012"/>
                  </a:moveTo>
                  <a:cubicBezTo>
                    <a:pt x="1926" y="2834"/>
                    <a:pt x="2159" y="2600"/>
                    <a:pt x="2335" y="2326"/>
                  </a:cubicBezTo>
                  <a:cubicBezTo>
                    <a:pt x="3080" y="2932"/>
                    <a:pt x="4124" y="3014"/>
                    <a:pt x="4958" y="2517"/>
                  </a:cubicBezTo>
                  <a:cubicBezTo>
                    <a:pt x="4763" y="4234"/>
                    <a:pt x="2357" y="4593"/>
                    <a:pt x="1651" y="3012"/>
                  </a:cubicBezTo>
                  <a:close/>
                  <a:moveTo>
                    <a:pt x="4053" y="4435"/>
                  </a:moveTo>
                  <a:cubicBezTo>
                    <a:pt x="3614" y="5198"/>
                    <a:pt x="2860" y="5197"/>
                    <a:pt x="2422" y="4435"/>
                  </a:cubicBezTo>
                  <a:cubicBezTo>
                    <a:pt x="2946" y="4634"/>
                    <a:pt x="3528" y="4634"/>
                    <a:pt x="4053" y="4435"/>
                  </a:cubicBezTo>
                  <a:close/>
                  <a:moveTo>
                    <a:pt x="5693" y="6270"/>
                  </a:moveTo>
                  <a:lnTo>
                    <a:pt x="782" y="6270"/>
                  </a:lnTo>
                  <a:cubicBezTo>
                    <a:pt x="748" y="6270"/>
                    <a:pt x="730" y="6232"/>
                    <a:pt x="752" y="6206"/>
                  </a:cubicBezTo>
                  <a:lnTo>
                    <a:pt x="1965" y="4754"/>
                  </a:lnTo>
                  <a:cubicBezTo>
                    <a:pt x="2617" y="5833"/>
                    <a:pt x="3858" y="5837"/>
                    <a:pt x="4510" y="4755"/>
                  </a:cubicBezTo>
                  <a:lnTo>
                    <a:pt x="5723" y="6206"/>
                  </a:lnTo>
                  <a:cubicBezTo>
                    <a:pt x="5745" y="6232"/>
                    <a:pt x="5727" y="6270"/>
                    <a:pt x="5693" y="6270"/>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37" name="组合 36"/>
          <p:cNvGrpSpPr/>
          <p:nvPr/>
        </p:nvGrpSpPr>
        <p:grpSpPr>
          <a:xfrm>
            <a:off x="6338279" y="4543558"/>
            <a:ext cx="468000" cy="468000"/>
            <a:chOff x="6338279" y="4543558"/>
            <a:chExt cx="468000" cy="468000"/>
          </a:xfrm>
        </p:grpSpPr>
        <p:sp>
          <p:nvSpPr>
            <p:cNvPr id="20" name="椭圆 19"/>
            <p:cNvSpPr>
              <a:spLocks noChangeAspect="1"/>
            </p:cNvSpPr>
            <p:nvPr/>
          </p:nvSpPr>
          <p:spPr>
            <a:xfrm>
              <a:off x="6338279" y="4543558"/>
              <a:ext cx="468000" cy="468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a:spLocks noChangeAspect="1"/>
            </p:cNvSpPr>
            <p:nvPr/>
          </p:nvSpPr>
          <p:spPr>
            <a:xfrm>
              <a:off x="6460771" y="4651558"/>
              <a:ext cx="223017" cy="252000"/>
            </a:xfrm>
            <a:custGeom>
              <a:avLst/>
              <a:gdLst>
                <a:gd name="T0" fmla="*/ 4674 w 6479"/>
                <a:gd name="T1" fmla="*/ 4582 h 7332"/>
                <a:gd name="T2" fmla="*/ 5533 w 6479"/>
                <a:gd name="T3" fmla="*/ 3453 h 7332"/>
                <a:gd name="T4" fmla="*/ 5396 w 6479"/>
                <a:gd name="T5" fmla="*/ 2009 h 7332"/>
                <a:gd name="T6" fmla="*/ 946 w 6479"/>
                <a:gd name="T7" fmla="*/ 2249 h 7332"/>
                <a:gd name="T8" fmla="*/ 1140 w 6479"/>
                <a:gd name="T9" fmla="*/ 3719 h 7332"/>
                <a:gd name="T10" fmla="*/ 324 w 6479"/>
                <a:gd name="T11" fmla="*/ 6353 h 7332"/>
                <a:gd name="T12" fmla="*/ 5697 w 6479"/>
                <a:gd name="T13" fmla="*/ 7332 h 7332"/>
                <a:gd name="T14" fmla="*/ 4976 w 6479"/>
                <a:gd name="T15" fmla="*/ 2528 h 7332"/>
                <a:gd name="T16" fmla="*/ 4038 w 6479"/>
                <a:gd name="T17" fmla="*/ 3174 h 7332"/>
                <a:gd name="T18" fmla="*/ 4976 w 6479"/>
                <a:gd name="T19" fmla="*/ 2528 h 7332"/>
                <a:gd name="T20" fmla="*/ 3759 w 6479"/>
                <a:gd name="T21" fmla="*/ 1971 h 7332"/>
                <a:gd name="T22" fmla="*/ 3481 w 6479"/>
                <a:gd name="T23" fmla="*/ 2572 h 7332"/>
                <a:gd name="T24" fmla="*/ 2998 w 6479"/>
                <a:gd name="T25" fmla="*/ 2249 h 7332"/>
                <a:gd name="T26" fmla="*/ 1706 w 6479"/>
                <a:gd name="T27" fmla="*/ 1971 h 7332"/>
                <a:gd name="T28" fmla="*/ 1503 w 6479"/>
                <a:gd name="T29" fmla="*/ 3174 h 7332"/>
                <a:gd name="T30" fmla="*/ 2441 w 6479"/>
                <a:gd name="T31" fmla="*/ 2528 h 7332"/>
                <a:gd name="T32" fmla="*/ 1503 w 6479"/>
                <a:gd name="T33" fmla="*/ 3174 h 7332"/>
                <a:gd name="T34" fmla="*/ 2719 w 6479"/>
                <a:gd name="T35" fmla="*/ 3731 h 7332"/>
                <a:gd name="T36" fmla="*/ 2998 w 6479"/>
                <a:gd name="T37" fmla="*/ 3130 h 7332"/>
                <a:gd name="T38" fmla="*/ 3481 w 6479"/>
                <a:gd name="T39" fmla="*/ 3453 h 7332"/>
                <a:gd name="T40" fmla="*/ 4701 w 6479"/>
                <a:gd name="T41" fmla="*/ 3731 h 7332"/>
                <a:gd name="T42" fmla="*/ 3703 w 6479"/>
                <a:gd name="T43" fmla="*/ 5617 h 7332"/>
                <a:gd name="T44" fmla="*/ 2914 w 6479"/>
                <a:gd name="T45" fmla="*/ 5065 h 7332"/>
                <a:gd name="T46" fmla="*/ 3703 w 6479"/>
                <a:gd name="T47" fmla="*/ 5617 h 7332"/>
                <a:gd name="T48" fmla="*/ 782 w 6479"/>
                <a:gd name="T49" fmla="*/ 6774 h 7332"/>
                <a:gd name="T50" fmla="*/ 2283 w 6479"/>
                <a:gd name="T51" fmla="*/ 4879 h 7332"/>
                <a:gd name="T52" fmla="*/ 1914 w 6479"/>
                <a:gd name="T53" fmla="*/ 6774 h 7332"/>
                <a:gd name="T54" fmla="*/ 2637 w 6479"/>
                <a:gd name="T55" fmla="*/ 6174 h 7332"/>
                <a:gd name="T56" fmla="*/ 3992 w 6479"/>
                <a:gd name="T57" fmla="*/ 6774 h 7332"/>
                <a:gd name="T58" fmla="*/ 5697 w 6479"/>
                <a:gd name="T59" fmla="*/ 6774 h 7332"/>
                <a:gd name="T60" fmla="*/ 4103 w 6479"/>
                <a:gd name="T61" fmla="*/ 4919 h 7332"/>
                <a:gd name="T62" fmla="*/ 5727 w 6479"/>
                <a:gd name="T63" fmla="*/ 6710 h 7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479" h="7332">
                  <a:moveTo>
                    <a:pt x="6154" y="6353"/>
                  </a:moveTo>
                  <a:lnTo>
                    <a:pt x="4674" y="4582"/>
                  </a:lnTo>
                  <a:cubicBezTo>
                    <a:pt x="4961" y="4352"/>
                    <a:pt x="5190" y="4055"/>
                    <a:pt x="5338" y="3719"/>
                  </a:cubicBezTo>
                  <a:cubicBezTo>
                    <a:pt x="5451" y="3683"/>
                    <a:pt x="5533" y="3577"/>
                    <a:pt x="5533" y="3453"/>
                  </a:cubicBezTo>
                  <a:lnTo>
                    <a:pt x="5533" y="2249"/>
                  </a:lnTo>
                  <a:cubicBezTo>
                    <a:pt x="5533" y="2147"/>
                    <a:pt x="5478" y="2058"/>
                    <a:pt x="5396" y="2009"/>
                  </a:cubicBezTo>
                  <a:cubicBezTo>
                    <a:pt x="4680" y="0"/>
                    <a:pt x="1797" y="7"/>
                    <a:pt x="1083" y="2009"/>
                  </a:cubicBezTo>
                  <a:cubicBezTo>
                    <a:pt x="1001" y="2058"/>
                    <a:pt x="946" y="2147"/>
                    <a:pt x="946" y="2249"/>
                  </a:cubicBezTo>
                  <a:lnTo>
                    <a:pt x="946" y="3453"/>
                  </a:lnTo>
                  <a:cubicBezTo>
                    <a:pt x="946" y="3577"/>
                    <a:pt x="1028" y="3683"/>
                    <a:pt x="1140" y="3719"/>
                  </a:cubicBezTo>
                  <a:cubicBezTo>
                    <a:pt x="1289" y="4055"/>
                    <a:pt x="1517" y="4352"/>
                    <a:pt x="1805" y="4582"/>
                  </a:cubicBezTo>
                  <a:lnTo>
                    <a:pt x="324" y="6353"/>
                  </a:lnTo>
                  <a:cubicBezTo>
                    <a:pt x="0" y="6741"/>
                    <a:pt x="276" y="7332"/>
                    <a:pt x="782" y="7332"/>
                  </a:cubicBezTo>
                  <a:lnTo>
                    <a:pt x="5697" y="7332"/>
                  </a:lnTo>
                  <a:cubicBezTo>
                    <a:pt x="6203" y="7332"/>
                    <a:pt x="6479" y="6741"/>
                    <a:pt x="6154" y="6353"/>
                  </a:cubicBezTo>
                  <a:close/>
                  <a:moveTo>
                    <a:pt x="4976" y="2528"/>
                  </a:moveTo>
                  <a:lnTo>
                    <a:pt x="4976" y="3174"/>
                  </a:lnTo>
                  <a:lnTo>
                    <a:pt x="4038" y="3174"/>
                  </a:lnTo>
                  <a:lnTo>
                    <a:pt x="4038" y="2528"/>
                  </a:lnTo>
                  <a:lnTo>
                    <a:pt x="4976" y="2528"/>
                  </a:lnTo>
                  <a:close/>
                  <a:moveTo>
                    <a:pt x="4773" y="1971"/>
                  </a:moveTo>
                  <a:lnTo>
                    <a:pt x="3759" y="1971"/>
                  </a:lnTo>
                  <a:cubicBezTo>
                    <a:pt x="3606" y="1971"/>
                    <a:pt x="3481" y="2095"/>
                    <a:pt x="3481" y="2249"/>
                  </a:cubicBezTo>
                  <a:lnTo>
                    <a:pt x="3481" y="2572"/>
                  </a:lnTo>
                  <a:lnTo>
                    <a:pt x="2998" y="2572"/>
                  </a:lnTo>
                  <a:lnTo>
                    <a:pt x="2998" y="2249"/>
                  </a:lnTo>
                  <a:cubicBezTo>
                    <a:pt x="2998" y="2095"/>
                    <a:pt x="2873" y="1971"/>
                    <a:pt x="2719" y="1971"/>
                  </a:cubicBezTo>
                  <a:lnTo>
                    <a:pt x="1706" y="1971"/>
                  </a:lnTo>
                  <a:cubicBezTo>
                    <a:pt x="2333" y="759"/>
                    <a:pt x="4145" y="758"/>
                    <a:pt x="4773" y="1971"/>
                  </a:cubicBezTo>
                  <a:close/>
                  <a:moveTo>
                    <a:pt x="1503" y="3174"/>
                  </a:moveTo>
                  <a:lnTo>
                    <a:pt x="1503" y="2528"/>
                  </a:lnTo>
                  <a:lnTo>
                    <a:pt x="2441" y="2528"/>
                  </a:lnTo>
                  <a:lnTo>
                    <a:pt x="2441" y="3174"/>
                  </a:lnTo>
                  <a:lnTo>
                    <a:pt x="1503" y="3174"/>
                  </a:lnTo>
                  <a:close/>
                  <a:moveTo>
                    <a:pt x="1778" y="3731"/>
                  </a:moveTo>
                  <a:lnTo>
                    <a:pt x="2719" y="3731"/>
                  </a:lnTo>
                  <a:cubicBezTo>
                    <a:pt x="2873" y="3731"/>
                    <a:pt x="2998" y="3607"/>
                    <a:pt x="2998" y="3453"/>
                  </a:cubicBezTo>
                  <a:lnTo>
                    <a:pt x="2998" y="3130"/>
                  </a:lnTo>
                  <a:lnTo>
                    <a:pt x="3481" y="3130"/>
                  </a:lnTo>
                  <a:lnTo>
                    <a:pt x="3481" y="3453"/>
                  </a:lnTo>
                  <a:cubicBezTo>
                    <a:pt x="3481" y="3607"/>
                    <a:pt x="3606" y="3731"/>
                    <a:pt x="3759" y="3731"/>
                  </a:cubicBezTo>
                  <a:lnTo>
                    <a:pt x="4701" y="3731"/>
                  </a:lnTo>
                  <a:cubicBezTo>
                    <a:pt x="4022" y="4786"/>
                    <a:pt x="2466" y="4802"/>
                    <a:pt x="1778" y="3731"/>
                  </a:cubicBezTo>
                  <a:close/>
                  <a:moveTo>
                    <a:pt x="3703" y="5617"/>
                  </a:moveTo>
                  <a:lnTo>
                    <a:pt x="2776" y="5617"/>
                  </a:lnTo>
                  <a:cubicBezTo>
                    <a:pt x="2817" y="5453"/>
                    <a:pt x="2863" y="5270"/>
                    <a:pt x="2914" y="5065"/>
                  </a:cubicBezTo>
                  <a:cubicBezTo>
                    <a:pt x="3126" y="5095"/>
                    <a:pt x="3347" y="5096"/>
                    <a:pt x="3565" y="5065"/>
                  </a:cubicBezTo>
                  <a:cubicBezTo>
                    <a:pt x="3616" y="5269"/>
                    <a:pt x="3662" y="5453"/>
                    <a:pt x="3703" y="5617"/>
                  </a:cubicBezTo>
                  <a:close/>
                  <a:moveTo>
                    <a:pt x="1914" y="6774"/>
                  </a:moveTo>
                  <a:lnTo>
                    <a:pt x="782" y="6774"/>
                  </a:lnTo>
                  <a:cubicBezTo>
                    <a:pt x="748" y="6774"/>
                    <a:pt x="730" y="6736"/>
                    <a:pt x="752" y="6710"/>
                  </a:cubicBezTo>
                  <a:lnTo>
                    <a:pt x="2283" y="4879"/>
                  </a:lnTo>
                  <a:cubicBezTo>
                    <a:pt x="2318" y="4895"/>
                    <a:pt x="2345" y="4906"/>
                    <a:pt x="2376" y="4919"/>
                  </a:cubicBezTo>
                  <a:cubicBezTo>
                    <a:pt x="2077" y="6116"/>
                    <a:pt x="1965" y="6558"/>
                    <a:pt x="1914" y="6774"/>
                  </a:cubicBezTo>
                  <a:close/>
                  <a:moveTo>
                    <a:pt x="2487" y="6774"/>
                  </a:moveTo>
                  <a:cubicBezTo>
                    <a:pt x="2518" y="6649"/>
                    <a:pt x="2565" y="6460"/>
                    <a:pt x="2637" y="6174"/>
                  </a:cubicBezTo>
                  <a:lnTo>
                    <a:pt x="3842" y="6174"/>
                  </a:lnTo>
                  <a:cubicBezTo>
                    <a:pt x="3914" y="6460"/>
                    <a:pt x="3961" y="6649"/>
                    <a:pt x="3992" y="6774"/>
                  </a:cubicBezTo>
                  <a:lnTo>
                    <a:pt x="2487" y="6774"/>
                  </a:lnTo>
                  <a:close/>
                  <a:moveTo>
                    <a:pt x="5697" y="6774"/>
                  </a:moveTo>
                  <a:lnTo>
                    <a:pt x="4565" y="6774"/>
                  </a:lnTo>
                  <a:cubicBezTo>
                    <a:pt x="4513" y="6557"/>
                    <a:pt x="4400" y="6108"/>
                    <a:pt x="4103" y="4919"/>
                  </a:cubicBezTo>
                  <a:cubicBezTo>
                    <a:pt x="4133" y="4906"/>
                    <a:pt x="4158" y="4896"/>
                    <a:pt x="4196" y="4879"/>
                  </a:cubicBezTo>
                  <a:lnTo>
                    <a:pt x="5727" y="6710"/>
                  </a:lnTo>
                  <a:cubicBezTo>
                    <a:pt x="5748" y="6736"/>
                    <a:pt x="5731" y="6774"/>
                    <a:pt x="5697" y="6774"/>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zh-CN" altLang="en-US" dirty="0"/>
              <a:t>Click to add title</a:t>
            </a:r>
            <a:endParaRPr lang="en-US" dirty="0"/>
          </a:p>
        </p:txBody>
      </p:sp>
      <p:sp>
        <p:nvSpPr>
          <p:cNvPr id="3" name="内容占位符 2"/>
          <p:cNvSpPr>
            <a:spLocks noGrp="1"/>
          </p:cNvSpPr>
          <p:nvPr>
            <p:ph idx="1" hasCustomPrompt="1"/>
          </p:nvPr>
        </p:nvSpPr>
        <p:spPr/>
        <p:txBody>
          <a:bodyPr/>
          <a:lstStyle>
            <a:lvl1pPr>
              <a:defRPr/>
            </a:lvl1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11" name="组合 10"/>
          <p:cNvGrpSpPr/>
          <p:nvPr/>
        </p:nvGrpSpPr>
        <p:grpSpPr>
          <a:xfrm>
            <a:off x="-1" y="0"/>
            <a:ext cx="12192001" cy="6858000"/>
            <a:chOff x="-1" y="0"/>
            <a:chExt cx="12192001" cy="6858000"/>
          </a:xfrm>
        </p:grpSpPr>
        <p:sp>
          <p:nvSpPr>
            <p:cNvPr id="8" name="五边形 7"/>
            <p:cNvSpPr/>
            <p:nvPr/>
          </p:nvSpPr>
          <p:spPr>
            <a:xfrm>
              <a:off x="-1" y="0"/>
              <a:ext cx="4320000" cy="6858000"/>
            </a:xfrm>
            <a:prstGeom prst="homePlate">
              <a:avLst>
                <a:gd name="adj" fmla="val 29962"/>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9" name="矩形 8"/>
            <p:cNvSpPr/>
            <p:nvPr/>
          </p:nvSpPr>
          <p:spPr>
            <a:xfrm>
              <a:off x="11976000" y="0"/>
              <a:ext cx="216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grpSp>
      <p:sp>
        <p:nvSpPr>
          <p:cNvPr id="2" name="标题 1"/>
          <p:cNvSpPr>
            <a:spLocks noGrp="1"/>
          </p:cNvSpPr>
          <p:nvPr>
            <p:ph type="title" hasCustomPrompt="1"/>
          </p:nvPr>
        </p:nvSpPr>
        <p:spPr>
          <a:xfrm>
            <a:off x="660400" y="2910914"/>
            <a:ext cx="3092734" cy="1036172"/>
          </a:xfrm>
          <a:prstGeom prst="rect">
            <a:avLst/>
          </a:prstGeom>
          <a:noFill/>
        </p:spPr>
        <p:txBody>
          <a:bodyPr anchor="t" anchorCtr="0">
            <a:normAutofit/>
          </a:bodyPr>
          <a:lstStyle>
            <a:lvl1pPr algn="ctr">
              <a:defRPr sz="4800">
                <a:solidFill>
                  <a:schemeClr val="bg1"/>
                </a:solidFill>
              </a:defRPr>
            </a:lvl1pPr>
          </a:lstStyle>
          <a:p>
            <a:pPr lvl="0"/>
            <a:r>
              <a:rPr lang="zh-CN" altLang="en-US" dirty="0"/>
              <a:t>Agenda</a:t>
            </a:r>
            <a:endParaRPr lang="en-US" dirty="0"/>
          </a:p>
        </p:txBody>
      </p:sp>
      <p:sp>
        <p:nvSpPr>
          <p:cNvPr id="3" name="内容占位符 2"/>
          <p:cNvSpPr>
            <a:spLocks noGrp="1"/>
          </p:cNvSpPr>
          <p:nvPr>
            <p:ph sz="quarter" idx="1" hasCustomPrompt="1"/>
          </p:nvPr>
        </p:nvSpPr>
        <p:spPr>
          <a:xfrm>
            <a:off x="5038900" y="1089000"/>
            <a:ext cx="6480000" cy="4680000"/>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p>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bg>
      <p:bgPr>
        <a:solidFill>
          <a:schemeClr val="bg1"/>
        </a:solidFill>
        <a:effectLst/>
      </p:bgPr>
    </p:bg>
    <p:spTree>
      <p:nvGrpSpPr>
        <p:cNvPr id="1" name=""/>
        <p:cNvGrpSpPr/>
        <p:nvPr/>
      </p:nvGrpSpPr>
      <p:grpSpPr>
        <a:xfrm>
          <a:off x="0" y="0"/>
          <a:ext cx="0" cy="0"/>
          <a:chOff x="0" y="0"/>
          <a:chExt cx="0" cy="0"/>
        </a:xfrm>
      </p:grpSpPr>
      <p:grpSp>
        <p:nvGrpSpPr>
          <p:cNvPr id="18" name="组合 17"/>
          <p:cNvGrpSpPr/>
          <p:nvPr/>
        </p:nvGrpSpPr>
        <p:grpSpPr>
          <a:xfrm>
            <a:off x="0" y="0"/>
            <a:ext cx="12192002" cy="6858000"/>
            <a:chOff x="0" y="0"/>
            <a:chExt cx="12192002" cy="6858000"/>
          </a:xfrm>
        </p:grpSpPr>
        <p:sp>
          <p:nvSpPr>
            <p:cNvPr id="13" name="任意多边形 12"/>
            <p:cNvSpPr/>
            <p:nvPr/>
          </p:nvSpPr>
          <p:spPr>
            <a:xfrm flipV="1">
              <a:off x="0" y="0"/>
              <a:ext cx="12192002" cy="1872000"/>
            </a:xfrm>
            <a:custGeom>
              <a:avLst/>
              <a:gdLst>
                <a:gd name="connsiteX0" fmla="*/ 12192002 w 12192002"/>
                <a:gd name="connsiteY0" fmla="*/ 0 h 1942911"/>
                <a:gd name="connsiteX1" fmla="*/ 12192002 w 12192002"/>
                <a:gd name="connsiteY1" fmla="*/ 1942911 h 1942911"/>
                <a:gd name="connsiteX2" fmla="*/ 0 w 12192002"/>
                <a:gd name="connsiteY2" fmla="*/ 1942911 h 1942911"/>
                <a:gd name="connsiteX3" fmla="*/ 0 w 12192002"/>
                <a:gd name="connsiteY3" fmla="*/ 0 h 1942911"/>
                <a:gd name="connsiteX4" fmla="*/ 6096000 w 12192002"/>
                <a:gd name="connsiteY4" fmla="*/ 1455517 h 194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2" h="1942911">
                  <a:moveTo>
                    <a:pt x="12192002" y="0"/>
                  </a:moveTo>
                  <a:lnTo>
                    <a:pt x="12192002" y="1942911"/>
                  </a:lnTo>
                  <a:lnTo>
                    <a:pt x="0" y="1942911"/>
                  </a:lnTo>
                  <a:lnTo>
                    <a:pt x="0" y="0"/>
                  </a:lnTo>
                  <a:lnTo>
                    <a:pt x="6096000" y="145551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14" name="矩形 13"/>
            <p:cNvSpPr/>
            <p:nvPr/>
          </p:nvSpPr>
          <p:spPr>
            <a:xfrm>
              <a:off x="0" y="6642000"/>
              <a:ext cx="12192002" cy="21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15" name="任意多边形 14"/>
            <p:cNvSpPr/>
            <p:nvPr/>
          </p:nvSpPr>
          <p:spPr>
            <a:xfrm>
              <a:off x="5080264" y="1356939"/>
              <a:ext cx="2018771" cy="1494742"/>
            </a:xfrm>
            <a:custGeom>
              <a:avLst/>
              <a:gdLst>
                <a:gd name="connsiteX0" fmla="*/ 105213 w 607850"/>
                <a:gd name="connsiteY0" fmla="*/ 237029 h 450066"/>
                <a:gd name="connsiteX1" fmla="*/ 303784 w 607850"/>
                <a:gd name="connsiteY1" fmla="*/ 332583 h 450066"/>
                <a:gd name="connsiteX2" fmla="*/ 502355 w 607850"/>
                <a:gd name="connsiteY2" fmla="*/ 237029 h 450066"/>
                <a:gd name="connsiteX3" fmla="*/ 502355 w 607850"/>
                <a:gd name="connsiteY3" fmla="*/ 323554 h 450066"/>
                <a:gd name="connsiteX4" fmla="*/ 501884 w 607850"/>
                <a:gd name="connsiteY4" fmla="*/ 324683 h 450066"/>
                <a:gd name="connsiteX5" fmla="*/ 319233 w 607850"/>
                <a:gd name="connsiteY5" fmla="*/ 412525 h 450066"/>
                <a:gd name="connsiteX6" fmla="*/ 288430 w 607850"/>
                <a:gd name="connsiteY6" fmla="*/ 412525 h 450066"/>
                <a:gd name="connsiteX7" fmla="*/ 105213 w 607850"/>
                <a:gd name="connsiteY7" fmla="*/ 324495 h 450066"/>
                <a:gd name="connsiteX8" fmla="*/ 575837 w 607850"/>
                <a:gd name="connsiteY8" fmla="*/ 200688 h 450066"/>
                <a:gd name="connsiteX9" fmla="*/ 575837 w 607850"/>
                <a:gd name="connsiteY9" fmla="*/ 370765 h 450066"/>
                <a:gd name="connsiteX10" fmla="*/ 591549 w 607850"/>
                <a:gd name="connsiteY10" fmla="*/ 418459 h 450066"/>
                <a:gd name="connsiteX11" fmla="*/ 567839 w 607850"/>
                <a:gd name="connsiteY11" fmla="*/ 450066 h 450066"/>
                <a:gd name="connsiteX12" fmla="*/ 559842 w 607850"/>
                <a:gd name="connsiteY12" fmla="*/ 450066 h 450066"/>
                <a:gd name="connsiteX13" fmla="*/ 536226 w 607850"/>
                <a:gd name="connsiteY13" fmla="*/ 418459 h 450066"/>
                <a:gd name="connsiteX14" fmla="*/ 551844 w 607850"/>
                <a:gd name="connsiteY14" fmla="*/ 370765 h 450066"/>
                <a:gd name="connsiteX15" fmla="*/ 551844 w 607850"/>
                <a:gd name="connsiteY15" fmla="*/ 212823 h 450066"/>
                <a:gd name="connsiteX16" fmla="*/ 303784 w 607850"/>
                <a:gd name="connsiteY16" fmla="*/ 0 h 450066"/>
                <a:gd name="connsiteX17" fmla="*/ 607850 w 607850"/>
                <a:gd name="connsiteY17" fmla="*/ 146272 h 450066"/>
                <a:gd name="connsiteX18" fmla="*/ 607850 w 607850"/>
                <a:gd name="connsiteY18" fmla="*/ 159629 h 450066"/>
                <a:gd name="connsiteX19" fmla="*/ 303784 w 607850"/>
                <a:gd name="connsiteY19" fmla="*/ 305901 h 450066"/>
                <a:gd name="connsiteX20" fmla="*/ 0 w 607850"/>
                <a:gd name="connsiteY20" fmla="*/ 159817 h 450066"/>
                <a:gd name="connsiteX21" fmla="*/ 0 w 607850"/>
                <a:gd name="connsiteY21" fmla="*/ 146178 h 45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850" h="450066">
                  <a:moveTo>
                    <a:pt x="105213" y="237029"/>
                  </a:moveTo>
                  <a:lnTo>
                    <a:pt x="303784" y="332583"/>
                  </a:lnTo>
                  <a:lnTo>
                    <a:pt x="502355" y="237029"/>
                  </a:lnTo>
                  <a:lnTo>
                    <a:pt x="502355" y="323554"/>
                  </a:lnTo>
                  <a:cubicBezTo>
                    <a:pt x="502167" y="323931"/>
                    <a:pt x="502072" y="324307"/>
                    <a:pt x="501884" y="324683"/>
                  </a:cubicBezTo>
                  <a:lnTo>
                    <a:pt x="319233" y="412525"/>
                  </a:lnTo>
                  <a:lnTo>
                    <a:pt x="288430" y="412525"/>
                  </a:lnTo>
                  <a:lnTo>
                    <a:pt x="105213" y="324495"/>
                  </a:lnTo>
                  <a:close/>
                  <a:moveTo>
                    <a:pt x="575837" y="200688"/>
                  </a:moveTo>
                  <a:lnTo>
                    <a:pt x="575837" y="370765"/>
                  </a:lnTo>
                  <a:lnTo>
                    <a:pt x="591549" y="418459"/>
                  </a:lnTo>
                  <a:lnTo>
                    <a:pt x="567839" y="450066"/>
                  </a:lnTo>
                  <a:lnTo>
                    <a:pt x="559842" y="450066"/>
                  </a:lnTo>
                  <a:lnTo>
                    <a:pt x="536226" y="418459"/>
                  </a:lnTo>
                  <a:lnTo>
                    <a:pt x="551844" y="370765"/>
                  </a:lnTo>
                  <a:lnTo>
                    <a:pt x="551844" y="212823"/>
                  </a:lnTo>
                  <a:close/>
                  <a:moveTo>
                    <a:pt x="303784" y="0"/>
                  </a:moveTo>
                  <a:lnTo>
                    <a:pt x="607850" y="146272"/>
                  </a:lnTo>
                  <a:lnTo>
                    <a:pt x="607850" y="159629"/>
                  </a:lnTo>
                  <a:lnTo>
                    <a:pt x="303784" y="305901"/>
                  </a:lnTo>
                  <a:lnTo>
                    <a:pt x="0" y="159817"/>
                  </a:lnTo>
                  <a:lnTo>
                    <a:pt x="0" y="146178"/>
                  </a:lnTo>
                  <a:close/>
                </a:path>
              </a:pathLst>
            </a:cu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直接连接符 15"/>
            <p:cNvCxnSpPr/>
            <p:nvPr/>
          </p:nvCxnSpPr>
          <p:spPr>
            <a:xfrm>
              <a:off x="1319650" y="4913476"/>
              <a:ext cx="954000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标题 4"/>
          <p:cNvSpPr>
            <a:spLocks noGrp="1"/>
          </p:cNvSpPr>
          <p:nvPr>
            <p:ph type="title" hasCustomPrompt="1"/>
          </p:nvPr>
        </p:nvSpPr>
        <p:spPr>
          <a:xfrm>
            <a:off x="1229650" y="2960865"/>
            <a:ext cx="9720000" cy="1080000"/>
          </a:xfrm>
          <a:prstGeom prst="rect">
            <a:avLst/>
          </a:prstGeom>
        </p:spPr>
        <p:txBody>
          <a:bodyPr anchor="b">
            <a:normAutofit/>
          </a:bodyPr>
          <a:lstStyle>
            <a:lvl1pPr algn="ctr">
              <a:lnSpc>
                <a:spcPct val="100000"/>
              </a:lnSpc>
              <a:defRPr sz="4800">
                <a:solidFill>
                  <a:schemeClr val="tx1"/>
                </a:solidFill>
              </a:defRPr>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1229650" y="4103197"/>
            <a:ext cx="9720000" cy="612000"/>
          </a:xfrm>
          <a:prstGeom prst="rect">
            <a:avLst/>
          </a:prstGeom>
        </p:spPr>
        <p:txBody>
          <a:bodyPr anchor="t">
            <a:normAutofit/>
          </a:bodyPr>
          <a:lstStyle>
            <a:lvl1pPr marL="0" indent="0" algn="ctr">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p:ph type="dt" sz="half" idx="10"/>
          </p:nvPr>
        </p:nvSpPr>
        <p:spPr/>
        <p:txBody>
          <a:bodyPr/>
          <a:lstStyle>
            <a:lvl1pPr>
              <a:defRPr>
                <a:solidFill>
                  <a:schemeClr val="tx1"/>
                </a:solidFill>
              </a:defRPr>
            </a:lvl1pPr>
          </a:lstStyle>
          <a:p>
            <a:fld id="{2A27A813-B2FD-42E1-9222-83B574E99074}" type="datetime1">
              <a:rPr lang="en-US" altLang="zh-CN" smtClean="0"/>
              <a:t>12/21/2025</a:t>
            </a:fld>
            <a:endParaRPr lang="en-US"/>
          </a:p>
        </p:txBody>
      </p:sp>
      <p:sp>
        <p:nvSpPr>
          <p:cNvPr id="6" name="页脚占位符 5"/>
          <p:cNvSpPr>
            <a:spLocks noGrp="1"/>
          </p:cNvSpPr>
          <p:nvPr>
            <p:ph type="ftr" sz="quarter" idx="11"/>
          </p:nvPr>
        </p:nvSpPr>
        <p:spPr/>
        <p:txBody>
          <a:bodyPr/>
          <a:lstStyle>
            <a:lvl1pPr>
              <a:defRPr>
                <a:solidFill>
                  <a:schemeClr val="tx1"/>
                </a:solidFill>
              </a:defRPr>
            </a:lvl1pPr>
          </a:lstStyle>
          <a:p>
            <a:r>
              <a:rPr lang="en-US" altLang="zh-CN"/>
              <a:t>iSlide</a:t>
            </a:r>
            <a:endParaRPr lang="en-US"/>
          </a:p>
        </p:txBody>
      </p:sp>
      <p:sp>
        <p:nvSpPr>
          <p:cNvPr id="8" name="灯片编号占位符 7"/>
          <p:cNvSpPr>
            <a:spLocks noGrp="1"/>
          </p:cNvSpPr>
          <p:nvPr>
            <p:ph type="sldNum" sz="quarter" idx="12"/>
          </p:nvPr>
        </p:nvSpPr>
        <p:spPr/>
        <p:txBody>
          <a:bodyPr/>
          <a:lstStyle>
            <a:lvl1pPr>
              <a:defRPr>
                <a:solidFill>
                  <a:schemeClr val="tx1"/>
                </a:solidFill>
              </a:defRPr>
            </a:lvl1pPr>
          </a:lstStyle>
          <a:p>
            <a:fld id="{7F65B630-C7FF-41C0-9923-C5E5E29EED81}" type="slidenum">
              <a:rPr lang="en-US" altLang="zh-CN" smtClean="0"/>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zh-CN" altLang="en-US" dirty="0"/>
              <a:t>Click to add title</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losing" preserve="1">
  <p:cSld name="Closing">
    <p:bg>
      <p:bgPr>
        <a:gradFill>
          <a:gsLst>
            <a:gs pos="100000">
              <a:schemeClr val="accent1">
                <a:lumMod val="10000"/>
                <a:lumOff val="90000"/>
              </a:schemeClr>
            </a:gs>
            <a:gs pos="0">
              <a:schemeClr val="bg1"/>
            </a:gs>
          </a:gsLst>
          <a:lin ang="8100000" scaled="1"/>
        </a:gradFill>
        <a:effectLst/>
      </p:bgPr>
    </p:bg>
    <p:spTree>
      <p:nvGrpSpPr>
        <p:cNvPr id="1" name=""/>
        <p:cNvGrpSpPr/>
        <p:nvPr/>
      </p:nvGrpSpPr>
      <p:grpSpPr>
        <a:xfrm>
          <a:off x="0" y="0"/>
          <a:ext cx="0" cy="0"/>
          <a:chOff x="0" y="0"/>
          <a:chExt cx="0" cy="0"/>
        </a:xfrm>
      </p:grpSpPr>
      <p:grpSp>
        <p:nvGrpSpPr>
          <p:cNvPr id="3" name="组合 2"/>
          <p:cNvGrpSpPr/>
          <p:nvPr/>
        </p:nvGrpSpPr>
        <p:grpSpPr>
          <a:xfrm>
            <a:off x="0" y="0"/>
            <a:ext cx="12192002" cy="6858000"/>
            <a:chOff x="0" y="0"/>
            <a:chExt cx="12192002" cy="6858000"/>
          </a:xfrm>
        </p:grpSpPr>
        <p:sp>
          <p:nvSpPr>
            <p:cNvPr id="6" name="任意多边形 5"/>
            <p:cNvSpPr/>
            <p:nvPr/>
          </p:nvSpPr>
          <p:spPr>
            <a:xfrm>
              <a:off x="0" y="4986000"/>
              <a:ext cx="12192002" cy="1872000"/>
            </a:xfrm>
            <a:custGeom>
              <a:avLst/>
              <a:gdLst>
                <a:gd name="connsiteX0" fmla="*/ 12192002 w 12192002"/>
                <a:gd name="connsiteY0" fmla="*/ 0 h 1942911"/>
                <a:gd name="connsiteX1" fmla="*/ 12192002 w 12192002"/>
                <a:gd name="connsiteY1" fmla="*/ 1942911 h 1942911"/>
                <a:gd name="connsiteX2" fmla="*/ 0 w 12192002"/>
                <a:gd name="connsiteY2" fmla="*/ 1942911 h 1942911"/>
                <a:gd name="connsiteX3" fmla="*/ 0 w 12192002"/>
                <a:gd name="connsiteY3" fmla="*/ 0 h 1942911"/>
                <a:gd name="connsiteX4" fmla="*/ 6096000 w 12192002"/>
                <a:gd name="connsiteY4" fmla="*/ 1455517 h 194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2" h="1942911">
                  <a:moveTo>
                    <a:pt x="12192002" y="0"/>
                  </a:moveTo>
                  <a:lnTo>
                    <a:pt x="12192002" y="1942911"/>
                  </a:lnTo>
                  <a:lnTo>
                    <a:pt x="0" y="1942911"/>
                  </a:lnTo>
                  <a:lnTo>
                    <a:pt x="0" y="0"/>
                  </a:lnTo>
                  <a:lnTo>
                    <a:pt x="6096000" y="145551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8" name="矩形 7"/>
            <p:cNvSpPr/>
            <p:nvPr/>
          </p:nvSpPr>
          <p:spPr>
            <a:xfrm>
              <a:off x="0" y="0"/>
              <a:ext cx="12192002" cy="21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9" name="任意多边形 8"/>
            <p:cNvSpPr/>
            <p:nvPr/>
          </p:nvSpPr>
          <p:spPr>
            <a:xfrm>
              <a:off x="5080264" y="706022"/>
              <a:ext cx="2018771" cy="1494742"/>
            </a:xfrm>
            <a:custGeom>
              <a:avLst/>
              <a:gdLst>
                <a:gd name="connsiteX0" fmla="*/ 105213 w 607850"/>
                <a:gd name="connsiteY0" fmla="*/ 237029 h 450066"/>
                <a:gd name="connsiteX1" fmla="*/ 303784 w 607850"/>
                <a:gd name="connsiteY1" fmla="*/ 332583 h 450066"/>
                <a:gd name="connsiteX2" fmla="*/ 502355 w 607850"/>
                <a:gd name="connsiteY2" fmla="*/ 237029 h 450066"/>
                <a:gd name="connsiteX3" fmla="*/ 502355 w 607850"/>
                <a:gd name="connsiteY3" fmla="*/ 323554 h 450066"/>
                <a:gd name="connsiteX4" fmla="*/ 501884 w 607850"/>
                <a:gd name="connsiteY4" fmla="*/ 324683 h 450066"/>
                <a:gd name="connsiteX5" fmla="*/ 319233 w 607850"/>
                <a:gd name="connsiteY5" fmla="*/ 412525 h 450066"/>
                <a:gd name="connsiteX6" fmla="*/ 288430 w 607850"/>
                <a:gd name="connsiteY6" fmla="*/ 412525 h 450066"/>
                <a:gd name="connsiteX7" fmla="*/ 105213 w 607850"/>
                <a:gd name="connsiteY7" fmla="*/ 324495 h 450066"/>
                <a:gd name="connsiteX8" fmla="*/ 575837 w 607850"/>
                <a:gd name="connsiteY8" fmla="*/ 200688 h 450066"/>
                <a:gd name="connsiteX9" fmla="*/ 575837 w 607850"/>
                <a:gd name="connsiteY9" fmla="*/ 370765 h 450066"/>
                <a:gd name="connsiteX10" fmla="*/ 591549 w 607850"/>
                <a:gd name="connsiteY10" fmla="*/ 418459 h 450066"/>
                <a:gd name="connsiteX11" fmla="*/ 567839 w 607850"/>
                <a:gd name="connsiteY11" fmla="*/ 450066 h 450066"/>
                <a:gd name="connsiteX12" fmla="*/ 559842 w 607850"/>
                <a:gd name="connsiteY12" fmla="*/ 450066 h 450066"/>
                <a:gd name="connsiteX13" fmla="*/ 536226 w 607850"/>
                <a:gd name="connsiteY13" fmla="*/ 418459 h 450066"/>
                <a:gd name="connsiteX14" fmla="*/ 551844 w 607850"/>
                <a:gd name="connsiteY14" fmla="*/ 370765 h 450066"/>
                <a:gd name="connsiteX15" fmla="*/ 551844 w 607850"/>
                <a:gd name="connsiteY15" fmla="*/ 212823 h 450066"/>
                <a:gd name="connsiteX16" fmla="*/ 303784 w 607850"/>
                <a:gd name="connsiteY16" fmla="*/ 0 h 450066"/>
                <a:gd name="connsiteX17" fmla="*/ 607850 w 607850"/>
                <a:gd name="connsiteY17" fmla="*/ 146272 h 450066"/>
                <a:gd name="connsiteX18" fmla="*/ 607850 w 607850"/>
                <a:gd name="connsiteY18" fmla="*/ 159629 h 450066"/>
                <a:gd name="connsiteX19" fmla="*/ 303784 w 607850"/>
                <a:gd name="connsiteY19" fmla="*/ 305901 h 450066"/>
                <a:gd name="connsiteX20" fmla="*/ 0 w 607850"/>
                <a:gd name="connsiteY20" fmla="*/ 159817 h 450066"/>
                <a:gd name="connsiteX21" fmla="*/ 0 w 607850"/>
                <a:gd name="connsiteY21" fmla="*/ 146178 h 45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850" h="450066">
                  <a:moveTo>
                    <a:pt x="105213" y="237029"/>
                  </a:moveTo>
                  <a:lnTo>
                    <a:pt x="303784" y="332583"/>
                  </a:lnTo>
                  <a:lnTo>
                    <a:pt x="502355" y="237029"/>
                  </a:lnTo>
                  <a:lnTo>
                    <a:pt x="502355" y="323554"/>
                  </a:lnTo>
                  <a:cubicBezTo>
                    <a:pt x="502167" y="323931"/>
                    <a:pt x="502072" y="324307"/>
                    <a:pt x="501884" y="324683"/>
                  </a:cubicBezTo>
                  <a:lnTo>
                    <a:pt x="319233" y="412525"/>
                  </a:lnTo>
                  <a:lnTo>
                    <a:pt x="288430" y="412525"/>
                  </a:lnTo>
                  <a:lnTo>
                    <a:pt x="105213" y="324495"/>
                  </a:lnTo>
                  <a:close/>
                  <a:moveTo>
                    <a:pt x="575837" y="200688"/>
                  </a:moveTo>
                  <a:lnTo>
                    <a:pt x="575837" y="370765"/>
                  </a:lnTo>
                  <a:lnTo>
                    <a:pt x="591549" y="418459"/>
                  </a:lnTo>
                  <a:lnTo>
                    <a:pt x="567839" y="450066"/>
                  </a:lnTo>
                  <a:lnTo>
                    <a:pt x="559842" y="450066"/>
                  </a:lnTo>
                  <a:lnTo>
                    <a:pt x="536226" y="418459"/>
                  </a:lnTo>
                  <a:lnTo>
                    <a:pt x="551844" y="370765"/>
                  </a:lnTo>
                  <a:lnTo>
                    <a:pt x="551844" y="212823"/>
                  </a:lnTo>
                  <a:close/>
                  <a:moveTo>
                    <a:pt x="303784" y="0"/>
                  </a:moveTo>
                  <a:lnTo>
                    <a:pt x="607850" y="146272"/>
                  </a:lnTo>
                  <a:lnTo>
                    <a:pt x="607850" y="159629"/>
                  </a:lnTo>
                  <a:lnTo>
                    <a:pt x="303784" y="305901"/>
                  </a:lnTo>
                  <a:lnTo>
                    <a:pt x="0" y="159817"/>
                  </a:lnTo>
                  <a:lnTo>
                    <a:pt x="0" y="146178"/>
                  </a:ln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直接连接符 9"/>
            <p:cNvCxnSpPr/>
            <p:nvPr/>
          </p:nvCxnSpPr>
          <p:spPr>
            <a:xfrm>
              <a:off x="1319650" y="3862557"/>
              <a:ext cx="954000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12" name="标题 11"/>
          <p:cNvSpPr>
            <a:spLocks noGrp="1"/>
          </p:cNvSpPr>
          <p:nvPr>
            <p:ph type="title" hasCustomPrompt="1"/>
          </p:nvPr>
        </p:nvSpPr>
        <p:spPr>
          <a:xfrm>
            <a:off x="1229649" y="1028700"/>
            <a:ext cx="9720000" cy="2628000"/>
          </a:xfrm>
          <a:prstGeom prst="rect">
            <a:avLst/>
          </a:prstGeom>
        </p:spPr>
        <p:txBody>
          <a:bodyPr wrap="square" anchor="b">
            <a:noAutofit/>
          </a:bodyPr>
          <a:lstStyle>
            <a:lvl1pPr algn="ctr">
              <a:lnSpc>
                <a:spcPct val="100000"/>
              </a:lnSpc>
              <a:defRPr sz="8000">
                <a:ln w="19050">
                  <a:noFill/>
                </a:ln>
                <a:solidFill>
                  <a:schemeClr val="tx1"/>
                </a:solidFill>
              </a:defRPr>
            </a:lvl1pPr>
          </a:lstStyle>
          <a:p>
            <a:pPr lvl="0"/>
            <a:r>
              <a:rPr lang="zh-CN" altLang="en-US" dirty="0"/>
              <a:t>Click to add title</a:t>
            </a:r>
            <a:endParaRPr lang="en-US" dirty="0"/>
          </a:p>
        </p:txBody>
      </p:sp>
      <p:sp>
        <p:nvSpPr>
          <p:cNvPr id="13" name="文本占位符 12"/>
          <p:cNvSpPr>
            <a:spLocks noGrp="1"/>
          </p:cNvSpPr>
          <p:nvPr>
            <p:ph type="body" sz="quarter" idx="13" hasCustomPrompt="1"/>
          </p:nvPr>
        </p:nvSpPr>
        <p:spPr>
          <a:xfrm>
            <a:off x="3674922" y="4561558"/>
            <a:ext cx="2340000" cy="432000"/>
          </a:xfrm>
          <a:prstGeom prst="rect">
            <a:avLst/>
          </a:prstGeom>
        </p:spPr>
        <p:txBody>
          <a:bodyPr wrap="square" lIns="90000" anchor="ctr">
            <a:normAutofit/>
          </a:bodyPr>
          <a:lstStyle>
            <a:lvl1pPr marL="0" indent="0" algn="l">
              <a:lnSpc>
                <a:spcPct val="100000"/>
              </a:lnSpc>
              <a:buNone/>
              <a:defRPr sz="1400"/>
            </a:lvl1pPr>
          </a:lstStyle>
          <a:p>
            <a:pPr lvl="0"/>
            <a:r>
              <a:rPr lang="zh-CN" altLang="en-US" dirty="0"/>
              <a:t>Presenter name</a:t>
            </a:r>
            <a:endParaRPr lang="en-US" dirty="0"/>
          </a:p>
        </p:txBody>
      </p:sp>
      <p:sp>
        <p:nvSpPr>
          <p:cNvPr id="15" name="文本占位符 14"/>
          <p:cNvSpPr>
            <a:spLocks noGrp="1"/>
          </p:cNvSpPr>
          <p:nvPr>
            <p:ph type="body" sz="quarter" idx="14" hasCustomPrompt="1"/>
          </p:nvPr>
        </p:nvSpPr>
        <p:spPr>
          <a:xfrm>
            <a:off x="6896452" y="4561558"/>
            <a:ext cx="2340000" cy="432000"/>
          </a:xfrm>
          <a:prstGeom prst="rect">
            <a:avLst/>
          </a:prstGeom>
        </p:spPr>
        <p:txBody>
          <a:bodyPr wrap="none" anchor="ctr">
            <a:normAutofit/>
          </a:bodyPr>
          <a:lstStyle>
            <a:lvl1pPr marL="0" indent="0" algn="l">
              <a:lnSpc>
                <a:spcPct val="100000"/>
              </a:lnSpc>
              <a:buNone/>
              <a:defRPr sz="1400"/>
            </a:lvl1pPr>
          </a:lstStyle>
          <a:p>
            <a:pPr lvl="0"/>
            <a:r>
              <a:rPr lang="zh-CN" altLang="en-US" dirty="0"/>
              <a:t>20XX.XX.XX</a:t>
            </a:r>
            <a:endParaRPr lang="en-US" dirty="0"/>
          </a:p>
        </p:txBody>
      </p:sp>
      <p:grpSp>
        <p:nvGrpSpPr>
          <p:cNvPr id="16" name="组合 15"/>
          <p:cNvGrpSpPr/>
          <p:nvPr/>
        </p:nvGrpSpPr>
        <p:grpSpPr>
          <a:xfrm>
            <a:off x="3118380" y="4543558"/>
            <a:ext cx="468000" cy="468000"/>
            <a:chOff x="3118380" y="4543558"/>
            <a:chExt cx="468000" cy="468000"/>
          </a:xfrm>
        </p:grpSpPr>
        <p:sp>
          <p:nvSpPr>
            <p:cNvPr id="17" name="椭圆 16"/>
            <p:cNvSpPr>
              <a:spLocks noChangeAspect="1"/>
            </p:cNvSpPr>
            <p:nvPr/>
          </p:nvSpPr>
          <p:spPr>
            <a:xfrm>
              <a:off x="3118380" y="4543558"/>
              <a:ext cx="468000" cy="468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任意多边形 17"/>
            <p:cNvSpPr>
              <a:spLocks noChangeAspect="1"/>
            </p:cNvSpPr>
            <p:nvPr/>
          </p:nvSpPr>
          <p:spPr>
            <a:xfrm>
              <a:off x="3232712" y="4651558"/>
              <a:ext cx="239337" cy="252000"/>
            </a:xfrm>
            <a:custGeom>
              <a:avLst/>
              <a:gdLst>
                <a:gd name="T0" fmla="*/ 6150 w 6474"/>
                <a:gd name="T1" fmla="*/ 5849 h 6827"/>
                <a:gd name="T2" fmla="*/ 4672 w 6474"/>
                <a:gd name="T3" fmla="*/ 4081 h 6827"/>
                <a:gd name="T4" fmla="*/ 3237 w 6474"/>
                <a:gd name="T5" fmla="*/ 0 h 6827"/>
                <a:gd name="T6" fmla="*/ 1802 w 6474"/>
                <a:gd name="T7" fmla="*/ 4081 h 6827"/>
                <a:gd name="T8" fmla="*/ 325 w 6474"/>
                <a:gd name="T9" fmla="*/ 5849 h 6827"/>
                <a:gd name="T10" fmla="*/ 782 w 6474"/>
                <a:gd name="T11" fmla="*/ 6827 h 6827"/>
                <a:gd name="T12" fmla="*/ 5693 w 6474"/>
                <a:gd name="T13" fmla="*/ 6827 h 6827"/>
                <a:gd name="T14" fmla="*/ 6150 w 6474"/>
                <a:gd name="T15" fmla="*/ 5849 h 6827"/>
                <a:gd name="T16" fmla="*/ 1509 w 6474"/>
                <a:gd name="T17" fmla="*/ 2427 h 6827"/>
                <a:gd name="T18" fmla="*/ 3237 w 6474"/>
                <a:gd name="T19" fmla="*/ 557 h 6827"/>
                <a:gd name="T20" fmla="*/ 4913 w 6474"/>
                <a:gd name="T21" fmla="*/ 1866 h 6827"/>
                <a:gd name="T22" fmla="*/ 2472 w 6474"/>
                <a:gd name="T23" fmla="*/ 1687 h 6827"/>
                <a:gd name="T24" fmla="*/ 2006 w 6474"/>
                <a:gd name="T25" fmla="*/ 1762 h 6827"/>
                <a:gd name="T26" fmla="*/ 1509 w 6474"/>
                <a:gd name="T27" fmla="*/ 2427 h 6827"/>
                <a:gd name="T28" fmla="*/ 1651 w 6474"/>
                <a:gd name="T29" fmla="*/ 3012 h 6827"/>
                <a:gd name="T30" fmla="*/ 2335 w 6474"/>
                <a:gd name="T31" fmla="*/ 2326 h 6827"/>
                <a:gd name="T32" fmla="*/ 4958 w 6474"/>
                <a:gd name="T33" fmla="*/ 2517 h 6827"/>
                <a:gd name="T34" fmla="*/ 1651 w 6474"/>
                <a:gd name="T35" fmla="*/ 3012 h 6827"/>
                <a:gd name="T36" fmla="*/ 4053 w 6474"/>
                <a:gd name="T37" fmla="*/ 4435 h 6827"/>
                <a:gd name="T38" fmla="*/ 2422 w 6474"/>
                <a:gd name="T39" fmla="*/ 4435 h 6827"/>
                <a:gd name="T40" fmla="*/ 4053 w 6474"/>
                <a:gd name="T41" fmla="*/ 4435 h 6827"/>
                <a:gd name="T42" fmla="*/ 5693 w 6474"/>
                <a:gd name="T43" fmla="*/ 6270 h 6827"/>
                <a:gd name="T44" fmla="*/ 782 w 6474"/>
                <a:gd name="T45" fmla="*/ 6270 h 6827"/>
                <a:gd name="T46" fmla="*/ 752 w 6474"/>
                <a:gd name="T47" fmla="*/ 6206 h 6827"/>
                <a:gd name="T48" fmla="*/ 1965 w 6474"/>
                <a:gd name="T49" fmla="*/ 4754 h 6827"/>
                <a:gd name="T50" fmla="*/ 4510 w 6474"/>
                <a:gd name="T51" fmla="*/ 4755 h 6827"/>
                <a:gd name="T52" fmla="*/ 5723 w 6474"/>
                <a:gd name="T53" fmla="*/ 6206 h 6827"/>
                <a:gd name="T54" fmla="*/ 5693 w 6474"/>
                <a:gd name="T55" fmla="*/ 6270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474" h="6827">
                  <a:moveTo>
                    <a:pt x="6150" y="5849"/>
                  </a:moveTo>
                  <a:lnTo>
                    <a:pt x="4672" y="4081"/>
                  </a:lnTo>
                  <a:cubicBezTo>
                    <a:pt x="6334" y="2771"/>
                    <a:pt x="5433" y="0"/>
                    <a:pt x="3237" y="0"/>
                  </a:cubicBezTo>
                  <a:cubicBezTo>
                    <a:pt x="1047" y="0"/>
                    <a:pt x="134" y="2766"/>
                    <a:pt x="1802" y="4081"/>
                  </a:cubicBezTo>
                  <a:lnTo>
                    <a:pt x="325" y="5849"/>
                  </a:lnTo>
                  <a:cubicBezTo>
                    <a:pt x="0" y="6237"/>
                    <a:pt x="276" y="6827"/>
                    <a:pt x="782" y="6827"/>
                  </a:cubicBezTo>
                  <a:lnTo>
                    <a:pt x="5693" y="6827"/>
                  </a:lnTo>
                  <a:cubicBezTo>
                    <a:pt x="6199" y="6827"/>
                    <a:pt x="6474" y="6236"/>
                    <a:pt x="6150" y="5849"/>
                  </a:cubicBezTo>
                  <a:close/>
                  <a:moveTo>
                    <a:pt x="1509" y="2427"/>
                  </a:moveTo>
                  <a:cubicBezTo>
                    <a:pt x="1446" y="1415"/>
                    <a:pt x="2213" y="557"/>
                    <a:pt x="3237" y="557"/>
                  </a:cubicBezTo>
                  <a:cubicBezTo>
                    <a:pt x="3991" y="557"/>
                    <a:pt x="4706" y="1049"/>
                    <a:pt x="4913" y="1866"/>
                  </a:cubicBezTo>
                  <a:cubicBezTo>
                    <a:pt x="4202" y="2480"/>
                    <a:pt x="3109" y="2420"/>
                    <a:pt x="2472" y="1687"/>
                  </a:cubicBezTo>
                  <a:cubicBezTo>
                    <a:pt x="2337" y="1532"/>
                    <a:pt x="2086" y="1572"/>
                    <a:pt x="2006" y="1762"/>
                  </a:cubicBezTo>
                  <a:cubicBezTo>
                    <a:pt x="1896" y="2022"/>
                    <a:pt x="1725" y="2250"/>
                    <a:pt x="1509" y="2427"/>
                  </a:cubicBezTo>
                  <a:close/>
                  <a:moveTo>
                    <a:pt x="1651" y="3012"/>
                  </a:moveTo>
                  <a:cubicBezTo>
                    <a:pt x="1926" y="2834"/>
                    <a:pt x="2159" y="2600"/>
                    <a:pt x="2335" y="2326"/>
                  </a:cubicBezTo>
                  <a:cubicBezTo>
                    <a:pt x="3080" y="2932"/>
                    <a:pt x="4124" y="3014"/>
                    <a:pt x="4958" y="2517"/>
                  </a:cubicBezTo>
                  <a:cubicBezTo>
                    <a:pt x="4763" y="4234"/>
                    <a:pt x="2357" y="4593"/>
                    <a:pt x="1651" y="3012"/>
                  </a:cubicBezTo>
                  <a:close/>
                  <a:moveTo>
                    <a:pt x="4053" y="4435"/>
                  </a:moveTo>
                  <a:cubicBezTo>
                    <a:pt x="3614" y="5198"/>
                    <a:pt x="2860" y="5197"/>
                    <a:pt x="2422" y="4435"/>
                  </a:cubicBezTo>
                  <a:cubicBezTo>
                    <a:pt x="2946" y="4634"/>
                    <a:pt x="3528" y="4634"/>
                    <a:pt x="4053" y="4435"/>
                  </a:cubicBezTo>
                  <a:close/>
                  <a:moveTo>
                    <a:pt x="5693" y="6270"/>
                  </a:moveTo>
                  <a:lnTo>
                    <a:pt x="782" y="6270"/>
                  </a:lnTo>
                  <a:cubicBezTo>
                    <a:pt x="748" y="6270"/>
                    <a:pt x="730" y="6232"/>
                    <a:pt x="752" y="6206"/>
                  </a:cubicBezTo>
                  <a:lnTo>
                    <a:pt x="1965" y="4754"/>
                  </a:lnTo>
                  <a:cubicBezTo>
                    <a:pt x="2617" y="5833"/>
                    <a:pt x="3858" y="5837"/>
                    <a:pt x="4510" y="4755"/>
                  </a:cubicBezTo>
                  <a:lnTo>
                    <a:pt x="5723" y="6206"/>
                  </a:lnTo>
                  <a:cubicBezTo>
                    <a:pt x="5745" y="6232"/>
                    <a:pt x="5727" y="6270"/>
                    <a:pt x="5693" y="6270"/>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9" name="组合 18"/>
          <p:cNvGrpSpPr/>
          <p:nvPr/>
        </p:nvGrpSpPr>
        <p:grpSpPr>
          <a:xfrm>
            <a:off x="6338279" y="4543558"/>
            <a:ext cx="468000" cy="468000"/>
            <a:chOff x="6338279" y="4543558"/>
            <a:chExt cx="468000" cy="468000"/>
          </a:xfrm>
        </p:grpSpPr>
        <p:sp>
          <p:nvSpPr>
            <p:cNvPr id="20" name="椭圆 19"/>
            <p:cNvSpPr>
              <a:spLocks noChangeAspect="1"/>
            </p:cNvSpPr>
            <p:nvPr/>
          </p:nvSpPr>
          <p:spPr>
            <a:xfrm>
              <a:off x="6338279" y="4543558"/>
              <a:ext cx="468000" cy="468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20"/>
            <p:cNvSpPr>
              <a:spLocks noChangeAspect="1"/>
            </p:cNvSpPr>
            <p:nvPr/>
          </p:nvSpPr>
          <p:spPr>
            <a:xfrm>
              <a:off x="6460771" y="4651558"/>
              <a:ext cx="223017" cy="252000"/>
            </a:xfrm>
            <a:custGeom>
              <a:avLst/>
              <a:gdLst>
                <a:gd name="T0" fmla="*/ 4674 w 6479"/>
                <a:gd name="T1" fmla="*/ 4582 h 7332"/>
                <a:gd name="T2" fmla="*/ 5533 w 6479"/>
                <a:gd name="T3" fmla="*/ 3453 h 7332"/>
                <a:gd name="T4" fmla="*/ 5396 w 6479"/>
                <a:gd name="T5" fmla="*/ 2009 h 7332"/>
                <a:gd name="T6" fmla="*/ 946 w 6479"/>
                <a:gd name="T7" fmla="*/ 2249 h 7332"/>
                <a:gd name="T8" fmla="*/ 1140 w 6479"/>
                <a:gd name="T9" fmla="*/ 3719 h 7332"/>
                <a:gd name="T10" fmla="*/ 324 w 6479"/>
                <a:gd name="T11" fmla="*/ 6353 h 7332"/>
                <a:gd name="T12" fmla="*/ 5697 w 6479"/>
                <a:gd name="T13" fmla="*/ 7332 h 7332"/>
                <a:gd name="T14" fmla="*/ 4976 w 6479"/>
                <a:gd name="T15" fmla="*/ 2528 h 7332"/>
                <a:gd name="T16" fmla="*/ 4038 w 6479"/>
                <a:gd name="T17" fmla="*/ 3174 h 7332"/>
                <a:gd name="T18" fmla="*/ 4976 w 6479"/>
                <a:gd name="T19" fmla="*/ 2528 h 7332"/>
                <a:gd name="T20" fmla="*/ 3759 w 6479"/>
                <a:gd name="T21" fmla="*/ 1971 h 7332"/>
                <a:gd name="T22" fmla="*/ 3481 w 6479"/>
                <a:gd name="T23" fmla="*/ 2572 h 7332"/>
                <a:gd name="T24" fmla="*/ 2998 w 6479"/>
                <a:gd name="T25" fmla="*/ 2249 h 7332"/>
                <a:gd name="T26" fmla="*/ 1706 w 6479"/>
                <a:gd name="T27" fmla="*/ 1971 h 7332"/>
                <a:gd name="T28" fmla="*/ 1503 w 6479"/>
                <a:gd name="T29" fmla="*/ 3174 h 7332"/>
                <a:gd name="T30" fmla="*/ 2441 w 6479"/>
                <a:gd name="T31" fmla="*/ 2528 h 7332"/>
                <a:gd name="T32" fmla="*/ 1503 w 6479"/>
                <a:gd name="T33" fmla="*/ 3174 h 7332"/>
                <a:gd name="T34" fmla="*/ 2719 w 6479"/>
                <a:gd name="T35" fmla="*/ 3731 h 7332"/>
                <a:gd name="T36" fmla="*/ 2998 w 6479"/>
                <a:gd name="T37" fmla="*/ 3130 h 7332"/>
                <a:gd name="T38" fmla="*/ 3481 w 6479"/>
                <a:gd name="T39" fmla="*/ 3453 h 7332"/>
                <a:gd name="T40" fmla="*/ 4701 w 6479"/>
                <a:gd name="T41" fmla="*/ 3731 h 7332"/>
                <a:gd name="T42" fmla="*/ 3703 w 6479"/>
                <a:gd name="T43" fmla="*/ 5617 h 7332"/>
                <a:gd name="T44" fmla="*/ 2914 w 6479"/>
                <a:gd name="T45" fmla="*/ 5065 h 7332"/>
                <a:gd name="T46" fmla="*/ 3703 w 6479"/>
                <a:gd name="T47" fmla="*/ 5617 h 7332"/>
                <a:gd name="T48" fmla="*/ 782 w 6479"/>
                <a:gd name="T49" fmla="*/ 6774 h 7332"/>
                <a:gd name="T50" fmla="*/ 2283 w 6479"/>
                <a:gd name="T51" fmla="*/ 4879 h 7332"/>
                <a:gd name="T52" fmla="*/ 1914 w 6479"/>
                <a:gd name="T53" fmla="*/ 6774 h 7332"/>
                <a:gd name="T54" fmla="*/ 2637 w 6479"/>
                <a:gd name="T55" fmla="*/ 6174 h 7332"/>
                <a:gd name="T56" fmla="*/ 3992 w 6479"/>
                <a:gd name="T57" fmla="*/ 6774 h 7332"/>
                <a:gd name="T58" fmla="*/ 5697 w 6479"/>
                <a:gd name="T59" fmla="*/ 6774 h 7332"/>
                <a:gd name="T60" fmla="*/ 4103 w 6479"/>
                <a:gd name="T61" fmla="*/ 4919 h 7332"/>
                <a:gd name="T62" fmla="*/ 5727 w 6479"/>
                <a:gd name="T63" fmla="*/ 6710 h 7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479" h="7332">
                  <a:moveTo>
                    <a:pt x="6154" y="6353"/>
                  </a:moveTo>
                  <a:lnTo>
                    <a:pt x="4674" y="4582"/>
                  </a:lnTo>
                  <a:cubicBezTo>
                    <a:pt x="4961" y="4352"/>
                    <a:pt x="5190" y="4055"/>
                    <a:pt x="5338" y="3719"/>
                  </a:cubicBezTo>
                  <a:cubicBezTo>
                    <a:pt x="5451" y="3683"/>
                    <a:pt x="5533" y="3577"/>
                    <a:pt x="5533" y="3453"/>
                  </a:cubicBezTo>
                  <a:lnTo>
                    <a:pt x="5533" y="2249"/>
                  </a:lnTo>
                  <a:cubicBezTo>
                    <a:pt x="5533" y="2147"/>
                    <a:pt x="5478" y="2058"/>
                    <a:pt x="5396" y="2009"/>
                  </a:cubicBezTo>
                  <a:cubicBezTo>
                    <a:pt x="4680" y="0"/>
                    <a:pt x="1797" y="7"/>
                    <a:pt x="1083" y="2009"/>
                  </a:cubicBezTo>
                  <a:cubicBezTo>
                    <a:pt x="1001" y="2058"/>
                    <a:pt x="946" y="2147"/>
                    <a:pt x="946" y="2249"/>
                  </a:cubicBezTo>
                  <a:lnTo>
                    <a:pt x="946" y="3453"/>
                  </a:lnTo>
                  <a:cubicBezTo>
                    <a:pt x="946" y="3577"/>
                    <a:pt x="1028" y="3683"/>
                    <a:pt x="1140" y="3719"/>
                  </a:cubicBezTo>
                  <a:cubicBezTo>
                    <a:pt x="1289" y="4055"/>
                    <a:pt x="1517" y="4352"/>
                    <a:pt x="1805" y="4582"/>
                  </a:cubicBezTo>
                  <a:lnTo>
                    <a:pt x="324" y="6353"/>
                  </a:lnTo>
                  <a:cubicBezTo>
                    <a:pt x="0" y="6741"/>
                    <a:pt x="276" y="7332"/>
                    <a:pt x="782" y="7332"/>
                  </a:cubicBezTo>
                  <a:lnTo>
                    <a:pt x="5697" y="7332"/>
                  </a:lnTo>
                  <a:cubicBezTo>
                    <a:pt x="6203" y="7332"/>
                    <a:pt x="6479" y="6741"/>
                    <a:pt x="6154" y="6353"/>
                  </a:cubicBezTo>
                  <a:close/>
                  <a:moveTo>
                    <a:pt x="4976" y="2528"/>
                  </a:moveTo>
                  <a:lnTo>
                    <a:pt x="4976" y="3174"/>
                  </a:lnTo>
                  <a:lnTo>
                    <a:pt x="4038" y="3174"/>
                  </a:lnTo>
                  <a:lnTo>
                    <a:pt x="4038" y="2528"/>
                  </a:lnTo>
                  <a:lnTo>
                    <a:pt x="4976" y="2528"/>
                  </a:lnTo>
                  <a:close/>
                  <a:moveTo>
                    <a:pt x="4773" y="1971"/>
                  </a:moveTo>
                  <a:lnTo>
                    <a:pt x="3759" y="1971"/>
                  </a:lnTo>
                  <a:cubicBezTo>
                    <a:pt x="3606" y="1971"/>
                    <a:pt x="3481" y="2095"/>
                    <a:pt x="3481" y="2249"/>
                  </a:cubicBezTo>
                  <a:lnTo>
                    <a:pt x="3481" y="2572"/>
                  </a:lnTo>
                  <a:lnTo>
                    <a:pt x="2998" y="2572"/>
                  </a:lnTo>
                  <a:lnTo>
                    <a:pt x="2998" y="2249"/>
                  </a:lnTo>
                  <a:cubicBezTo>
                    <a:pt x="2998" y="2095"/>
                    <a:pt x="2873" y="1971"/>
                    <a:pt x="2719" y="1971"/>
                  </a:cubicBezTo>
                  <a:lnTo>
                    <a:pt x="1706" y="1971"/>
                  </a:lnTo>
                  <a:cubicBezTo>
                    <a:pt x="2333" y="759"/>
                    <a:pt x="4145" y="758"/>
                    <a:pt x="4773" y="1971"/>
                  </a:cubicBezTo>
                  <a:close/>
                  <a:moveTo>
                    <a:pt x="1503" y="3174"/>
                  </a:moveTo>
                  <a:lnTo>
                    <a:pt x="1503" y="2528"/>
                  </a:lnTo>
                  <a:lnTo>
                    <a:pt x="2441" y="2528"/>
                  </a:lnTo>
                  <a:lnTo>
                    <a:pt x="2441" y="3174"/>
                  </a:lnTo>
                  <a:lnTo>
                    <a:pt x="1503" y="3174"/>
                  </a:lnTo>
                  <a:close/>
                  <a:moveTo>
                    <a:pt x="1778" y="3731"/>
                  </a:moveTo>
                  <a:lnTo>
                    <a:pt x="2719" y="3731"/>
                  </a:lnTo>
                  <a:cubicBezTo>
                    <a:pt x="2873" y="3731"/>
                    <a:pt x="2998" y="3607"/>
                    <a:pt x="2998" y="3453"/>
                  </a:cubicBezTo>
                  <a:lnTo>
                    <a:pt x="2998" y="3130"/>
                  </a:lnTo>
                  <a:lnTo>
                    <a:pt x="3481" y="3130"/>
                  </a:lnTo>
                  <a:lnTo>
                    <a:pt x="3481" y="3453"/>
                  </a:lnTo>
                  <a:cubicBezTo>
                    <a:pt x="3481" y="3607"/>
                    <a:pt x="3606" y="3731"/>
                    <a:pt x="3759" y="3731"/>
                  </a:cubicBezTo>
                  <a:lnTo>
                    <a:pt x="4701" y="3731"/>
                  </a:lnTo>
                  <a:cubicBezTo>
                    <a:pt x="4022" y="4786"/>
                    <a:pt x="2466" y="4802"/>
                    <a:pt x="1778" y="3731"/>
                  </a:cubicBezTo>
                  <a:close/>
                  <a:moveTo>
                    <a:pt x="3703" y="5617"/>
                  </a:moveTo>
                  <a:lnTo>
                    <a:pt x="2776" y="5617"/>
                  </a:lnTo>
                  <a:cubicBezTo>
                    <a:pt x="2817" y="5453"/>
                    <a:pt x="2863" y="5270"/>
                    <a:pt x="2914" y="5065"/>
                  </a:cubicBezTo>
                  <a:cubicBezTo>
                    <a:pt x="3126" y="5095"/>
                    <a:pt x="3347" y="5096"/>
                    <a:pt x="3565" y="5065"/>
                  </a:cubicBezTo>
                  <a:cubicBezTo>
                    <a:pt x="3616" y="5269"/>
                    <a:pt x="3662" y="5453"/>
                    <a:pt x="3703" y="5617"/>
                  </a:cubicBezTo>
                  <a:close/>
                  <a:moveTo>
                    <a:pt x="1914" y="6774"/>
                  </a:moveTo>
                  <a:lnTo>
                    <a:pt x="782" y="6774"/>
                  </a:lnTo>
                  <a:cubicBezTo>
                    <a:pt x="748" y="6774"/>
                    <a:pt x="730" y="6736"/>
                    <a:pt x="752" y="6710"/>
                  </a:cubicBezTo>
                  <a:lnTo>
                    <a:pt x="2283" y="4879"/>
                  </a:lnTo>
                  <a:cubicBezTo>
                    <a:pt x="2318" y="4895"/>
                    <a:pt x="2345" y="4906"/>
                    <a:pt x="2376" y="4919"/>
                  </a:cubicBezTo>
                  <a:cubicBezTo>
                    <a:pt x="2077" y="6116"/>
                    <a:pt x="1965" y="6558"/>
                    <a:pt x="1914" y="6774"/>
                  </a:cubicBezTo>
                  <a:close/>
                  <a:moveTo>
                    <a:pt x="2487" y="6774"/>
                  </a:moveTo>
                  <a:cubicBezTo>
                    <a:pt x="2518" y="6649"/>
                    <a:pt x="2565" y="6460"/>
                    <a:pt x="2637" y="6174"/>
                  </a:cubicBezTo>
                  <a:lnTo>
                    <a:pt x="3842" y="6174"/>
                  </a:lnTo>
                  <a:cubicBezTo>
                    <a:pt x="3914" y="6460"/>
                    <a:pt x="3961" y="6649"/>
                    <a:pt x="3992" y="6774"/>
                  </a:cubicBezTo>
                  <a:lnTo>
                    <a:pt x="2487" y="6774"/>
                  </a:lnTo>
                  <a:close/>
                  <a:moveTo>
                    <a:pt x="5697" y="6774"/>
                  </a:moveTo>
                  <a:lnTo>
                    <a:pt x="4565" y="6774"/>
                  </a:lnTo>
                  <a:cubicBezTo>
                    <a:pt x="4513" y="6557"/>
                    <a:pt x="4400" y="6108"/>
                    <a:pt x="4103" y="4919"/>
                  </a:cubicBezTo>
                  <a:cubicBezTo>
                    <a:pt x="4133" y="4906"/>
                    <a:pt x="4158" y="4896"/>
                    <a:pt x="4196" y="4879"/>
                  </a:cubicBezTo>
                  <a:lnTo>
                    <a:pt x="5727" y="6710"/>
                  </a:lnTo>
                  <a:cubicBezTo>
                    <a:pt x="5748" y="6736"/>
                    <a:pt x="5731" y="6774"/>
                    <a:pt x="5697" y="6774"/>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a:off x="0" y="308700"/>
            <a:ext cx="12192000" cy="720000"/>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2" name="标题 1"/>
          <p:cNvSpPr>
            <a:spLocks noGrp="1"/>
          </p:cNvSpPr>
          <p:nvPr>
            <p:ph type="title"/>
          </p:nvPr>
        </p:nvSpPr>
        <p:spPr>
          <a:xfrm>
            <a:off x="660400" y="380700"/>
            <a:ext cx="10858500" cy="576000"/>
          </a:xfrm>
          <a:prstGeom prst="rect">
            <a:avLst/>
          </a:prstGeom>
        </p:spPr>
        <p:txBody>
          <a:bodyPr vert="horz" lIns="91440" tIns="45720" rIns="91440" bIns="45720" rtlCol="0" anchor="ctr">
            <a:normAutofit/>
          </a:bodyPr>
          <a:lstStyle/>
          <a:p>
            <a:pPr lvl="0"/>
            <a:r>
              <a:rPr lang="zh-CN" altLang="en-US" dirty="0"/>
              <a:t>Click to add title</a:t>
            </a:r>
            <a:endParaRPr 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t>‹#›</a:t>
            </a:fld>
            <a:endParaRPr lang="en-US"/>
          </a:p>
        </p:txBody>
      </p:sp>
      <p:sp>
        <p:nvSpPr>
          <p:cNvPr id="8" name="五边形 7"/>
          <p:cNvSpPr/>
          <p:nvPr/>
        </p:nvSpPr>
        <p:spPr>
          <a:xfrm>
            <a:off x="-1" y="308700"/>
            <a:ext cx="648000" cy="720000"/>
          </a:xfrm>
          <a:prstGeom prst="homePlate">
            <a:avLst>
              <a:gd name="adj" fmla="val 5389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10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normAutofit fontScale="90000"/>
          </a:bodyPr>
          <a:lstStyle/>
          <a:p>
            <a:pPr marL="0" marR="0" lvl="0" indent="0" algn="ctr">
              <a:lnSpc>
                <a:spcPct val="100000"/>
              </a:lnSpc>
            </a:pPr>
            <a:r>
              <a:rPr lang="zh-CN" altLang="en-US" sz="4800" b="1" dirty="0">
                <a:solidFill>
                  <a:schemeClr val="tx1"/>
                </a:solidFill>
              </a:rPr>
              <a:t>COCA: Generative Root Cause Analysis for Distributed Systems with Code Knowledge</a:t>
            </a:r>
            <a:endParaRPr lang="en-US" dirty="0"/>
          </a:p>
        </p:txBody>
      </p:sp>
      <p:sp>
        <p:nvSpPr>
          <p:cNvPr id="25" name="文本占位符 24"/>
          <p:cNvSpPr>
            <a:spLocks noGrp="1"/>
          </p:cNvSpPr>
          <p:nvPr>
            <p:ph type="body" sz="quarter" idx="1" hasCustomPrompt="1"/>
          </p:nvPr>
        </p:nvSpPr>
        <p:spPr>
          <a:xfrm>
            <a:off x="1229650" y="4385147"/>
            <a:ext cx="9720000" cy="330050"/>
          </a:xfrm>
        </p:spPr>
        <p:txBody>
          <a:bodyPr>
            <a:noAutofit/>
          </a:bodyPr>
          <a:lstStyle/>
          <a:p>
            <a:pPr marL="0" marR="0" lvl="0" indent="0" algn="ctr">
              <a:lnSpc>
                <a:spcPct val="120000"/>
              </a:lnSpc>
            </a:pPr>
            <a:r>
              <a:rPr lang="zh-CN" altLang="en-US" sz="1200" b="0" dirty="0">
                <a:solidFill>
                  <a:schemeClr val="tx1"/>
                </a:solidFill>
              </a:rPr>
              <a:t>Accepted by the 47th IEEE/ACM International Conference on Software Engineering (ICSE'25)</a:t>
            </a:r>
            <a:endParaRPr lang="en-US" dirty="0"/>
          </a:p>
        </p:txBody>
      </p:sp>
      <p:sp>
        <p:nvSpPr>
          <p:cNvPr id="4" name="日期占位符 3"/>
          <p:cNvSpPr>
            <a:spLocks noGrp="1"/>
          </p:cNvSpPr>
          <p:nvPr>
            <p:ph type="dt" sz="half" idx="10"/>
          </p:nvPr>
        </p:nvSpPr>
        <p:spPr/>
        <p:txBody>
          <a:bodyPr/>
          <a:lstStyle>
            <a:lvl1pPr>
              <a:defRPr>
                <a:solidFill>
                  <a:schemeClr val="tx1"/>
                </a:solidFill>
              </a:defRPr>
            </a:lvl1pPr>
          </a:lstStyle>
          <a:p>
            <a:fld id="{2A27A813-B2FD-42E1-9222-83B574E99074}" type="datetime1">
              <a:rPr lang="en-US" altLang="zh-CN" smtClean="0"/>
              <a:t>12/21/2025</a:t>
            </a:fld>
            <a:endParaRPr lang="en-US"/>
          </a:p>
        </p:txBody>
      </p:sp>
      <p:sp>
        <p:nvSpPr>
          <p:cNvPr id="6" name="页脚占位符 5"/>
          <p:cNvSpPr>
            <a:spLocks noGrp="1"/>
          </p:cNvSpPr>
          <p:nvPr>
            <p:ph type="ftr" sz="quarter" idx="11"/>
          </p:nvPr>
        </p:nvSpPr>
        <p:spPr/>
        <p:txBody>
          <a:bodyPr/>
          <a:lstStyle>
            <a:lvl1pPr>
              <a:defRPr>
                <a:solidFill>
                  <a:schemeClr val="tx1"/>
                </a:solidFill>
              </a:defRPr>
            </a:lvl1pPr>
          </a:lstStyle>
          <a:p>
            <a:endParaRPr lang="en-US"/>
          </a:p>
        </p:txBody>
      </p:sp>
      <p:sp>
        <p:nvSpPr>
          <p:cNvPr id="8" name="灯片编号占位符 7"/>
          <p:cNvSpPr>
            <a:spLocks noGrp="1"/>
          </p:cNvSpPr>
          <p:nvPr>
            <p:ph type="sldNum" sz="quarter" idx="12"/>
          </p:nvPr>
        </p:nvSpPr>
        <p:spPr/>
        <p:txBody>
          <a:bodyPr/>
          <a:lstStyle>
            <a:lvl1pPr>
              <a:defRPr>
                <a:solidFill>
                  <a:schemeClr val="tx1"/>
                </a:solidFill>
              </a:defRPr>
            </a:lvl1pPr>
          </a:lstStyle>
          <a:p>
            <a:fld id="{7F65B630-C7FF-41C0-9923-C5E5E29EED81}" type="slidenum">
              <a:rPr lang="en-US" altLang="zh-CN" smtClean="0"/>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4f2a26cf-8e24-4fe5-97e7-2e245b41b5d3.source.4.zh-Hans.pptx"/>
          <p:cNvGrpSpPr/>
          <p:nvPr/>
        </p:nvGrpSpPr>
        <p:grpSpPr>
          <a:xfrm>
            <a:off x="660400" y="1130300"/>
            <a:ext cx="10858500" cy="5406173"/>
            <a:chOff x="660400" y="1130300"/>
            <a:chExt cx="10858500" cy="5406173"/>
          </a:xfrm>
        </p:grpSpPr>
        <p:sp>
          <p:nvSpPr>
            <p:cNvPr id="11" name="Title"/>
            <p:cNvSpPr/>
            <p:nvPr/>
          </p:nvSpPr>
          <p:spPr>
            <a:xfrm>
              <a:off x="660400" y="1130300"/>
              <a:ext cx="10858500" cy="9023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marL="0" marR="0" lvl="0" indent="0" algn="l"/>
              <a:r>
                <a:rPr lang="zh-CN" altLang="en-US" sz="1100" b="1" dirty="0">
                  <a:solidFill>
                    <a:schemeClr val="tx1"/>
                  </a:solidFill>
                </a:rPr>
                <a:t>In modern software systems, the reliability of complex distributed systems is crucial for ensuring stable system operation and a positive user experience.</a:t>
              </a:r>
              <a:endParaRPr lang="en-US" dirty="0"/>
            </a:p>
            <a:p>
              <a:pPr marL="0" marR="0" lvl="0" indent="0" algn="l"/>
              <a:endParaRPr lang="en-US" dirty="0"/>
            </a:p>
            <a:p>
              <a:pPr marL="0" marR="0" lvl="0" indent="0" algn="l"/>
              <a:r>
                <a:rPr lang="zh-CN" altLang="en-US" sz="1100" b="1" dirty="0">
                  <a:solidFill>
                    <a:schemeClr val="tx1"/>
                  </a:solidFill>
                </a:rPr>
                <a:t>However, even with careful design and thorough testing, distributed systems inevitably encounter various problems during actual operation.</a:t>
              </a:r>
              <a:endParaRPr lang="en-US" dirty="0"/>
            </a:p>
          </p:txBody>
        </p:sp>
        <p:grpSp>
          <p:nvGrpSpPr>
            <p:cNvPr id="15" name="组合 14"/>
            <p:cNvGrpSpPr/>
            <p:nvPr/>
          </p:nvGrpSpPr>
          <p:grpSpPr>
            <a:xfrm>
              <a:off x="660400" y="2119380"/>
              <a:ext cx="5895574" cy="4417093"/>
              <a:chOff x="660400" y="2120613"/>
              <a:chExt cx="5895574" cy="2896598"/>
            </a:xfrm>
          </p:grpSpPr>
          <p:grpSp>
            <p:nvGrpSpPr>
              <p:cNvPr id="13" name="组合 12"/>
              <p:cNvGrpSpPr/>
              <p:nvPr/>
            </p:nvGrpSpPr>
            <p:grpSpPr>
              <a:xfrm>
                <a:off x="660400" y="2120613"/>
                <a:ext cx="5895574" cy="1251981"/>
                <a:chOff x="660400" y="2218154"/>
                <a:chExt cx="5500151" cy="1867066"/>
              </a:xfrm>
            </p:grpSpPr>
            <p:sp>
              <p:nvSpPr>
                <p:cNvPr id="5" name="矩形: 圆角 4"/>
                <p:cNvSpPr/>
                <p:nvPr/>
              </p:nvSpPr>
              <p:spPr>
                <a:xfrm>
                  <a:off x="660400" y="2221657"/>
                  <a:ext cx="5401160" cy="1863563"/>
                </a:xfrm>
                <a:prstGeom prst="roundRect">
                  <a:avLst>
                    <a:gd name="adj" fmla="val 0"/>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p>
              </p:txBody>
            </p:sp>
            <p:grpSp>
              <p:nvGrpSpPr>
                <p:cNvPr id="12" name="组合 11"/>
                <p:cNvGrpSpPr/>
                <p:nvPr/>
              </p:nvGrpSpPr>
              <p:grpSpPr>
                <a:xfrm>
                  <a:off x="1414951" y="2218154"/>
                  <a:ext cx="4745600" cy="1125539"/>
                  <a:chOff x="1377049" y="2876323"/>
                  <a:chExt cx="4745600" cy="1125539"/>
                </a:xfrm>
              </p:grpSpPr>
              <p:sp>
                <p:nvSpPr>
                  <p:cNvPr id="3" name="Text1"/>
                  <p:cNvSpPr txBox="1"/>
                  <p:nvPr/>
                </p:nvSpPr>
                <p:spPr>
                  <a:xfrm>
                    <a:off x="1377049" y="2876323"/>
                    <a:ext cx="4745600" cy="1125539"/>
                  </a:xfrm>
                  <a:prstGeom prst="rect">
                    <a:avLst/>
                  </a:prstGeom>
                  <a:noFill/>
                </p:spPr>
                <p:txBody>
                  <a:bodyPr wrap="square">
                    <a:noAutofit/>
                  </a:bodyPr>
                  <a:lstStyle/>
                  <a:p>
                    <a:pPr marL="0" marR="0" lvl="0" indent="0" algn="l">
                      <a:lnSpc>
                        <a:spcPct val="120000"/>
                      </a:lnSpc>
                    </a:pPr>
                    <a:r>
                      <a:rPr lang="zh-CN" altLang="en-US" sz="1400" dirty="0">
                        <a:solidFill>
                          <a:schemeClr val="tx1"/>
                        </a:solidFill>
                      </a:rPr>
                      <a:t>When users encounter system failures, they typically submit issue reports through </a:t>
                    </a:r>
                    <a:r>
                      <a:rPr lang="zh-CN" altLang="en-US" sz="1400" b="1" dirty="0">
                        <a:solidFill>
                          <a:schemeClr val="tx1"/>
                        </a:solidFill>
                      </a:rPr>
                      <a:t>issue tracking systems </a:t>
                    </a:r>
                    <a:r>
                      <a:rPr lang="zh-CN" altLang="en-US" sz="1400" dirty="0">
                        <a:solidFill>
                          <a:schemeClr val="tx1"/>
                        </a:solidFill>
                      </a:rPr>
                      <a:t>such as JIRA.</a:t>
                    </a:r>
                    <a:endParaRPr lang="en-US" dirty="0"/>
                  </a:p>
                  <a:p>
                    <a:pPr marL="0" marR="0" lvl="0" indent="0" algn="l">
                      <a:lnSpc>
                        <a:spcPct val="120000"/>
                      </a:lnSpc>
                    </a:pPr>
                    <a:r>
                      <a:rPr lang="zh-CN" altLang="en-US" sz="1400" dirty="0">
                        <a:solidFill>
                          <a:schemeClr val="tx1"/>
                        </a:solidFill>
                      </a:rPr>
                      <a:t>These issue reports generally include: </a:t>
                    </a:r>
                    <a:endParaRPr lang="en-US" dirty="0"/>
                  </a:p>
                  <a:p>
                    <a:pPr marL="285750" marR="0" lvl="0" indent="-285750" algn="l">
                      <a:lnSpc>
                        <a:spcPct val="120000"/>
                      </a:lnSpc>
                      <a:buFont typeface="Arial" panose="020B0604020202020204" pitchFamily="34" charset="0"/>
                      <a:buChar char="•"/>
                    </a:pPr>
                    <a:r>
                      <a:rPr lang="zh-CN" altLang="en-US" sz="1400" dirty="0">
                        <a:solidFill>
                          <a:schemeClr val="tx1"/>
                        </a:solidFill>
                      </a:rPr>
                      <a:t>a problem description</a:t>
                    </a:r>
                    <a:endParaRPr lang="en-US" dirty="0"/>
                  </a:p>
                  <a:p>
                    <a:pPr marL="285750" marR="0" lvl="0" indent="-285750" algn="l">
                      <a:lnSpc>
                        <a:spcPct val="120000"/>
                      </a:lnSpc>
                      <a:buFont typeface="Arial" panose="020B0604020202020204" pitchFamily="34" charset="0"/>
                      <a:buChar char="•"/>
                    </a:pPr>
                    <a:r>
                      <a:rPr lang="zh-CN" altLang="en-US" sz="1400" dirty="0">
                        <a:solidFill>
                          <a:schemeClr val="tx1"/>
                        </a:solidFill>
                      </a:rPr>
                      <a:t>runtime logs</a:t>
                    </a:r>
                    <a:endParaRPr lang="en-US" dirty="0"/>
                  </a:p>
                  <a:p>
                    <a:pPr marL="285750" marR="0" lvl="0" indent="-285750" algn="l">
                      <a:lnSpc>
                        <a:spcPct val="120000"/>
                      </a:lnSpc>
                      <a:buFont typeface="Arial" panose="020B0604020202020204" pitchFamily="34" charset="0"/>
                      <a:buChar char="•"/>
                    </a:pPr>
                    <a:r>
                      <a:rPr lang="zh-CN" altLang="en-US" sz="1400" dirty="0">
                        <a:solidFill>
                          <a:schemeClr val="tx1"/>
                        </a:solidFill>
                      </a:rPr>
                      <a:t>and possibly a stack trace.</a:t>
                    </a:r>
                    <a:endParaRPr lang="en-US" dirty="0"/>
                  </a:p>
                </p:txBody>
              </p:sp>
            </p:grpSp>
            <p:sp>
              <p:nvSpPr>
                <p:cNvPr id="10" name="Number1"/>
                <p:cNvSpPr/>
                <p:nvPr/>
              </p:nvSpPr>
              <p:spPr>
                <a:xfrm>
                  <a:off x="738067" y="2370580"/>
                  <a:ext cx="561313" cy="15657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6000" dirty="0">
                      <a:solidFill>
                        <a:schemeClr val="accent1"/>
                      </a:solidFill>
                    </a:rPr>
                    <a:t>1</a:t>
                  </a:r>
                  <a:endParaRPr lang="zh-CN" altLang="en-US" sz="6000" dirty="0">
                    <a:solidFill>
                      <a:schemeClr val="accent1"/>
                    </a:solidFill>
                  </a:endParaRPr>
                </a:p>
              </p:txBody>
            </p:sp>
          </p:grpSp>
          <p:grpSp>
            <p:nvGrpSpPr>
              <p:cNvPr id="2" name="组合 1"/>
              <p:cNvGrpSpPr/>
              <p:nvPr/>
            </p:nvGrpSpPr>
            <p:grpSpPr>
              <a:xfrm>
                <a:off x="660400" y="3503715"/>
                <a:ext cx="5789467" cy="1513496"/>
                <a:chOff x="660400" y="2221657"/>
                <a:chExt cx="5726091" cy="2257060"/>
              </a:xfrm>
            </p:grpSpPr>
            <p:sp>
              <p:nvSpPr>
                <p:cNvPr id="6" name="矩形: 圆角 5"/>
                <p:cNvSpPr/>
                <p:nvPr/>
              </p:nvSpPr>
              <p:spPr>
                <a:xfrm>
                  <a:off x="660400" y="2221657"/>
                  <a:ext cx="5726091" cy="1863563"/>
                </a:xfrm>
                <a:prstGeom prst="roundRect">
                  <a:avLst>
                    <a:gd name="adj" fmla="val 0"/>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p>
              </p:txBody>
            </p:sp>
            <p:grpSp>
              <p:nvGrpSpPr>
                <p:cNvPr id="7" name="组合 6"/>
                <p:cNvGrpSpPr/>
                <p:nvPr/>
              </p:nvGrpSpPr>
              <p:grpSpPr>
                <a:xfrm>
                  <a:off x="1385251" y="2315132"/>
                  <a:ext cx="4884856" cy="2163585"/>
                  <a:chOff x="1385251" y="2308641"/>
                  <a:chExt cx="4884856" cy="2163585"/>
                </a:xfrm>
              </p:grpSpPr>
              <p:sp>
                <p:nvSpPr>
                  <p:cNvPr id="9" name="Text2"/>
                  <p:cNvSpPr txBox="1"/>
                  <p:nvPr/>
                </p:nvSpPr>
                <p:spPr>
                  <a:xfrm>
                    <a:off x="1385251" y="2308641"/>
                    <a:ext cx="4884856" cy="2163585"/>
                  </a:xfrm>
                  <a:prstGeom prst="rect">
                    <a:avLst/>
                  </a:prstGeom>
                  <a:noFill/>
                </p:spPr>
                <p:txBody>
                  <a:bodyPr wrap="square">
                    <a:noAutofit/>
                  </a:bodyPr>
                  <a:lstStyle/>
                  <a:p>
                    <a:pPr marL="0" marR="0" lvl="0" indent="0" algn="l">
                      <a:lnSpc>
                        <a:spcPct val="120000"/>
                      </a:lnSpc>
                    </a:pPr>
                    <a:r>
                      <a:rPr lang="zh-CN" altLang="en-US" sz="1400" dirty="0">
                        <a:solidFill>
                          <a:schemeClr val="tx1"/>
                        </a:solidFill>
                      </a:rPr>
                      <a:t>Distributed systems have the following characteristics:</a:t>
                    </a:r>
                    <a:endParaRPr lang="en-US" dirty="0"/>
                  </a:p>
                  <a:p>
                    <a:pPr marL="285750" marR="0" lvl="0" indent="-285750" algn="l">
                      <a:lnSpc>
                        <a:spcPct val="120000"/>
                      </a:lnSpc>
                      <a:buFont typeface="Arial" panose="020B0604020202020204" pitchFamily="34" charset="0"/>
                      <a:buChar char="•"/>
                    </a:pPr>
                    <a:r>
                      <a:rPr lang="zh-CN" altLang="en-US" sz="1400" dirty="0">
                        <a:solidFill>
                          <a:schemeClr val="tx1"/>
                        </a:solidFill>
                      </a:rPr>
                      <a:t> Large system scale and numerous components; </a:t>
                    </a:r>
                    <a:endParaRPr lang="en-US" dirty="0"/>
                  </a:p>
                  <a:p>
                    <a:pPr marL="285750" marR="0" lvl="0" indent="-285750" algn="l">
                      <a:lnSpc>
                        <a:spcPct val="120000"/>
                      </a:lnSpc>
                      <a:buFont typeface="Arial" panose="020B0604020202020204" pitchFamily="34" charset="0"/>
                      <a:buChar char="•"/>
                    </a:pPr>
                    <a:r>
                      <a:rPr lang="zh-CN" altLang="en-US" sz="1400" dirty="0">
                        <a:solidFill>
                          <a:schemeClr val="tx1"/>
                        </a:solidFill>
                      </a:rPr>
                      <a:t>High decoupling between modules, but complex runtime interactions;</a:t>
                    </a:r>
                    <a:endParaRPr lang="en-US" dirty="0"/>
                  </a:p>
                  <a:p>
                    <a:pPr marL="285750" marR="0" lvl="0" indent="-285750" algn="l">
                      <a:lnSpc>
                        <a:spcPct val="120000"/>
                      </a:lnSpc>
                      <a:buFont typeface="Arial" panose="020B0604020202020204" pitchFamily="34" charset="0"/>
                      <a:buChar char="•"/>
                    </a:pPr>
                    <a:r>
                      <a:rPr lang="zh-CN" altLang="en-US" sz="1400" dirty="0">
                        <a:solidFill>
                          <a:schemeClr val="tx1"/>
                        </a:solidFill>
                      </a:rPr>
                      <a:t> Faults often span multiple components or even multiple machines.</a:t>
                    </a:r>
                    <a:endParaRPr lang="en-US" dirty="0"/>
                  </a:p>
                </p:txBody>
              </p:sp>
            </p:grpSp>
            <p:sp>
              <p:nvSpPr>
                <p:cNvPr id="8" name="Number2"/>
                <p:cNvSpPr/>
                <p:nvPr/>
              </p:nvSpPr>
              <p:spPr>
                <a:xfrm>
                  <a:off x="738067" y="2370580"/>
                  <a:ext cx="561313" cy="15657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6000" dirty="0">
                      <a:solidFill>
                        <a:schemeClr val="accent1"/>
                      </a:solidFill>
                    </a:rPr>
                    <a:t>2</a:t>
                  </a:r>
                  <a:endParaRPr lang="zh-CN" altLang="en-US" sz="6000" dirty="0">
                    <a:solidFill>
                      <a:schemeClr val="accent1"/>
                    </a:solidFill>
                  </a:endParaRPr>
                </a:p>
              </p:txBody>
            </p:sp>
          </p:grpSp>
        </p:grpSp>
      </p:grpSp>
      <p:sp>
        <p:nvSpPr>
          <p:cNvPr id="4" name="标题 3"/>
          <p:cNvSpPr>
            <a:spLocks noGrp="1"/>
          </p:cNvSpPr>
          <p:nvPr>
            <p:ph type="title" hasCustomPrompt="1"/>
          </p:nvPr>
        </p:nvSpPr>
        <p:spPr/>
        <p:txBody>
          <a:bodyPr>
            <a:normAutofit/>
          </a:bodyPr>
          <a:lstStyle/>
          <a:p>
            <a:pPr marL="0" marR="0" lvl="0" indent="0" algn="l">
              <a:lnSpc>
                <a:spcPct val="100000"/>
              </a:lnSpc>
            </a:pPr>
            <a:r>
              <a:rPr lang="zh-CN" altLang="en-US" sz="2800" b="1" dirty="0">
                <a:solidFill>
                  <a:schemeClr val="accent1"/>
                </a:solidFill>
              </a:rPr>
              <a:t>Background</a:t>
            </a:r>
            <a:endParaRPr lang="en-US" dirty="0"/>
          </a:p>
        </p:txBody>
      </p:sp>
      <p:sp>
        <p:nvSpPr>
          <p:cNvPr id="14" name="日期占位符 13"/>
          <p:cNvSpPr>
            <a:spLocks noGrp="1"/>
          </p:cNvSpPr>
          <p:nvPr>
            <p:ph type="dt" sz="half" idx="10"/>
          </p:nvPr>
        </p:nvSpPr>
        <p:spPr/>
        <p:txBody>
          <a:bodyPr/>
          <a:lstStyle/>
          <a:p>
            <a:endParaRPr lang="en-US"/>
          </a:p>
        </p:txBody>
      </p:sp>
      <p:sp>
        <p:nvSpPr>
          <p:cNvPr id="17" name="页脚占位符 16"/>
          <p:cNvSpPr>
            <a:spLocks noGrp="1"/>
          </p:cNvSpPr>
          <p:nvPr>
            <p:ph type="ftr" sz="quarter" idx="11"/>
          </p:nvPr>
        </p:nvSpPr>
        <p:spPr/>
        <p:txBody>
          <a:bodyPr/>
          <a:lstStyle/>
          <a:p>
            <a:endParaRPr lang="en-US" dirty="0"/>
          </a:p>
        </p:txBody>
      </p:sp>
      <p:sp>
        <p:nvSpPr>
          <p:cNvPr id="18" name="灯片编号占位符 17"/>
          <p:cNvSpPr>
            <a:spLocks noGrp="1"/>
          </p:cNvSpPr>
          <p:nvPr>
            <p:ph type="sldNum" sz="quarter" idx="12"/>
          </p:nvPr>
        </p:nvSpPr>
        <p:spPr/>
        <p:txBody>
          <a:bodyPr/>
          <a:lstStyle/>
          <a:p>
            <a:fld id="{C8BB1146-E542-4D4E-B8E9-6919A11DDD48}" type="slidenum">
              <a:rPr lang="en-US" smtClean="0"/>
              <a:t>2</a:t>
            </a:fld>
            <a:endParaRPr lang="en-US"/>
          </a:p>
        </p:txBody>
      </p:sp>
      <p:pic>
        <p:nvPicPr>
          <p:cNvPr id="19" name="图片 18"/>
          <p:cNvPicPr>
            <a:picLocks noChangeAspect="1"/>
          </p:cNvPicPr>
          <p:nvPr/>
        </p:nvPicPr>
        <p:blipFill>
          <a:blip r:embed="rId2"/>
          <a:stretch>
            <a:fillRect/>
          </a:stretch>
        </p:blipFill>
        <p:spPr>
          <a:xfrm>
            <a:off x="6765925" y="2275205"/>
            <a:ext cx="4752975" cy="35718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f80c963a-6c0d-400a-a60e-8a53022c2a32.source.5.zh-Hans.pptx"/>
          <p:cNvGrpSpPr/>
          <p:nvPr/>
        </p:nvGrpSpPr>
        <p:grpSpPr>
          <a:xfrm>
            <a:off x="670670" y="1176135"/>
            <a:ext cx="10985734" cy="5863623"/>
            <a:chOff x="533166" y="1130300"/>
            <a:chExt cx="10985734" cy="5863623"/>
          </a:xfrm>
        </p:grpSpPr>
        <p:sp>
          <p:nvSpPr>
            <p:cNvPr id="4" name="Title"/>
            <p:cNvSpPr txBox="1"/>
            <p:nvPr/>
          </p:nvSpPr>
          <p:spPr>
            <a:xfrm>
              <a:off x="660400" y="1130300"/>
              <a:ext cx="10858500" cy="504190"/>
            </a:xfrm>
            <a:prstGeom prst="rect">
              <a:avLst/>
            </a:prstGeom>
            <a:noFill/>
          </p:spPr>
          <p:txBody>
            <a:bodyPr wrap="square" lIns="91440" tIns="45720" rIns="91440" bIns="45720" rtlCol="0" anchor="ctr" anchorCtr="0">
              <a:normAutofit fontScale="75000" lnSpcReduction="10000"/>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algn="l"/>
              <a:r>
                <a:rPr lang="zh-CN" altLang="en-US" sz="2000" b="1" i="0" u="none" strike="noStrike" dirty="0">
                  <a:solidFill>
                    <a:schemeClr val="tx1"/>
                  </a:solidFill>
                </a:rPr>
                <a:t>To address these issues, the research community has proposed numerous automated root cause analysis (RCA) methods.</a:t>
              </a:r>
              <a:endParaRPr lang="en-US" dirty="0"/>
            </a:p>
          </p:txBody>
        </p:sp>
        <p:grpSp>
          <p:nvGrpSpPr>
            <p:cNvPr id="5" name="组合 4"/>
            <p:cNvGrpSpPr/>
            <p:nvPr/>
          </p:nvGrpSpPr>
          <p:grpSpPr>
            <a:xfrm>
              <a:off x="533166" y="1703880"/>
              <a:ext cx="6483981" cy="2487401"/>
              <a:chOff x="509226" y="2832608"/>
              <a:chExt cx="8283407" cy="2211501"/>
            </a:xfrm>
          </p:grpSpPr>
          <p:sp>
            <p:nvSpPr>
              <p:cNvPr id="45" name="矩形: 圆角 44"/>
              <p:cNvSpPr/>
              <p:nvPr/>
            </p:nvSpPr>
            <p:spPr>
              <a:xfrm>
                <a:off x="509226" y="2832608"/>
                <a:ext cx="5584022" cy="2090784"/>
              </a:xfrm>
              <a:prstGeom prst="roundRect">
                <a:avLst>
                  <a:gd name="adj" fmla="val 3785"/>
                </a:avLst>
              </a:prstGeom>
              <a:solidFill>
                <a:schemeClr val="accent1">
                  <a:alpha val="1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46" name="任意多边形: 形状 45"/>
              <p:cNvSpPr/>
              <p:nvPr/>
            </p:nvSpPr>
            <p:spPr>
              <a:xfrm>
                <a:off x="6088357" y="3403130"/>
                <a:ext cx="2704276" cy="785424"/>
              </a:xfrm>
              <a:custGeom>
                <a:avLst/>
                <a:gdLst>
                  <a:gd name="connsiteX0" fmla="*/ 2032326 w 2743199"/>
                  <a:gd name="connsiteY0" fmla="*/ 0 h 622300"/>
                  <a:gd name="connsiteX1" fmla="*/ 2743199 w 2743199"/>
                  <a:gd name="connsiteY1" fmla="*/ 619433 h 622300"/>
                  <a:gd name="connsiteX2" fmla="*/ 2739909 w 2743199"/>
                  <a:gd name="connsiteY2" fmla="*/ 622300 h 622300"/>
                  <a:gd name="connsiteX3" fmla="*/ 112683 w 2743199"/>
                  <a:gd name="connsiteY3" fmla="*/ 622300 h 622300"/>
                  <a:gd name="connsiteX4" fmla="*/ 112683 w 2743199"/>
                  <a:gd name="connsiteY4" fmla="*/ 622299 h 622300"/>
                  <a:gd name="connsiteX5" fmla="*/ 0 w 2743199"/>
                  <a:gd name="connsiteY5" fmla="*/ 622299 h 622300"/>
                  <a:gd name="connsiteX6" fmla="*/ 0 w 2743199"/>
                  <a:gd name="connsiteY6" fmla="*/ 155574 h 622300"/>
                  <a:gd name="connsiteX7" fmla="*/ 165100 w 2743199"/>
                  <a:gd name="connsiteY7" fmla="*/ 155574 h 622300"/>
                  <a:gd name="connsiteX8" fmla="*/ 165100 w 2743199"/>
                  <a:gd name="connsiteY8" fmla="*/ 157317 h 622300"/>
                  <a:gd name="connsiteX9" fmla="*/ 2032326 w 2743199"/>
                  <a:gd name="connsiteY9" fmla="*/ 157317 h 622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43199" h="622300">
                    <a:moveTo>
                      <a:pt x="2032326" y="0"/>
                    </a:moveTo>
                    <a:lnTo>
                      <a:pt x="2743199" y="619433"/>
                    </a:lnTo>
                    <a:lnTo>
                      <a:pt x="2739909" y="622300"/>
                    </a:lnTo>
                    <a:lnTo>
                      <a:pt x="112683" y="622300"/>
                    </a:lnTo>
                    <a:lnTo>
                      <a:pt x="112683" y="622299"/>
                    </a:lnTo>
                    <a:lnTo>
                      <a:pt x="0" y="622299"/>
                    </a:lnTo>
                    <a:lnTo>
                      <a:pt x="0" y="155574"/>
                    </a:lnTo>
                    <a:lnTo>
                      <a:pt x="165100" y="155574"/>
                    </a:lnTo>
                    <a:lnTo>
                      <a:pt x="165100" y="157317"/>
                    </a:lnTo>
                    <a:lnTo>
                      <a:pt x="2032326" y="157317"/>
                    </a:lnTo>
                    <a:close/>
                  </a:path>
                </a:pathLst>
              </a:custGeom>
              <a:gradFill flip="none" rotWithShape="1">
                <a:gsLst>
                  <a:gs pos="0">
                    <a:schemeClr val="accent1">
                      <a:lumMod val="60000"/>
                      <a:lumOff val="40000"/>
                      <a:alpha val="0"/>
                    </a:schemeClr>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i="1">
                  <a:cs typeface="+mn-ea"/>
                  <a:sym typeface="+mn-lt"/>
                </a:endParaRPr>
              </a:p>
            </p:txBody>
          </p:sp>
          <p:sp>
            <p:nvSpPr>
              <p:cNvPr id="47" name="Number1"/>
              <p:cNvSpPr/>
              <p:nvPr/>
            </p:nvSpPr>
            <p:spPr>
              <a:xfrm>
                <a:off x="6402182" y="3610575"/>
                <a:ext cx="2076448" cy="535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marL="0" marR="0" lvl="0" indent="0" algn="l"/>
                <a:r>
                  <a:rPr lang="zh-CN" altLang="en-US" sz="1200" b="1" dirty="0">
                    <a:solidFill>
                      <a:schemeClr val="tx1"/>
                    </a:solidFill>
                  </a:rPr>
                  <a:t>However</a:t>
                </a:r>
                <a:endParaRPr lang="en-US" dirty="0"/>
              </a:p>
            </p:txBody>
          </p:sp>
          <p:sp>
            <p:nvSpPr>
              <p:cNvPr id="48" name="Bullet1"/>
              <p:cNvSpPr/>
              <p:nvPr/>
            </p:nvSpPr>
            <p:spPr>
              <a:xfrm flipH="1">
                <a:off x="664178" y="2832652"/>
                <a:ext cx="2412950" cy="674313"/>
              </a:xfrm>
              <a:prstGeom prst="rect">
                <a:avLst/>
              </a:prstGeom>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a:r>
                  <a:rPr lang="zh-CN" altLang="en-US" sz="1600" b="1" dirty="0">
                    <a:solidFill>
                      <a:schemeClr val="tx1"/>
                    </a:solidFill>
                  </a:rPr>
                  <a:t>One mainstream approach</a:t>
                </a:r>
                <a:endParaRPr lang="en-US" dirty="0"/>
              </a:p>
            </p:txBody>
          </p:sp>
          <p:sp>
            <p:nvSpPr>
              <p:cNvPr id="49" name="Text1"/>
              <p:cNvSpPr txBox="1"/>
              <p:nvPr/>
            </p:nvSpPr>
            <p:spPr>
              <a:xfrm>
                <a:off x="664179" y="3506966"/>
                <a:ext cx="5612589" cy="1537143"/>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a:lnSpc>
                    <a:spcPct val="120000"/>
                  </a:lnSpc>
                </a:pPr>
                <a:r>
                  <a:rPr lang="zh-CN" altLang="en-US" sz="1200" dirty="0">
                    <a:solidFill>
                      <a:schemeClr val="tx1"/>
                    </a:solidFill>
                  </a:rPr>
                  <a:t>relies on comprehensive runtime monitoring data, such as logs, metrics, and call chain tracing information.</a:t>
                </a:r>
                <a:endParaRPr lang="en-US" dirty="0"/>
              </a:p>
              <a:p>
                <a:pPr marL="0" marR="0" lvl="0" indent="0" algn="l">
                  <a:lnSpc>
                    <a:spcPct val="120000"/>
                  </a:lnSpc>
                </a:pPr>
                <a:endParaRPr lang="en-US" dirty="0"/>
              </a:p>
              <a:p>
                <a:pPr marL="0" marR="0" lvl="0" indent="0" algn="l">
                  <a:lnSpc>
                    <a:spcPct val="120000"/>
                  </a:lnSpc>
                </a:pPr>
                <a:r>
                  <a:rPr lang="zh-CN" altLang="en-US" sz="1200" dirty="0">
                    <a:solidFill>
                      <a:schemeClr val="tx1"/>
                    </a:solidFill>
                  </a:rPr>
                  <a:t>These methods typically pinpoint the root cause by comparing data from faulty and normal states.</a:t>
                </a:r>
                <a:endParaRPr lang="en-US" dirty="0"/>
              </a:p>
            </p:txBody>
          </p:sp>
        </p:grpSp>
        <p:grpSp>
          <p:nvGrpSpPr>
            <p:cNvPr id="10" name="组合 9"/>
            <p:cNvGrpSpPr/>
            <p:nvPr/>
          </p:nvGrpSpPr>
          <p:grpSpPr>
            <a:xfrm>
              <a:off x="533178" y="4125020"/>
              <a:ext cx="6631425" cy="2868903"/>
              <a:chOff x="530745" y="2633630"/>
              <a:chExt cx="8471771" cy="2550687"/>
            </a:xfrm>
          </p:grpSpPr>
          <p:sp>
            <p:nvSpPr>
              <p:cNvPr id="25" name="矩形: 圆角 24"/>
              <p:cNvSpPr/>
              <p:nvPr/>
            </p:nvSpPr>
            <p:spPr>
              <a:xfrm>
                <a:off x="530745" y="2633630"/>
                <a:ext cx="5576520" cy="2296766"/>
              </a:xfrm>
              <a:prstGeom prst="roundRect">
                <a:avLst>
                  <a:gd name="adj" fmla="val 3785"/>
                </a:avLst>
              </a:prstGeom>
              <a:solidFill>
                <a:schemeClr val="accent3">
                  <a:alpha val="1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26" name="任意多边形: 形状 25"/>
              <p:cNvSpPr/>
              <p:nvPr/>
            </p:nvSpPr>
            <p:spPr>
              <a:xfrm>
                <a:off x="6298240" y="3276931"/>
                <a:ext cx="2704276" cy="785424"/>
              </a:xfrm>
              <a:custGeom>
                <a:avLst/>
                <a:gdLst>
                  <a:gd name="connsiteX0" fmla="*/ 2032326 w 2743199"/>
                  <a:gd name="connsiteY0" fmla="*/ 0 h 622300"/>
                  <a:gd name="connsiteX1" fmla="*/ 2743199 w 2743199"/>
                  <a:gd name="connsiteY1" fmla="*/ 619433 h 622300"/>
                  <a:gd name="connsiteX2" fmla="*/ 2739909 w 2743199"/>
                  <a:gd name="connsiteY2" fmla="*/ 622300 h 622300"/>
                  <a:gd name="connsiteX3" fmla="*/ 112683 w 2743199"/>
                  <a:gd name="connsiteY3" fmla="*/ 622300 h 622300"/>
                  <a:gd name="connsiteX4" fmla="*/ 112683 w 2743199"/>
                  <a:gd name="connsiteY4" fmla="*/ 622299 h 622300"/>
                  <a:gd name="connsiteX5" fmla="*/ 0 w 2743199"/>
                  <a:gd name="connsiteY5" fmla="*/ 622299 h 622300"/>
                  <a:gd name="connsiteX6" fmla="*/ 0 w 2743199"/>
                  <a:gd name="connsiteY6" fmla="*/ 155574 h 622300"/>
                  <a:gd name="connsiteX7" fmla="*/ 165100 w 2743199"/>
                  <a:gd name="connsiteY7" fmla="*/ 155574 h 622300"/>
                  <a:gd name="connsiteX8" fmla="*/ 165100 w 2743199"/>
                  <a:gd name="connsiteY8" fmla="*/ 157317 h 622300"/>
                  <a:gd name="connsiteX9" fmla="*/ 2032326 w 2743199"/>
                  <a:gd name="connsiteY9" fmla="*/ 157317 h 622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43199" h="622300">
                    <a:moveTo>
                      <a:pt x="2032326" y="0"/>
                    </a:moveTo>
                    <a:lnTo>
                      <a:pt x="2743199" y="619433"/>
                    </a:lnTo>
                    <a:lnTo>
                      <a:pt x="2739909" y="622300"/>
                    </a:lnTo>
                    <a:lnTo>
                      <a:pt x="112683" y="622300"/>
                    </a:lnTo>
                    <a:lnTo>
                      <a:pt x="112683" y="622299"/>
                    </a:lnTo>
                    <a:lnTo>
                      <a:pt x="0" y="622299"/>
                    </a:lnTo>
                    <a:lnTo>
                      <a:pt x="0" y="155574"/>
                    </a:lnTo>
                    <a:lnTo>
                      <a:pt x="165100" y="155574"/>
                    </a:lnTo>
                    <a:lnTo>
                      <a:pt x="165100" y="157317"/>
                    </a:lnTo>
                    <a:lnTo>
                      <a:pt x="2032326" y="157317"/>
                    </a:lnTo>
                    <a:close/>
                  </a:path>
                </a:pathLst>
              </a:custGeom>
              <a:gradFill flip="none" rotWithShape="1">
                <a:gsLst>
                  <a:gs pos="0">
                    <a:schemeClr val="accent3">
                      <a:lumMod val="60000"/>
                      <a:lumOff val="40000"/>
                      <a:alpha val="0"/>
                    </a:schemeClr>
                  </a:gs>
                  <a:gs pos="100000">
                    <a:schemeClr val="accent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i="1">
                  <a:cs typeface="+mn-ea"/>
                  <a:sym typeface="+mn-lt"/>
                </a:endParaRPr>
              </a:p>
            </p:txBody>
          </p:sp>
          <p:sp>
            <p:nvSpPr>
              <p:cNvPr id="27" name="Number3"/>
              <p:cNvSpPr/>
              <p:nvPr/>
            </p:nvSpPr>
            <p:spPr>
              <a:xfrm>
                <a:off x="6423775" y="3527355"/>
                <a:ext cx="2076448" cy="535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marL="0" marR="0" lvl="0" indent="0" algn="l"/>
                <a:r>
                  <a:rPr lang="zh-CN" altLang="en-US" sz="1200" b="1" dirty="0">
                    <a:solidFill>
                      <a:schemeClr val="tx1"/>
                    </a:solidFill>
                  </a:rPr>
                  <a:t>However</a:t>
                </a:r>
                <a:endParaRPr lang="en-US" dirty="0"/>
              </a:p>
            </p:txBody>
          </p:sp>
          <p:sp>
            <p:nvSpPr>
              <p:cNvPr id="38" name="Bullet3"/>
              <p:cNvSpPr/>
              <p:nvPr/>
            </p:nvSpPr>
            <p:spPr>
              <a:xfrm flipH="1">
                <a:off x="664178" y="2832652"/>
                <a:ext cx="3291268" cy="674313"/>
              </a:xfrm>
              <a:prstGeom prst="rect">
                <a:avLst/>
              </a:prstGeom>
            </p:spPr>
            <p:txBody>
              <a:bodyPr wrap="square" lIns="91440" tIns="45720" rIns="91440" bIns="45720" anchor="b" anchorCtr="0">
                <a:normAutofit fontScale="9375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a:r>
                  <a:rPr lang="zh-CN" altLang="en-US" sz="1600" b="1" dirty="0">
                    <a:solidFill>
                      <a:schemeClr val="tx1"/>
                    </a:solidFill>
                  </a:rPr>
                  <a:t>Another related area of ​​work is fault localization</a:t>
                </a:r>
                <a:endParaRPr lang="en-US" dirty="0"/>
              </a:p>
            </p:txBody>
          </p:sp>
          <p:sp>
            <p:nvSpPr>
              <p:cNvPr id="39" name="Text3"/>
              <p:cNvSpPr txBox="1"/>
              <p:nvPr/>
            </p:nvSpPr>
            <p:spPr>
              <a:xfrm>
                <a:off x="693456" y="3647174"/>
                <a:ext cx="4684866" cy="1537143"/>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a:lnSpc>
                    <a:spcPct val="120000"/>
                  </a:lnSpc>
                </a:pPr>
                <a:r>
                  <a:rPr lang="zh-CN" altLang="en-US" sz="1200" dirty="0">
                    <a:solidFill>
                      <a:schemeClr val="tx1"/>
                    </a:solidFill>
                  </a:rPr>
                  <a:t>It primarily focuses on locating the specific code location that caused the failure at the code level.</a:t>
                </a:r>
                <a:endParaRPr lang="en-US" dirty="0"/>
              </a:p>
            </p:txBody>
          </p:sp>
        </p:grpSp>
      </p:grpSp>
      <p:sp>
        <p:nvSpPr>
          <p:cNvPr id="2" name="标题 1"/>
          <p:cNvSpPr>
            <a:spLocks noGrp="1"/>
          </p:cNvSpPr>
          <p:nvPr>
            <p:ph type="title" hasCustomPrompt="1"/>
          </p:nvPr>
        </p:nvSpPr>
        <p:spPr/>
        <p:txBody>
          <a:bodyPr>
            <a:normAutofit/>
          </a:bodyPr>
          <a:lstStyle/>
          <a:p>
            <a:pPr marL="0" marR="0" lvl="0" indent="0" algn="l">
              <a:lnSpc>
                <a:spcPct val="100000"/>
              </a:lnSpc>
            </a:pPr>
            <a:r>
              <a:rPr lang="zh-CN" altLang="en-US" sz="2800" b="1" dirty="0">
                <a:solidFill>
                  <a:schemeClr val="accent1"/>
                </a:solidFill>
              </a:rPr>
              <a:t>Background</a:t>
            </a:r>
            <a:endParaRPr lang="en-US" dirty="0"/>
          </a:p>
        </p:txBody>
      </p:sp>
      <p:sp>
        <p:nvSpPr>
          <p:cNvPr id="3" name="日期占位符 2"/>
          <p:cNvSpPr>
            <a:spLocks noGrp="1"/>
          </p:cNvSpPr>
          <p:nvPr>
            <p:ph type="dt" sz="half" idx="10"/>
          </p:nvPr>
        </p:nvSpPr>
        <p:spPr/>
        <p:txBody>
          <a:bodyPr/>
          <a:lstStyle/>
          <a:p>
            <a:endParaRPr lang="en-US"/>
          </a:p>
        </p:txBody>
      </p:sp>
      <p:sp>
        <p:nvSpPr>
          <p:cNvPr id="6" name="页脚占位符 5"/>
          <p:cNvSpPr>
            <a:spLocks noGrp="1"/>
          </p:cNvSpPr>
          <p:nvPr>
            <p:ph type="ftr" sz="quarter" idx="11"/>
          </p:nvPr>
        </p:nvSpPr>
        <p:spPr/>
        <p:txBody>
          <a:bodyPr/>
          <a:lstStyle/>
          <a:p>
            <a:endParaRPr lang="en-US" dirty="0"/>
          </a:p>
        </p:txBody>
      </p:sp>
      <p:sp>
        <p:nvSpPr>
          <p:cNvPr id="7" name="灯片编号占位符 6"/>
          <p:cNvSpPr>
            <a:spLocks noGrp="1"/>
          </p:cNvSpPr>
          <p:nvPr>
            <p:ph type="sldNum" sz="quarter" idx="12"/>
          </p:nvPr>
        </p:nvSpPr>
        <p:spPr/>
        <p:txBody>
          <a:bodyPr/>
          <a:lstStyle/>
          <a:p>
            <a:fld id="{C8BB1146-E542-4D4E-B8E9-6919A11DDD48}" type="slidenum">
              <a:rPr lang="en-US" smtClean="0"/>
              <a:t>3</a:t>
            </a:fld>
            <a:endParaRPr lang="en-US"/>
          </a:p>
        </p:txBody>
      </p:sp>
      <p:sp>
        <p:nvSpPr>
          <p:cNvPr id="58" name="矩形: 圆角 44"/>
          <p:cNvSpPr/>
          <p:nvPr/>
        </p:nvSpPr>
        <p:spPr>
          <a:xfrm>
            <a:off x="7301912" y="2558962"/>
            <a:ext cx="3878402" cy="733078"/>
          </a:xfrm>
          <a:prstGeom prst="roundRect">
            <a:avLst>
              <a:gd name="adj" fmla="val 3785"/>
            </a:avLst>
          </a:prstGeom>
          <a:solidFill>
            <a:schemeClr val="accent1">
              <a:alpha val="1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a:endParaRPr lang="en-US" dirty="0">
              <a:solidFill>
                <a:schemeClr val="tx1"/>
              </a:solidFill>
            </a:endParaRPr>
          </a:p>
          <a:p>
            <a:pPr marL="0" marR="0" lvl="0" indent="0" algn="l"/>
            <a:endParaRPr lang="en-US" dirty="0">
              <a:solidFill>
                <a:schemeClr val="tx1"/>
              </a:solidFill>
            </a:endParaRPr>
          </a:p>
          <a:p>
            <a:pPr marL="0" marR="0" lvl="0" indent="0" algn="l"/>
            <a:r>
              <a:rPr lang="zh-CN" altLang="en-US" sz="1200" dirty="0">
                <a:solidFill>
                  <a:schemeClr val="tx1"/>
                </a:solidFill>
              </a:rPr>
              <a:t>this approach has significant limitations in practice: In real-world scenarios, complete monitoring data is often unavailable.</a:t>
            </a:r>
            <a:endParaRPr lang="en-US" dirty="0">
              <a:solidFill>
                <a:schemeClr val="tx1"/>
              </a:solidFill>
            </a:endParaRPr>
          </a:p>
          <a:p>
            <a:pPr marL="0" marR="0" lvl="0" indent="0" algn="l"/>
            <a:endParaRPr lang="en-US" dirty="0">
              <a:solidFill>
                <a:schemeClr val="tx1"/>
              </a:solidFill>
            </a:endParaRPr>
          </a:p>
          <a:p>
            <a:pPr marL="0" marR="0" lvl="0" indent="0" algn="l"/>
            <a:r>
              <a:rPr lang="zh-CN" altLang="en-US" sz="1200" dirty="0">
                <a:solidFill>
                  <a:schemeClr val="tx1"/>
                </a:solidFill>
              </a:rPr>
              <a:t>﻿</a:t>
            </a:r>
            <a:endParaRPr lang="en-US" dirty="0">
              <a:solidFill>
                <a:schemeClr val="tx1"/>
              </a:solidFill>
            </a:endParaRPr>
          </a:p>
        </p:txBody>
      </p:sp>
      <p:sp>
        <p:nvSpPr>
          <p:cNvPr id="59" name="文本框"/>
          <p:cNvSpPr txBox="1"/>
          <p:nvPr/>
        </p:nvSpPr>
        <p:spPr>
          <a:xfrm>
            <a:off x="7220666" y="2026247"/>
            <a:ext cx="4851865" cy="303150"/>
          </a:xfrm>
          <a:prstGeom prst="rect">
            <a:avLst/>
          </a:prstGeom>
          <a:noFill/>
        </p:spPr>
        <p:txBody>
          <a:bodyPr wrap="square" rtlCol="0">
            <a:spAutoFit/>
          </a:bodyPr>
          <a:lstStyle/>
          <a:p>
            <a:pPr marL="0" marR="0" lvl="0" indent="0" algn="l">
              <a:lnSpc>
                <a:spcPct val="120000"/>
              </a:lnSpc>
            </a:pPr>
            <a:endParaRPr lang="en-US" dirty="0"/>
          </a:p>
        </p:txBody>
      </p:sp>
      <p:sp>
        <p:nvSpPr>
          <p:cNvPr id="61" name="矩形: 圆角 44"/>
          <p:cNvSpPr/>
          <p:nvPr/>
        </p:nvSpPr>
        <p:spPr>
          <a:xfrm>
            <a:off x="7433830" y="5064682"/>
            <a:ext cx="3878402" cy="733078"/>
          </a:xfrm>
          <a:prstGeom prst="roundRect">
            <a:avLst>
              <a:gd name="adj" fmla="val 3785"/>
            </a:avLst>
          </a:prstGeom>
          <a:solidFill>
            <a:schemeClr val="accent3">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a:endParaRPr lang="en-US" dirty="0"/>
          </a:p>
          <a:p>
            <a:pPr marL="0" marR="0" lvl="0" indent="0" algn="l"/>
            <a:endParaRPr lang="en-US" dirty="0"/>
          </a:p>
          <a:p>
            <a:pPr marL="0" marR="0" lvl="0" indent="0" algn="l"/>
            <a:r>
              <a:rPr lang="zh-CN" altLang="en-US" sz="1200" dirty="0">
                <a:solidFill>
                  <a:schemeClr val="tx1"/>
                </a:solidFill>
              </a:rPr>
              <a:t>These methods typically rely on a reproducible bug runtime environment and execution coverage information.</a:t>
            </a:r>
            <a:endParaRPr lang="en-US" dirty="0">
              <a:solidFill>
                <a:schemeClr val="tx1"/>
              </a:solidFill>
            </a:endParaRPr>
          </a:p>
          <a:p>
            <a:pPr marL="0" marR="0" lvl="0" indent="0" algn="l"/>
            <a:endParaRPr lang="en-US" dirty="0"/>
          </a:p>
          <a:p>
            <a:pPr marL="0" marR="0" lvl="0" indent="0" algn="l"/>
            <a:r>
              <a:rPr lang="zh-CN" altLang="en-US" sz="1200" dirty="0">
                <a:solidFill>
                  <a:schemeClr val="lt1"/>
                </a:solidFill>
              </a:rPr>
              <a: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03977" y="1586240"/>
            <a:ext cx="11629197" cy="5326798"/>
            <a:chOff x="412267" y="1130300"/>
            <a:chExt cx="11629197" cy="5326798"/>
          </a:xfrm>
        </p:grpSpPr>
        <p:sp>
          <p:nvSpPr>
            <p:cNvPr id="15" name="任意多边形: 形状 14"/>
            <p:cNvSpPr/>
            <p:nvPr/>
          </p:nvSpPr>
          <p:spPr>
            <a:xfrm rot="1674689">
              <a:off x="10787347" y="5937208"/>
              <a:ext cx="66734" cy="519890"/>
            </a:xfrm>
            <a:custGeom>
              <a:avLst/>
              <a:gdLst>
                <a:gd name="connsiteX0" fmla="*/ 72290 w 144651"/>
                <a:gd name="connsiteY0" fmla="*/ 1126859 h 1126899"/>
                <a:gd name="connsiteX1" fmla="*/ 72290 w 144651"/>
                <a:gd name="connsiteY1" fmla="*/ 1126859 h 1126899"/>
                <a:gd name="connsiteX2" fmla="*/ -36 w 144651"/>
                <a:gd name="connsiteY2" fmla="*/ 1054533 h 1126899"/>
                <a:gd name="connsiteX3" fmla="*/ -36 w 144651"/>
                <a:gd name="connsiteY3" fmla="*/ 72285 h 1126899"/>
                <a:gd name="connsiteX4" fmla="*/ 72290 w 144651"/>
                <a:gd name="connsiteY4" fmla="*/ -40 h 1126899"/>
                <a:gd name="connsiteX5" fmla="*/ 72290 w 144651"/>
                <a:gd name="connsiteY5" fmla="*/ -40 h 1126899"/>
                <a:gd name="connsiteX6" fmla="*/ 144616 w 144651"/>
                <a:gd name="connsiteY6" fmla="*/ 72285 h 1126899"/>
                <a:gd name="connsiteX7" fmla="*/ 144616 w 144651"/>
                <a:gd name="connsiteY7" fmla="*/ 1054533 h 1126899"/>
                <a:gd name="connsiteX8" fmla="*/ 72290 w 144651"/>
                <a:gd name="connsiteY8" fmla="*/ 1126859 h 1126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651" h="1126899">
                  <a:moveTo>
                    <a:pt x="72290" y="1126859"/>
                  </a:moveTo>
                  <a:lnTo>
                    <a:pt x="72290" y="1126859"/>
                  </a:lnTo>
                  <a:cubicBezTo>
                    <a:pt x="32348" y="1126859"/>
                    <a:pt x="-36" y="1094476"/>
                    <a:pt x="-36" y="1054533"/>
                  </a:cubicBezTo>
                  <a:lnTo>
                    <a:pt x="-36" y="72285"/>
                  </a:lnTo>
                  <a:cubicBezTo>
                    <a:pt x="-36" y="32343"/>
                    <a:pt x="32348" y="-40"/>
                    <a:pt x="72290" y="-40"/>
                  </a:cubicBezTo>
                  <a:lnTo>
                    <a:pt x="72290" y="-40"/>
                  </a:lnTo>
                  <a:cubicBezTo>
                    <a:pt x="112232" y="-40"/>
                    <a:pt x="144616" y="32343"/>
                    <a:pt x="144616" y="72285"/>
                  </a:cubicBezTo>
                  <a:lnTo>
                    <a:pt x="144616" y="1054533"/>
                  </a:lnTo>
                  <a:cubicBezTo>
                    <a:pt x="144616" y="1094476"/>
                    <a:pt x="112232" y="1126859"/>
                    <a:pt x="72290" y="1126859"/>
                  </a:cubicBezTo>
                  <a:close/>
                </a:path>
              </a:pathLst>
            </a:custGeom>
            <a:solidFill>
              <a:schemeClr val="accent3"/>
            </a:solidFill>
            <a:ln w="19158" cap="flat">
              <a:noFill/>
              <a:prstDash val="solid"/>
              <a:miter/>
            </a:ln>
          </p:spPr>
          <p:txBody>
            <a:bodyPr rtlCol="0" anchor="ctr"/>
            <a:lstStyle/>
            <a:p>
              <a:endParaRPr lang="zh-CN" altLang="en-US"/>
            </a:p>
          </p:txBody>
        </p:sp>
        <p:sp>
          <p:nvSpPr>
            <p:cNvPr id="16" name="任意多边形: 形状 15"/>
            <p:cNvSpPr/>
            <p:nvPr/>
          </p:nvSpPr>
          <p:spPr>
            <a:xfrm rot="1674689">
              <a:off x="10801549" y="6195118"/>
              <a:ext cx="328935" cy="247037"/>
            </a:xfrm>
            <a:custGeom>
              <a:avLst/>
              <a:gdLst>
                <a:gd name="connsiteX0" fmla="*/ -36 w 712990"/>
                <a:gd name="connsiteY0" fmla="*/ 535429 h 535469"/>
                <a:gd name="connsiteX1" fmla="*/ 402840 w 712990"/>
                <a:gd name="connsiteY1" fmla="*/ 27422 h 535469"/>
                <a:gd name="connsiteX2" fmla="*/ 636124 w 712990"/>
                <a:gd name="connsiteY2" fmla="*/ 365646 h 535469"/>
                <a:gd name="connsiteX3" fmla="*/ -36 w 712990"/>
                <a:gd name="connsiteY3" fmla="*/ 535429 h 535469"/>
              </a:gdLst>
              <a:ahLst/>
              <a:cxnLst>
                <a:cxn ang="0">
                  <a:pos x="connsiteX0" y="connsiteY0"/>
                </a:cxn>
                <a:cxn ang="0">
                  <a:pos x="connsiteX1" y="connsiteY1"/>
                </a:cxn>
                <a:cxn ang="0">
                  <a:pos x="connsiteX2" y="connsiteY2"/>
                </a:cxn>
                <a:cxn ang="0">
                  <a:pos x="connsiteX3" y="connsiteY3"/>
                </a:cxn>
              </a:cxnLst>
              <a:rect l="l" t="t" r="r" b="b"/>
              <a:pathLst>
                <a:path w="712990" h="535469">
                  <a:moveTo>
                    <a:pt x="-36" y="535429"/>
                  </a:moveTo>
                  <a:cubicBezTo>
                    <a:pt x="-36" y="535429"/>
                    <a:pt x="177805" y="151738"/>
                    <a:pt x="402840" y="27422"/>
                  </a:cubicBezTo>
                  <a:cubicBezTo>
                    <a:pt x="619817" y="-92865"/>
                    <a:pt x="830655" y="211786"/>
                    <a:pt x="636124" y="365646"/>
                  </a:cubicBezTo>
                  <a:cubicBezTo>
                    <a:pt x="536556" y="443535"/>
                    <a:pt x="348163" y="512216"/>
                    <a:pt x="-36" y="535429"/>
                  </a:cubicBezTo>
                  <a:close/>
                </a:path>
              </a:pathLst>
            </a:custGeom>
            <a:solidFill>
              <a:schemeClr val="accent3"/>
            </a:solidFill>
            <a:ln w="19158" cap="flat">
              <a:noFill/>
              <a:prstDash val="solid"/>
              <a:miter/>
            </a:ln>
          </p:spPr>
          <p:txBody>
            <a:bodyPr rtlCol="0" anchor="ctr"/>
            <a:lstStyle/>
            <a:p>
              <a:endParaRPr lang="zh-CN" altLang="en-US"/>
            </a:p>
          </p:txBody>
        </p:sp>
        <p:sp>
          <p:nvSpPr>
            <p:cNvPr id="18" name="任意多边形: 形状 17"/>
            <p:cNvSpPr/>
            <p:nvPr/>
          </p:nvSpPr>
          <p:spPr>
            <a:xfrm rot="1674689">
              <a:off x="10778290" y="6288714"/>
              <a:ext cx="164268" cy="106739"/>
            </a:xfrm>
            <a:custGeom>
              <a:avLst/>
              <a:gdLst>
                <a:gd name="connsiteX0" fmla="*/ -36 w 356064"/>
                <a:gd name="connsiteY0" fmla="*/ 231325 h 231365"/>
                <a:gd name="connsiteX1" fmla="*/ 356029 w 356064"/>
                <a:gd name="connsiteY1" fmla="*/ -40 h 231365"/>
              </a:gdLst>
              <a:ahLst/>
              <a:cxnLst>
                <a:cxn ang="0">
                  <a:pos x="connsiteX0" y="connsiteY0"/>
                </a:cxn>
                <a:cxn ang="0">
                  <a:pos x="connsiteX1" y="connsiteY1"/>
                </a:cxn>
              </a:cxnLst>
              <a:rect l="l" t="t" r="r" b="b"/>
              <a:pathLst>
                <a:path w="356064" h="231365">
                  <a:moveTo>
                    <a:pt x="-36" y="231325"/>
                  </a:moveTo>
                  <a:cubicBezTo>
                    <a:pt x="-36" y="231325"/>
                    <a:pt x="103753" y="84180"/>
                    <a:pt x="356029" y="-40"/>
                  </a:cubicBezTo>
                </a:path>
              </a:pathLst>
            </a:custGeom>
            <a:noFill/>
            <a:ln w="6350" cap="rnd">
              <a:solidFill>
                <a:srgbClr val="0E31C9"/>
              </a:solidFill>
              <a:prstDash val="solid"/>
              <a:round/>
            </a:ln>
          </p:spPr>
          <p:txBody>
            <a:bodyPr rtlCol="0" anchor="ctr"/>
            <a:lstStyle/>
            <a:p>
              <a:endParaRPr lang="zh-CN" altLang="en-US"/>
            </a:p>
          </p:txBody>
        </p:sp>
        <p:sp>
          <p:nvSpPr>
            <p:cNvPr id="19" name="任意多边形: 形状 18"/>
            <p:cNvSpPr/>
            <p:nvPr/>
          </p:nvSpPr>
          <p:spPr>
            <a:xfrm rot="1674689">
              <a:off x="10523016" y="6026573"/>
              <a:ext cx="275324" cy="207086"/>
            </a:xfrm>
            <a:custGeom>
              <a:avLst/>
              <a:gdLst>
                <a:gd name="connsiteX0" fmla="*/ 596749 w 596784"/>
                <a:gd name="connsiteY0" fmla="*/ 448834 h 448874"/>
                <a:gd name="connsiteX1" fmla="*/ 259869 w 596784"/>
                <a:gd name="connsiteY1" fmla="*/ 22938 h 448874"/>
                <a:gd name="connsiteX2" fmla="*/ 64378 w 596784"/>
                <a:gd name="connsiteY2" fmla="*/ 306294 h 448874"/>
                <a:gd name="connsiteX3" fmla="*/ 596749 w 596784"/>
                <a:gd name="connsiteY3" fmla="*/ 448834 h 448874"/>
              </a:gdLst>
              <a:ahLst/>
              <a:cxnLst>
                <a:cxn ang="0">
                  <a:pos x="connsiteX0" y="connsiteY0"/>
                </a:cxn>
                <a:cxn ang="0">
                  <a:pos x="connsiteX1" y="connsiteY1"/>
                </a:cxn>
                <a:cxn ang="0">
                  <a:pos x="connsiteX2" y="connsiteY2"/>
                </a:cxn>
                <a:cxn ang="0">
                  <a:pos x="connsiteX3" y="connsiteY3"/>
                </a:cxn>
              </a:cxnLst>
              <a:rect l="l" t="t" r="r" b="b"/>
              <a:pathLst>
                <a:path w="596784" h="448874">
                  <a:moveTo>
                    <a:pt x="596749" y="448834"/>
                  </a:moveTo>
                  <a:cubicBezTo>
                    <a:pt x="596749" y="448834"/>
                    <a:pt x="447685" y="127110"/>
                    <a:pt x="259869" y="22938"/>
                  </a:cubicBezTo>
                  <a:cubicBezTo>
                    <a:pt x="77999" y="-77781"/>
                    <a:pt x="-98690" y="177565"/>
                    <a:pt x="64378" y="306294"/>
                  </a:cubicBezTo>
                  <a:cubicBezTo>
                    <a:pt x="147064" y="372096"/>
                    <a:pt x="304952" y="429650"/>
                    <a:pt x="596749" y="448834"/>
                  </a:cubicBezTo>
                  <a:close/>
                </a:path>
              </a:pathLst>
            </a:custGeom>
            <a:solidFill>
              <a:schemeClr val="accent3"/>
            </a:solidFill>
            <a:ln w="19158" cap="flat">
              <a:noFill/>
              <a:prstDash val="solid"/>
              <a:miter/>
            </a:ln>
          </p:spPr>
          <p:txBody>
            <a:bodyPr rtlCol="0" anchor="ctr"/>
            <a:lstStyle/>
            <a:p>
              <a:endParaRPr lang="zh-CN" altLang="en-US"/>
            </a:p>
          </p:txBody>
        </p:sp>
        <p:sp>
          <p:nvSpPr>
            <p:cNvPr id="20" name="任意多边形: 形状 19"/>
            <p:cNvSpPr/>
            <p:nvPr/>
          </p:nvSpPr>
          <p:spPr>
            <a:xfrm rot="1674689">
              <a:off x="10638883" y="6182797"/>
              <a:ext cx="120635" cy="79656"/>
            </a:xfrm>
            <a:custGeom>
              <a:avLst/>
              <a:gdLst>
                <a:gd name="connsiteX0" fmla="*/ 261449 w 261485"/>
                <a:gd name="connsiteY0" fmla="*/ 172620 h 172660"/>
                <a:gd name="connsiteX1" fmla="*/ -36 w 261485"/>
                <a:gd name="connsiteY1" fmla="*/ -40 h 172660"/>
              </a:gdLst>
              <a:ahLst/>
              <a:cxnLst>
                <a:cxn ang="0">
                  <a:pos x="connsiteX0" y="connsiteY0"/>
                </a:cxn>
                <a:cxn ang="0">
                  <a:pos x="connsiteX1" y="connsiteY1"/>
                </a:cxn>
              </a:cxnLst>
              <a:rect l="l" t="t" r="r" b="b"/>
              <a:pathLst>
                <a:path w="261485" h="172660">
                  <a:moveTo>
                    <a:pt x="261449" y="172620"/>
                  </a:moveTo>
                  <a:cubicBezTo>
                    <a:pt x="195608" y="87921"/>
                    <a:pt x="103714" y="27240"/>
                    <a:pt x="-36" y="-40"/>
                  </a:cubicBezTo>
                </a:path>
              </a:pathLst>
            </a:custGeom>
            <a:noFill/>
            <a:ln w="6350" cap="rnd">
              <a:solidFill>
                <a:srgbClr val="0E31C9"/>
              </a:solidFill>
              <a:prstDash val="solid"/>
              <a:round/>
            </a:ln>
          </p:spPr>
          <p:txBody>
            <a:bodyPr rtlCol="0" anchor="ctr"/>
            <a:lstStyle/>
            <a:p>
              <a:endParaRPr lang="zh-CN" altLang="en-US"/>
            </a:p>
          </p:txBody>
        </p:sp>
        <p:sp>
          <p:nvSpPr>
            <p:cNvPr id="21" name="任意多边形: 形状 20"/>
            <p:cNvSpPr/>
            <p:nvPr/>
          </p:nvSpPr>
          <p:spPr>
            <a:xfrm rot="1674689">
              <a:off x="10448626" y="4749854"/>
              <a:ext cx="1566672" cy="1341832"/>
            </a:xfrm>
            <a:custGeom>
              <a:avLst/>
              <a:gdLst>
                <a:gd name="connsiteX0" fmla="*/ 3393480 w 3395879"/>
                <a:gd name="connsiteY0" fmla="*/ 1037267 h 2908519"/>
                <a:gd name="connsiteX1" fmla="*/ 3257462 w 3395879"/>
                <a:gd name="connsiteY1" fmla="*/ 1304700 h 2908519"/>
                <a:gd name="connsiteX2" fmla="*/ 3145424 w 3395879"/>
                <a:gd name="connsiteY2" fmla="*/ 1541053 h 2908519"/>
                <a:gd name="connsiteX3" fmla="*/ 2711853 w 3395879"/>
                <a:gd name="connsiteY3" fmla="*/ 2557834 h 2908519"/>
                <a:gd name="connsiteX4" fmla="*/ 2297467 w 3395879"/>
                <a:gd name="connsiteY4" fmla="*/ 2798983 h 2908519"/>
                <a:gd name="connsiteX5" fmla="*/ 1098434 w 3395879"/>
                <a:gd name="connsiteY5" fmla="*/ 2798983 h 2908519"/>
                <a:gd name="connsiteX6" fmla="*/ 250669 w 3395879"/>
                <a:gd name="connsiteY6" fmla="*/ 1518991 h 2908519"/>
                <a:gd name="connsiteX7" fmla="*/ 159159 w 3395879"/>
                <a:gd name="connsiteY7" fmla="*/ 1322158 h 2908519"/>
                <a:gd name="connsiteX8" fmla="*/ 2421 w 3395879"/>
                <a:gd name="connsiteY8" fmla="*/ 1037651 h 2908519"/>
                <a:gd name="connsiteX9" fmla="*/ 428893 w 3395879"/>
                <a:gd name="connsiteY9" fmla="*/ 489933 h 2908519"/>
                <a:gd name="connsiteX10" fmla="*/ 512730 w 3395879"/>
                <a:gd name="connsiteY10" fmla="*/ 479189 h 2908519"/>
                <a:gd name="connsiteX11" fmla="*/ 1162510 w 3395879"/>
                <a:gd name="connsiteY11" fmla="*/ 894918 h 2908519"/>
                <a:gd name="connsiteX12" fmla="*/ 1158865 w 3395879"/>
                <a:gd name="connsiteY12" fmla="*/ 388446 h 2908519"/>
                <a:gd name="connsiteX13" fmla="*/ 2237228 w 3395879"/>
                <a:gd name="connsiteY13" fmla="*/ 388446 h 2908519"/>
                <a:gd name="connsiteX14" fmla="*/ 2233391 w 3395879"/>
                <a:gd name="connsiteY14" fmla="*/ 894918 h 2908519"/>
                <a:gd name="connsiteX15" fmla="*/ 2967008 w 3395879"/>
                <a:gd name="connsiteY15" fmla="*/ 489933 h 2908519"/>
                <a:gd name="connsiteX16" fmla="*/ 3393480 w 3395879"/>
                <a:gd name="connsiteY16" fmla="*/ 1037267 h 2908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95879" h="2908519">
                  <a:moveTo>
                    <a:pt x="3393480" y="1037267"/>
                  </a:moveTo>
                  <a:cubicBezTo>
                    <a:pt x="3385000" y="1140808"/>
                    <a:pt x="3336137" y="1236863"/>
                    <a:pt x="3257462" y="1304700"/>
                  </a:cubicBezTo>
                  <a:cubicBezTo>
                    <a:pt x="3187803" y="1363673"/>
                    <a:pt x="3146978" y="1449812"/>
                    <a:pt x="3145424" y="1541053"/>
                  </a:cubicBezTo>
                  <a:cubicBezTo>
                    <a:pt x="3145424" y="1778174"/>
                    <a:pt x="3089021" y="2231696"/>
                    <a:pt x="2711853" y="2557834"/>
                  </a:cubicBezTo>
                  <a:cubicBezTo>
                    <a:pt x="2588919" y="2661871"/>
                    <a:pt x="2448661" y="2743502"/>
                    <a:pt x="2297467" y="2798983"/>
                  </a:cubicBezTo>
                  <a:cubicBezTo>
                    <a:pt x="1911129" y="2944978"/>
                    <a:pt x="1484772" y="2944978"/>
                    <a:pt x="1098434" y="2798983"/>
                  </a:cubicBezTo>
                  <a:cubicBezTo>
                    <a:pt x="324530" y="2506611"/>
                    <a:pt x="246832" y="1812898"/>
                    <a:pt x="250669" y="1518991"/>
                  </a:cubicBezTo>
                  <a:cubicBezTo>
                    <a:pt x="252453" y="1442713"/>
                    <a:pt x="218627" y="1369966"/>
                    <a:pt x="159159" y="1322158"/>
                  </a:cubicBezTo>
                  <a:cubicBezTo>
                    <a:pt x="68781" y="1253976"/>
                    <a:pt x="11768" y="1150475"/>
                    <a:pt x="2421" y="1037651"/>
                  </a:cubicBezTo>
                  <a:cubicBezTo>
                    <a:pt x="-24245" y="773864"/>
                    <a:pt x="169327" y="542306"/>
                    <a:pt x="428893" y="489933"/>
                  </a:cubicBezTo>
                  <a:cubicBezTo>
                    <a:pt x="456515" y="484164"/>
                    <a:pt x="484546" y="480572"/>
                    <a:pt x="512730" y="479189"/>
                  </a:cubicBezTo>
                  <a:cubicBezTo>
                    <a:pt x="918291" y="455017"/>
                    <a:pt x="1148697" y="869403"/>
                    <a:pt x="1162510" y="894918"/>
                  </a:cubicBezTo>
                  <a:cubicBezTo>
                    <a:pt x="1109945" y="683888"/>
                    <a:pt x="1117618" y="519093"/>
                    <a:pt x="1158865" y="388446"/>
                  </a:cubicBezTo>
                  <a:cubicBezTo>
                    <a:pt x="1321358" y="-129536"/>
                    <a:pt x="2074735" y="-129536"/>
                    <a:pt x="2237228" y="388446"/>
                  </a:cubicBezTo>
                  <a:cubicBezTo>
                    <a:pt x="2278475" y="519093"/>
                    <a:pt x="2285957" y="684848"/>
                    <a:pt x="2233391" y="894918"/>
                  </a:cubicBezTo>
                  <a:cubicBezTo>
                    <a:pt x="2247971" y="868252"/>
                    <a:pt x="2509457" y="397847"/>
                    <a:pt x="2967008" y="489933"/>
                  </a:cubicBezTo>
                  <a:cubicBezTo>
                    <a:pt x="3226575" y="542306"/>
                    <a:pt x="3419571" y="773864"/>
                    <a:pt x="3393480" y="1037267"/>
                  </a:cubicBezTo>
                  <a:close/>
                </a:path>
              </a:pathLst>
            </a:custGeom>
            <a:solidFill>
              <a:schemeClr val="accent2"/>
            </a:solidFill>
            <a:ln w="19158" cap="flat">
              <a:noFill/>
              <a:prstDash val="solid"/>
              <a:miter/>
            </a:ln>
          </p:spPr>
          <p:txBody>
            <a:bodyPr rtlCol="0" anchor="ctr"/>
            <a:lstStyle/>
            <a:p>
              <a:endParaRPr lang="zh-CN" altLang="en-US"/>
            </a:p>
          </p:txBody>
        </p:sp>
        <p:sp>
          <p:nvSpPr>
            <p:cNvPr id="22" name="任意多边形: 形状 21"/>
            <p:cNvSpPr/>
            <p:nvPr/>
          </p:nvSpPr>
          <p:spPr>
            <a:xfrm rot="1674689">
              <a:off x="10563039" y="4778286"/>
              <a:ext cx="1478425" cy="1208113"/>
            </a:xfrm>
            <a:custGeom>
              <a:avLst/>
              <a:gdLst>
                <a:gd name="connsiteX0" fmla="*/ 3202197 w 3204596"/>
                <a:gd name="connsiteY0" fmla="*/ 1037267 h 2618672"/>
                <a:gd name="connsiteX1" fmla="*/ 3066371 w 3204596"/>
                <a:gd name="connsiteY1" fmla="*/ 1304508 h 2618672"/>
                <a:gd name="connsiteX2" fmla="*/ 2954141 w 3204596"/>
                <a:gd name="connsiteY2" fmla="*/ 1541245 h 2618672"/>
                <a:gd name="connsiteX3" fmla="*/ 2954141 w 3204596"/>
                <a:gd name="connsiteY3" fmla="*/ 1543739 h 2618672"/>
                <a:gd name="connsiteX4" fmla="*/ 2723927 w 3204596"/>
                <a:gd name="connsiteY4" fmla="*/ 2147668 h 2618672"/>
                <a:gd name="connsiteX5" fmla="*/ 2333905 w 3204596"/>
                <a:gd name="connsiteY5" fmla="*/ 2440040 h 2618672"/>
                <a:gd name="connsiteX6" fmla="*/ 642980 w 3204596"/>
                <a:gd name="connsiteY6" fmla="*/ 2209826 h 2618672"/>
                <a:gd name="connsiteX7" fmla="*/ 483748 w 3204596"/>
                <a:gd name="connsiteY7" fmla="*/ 1766663 h 2618672"/>
                <a:gd name="connsiteX8" fmla="*/ 481830 w 3204596"/>
                <a:gd name="connsiteY8" fmla="*/ 1627000 h 2618672"/>
                <a:gd name="connsiteX9" fmla="*/ 255260 w 3204596"/>
                <a:gd name="connsiteY9" fmla="*/ 1177315 h 2618672"/>
                <a:gd name="connsiteX10" fmla="*/ 14686 w 3204596"/>
                <a:gd name="connsiteY10" fmla="*/ 857316 h 2618672"/>
                <a:gd name="connsiteX11" fmla="*/ 235500 w 3204596"/>
                <a:gd name="connsiteY11" fmla="*/ 489933 h 2618672"/>
                <a:gd name="connsiteX12" fmla="*/ 238378 w 3204596"/>
                <a:gd name="connsiteY12" fmla="*/ 489933 h 2618672"/>
                <a:gd name="connsiteX13" fmla="*/ 322215 w 3204596"/>
                <a:gd name="connsiteY13" fmla="*/ 479189 h 2618672"/>
                <a:gd name="connsiteX14" fmla="*/ 971995 w 3204596"/>
                <a:gd name="connsiteY14" fmla="*/ 894918 h 2618672"/>
                <a:gd name="connsiteX15" fmla="*/ 968350 w 3204596"/>
                <a:gd name="connsiteY15" fmla="*/ 388446 h 2618672"/>
                <a:gd name="connsiteX16" fmla="*/ 2046713 w 3204596"/>
                <a:gd name="connsiteY16" fmla="*/ 388446 h 2618672"/>
                <a:gd name="connsiteX17" fmla="*/ 2042876 w 3204596"/>
                <a:gd name="connsiteY17" fmla="*/ 894918 h 2618672"/>
                <a:gd name="connsiteX18" fmla="*/ 2776492 w 3204596"/>
                <a:gd name="connsiteY18" fmla="*/ 489933 h 2618672"/>
                <a:gd name="connsiteX19" fmla="*/ 3202197 w 3204596"/>
                <a:gd name="connsiteY19" fmla="*/ 1037267 h 2618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04596" h="2618672">
                  <a:moveTo>
                    <a:pt x="3202197" y="1037267"/>
                  </a:moveTo>
                  <a:cubicBezTo>
                    <a:pt x="3193622" y="1140684"/>
                    <a:pt x="3144855" y="1236614"/>
                    <a:pt x="3066371" y="1304508"/>
                  </a:cubicBezTo>
                  <a:cubicBezTo>
                    <a:pt x="2996501" y="1363500"/>
                    <a:pt x="2955580" y="1449831"/>
                    <a:pt x="2954141" y="1541245"/>
                  </a:cubicBezTo>
                  <a:lnTo>
                    <a:pt x="2954141" y="1543739"/>
                  </a:lnTo>
                  <a:cubicBezTo>
                    <a:pt x="2953374" y="1766337"/>
                    <a:pt x="2871533" y="1981051"/>
                    <a:pt x="2723927" y="2147668"/>
                  </a:cubicBezTo>
                  <a:cubicBezTo>
                    <a:pt x="2613999" y="2269375"/>
                    <a:pt x="2481549" y="2368655"/>
                    <a:pt x="2333905" y="2440040"/>
                  </a:cubicBezTo>
                  <a:cubicBezTo>
                    <a:pt x="1815923" y="2693852"/>
                    <a:pt x="1015544" y="2726274"/>
                    <a:pt x="642980" y="2209826"/>
                  </a:cubicBezTo>
                  <a:cubicBezTo>
                    <a:pt x="549743" y="2079563"/>
                    <a:pt x="502165" y="1924168"/>
                    <a:pt x="483748" y="1766663"/>
                  </a:cubicBezTo>
                  <a:cubicBezTo>
                    <a:pt x="482214" y="1753426"/>
                    <a:pt x="481638" y="1697023"/>
                    <a:pt x="481830" y="1627000"/>
                  </a:cubicBezTo>
                  <a:cubicBezTo>
                    <a:pt x="481830" y="1449543"/>
                    <a:pt x="402790" y="1276115"/>
                    <a:pt x="255260" y="1177315"/>
                  </a:cubicBezTo>
                  <a:cubicBezTo>
                    <a:pt x="141492" y="1100603"/>
                    <a:pt x="56775" y="987917"/>
                    <a:pt x="14686" y="857316"/>
                  </a:cubicBezTo>
                  <a:cubicBezTo>
                    <a:pt x="-40181" y="691754"/>
                    <a:pt x="63799" y="525040"/>
                    <a:pt x="235500" y="489933"/>
                  </a:cubicBezTo>
                  <a:lnTo>
                    <a:pt x="238378" y="489933"/>
                  </a:lnTo>
                  <a:cubicBezTo>
                    <a:pt x="266000" y="484164"/>
                    <a:pt x="294031" y="480572"/>
                    <a:pt x="322215" y="479189"/>
                  </a:cubicBezTo>
                  <a:cubicBezTo>
                    <a:pt x="727776" y="455017"/>
                    <a:pt x="958182" y="869403"/>
                    <a:pt x="971995" y="894918"/>
                  </a:cubicBezTo>
                  <a:cubicBezTo>
                    <a:pt x="919429" y="683888"/>
                    <a:pt x="927103" y="519093"/>
                    <a:pt x="968350" y="388446"/>
                  </a:cubicBezTo>
                  <a:cubicBezTo>
                    <a:pt x="1130843" y="-129536"/>
                    <a:pt x="1884220" y="-129536"/>
                    <a:pt x="2046713" y="388446"/>
                  </a:cubicBezTo>
                  <a:cubicBezTo>
                    <a:pt x="2087959" y="519093"/>
                    <a:pt x="2095441" y="684848"/>
                    <a:pt x="2042876" y="894918"/>
                  </a:cubicBezTo>
                  <a:cubicBezTo>
                    <a:pt x="2057456" y="868252"/>
                    <a:pt x="2318941" y="397847"/>
                    <a:pt x="2776492" y="489933"/>
                  </a:cubicBezTo>
                  <a:cubicBezTo>
                    <a:pt x="3035292" y="542306"/>
                    <a:pt x="3228288" y="773864"/>
                    <a:pt x="3202197" y="1037267"/>
                  </a:cubicBezTo>
                  <a:close/>
                </a:path>
              </a:pathLst>
            </a:custGeom>
            <a:solidFill>
              <a:schemeClr val="accent2"/>
            </a:solidFill>
            <a:ln w="19158" cap="flat">
              <a:noFill/>
              <a:prstDash val="solid"/>
              <a:miter/>
            </a:ln>
          </p:spPr>
          <p:txBody>
            <a:bodyPr rtlCol="0" anchor="ctr"/>
            <a:lstStyle/>
            <a:p>
              <a:endParaRPr lang="zh-CN" altLang="en-US"/>
            </a:p>
          </p:txBody>
        </p:sp>
        <p:sp>
          <p:nvSpPr>
            <p:cNvPr id="23" name="任意多边形: 形状 22"/>
            <p:cNvSpPr/>
            <p:nvPr/>
          </p:nvSpPr>
          <p:spPr>
            <a:xfrm rot="1674689">
              <a:off x="11540466" y="5007403"/>
              <a:ext cx="117841" cy="173163"/>
            </a:xfrm>
            <a:custGeom>
              <a:avLst/>
              <a:gdLst>
                <a:gd name="connsiteX0" fmla="*/ 154950 w 255428"/>
                <a:gd name="connsiteY0" fmla="*/ 40792 h 375343"/>
                <a:gd name="connsiteX1" fmla="*/ 111401 w 255428"/>
                <a:gd name="connsiteY1" fmla="*/ 6452 h 375343"/>
                <a:gd name="connsiteX2" fmla="*/ 6577 w 255428"/>
                <a:gd name="connsiteY2" fmla="*/ 48305 h 375343"/>
                <a:gd name="connsiteX3" fmla="*/ 899 w 255428"/>
                <a:gd name="connsiteY3" fmla="*/ 68610 h 375343"/>
                <a:gd name="connsiteX4" fmla="*/ 52505 w 255428"/>
                <a:gd name="connsiteY4" fmla="*/ 199448 h 375343"/>
                <a:gd name="connsiteX5" fmla="*/ 86078 w 255428"/>
                <a:gd name="connsiteY5" fmla="*/ 284244 h 375343"/>
                <a:gd name="connsiteX6" fmla="*/ 109867 w 255428"/>
                <a:gd name="connsiteY6" fmla="*/ 351390 h 375343"/>
                <a:gd name="connsiteX7" fmla="*/ 249338 w 255428"/>
                <a:gd name="connsiteY7" fmla="*/ 322613 h 375343"/>
                <a:gd name="connsiteX8" fmla="*/ 218835 w 255428"/>
                <a:gd name="connsiteY8" fmla="*/ 138825 h 375343"/>
                <a:gd name="connsiteX9" fmla="*/ 154950 w 255428"/>
                <a:gd name="connsiteY9" fmla="*/ 40792 h 375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5428" h="375343">
                  <a:moveTo>
                    <a:pt x="154950" y="40792"/>
                  </a:moveTo>
                  <a:cubicBezTo>
                    <a:pt x="143075" y="26348"/>
                    <a:pt x="128226" y="14634"/>
                    <a:pt x="111401" y="6452"/>
                  </a:cubicBezTo>
                  <a:cubicBezTo>
                    <a:pt x="70903" y="-10935"/>
                    <a:pt x="23978" y="7804"/>
                    <a:pt x="6577" y="48305"/>
                  </a:cubicBezTo>
                  <a:cubicBezTo>
                    <a:pt x="3796" y="54793"/>
                    <a:pt x="1896" y="61621"/>
                    <a:pt x="899" y="68610"/>
                  </a:cubicBezTo>
                  <a:cubicBezTo>
                    <a:pt x="-6200" y="115995"/>
                    <a:pt x="28716" y="157818"/>
                    <a:pt x="52505" y="199448"/>
                  </a:cubicBezTo>
                  <a:cubicBezTo>
                    <a:pt x="67833" y="225892"/>
                    <a:pt x="79152" y="254469"/>
                    <a:pt x="86078" y="284244"/>
                  </a:cubicBezTo>
                  <a:cubicBezTo>
                    <a:pt x="88975" y="308102"/>
                    <a:pt x="97109" y="331025"/>
                    <a:pt x="109867" y="351390"/>
                  </a:cubicBezTo>
                  <a:cubicBezTo>
                    <a:pt x="145742" y="394747"/>
                    <a:pt x="231113" y="375562"/>
                    <a:pt x="249338" y="322613"/>
                  </a:cubicBezTo>
                  <a:cubicBezTo>
                    <a:pt x="267564" y="269664"/>
                    <a:pt x="240897" y="188321"/>
                    <a:pt x="218835" y="138825"/>
                  </a:cubicBezTo>
                  <a:cubicBezTo>
                    <a:pt x="202835" y="102992"/>
                    <a:pt x="181272" y="69908"/>
                    <a:pt x="154950" y="40792"/>
                  </a:cubicBezTo>
                  <a:close/>
                </a:path>
              </a:pathLst>
            </a:custGeom>
            <a:solidFill>
              <a:schemeClr val="accent2">
                <a:lumMod val="20000"/>
                <a:lumOff val="80000"/>
              </a:schemeClr>
            </a:solidFill>
            <a:ln w="19158" cap="flat">
              <a:noFill/>
              <a:prstDash val="solid"/>
              <a:miter/>
            </a:ln>
          </p:spPr>
          <p:txBody>
            <a:bodyPr rtlCol="0" anchor="ctr"/>
            <a:lstStyle/>
            <a:p>
              <a:endParaRPr lang="zh-CN" altLang="en-US"/>
            </a:p>
          </p:txBody>
        </p:sp>
        <p:sp>
          <p:nvSpPr>
            <p:cNvPr id="24" name="任意多边形: 形状 23"/>
            <p:cNvSpPr/>
            <p:nvPr/>
          </p:nvSpPr>
          <p:spPr>
            <a:xfrm rot="1674689">
              <a:off x="11522247" y="4901070"/>
              <a:ext cx="82371" cy="73994"/>
            </a:xfrm>
            <a:custGeom>
              <a:avLst/>
              <a:gdLst>
                <a:gd name="connsiteX0" fmla="*/ 152117 w 178545"/>
                <a:gd name="connsiteY0" fmla="*/ 30303 h 160389"/>
                <a:gd name="connsiteX1" fmla="*/ 33172 w 178545"/>
                <a:gd name="connsiteY1" fmla="*/ 11118 h 160389"/>
                <a:gd name="connsiteX2" fmla="*/ 7273 w 178545"/>
                <a:gd name="connsiteY2" fmla="*/ 112029 h 160389"/>
                <a:gd name="connsiteX3" fmla="*/ 122381 w 178545"/>
                <a:gd name="connsiteY3" fmla="*/ 155961 h 160389"/>
                <a:gd name="connsiteX4" fmla="*/ 152117 w 178545"/>
                <a:gd name="connsiteY4" fmla="*/ 30303 h 160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545" h="160389">
                  <a:moveTo>
                    <a:pt x="152117" y="30303"/>
                  </a:moveTo>
                  <a:cubicBezTo>
                    <a:pt x="118160" y="2293"/>
                    <a:pt x="62717" y="-11136"/>
                    <a:pt x="33172" y="11118"/>
                  </a:cubicBezTo>
                  <a:cubicBezTo>
                    <a:pt x="2094" y="34615"/>
                    <a:pt x="-8650" y="76464"/>
                    <a:pt x="7273" y="112029"/>
                  </a:cubicBezTo>
                  <a:cubicBezTo>
                    <a:pt x="31081" y="151280"/>
                    <a:pt x="78486" y="169373"/>
                    <a:pt x="122381" y="155961"/>
                  </a:cubicBezTo>
                  <a:cubicBezTo>
                    <a:pt x="178208" y="134858"/>
                    <a:pt x="200078" y="69823"/>
                    <a:pt x="152117" y="30303"/>
                  </a:cubicBezTo>
                  <a:close/>
                </a:path>
              </a:pathLst>
            </a:custGeom>
            <a:solidFill>
              <a:schemeClr val="accent2">
                <a:lumMod val="20000"/>
                <a:lumOff val="80000"/>
              </a:schemeClr>
            </a:solidFill>
            <a:ln w="19158" cap="flat">
              <a:noFill/>
              <a:prstDash val="solid"/>
              <a:miter/>
            </a:ln>
          </p:spPr>
          <p:txBody>
            <a:bodyPr rtlCol="0" anchor="ctr"/>
            <a:lstStyle/>
            <a:p>
              <a:endParaRPr lang="zh-CN" altLang="en-US"/>
            </a:p>
          </p:txBody>
        </p:sp>
        <p:sp>
          <p:nvSpPr>
            <p:cNvPr id="25" name="任意多边形: 形状 24"/>
            <p:cNvSpPr/>
            <p:nvPr/>
          </p:nvSpPr>
          <p:spPr>
            <a:xfrm rot="1674689">
              <a:off x="11903943" y="5421399"/>
              <a:ext cx="114695" cy="160211"/>
            </a:xfrm>
            <a:custGeom>
              <a:avLst/>
              <a:gdLst>
                <a:gd name="connsiteX0" fmla="*/ 219900 w 248610"/>
                <a:gd name="connsiteY0" fmla="*/ 319958 h 347269"/>
                <a:gd name="connsiteX1" fmla="*/ 239085 w 248610"/>
                <a:gd name="connsiteY1" fmla="*/ 186817 h 347269"/>
                <a:gd name="connsiteX2" fmla="*/ 209540 w 248610"/>
                <a:gd name="connsiteY2" fmla="*/ 125043 h 347269"/>
                <a:gd name="connsiteX3" fmla="*/ 81196 w 248610"/>
                <a:gd name="connsiteY3" fmla="*/ -40 h 347269"/>
                <a:gd name="connsiteX4" fmla="*/ 6952 w 248610"/>
                <a:gd name="connsiteY4" fmla="*/ 115067 h 347269"/>
                <a:gd name="connsiteX5" fmla="*/ 48007 w 248610"/>
                <a:gd name="connsiteY5" fmla="*/ 180102 h 347269"/>
                <a:gd name="connsiteX6" fmla="*/ 98462 w 248610"/>
                <a:gd name="connsiteY6" fmla="*/ 269310 h 347269"/>
                <a:gd name="connsiteX7" fmla="*/ 137982 w 248610"/>
                <a:gd name="connsiteY7" fmla="*/ 338375 h 347269"/>
                <a:gd name="connsiteX8" fmla="*/ 201291 w 248610"/>
                <a:gd name="connsiteY8" fmla="*/ 338375 h 347269"/>
                <a:gd name="connsiteX9" fmla="*/ 219900 w 248610"/>
                <a:gd name="connsiteY9" fmla="*/ 319958 h 347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610" h="347269">
                  <a:moveTo>
                    <a:pt x="219900" y="319958"/>
                  </a:moveTo>
                  <a:cubicBezTo>
                    <a:pt x="249444" y="282114"/>
                    <a:pt x="256734" y="231461"/>
                    <a:pt x="239085" y="186817"/>
                  </a:cubicBezTo>
                  <a:cubicBezTo>
                    <a:pt x="230816" y="165505"/>
                    <a:pt x="220936" y="144853"/>
                    <a:pt x="209540" y="125043"/>
                  </a:cubicBezTo>
                  <a:cubicBezTo>
                    <a:pt x="187478" y="84180"/>
                    <a:pt x="131843" y="151"/>
                    <a:pt x="81196" y="-40"/>
                  </a:cubicBezTo>
                  <a:cubicBezTo>
                    <a:pt x="2539" y="-40"/>
                    <a:pt x="-10890" y="68832"/>
                    <a:pt x="6952" y="115067"/>
                  </a:cubicBezTo>
                  <a:cubicBezTo>
                    <a:pt x="18827" y="137833"/>
                    <a:pt x="32563" y="159585"/>
                    <a:pt x="48007" y="180102"/>
                  </a:cubicBezTo>
                  <a:cubicBezTo>
                    <a:pt x="68937" y="207314"/>
                    <a:pt x="85935" y="237347"/>
                    <a:pt x="98462" y="269310"/>
                  </a:cubicBezTo>
                  <a:cubicBezTo>
                    <a:pt x="107863" y="294634"/>
                    <a:pt x="115344" y="323603"/>
                    <a:pt x="137982" y="338375"/>
                  </a:cubicBezTo>
                  <a:cubicBezTo>
                    <a:pt x="157435" y="350181"/>
                    <a:pt x="181838" y="350181"/>
                    <a:pt x="201291" y="338375"/>
                  </a:cubicBezTo>
                  <a:cubicBezTo>
                    <a:pt x="208370" y="333183"/>
                    <a:pt x="214644" y="326979"/>
                    <a:pt x="219900" y="319958"/>
                  </a:cubicBezTo>
                  <a:close/>
                </a:path>
              </a:pathLst>
            </a:custGeom>
            <a:solidFill>
              <a:schemeClr val="accent2">
                <a:lumMod val="20000"/>
                <a:lumOff val="80000"/>
              </a:schemeClr>
            </a:solidFill>
            <a:ln w="19158" cap="flat">
              <a:noFill/>
              <a:prstDash val="solid"/>
              <a:miter/>
            </a:ln>
          </p:spPr>
          <p:txBody>
            <a:bodyPr rtlCol="0" anchor="ctr"/>
            <a:lstStyle/>
            <a:p>
              <a:endParaRPr lang="zh-CN" altLang="en-US"/>
            </a:p>
          </p:txBody>
        </p:sp>
        <p:sp>
          <p:nvSpPr>
            <p:cNvPr id="26" name="任意多边形: 形状 25"/>
            <p:cNvSpPr/>
            <p:nvPr/>
          </p:nvSpPr>
          <p:spPr>
            <a:xfrm rot="1674689">
              <a:off x="10884691" y="4842356"/>
              <a:ext cx="207156" cy="125448"/>
            </a:xfrm>
            <a:custGeom>
              <a:avLst/>
              <a:gdLst>
                <a:gd name="connsiteX0" fmla="*/ 147312 w 449025"/>
                <a:gd name="connsiteY0" fmla="*/ 3450 h 271918"/>
                <a:gd name="connsiteX1" fmla="*/ 58488 w 449025"/>
                <a:gd name="connsiteY1" fmla="*/ 8054 h 271918"/>
                <a:gd name="connsiteX2" fmla="*/ 934 w 449025"/>
                <a:gd name="connsiteY2" fmla="*/ 70212 h 271918"/>
                <a:gd name="connsiteX3" fmla="*/ 42373 w 449025"/>
                <a:gd name="connsiteY3" fmla="*/ 161531 h 271918"/>
                <a:gd name="connsiteX4" fmla="*/ 141557 w 449025"/>
                <a:gd name="connsiteY4" fmla="*/ 195487 h 271918"/>
                <a:gd name="connsiteX5" fmla="*/ 244002 w 449025"/>
                <a:gd name="connsiteY5" fmla="*/ 219084 h 271918"/>
                <a:gd name="connsiteX6" fmla="*/ 338390 w 449025"/>
                <a:gd name="connsiteY6" fmla="*/ 267237 h 271918"/>
                <a:gd name="connsiteX7" fmla="*/ 427790 w 449025"/>
                <a:gd name="connsiteY7" fmla="*/ 248053 h 271918"/>
                <a:gd name="connsiteX8" fmla="*/ 147312 w 449025"/>
                <a:gd name="connsiteY8" fmla="*/ 3450 h 27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025" h="271918">
                  <a:moveTo>
                    <a:pt x="147312" y="3450"/>
                  </a:moveTo>
                  <a:cubicBezTo>
                    <a:pt x="117783" y="-2440"/>
                    <a:pt x="87249" y="-857"/>
                    <a:pt x="58488" y="8054"/>
                  </a:cubicBezTo>
                  <a:cubicBezTo>
                    <a:pt x="30062" y="17762"/>
                    <a:pt x="8430" y="41125"/>
                    <a:pt x="934" y="70212"/>
                  </a:cubicBezTo>
                  <a:cubicBezTo>
                    <a:pt x="-4292" y="106135"/>
                    <a:pt x="11896" y="141809"/>
                    <a:pt x="42373" y="161531"/>
                  </a:cubicBezTo>
                  <a:cubicBezTo>
                    <a:pt x="72456" y="180174"/>
                    <a:pt x="106361" y="191781"/>
                    <a:pt x="141557" y="195487"/>
                  </a:cubicBezTo>
                  <a:cubicBezTo>
                    <a:pt x="176572" y="198952"/>
                    <a:pt x="210999" y="206881"/>
                    <a:pt x="244002" y="219084"/>
                  </a:cubicBezTo>
                  <a:cubicBezTo>
                    <a:pt x="276424" y="233281"/>
                    <a:pt x="304433" y="257453"/>
                    <a:pt x="338390" y="267237"/>
                  </a:cubicBezTo>
                  <a:cubicBezTo>
                    <a:pt x="369457" y="277632"/>
                    <a:pt x="403721" y="270280"/>
                    <a:pt x="427790" y="248053"/>
                  </a:cubicBezTo>
                  <a:cubicBezTo>
                    <a:pt x="533305" y="139468"/>
                    <a:pt x="214074" y="13810"/>
                    <a:pt x="147312" y="3450"/>
                  </a:cubicBezTo>
                  <a:close/>
                </a:path>
              </a:pathLst>
            </a:custGeom>
            <a:solidFill>
              <a:schemeClr val="accent2">
                <a:lumMod val="20000"/>
                <a:lumOff val="80000"/>
              </a:schemeClr>
            </a:solidFill>
            <a:ln w="19158" cap="flat">
              <a:noFill/>
              <a:prstDash val="solid"/>
              <a:miter/>
            </a:ln>
          </p:spPr>
          <p:txBody>
            <a:bodyPr rtlCol="0" anchor="ctr"/>
            <a:lstStyle/>
            <a:p>
              <a:endParaRPr lang="zh-CN" altLang="en-US"/>
            </a:p>
          </p:txBody>
        </p:sp>
        <p:sp>
          <p:nvSpPr>
            <p:cNvPr id="27" name="任意多边形: 形状 26"/>
            <p:cNvSpPr/>
            <p:nvPr/>
          </p:nvSpPr>
          <p:spPr>
            <a:xfrm rot="1674689">
              <a:off x="10984509" y="5048680"/>
              <a:ext cx="210115" cy="45344"/>
            </a:xfrm>
            <a:custGeom>
              <a:avLst/>
              <a:gdLst>
                <a:gd name="connsiteX0" fmla="*/ -36 w 455440"/>
                <a:gd name="connsiteY0" fmla="*/ 98247 h 98287"/>
                <a:gd name="connsiteX1" fmla="*/ 455405 w 455440"/>
                <a:gd name="connsiteY1" fmla="*/ 15753 h 98287"/>
              </a:gdLst>
              <a:ahLst/>
              <a:cxnLst>
                <a:cxn ang="0">
                  <a:pos x="connsiteX0" y="connsiteY0"/>
                </a:cxn>
                <a:cxn ang="0">
                  <a:pos x="connsiteX1" y="connsiteY1"/>
                </a:cxn>
              </a:cxnLst>
              <a:rect l="l" t="t" r="r" b="b"/>
              <a:pathLst>
                <a:path w="455440" h="98287">
                  <a:moveTo>
                    <a:pt x="-36" y="98247"/>
                  </a:moveTo>
                  <a:cubicBezTo>
                    <a:pt x="-36" y="98247"/>
                    <a:pt x="180683" y="-47172"/>
                    <a:pt x="455405" y="15753"/>
                  </a:cubicBezTo>
                </a:path>
              </a:pathLst>
            </a:custGeom>
            <a:noFill/>
            <a:ln w="6350" cap="rnd">
              <a:solidFill>
                <a:srgbClr val="0E31C9"/>
              </a:solidFill>
              <a:prstDash val="solid"/>
              <a:round/>
            </a:ln>
          </p:spPr>
          <p:txBody>
            <a:bodyPr rtlCol="0" anchor="ctr"/>
            <a:lstStyle/>
            <a:p>
              <a:endParaRPr lang="zh-CN" altLang="en-US"/>
            </a:p>
          </p:txBody>
        </p:sp>
        <p:sp>
          <p:nvSpPr>
            <p:cNvPr id="28" name="任意多边形: 形状 27"/>
            <p:cNvSpPr/>
            <p:nvPr/>
          </p:nvSpPr>
          <p:spPr>
            <a:xfrm rot="1674689">
              <a:off x="11503361" y="5323532"/>
              <a:ext cx="210116" cy="45344"/>
            </a:xfrm>
            <a:custGeom>
              <a:avLst/>
              <a:gdLst>
                <a:gd name="connsiteX0" fmla="*/ 455405 w 455441"/>
                <a:gd name="connsiteY0" fmla="*/ 98247 h 98287"/>
                <a:gd name="connsiteX1" fmla="*/ -36 w 455441"/>
                <a:gd name="connsiteY1" fmla="*/ 15753 h 98287"/>
              </a:gdLst>
              <a:ahLst/>
              <a:cxnLst>
                <a:cxn ang="0">
                  <a:pos x="connsiteX0" y="connsiteY0"/>
                </a:cxn>
                <a:cxn ang="0">
                  <a:pos x="connsiteX1" y="connsiteY1"/>
                </a:cxn>
              </a:cxnLst>
              <a:rect l="l" t="t" r="r" b="b"/>
              <a:pathLst>
                <a:path w="455441" h="98287">
                  <a:moveTo>
                    <a:pt x="455405" y="98247"/>
                  </a:moveTo>
                  <a:cubicBezTo>
                    <a:pt x="455405" y="98247"/>
                    <a:pt x="274687" y="-47172"/>
                    <a:pt x="-36" y="15753"/>
                  </a:cubicBezTo>
                </a:path>
              </a:pathLst>
            </a:custGeom>
            <a:noFill/>
            <a:ln w="6350" cap="rnd">
              <a:solidFill>
                <a:srgbClr val="0E31C9"/>
              </a:solidFill>
              <a:prstDash val="solid"/>
              <a:round/>
            </a:ln>
          </p:spPr>
          <p:txBody>
            <a:bodyPr rtlCol="0" anchor="ctr"/>
            <a:lstStyle/>
            <a:p>
              <a:endParaRPr lang="zh-CN" altLang="en-US"/>
            </a:p>
          </p:txBody>
        </p:sp>
        <p:sp>
          <p:nvSpPr>
            <p:cNvPr id="29" name="任意多边形: 形状 28"/>
            <p:cNvSpPr/>
            <p:nvPr/>
          </p:nvSpPr>
          <p:spPr>
            <a:xfrm rot="1674689">
              <a:off x="10776546" y="5149981"/>
              <a:ext cx="354050" cy="334999"/>
            </a:xfrm>
            <a:custGeom>
              <a:avLst/>
              <a:gdLst>
                <a:gd name="connsiteX0" fmla="*/ 767380 w 767430"/>
                <a:gd name="connsiteY0" fmla="*/ 458854 h 726134"/>
                <a:gd name="connsiteX1" fmla="*/ 694671 w 767430"/>
                <a:gd name="connsiteY1" fmla="*/ 726094 h 726134"/>
                <a:gd name="connsiteX2" fmla="*/ 71173 w 767430"/>
                <a:gd name="connsiteY2" fmla="*/ 724560 h 726134"/>
                <a:gd name="connsiteX3" fmla="*/ -2 w 767430"/>
                <a:gd name="connsiteY3" fmla="*/ 458854 h 726134"/>
                <a:gd name="connsiteX4" fmla="*/ 383689 w 767430"/>
                <a:gd name="connsiteY4" fmla="*/ -40 h 726134"/>
                <a:gd name="connsiteX5" fmla="*/ 767380 w 767430"/>
                <a:gd name="connsiteY5" fmla="*/ 458854 h 726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7430" h="726134">
                  <a:moveTo>
                    <a:pt x="767380" y="458854"/>
                  </a:moveTo>
                  <a:cubicBezTo>
                    <a:pt x="768090" y="552915"/>
                    <a:pt x="742939" y="645366"/>
                    <a:pt x="694671" y="726094"/>
                  </a:cubicBezTo>
                  <a:cubicBezTo>
                    <a:pt x="490033" y="675063"/>
                    <a:pt x="276058" y="674545"/>
                    <a:pt x="71173" y="724560"/>
                  </a:cubicBezTo>
                  <a:cubicBezTo>
                    <a:pt x="23538" y="644195"/>
                    <a:pt x="-1084" y="552263"/>
                    <a:pt x="-2" y="458854"/>
                  </a:cubicBezTo>
                  <a:cubicBezTo>
                    <a:pt x="-2" y="205234"/>
                    <a:pt x="171508" y="-40"/>
                    <a:pt x="383689" y="-40"/>
                  </a:cubicBezTo>
                  <a:cubicBezTo>
                    <a:pt x="595870" y="-40"/>
                    <a:pt x="767380" y="205234"/>
                    <a:pt x="767380" y="458854"/>
                  </a:cubicBezTo>
                  <a:close/>
                </a:path>
              </a:pathLst>
            </a:custGeom>
            <a:solidFill>
              <a:srgbClr val="FFFFFF"/>
            </a:solidFill>
            <a:ln w="19158" cap="flat">
              <a:noFill/>
              <a:prstDash val="solid"/>
              <a:miter/>
            </a:ln>
          </p:spPr>
          <p:txBody>
            <a:bodyPr rtlCol="0" anchor="ctr"/>
            <a:lstStyle/>
            <a:p>
              <a:endParaRPr lang="zh-CN" altLang="en-US"/>
            </a:p>
          </p:txBody>
        </p:sp>
        <p:sp>
          <p:nvSpPr>
            <p:cNvPr id="30" name="任意多边形: 形状 29"/>
            <p:cNvSpPr/>
            <p:nvPr/>
          </p:nvSpPr>
          <p:spPr>
            <a:xfrm rot="1674689">
              <a:off x="10825831" y="5236215"/>
              <a:ext cx="230750" cy="238172"/>
            </a:xfrm>
            <a:custGeom>
              <a:avLst/>
              <a:gdLst>
                <a:gd name="connsiteX0" fmla="*/ 500115 w 500167"/>
                <a:gd name="connsiteY0" fmla="*/ 322452 h 516255"/>
                <a:gd name="connsiteX1" fmla="*/ 449660 w 500167"/>
                <a:gd name="connsiteY1" fmla="*/ 516215 h 516255"/>
                <a:gd name="connsiteX2" fmla="*/ 46784 w 500167"/>
                <a:gd name="connsiteY2" fmla="*/ 510076 h 516255"/>
                <a:gd name="connsiteX3" fmla="*/ -26 w 500167"/>
                <a:gd name="connsiteY3" fmla="*/ 322452 h 516255"/>
                <a:gd name="connsiteX4" fmla="*/ 249373 w 500167"/>
                <a:gd name="connsiteY4" fmla="*/ -40 h 516255"/>
                <a:gd name="connsiteX5" fmla="*/ 500115 w 500167"/>
                <a:gd name="connsiteY5" fmla="*/ 322452 h 516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0167" h="516255">
                  <a:moveTo>
                    <a:pt x="500115" y="322452"/>
                  </a:moveTo>
                  <a:cubicBezTo>
                    <a:pt x="500748" y="390365"/>
                    <a:pt x="483329" y="457223"/>
                    <a:pt x="449660" y="516215"/>
                  </a:cubicBezTo>
                  <a:cubicBezTo>
                    <a:pt x="316471" y="493597"/>
                    <a:pt x="180600" y="491525"/>
                    <a:pt x="46784" y="510076"/>
                  </a:cubicBezTo>
                  <a:cubicBezTo>
                    <a:pt x="15608" y="452484"/>
                    <a:pt x="-494" y="387947"/>
                    <a:pt x="-26" y="322452"/>
                  </a:cubicBezTo>
                  <a:cubicBezTo>
                    <a:pt x="-26" y="144803"/>
                    <a:pt x="111820" y="-40"/>
                    <a:pt x="249373" y="-40"/>
                  </a:cubicBezTo>
                  <a:cubicBezTo>
                    <a:pt x="386926" y="-40"/>
                    <a:pt x="500115" y="144803"/>
                    <a:pt x="500115" y="322452"/>
                  </a:cubicBezTo>
                  <a:close/>
                </a:path>
              </a:pathLst>
            </a:custGeom>
            <a:solidFill>
              <a:srgbClr val="0E31C9"/>
            </a:solidFill>
            <a:ln w="19158" cap="flat">
              <a:noFill/>
              <a:prstDash val="solid"/>
              <a:miter/>
            </a:ln>
          </p:spPr>
          <p:txBody>
            <a:bodyPr rtlCol="0" anchor="ctr"/>
            <a:lstStyle/>
            <a:p>
              <a:endParaRPr lang="zh-CN" altLang="en-US"/>
            </a:p>
          </p:txBody>
        </p:sp>
        <p:sp>
          <p:nvSpPr>
            <p:cNvPr id="31" name="任意多边形: 形状 30"/>
            <p:cNvSpPr/>
            <p:nvPr/>
          </p:nvSpPr>
          <p:spPr>
            <a:xfrm rot="1674689">
              <a:off x="10991064" y="5296560"/>
              <a:ext cx="103110" cy="92313"/>
            </a:xfrm>
            <a:custGeom>
              <a:avLst/>
              <a:gdLst>
                <a:gd name="connsiteX0" fmla="*/ 135443 w 223499"/>
                <a:gd name="connsiteY0" fmla="*/ 0 h 200094"/>
                <a:gd name="connsiteX1" fmla="*/ 0 w 223499"/>
                <a:gd name="connsiteY1" fmla="*/ 200095 h 200094"/>
                <a:gd name="connsiteX2" fmla="*/ 223500 w 223499"/>
                <a:gd name="connsiteY2" fmla="*/ 200095 h 200094"/>
                <a:gd name="connsiteX3" fmla="*/ 135443 w 223499"/>
                <a:gd name="connsiteY3" fmla="*/ 0 h 200094"/>
              </a:gdLst>
              <a:ahLst/>
              <a:cxnLst>
                <a:cxn ang="0">
                  <a:pos x="connsiteX0" y="connsiteY0"/>
                </a:cxn>
                <a:cxn ang="0">
                  <a:pos x="connsiteX1" y="connsiteY1"/>
                </a:cxn>
                <a:cxn ang="0">
                  <a:pos x="connsiteX2" y="connsiteY2"/>
                </a:cxn>
                <a:cxn ang="0">
                  <a:pos x="connsiteX3" y="connsiteY3"/>
                </a:cxn>
              </a:cxnLst>
              <a:rect l="l" t="t" r="r" b="b"/>
              <a:pathLst>
                <a:path w="223499" h="200094">
                  <a:moveTo>
                    <a:pt x="135443" y="0"/>
                  </a:moveTo>
                  <a:lnTo>
                    <a:pt x="0" y="200095"/>
                  </a:lnTo>
                  <a:lnTo>
                    <a:pt x="223500" y="200095"/>
                  </a:lnTo>
                  <a:lnTo>
                    <a:pt x="135443" y="0"/>
                  </a:lnTo>
                  <a:close/>
                </a:path>
              </a:pathLst>
            </a:custGeom>
            <a:solidFill>
              <a:srgbClr val="FFFFFF"/>
            </a:solidFill>
            <a:ln w="19158" cap="flat">
              <a:noFill/>
              <a:prstDash val="solid"/>
              <a:miter/>
            </a:ln>
          </p:spPr>
          <p:txBody>
            <a:bodyPr rtlCol="0" anchor="ctr"/>
            <a:lstStyle/>
            <a:p>
              <a:endParaRPr lang="zh-CN" altLang="en-US"/>
            </a:p>
          </p:txBody>
        </p:sp>
        <p:sp>
          <p:nvSpPr>
            <p:cNvPr id="65" name="任意多边形: 形状 64"/>
            <p:cNvSpPr/>
            <p:nvPr/>
          </p:nvSpPr>
          <p:spPr>
            <a:xfrm rot="1674689">
              <a:off x="10709272" y="5448224"/>
              <a:ext cx="336680" cy="24563"/>
            </a:xfrm>
            <a:custGeom>
              <a:avLst/>
              <a:gdLst>
                <a:gd name="connsiteX0" fmla="*/ 729744 w 729779"/>
                <a:gd name="connsiteY0" fmla="*/ 53203 h 53243"/>
                <a:gd name="connsiteX1" fmla="*/ 676219 w 729779"/>
                <a:gd name="connsiteY1" fmla="*/ 38623 h 53243"/>
                <a:gd name="connsiteX2" fmla="*/ 52722 w 729779"/>
                <a:gd name="connsiteY2" fmla="*/ 37088 h 53243"/>
                <a:gd name="connsiteX3" fmla="*/ -36 w 729779"/>
                <a:gd name="connsiteY3" fmla="*/ 53203 h 53243"/>
              </a:gdLst>
              <a:ahLst/>
              <a:cxnLst>
                <a:cxn ang="0">
                  <a:pos x="connsiteX0" y="connsiteY0"/>
                </a:cxn>
                <a:cxn ang="0">
                  <a:pos x="connsiteX1" y="connsiteY1"/>
                </a:cxn>
                <a:cxn ang="0">
                  <a:pos x="connsiteX2" y="connsiteY2"/>
                </a:cxn>
                <a:cxn ang="0">
                  <a:pos x="connsiteX3" y="connsiteY3"/>
                </a:cxn>
              </a:cxnLst>
              <a:rect l="l" t="t" r="r" b="b"/>
              <a:pathLst>
                <a:path w="729779" h="53243">
                  <a:moveTo>
                    <a:pt x="729744" y="53203"/>
                  </a:moveTo>
                  <a:cubicBezTo>
                    <a:pt x="710560" y="47831"/>
                    <a:pt x="693677" y="43227"/>
                    <a:pt x="676219" y="38623"/>
                  </a:cubicBezTo>
                  <a:cubicBezTo>
                    <a:pt x="471582" y="-12408"/>
                    <a:pt x="257607" y="-12926"/>
                    <a:pt x="52722" y="37088"/>
                  </a:cubicBezTo>
                  <a:cubicBezTo>
                    <a:pt x="18190" y="46296"/>
                    <a:pt x="-36" y="53203"/>
                    <a:pt x="-36" y="53203"/>
                  </a:cubicBezTo>
                </a:path>
              </a:pathLst>
            </a:custGeom>
            <a:noFill/>
            <a:ln w="6350" cap="rnd">
              <a:solidFill>
                <a:srgbClr val="0E31C9"/>
              </a:solidFill>
              <a:prstDash val="solid"/>
              <a:round/>
            </a:ln>
          </p:spPr>
          <p:txBody>
            <a:bodyPr rtlCol="0" anchor="ctr"/>
            <a:lstStyle/>
            <a:p>
              <a:endParaRPr lang="zh-CN" altLang="en-US"/>
            </a:p>
          </p:txBody>
        </p:sp>
        <p:sp>
          <p:nvSpPr>
            <p:cNvPr id="66" name="任意多边形: 形状 65"/>
            <p:cNvSpPr/>
            <p:nvPr/>
          </p:nvSpPr>
          <p:spPr>
            <a:xfrm rot="1674689">
              <a:off x="11296559" y="5425541"/>
              <a:ext cx="354401" cy="334999"/>
            </a:xfrm>
            <a:custGeom>
              <a:avLst/>
              <a:gdLst>
                <a:gd name="connsiteX0" fmla="*/ -20 w 768190"/>
                <a:gd name="connsiteY0" fmla="*/ 458854 h 726134"/>
                <a:gd name="connsiteX1" fmla="*/ 72881 w 768190"/>
                <a:gd name="connsiteY1" fmla="*/ 726094 h 726134"/>
                <a:gd name="connsiteX2" fmla="*/ 696186 w 768190"/>
                <a:gd name="connsiteY2" fmla="*/ 724560 h 726134"/>
                <a:gd name="connsiteX3" fmla="*/ 768128 w 768190"/>
                <a:gd name="connsiteY3" fmla="*/ 458854 h 726134"/>
                <a:gd name="connsiteX4" fmla="*/ 384438 w 768190"/>
                <a:gd name="connsiteY4" fmla="*/ -40 h 726134"/>
                <a:gd name="connsiteX5" fmla="*/ -20 w 768190"/>
                <a:gd name="connsiteY5" fmla="*/ 458854 h 726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190" h="726134">
                  <a:moveTo>
                    <a:pt x="-20" y="458854"/>
                  </a:moveTo>
                  <a:cubicBezTo>
                    <a:pt x="-750" y="552935"/>
                    <a:pt x="24478" y="645404"/>
                    <a:pt x="72881" y="726094"/>
                  </a:cubicBezTo>
                  <a:cubicBezTo>
                    <a:pt x="277446" y="675063"/>
                    <a:pt x="491372" y="674545"/>
                    <a:pt x="696186" y="724560"/>
                  </a:cubicBezTo>
                  <a:cubicBezTo>
                    <a:pt x="744186" y="644311"/>
                    <a:pt x="769088" y="552359"/>
                    <a:pt x="768128" y="458854"/>
                  </a:cubicBezTo>
                  <a:cubicBezTo>
                    <a:pt x="768128" y="205234"/>
                    <a:pt x="596619" y="-40"/>
                    <a:pt x="384438" y="-40"/>
                  </a:cubicBezTo>
                  <a:cubicBezTo>
                    <a:pt x="172257" y="-40"/>
                    <a:pt x="-20" y="205234"/>
                    <a:pt x="-20" y="458854"/>
                  </a:cubicBezTo>
                  <a:close/>
                </a:path>
              </a:pathLst>
            </a:custGeom>
            <a:solidFill>
              <a:srgbClr val="FFFFFF"/>
            </a:solidFill>
            <a:ln w="19158" cap="flat">
              <a:noFill/>
              <a:prstDash val="solid"/>
              <a:miter/>
            </a:ln>
          </p:spPr>
          <p:txBody>
            <a:bodyPr rtlCol="0" anchor="ctr"/>
            <a:lstStyle/>
            <a:p>
              <a:endParaRPr lang="zh-CN" altLang="en-US"/>
            </a:p>
          </p:txBody>
        </p:sp>
        <p:sp>
          <p:nvSpPr>
            <p:cNvPr id="67" name="任意多边形: 形状 66"/>
            <p:cNvSpPr/>
            <p:nvPr/>
          </p:nvSpPr>
          <p:spPr>
            <a:xfrm rot="1674689">
              <a:off x="11334144" y="5505389"/>
              <a:ext cx="230394" cy="238172"/>
            </a:xfrm>
            <a:custGeom>
              <a:avLst/>
              <a:gdLst>
                <a:gd name="connsiteX0" fmla="*/ -22 w 499396"/>
                <a:gd name="connsiteY0" fmla="*/ 322452 h 516255"/>
                <a:gd name="connsiteX1" fmla="*/ 50625 w 499396"/>
                <a:gd name="connsiteY1" fmla="*/ 516215 h 516255"/>
                <a:gd name="connsiteX2" fmla="*/ 452541 w 499396"/>
                <a:gd name="connsiteY2" fmla="*/ 510076 h 516255"/>
                <a:gd name="connsiteX3" fmla="*/ 499352 w 499396"/>
                <a:gd name="connsiteY3" fmla="*/ 322452 h 516255"/>
                <a:gd name="connsiteX4" fmla="*/ 249953 w 499396"/>
                <a:gd name="connsiteY4" fmla="*/ -40 h 516255"/>
                <a:gd name="connsiteX5" fmla="*/ -22 w 499396"/>
                <a:gd name="connsiteY5" fmla="*/ 322452 h 516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396" h="516255">
                  <a:moveTo>
                    <a:pt x="-22" y="322452"/>
                  </a:moveTo>
                  <a:cubicBezTo>
                    <a:pt x="-597" y="390384"/>
                    <a:pt x="16880" y="457242"/>
                    <a:pt x="50625" y="516215"/>
                  </a:cubicBezTo>
                  <a:cubicBezTo>
                    <a:pt x="183497" y="493673"/>
                    <a:pt x="319036" y="491601"/>
                    <a:pt x="452541" y="510076"/>
                  </a:cubicBezTo>
                  <a:cubicBezTo>
                    <a:pt x="483716" y="452484"/>
                    <a:pt x="499812" y="387947"/>
                    <a:pt x="499352" y="322452"/>
                  </a:cubicBezTo>
                  <a:cubicBezTo>
                    <a:pt x="499352" y="144803"/>
                    <a:pt x="387506" y="-40"/>
                    <a:pt x="249953" y="-40"/>
                  </a:cubicBezTo>
                  <a:cubicBezTo>
                    <a:pt x="112399" y="-40"/>
                    <a:pt x="-22" y="144803"/>
                    <a:pt x="-22" y="322452"/>
                  </a:cubicBezTo>
                  <a:close/>
                </a:path>
              </a:pathLst>
            </a:custGeom>
            <a:solidFill>
              <a:srgbClr val="0E31C9"/>
            </a:solidFill>
            <a:ln w="19158" cap="flat">
              <a:noFill/>
              <a:prstDash val="solid"/>
              <a:miter/>
            </a:ln>
          </p:spPr>
          <p:txBody>
            <a:bodyPr rtlCol="0" anchor="ctr"/>
            <a:lstStyle/>
            <a:p>
              <a:endParaRPr lang="zh-CN" altLang="en-US"/>
            </a:p>
          </p:txBody>
        </p:sp>
        <p:sp>
          <p:nvSpPr>
            <p:cNvPr id="68" name="任意多边形: 形状 67"/>
            <p:cNvSpPr/>
            <p:nvPr/>
          </p:nvSpPr>
          <p:spPr>
            <a:xfrm rot="1674689">
              <a:off x="11351383" y="5487432"/>
              <a:ext cx="103110" cy="92313"/>
            </a:xfrm>
            <a:custGeom>
              <a:avLst/>
              <a:gdLst>
                <a:gd name="connsiteX0" fmla="*/ 88057 w 223499"/>
                <a:gd name="connsiteY0" fmla="*/ 0 h 200094"/>
                <a:gd name="connsiteX1" fmla="*/ 223500 w 223499"/>
                <a:gd name="connsiteY1" fmla="*/ 200095 h 200094"/>
                <a:gd name="connsiteX2" fmla="*/ 0 w 223499"/>
                <a:gd name="connsiteY2" fmla="*/ 200095 h 200094"/>
                <a:gd name="connsiteX3" fmla="*/ 88057 w 223499"/>
                <a:gd name="connsiteY3" fmla="*/ 0 h 200094"/>
              </a:gdLst>
              <a:ahLst/>
              <a:cxnLst>
                <a:cxn ang="0">
                  <a:pos x="connsiteX0" y="connsiteY0"/>
                </a:cxn>
                <a:cxn ang="0">
                  <a:pos x="connsiteX1" y="connsiteY1"/>
                </a:cxn>
                <a:cxn ang="0">
                  <a:pos x="connsiteX2" y="connsiteY2"/>
                </a:cxn>
                <a:cxn ang="0">
                  <a:pos x="connsiteX3" y="connsiteY3"/>
                </a:cxn>
              </a:cxnLst>
              <a:rect l="l" t="t" r="r" b="b"/>
              <a:pathLst>
                <a:path w="223499" h="200094">
                  <a:moveTo>
                    <a:pt x="88057" y="0"/>
                  </a:moveTo>
                  <a:lnTo>
                    <a:pt x="223500" y="200095"/>
                  </a:lnTo>
                  <a:lnTo>
                    <a:pt x="0" y="200095"/>
                  </a:lnTo>
                  <a:lnTo>
                    <a:pt x="88057" y="0"/>
                  </a:lnTo>
                  <a:close/>
                </a:path>
              </a:pathLst>
            </a:custGeom>
            <a:solidFill>
              <a:srgbClr val="FFFFFF"/>
            </a:solidFill>
            <a:ln w="19158" cap="flat">
              <a:noFill/>
              <a:prstDash val="solid"/>
              <a:miter/>
            </a:ln>
          </p:spPr>
          <p:txBody>
            <a:bodyPr rtlCol="0" anchor="ctr"/>
            <a:lstStyle/>
            <a:p>
              <a:endParaRPr lang="zh-CN" altLang="en-US"/>
            </a:p>
          </p:txBody>
        </p:sp>
        <p:sp>
          <p:nvSpPr>
            <p:cNvPr id="73" name="任意多边形: 形状 72"/>
            <p:cNvSpPr/>
            <p:nvPr/>
          </p:nvSpPr>
          <p:spPr>
            <a:xfrm rot="1674689">
              <a:off x="11229605" y="5723883"/>
              <a:ext cx="336769" cy="24563"/>
            </a:xfrm>
            <a:custGeom>
              <a:avLst/>
              <a:gdLst>
                <a:gd name="connsiteX0" fmla="*/ 729936 w 729971"/>
                <a:gd name="connsiteY0" fmla="*/ 53203 h 53243"/>
                <a:gd name="connsiteX1" fmla="*/ 676986 w 729971"/>
                <a:gd name="connsiteY1" fmla="*/ 37088 h 53243"/>
                <a:gd name="connsiteX2" fmla="*/ 53681 w 729971"/>
                <a:gd name="connsiteY2" fmla="*/ 38623 h 53243"/>
                <a:gd name="connsiteX3" fmla="*/ -36 w 729971"/>
                <a:gd name="connsiteY3" fmla="*/ 53203 h 53243"/>
              </a:gdLst>
              <a:ahLst/>
              <a:cxnLst>
                <a:cxn ang="0">
                  <a:pos x="connsiteX0" y="connsiteY0"/>
                </a:cxn>
                <a:cxn ang="0">
                  <a:pos x="connsiteX1" y="connsiteY1"/>
                </a:cxn>
                <a:cxn ang="0">
                  <a:pos x="connsiteX2" y="connsiteY2"/>
                </a:cxn>
                <a:cxn ang="0">
                  <a:pos x="connsiteX3" y="connsiteY3"/>
                </a:cxn>
              </a:cxnLst>
              <a:rect l="l" t="t" r="r" b="b"/>
              <a:pathLst>
                <a:path w="729971" h="53243">
                  <a:moveTo>
                    <a:pt x="729936" y="53203"/>
                  </a:moveTo>
                  <a:cubicBezTo>
                    <a:pt x="729936" y="53203"/>
                    <a:pt x="710751" y="46296"/>
                    <a:pt x="676986" y="37088"/>
                  </a:cubicBezTo>
                  <a:cubicBezTo>
                    <a:pt x="472172" y="-12926"/>
                    <a:pt x="258246" y="-12408"/>
                    <a:pt x="53681" y="38623"/>
                  </a:cubicBezTo>
                  <a:cubicBezTo>
                    <a:pt x="36031" y="43227"/>
                    <a:pt x="18381" y="47831"/>
                    <a:pt x="-36" y="53203"/>
                  </a:cubicBezTo>
                </a:path>
              </a:pathLst>
            </a:custGeom>
            <a:noFill/>
            <a:ln w="6350" cap="rnd">
              <a:solidFill>
                <a:srgbClr val="0E31C9"/>
              </a:solidFill>
              <a:prstDash val="solid"/>
              <a:round/>
            </a:ln>
          </p:spPr>
          <p:txBody>
            <a:bodyPr rtlCol="0" anchor="ctr"/>
            <a:lstStyle/>
            <a:p>
              <a:endParaRPr lang="zh-CN" altLang="en-US"/>
            </a:p>
          </p:txBody>
        </p:sp>
        <p:sp>
          <p:nvSpPr>
            <p:cNvPr id="74" name="任意多边形: 形状 73"/>
            <p:cNvSpPr/>
            <p:nvPr/>
          </p:nvSpPr>
          <p:spPr>
            <a:xfrm rot="1674689">
              <a:off x="11004924" y="5694798"/>
              <a:ext cx="168163" cy="35635"/>
            </a:xfrm>
            <a:custGeom>
              <a:avLst/>
              <a:gdLst>
                <a:gd name="connsiteX0" fmla="*/ -36 w 364506"/>
                <a:gd name="connsiteY0" fmla="*/ 17993 h 77243"/>
                <a:gd name="connsiteX1" fmla="*/ 364470 w 364506"/>
                <a:gd name="connsiteY1" fmla="*/ -40 h 77243"/>
              </a:gdLst>
              <a:ahLst/>
              <a:cxnLst>
                <a:cxn ang="0">
                  <a:pos x="connsiteX0" y="connsiteY0"/>
                </a:cxn>
                <a:cxn ang="0">
                  <a:pos x="connsiteX1" y="connsiteY1"/>
                </a:cxn>
              </a:cxnLst>
              <a:rect l="l" t="t" r="r" b="b"/>
              <a:pathLst>
                <a:path w="364506" h="77243">
                  <a:moveTo>
                    <a:pt x="-36" y="17993"/>
                  </a:moveTo>
                  <a:cubicBezTo>
                    <a:pt x="109086" y="103326"/>
                    <a:pt x="264308" y="95652"/>
                    <a:pt x="364470" y="-40"/>
                  </a:cubicBezTo>
                </a:path>
              </a:pathLst>
            </a:custGeom>
            <a:noFill/>
            <a:ln w="9525" cap="rnd">
              <a:solidFill>
                <a:srgbClr val="0E31C9"/>
              </a:solidFill>
              <a:prstDash val="solid"/>
              <a:round/>
            </a:ln>
          </p:spPr>
          <p:txBody>
            <a:bodyPr rtlCol="0" anchor="ctr"/>
            <a:lstStyle/>
            <a:p>
              <a:endParaRPr lang="zh-CN" altLang="en-US"/>
            </a:p>
          </p:txBody>
        </p:sp>
        <p:sp>
          <p:nvSpPr>
            <p:cNvPr id="134" name="椭圆 133"/>
            <p:cNvSpPr/>
            <p:nvPr/>
          </p:nvSpPr>
          <p:spPr>
            <a:xfrm>
              <a:off x="831163" y="1552616"/>
              <a:ext cx="202211" cy="202211"/>
            </a:xfrm>
            <a:prstGeom prst="ellipse">
              <a:avLst/>
            </a:prstGeom>
            <a:solidFill>
              <a:schemeClr val="bg1"/>
            </a:solidFill>
            <a:ln w="19050">
              <a:solidFill>
                <a:schemeClr val="accent1"/>
              </a:solid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a:solidFill>
                  <a:schemeClr val="lt1"/>
                </a:solidFill>
              </a:endParaRPr>
            </a:p>
          </p:txBody>
        </p:sp>
        <p:sp>
          <p:nvSpPr>
            <p:cNvPr id="12" name="Title"/>
            <p:cNvSpPr/>
            <p:nvPr/>
          </p:nvSpPr>
          <p:spPr>
            <a:xfrm>
              <a:off x="1482344" y="1198150"/>
              <a:ext cx="9008216" cy="549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marL="0" marR="0" lvl="0" indent="0" algn="l"/>
              <a:endParaRPr lang="en-US" dirty="0"/>
            </a:p>
          </p:txBody>
        </p:sp>
        <p:grpSp>
          <p:nvGrpSpPr>
            <p:cNvPr id="2" name="组合 1"/>
            <p:cNvGrpSpPr/>
            <p:nvPr/>
          </p:nvGrpSpPr>
          <p:grpSpPr>
            <a:xfrm>
              <a:off x="412267" y="1130300"/>
              <a:ext cx="10980845" cy="5002089"/>
              <a:chOff x="412267" y="1130300"/>
              <a:chExt cx="10980845" cy="5002089"/>
            </a:xfrm>
          </p:grpSpPr>
          <p:sp>
            <p:nvSpPr>
              <p:cNvPr id="8" name="ComponentBackground1"/>
              <p:cNvSpPr/>
              <p:nvPr/>
            </p:nvSpPr>
            <p:spPr>
              <a:xfrm>
                <a:off x="815990" y="1143208"/>
                <a:ext cx="10577122" cy="4989181"/>
              </a:xfrm>
              <a:prstGeom prst="roundRect">
                <a:avLst>
                  <a:gd name="adj" fmla="val 10558"/>
                </a:avLst>
              </a:prstGeom>
              <a:solidFill>
                <a:srgbClr val="FFFFFF"/>
              </a:solidFill>
              <a:ln w="19050" cap="flat">
                <a:solidFill>
                  <a:schemeClr val="accent1"/>
                </a:solidFill>
                <a:prstDash val="solid"/>
                <a:miter/>
              </a:ln>
              <a:effectLst>
                <a:outerShdw dist="50800" dir="5400000" sx="101000" sy="101000" algn="ctr" rotWithShape="0">
                  <a:schemeClr val="accent1"/>
                </a:outerShdw>
              </a:effectLst>
            </p:spPr>
            <p:txBody>
              <a:bodyPr rtlCol="0" anchor="ctr"/>
              <a:lstStyle/>
              <a:p>
                <a:endParaRPr lang="zh-CN" altLang="en-US"/>
              </a:p>
            </p:txBody>
          </p:sp>
          <p:sp>
            <p:nvSpPr>
              <p:cNvPr id="10" name="Shape"/>
              <p:cNvSpPr/>
              <p:nvPr/>
            </p:nvSpPr>
            <p:spPr>
              <a:xfrm>
                <a:off x="412267" y="1130300"/>
                <a:ext cx="1040003" cy="1046843"/>
              </a:xfrm>
              <a:custGeom>
                <a:avLst/>
                <a:gdLst>
                  <a:gd name="connsiteX0" fmla="*/ 1904926 w 3844197"/>
                  <a:gd name="connsiteY0" fmla="*/ 0 h 3506914"/>
                  <a:gd name="connsiteX1" fmla="*/ 2704251 w 3844197"/>
                  <a:gd name="connsiteY1" fmla="*/ 651469 h 3506914"/>
                  <a:gd name="connsiteX2" fmla="*/ 2708467 w 3844197"/>
                  <a:gd name="connsiteY2" fmla="*/ 693290 h 3506914"/>
                  <a:gd name="connsiteX3" fmla="*/ 2710711 w 3844197"/>
                  <a:gd name="connsiteY3" fmla="*/ 692073 h 3506914"/>
                  <a:gd name="connsiteX4" fmla="*/ 3028296 w 3844197"/>
                  <a:gd name="connsiteY4" fmla="*/ 627955 h 3506914"/>
                  <a:gd name="connsiteX5" fmla="*/ 3844197 w 3844197"/>
                  <a:gd name="connsiteY5" fmla="*/ 1443856 h 3506914"/>
                  <a:gd name="connsiteX6" fmla="*/ 3270920 w 3844197"/>
                  <a:gd name="connsiteY6" fmla="*/ 2223076 h 3506914"/>
                  <a:gd name="connsiteX7" fmla="*/ 3266940 w 3844197"/>
                  <a:gd name="connsiteY7" fmla="*/ 2224100 h 3506914"/>
                  <a:gd name="connsiteX8" fmla="*/ 3275797 w 3844197"/>
                  <a:gd name="connsiteY8" fmla="*/ 2234835 h 3506914"/>
                  <a:gd name="connsiteX9" fmla="*/ 3415140 w 3844197"/>
                  <a:gd name="connsiteY9" fmla="*/ 2691013 h 3506914"/>
                  <a:gd name="connsiteX10" fmla="*/ 2599239 w 3844197"/>
                  <a:gd name="connsiteY10" fmla="*/ 3506914 h 3506914"/>
                  <a:gd name="connsiteX11" fmla="*/ 1922681 w 3844197"/>
                  <a:gd name="connsiteY11" fmla="*/ 3147191 h 3506914"/>
                  <a:gd name="connsiteX12" fmla="*/ 1921882 w 3844197"/>
                  <a:gd name="connsiteY12" fmla="*/ 3145720 h 3506914"/>
                  <a:gd name="connsiteX13" fmla="*/ 1921084 w 3844197"/>
                  <a:gd name="connsiteY13" fmla="*/ 3147191 h 3506914"/>
                  <a:gd name="connsiteX14" fmla="*/ 1244526 w 3844197"/>
                  <a:gd name="connsiteY14" fmla="*/ 3506914 h 3506914"/>
                  <a:gd name="connsiteX15" fmla="*/ 428625 w 3844197"/>
                  <a:gd name="connsiteY15" fmla="*/ 2691013 h 3506914"/>
                  <a:gd name="connsiteX16" fmla="*/ 567968 w 3844197"/>
                  <a:gd name="connsiteY16" fmla="*/ 2234835 h 3506914"/>
                  <a:gd name="connsiteX17" fmla="*/ 576901 w 3844197"/>
                  <a:gd name="connsiteY17" fmla="*/ 2224008 h 3506914"/>
                  <a:gd name="connsiteX18" fmla="*/ 573277 w 3844197"/>
                  <a:gd name="connsiteY18" fmla="*/ 2223076 h 3506914"/>
                  <a:gd name="connsiteX19" fmla="*/ 0 w 3844197"/>
                  <a:gd name="connsiteY19" fmla="*/ 1443856 h 3506914"/>
                  <a:gd name="connsiteX20" fmla="*/ 815901 w 3844197"/>
                  <a:gd name="connsiteY20" fmla="*/ 627955 h 3506914"/>
                  <a:gd name="connsiteX21" fmla="*/ 1058525 w 3844197"/>
                  <a:gd name="connsiteY21" fmla="*/ 664636 h 3506914"/>
                  <a:gd name="connsiteX22" fmla="*/ 1102646 w 3844197"/>
                  <a:gd name="connsiteY22" fmla="*/ 680785 h 3506914"/>
                  <a:gd name="connsiteX23" fmla="*/ 1105601 w 3844197"/>
                  <a:gd name="connsiteY23" fmla="*/ 651469 h 3506914"/>
                  <a:gd name="connsiteX24" fmla="*/ 1904926 w 3844197"/>
                  <a:gd name="connsiteY24" fmla="*/ 0 h 3506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44197" h="3506914">
                    <a:moveTo>
                      <a:pt x="1904926" y="0"/>
                    </a:moveTo>
                    <a:cubicBezTo>
                      <a:pt x="2299210" y="0"/>
                      <a:pt x="2628171" y="279676"/>
                      <a:pt x="2704251" y="651469"/>
                    </a:cubicBezTo>
                    <a:lnTo>
                      <a:pt x="2708467" y="693290"/>
                    </a:lnTo>
                    <a:lnTo>
                      <a:pt x="2710711" y="692073"/>
                    </a:lnTo>
                    <a:cubicBezTo>
                      <a:pt x="2808324" y="650786"/>
                      <a:pt x="2915644" y="627955"/>
                      <a:pt x="3028296" y="627955"/>
                    </a:cubicBezTo>
                    <a:cubicBezTo>
                      <a:pt x="3478906" y="627955"/>
                      <a:pt x="3844197" y="993246"/>
                      <a:pt x="3844197" y="1443856"/>
                    </a:cubicBezTo>
                    <a:cubicBezTo>
                      <a:pt x="3844197" y="1809977"/>
                      <a:pt x="3603048" y="2119774"/>
                      <a:pt x="3270920" y="2223076"/>
                    </a:cubicBezTo>
                    <a:lnTo>
                      <a:pt x="3266940" y="2224100"/>
                    </a:lnTo>
                    <a:lnTo>
                      <a:pt x="3275797" y="2234835"/>
                    </a:lnTo>
                    <a:cubicBezTo>
                      <a:pt x="3363771" y="2365054"/>
                      <a:pt x="3415140" y="2522034"/>
                      <a:pt x="3415140" y="2691013"/>
                    </a:cubicBezTo>
                    <a:cubicBezTo>
                      <a:pt x="3415140" y="3141623"/>
                      <a:pt x="3049849" y="3506914"/>
                      <a:pt x="2599239" y="3506914"/>
                    </a:cubicBezTo>
                    <a:cubicBezTo>
                      <a:pt x="2317608" y="3506914"/>
                      <a:pt x="2069304" y="3364222"/>
                      <a:pt x="1922681" y="3147191"/>
                    </a:cubicBezTo>
                    <a:lnTo>
                      <a:pt x="1921882" y="3145720"/>
                    </a:lnTo>
                    <a:lnTo>
                      <a:pt x="1921084" y="3147191"/>
                    </a:lnTo>
                    <a:cubicBezTo>
                      <a:pt x="1774461" y="3364222"/>
                      <a:pt x="1526157" y="3506914"/>
                      <a:pt x="1244526" y="3506914"/>
                    </a:cubicBezTo>
                    <a:cubicBezTo>
                      <a:pt x="793916" y="3506914"/>
                      <a:pt x="428625" y="3141623"/>
                      <a:pt x="428625" y="2691013"/>
                    </a:cubicBezTo>
                    <a:cubicBezTo>
                      <a:pt x="428625" y="2522034"/>
                      <a:pt x="479994" y="2365054"/>
                      <a:pt x="567968" y="2234835"/>
                    </a:cubicBezTo>
                    <a:lnTo>
                      <a:pt x="576901" y="2224008"/>
                    </a:lnTo>
                    <a:lnTo>
                      <a:pt x="573277" y="2223076"/>
                    </a:lnTo>
                    <a:cubicBezTo>
                      <a:pt x="241149" y="2119774"/>
                      <a:pt x="0" y="1809977"/>
                      <a:pt x="0" y="1443856"/>
                    </a:cubicBezTo>
                    <a:cubicBezTo>
                      <a:pt x="0" y="993246"/>
                      <a:pt x="365291" y="627955"/>
                      <a:pt x="815901" y="627955"/>
                    </a:cubicBezTo>
                    <a:cubicBezTo>
                      <a:pt x="900390" y="627955"/>
                      <a:pt x="981880" y="640797"/>
                      <a:pt x="1058525" y="664636"/>
                    </a:cubicBezTo>
                    <a:lnTo>
                      <a:pt x="1102646" y="680785"/>
                    </a:lnTo>
                    <a:lnTo>
                      <a:pt x="1105601" y="651469"/>
                    </a:lnTo>
                    <a:cubicBezTo>
                      <a:pt x="1181681" y="279676"/>
                      <a:pt x="1510642" y="0"/>
                      <a:pt x="1904926" y="0"/>
                    </a:cubicBezTo>
                    <a:close/>
                  </a:path>
                </a:pathLst>
              </a:custGeom>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endParaRPr lang="zh-CN" altLang="en-US" b="1" dirty="0"/>
              </a:p>
            </p:txBody>
          </p:sp>
          <p:sp>
            <p:nvSpPr>
              <p:cNvPr id="129" name="Number1"/>
              <p:cNvSpPr/>
              <p:nvPr/>
            </p:nvSpPr>
            <p:spPr>
              <a:xfrm>
                <a:off x="1482344" y="1995204"/>
                <a:ext cx="450000" cy="449593"/>
              </a:xfrm>
              <a:prstGeom prst="roundRect">
                <a:avLst>
                  <a:gd name="adj" fmla="val 50000"/>
                </a:avLst>
              </a:prstGeom>
              <a:solidFill>
                <a:schemeClr val="accent1"/>
              </a:solidFill>
              <a:ln w="26995" cap="flat">
                <a:noFill/>
                <a:prstDash val="solid"/>
                <a:miter/>
              </a:ln>
            </p:spPr>
            <p:txBody>
              <a:bodyPr rtlCol="0" anchor="ctr"/>
              <a:lstStyle/>
              <a:p>
                <a:pPr marL="0" marR="0" lvl="0" indent="0" algn="ctr"/>
                <a:r>
                  <a:rPr lang="zh-CN" altLang="en-US" sz="1600" b="1" dirty="0">
                    <a:solidFill>
                      <a:srgbClr val="FFFFFF"/>
                    </a:solidFill>
                    <a:latin typeface="Arial" panose="020B0604020202020204"/>
                    <a:ea typeface="Arial" panose="020B0604020202020204"/>
                  </a:rPr>
                  <a:t>1</a:t>
                </a:r>
                <a:endParaRPr lang="en-US" dirty="0"/>
              </a:p>
            </p:txBody>
          </p:sp>
          <p:sp>
            <p:nvSpPr>
              <p:cNvPr id="131" name="Bullet1"/>
              <p:cNvSpPr/>
              <p:nvPr/>
            </p:nvSpPr>
            <p:spPr>
              <a:xfrm>
                <a:off x="2063852" y="1815501"/>
                <a:ext cx="8426708" cy="404499"/>
              </a:xfrm>
              <a:prstGeom prst="rect">
                <a:avLst/>
              </a:prstGeom>
              <a:no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a:r>
                  <a:rPr lang="zh-CN" altLang="en-US" sz="2000" b="1" dirty="0">
                    <a:solidFill>
                      <a:schemeClr val="tx1"/>
                    </a:solidFill>
                    <a:latin typeface="Arial" panose="020B0604020202020204"/>
                    <a:ea typeface="Arial" panose="020B0604020202020204"/>
                  </a:rPr>
                  <a:t>Perform root cause analysis directly on the issue report.</a:t>
                </a:r>
                <a:endParaRPr lang="en-US" dirty="0"/>
              </a:p>
            </p:txBody>
          </p:sp>
          <p:sp>
            <p:nvSpPr>
              <p:cNvPr id="132" name="Text1"/>
              <p:cNvSpPr txBox="1"/>
              <p:nvPr/>
            </p:nvSpPr>
            <p:spPr>
              <a:xfrm>
                <a:off x="2063852" y="2220001"/>
                <a:ext cx="8426708" cy="1541781"/>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a:lnSpc>
                    <a:spcPct val="120000"/>
                  </a:lnSpc>
                </a:pPr>
                <a:r>
                  <a:rPr lang="zh-CN" altLang="en-US" sz="1400" dirty="0">
                    <a:solidFill>
                      <a:schemeClr val="tx1"/>
                    </a:solidFill>
                    <a:latin typeface="Arial" panose="020B0604020202020204"/>
                    <a:ea typeface="Arial" panose="020B0604020202020204"/>
                  </a:rPr>
                  <a:t>This is especially true when runtime monitoring data is limited or even missing.</a:t>
                </a:r>
                <a:endParaRPr lang="en-US" dirty="0"/>
              </a:p>
            </p:txBody>
          </p:sp>
        </p:grpSp>
        <p:grpSp>
          <p:nvGrpSpPr>
            <p:cNvPr id="3" name="组合 2"/>
            <p:cNvGrpSpPr/>
            <p:nvPr/>
          </p:nvGrpSpPr>
          <p:grpSpPr>
            <a:xfrm>
              <a:off x="1482494" y="2806740"/>
              <a:ext cx="9008216" cy="1946281"/>
              <a:chOff x="1482344" y="3973456"/>
              <a:chExt cx="9008216" cy="1946281"/>
            </a:xfrm>
          </p:grpSpPr>
          <p:sp>
            <p:nvSpPr>
              <p:cNvPr id="125" name="Number2"/>
              <p:cNvSpPr/>
              <p:nvPr/>
            </p:nvSpPr>
            <p:spPr>
              <a:xfrm>
                <a:off x="1482344" y="4153159"/>
                <a:ext cx="450000" cy="449593"/>
              </a:xfrm>
              <a:prstGeom prst="roundRect">
                <a:avLst>
                  <a:gd name="adj" fmla="val 50000"/>
                </a:avLst>
              </a:prstGeom>
              <a:solidFill>
                <a:schemeClr val="accent2"/>
              </a:solidFill>
              <a:ln w="26995" cap="flat">
                <a:noFill/>
                <a:prstDash val="solid"/>
                <a:miter/>
              </a:ln>
            </p:spPr>
            <p:txBody>
              <a:bodyPr rtlCol="0" anchor="ctr"/>
              <a:lstStyle/>
              <a:p>
                <a:pPr algn="ctr"/>
                <a:r>
                  <a:rPr lang="en-US" altLang="zh-CN" sz="1600" b="1" dirty="0">
                    <a:solidFill>
                      <a:srgbClr val="FFFFFF"/>
                    </a:solidFill>
                  </a:rPr>
                  <a:t>2</a:t>
                </a:r>
                <a:endParaRPr lang="zh-CN" altLang="en-US" sz="1600" b="1" dirty="0">
                  <a:solidFill>
                    <a:srgbClr val="FFFFFF"/>
                  </a:solidFill>
                </a:endParaRPr>
              </a:p>
            </p:txBody>
          </p:sp>
          <p:sp>
            <p:nvSpPr>
              <p:cNvPr id="127" name="Bullet2"/>
              <p:cNvSpPr/>
              <p:nvPr/>
            </p:nvSpPr>
            <p:spPr>
              <a:xfrm>
                <a:off x="2063852" y="3973456"/>
                <a:ext cx="8426708" cy="404499"/>
              </a:xfrm>
              <a:prstGeom prst="rect">
                <a:avLst/>
              </a:prstGeom>
              <a:no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a:r>
                  <a:rPr lang="zh-CN" altLang="en-US" sz="2000" b="1" dirty="0">
                    <a:solidFill>
                      <a:schemeClr val="tx1"/>
                    </a:solidFill>
                    <a:latin typeface="Arial" panose="020B0604020202020204"/>
                    <a:ea typeface="Arial" panose="020B0604020202020204"/>
                  </a:rPr>
                  <a:t>Problem</a:t>
                </a:r>
                <a:endParaRPr lang="en-US" dirty="0"/>
              </a:p>
            </p:txBody>
          </p:sp>
          <p:sp>
            <p:nvSpPr>
              <p:cNvPr id="128" name="Text2"/>
              <p:cNvSpPr txBox="1"/>
              <p:nvPr/>
            </p:nvSpPr>
            <p:spPr>
              <a:xfrm>
                <a:off x="2063852" y="4377956"/>
                <a:ext cx="8426708" cy="1541781"/>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a:lnSpc>
                    <a:spcPct val="120000"/>
                  </a:lnSpc>
                </a:pPr>
                <a:r>
                  <a:rPr lang="zh-CN" altLang="en-US" sz="1400" dirty="0">
                    <a:solidFill>
                      <a:schemeClr val="tx1"/>
                    </a:solidFill>
                    <a:latin typeface="Arial" panose="020B0604020202020204"/>
                    <a:ea typeface="Arial" panose="020B0604020202020204"/>
                  </a:rPr>
                  <a:t>this approach still faces a fundamental problem: user-submitted issue reports are often incomplete or even vague.</a:t>
                </a:r>
                <a:endParaRPr lang="en-US" dirty="0"/>
              </a:p>
              <a:p>
                <a:pPr marL="0" marR="0" lvl="0" indent="0" algn="l">
                  <a:lnSpc>
                    <a:spcPct val="120000"/>
                  </a:lnSpc>
                </a:pPr>
                <a:endParaRPr lang="en-US" dirty="0"/>
              </a:p>
              <a:p>
                <a:pPr marL="0" marR="0" lvl="0" indent="0" algn="l">
                  <a:lnSpc>
                    <a:spcPct val="120000"/>
                  </a:lnSpc>
                </a:pPr>
                <a:r>
                  <a:rPr lang="zh-CN" altLang="en-US" sz="1400" dirty="0">
                    <a:solidFill>
                      <a:schemeClr val="tx1"/>
                    </a:solidFill>
                    <a:latin typeface="Arial" panose="020B0604020202020204"/>
                    <a:ea typeface="Arial" panose="020B0604020202020204"/>
                  </a:rPr>
                  <a:t>Users typically only describe the fault symptoms and attach fragments of logs,but rarely accurately describe the system's actual execution logic before the failure.</a:t>
                </a:r>
                <a:endParaRPr lang="en-US" dirty="0"/>
              </a:p>
            </p:txBody>
          </p:sp>
        </p:grpSp>
      </p:grpSp>
      <p:sp>
        <p:nvSpPr>
          <p:cNvPr id="5" name="标题 4"/>
          <p:cNvSpPr>
            <a:spLocks noGrp="1"/>
          </p:cNvSpPr>
          <p:nvPr>
            <p:ph type="title" hasCustomPrompt="1"/>
          </p:nvPr>
        </p:nvSpPr>
        <p:spPr/>
        <p:txBody>
          <a:bodyPr>
            <a:normAutofit/>
          </a:bodyPr>
          <a:lstStyle/>
          <a:p>
            <a:pPr marL="0" marR="0" lvl="0" indent="0" algn="l">
              <a:lnSpc>
                <a:spcPct val="100000"/>
              </a:lnSpc>
            </a:pPr>
            <a:r>
              <a:rPr lang="zh-CN" altLang="en-US" sz="2800" b="1" dirty="0">
                <a:solidFill>
                  <a:schemeClr val="accent1"/>
                </a:solidFill>
              </a:rPr>
              <a:t>Background</a:t>
            </a:r>
            <a:endParaRPr lang="en-US" dirty="0"/>
          </a:p>
        </p:txBody>
      </p:sp>
      <p:sp>
        <p:nvSpPr>
          <p:cNvPr id="135" name="文本框"/>
          <p:cNvSpPr txBox="1"/>
          <p:nvPr/>
        </p:nvSpPr>
        <p:spPr>
          <a:xfrm>
            <a:off x="2678300" y="1653989"/>
            <a:ext cx="5492475" cy="379350"/>
          </a:xfrm>
          <a:prstGeom prst="rect">
            <a:avLst/>
          </a:prstGeom>
          <a:noFill/>
        </p:spPr>
        <p:txBody>
          <a:bodyPr wrap="none" rtlCol="0">
            <a:spAutoFit/>
          </a:bodyPr>
          <a:lstStyle/>
          <a:p>
            <a:pPr marL="0" marR="0" lvl="0" indent="0" algn="l">
              <a:lnSpc>
                <a:spcPct val="120000"/>
              </a:lnSpc>
            </a:pPr>
            <a:r>
              <a:rPr lang="zh-CN" altLang="en-US" sz="1600" b="1" dirty="0">
                <a:solidFill>
                  <a:schemeClr val="tx1"/>
                </a:solidFill>
              </a:rPr>
              <a:t>The development of large language models is rapid.</a:t>
            </a:r>
            <a:endParaRPr lang="en-US" dirty="0"/>
          </a:p>
        </p:txBody>
      </p:sp>
      <p:sp>
        <p:nvSpPr>
          <p:cNvPr id="136" name="文本框"/>
          <p:cNvSpPr txBox="1"/>
          <p:nvPr/>
        </p:nvSpPr>
        <p:spPr>
          <a:xfrm>
            <a:off x="2817543" y="5518567"/>
            <a:ext cx="5521050" cy="341250"/>
          </a:xfrm>
          <a:prstGeom prst="rect">
            <a:avLst/>
          </a:prstGeom>
          <a:noFill/>
        </p:spPr>
        <p:txBody>
          <a:bodyPr wrap="none" rtlCol="0">
            <a:spAutoFit/>
          </a:bodyPr>
          <a:lstStyle/>
          <a:p>
            <a:pPr marL="0" marR="0" lvl="0" indent="0" algn="l">
              <a:lnSpc>
                <a:spcPct val="120000"/>
              </a:lnSpc>
            </a:pPr>
            <a:r>
              <a:rPr lang="zh-CN" altLang="en-US" sz="1400" b="1" dirty="0">
                <a:solidFill>
                  <a:schemeClr val="tx1"/>
                </a:solidFill>
              </a:rPr>
              <a:t>significantly limits the accuracy of LLM's root cause analysis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bc441954-5502-4bf5-ad58-7e6e78906d8a.source.5.zh-Hans.pptx"/>
          <p:cNvGrpSpPr/>
          <p:nvPr/>
        </p:nvGrpSpPr>
        <p:grpSpPr>
          <a:xfrm>
            <a:off x="-157507" y="69529"/>
            <a:ext cx="11518900" cy="6171334"/>
            <a:chOff x="0" y="0"/>
            <a:chExt cx="11518900" cy="6171334"/>
          </a:xfrm>
        </p:grpSpPr>
        <p:sp>
          <p:nvSpPr>
            <p:cNvPr id="103" name="任意多边形: 形状 102"/>
            <p:cNvSpPr/>
            <p:nvPr/>
          </p:nvSpPr>
          <p:spPr>
            <a:xfrm>
              <a:off x="0" y="0"/>
              <a:ext cx="11452487" cy="6171334"/>
            </a:xfrm>
            <a:custGeom>
              <a:avLst/>
              <a:gdLst>
                <a:gd name="connsiteX0" fmla="*/ 11253559 w 11452487"/>
                <a:gd name="connsiteY0" fmla="*/ 0 h 6171334"/>
                <a:gd name="connsiteX1" fmla="*/ 11452487 w 11452487"/>
                <a:gd name="connsiteY1" fmla="*/ 0 h 6171334"/>
                <a:gd name="connsiteX2" fmla="*/ 11357560 w 11452487"/>
                <a:gd name="connsiteY2" fmla="*/ 67593 h 6171334"/>
                <a:gd name="connsiteX3" fmla="*/ 10356819 w 11452487"/>
                <a:gd name="connsiteY3" fmla="*/ 1028512 h 6171334"/>
                <a:gd name="connsiteX4" fmla="*/ 8203539 w 11452487"/>
                <a:gd name="connsiteY4" fmla="*/ 1956880 h 6171334"/>
                <a:gd name="connsiteX5" fmla="*/ 6515173 w 11452487"/>
                <a:gd name="connsiteY5" fmla="*/ 3875096 h 6171334"/>
                <a:gd name="connsiteX6" fmla="*/ 4508709 w 11452487"/>
                <a:gd name="connsiteY6" fmla="*/ 4662056 h 6171334"/>
                <a:gd name="connsiteX7" fmla="*/ 2508360 w 11452487"/>
                <a:gd name="connsiteY7" fmla="*/ 6094569 h 6171334"/>
                <a:gd name="connsiteX8" fmla="*/ 465190 w 11452487"/>
                <a:gd name="connsiteY8" fmla="*/ 6076126 h 6171334"/>
                <a:gd name="connsiteX9" fmla="*/ 80340 w 11452487"/>
                <a:gd name="connsiteY9" fmla="*/ 6048027 h 6171334"/>
                <a:gd name="connsiteX10" fmla="*/ 0 w 11452487"/>
                <a:gd name="connsiteY10" fmla="*/ 6058190 h 6171334"/>
                <a:gd name="connsiteX11" fmla="*/ 0 w 11452487"/>
                <a:gd name="connsiteY11" fmla="*/ 5951877 h 6171334"/>
                <a:gd name="connsiteX12" fmla="*/ 13217 w 11452487"/>
                <a:gd name="connsiteY12" fmla="*/ 5950206 h 6171334"/>
                <a:gd name="connsiteX13" fmla="*/ 398067 w 11452487"/>
                <a:gd name="connsiteY13" fmla="*/ 5978305 h 6171334"/>
                <a:gd name="connsiteX14" fmla="*/ 2441237 w 11452487"/>
                <a:gd name="connsiteY14" fmla="*/ 5996748 h 6171334"/>
                <a:gd name="connsiteX15" fmla="*/ 4441585 w 11452487"/>
                <a:gd name="connsiteY15" fmla="*/ 4564235 h 6171334"/>
                <a:gd name="connsiteX16" fmla="*/ 6448050 w 11452487"/>
                <a:gd name="connsiteY16" fmla="*/ 3777274 h 6171334"/>
                <a:gd name="connsiteX17" fmla="*/ 8136416 w 11452487"/>
                <a:gd name="connsiteY17" fmla="*/ 1859058 h 6171334"/>
                <a:gd name="connsiteX18" fmla="*/ 10289696 w 11452487"/>
                <a:gd name="connsiteY18" fmla="*/ 930691 h 6171334"/>
                <a:gd name="connsiteX19" fmla="*/ 11147862 w 11452487"/>
                <a:gd name="connsiteY19" fmla="*/ 85037 h 6171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452487" h="6171334">
                  <a:moveTo>
                    <a:pt x="11253559" y="0"/>
                  </a:moveTo>
                  <a:lnTo>
                    <a:pt x="11452487" y="0"/>
                  </a:lnTo>
                  <a:lnTo>
                    <a:pt x="11357560" y="67593"/>
                  </a:lnTo>
                  <a:cubicBezTo>
                    <a:pt x="11052382" y="302280"/>
                    <a:pt x="10723688" y="637033"/>
                    <a:pt x="10356819" y="1028512"/>
                  </a:cubicBezTo>
                  <a:cubicBezTo>
                    <a:pt x="9861320" y="1557251"/>
                    <a:pt x="9200654" y="1735547"/>
                    <a:pt x="8203539" y="1956880"/>
                  </a:cubicBezTo>
                  <a:cubicBezTo>
                    <a:pt x="7122128" y="2196903"/>
                    <a:pt x="7041258" y="3161914"/>
                    <a:pt x="6515173" y="3875096"/>
                  </a:cubicBezTo>
                  <a:cubicBezTo>
                    <a:pt x="5989087" y="4588279"/>
                    <a:pt x="5120435" y="4385391"/>
                    <a:pt x="4508709" y="4662056"/>
                  </a:cubicBezTo>
                  <a:cubicBezTo>
                    <a:pt x="3896980" y="4938722"/>
                    <a:pt x="3181259" y="5959311"/>
                    <a:pt x="2508360" y="6094569"/>
                  </a:cubicBezTo>
                  <a:cubicBezTo>
                    <a:pt x="1835459" y="6229830"/>
                    <a:pt x="887282" y="6162199"/>
                    <a:pt x="465190" y="6076126"/>
                  </a:cubicBezTo>
                  <a:cubicBezTo>
                    <a:pt x="306906" y="6043848"/>
                    <a:pt x="178730" y="6040102"/>
                    <a:pt x="80340" y="6048027"/>
                  </a:cubicBezTo>
                  <a:lnTo>
                    <a:pt x="0" y="6058190"/>
                  </a:lnTo>
                  <a:lnTo>
                    <a:pt x="0" y="5951877"/>
                  </a:lnTo>
                  <a:lnTo>
                    <a:pt x="13217" y="5950206"/>
                  </a:lnTo>
                  <a:cubicBezTo>
                    <a:pt x="111607" y="5942281"/>
                    <a:pt x="239783" y="5946027"/>
                    <a:pt x="398067" y="5978305"/>
                  </a:cubicBezTo>
                  <a:cubicBezTo>
                    <a:pt x="820159" y="6064378"/>
                    <a:pt x="1768336" y="6132008"/>
                    <a:pt x="2441237" y="5996748"/>
                  </a:cubicBezTo>
                  <a:cubicBezTo>
                    <a:pt x="3114136" y="5861490"/>
                    <a:pt x="3829857" y="4840901"/>
                    <a:pt x="4441585" y="4564235"/>
                  </a:cubicBezTo>
                  <a:cubicBezTo>
                    <a:pt x="5053312" y="4287570"/>
                    <a:pt x="5921964" y="4490458"/>
                    <a:pt x="6448050" y="3777274"/>
                  </a:cubicBezTo>
                  <a:cubicBezTo>
                    <a:pt x="6974135" y="3064092"/>
                    <a:pt x="7055005" y="2099082"/>
                    <a:pt x="8136416" y="1859058"/>
                  </a:cubicBezTo>
                  <a:cubicBezTo>
                    <a:pt x="9133531" y="1637726"/>
                    <a:pt x="9794197" y="1459430"/>
                    <a:pt x="10289696" y="930691"/>
                  </a:cubicBezTo>
                  <a:cubicBezTo>
                    <a:pt x="10600123" y="599439"/>
                    <a:pt x="10883219" y="308802"/>
                    <a:pt x="11147862" y="85037"/>
                  </a:cubicBezTo>
                  <a:close/>
                </a:path>
              </a:pathLst>
            </a:custGeom>
            <a:solidFill>
              <a:schemeClr val="accent1">
                <a:alpha val="15000"/>
              </a:schemeClr>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defTabSz="895350">
                <a:buSzPct val="120000"/>
              </a:pPr>
              <a:endParaRPr lang="zh-CN" altLang="en-US" sz="1600">
                <a:solidFill>
                  <a:schemeClr val="lt1"/>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53" name="Line2"/>
            <p:cNvCxnSpPr>
              <a:stCxn id="54" idx="3"/>
              <a:endCxn id="55" idx="2"/>
            </p:cNvCxnSpPr>
            <p:nvPr/>
          </p:nvCxnSpPr>
          <p:spPr>
            <a:xfrm>
              <a:off x="4557282" y="3108373"/>
              <a:ext cx="2209121" cy="0"/>
            </a:xfrm>
            <a:prstGeom prst="line">
              <a:avLst/>
            </a:prstGeom>
            <a:ln w="19050">
              <a:solidFill>
                <a:schemeClr val="accent1">
                  <a:alpha val="70000"/>
                </a:schemeClr>
              </a:solidFill>
              <a:prstDash val="sysDot"/>
            </a:ln>
          </p:spPr>
          <p:style>
            <a:lnRef idx="1">
              <a:schemeClr val="accent1"/>
            </a:lnRef>
            <a:fillRef idx="0">
              <a:schemeClr val="accent1"/>
            </a:fillRef>
            <a:effectRef idx="0">
              <a:schemeClr val="accent1"/>
            </a:effectRef>
            <a:fontRef idx="minor">
              <a:schemeClr val="tx1"/>
            </a:fontRef>
          </p:style>
        </p:cxnSp>
        <p:sp>
          <p:nvSpPr>
            <p:cNvPr id="61" name="Title"/>
            <p:cNvSpPr/>
            <p:nvPr/>
          </p:nvSpPr>
          <p:spPr>
            <a:xfrm>
              <a:off x="660400" y="1130300"/>
              <a:ext cx="2547257" cy="1424214"/>
            </a:xfrm>
            <a:prstGeom prst="roundRect">
              <a:avLst>
                <a:gd name="adj" fmla="val 0"/>
              </a:avLst>
            </a:prstGeom>
            <a:no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rmAutofit/>
            </a:bodyPr>
            <a:lstStyle/>
            <a:p>
              <a:pPr marL="0" marR="0" lvl="0" indent="0" algn="l"/>
              <a:endParaRPr lang="en-US" dirty="0"/>
            </a:p>
          </p:txBody>
        </p:sp>
        <p:cxnSp>
          <p:nvCxnSpPr>
            <p:cNvPr id="73" name="Line2"/>
            <p:cNvCxnSpPr>
              <a:stCxn id="74" idx="3"/>
              <a:endCxn id="75" idx="2"/>
            </p:cNvCxnSpPr>
            <p:nvPr/>
          </p:nvCxnSpPr>
          <p:spPr>
            <a:xfrm>
              <a:off x="3438230" y="4440058"/>
              <a:ext cx="1439501" cy="0"/>
            </a:xfrm>
            <a:prstGeom prst="line">
              <a:avLst/>
            </a:prstGeom>
            <a:ln w="19050">
              <a:solidFill>
                <a:schemeClr val="accent1">
                  <a:alpha val="7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Line2"/>
            <p:cNvCxnSpPr>
              <a:stCxn id="86" idx="3"/>
              <a:endCxn id="87" idx="2"/>
            </p:cNvCxnSpPr>
            <p:nvPr/>
          </p:nvCxnSpPr>
          <p:spPr>
            <a:xfrm>
              <a:off x="6311696" y="1681981"/>
              <a:ext cx="2764111" cy="0"/>
            </a:xfrm>
            <a:prstGeom prst="line">
              <a:avLst/>
            </a:prstGeom>
            <a:ln w="19050">
              <a:solidFill>
                <a:schemeClr val="accent1">
                  <a:alpha val="7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Line2"/>
            <p:cNvCxnSpPr>
              <a:stCxn id="92" idx="3"/>
              <a:endCxn id="93" idx="2"/>
            </p:cNvCxnSpPr>
            <p:nvPr/>
          </p:nvCxnSpPr>
          <p:spPr>
            <a:xfrm flipH="1">
              <a:off x="6286029" y="4160296"/>
              <a:ext cx="373971" cy="0"/>
            </a:xfrm>
            <a:prstGeom prst="line">
              <a:avLst/>
            </a:prstGeom>
            <a:ln w="19050">
              <a:solidFill>
                <a:schemeClr val="accent1">
                  <a:alpha val="7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112" name="组合 111"/>
            <p:cNvGrpSpPr/>
            <p:nvPr/>
          </p:nvGrpSpPr>
          <p:grpSpPr>
            <a:xfrm>
              <a:off x="3533866" y="1377043"/>
              <a:ext cx="5829941" cy="1262261"/>
              <a:chOff x="3533866" y="1377043"/>
              <a:chExt cx="5829941" cy="1262261"/>
            </a:xfrm>
          </p:grpSpPr>
          <p:sp>
            <p:nvSpPr>
              <p:cNvPr id="86" name="Bullet1"/>
              <p:cNvSpPr>
                <a:spLocks noChangeArrowheads="1"/>
              </p:cNvSpPr>
              <p:nvPr/>
            </p:nvSpPr>
            <p:spPr bwMode="auto">
              <a:xfrm>
                <a:off x="3533866" y="1377043"/>
                <a:ext cx="2777830" cy="609876"/>
              </a:xfrm>
              <a:prstGeom prst="roundRect">
                <a:avLst>
                  <a:gd name="adj" fmla="val 11330"/>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p>
                <a:pPr marL="0" marR="0" lvl="0" indent="0" algn="l"/>
                <a:r>
                  <a:rPr lang="zh-CN" altLang="en-US" sz="1800" b="1" dirty="0">
                    <a:solidFill>
                      <a:srgbClr val="FFFFFF"/>
                    </a:solidFill>
                  </a:rPr>
                  <a:t>Root Cause Identification</a:t>
                </a:r>
                <a:endParaRPr lang="en-US" dirty="0"/>
              </a:p>
            </p:txBody>
          </p:sp>
          <p:sp>
            <p:nvSpPr>
              <p:cNvPr id="87" name="Shape1"/>
              <p:cNvSpPr>
                <a:spLocks noChangeAspect="1"/>
              </p:cNvSpPr>
              <p:nvPr/>
            </p:nvSpPr>
            <p:spPr>
              <a:xfrm>
                <a:off x="9075807" y="1537981"/>
                <a:ext cx="288000" cy="288000"/>
              </a:xfrm>
              <a:prstGeom prst="ellipse">
                <a:avLst/>
              </a:prstGeom>
              <a:solidFill>
                <a:schemeClr val="accent1"/>
              </a:solidFill>
              <a:ln w="5715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7500" lnSpcReduction="20000"/>
              </a:bodyPr>
              <a:lstStyle/>
              <a:p>
                <a:pPr defTabSz="913765"/>
                <a:endParaRPr lang="zh-CN" altLang="en-US" b="1">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09" name="组合 108"/>
            <p:cNvGrpSpPr/>
            <p:nvPr/>
          </p:nvGrpSpPr>
          <p:grpSpPr>
            <a:xfrm>
              <a:off x="1779452" y="2803435"/>
              <a:ext cx="5274951" cy="1262261"/>
              <a:chOff x="1779452" y="2803435"/>
              <a:chExt cx="5274951" cy="1262261"/>
            </a:xfrm>
          </p:grpSpPr>
          <p:sp>
            <p:nvSpPr>
              <p:cNvPr id="54" name="Bullet2"/>
              <p:cNvSpPr>
                <a:spLocks noChangeArrowheads="1"/>
              </p:cNvSpPr>
              <p:nvPr/>
            </p:nvSpPr>
            <p:spPr bwMode="auto">
              <a:xfrm>
                <a:off x="1779452" y="2803435"/>
                <a:ext cx="2777830" cy="609876"/>
              </a:xfrm>
              <a:prstGeom prst="roundRect">
                <a:avLst>
                  <a:gd name="adj" fmla="val 11330"/>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p>
                <a:pPr marL="0" marR="0" lvl="0" indent="0" algn="l"/>
                <a:r>
                  <a:rPr lang="zh-CN" altLang="en-US" sz="1800" b="1" dirty="0">
                    <a:solidFill>
                      <a:srgbClr val="FFFFFF"/>
                    </a:solidFill>
                  </a:rPr>
                  <a:t>Reconstruct execution paths</a:t>
                </a:r>
                <a:endParaRPr lang="en-US" dirty="0"/>
              </a:p>
            </p:txBody>
          </p:sp>
          <p:sp>
            <p:nvSpPr>
              <p:cNvPr id="55" name="Shape2"/>
              <p:cNvSpPr>
                <a:spLocks noChangeAspect="1"/>
              </p:cNvSpPr>
              <p:nvPr/>
            </p:nvSpPr>
            <p:spPr>
              <a:xfrm>
                <a:off x="6766403" y="2964373"/>
                <a:ext cx="288000" cy="288000"/>
              </a:xfrm>
              <a:prstGeom prst="ellipse">
                <a:avLst/>
              </a:prstGeom>
              <a:solidFill>
                <a:schemeClr val="accent1"/>
              </a:solidFill>
              <a:ln w="5715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7500" lnSpcReduction="20000"/>
              </a:bodyPr>
              <a:lstStyle/>
              <a:p>
                <a:pPr defTabSz="913765"/>
                <a:endParaRPr lang="zh-CN" altLang="en-US" b="1">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10" name="组合 109"/>
            <p:cNvGrpSpPr/>
            <p:nvPr/>
          </p:nvGrpSpPr>
          <p:grpSpPr>
            <a:xfrm>
              <a:off x="660400" y="4135120"/>
              <a:ext cx="4505331" cy="1755140"/>
              <a:chOff x="660400" y="4135120"/>
              <a:chExt cx="4505331" cy="1755140"/>
            </a:xfrm>
          </p:grpSpPr>
          <p:sp>
            <p:nvSpPr>
              <p:cNvPr id="74" name="Bullet3"/>
              <p:cNvSpPr>
                <a:spLocks noChangeArrowheads="1"/>
              </p:cNvSpPr>
              <p:nvPr/>
            </p:nvSpPr>
            <p:spPr bwMode="auto">
              <a:xfrm>
                <a:off x="660400" y="4135120"/>
                <a:ext cx="2777830" cy="609876"/>
              </a:xfrm>
              <a:prstGeom prst="roundRect">
                <a:avLst>
                  <a:gd name="adj" fmla="val 11330"/>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l"/>
                <a:r>
                  <a:rPr lang="zh-CN" altLang="en-US" sz="1800" b="1" dirty="0">
                    <a:solidFill>
                      <a:srgbClr val="FFFFFF"/>
                    </a:solidFill>
                  </a:rPr>
                  <a:t>Issue Report </a:t>
                </a:r>
                <a:endParaRPr lang="en-US" dirty="0"/>
              </a:p>
            </p:txBody>
          </p:sp>
          <p:sp>
            <p:nvSpPr>
              <p:cNvPr id="75" name="Shape3"/>
              <p:cNvSpPr>
                <a:spLocks noChangeAspect="1"/>
              </p:cNvSpPr>
              <p:nvPr/>
            </p:nvSpPr>
            <p:spPr>
              <a:xfrm>
                <a:off x="4877731" y="4296058"/>
                <a:ext cx="288000" cy="288000"/>
              </a:xfrm>
              <a:prstGeom prst="ellipse">
                <a:avLst/>
              </a:prstGeom>
              <a:solidFill>
                <a:schemeClr val="accent1"/>
              </a:solidFill>
              <a:ln w="5715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7500" lnSpcReduction="20000"/>
              </a:bodyPr>
              <a:lstStyle/>
              <a:p>
                <a:pPr defTabSz="913765"/>
                <a:endParaRPr lang="zh-CN" altLang="en-US" b="1">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14" name="组合 113"/>
            <p:cNvGrpSpPr/>
            <p:nvPr/>
          </p:nvGrpSpPr>
          <p:grpSpPr>
            <a:xfrm>
              <a:off x="7916030" y="1760776"/>
              <a:ext cx="3602870" cy="1767284"/>
              <a:chOff x="7916030" y="1760776"/>
              <a:chExt cx="3602870" cy="1767284"/>
            </a:xfrm>
          </p:grpSpPr>
          <p:sp>
            <p:nvSpPr>
              <p:cNvPr id="98" name="Bullet4"/>
              <p:cNvSpPr>
                <a:spLocks noChangeArrowheads="1"/>
              </p:cNvSpPr>
              <p:nvPr/>
            </p:nvSpPr>
            <p:spPr bwMode="auto">
              <a:xfrm flipH="1">
                <a:off x="7916030" y="2176418"/>
                <a:ext cx="2777830" cy="609876"/>
              </a:xfrm>
              <a:prstGeom prst="roundRect">
                <a:avLst>
                  <a:gd name="adj" fmla="val 11330"/>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7220" lnSpcReduction="20000"/>
              </a:bodyPr>
              <a:lstStyle/>
              <a:p>
                <a:pPr marL="0" marR="0" lvl="0" indent="0" algn="l"/>
                <a:r>
                  <a:rPr lang="zh-CN" altLang="en-US" sz="1800" b="1" dirty="0">
                    <a:solidFill>
                      <a:srgbClr val="FFFFFF"/>
                    </a:solidFill>
                  </a:rPr>
                  <a:t>LLM reasoning on code + text</a:t>
                </a:r>
                <a:endParaRPr lang="en-US" dirty="0"/>
              </a:p>
              <a:p>
                <a:pPr marL="0" marR="0" lvl="0" indent="0" algn="l"/>
                <a:r>
                  <a:rPr lang="zh-CN" altLang="en-US" sz="1800" b="1" dirty="0">
                    <a:solidFill>
                      <a:srgbClr val="FFFFFF"/>
                    </a:solidFill>
                  </a:rPr>
                  <a:t> </a:t>
                </a:r>
                <a:endParaRPr lang="en-US" dirty="0"/>
              </a:p>
            </p:txBody>
          </p:sp>
          <p:sp>
            <p:nvSpPr>
              <p:cNvPr id="99" name="Shape4"/>
              <p:cNvSpPr>
                <a:spLocks noChangeAspect="1"/>
              </p:cNvSpPr>
              <p:nvPr/>
            </p:nvSpPr>
            <p:spPr>
              <a:xfrm flipH="1">
                <a:off x="7953829" y="1760776"/>
                <a:ext cx="288000" cy="288000"/>
              </a:xfrm>
              <a:prstGeom prst="ellipse">
                <a:avLst/>
              </a:prstGeom>
              <a:solidFill>
                <a:schemeClr val="accent1"/>
              </a:solidFill>
              <a:ln w="5715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7500" lnSpcReduction="20000"/>
              </a:bodyPr>
              <a:lstStyle/>
              <a:p>
                <a:pPr defTabSz="913765"/>
                <a:endParaRPr lang="zh-CN" altLang="en-US" b="1">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13" name="组合 112"/>
            <p:cNvGrpSpPr/>
            <p:nvPr/>
          </p:nvGrpSpPr>
          <p:grpSpPr>
            <a:xfrm>
              <a:off x="5998029" y="3855358"/>
              <a:ext cx="3754814" cy="609876"/>
              <a:chOff x="6239329" y="3588658"/>
              <a:chExt cx="3754814" cy="609876"/>
            </a:xfrm>
          </p:grpSpPr>
          <p:sp>
            <p:nvSpPr>
              <p:cNvPr id="92" name="Bullet5"/>
              <p:cNvSpPr>
                <a:spLocks noChangeArrowheads="1"/>
              </p:cNvSpPr>
              <p:nvPr/>
            </p:nvSpPr>
            <p:spPr bwMode="auto">
              <a:xfrm flipH="1">
                <a:off x="6901300" y="3588658"/>
                <a:ext cx="3092843" cy="609876"/>
              </a:xfrm>
              <a:prstGeom prst="roundRect">
                <a:avLst>
                  <a:gd name="adj" fmla="val 11330"/>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0830" lnSpcReduction="20000"/>
              </a:bodyPr>
              <a:lstStyle/>
              <a:p>
                <a:pPr marL="0" marR="0" lvl="0" indent="0" algn="l"/>
                <a:r>
                  <a:rPr lang="zh-CN" altLang="en-US" sz="1800" b="1" dirty="0">
                    <a:solidFill>
                      <a:srgbClr val="FFFFFF"/>
                    </a:solidFill>
                  </a:rPr>
                  <a:t>Retrieve relevant source code</a:t>
                </a:r>
                <a:endParaRPr lang="en-US" dirty="0"/>
              </a:p>
              <a:p>
                <a:pPr marL="0" marR="0" lvl="0" indent="0" algn="l"/>
                <a:r>
                  <a:rPr lang="zh-CN" altLang="en-US" sz="1800" b="1" dirty="0">
                    <a:solidFill>
                      <a:srgbClr val="FFFFFF"/>
                    </a:solidFill>
                  </a:rPr>
                  <a:t> </a:t>
                </a:r>
                <a:endParaRPr lang="en-US" dirty="0"/>
              </a:p>
            </p:txBody>
          </p:sp>
          <p:sp>
            <p:nvSpPr>
              <p:cNvPr id="93" name="Shape5"/>
              <p:cNvSpPr>
                <a:spLocks noChangeAspect="1"/>
              </p:cNvSpPr>
              <p:nvPr/>
            </p:nvSpPr>
            <p:spPr>
              <a:xfrm flipH="1">
                <a:off x="6239329" y="3749596"/>
                <a:ext cx="288000" cy="288000"/>
              </a:xfrm>
              <a:prstGeom prst="ellipse">
                <a:avLst/>
              </a:prstGeom>
              <a:solidFill>
                <a:schemeClr val="accent1"/>
              </a:solidFill>
              <a:ln w="5715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7500" lnSpcReduction="20000"/>
              </a:bodyPr>
              <a:lstStyle/>
              <a:p>
                <a:pPr defTabSz="913765"/>
                <a:endParaRPr lang="zh-CN" altLang="en-US" b="1">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3" name="标题 2"/>
          <p:cNvSpPr>
            <a:spLocks noGrp="1"/>
          </p:cNvSpPr>
          <p:nvPr>
            <p:ph type="title" hasCustomPrompt="1"/>
          </p:nvPr>
        </p:nvSpPr>
        <p:spPr/>
        <p:txBody>
          <a:bodyPr>
            <a:normAutofit/>
          </a:bodyPr>
          <a:lstStyle/>
          <a:p>
            <a:pPr marL="0" marR="0" lvl="0" indent="0" algn="l">
              <a:lnSpc>
                <a:spcPct val="100000"/>
              </a:lnSpc>
            </a:pPr>
            <a:r>
              <a:rPr lang="zh-CN" altLang="en-US" sz="2800" b="1" dirty="0">
                <a:solidFill>
                  <a:schemeClr val="accent1"/>
                </a:solidFill>
              </a:rPr>
              <a:t>COCA</a:t>
            </a:r>
            <a:endParaRPr lang="en-US" dirty="0"/>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670624" y="1350075"/>
            <a:ext cx="10373287" cy="4562763"/>
            <a:chOff x="673093" y="1308626"/>
            <a:chExt cx="10373287" cy="4562763"/>
          </a:xfrm>
        </p:grpSpPr>
        <p:grpSp>
          <p:nvGrpSpPr>
            <p:cNvPr id="26" name="组合 25"/>
            <p:cNvGrpSpPr/>
            <p:nvPr/>
          </p:nvGrpSpPr>
          <p:grpSpPr>
            <a:xfrm>
              <a:off x="930085" y="1308626"/>
              <a:ext cx="5743307" cy="1735792"/>
              <a:chOff x="673101" y="2096159"/>
              <a:chExt cx="5743307" cy="1735792"/>
            </a:xfrm>
          </p:grpSpPr>
          <p:grpSp>
            <p:nvGrpSpPr>
              <p:cNvPr id="20" name="组合 19"/>
              <p:cNvGrpSpPr/>
              <p:nvPr/>
            </p:nvGrpSpPr>
            <p:grpSpPr>
              <a:xfrm>
                <a:off x="4168635" y="2096159"/>
                <a:ext cx="2247773" cy="1735792"/>
                <a:chOff x="4168635" y="2096159"/>
                <a:chExt cx="2247773" cy="1735792"/>
              </a:xfrm>
            </p:grpSpPr>
            <p:sp>
              <p:nvSpPr>
                <p:cNvPr id="14" name="任意多边形: 形状 13"/>
                <p:cNvSpPr/>
                <p:nvPr/>
              </p:nvSpPr>
              <p:spPr>
                <a:xfrm flipH="1">
                  <a:off x="4168635" y="2096159"/>
                  <a:ext cx="2247773" cy="173579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7" name="Icon1"/>
                <p:cNvSpPr/>
                <p:nvPr/>
              </p:nvSpPr>
              <p:spPr bwMode="auto">
                <a:xfrm>
                  <a:off x="4941813" y="2694219"/>
                  <a:ext cx="433256" cy="654911"/>
                </a:xfrm>
                <a:custGeom>
                  <a:avLst/>
                  <a:gdLst>
                    <a:gd name="T0" fmla="*/ 132 w 276"/>
                    <a:gd name="T1" fmla="*/ 0 h 418"/>
                    <a:gd name="T2" fmla="*/ 276 w 276"/>
                    <a:gd name="T3" fmla="*/ 113 h 418"/>
                    <a:gd name="T4" fmla="*/ 174 w 276"/>
                    <a:gd name="T5" fmla="*/ 241 h 418"/>
                    <a:gd name="T6" fmla="*/ 127 w 276"/>
                    <a:gd name="T7" fmla="*/ 289 h 418"/>
                    <a:gd name="T8" fmla="*/ 91 w 276"/>
                    <a:gd name="T9" fmla="*/ 251 h 418"/>
                    <a:gd name="T10" fmla="*/ 190 w 276"/>
                    <a:gd name="T11" fmla="*/ 113 h 418"/>
                    <a:gd name="T12" fmla="*/ 136 w 276"/>
                    <a:gd name="T13" fmla="*/ 64 h 418"/>
                    <a:gd name="T14" fmla="*/ 37 w 276"/>
                    <a:gd name="T15" fmla="*/ 139 h 418"/>
                    <a:gd name="T16" fmla="*/ 0 w 276"/>
                    <a:gd name="T17" fmla="*/ 105 h 418"/>
                    <a:gd name="T18" fmla="*/ 132 w 276"/>
                    <a:gd name="T19" fmla="*/ 0 h 418"/>
                    <a:gd name="T20" fmla="*/ 130 w 276"/>
                    <a:gd name="T21" fmla="*/ 325 h 418"/>
                    <a:gd name="T22" fmla="*/ 176 w 276"/>
                    <a:gd name="T23" fmla="*/ 372 h 418"/>
                    <a:gd name="T24" fmla="*/ 130 w 276"/>
                    <a:gd name="T25" fmla="*/ 418 h 418"/>
                    <a:gd name="T26" fmla="*/ 83 w 276"/>
                    <a:gd name="T27" fmla="*/ 372 h 418"/>
                    <a:gd name="T28" fmla="*/ 130 w 276"/>
                    <a:gd name="T29" fmla="*/ 325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6" h="418">
                      <a:moveTo>
                        <a:pt x="132" y="0"/>
                      </a:moveTo>
                      <a:cubicBezTo>
                        <a:pt x="205" y="0"/>
                        <a:pt x="276" y="33"/>
                        <a:pt x="276" y="113"/>
                      </a:cubicBezTo>
                      <a:cubicBezTo>
                        <a:pt x="276" y="186"/>
                        <a:pt x="192" y="215"/>
                        <a:pt x="174" y="241"/>
                      </a:cubicBezTo>
                      <a:cubicBezTo>
                        <a:pt x="160" y="261"/>
                        <a:pt x="165" y="289"/>
                        <a:pt x="127" y="289"/>
                      </a:cubicBezTo>
                      <a:cubicBezTo>
                        <a:pt x="103" y="289"/>
                        <a:pt x="91" y="269"/>
                        <a:pt x="91" y="251"/>
                      </a:cubicBezTo>
                      <a:cubicBezTo>
                        <a:pt x="91" y="184"/>
                        <a:pt x="190" y="168"/>
                        <a:pt x="190" y="113"/>
                      </a:cubicBezTo>
                      <a:cubicBezTo>
                        <a:pt x="190" y="82"/>
                        <a:pt x="170" y="64"/>
                        <a:pt x="136" y="64"/>
                      </a:cubicBezTo>
                      <a:cubicBezTo>
                        <a:pt x="63" y="64"/>
                        <a:pt x="92" y="139"/>
                        <a:pt x="37" y="139"/>
                      </a:cubicBezTo>
                      <a:cubicBezTo>
                        <a:pt x="17" y="139"/>
                        <a:pt x="0" y="127"/>
                        <a:pt x="0" y="105"/>
                      </a:cubicBezTo>
                      <a:cubicBezTo>
                        <a:pt x="0" y="49"/>
                        <a:pt x="63" y="0"/>
                        <a:pt x="132" y="0"/>
                      </a:cubicBezTo>
                      <a:close/>
                      <a:moveTo>
                        <a:pt x="130" y="325"/>
                      </a:moveTo>
                      <a:cubicBezTo>
                        <a:pt x="155" y="325"/>
                        <a:pt x="176" y="346"/>
                        <a:pt x="176" y="372"/>
                      </a:cubicBezTo>
                      <a:cubicBezTo>
                        <a:pt x="176" y="397"/>
                        <a:pt x="155" y="418"/>
                        <a:pt x="130" y="418"/>
                      </a:cubicBezTo>
                      <a:cubicBezTo>
                        <a:pt x="104" y="418"/>
                        <a:pt x="83" y="397"/>
                        <a:pt x="83" y="372"/>
                      </a:cubicBezTo>
                      <a:cubicBezTo>
                        <a:pt x="83" y="346"/>
                        <a:pt x="104" y="325"/>
                        <a:pt x="130" y="325"/>
                      </a:cubicBezTo>
                      <a:close/>
                    </a:path>
                  </a:pathLst>
                </a:custGeom>
                <a:solidFill>
                  <a:srgbClr val="FFFFFF"/>
                </a:solidFill>
                <a:ln>
                  <a:noFill/>
                </a:ln>
              </p:spPr>
              <p:txBody>
                <a:bodyPr wrap="square" lIns="91440" tIns="45720" rIns="91440" bIns="45720" anchor="ctr">
                  <a:normAutofit/>
                </a:bodyPr>
                <a:lstStyle/>
                <a:p>
                  <a:pPr algn="ctr"/>
                  <a:endParaRPr/>
                </a:p>
              </p:txBody>
            </p:sp>
          </p:grpSp>
          <p:grpSp>
            <p:nvGrpSpPr>
              <p:cNvPr id="23" name="组合 22"/>
              <p:cNvGrpSpPr/>
              <p:nvPr/>
            </p:nvGrpSpPr>
            <p:grpSpPr>
              <a:xfrm>
                <a:off x="673101" y="2273195"/>
                <a:ext cx="3679252" cy="1381721"/>
                <a:chOff x="673101" y="2273195"/>
                <a:chExt cx="3679252" cy="1381721"/>
              </a:xfrm>
            </p:grpSpPr>
            <p:sp>
              <p:nvSpPr>
                <p:cNvPr id="12" name="Text1"/>
                <p:cNvSpPr txBox="1"/>
                <p:nvPr/>
              </p:nvSpPr>
              <p:spPr>
                <a:xfrm>
                  <a:off x="673101" y="2719959"/>
                  <a:ext cx="3679252" cy="934957"/>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a:lnSpc>
                      <a:spcPct val="120000"/>
                    </a:lnSpc>
                    <a:buFont typeface="Arial" panose="020B0604020202020204" pitchFamily="34" charset="0"/>
                    <a:buChar char="•"/>
                  </a:pPr>
                  <a:r>
                    <a:rPr lang="zh-CN" altLang="en-US" sz="1000" dirty="0">
                      <a:solidFill>
                        <a:schemeClr val="tx1"/>
                      </a:solidFill>
                      <a:latin typeface="Arial" panose="020B0604020202020204"/>
                      <a:ea typeface="Arial" panose="020B0604020202020204"/>
                    </a:rPr>
                    <a:t>Runtime logs often differ from logging statements in code</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000" dirty="0">
                      <a:solidFill>
                        <a:schemeClr val="tx1"/>
                      </a:solidFill>
                      <a:latin typeface="Arial" panose="020B0604020202020204"/>
                      <a:ea typeface="Arial" panose="020B0604020202020204"/>
                    </a:rPr>
                    <a:t>Missing metadata (e.g., line numbers) in real-world systems</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000" dirty="0">
                      <a:solidFill>
                        <a:schemeClr val="tx1"/>
                      </a:solidFill>
                      <a:latin typeface="Arial" panose="020B0604020202020204"/>
                      <a:ea typeface="Arial" panose="020B0604020202020204"/>
                    </a:rPr>
                    <a:t>Dynamic variables and multiple branches make matching difficult</a:t>
                  </a:r>
                  <a:endParaRPr lang="en-US" dirty="0"/>
                </a:p>
              </p:txBody>
            </p:sp>
            <p:sp>
              <p:nvSpPr>
                <p:cNvPr id="13" name="Bullet1"/>
                <p:cNvSpPr/>
                <p:nvPr/>
              </p:nvSpPr>
              <p:spPr>
                <a:xfrm>
                  <a:off x="673101" y="2273195"/>
                  <a:ext cx="3156995" cy="446763"/>
                </a:xfrm>
                <a:prstGeom prst="rect">
                  <a:avLst/>
                </a:prstGeom>
              </p:spPr>
              <p:txBody>
                <a:bodyPr wrap="square" lIns="91440" tIns="45720" rIns="91440" bIns="45720" anchor="b" anchorCtr="0">
                  <a:normAutofit fontScale="7972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a:r>
                    <a:rPr lang="zh-CN" altLang="en-US" sz="1800" b="1" dirty="0">
                      <a:solidFill>
                        <a:schemeClr val="tx1"/>
                      </a:solidFill>
                      <a:latin typeface="Arial" panose="020B0604020202020204"/>
                      <a:ea typeface="Arial" panose="020B0604020202020204"/>
                    </a:rPr>
                    <a:t>Challenge 1: Sourcing Log Messages</a:t>
                  </a:r>
                  <a:endParaRPr lang="en-US" dirty="0"/>
                </a:p>
              </p:txBody>
            </p:sp>
          </p:grpSp>
        </p:grpSp>
        <p:grpSp>
          <p:nvGrpSpPr>
            <p:cNvPr id="27" name="组合 26"/>
            <p:cNvGrpSpPr/>
            <p:nvPr/>
          </p:nvGrpSpPr>
          <p:grpSpPr>
            <a:xfrm>
              <a:off x="673093" y="4362499"/>
              <a:ext cx="5743307" cy="1508890"/>
              <a:chOff x="673101" y="3831951"/>
              <a:chExt cx="5743307" cy="1508890"/>
            </a:xfrm>
          </p:grpSpPr>
          <p:grpSp>
            <p:nvGrpSpPr>
              <p:cNvPr id="21" name="组合 20"/>
              <p:cNvGrpSpPr/>
              <p:nvPr/>
            </p:nvGrpSpPr>
            <p:grpSpPr>
              <a:xfrm>
                <a:off x="4941813" y="3831951"/>
                <a:ext cx="1474595" cy="1138722"/>
                <a:chOff x="4941813" y="3831951"/>
                <a:chExt cx="1474595" cy="1138722"/>
              </a:xfrm>
            </p:grpSpPr>
            <p:sp>
              <p:nvSpPr>
                <p:cNvPr id="15" name="任意多边形: 形状 14"/>
                <p:cNvSpPr/>
                <p:nvPr/>
              </p:nvSpPr>
              <p:spPr>
                <a:xfrm flipH="1" flipV="1">
                  <a:off x="4941813" y="3831951"/>
                  <a:ext cx="1474595" cy="113872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tx2">
                    <a:alpha val="5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8" name="Icon2"/>
                <p:cNvSpPr/>
                <p:nvPr/>
              </p:nvSpPr>
              <p:spPr bwMode="auto">
                <a:xfrm>
                  <a:off x="5442895" y="4142819"/>
                  <a:ext cx="352928" cy="360005"/>
                </a:xfrm>
                <a:custGeom>
                  <a:avLst/>
                  <a:gdLst>
                    <a:gd name="connsiteX0" fmla="*/ 583941 w 594796"/>
                    <a:gd name="connsiteY0" fmla="*/ 587528 h 606722"/>
                    <a:gd name="connsiteX1" fmla="*/ 585187 w 594796"/>
                    <a:gd name="connsiteY1" fmla="*/ 587528 h 606722"/>
                    <a:gd name="connsiteX2" fmla="*/ 594796 w 594796"/>
                    <a:gd name="connsiteY2" fmla="*/ 597125 h 606722"/>
                    <a:gd name="connsiteX3" fmla="*/ 585187 w 594796"/>
                    <a:gd name="connsiteY3" fmla="*/ 606722 h 606722"/>
                    <a:gd name="connsiteX4" fmla="*/ 583941 w 594796"/>
                    <a:gd name="connsiteY4" fmla="*/ 606722 h 606722"/>
                    <a:gd name="connsiteX5" fmla="*/ 574332 w 594796"/>
                    <a:gd name="connsiteY5" fmla="*/ 597125 h 606722"/>
                    <a:gd name="connsiteX6" fmla="*/ 583941 w 594796"/>
                    <a:gd name="connsiteY6" fmla="*/ 587528 h 606722"/>
                    <a:gd name="connsiteX7" fmla="*/ 380575 w 594796"/>
                    <a:gd name="connsiteY7" fmla="*/ 587528 h 606722"/>
                    <a:gd name="connsiteX8" fmla="*/ 534023 w 594796"/>
                    <a:gd name="connsiteY8" fmla="*/ 587528 h 606722"/>
                    <a:gd name="connsiteX9" fmla="*/ 543636 w 594796"/>
                    <a:gd name="connsiteY9" fmla="*/ 597125 h 606722"/>
                    <a:gd name="connsiteX10" fmla="*/ 534023 w 594796"/>
                    <a:gd name="connsiteY10" fmla="*/ 606722 h 606722"/>
                    <a:gd name="connsiteX11" fmla="*/ 380575 w 594796"/>
                    <a:gd name="connsiteY11" fmla="*/ 606722 h 606722"/>
                    <a:gd name="connsiteX12" fmla="*/ 370962 w 594796"/>
                    <a:gd name="connsiteY12" fmla="*/ 597125 h 606722"/>
                    <a:gd name="connsiteX13" fmla="*/ 380575 w 594796"/>
                    <a:gd name="connsiteY13" fmla="*/ 587528 h 606722"/>
                    <a:gd name="connsiteX14" fmla="*/ 342095 w 594796"/>
                    <a:gd name="connsiteY14" fmla="*/ 587528 h 606722"/>
                    <a:gd name="connsiteX15" fmla="*/ 343430 w 594796"/>
                    <a:gd name="connsiteY15" fmla="*/ 587528 h 606722"/>
                    <a:gd name="connsiteX16" fmla="*/ 353039 w 594796"/>
                    <a:gd name="connsiteY16" fmla="*/ 597125 h 606722"/>
                    <a:gd name="connsiteX17" fmla="*/ 343430 w 594796"/>
                    <a:gd name="connsiteY17" fmla="*/ 606722 h 606722"/>
                    <a:gd name="connsiteX18" fmla="*/ 342095 w 594796"/>
                    <a:gd name="connsiteY18" fmla="*/ 606722 h 606722"/>
                    <a:gd name="connsiteX19" fmla="*/ 332575 w 594796"/>
                    <a:gd name="connsiteY19" fmla="*/ 597125 h 606722"/>
                    <a:gd name="connsiteX20" fmla="*/ 342095 w 594796"/>
                    <a:gd name="connsiteY20" fmla="*/ 587528 h 606722"/>
                    <a:gd name="connsiteX21" fmla="*/ 290935 w 594796"/>
                    <a:gd name="connsiteY21" fmla="*/ 587528 h 606722"/>
                    <a:gd name="connsiteX22" fmla="*/ 292270 w 594796"/>
                    <a:gd name="connsiteY22" fmla="*/ 587528 h 606722"/>
                    <a:gd name="connsiteX23" fmla="*/ 301879 w 594796"/>
                    <a:gd name="connsiteY23" fmla="*/ 597125 h 606722"/>
                    <a:gd name="connsiteX24" fmla="*/ 292270 w 594796"/>
                    <a:gd name="connsiteY24" fmla="*/ 606722 h 606722"/>
                    <a:gd name="connsiteX25" fmla="*/ 290935 w 594796"/>
                    <a:gd name="connsiteY25" fmla="*/ 606722 h 606722"/>
                    <a:gd name="connsiteX26" fmla="*/ 281415 w 594796"/>
                    <a:gd name="connsiteY26" fmla="*/ 597125 h 606722"/>
                    <a:gd name="connsiteX27" fmla="*/ 290935 w 594796"/>
                    <a:gd name="connsiteY27" fmla="*/ 587528 h 606722"/>
                    <a:gd name="connsiteX28" fmla="*/ 111847 w 594796"/>
                    <a:gd name="connsiteY28" fmla="*/ 587528 h 606722"/>
                    <a:gd name="connsiteX29" fmla="*/ 252606 w 594796"/>
                    <a:gd name="connsiteY29" fmla="*/ 587528 h 606722"/>
                    <a:gd name="connsiteX30" fmla="*/ 262221 w 594796"/>
                    <a:gd name="connsiteY30" fmla="*/ 597125 h 606722"/>
                    <a:gd name="connsiteX31" fmla="*/ 252606 w 594796"/>
                    <a:gd name="connsiteY31" fmla="*/ 606722 h 606722"/>
                    <a:gd name="connsiteX32" fmla="*/ 111847 w 594796"/>
                    <a:gd name="connsiteY32" fmla="*/ 606722 h 606722"/>
                    <a:gd name="connsiteX33" fmla="*/ 102320 w 594796"/>
                    <a:gd name="connsiteY33" fmla="*/ 597125 h 606722"/>
                    <a:gd name="connsiteX34" fmla="*/ 111847 w 594796"/>
                    <a:gd name="connsiteY34" fmla="*/ 587528 h 606722"/>
                    <a:gd name="connsiteX35" fmla="*/ 72271 w 594796"/>
                    <a:gd name="connsiteY35" fmla="*/ 587528 h 606722"/>
                    <a:gd name="connsiteX36" fmla="*/ 73517 w 594796"/>
                    <a:gd name="connsiteY36" fmla="*/ 587528 h 606722"/>
                    <a:gd name="connsiteX37" fmla="*/ 83126 w 594796"/>
                    <a:gd name="connsiteY37" fmla="*/ 597125 h 606722"/>
                    <a:gd name="connsiteX38" fmla="*/ 73517 w 594796"/>
                    <a:gd name="connsiteY38" fmla="*/ 606722 h 606722"/>
                    <a:gd name="connsiteX39" fmla="*/ 72271 w 594796"/>
                    <a:gd name="connsiteY39" fmla="*/ 606722 h 606722"/>
                    <a:gd name="connsiteX40" fmla="*/ 62662 w 594796"/>
                    <a:gd name="connsiteY40" fmla="*/ 597125 h 606722"/>
                    <a:gd name="connsiteX41" fmla="*/ 72271 w 594796"/>
                    <a:gd name="connsiteY41" fmla="*/ 587528 h 606722"/>
                    <a:gd name="connsiteX42" fmla="*/ 21111 w 594796"/>
                    <a:gd name="connsiteY42" fmla="*/ 587528 h 606722"/>
                    <a:gd name="connsiteX43" fmla="*/ 22357 w 594796"/>
                    <a:gd name="connsiteY43" fmla="*/ 587528 h 606722"/>
                    <a:gd name="connsiteX44" fmla="*/ 31966 w 594796"/>
                    <a:gd name="connsiteY44" fmla="*/ 597125 h 606722"/>
                    <a:gd name="connsiteX45" fmla="*/ 22357 w 594796"/>
                    <a:gd name="connsiteY45" fmla="*/ 606722 h 606722"/>
                    <a:gd name="connsiteX46" fmla="*/ 21111 w 594796"/>
                    <a:gd name="connsiteY46" fmla="*/ 606722 h 606722"/>
                    <a:gd name="connsiteX47" fmla="*/ 11502 w 594796"/>
                    <a:gd name="connsiteY47" fmla="*/ 597125 h 606722"/>
                    <a:gd name="connsiteX48" fmla="*/ 21111 w 594796"/>
                    <a:gd name="connsiteY48" fmla="*/ 587528 h 606722"/>
                    <a:gd name="connsiteX49" fmla="*/ 457299 w 594796"/>
                    <a:gd name="connsiteY49" fmla="*/ 491746 h 606722"/>
                    <a:gd name="connsiteX50" fmla="*/ 428476 w 594796"/>
                    <a:gd name="connsiteY50" fmla="*/ 520527 h 606722"/>
                    <a:gd name="connsiteX51" fmla="*/ 457299 w 594796"/>
                    <a:gd name="connsiteY51" fmla="*/ 549218 h 606722"/>
                    <a:gd name="connsiteX52" fmla="*/ 486033 w 594796"/>
                    <a:gd name="connsiteY52" fmla="*/ 520527 h 606722"/>
                    <a:gd name="connsiteX53" fmla="*/ 457299 w 594796"/>
                    <a:gd name="connsiteY53" fmla="*/ 491746 h 606722"/>
                    <a:gd name="connsiteX54" fmla="*/ 188692 w 594796"/>
                    <a:gd name="connsiteY54" fmla="*/ 491746 h 606722"/>
                    <a:gd name="connsiteX55" fmla="*/ 159848 w 594796"/>
                    <a:gd name="connsiteY55" fmla="*/ 520527 h 606722"/>
                    <a:gd name="connsiteX56" fmla="*/ 188692 w 594796"/>
                    <a:gd name="connsiteY56" fmla="*/ 549218 h 606722"/>
                    <a:gd name="connsiteX57" fmla="*/ 217447 w 594796"/>
                    <a:gd name="connsiteY57" fmla="*/ 520527 h 606722"/>
                    <a:gd name="connsiteX58" fmla="*/ 188692 w 594796"/>
                    <a:gd name="connsiteY58" fmla="*/ 491746 h 606722"/>
                    <a:gd name="connsiteX59" fmla="*/ 457299 w 594796"/>
                    <a:gd name="connsiteY59" fmla="*/ 472648 h 606722"/>
                    <a:gd name="connsiteX60" fmla="*/ 505248 w 594796"/>
                    <a:gd name="connsiteY60" fmla="*/ 520527 h 606722"/>
                    <a:gd name="connsiteX61" fmla="*/ 457299 w 594796"/>
                    <a:gd name="connsiteY61" fmla="*/ 568405 h 606722"/>
                    <a:gd name="connsiteX62" fmla="*/ 409350 w 594796"/>
                    <a:gd name="connsiteY62" fmla="*/ 520527 h 606722"/>
                    <a:gd name="connsiteX63" fmla="*/ 457299 w 594796"/>
                    <a:gd name="connsiteY63" fmla="*/ 472648 h 606722"/>
                    <a:gd name="connsiteX64" fmla="*/ 188692 w 594796"/>
                    <a:gd name="connsiteY64" fmla="*/ 472648 h 606722"/>
                    <a:gd name="connsiteX65" fmla="*/ 236676 w 594796"/>
                    <a:gd name="connsiteY65" fmla="*/ 520527 h 606722"/>
                    <a:gd name="connsiteX66" fmla="*/ 188692 w 594796"/>
                    <a:gd name="connsiteY66" fmla="*/ 568405 h 606722"/>
                    <a:gd name="connsiteX67" fmla="*/ 140707 w 594796"/>
                    <a:gd name="connsiteY67" fmla="*/ 520527 h 606722"/>
                    <a:gd name="connsiteX68" fmla="*/ 188692 w 594796"/>
                    <a:gd name="connsiteY68" fmla="*/ 472648 h 606722"/>
                    <a:gd name="connsiteX69" fmla="*/ 463695 w 594796"/>
                    <a:gd name="connsiteY69" fmla="*/ 150375 h 606722"/>
                    <a:gd name="connsiteX70" fmla="*/ 473212 w 594796"/>
                    <a:gd name="connsiteY70" fmla="*/ 159984 h 606722"/>
                    <a:gd name="connsiteX71" fmla="*/ 473212 w 594796"/>
                    <a:gd name="connsiteY71" fmla="*/ 161230 h 606722"/>
                    <a:gd name="connsiteX72" fmla="*/ 463695 w 594796"/>
                    <a:gd name="connsiteY72" fmla="*/ 170839 h 606722"/>
                    <a:gd name="connsiteX73" fmla="*/ 454089 w 594796"/>
                    <a:gd name="connsiteY73" fmla="*/ 161230 h 606722"/>
                    <a:gd name="connsiteX74" fmla="*/ 454089 w 594796"/>
                    <a:gd name="connsiteY74" fmla="*/ 159984 h 606722"/>
                    <a:gd name="connsiteX75" fmla="*/ 463695 w 594796"/>
                    <a:gd name="connsiteY75" fmla="*/ 150375 h 606722"/>
                    <a:gd name="connsiteX76" fmla="*/ 229706 w 594796"/>
                    <a:gd name="connsiteY76" fmla="*/ 43973 h 606722"/>
                    <a:gd name="connsiteX77" fmla="*/ 338926 w 594796"/>
                    <a:gd name="connsiteY77" fmla="*/ 188408 h 606722"/>
                    <a:gd name="connsiteX78" fmla="*/ 329402 w 594796"/>
                    <a:gd name="connsiteY78" fmla="*/ 198007 h 606722"/>
                    <a:gd name="connsiteX79" fmla="*/ 319788 w 594796"/>
                    <a:gd name="connsiteY79" fmla="*/ 188408 h 606722"/>
                    <a:gd name="connsiteX80" fmla="*/ 224455 w 594796"/>
                    <a:gd name="connsiteY80" fmla="*/ 62372 h 606722"/>
                    <a:gd name="connsiteX81" fmla="*/ 217867 w 594796"/>
                    <a:gd name="connsiteY81" fmla="*/ 50551 h 606722"/>
                    <a:gd name="connsiteX82" fmla="*/ 229706 w 594796"/>
                    <a:gd name="connsiteY82" fmla="*/ 43973 h 606722"/>
                    <a:gd name="connsiteX83" fmla="*/ 463695 w 594796"/>
                    <a:gd name="connsiteY83" fmla="*/ 38317 h 606722"/>
                    <a:gd name="connsiteX84" fmla="*/ 473212 w 594796"/>
                    <a:gd name="connsiteY84" fmla="*/ 47911 h 606722"/>
                    <a:gd name="connsiteX85" fmla="*/ 473212 w 594796"/>
                    <a:gd name="connsiteY85" fmla="*/ 124481 h 606722"/>
                    <a:gd name="connsiteX86" fmla="*/ 463695 w 594796"/>
                    <a:gd name="connsiteY86" fmla="*/ 134074 h 606722"/>
                    <a:gd name="connsiteX87" fmla="*/ 454089 w 594796"/>
                    <a:gd name="connsiteY87" fmla="*/ 124481 h 606722"/>
                    <a:gd name="connsiteX88" fmla="*/ 454089 w 594796"/>
                    <a:gd name="connsiteY88" fmla="*/ 47911 h 606722"/>
                    <a:gd name="connsiteX89" fmla="*/ 463695 w 594796"/>
                    <a:gd name="connsiteY89" fmla="*/ 38317 h 606722"/>
                    <a:gd name="connsiteX90" fmla="*/ 188697 w 594796"/>
                    <a:gd name="connsiteY90" fmla="*/ 38317 h 606722"/>
                    <a:gd name="connsiteX91" fmla="*/ 189675 w 594796"/>
                    <a:gd name="connsiteY91" fmla="*/ 38317 h 606722"/>
                    <a:gd name="connsiteX92" fmla="*/ 199188 w 594796"/>
                    <a:gd name="connsiteY92" fmla="*/ 48003 h 606722"/>
                    <a:gd name="connsiteX93" fmla="*/ 189675 w 594796"/>
                    <a:gd name="connsiteY93" fmla="*/ 57511 h 606722"/>
                    <a:gd name="connsiteX94" fmla="*/ 189586 w 594796"/>
                    <a:gd name="connsiteY94" fmla="*/ 57511 h 606722"/>
                    <a:gd name="connsiteX95" fmla="*/ 188697 w 594796"/>
                    <a:gd name="connsiteY95" fmla="*/ 57511 h 606722"/>
                    <a:gd name="connsiteX96" fmla="*/ 179095 w 594796"/>
                    <a:gd name="connsiteY96" fmla="*/ 47914 h 606722"/>
                    <a:gd name="connsiteX97" fmla="*/ 188697 w 594796"/>
                    <a:gd name="connsiteY97" fmla="*/ 38317 h 606722"/>
                    <a:gd name="connsiteX98" fmla="*/ 457299 w 594796"/>
                    <a:gd name="connsiteY98" fmla="*/ 19198 h 606722"/>
                    <a:gd name="connsiteX99" fmla="*/ 428476 w 594796"/>
                    <a:gd name="connsiteY99" fmla="*/ 47905 h 606722"/>
                    <a:gd name="connsiteX100" fmla="*/ 428476 w 594796"/>
                    <a:gd name="connsiteY100" fmla="*/ 405549 h 606722"/>
                    <a:gd name="connsiteX101" fmla="*/ 457299 w 594796"/>
                    <a:gd name="connsiteY101" fmla="*/ 434257 h 606722"/>
                    <a:gd name="connsiteX102" fmla="*/ 486033 w 594796"/>
                    <a:gd name="connsiteY102" fmla="*/ 405549 h 606722"/>
                    <a:gd name="connsiteX103" fmla="*/ 486033 w 594796"/>
                    <a:gd name="connsiteY103" fmla="*/ 47905 h 606722"/>
                    <a:gd name="connsiteX104" fmla="*/ 457299 w 594796"/>
                    <a:gd name="connsiteY104" fmla="*/ 19198 h 606722"/>
                    <a:gd name="connsiteX105" fmla="*/ 186282 w 594796"/>
                    <a:gd name="connsiteY105" fmla="*/ 19198 h 606722"/>
                    <a:gd name="connsiteX106" fmla="*/ 68977 w 594796"/>
                    <a:gd name="connsiteY106" fmla="*/ 67192 h 606722"/>
                    <a:gd name="connsiteX107" fmla="*/ 19136 w 594796"/>
                    <a:gd name="connsiteY107" fmla="*/ 186021 h 606722"/>
                    <a:gd name="connsiteX108" fmla="*/ 47973 w 594796"/>
                    <a:gd name="connsiteY108" fmla="*/ 214729 h 606722"/>
                    <a:gd name="connsiteX109" fmla="*/ 76720 w 594796"/>
                    <a:gd name="connsiteY109" fmla="*/ 186021 h 606722"/>
                    <a:gd name="connsiteX110" fmla="*/ 109384 w 594796"/>
                    <a:gd name="connsiteY110" fmla="*/ 108164 h 606722"/>
                    <a:gd name="connsiteX111" fmla="*/ 187795 w 594796"/>
                    <a:gd name="connsiteY111" fmla="*/ 76613 h 606722"/>
                    <a:gd name="connsiteX112" fmla="*/ 295755 w 594796"/>
                    <a:gd name="connsiteY112" fmla="*/ 184421 h 606722"/>
                    <a:gd name="connsiteX113" fmla="*/ 234789 w 594796"/>
                    <a:gd name="connsiteY113" fmla="*/ 284053 h 606722"/>
                    <a:gd name="connsiteX114" fmla="*/ 178361 w 594796"/>
                    <a:gd name="connsiteY114" fmla="*/ 335336 h 606722"/>
                    <a:gd name="connsiteX115" fmla="*/ 157534 w 594796"/>
                    <a:gd name="connsiteY115" fmla="*/ 405727 h 606722"/>
                    <a:gd name="connsiteX116" fmla="*/ 157445 w 594796"/>
                    <a:gd name="connsiteY116" fmla="*/ 406260 h 606722"/>
                    <a:gd name="connsiteX117" fmla="*/ 186282 w 594796"/>
                    <a:gd name="connsiteY117" fmla="*/ 434257 h 606722"/>
                    <a:gd name="connsiteX118" fmla="*/ 215030 w 594796"/>
                    <a:gd name="connsiteY118" fmla="*/ 405549 h 606722"/>
                    <a:gd name="connsiteX119" fmla="*/ 215119 w 594796"/>
                    <a:gd name="connsiteY119" fmla="*/ 403949 h 606722"/>
                    <a:gd name="connsiteX120" fmla="*/ 260421 w 594796"/>
                    <a:gd name="connsiteY120" fmla="*/ 335514 h 606722"/>
                    <a:gd name="connsiteX121" fmla="*/ 328063 w 594796"/>
                    <a:gd name="connsiteY121" fmla="*/ 274188 h 606722"/>
                    <a:gd name="connsiteX122" fmla="*/ 353251 w 594796"/>
                    <a:gd name="connsiteY122" fmla="*/ 183622 h 606722"/>
                    <a:gd name="connsiteX123" fmla="*/ 304210 w 594796"/>
                    <a:gd name="connsiteY123" fmla="*/ 68169 h 606722"/>
                    <a:gd name="connsiteX124" fmla="*/ 188596 w 594796"/>
                    <a:gd name="connsiteY124" fmla="*/ 19198 h 606722"/>
                    <a:gd name="connsiteX125" fmla="*/ 186282 w 594796"/>
                    <a:gd name="connsiteY125" fmla="*/ 19198 h 606722"/>
                    <a:gd name="connsiteX126" fmla="*/ 457299 w 594796"/>
                    <a:gd name="connsiteY126" fmla="*/ 0 h 606722"/>
                    <a:gd name="connsiteX127" fmla="*/ 505248 w 594796"/>
                    <a:gd name="connsiteY127" fmla="*/ 47905 h 606722"/>
                    <a:gd name="connsiteX128" fmla="*/ 505248 w 594796"/>
                    <a:gd name="connsiteY128" fmla="*/ 405549 h 606722"/>
                    <a:gd name="connsiteX129" fmla="*/ 457299 w 594796"/>
                    <a:gd name="connsiteY129" fmla="*/ 453454 h 606722"/>
                    <a:gd name="connsiteX130" fmla="*/ 409350 w 594796"/>
                    <a:gd name="connsiteY130" fmla="*/ 405549 h 606722"/>
                    <a:gd name="connsiteX131" fmla="*/ 409350 w 594796"/>
                    <a:gd name="connsiteY131" fmla="*/ 47905 h 606722"/>
                    <a:gd name="connsiteX132" fmla="*/ 457299 w 594796"/>
                    <a:gd name="connsiteY132" fmla="*/ 0 h 606722"/>
                    <a:gd name="connsiteX133" fmla="*/ 186282 w 594796"/>
                    <a:gd name="connsiteY133" fmla="*/ 0 h 606722"/>
                    <a:gd name="connsiteX134" fmla="*/ 188863 w 594796"/>
                    <a:gd name="connsiteY134" fmla="*/ 0 h 606722"/>
                    <a:gd name="connsiteX135" fmla="*/ 317828 w 594796"/>
                    <a:gd name="connsiteY135" fmla="*/ 54571 h 606722"/>
                    <a:gd name="connsiteX136" fmla="*/ 372475 w 594796"/>
                    <a:gd name="connsiteY136" fmla="*/ 183355 h 606722"/>
                    <a:gd name="connsiteX137" fmla="*/ 344350 w 594796"/>
                    <a:gd name="connsiteY137" fmla="*/ 284320 h 606722"/>
                    <a:gd name="connsiteX138" fmla="*/ 268965 w 594796"/>
                    <a:gd name="connsiteY138" fmla="*/ 352667 h 606722"/>
                    <a:gd name="connsiteX139" fmla="*/ 234255 w 594796"/>
                    <a:gd name="connsiteY139" fmla="*/ 405994 h 606722"/>
                    <a:gd name="connsiteX140" fmla="*/ 234166 w 594796"/>
                    <a:gd name="connsiteY140" fmla="*/ 406882 h 606722"/>
                    <a:gd name="connsiteX141" fmla="*/ 186282 w 594796"/>
                    <a:gd name="connsiteY141" fmla="*/ 453454 h 606722"/>
                    <a:gd name="connsiteX142" fmla="*/ 138310 w 594796"/>
                    <a:gd name="connsiteY142" fmla="*/ 405549 h 606722"/>
                    <a:gd name="connsiteX143" fmla="*/ 138310 w 594796"/>
                    <a:gd name="connsiteY143" fmla="*/ 404483 h 606722"/>
                    <a:gd name="connsiteX144" fmla="*/ 162074 w 594796"/>
                    <a:gd name="connsiteY144" fmla="*/ 325293 h 606722"/>
                    <a:gd name="connsiteX145" fmla="*/ 226333 w 594796"/>
                    <a:gd name="connsiteY145" fmla="*/ 266900 h 606722"/>
                    <a:gd name="connsiteX146" fmla="*/ 276531 w 594796"/>
                    <a:gd name="connsiteY146" fmla="*/ 184688 h 606722"/>
                    <a:gd name="connsiteX147" fmla="*/ 187528 w 594796"/>
                    <a:gd name="connsiteY147" fmla="*/ 95810 h 606722"/>
                    <a:gd name="connsiteX148" fmla="*/ 122824 w 594796"/>
                    <a:gd name="connsiteY148" fmla="*/ 121763 h 606722"/>
                    <a:gd name="connsiteX149" fmla="*/ 95945 w 594796"/>
                    <a:gd name="connsiteY149" fmla="*/ 186021 h 606722"/>
                    <a:gd name="connsiteX150" fmla="*/ 47973 w 594796"/>
                    <a:gd name="connsiteY150" fmla="*/ 233926 h 606722"/>
                    <a:gd name="connsiteX151" fmla="*/ 0 w 594796"/>
                    <a:gd name="connsiteY151" fmla="*/ 186021 h 606722"/>
                    <a:gd name="connsiteX152" fmla="*/ 55449 w 594796"/>
                    <a:gd name="connsiteY152" fmla="*/ 53593 h 606722"/>
                    <a:gd name="connsiteX153" fmla="*/ 186282 w 594796"/>
                    <a:gd name="connsiteY153"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594796" h="606722">
                      <a:moveTo>
                        <a:pt x="583941" y="587528"/>
                      </a:moveTo>
                      <a:lnTo>
                        <a:pt x="585187" y="587528"/>
                      </a:lnTo>
                      <a:cubicBezTo>
                        <a:pt x="590526" y="587528"/>
                        <a:pt x="594796" y="591794"/>
                        <a:pt x="594796" y="597125"/>
                      </a:cubicBezTo>
                      <a:cubicBezTo>
                        <a:pt x="594796" y="602368"/>
                        <a:pt x="590526" y="606722"/>
                        <a:pt x="585187" y="606722"/>
                      </a:cubicBezTo>
                      <a:lnTo>
                        <a:pt x="583941" y="606722"/>
                      </a:lnTo>
                      <a:cubicBezTo>
                        <a:pt x="578603" y="606722"/>
                        <a:pt x="574332" y="602368"/>
                        <a:pt x="574332" y="597125"/>
                      </a:cubicBezTo>
                      <a:cubicBezTo>
                        <a:pt x="574332" y="591794"/>
                        <a:pt x="578603" y="587528"/>
                        <a:pt x="583941" y="587528"/>
                      </a:cubicBezTo>
                      <a:close/>
                      <a:moveTo>
                        <a:pt x="380575" y="587528"/>
                      </a:moveTo>
                      <a:lnTo>
                        <a:pt x="534023" y="587528"/>
                      </a:lnTo>
                      <a:cubicBezTo>
                        <a:pt x="539364" y="587528"/>
                        <a:pt x="543636" y="591794"/>
                        <a:pt x="543636" y="597125"/>
                      </a:cubicBezTo>
                      <a:cubicBezTo>
                        <a:pt x="543636" y="602368"/>
                        <a:pt x="539364" y="606722"/>
                        <a:pt x="534023" y="606722"/>
                      </a:cubicBezTo>
                      <a:lnTo>
                        <a:pt x="380575" y="606722"/>
                      </a:lnTo>
                      <a:cubicBezTo>
                        <a:pt x="375235" y="606722"/>
                        <a:pt x="370962" y="602368"/>
                        <a:pt x="370962" y="597125"/>
                      </a:cubicBezTo>
                      <a:cubicBezTo>
                        <a:pt x="370962" y="591794"/>
                        <a:pt x="375235" y="587528"/>
                        <a:pt x="380575" y="587528"/>
                      </a:cubicBezTo>
                      <a:close/>
                      <a:moveTo>
                        <a:pt x="342095" y="587528"/>
                      </a:moveTo>
                      <a:lnTo>
                        <a:pt x="343430" y="587528"/>
                      </a:lnTo>
                      <a:cubicBezTo>
                        <a:pt x="348680" y="587528"/>
                        <a:pt x="353039" y="591794"/>
                        <a:pt x="353039" y="597125"/>
                      </a:cubicBezTo>
                      <a:cubicBezTo>
                        <a:pt x="353039" y="602368"/>
                        <a:pt x="348680" y="606722"/>
                        <a:pt x="343430" y="606722"/>
                      </a:cubicBezTo>
                      <a:lnTo>
                        <a:pt x="342095" y="606722"/>
                      </a:lnTo>
                      <a:cubicBezTo>
                        <a:pt x="336846" y="606722"/>
                        <a:pt x="332575" y="602368"/>
                        <a:pt x="332575" y="597125"/>
                      </a:cubicBezTo>
                      <a:cubicBezTo>
                        <a:pt x="332575" y="591794"/>
                        <a:pt x="336846" y="587528"/>
                        <a:pt x="342095" y="587528"/>
                      </a:cubicBezTo>
                      <a:close/>
                      <a:moveTo>
                        <a:pt x="290935" y="587528"/>
                      </a:moveTo>
                      <a:lnTo>
                        <a:pt x="292270" y="587528"/>
                      </a:lnTo>
                      <a:cubicBezTo>
                        <a:pt x="297520" y="587528"/>
                        <a:pt x="301879" y="591794"/>
                        <a:pt x="301879" y="597125"/>
                      </a:cubicBezTo>
                      <a:cubicBezTo>
                        <a:pt x="301879" y="602368"/>
                        <a:pt x="297520" y="606722"/>
                        <a:pt x="292270" y="606722"/>
                      </a:cubicBezTo>
                      <a:lnTo>
                        <a:pt x="290935" y="606722"/>
                      </a:lnTo>
                      <a:cubicBezTo>
                        <a:pt x="285686" y="606722"/>
                        <a:pt x="281415" y="602368"/>
                        <a:pt x="281415" y="597125"/>
                      </a:cubicBezTo>
                      <a:cubicBezTo>
                        <a:pt x="281415" y="591794"/>
                        <a:pt x="285686" y="587528"/>
                        <a:pt x="290935" y="587528"/>
                      </a:cubicBezTo>
                      <a:close/>
                      <a:moveTo>
                        <a:pt x="111847" y="587528"/>
                      </a:moveTo>
                      <a:lnTo>
                        <a:pt x="252606" y="587528"/>
                      </a:lnTo>
                      <a:cubicBezTo>
                        <a:pt x="257948" y="587528"/>
                        <a:pt x="262221" y="591794"/>
                        <a:pt x="262221" y="597125"/>
                      </a:cubicBezTo>
                      <a:cubicBezTo>
                        <a:pt x="262221" y="602368"/>
                        <a:pt x="257948" y="606722"/>
                        <a:pt x="252606" y="606722"/>
                      </a:cubicBezTo>
                      <a:lnTo>
                        <a:pt x="111847" y="606722"/>
                      </a:lnTo>
                      <a:cubicBezTo>
                        <a:pt x="106594" y="606722"/>
                        <a:pt x="102320" y="602368"/>
                        <a:pt x="102320" y="597125"/>
                      </a:cubicBezTo>
                      <a:cubicBezTo>
                        <a:pt x="102320" y="591794"/>
                        <a:pt x="106594" y="587528"/>
                        <a:pt x="111847" y="587528"/>
                      </a:cubicBezTo>
                      <a:close/>
                      <a:moveTo>
                        <a:pt x="72271" y="587528"/>
                      </a:moveTo>
                      <a:lnTo>
                        <a:pt x="73517" y="587528"/>
                      </a:lnTo>
                      <a:cubicBezTo>
                        <a:pt x="78856" y="587528"/>
                        <a:pt x="83126" y="591794"/>
                        <a:pt x="83126" y="597125"/>
                      </a:cubicBezTo>
                      <a:cubicBezTo>
                        <a:pt x="83126" y="602368"/>
                        <a:pt x="78856" y="606722"/>
                        <a:pt x="73517" y="606722"/>
                      </a:cubicBezTo>
                      <a:lnTo>
                        <a:pt x="72271" y="606722"/>
                      </a:lnTo>
                      <a:cubicBezTo>
                        <a:pt x="66933" y="606722"/>
                        <a:pt x="62662" y="602368"/>
                        <a:pt x="62662" y="597125"/>
                      </a:cubicBezTo>
                      <a:cubicBezTo>
                        <a:pt x="62662" y="591794"/>
                        <a:pt x="66933" y="587528"/>
                        <a:pt x="72271" y="587528"/>
                      </a:cubicBezTo>
                      <a:close/>
                      <a:moveTo>
                        <a:pt x="21111" y="587528"/>
                      </a:moveTo>
                      <a:lnTo>
                        <a:pt x="22357" y="587528"/>
                      </a:lnTo>
                      <a:cubicBezTo>
                        <a:pt x="27696" y="587528"/>
                        <a:pt x="31966" y="591794"/>
                        <a:pt x="31966" y="597125"/>
                      </a:cubicBezTo>
                      <a:cubicBezTo>
                        <a:pt x="31966" y="602368"/>
                        <a:pt x="27696" y="606722"/>
                        <a:pt x="22357" y="606722"/>
                      </a:cubicBezTo>
                      <a:lnTo>
                        <a:pt x="21111" y="606722"/>
                      </a:lnTo>
                      <a:cubicBezTo>
                        <a:pt x="15773" y="606722"/>
                        <a:pt x="11502" y="602368"/>
                        <a:pt x="11502" y="597125"/>
                      </a:cubicBezTo>
                      <a:cubicBezTo>
                        <a:pt x="11502" y="591794"/>
                        <a:pt x="15773" y="587528"/>
                        <a:pt x="21111" y="587528"/>
                      </a:cubicBezTo>
                      <a:close/>
                      <a:moveTo>
                        <a:pt x="457299" y="491746"/>
                      </a:moveTo>
                      <a:cubicBezTo>
                        <a:pt x="441465" y="491746"/>
                        <a:pt x="428476" y="504626"/>
                        <a:pt x="428476" y="520527"/>
                      </a:cubicBezTo>
                      <a:cubicBezTo>
                        <a:pt x="428476" y="536338"/>
                        <a:pt x="441465" y="549218"/>
                        <a:pt x="457299" y="549218"/>
                      </a:cubicBezTo>
                      <a:cubicBezTo>
                        <a:pt x="473134" y="549218"/>
                        <a:pt x="486033" y="536338"/>
                        <a:pt x="486033" y="520527"/>
                      </a:cubicBezTo>
                      <a:cubicBezTo>
                        <a:pt x="486033" y="504626"/>
                        <a:pt x="473134" y="491746"/>
                        <a:pt x="457299" y="491746"/>
                      </a:cubicBezTo>
                      <a:close/>
                      <a:moveTo>
                        <a:pt x="188692" y="491746"/>
                      </a:moveTo>
                      <a:cubicBezTo>
                        <a:pt x="172756" y="491746"/>
                        <a:pt x="159848" y="504626"/>
                        <a:pt x="159848" y="520527"/>
                      </a:cubicBezTo>
                      <a:cubicBezTo>
                        <a:pt x="159848" y="536338"/>
                        <a:pt x="172756" y="549218"/>
                        <a:pt x="188692" y="549218"/>
                      </a:cubicBezTo>
                      <a:cubicBezTo>
                        <a:pt x="204538" y="549218"/>
                        <a:pt x="217447" y="536338"/>
                        <a:pt x="217447" y="520527"/>
                      </a:cubicBezTo>
                      <a:cubicBezTo>
                        <a:pt x="217447" y="504626"/>
                        <a:pt x="204538" y="491746"/>
                        <a:pt x="188692" y="491746"/>
                      </a:cubicBezTo>
                      <a:close/>
                      <a:moveTo>
                        <a:pt x="457299" y="472648"/>
                      </a:moveTo>
                      <a:cubicBezTo>
                        <a:pt x="483720" y="472648"/>
                        <a:pt x="505248" y="494056"/>
                        <a:pt x="505248" y="520527"/>
                      </a:cubicBezTo>
                      <a:cubicBezTo>
                        <a:pt x="505248" y="546909"/>
                        <a:pt x="483720" y="568405"/>
                        <a:pt x="457299" y="568405"/>
                      </a:cubicBezTo>
                      <a:cubicBezTo>
                        <a:pt x="430878" y="568405"/>
                        <a:pt x="409350" y="546909"/>
                        <a:pt x="409350" y="520527"/>
                      </a:cubicBezTo>
                      <a:cubicBezTo>
                        <a:pt x="409350" y="494056"/>
                        <a:pt x="430878" y="472648"/>
                        <a:pt x="457299" y="472648"/>
                      </a:cubicBezTo>
                      <a:close/>
                      <a:moveTo>
                        <a:pt x="188692" y="472648"/>
                      </a:moveTo>
                      <a:cubicBezTo>
                        <a:pt x="215132" y="472648"/>
                        <a:pt x="236676" y="494056"/>
                        <a:pt x="236676" y="520527"/>
                      </a:cubicBezTo>
                      <a:cubicBezTo>
                        <a:pt x="236676" y="546909"/>
                        <a:pt x="215132" y="568405"/>
                        <a:pt x="188692" y="568405"/>
                      </a:cubicBezTo>
                      <a:cubicBezTo>
                        <a:pt x="162251" y="568405"/>
                        <a:pt x="140707" y="546909"/>
                        <a:pt x="140707" y="520527"/>
                      </a:cubicBezTo>
                      <a:cubicBezTo>
                        <a:pt x="140707" y="494056"/>
                        <a:pt x="162251" y="472648"/>
                        <a:pt x="188692" y="472648"/>
                      </a:cubicBezTo>
                      <a:close/>
                      <a:moveTo>
                        <a:pt x="463695" y="150375"/>
                      </a:moveTo>
                      <a:cubicBezTo>
                        <a:pt x="468943" y="150375"/>
                        <a:pt x="473212" y="154646"/>
                        <a:pt x="473212" y="159984"/>
                      </a:cubicBezTo>
                      <a:lnTo>
                        <a:pt x="473212" y="161230"/>
                      </a:lnTo>
                      <a:cubicBezTo>
                        <a:pt x="473212" y="166569"/>
                        <a:pt x="468943" y="170839"/>
                        <a:pt x="463695" y="170839"/>
                      </a:cubicBezTo>
                      <a:cubicBezTo>
                        <a:pt x="458359" y="170839"/>
                        <a:pt x="454089" y="166569"/>
                        <a:pt x="454089" y="161230"/>
                      </a:cubicBezTo>
                      <a:lnTo>
                        <a:pt x="454089" y="159984"/>
                      </a:lnTo>
                      <a:cubicBezTo>
                        <a:pt x="454089" y="154646"/>
                        <a:pt x="458359" y="150375"/>
                        <a:pt x="463695" y="150375"/>
                      </a:cubicBezTo>
                      <a:close/>
                      <a:moveTo>
                        <a:pt x="229706" y="43973"/>
                      </a:moveTo>
                      <a:cubicBezTo>
                        <a:pt x="294063" y="62194"/>
                        <a:pt x="338926" y="121568"/>
                        <a:pt x="338926" y="188408"/>
                      </a:cubicBezTo>
                      <a:cubicBezTo>
                        <a:pt x="338926" y="193652"/>
                        <a:pt x="334654" y="198007"/>
                        <a:pt x="329402" y="198007"/>
                      </a:cubicBezTo>
                      <a:cubicBezTo>
                        <a:pt x="324061" y="198007"/>
                        <a:pt x="319788" y="193652"/>
                        <a:pt x="319788" y="188408"/>
                      </a:cubicBezTo>
                      <a:cubicBezTo>
                        <a:pt x="319788" y="130101"/>
                        <a:pt x="280533" y="78282"/>
                        <a:pt x="224455" y="62372"/>
                      </a:cubicBezTo>
                      <a:cubicBezTo>
                        <a:pt x="219381" y="60950"/>
                        <a:pt x="216354" y="55706"/>
                        <a:pt x="217867" y="50551"/>
                      </a:cubicBezTo>
                      <a:cubicBezTo>
                        <a:pt x="219292" y="45484"/>
                        <a:pt x="224544" y="42551"/>
                        <a:pt x="229706" y="43973"/>
                      </a:cubicBezTo>
                      <a:close/>
                      <a:moveTo>
                        <a:pt x="463695" y="38317"/>
                      </a:moveTo>
                      <a:cubicBezTo>
                        <a:pt x="468943" y="38317"/>
                        <a:pt x="473212" y="42581"/>
                        <a:pt x="473212" y="47911"/>
                      </a:cubicBezTo>
                      <a:lnTo>
                        <a:pt x="473212" y="124481"/>
                      </a:lnTo>
                      <a:cubicBezTo>
                        <a:pt x="473212" y="129810"/>
                        <a:pt x="468943" y="134074"/>
                        <a:pt x="463695" y="134074"/>
                      </a:cubicBezTo>
                      <a:cubicBezTo>
                        <a:pt x="458359" y="134074"/>
                        <a:pt x="454089" y="129810"/>
                        <a:pt x="454089" y="124481"/>
                      </a:cubicBezTo>
                      <a:lnTo>
                        <a:pt x="454089" y="47911"/>
                      </a:lnTo>
                      <a:cubicBezTo>
                        <a:pt x="454089" y="42581"/>
                        <a:pt x="458359" y="38317"/>
                        <a:pt x="463695" y="38317"/>
                      </a:cubicBezTo>
                      <a:close/>
                      <a:moveTo>
                        <a:pt x="188697" y="38317"/>
                      </a:moveTo>
                      <a:lnTo>
                        <a:pt x="189675" y="38317"/>
                      </a:lnTo>
                      <a:cubicBezTo>
                        <a:pt x="195010" y="38406"/>
                        <a:pt x="199277" y="42671"/>
                        <a:pt x="199188" y="48003"/>
                      </a:cubicBezTo>
                      <a:cubicBezTo>
                        <a:pt x="199188" y="53246"/>
                        <a:pt x="194921" y="57511"/>
                        <a:pt x="189675" y="57511"/>
                      </a:cubicBezTo>
                      <a:lnTo>
                        <a:pt x="189586" y="57511"/>
                      </a:lnTo>
                      <a:lnTo>
                        <a:pt x="188697" y="57511"/>
                      </a:lnTo>
                      <a:cubicBezTo>
                        <a:pt x="183363" y="57511"/>
                        <a:pt x="179095" y="53157"/>
                        <a:pt x="179095" y="47914"/>
                      </a:cubicBezTo>
                      <a:cubicBezTo>
                        <a:pt x="179095" y="42583"/>
                        <a:pt x="183363" y="38317"/>
                        <a:pt x="188697" y="38317"/>
                      </a:cubicBezTo>
                      <a:close/>
                      <a:moveTo>
                        <a:pt x="457299" y="19198"/>
                      </a:moveTo>
                      <a:cubicBezTo>
                        <a:pt x="441465" y="19198"/>
                        <a:pt x="428476" y="32085"/>
                        <a:pt x="428476" y="47905"/>
                      </a:cubicBezTo>
                      <a:lnTo>
                        <a:pt x="428476" y="405549"/>
                      </a:lnTo>
                      <a:cubicBezTo>
                        <a:pt x="428476" y="421369"/>
                        <a:pt x="441465" y="434257"/>
                        <a:pt x="457299" y="434257"/>
                      </a:cubicBezTo>
                      <a:cubicBezTo>
                        <a:pt x="473134" y="434257"/>
                        <a:pt x="486033" y="421369"/>
                        <a:pt x="486033" y="405549"/>
                      </a:cubicBezTo>
                      <a:lnTo>
                        <a:pt x="486033" y="47905"/>
                      </a:lnTo>
                      <a:cubicBezTo>
                        <a:pt x="486033" y="32085"/>
                        <a:pt x="473134" y="19198"/>
                        <a:pt x="457299" y="19198"/>
                      </a:cubicBezTo>
                      <a:close/>
                      <a:moveTo>
                        <a:pt x="186282" y="19198"/>
                      </a:moveTo>
                      <a:cubicBezTo>
                        <a:pt x="142048" y="19198"/>
                        <a:pt x="100484" y="36173"/>
                        <a:pt x="68977" y="67192"/>
                      </a:cubicBezTo>
                      <a:cubicBezTo>
                        <a:pt x="36847" y="98832"/>
                        <a:pt x="19136" y="140960"/>
                        <a:pt x="19136" y="186021"/>
                      </a:cubicBezTo>
                      <a:cubicBezTo>
                        <a:pt x="19136" y="201841"/>
                        <a:pt x="32041" y="214729"/>
                        <a:pt x="47973" y="214729"/>
                      </a:cubicBezTo>
                      <a:cubicBezTo>
                        <a:pt x="63815" y="214729"/>
                        <a:pt x="76720" y="201841"/>
                        <a:pt x="76720" y="186021"/>
                      </a:cubicBezTo>
                      <a:cubicBezTo>
                        <a:pt x="76720" y="156514"/>
                        <a:pt x="88291" y="128873"/>
                        <a:pt x="109384" y="108164"/>
                      </a:cubicBezTo>
                      <a:cubicBezTo>
                        <a:pt x="130389" y="87367"/>
                        <a:pt x="158335" y="76168"/>
                        <a:pt x="187795" y="76613"/>
                      </a:cubicBezTo>
                      <a:cubicBezTo>
                        <a:pt x="246537" y="77502"/>
                        <a:pt x="294954" y="125851"/>
                        <a:pt x="295755" y="184421"/>
                      </a:cubicBezTo>
                      <a:cubicBezTo>
                        <a:pt x="296289" y="226283"/>
                        <a:pt x="272437" y="265389"/>
                        <a:pt x="234789" y="284053"/>
                      </a:cubicBezTo>
                      <a:cubicBezTo>
                        <a:pt x="211559" y="295519"/>
                        <a:pt x="192067" y="313294"/>
                        <a:pt x="178361" y="335336"/>
                      </a:cubicBezTo>
                      <a:cubicBezTo>
                        <a:pt x="165189" y="356489"/>
                        <a:pt x="157979" y="380841"/>
                        <a:pt x="157534" y="405727"/>
                      </a:cubicBezTo>
                      <a:cubicBezTo>
                        <a:pt x="157445" y="405905"/>
                        <a:pt x="157445" y="406082"/>
                        <a:pt x="157445" y="406260"/>
                      </a:cubicBezTo>
                      <a:cubicBezTo>
                        <a:pt x="157890" y="421814"/>
                        <a:pt x="170618" y="434257"/>
                        <a:pt x="186282" y="434257"/>
                      </a:cubicBezTo>
                      <a:cubicBezTo>
                        <a:pt x="202125" y="434257"/>
                        <a:pt x="215030" y="421369"/>
                        <a:pt x="215030" y="405549"/>
                      </a:cubicBezTo>
                      <a:cubicBezTo>
                        <a:pt x="215030" y="405016"/>
                        <a:pt x="215030" y="404483"/>
                        <a:pt x="215119" y="403949"/>
                      </a:cubicBezTo>
                      <a:cubicBezTo>
                        <a:pt x="216810" y="374620"/>
                        <a:pt x="234077" y="348579"/>
                        <a:pt x="260421" y="335514"/>
                      </a:cubicBezTo>
                      <a:cubicBezTo>
                        <a:pt x="288190" y="321737"/>
                        <a:pt x="311598" y="300496"/>
                        <a:pt x="328063" y="274188"/>
                      </a:cubicBezTo>
                      <a:cubicBezTo>
                        <a:pt x="344973" y="247080"/>
                        <a:pt x="353696" y="215795"/>
                        <a:pt x="353251" y="183622"/>
                      </a:cubicBezTo>
                      <a:cubicBezTo>
                        <a:pt x="352717" y="140160"/>
                        <a:pt x="335272" y="99099"/>
                        <a:pt x="304210" y="68169"/>
                      </a:cubicBezTo>
                      <a:cubicBezTo>
                        <a:pt x="273238" y="37151"/>
                        <a:pt x="232207" y="19820"/>
                        <a:pt x="188596" y="19198"/>
                      </a:cubicBezTo>
                      <a:cubicBezTo>
                        <a:pt x="187795" y="19198"/>
                        <a:pt x="187083" y="19198"/>
                        <a:pt x="186282" y="19198"/>
                      </a:cubicBezTo>
                      <a:close/>
                      <a:moveTo>
                        <a:pt x="457299" y="0"/>
                      </a:moveTo>
                      <a:cubicBezTo>
                        <a:pt x="483720" y="0"/>
                        <a:pt x="505248" y="21509"/>
                        <a:pt x="505248" y="47905"/>
                      </a:cubicBezTo>
                      <a:lnTo>
                        <a:pt x="505248" y="405549"/>
                      </a:lnTo>
                      <a:cubicBezTo>
                        <a:pt x="505248" y="431946"/>
                        <a:pt x="483720" y="453454"/>
                        <a:pt x="457299" y="453454"/>
                      </a:cubicBezTo>
                      <a:cubicBezTo>
                        <a:pt x="430878" y="453454"/>
                        <a:pt x="409350" y="431946"/>
                        <a:pt x="409350" y="405549"/>
                      </a:cubicBezTo>
                      <a:lnTo>
                        <a:pt x="409350" y="47905"/>
                      </a:lnTo>
                      <a:cubicBezTo>
                        <a:pt x="409350" y="21509"/>
                        <a:pt x="430878" y="0"/>
                        <a:pt x="457299" y="0"/>
                      </a:cubicBezTo>
                      <a:close/>
                      <a:moveTo>
                        <a:pt x="186282" y="0"/>
                      </a:moveTo>
                      <a:cubicBezTo>
                        <a:pt x="187172" y="0"/>
                        <a:pt x="187973" y="0"/>
                        <a:pt x="188863" y="0"/>
                      </a:cubicBezTo>
                      <a:cubicBezTo>
                        <a:pt x="237459" y="711"/>
                        <a:pt x="283295" y="20087"/>
                        <a:pt x="317828" y="54571"/>
                      </a:cubicBezTo>
                      <a:cubicBezTo>
                        <a:pt x="352361" y="89145"/>
                        <a:pt x="371763" y="134828"/>
                        <a:pt x="372475" y="183355"/>
                      </a:cubicBezTo>
                      <a:cubicBezTo>
                        <a:pt x="373009" y="219173"/>
                        <a:pt x="363219" y="254102"/>
                        <a:pt x="344350" y="284320"/>
                      </a:cubicBezTo>
                      <a:cubicBezTo>
                        <a:pt x="326016" y="313738"/>
                        <a:pt x="299938" y="337291"/>
                        <a:pt x="268965" y="352667"/>
                      </a:cubicBezTo>
                      <a:cubicBezTo>
                        <a:pt x="248495" y="362799"/>
                        <a:pt x="235234" y="383241"/>
                        <a:pt x="234255" y="405994"/>
                      </a:cubicBezTo>
                      <a:cubicBezTo>
                        <a:pt x="234255" y="406260"/>
                        <a:pt x="234255" y="406616"/>
                        <a:pt x="234166" y="406882"/>
                      </a:cubicBezTo>
                      <a:cubicBezTo>
                        <a:pt x="233454" y="432657"/>
                        <a:pt x="212271" y="453454"/>
                        <a:pt x="186282" y="453454"/>
                      </a:cubicBezTo>
                      <a:cubicBezTo>
                        <a:pt x="159760" y="453454"/>
                        <a:pt x="138310" y="431946"/>
                        <a:pt x="138310" y="405549"/>
                      </a:cubicBezTo>
                      <a:cubicBezTo>
                        <a:pt x="138310" y="405194"/>
                        <a:pt x="138310" y="404838"/>
                        <a:pt x="138310" y="404483"/>
                      </a:cubicBezTo>
                      <a:cubicBezTo>
                        <a:pt x="139022" y="376486"/>
                        <a:pt x="147210" y="349112"/>
                        <a:pt x="162074" y="325293"/>
                      </a:cubicBezTo>
                      <a:cubicBezTo>
                        <a:pt x="177649" y="300140"/>
                        <a:pt x="199811" y="279965"/>
                        <a:pt x="226333" y="266900"/>
                      </a:cubicBezTo>
                      <a:cubicBezTo>
                        <a:pt x="257306" y="251524"/>
                        <a:pt x="277065" y="219262"/>
                        <a:pt x="276531" y="184688"/>
                      </a:cubicBezTo>
                      <a:cubicBezTo>
                        <a:pt x="275908" y="136339"/>
                        <a:pt x="235946" y="96521"/>
                        <a:pt x="187528" y="95810"/>
                      </a:cubicBezTo>
                      <a:cubicBezTo>
                        <a:pt x="163231" y="95455"/>
                        <a:pt x="140179" y="104698"/>
                        <a:pt x="122824" y="121763"/>
                      </a:cubicBezTo>
                      <a:cubicBezTo>
                        <a:pt x="105468" y="138827"/>
                        <a:pt x="95945" y="161669"/>
                        <a:pt x="95945" y="186021"/>
                      </a:cubicBezTo>
                      <a:cubicBezTo>
                        <a:pt x="95945" y="212418"/>
                        <a:pt x="74406" y="233926"/>
                        <a:pt x="47973" y="233926"/>
                      </a:cubicBezTo>
                      <a:cubicBezTo>
                        <a:pt x="21539" y="233926"/>
                        <a:pt x="0" y="212418"/>
                        <a:pt x="0" y="186021"/>
                      </a:cubicBezTo>
                      <a:cubicBezTo>
                        <a:pt x="0" y="135805"/>
                        <a:pt x="19670" y="88789"/>
                        <a:pt x="55449" y="53593"/>
                      </a:cubicBezTo>
                      <a:cubicBezTo>
                        <a:pt x="90605" y="18931"/>
                        <a:pt x="136975" y="0"/>
                        <a:pt x="186282" y="0"/>
                      </a:cubicBezTo>
                      <a:close/>
                    </a:path>
                  </a:pathLst>
                </a:custGeom>
                <a:solidFill>
                  <a:srgbClr val="FFFFFF"/>
                </a:solidFill>
                <a:ln>
                  <a:noFill/>
                </a:ln>
              </p:spPr>
              <p:txBody>
                <a:bodyPr wrap="square" lIns="91440" tIns="45720" rIns="91440" bIns="45720" anchor="ctr">
                  <a:normAutofit lnSpcReduction="10000"/>
                </a:bodyPr>
                <a:lstStyle/>
                <a:p>
                  <a:pPr algn="ctr"/>
                  <a:endParaRPr/>
                </a:p>
              </p:txBody>
            </p:sp>
          </p:grpSp>
          <p:grpSp>
            <p:nvGrpSpPr>
              <p:cNvPr id="24" name="组合 23"/>
              <p:cNvGrpSpPr/>
              <p:nvPr/>
            </p:nvGrpSpPr>
            <p:grpSpPr>
              <a:xfrm>
                <a:off x="673101" y="3959120"/>
                <a:ext cx="3297921" cy="1381721"/>
                <a:chOff x="673101" y="3959120"/>
                <a:chExt cx="3297921" cy="1381721"/>
              </a:xfrm>
            </p:grpSpPr>
            <p:sp>
              <p:nvSpPr>
                <p:cNvPr id="10" name="Text2"/>
                <p:cNvSpPr txBox="1"/>
                <p:nvPr/>
              </p:nvSpPr>
              <p:spPr>
                <a:xfrm>
                  <a:off x="673101" y="4405884"/>
                  <a:ext cx="3297921" cy="934957"/>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a:lnSpc>
                      <a:spcPct val="120000"/>
                    </a:lnSpc>
                    <a:buFont typeface="Arial" panose="020B0604020202020204" pitchFamily="34" charset="0"/>
                    <a:buChar char="•"/>
                  </a:pPr>
                  <a:r>
                    <a:rPr lang="zh-CN" altLang="en-US" sz="1000" dirty="0">
                      <a:solidFill>
                        <a:schemeClr val="tx1"/>
                      </a:solidFill>
                      <a:latin typeface="Arial" panose="020B0604020202020204"/>
                      <a:ea typeface="Arial" panose="020B0604020202020204"/>
                    </a:rPr>
                    <a:t>Large volume of executed and dependent code</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000" dirty="0">
                      <a:solidFill>
                        <a:schemeClr val="tx1"/>
                      </a:solidFill>
                      <a:latin typeface="Arial" panose="020B0604020202020204"/>
                      <a:ea typeface="Arial" panose="020B0604020202020204"/>
                    </a:rPr>
                    <a:t>Missing dependencies reduce comprehensibility</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000" dirty="0">
                      <a:solidFill>
                        <a:schemeClr val="tx1"/>
                      </a:solidFill>
                      <a:latin typeface="Arial" panose="020B0604020202020204"/>
                      <a:ea typeface="Arial" panose="020B0604020202020204"/>
                    </a:rPr>
                    <a:t>Too much code exceeds LLM context limits and increases cost</a:t>
                  </a:r>
                  <a:endParaRPr lang="en-US" dirty="0"/>
                </a:p>
              </p:txBody>
            </p:sp>
            <p:sp>
              <p:nvSpPr>
                <p:cNvPr id="11" name="Bullet2"/>
                <p:cNvSpPr/>
                <p:nvPr/>
              </p:nvSpPr>
              <p:spPr>
                <a:xfrm>
                  <a:off x="673101" y="3959120"/>
                  <a:ext cx="2908300" cy="446763"/>
                </a:xfrm>
                <a:prstGeom prst="rect">
                  <a:avLst/>
                </a:prstGeom>
              </p:spPr>
              <p:txBody>
                <a:bodyPr wrap="square" lIns="91440" tIns="45720" rIns="91440" bIns="45720" anchor="b" anchorCtr="0">
                  <a:normAutofit fontScale="7222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a:r>
                    <a:rPr lang="zh-CN" altLang="en-US" sz="1800" b="1" dirty="0">
                      <a:solidFill>
                        <a:schemeClr val="tx1"/>
                      </a:solidFill>
                      <a:latin typeface="Arial" panose="020B0604020202020204"/>
                      <a:ea typeface="Arial" panose="020B0604020202020204"/>
                    </a:rPr>
                    <a:t>Challenge 3: Profiling Failure-Related Code</a:t>
                  </a:r>
                  <a:endParaRPr lang="en-US" dirty="0"/>
                </a:p>
              </p:txBody>
            </p:sp>
          </p:grpSp>
        </p:grpSp>
        <p:grpSp>
          <p:nvGrpSpPr>
            <p:cNvPr id="28" name="组合 27"/>
            <p:cNvGrpSpPr/>
            <p:nvPr/>
          </p:nvGrpSpPr>
          <p:grpSpPr>
            <a:xfrm>
              <a:off x="5815053" y="2846659"/>
              <a:ext cx="5231327" cy="2247773"/>
              <a:chOff x="6287573" y="2067416"/>
              <a:chExt cx="5231327" cy="2247773"/>
            </a:xfrm>
          </p:grpSpPr>
          <p:grpSp>
            <p:nvGrpSpPr>
              <p:cNvPr id="22" name="组合 21"/>
              <p:cNvGrpSpPr/>
              <p:nvPr/>
            </p:nvGrpSpPr>
            <p:grpSpPr>
              <a:xfrm>
                <a:off x="6287573" y="2067416"/>
                <a:ext cx="1735792" cy="2247773"/>
                <a:chOff x="6287573" y="2067416"/>
                <a:chExt cx="1735792" cy="2247773"/>
              </a:xfrm>
            </p:grpSpPr>
            <p:sp>
              <p:nvSpPr>
                <p:cNvPr id="16" name="任意多边形: 形状 15"/>
                <p:cNvSpPr/>
                <p:nvPr/>
              </p:nvSpPr>
              <p:spPr>
                <a:xfrm rot="3940857">
                  <a:off x="6031582" y="2323407"/>
                  <a:ext cx="2247773" cy="173579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9" name="Icon3"/>
                <p:cNvSpPr/>
                <p:nvPr/>
              </p:nvSpPr>
              <p:spPr bwMode="auto">
                <a:xfrm>
                  <a:off x="6967754" y="2964055"/>
                  <a:ext cx="433256" cy="432604"/>
                </a:xfrm>
                <a:custGeom>
                  <a:avLst/>
                  <a:gdLst>
                    <a:gd name="T0" fmla="*/ 455839 w 606244"/>
                    <a:gd name="T1" fmla="*/ 455839 w 606244"/>
                    <a:gd name="T2" fmla="*/ 600116 w 606244"/>
                    <a:gd name="T3" fmla="*/ 600116 w 606244"/>
                    <a:gd name="T4" fmla="*/ 600116 w 606244"/>
                    <a:gd name="T5" fmla="*/ 600116 w 606244"/>
                    <a:gd name="T6" fmla="*/ 600116 w 606244"/>
                    <a:gd name="T7" fmla="*/ 600116 w 606244"/>
                    <a:gd name="T8" fmla="*/ 600116 w 606244"/>
                    <a:gd name="T9" fmla="*/ 600116 w 606244"/>
                    <a:gd name="T10" fmla="*/ 455839 w 606244"/>
                    <a:gd name="T11" fmla="*/ 455839 w 606244"/>
                    <a:gd name="T12" fmla="*/ 600116 w 606244"/>
                    <a:gd name="T13" fmla="*/ 600116 w 606244"/>
                    <a:gd name="T14" fmla="*/ 600116 w 606244"/>
                    <a:gd name="T15" fmla="*/ 600116 w 606244"/>
                    <a:gd name="T16" fmla="*/ 600116 w 606244"/>
                    <a:gd name="T17" fmla="*/ 600116 w 606244"/>
                    <a:gd name="T18" fmla="*/ 600116 w 606244"/>
                    <a:gd name="T19" fmla="*/ 600116 w 606244"/>
                    <a:gd name="T20" fmla="*/ 455839 w 606244"/>
                    <a:gd name="T21" fmla="*/ 455839 w 606244"/>
                    <a:gd name="T22" fmla="*/ 600116 w 606244"/>
                    <a:gd name="T23" fmla="*/ 600116 w 606244"/>
                    <a:gd name="T24" fmla="*/ 600116 w 606244"/>
                    <a:gd name="T25" fmla="*/ 600116 w 606244"/>
                    <a:gd name="T26" fmla="*/ 600116 w 606244"/>
                    <a:gd name="T27" fmla="*/ 600116 w 606244"/>
                    <a:gd name="T28" fmla="*/ 600116 w 606244"/>
                    <a:gd name="T29" fmla="*/ 600116 w 606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0" h="320">
                      <a:moveTo>
                        <a:pt x="160" y="0"/>
                      </a:moveTo>
                      <a:cubicBezTo>
                        <a:pt x="72" y="0"/>
                        <a:pt x="0" y="72"/>
                        <a:pt x="0" y="160"/>
                      </a:cubicBezTo>
                      <a:cubicBezTo>
                        <a:pt x="0" y="248"/>
                        <a:pt x="72" y="320"/>
                        <a:pt x="160" y="320"/>
                      </a:cubicBezTo>
                      <a:cubicBezTo>
                        <a:pt x="248" y="320"/>
                        <a:pt x="320" y="248"/>
                        <a:pt x="320" y="160"/>
                      </a:cubicBezTo>
                      <a:cubicBezTo>
                        <a:pt x="320" y="72"/>
                        <a:pt x="248" y="0"/>
                        <a:pt x="160" y="0"/>
                      </a:cubicBezTo>
                      <a:close/>
                      <a:moveTo>
                        <a:pt x="160" y="262"/>
                      </a:moveTo>
                      <a:cubicBezTo>
                        <a:pt x="147" y="262"/>
                        <a:pt x="139" y="252"/>
                        <a:pt x="139" y="240"/>
                      </a:cubicBezTo>
                      <a:cubicBezTo>
                        <a:pt x="139" y="227"/>
                        <a:pt x="148" y="218"/>
                        <a:pt x="160" y="218"/>
                      </a:cubicBezTo>
                      <a:cubicBezTo>
                        <a:pt x="173" y="218"/>
                        <a:pt x="181" y="227"/>
                        <a:pt x="181" y="240"/>
                      </a:cubicBezTo>
                      <a:cubicBezTo>
                        <a:pt x="181" y="253"/>
                        <a:pt x="173" y="262"/>
                        <a:pt x="160" y="262"/>
                      </a:cubicBezTo>
                      <a:close/>
                      <a:moveTo>
                        <a:pt x="168" y="178"/>
                      </a:moveTo>
                      <a:cubicBezTo>
                        <a:pt x="165" y="188"/>
                        <a:pt x="155" y="189"/>
                        <a:pt x="152" y="178"/>
                      </a:cubicBezTo>
                      <a:cubicBezTo>
                        <a:pt x="148" y="165"/>
                        <a:pt x="134" y="116"/>
                        <a:pt x="134" y="85"/>
                      </a:cubicBezTo>
                      <a:cubicBezTo>
                        <a:pt x="134" y="44"/>
                        <a:pt x="186" y="43"/>
                        <a:pt x="186" y="85"/>
                      </a:cubicBezTo>
                      <a:cubicBezTo>
                        <a:pt x="186" y="117"/>
                        <a:pt x="172" y="166"/>
                        <a:pt x="168" y="178"/>
                      </a:cubicBezTo>
                      <a:close/>
                    </a:path>
                  </a:pathLst>
                </a:custGeom>
                <a:solidFill>
                  <a:srgbClr val="FFFFFF"/>
                </a:solidFill>
                <a:ln>
                  <a:noFill/>
                </a:ln>
              </p:spPr>
              <p:txBody>
                <a:bodyPr wrap="square" lIns="91440" tIns="45720" rIns="91440" bIns="45720" anchor="ctr">
                  <a:normAutofit/>
                </a:bodyPr>
                <a:lstStyle/>
                <a:p>
                  <a:pPr algn="ctr"/>
                  <a:endParaRPr/>
                </a:p>
              </p:txBody>
            </p:sp>
          </p:grpSp>
          <p:grpSp>
            <p:nvGrpSpPr>
              <p:cNvPr id="25" name="组合 24"/>
              <p:cNvGrpSpPr/>
              <p:nvPr/>
            </p:nvGrpSpPr>
            <p:grpSpPr>
              <a:xfrm>
                <a:off x="7831357" y="2607880"/>
                <a:ext cx="3687543" cy="1468060"/>
                <a:chOff x="7831357" y="2607880"/>
                <a:chExt cx="3687543" cy="1468060"/>
              </a:xfrm>
            </p:grpSpPr>
            <p:sp>
              <p:nvSpPr>
                <p:cNvPr id="7" name="Text3"/>
                <p:cNvSpPr txBox="1"/>
                <p:nvPr/>
              </p:nvSpPr>
              <p:spPr>
                <a:xfrm>
                  <a:off x="8610600" y="3140983"/>
                  <a:ext cx="2908300" cy="934957"/>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a:lnSpc>
                      <a:spcPct val="120000"/>
                    </a:lnSpc>
                    <a:buFont typeface="Arial" panose="020B0604020202020204" pitchFamily="34" charset="0"/>
                    <a:buChar char="•"/>
                  </a:pPr>
                  <a:r>
                    <a:rPr lang="zh-CN" altLang="en-US" sz="1000" dirty="0">
                      <a:solidFill>
                        <a:schemeClr val="tx1"/>
                      </a:solidFill>
                      <a:latin typeface="Arial" panose="020B0604020202020204"/>
                      <a:ea typeface="Arial" panose="020B0604020202020204"/>
                    </a:rPr>
                    <a:t>Complex dependencies in distributed systems</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000" dirty="0">
                      <a:solidFill>
                        <a:schemeClr val="tx1"/>
                      </a:solidFill>
                      <a:latin typeface="Arial" panose="020B0604020202020204"/>
                      <a:ea typeface="Arial" panose="020B0604020202020204"/>
                    </a:rPr>
                    <a:t>Static calls, RPC calls, and dynamic bindings</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000" dirty="0">
                      <a:solidFill>
                        <a:schemeClr val="tx1"/>
                      </a:solidFill>
                      <a:latin typeface="Arial" panose="020B0604020202020204"/>
                      <a:ea typeface="Arial" panose="020B0604020202020204"/>
                    </a:rPr>
                    <a:t>Hard to determine what code was executed before failure</a:t>
                  </a:r>
                  <a:endParaRPr lang="en-US" dirty="0"/>
                </a:p>
              </p:txBody>
            </p:sp>
            <p:sp>
              <p:nvSpPr>
                <p:cNvPr id="8" name="Bullet3"/>
                <p:cNvSpPr/>
                <p:nvPr/>
              </p:nvSpPr>
              <p:spPr>
                <a:xfrm>
                  <a:off x="7831357" y="2607880"/>
                  <a:ext cx="3687543" cy="446763"/>
                </a:xfrm>
                <a:prstGeom prst="rect">
                  <a:avLst/>
                </a:prstGeom>
              </p:spPr>
              <p:txBody>
                <a:bodyPr wrap="square" lIns="91440" tIns="45720" rIns="91440" bIns="45720" anchor="b" anchorCtr="0">
                  <a:normAutofit fontScale="7222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a:r>
                    <a:rPr lang="zh-CN" altLang="en-US" sz="1800" b="1" dirty="0">
                      <a:solidFill>
                        <a:schemeClr val="tx1"/>
                      </a:solidFill>
                      <a:latin typeface="Arial" panose="020B0604020202020204"/>
                      <a:ea typeface="Arial" panose="020B0604020202020204"/>
                    </a:rPr>
                    <a:t>Challenge 2: Reconstructing Execution Paths</a:t>
                  </a:r>
                  <a:endParaRPr lang="en-US" dirty="0"/>
                </a:p>
              </p:txBody>
            </p:sp>
          </p:grpSp>
        </p:grpSp>
      </p:grpSp>
      <p:sp>
        <p:nvSpPr>
          <p:cNvPr id="2" name="标题 1"/>
          <p:cNvSpPr>
            <a:spLocks noGrp="1"/>
          </p:cNvSpPr>
          <p:nvPr>
            <p:ph type="title" hasCustomPrompt="1"/>
          </p:nvPr>
        </p:nvSpPr>
        <p:spPr/>
        <p:txBody>
          <a:bodyPr>
            <a:normAutofit/>
          </a:bodyPr>
          <a:lstStyle/>
          <a:p>
            <a:pPr marL="0" marR="0" lvl="0" indent="0" algn="l">
              <a:lnSpc>
                <a:spcPct val="100000"/>
              </a:lnSpc>
            </a:pPr>
            <a:r>
              <a:rPr lang="zh-CN" altLang="en-US" sz="2800" b="1" dirty="0">
                <a:solidFill>
                  <a:schemeClr val="accent1"/>
                </a:solidFill>
              </a:rPr>
              <a:t>Challenges of Integrating Code Knowledge into RCA</a:t>
            </a:r>
            <a:endParaRPr lang="en-US" dirty="0"/>
          </a:p>
        </p:txBody>
      </p:sp>
      <p:pic>
        <p:nvPicPr>
          <p:cNvPr id="3" name="图片 2"/>
          <p:cNvPicPr>
            <a:picLocks noChangeAspect="1"/>
          </p:cNvPicPr>
          <p:nvPr/>
        </p:nvPicPr>
        <p:blipFill>
          <a:blip r:embed="rId2"/>
          <a:stretch>
            <a:fillRect/>
          </a:stretch>
        </p:blipFill>
        <p:spPr>
          <a:xfrm>
            <a:off x="6608445" y="1091565"/>
            <a:ext cx="5962650" cy="19240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fontScale="96430"/>
          </a:bodyPr>
          <a:lstStyle/>
          <a:p>
            <a:pPr marL="0" marR="0" lvl="0" indent="0" algn="l">
              <a:lnSpc>
                <a:spcPct val="100000"/>
              </a:lnSpc>
            </a:pPr>
            <a:r>
              <a:rPr lang="zh-CN" altLang="en-US" sz="2800" b="1" dirty="0">
                <a:solidFill>
                  <a:schemeClr val="accent1"/>
                </a:solidFill>
              </a:rPr>
              <a:t>COCA Flowchart</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t>7</a:t>
            </a:fld>
            <a:endParaRPr lang="en-US"/>
          </a:p>
        </p:txBody>
      </p:sp>
      <p:pic>
        <p:nvPicPr>
          <p:cNvPr id="6" name="图片 5"/>
          <p:cNvPicPr>
            <a:picLocks noChangeAspect="1"/>
          </p:cNvPicPr>
          <p:nvPr/>
        </p:nvPicPr>
        <p:blipFill>
          <a:blip r:embed="rId2"/>
          <a:srcRect r="5474"/>
          <a:stretch>
            <a:fillRect/>
          </a:stretch>
        </p:blipFill>
        <p:spPr>
          <a:xfrm>
            <a:off x="141605" y="1632585"/>
            <a:ext cx="11524615" cy="35934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fontScale="96430"/>
          </a:bodyPr>
          <a:lstStyle/>
          <a:p>
            <a:pPr marL="0" marR="0" lvl="0" indent="0" algn="l">
              <a:lnSpc>
                <a:spcPct val="100000"/>
              </a:lnSpc>
            </a:pPr>
            <a:r>
              <a:rPr lang="zh-CN" altLang="en-US" sz="2800" b="1" dirty="0">
                <a:solidFill>
                  <a:schemeClr val="accent1"/>
                </a:solidFill>
              </a:rPr>
              <a:t>Issue Reports in Distributed Systems</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t>8</a:t>
            </a:fld>
            <a:endParaRPr lang="en-US"/>
          </a:p>
        </p:txBody>
      </p:sp>
      <p:pic>
        <p:nvPicPr>
          <p:cNvPr id="6" name="图片 5"/>
          <p:cNvPicPr>
            <a:picLocks noChangeAspect="1"/>
          </p:cNvPicPr>
          <p:nvPr/>
        </p:nvPicPr>
        <p:blipFill>
          <a:blip r:embed="rId2"/>
          <a:stretch>
            <a:fillRect/>
          </a:stretch>
        </p:blipFill>
        <p:spPr>
          <a:xfrm>
            <a:off x="3244850" y="1425575"/>
            <a:ext cx="5457825" cy="4514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fontScale="96430"/>
          </a:bodyPr>
          <a:lstStyle/>
          <a:p>
            <a:pPr marL="0" marR="0" lvl="0" indent="0" algn="l">
              <a:lnSpc>
                <a:spcPct val="100000"/>
              </a:lnSpc>
            </a:pPr>
            <a:r>
              <a:rPr lang="zh-CN" altLang="en-US" sz="2800" b="1" dirty="0">
                <a:solidFill>
                  <a:schemeClr val="accent1"/>
                </a:solidFill>
              </a:rPr>
              <a:t>I : Logging Source Retrieval</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t>9</a:t>
            </a:fld>
            <a:endParaRPr lang="en-US"/>
          </a:p>
        </p:txBody>
      </p:sp>
      <p:sp>
        <p:nvSpPr>
          <p:cNvPr id="7" name="文本框"/>
          <p:cNvSpPr txBox="1"/>
          <p:nvPr/>
        </p:nvSpPr>
        <p:spPr>
          <a:xfrm>
            <a:off x="803117" y="1176159"/>
            <a:ext cx="8597625" cy="341250"/>
          </a:xfrm>
          <a:prstGeom prst="rect">
            <a:avLst/>
          </a:prstGeom>
          <a:noFill/>
        </p:spPr>
        <p:txBody>
          <a:bodyPr wrap="none" rtlCol="0">
            <a:spAutoFit/>
          </a:bodyPr>
          <a:lstStyle/>
          <a:p>
            <a:pPr marL="0" marR="0" lvl="0" indent="0" algn="l">
              <a:lnSpc>
                <a:spcPct val="120000"/>
              </a:lnSpc>
            </a:pPr>
            <a:r>
              <a:rPr lang="zh-CN" altLang="en-US" sz="1400" b="1" dirty="0">
                <a:solidFill>
                  <a:schemeClr val="tx1"/>
                </a:solidFill>
              </a:rPr>
              <a:t>Objective: Accurately locate the code position corresponding to log messages in issue reports.</a:t>
            </a:r>
            <a:endParaRPr lang="en-US" dirty="0"/>
          </a:p>
        </p:txBody>
      </p:sp>
      <p:sp>
        <p:nvSpPr>
          <p:cNvPr id="8" name="文本框"/>
          <p:cNvSpPr txBox="1"/>
          <p:nvPr/>
        </p:nvSpPr>
        <p:spPr>
          <a:xfrm>
            <a:off x="803117" y="1736888"/>
            <a:ext cx="2701650" cy="341250"/>
          </a:xfrm>
          <a:prstGeom prst="rect">
            <a:avLst/>
          </a:prstGeom>
          <a:noFill/>
        </p:spPr>
        <p:txBody>
          <a:bodyPr wrap="none" rtlCol="0">
            <a:spAutoFit/>
          </a:bodyPr>
          <a:lstStyle/>
          <a:p>
            <a:pPr marL="0" marR="0" lvl="0" indent="0" algn="l">
              <a:lnSpc>
                <a:spcPct val="120000"/>
              </a:lnSpc>
            </a:pPr>
            <a:r>
              <a:rPr lang="zh-CN" altLang="en-US" sz="1400" b="1" dirty="0">
                <a:solidFill>
                  <a:schemeClr val="tx1"/>
                </a:solidFill>
              </a:rPr>
              <a:t>Method: Two-step approach</a:t>
            </a:r>
            <a:endParaRPr lang="en-US" dirty="0"/>
          </a:p>
        </p:txBody>
      </p:sp>
      <p:grpSp>
        <p:nvGrpSpPr>
          <p:cNvPr id="11" name="组合 4"/>
          <p:cNvGrpSpPr/>
          <p:nvPr/>
        </p:nvGrpSpPr>
        <p:grpSpPr>
          <a:xfrm>
            <a:off x="288279" y="2274419"/>
            <a:ext cx="5807855" cy="2683587"/>
            <a:chOff x="509226" y="2658183"/>
            <a:chExt cx="7419644" cy="2385926"/>
          </a:xfrm>
        </p:grpSpPr>
        <p:sp>
          <p:nvSpPr>
            <p:cNvPr id="45" name="矩形: 圆角 44"/>
            <p:cNvSpPr/>
            <p:nvPr/>
          </p:nvSpPr>
          <p:spPr>
            <a:xfrm>
              <a:off x="509226" y="2832608"/>
              <a:ext cx="7278486" cy="2090784"/>
            </a:xfrm>
            <a:prstGeom prst="roundRect">
              <a:avLst>
                <a:gd name="adj" fmla="val 3785"/>
              </a:avLst>
            </a:prstGeom>
            <a:solidFill>
              <a:schemeClr val="accent1">
                <a:alpha val="1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48" name="Bullet1"/>
            <p:cNvSpPr/>
            <p:nvPr/>
          </p:nvSpPr>
          <p:spPr>
            <a:xfrm flipH="1">
              <a:off x="748901" y="2658183"/>
              <a:ext cx="4689885" cy="674313"/>
            </a:xfrm>
            <a:prstGeom prst="rect">
              <a:avLst/>
            </a:prstGeom>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a:r>
                <a:rPr lang="zh-CN" altLang="en-US" sz="1600" b="1" dirty="0">
                  <a:solidFill>
                    <a:schemeClr val="tx1"/>
                  </a:solidFill>
                </a:rPr>
                <a:t>1. Restoring Logging Statements</a:t>
              </a:r>
              <a:endParaRPr lang="en-US" dirty="0"/>
            </a:p>
          </p:txBody>
        </p:sp>
        <p:sp>
          <p:nvSpPr>
            <p:cNvPr id="49" name="Text1"/>
            <p:cNvSpPr txBox="1"/>
            <p:nvPr/>
          </p:nvSpPr>
          <p:spPr>
            <a:xfrm>
              <a:off x="664179" y="3506966"/>
              <a:ext cx="7264691" cy="1537143"/>
            </a:xfrm>
            <a:prstGeom prst="rect">
              <a:avLst/>
            </a:prstGeom>
            <a:noFill/>
          </p:spPr>
          <p:txBody>
            <a:bodyPr wrap="square" rtlCol="0" anchor="t" anchorCtr="0">
              <a:normAutofit fontScale="90830"/>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a:lnSpc>
                  <a:spcPct val="120000"/>
                </a:lnSpc>
                <a:buFont typeface="Arial" panose="020B0604020202020204" pitchFamily="34" charset="0"/>
                <a:buChar char="•"/>
              </a:pPr>
              <a:r>
                <a:rPr lang="zh-CN" altLang="en-US" sz="1200" dirty="0">
                  <a:solidFill>
                    <a:schemeClr val="tx1"/>
                  </a:solidFill>
                </a:rPr>
                <a:t>Process constructed variables (such as `msg`) in the logs</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200" dirty="0">
                  <a:solidFill>
                    <a:schemeClr val="tx1"/>
                  </a:solidFill>
                </a:rPr>
                <a:t>Analyze data dependencies and control flow, tracing back the variable generation path</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200" dirty="0">
                  <a:solidFill>
                    <a:schemeClr val="tx1"/>
                  </a:solidFill>
                </a:rPr>
                <a:t>Restore the log to its original template (constant string + original variables)</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200" dirty="0">
                  <a:solidFill>
                    <a:schemeClr val="tx1"/>
                  </a:solidFill>
                </a:rPr>
                <a:t>Each log entry may generate multiple templates, covering different control branches.</a:t>
              </a:r>
              <a:endParaRPr lang="en-US" dirty="0"/>
            </a:p>
          </p:txBody>
        </p:sp>
      </p:grpSp>
      <p:pic>
        <p:nvPicPr>
          <p:cNvPr id="6" name="图片 5"/>
          <p:cNvPicPr>
            <a:picLocks noChangeAspect="1"/>
          </p:cNvPicPr>
          <p:nvPr/>
        </p:nvPicPr>
        <p:blipFill>
          <a:blip r:embed="rId2"/>
          <a:stretch>
            <a:fillRect/>
          </a:stretch>
        </p:blipFill>
        <p:spPr>
          <a:xfrm>
            <a:off x="5985510" y="2470785"/>
            <a:ext cx="6181725" cy="23431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fontScale="96430"/>
          </a:bodyPr>
          <a:lstStyle/>
          <a:p>
            <a:pPr marL="0" marR="0" lvl="0" indent="0" algn="l">
              <a:lnSpc>
                <a:spcPct val="100000"/>
              </a:lnSpc>
            </a:pPr>
            <a:r>
              <a:rPr lang="zh-CN" altLang="en-US" sz="2800" b="1" dirty="0">
                <a:solidFill>
                  <a:schemeClr val="accent1"/>
                </a:solidFill>
              </a:rPr>
              <a:t>I : Logging Source Retrieval</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t>10</a:t>
            </a:fld>
            <a:endParaRPr lang="en-US"/>
          </a:p>
        </p:txBody>
      </p:sp>
      <p:sp>
        <p:nvSpPr>
          <p:cNvPr id="7" name="文本框"/>
          <p:cNvSpPr txBox="1"/>
          <p:nvPr/>
        </p:nvSpPr>
        <p:spPr>
          <a:xfrm>
            <a:off x="803117" y="1176159"/>
            <a:ext cx="8597625" cy="341250"/>
          </a:xfrm>
          <a:prstGeom prst="rect">
            <a:avLst/>
          </a:prstGeom>
          <a:noFill/>
        </p:spPr>
        <p:txBody>
          <a:bodyPr wrap="none" rtlCol="0">
            <a:spAutoFit/>
          </a:bodyPr>
          <a:lstStyle/>
          <a:p>
            <a:pPr marL="0" marR="0" lvl="0" indent="0" algn="l">
              <a:lnSpc>
                <a:spcPct val="120000"/>
              </a:lnSpc>
            </a:pPr>
            <a:r>
              <a:rPr lang="zh-CN" altLang="en-US" sz="1400" b="1" dirty="0">
                <a:solidFill>
                  <a:schemeClr val="tx1"/>
                </a:solidFill>
              </a:rPr>
              <a:t>Objective: Accurately locate the code position corresponding to log messages in issue reports.</a:t>
            </a:r>
            <a:endParaRPr lang="en-US" dirty="0"/>
          </a:p>
        </p:txBody>
      </p:sp>
      <p:sp>
        <p:nvSpPr>
          <p:cNvPr id="8" name="文本框"/>
          <p:cNvSpPr txBox="1"/>
          <p:nvPr/>
        </p:nvSpPr>
        <p:spPr>
          <a:xfrm>
            <a:off x="803117" y="1736888"/>
            <a:ext cx="2701650" cy="341250"/>
          </a:xfrm>
          <a:prstGeom prst="rect">
            <a:avLst/>
          </a:prstGeom>
          <a:noFill/>
        </p:spPr>
        <p:txBody>
          <a:bodyPr wrap="none" rtlCol="0">
            <a:spAutoFit/>
          </a:bodyPr>
          <a:lstStyle/>
          <a:p>
            <a:pPr marL="0" marR="0" lvl="0" indent="0" algn="l">
              <a:lnSpc>
                <a:spcPct val="120000"/>
              </a:lnSpc>
            </a:pPr>
            <a:r>
              <a:rPr lang="zh-CN" altLang="en-US" sz="1400" b="1" dirty="0">
                <a:solidFill>
                  <a:schemeClr val="tx1"/>
                </a:solidFill>
              </a:rPr>
              <a:t>Method: Two-step approach</a:t>
            </a:r>
            <a:endParaRPr lang="en-US" dirty="0"/>
          </a:p>
        </p:txBody>
      </p:sp>
      <p:grpSp>
        <p:nvGrpSpPr>
          <p:cNvPr id="11" name="组合 4"/>
          <p:cNvGrpSpPr/>
          <p:nvPr/>
        </p:nvGrpSpPr>
        <p:grpSpPr>
          <a:xfrm>
            <a:off x="213671" y="2259005"/>
            <a:ext cx="5807855" cy="2660272"/>
            <a:chOff x="509226" y="2678912"/>
            <a:chExt cx="7419644" cy="2365197"/>
          </a:xfrm>
        </p:grpSpPr>
        <p:sp>
          <p:nvSpPr>
            <p:cNvPr id="45" name="矩形: 圆角 44"/>
            <p:cNvSpPr/>
            <p:nvPr/>
          </p:nvSpPr>
          <p:spPr>
            <a:xfrm>
              <a:off x="509226" y="2832608"/>
              <a:ext cx="7278486" cy="2090784"/>
            </a:xfrm>
            <a:prstGeom prst="roundRect">
              <a:avLst>
                <a:gd name="adj" fmla="val 3785"/>
              </a:avLst>
            </a:prstGeom>
            <a:solidFill>
              <a:schemeClr val="accent1">
                <a:alpha val="1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48" name="Bullet1"/>
            <p:cNvSpPr/>
            <p:nvPr/>
          </p:nvSpPr>
          <p:spPr>
            <a:xfrm flipH="1">
              <a:off x="664178" y="2678912"/>
              <a:ext cx="4689885" cy="674313"/>
            </a:xfrm>
            <a:prstGeom prst="rect">
              <a:avLst/>
            </a:prstGeom>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a:r>
                <a:rPr lang="zh-CN" altLang="en-US" sz="1600" b="1" dirty="0">
                  <a:solidFill>
                    <a:schemeClr val="tx1"/>
                  </a:solidFill>
                </a:rPr>
                <a:t>2. Log Template Matching</a:t>
              </a:r>
              <a:endParaRPr lang="en-US" dirty="0"/>
            </a:p>
          </p:txBody>
        </p:sp>
        <p:sp>
          <p:nvSpPr>
            <p:cNvPr id="49" name="Text1"/>
            <p:cNvSpPr txBox="1"/>
            <p:nvPr/>
          </p:nvSpPr>
          <p:spPr>
            <a:xfrm>
              <a:off x="664179" y="3506966"/>
              <a:ext cx="7264691" cy="1537143"/>
            </a:xfrm>
            <a:prstGeom prst="rect">
              <a:avLst/>
            </a:prstGeom>
            <a:noFill/>
          </p:spPr>
          <p:txBody>
            <a:bodyPr wrap="square" rtlCol="0" anchor="t" anchorCtr="0">
              <a:normAutofit fontScale="90830"/>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a:lnSpc>
                  <a:spcPct val="120000"/>
                </a:lnSpc>
                <a:buFont typeface="Arial" panose="020B0604020202020204" pitchFamily="34" charset="0"/>
                <a:buChar char="•"/>
              </a:pPr>
              <a:r>
                <a:rPr lang="zh-CN" altLang="en-US" sz="1200" dirty="0">
                  <a:solidFill>
                    <a:schemeClr val="tx1"/>
                  </a:solidFill>
                </a:rPr>
                <a:t>Matches issue report logs with the restored templates.</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200" dirty="0">
                  <a:solidFill>
                    <a:schemeClr val="tx1"/>
                  </a:solidFill>
                </a:rPr>
                <a:t>A log may match multiple templates.</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200" dirty="0">
                  <a:solidFill>
                    <a:schemeClr val="tx1"/>
                  </a:solidFill>
                </a:rPr>
                <a:t>Uses a non-pruned recursive matching algorithm (traverses all templates, maintaining a global perspective).</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200" dirty="0">
                  <a:solidFill>
                    <a:schemeClr val="tx1"/>
                  </a:solidFill>
                </a:rPr>
                <a:t>Prioritizes templates with the most static elements to improve matching accuracy.</a:t>
              </a:r>
              <a:endParaRPr lang="en-US" dirty="0"/>
            </a:p>
          </p:txBody>
        </p:sp>
      </p:grpSp>
      <p:sp>
        <p:nvSpPr>
          <p:cNvPr id="50" name="文本框"/>
          <p:cNvSpPr txBox="1"/>
          <p:nvPr/>
        </p:nvSpPr>
        <p:spPr>
          <a:xfrm>
            <a:off x="6440193" y="1646412"/>
            <a:ext cx="4625700" cy="522225"/>
          </a:xfrm>
          <a:prstGeom prst="rect">
            <a:avLst/>
          </a:prstGeom>
          <a:noFill/>
        </p:spPr>
        <p:txBody>
          <a:bodyPr wrap="none" rtlCol="0">
            <a:spAutoFit/>
          </a:bodyPr>
          <a:lstStyle/>
          <a:p>
            <a:pPr marL="0" marR="0" lvl="0" indent="0" algn="l">
              <a:lnSpc>
                <a:spcPct val="120000"/>
              </a:lnSpc>
            </a:pPr>
            <a:r>
              <a:rPr lang="zh-CN" altLang="en-US" sz="1200" b="0" dirty="0">
                <a:solidFill>
                  <a:schemeClr val="tx1"/>
                </a:solidFill>
              </a:rPr>
              <a:t>T1 是 "Job created, executing " + &lt;*&gt;</a:t>
            </a:r>
            <a:endParaRPr lang="en-US" dirty="0"/>
          </a:p>
          <a:p>
            <a:pPr marL="0" marR="0" lvl="0" indent="0" algn="l">
              <a:lnSpc>
                <a:spcPct val="120000"/>
              </a:lnSpc>
            </a:pPr>
            <a:r>
              <a:rPr lang="zh-CN" altLang="en-US" sz="1200" b="0" dirty="0">
                <a:solidFill>
                  <a:schemeClr val="tx1"/>
                </a:solidFill>
              </a:rPr>
              <a:t> T2 是 "Job created, executing " + &lt;*&gt; + " on node " + &lt;*&gt;。</a:t>
            </a:r>
            <a:endParaRPr lang="en-US" dirty="0"/>
          </a:p>
        </p:txBody>
      </p:sp>
      <p:pic>
        <p:nvPicPr>
          <p:cNvPr id="6" name="图片 5"/>
          <p:cNvPicPr>
            <a:picLocks noChangeAspect="1"/>
          </p:cNvPicPr>
          <p:nvPr/>
        </p:nvPicPr>
        <p:blipFill>
          <a:blip r:embed="rId2"/>
          <a:stretch>
            <a:fillRect/>
          </a:stretch>
        </p:blipFill>
        <p:spPr>
          <a:xfrm>
            <a:off x="6440170" y="2270760"/>
            <a:ext cx="4550410" cy="41611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fontScale="96430"/>
          </a:bodyPr>
          <a:lstStyle/>
          <a:p>
            <a:pPr marL="0" marR="0" lvl="0" indent="0" algn="l">
              <a:lnSpc>
                <a:spcPct val="100000"/>
              </a:lnSpc>
            </a:pPr>
            <a:r>
              <a:rPr lang="zh-CN" altLang="en-US" sz="2800" b="1" dirty="0">
                <a:solidFill>
                  <a:schemeClr val="accent1"/>
                </a:solidFill>
              </a:rPr>
              <a:t> II: Execution Path Reconstruction</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t>11</a:t>
            </a:fld>
            <a:endParaRPr lang="en-US"/>
          </a:p>
        </p:txBody>
      </p:sp>
      <p:sp>
        <p:nvSpPr>
          <p:cNvPr id="6" name="文本框"/>
          <p:cNvSpPr txBox="1"/>
          <p:nvPr/>
        </p:nvSpPr>
        <p:spPr>
          <a:xfrm>
            <a:off x="1084971" y="1267347"/>
            <a:ext cx="4854300" cy="341250"/>
          </a:xfrm>
          <a:prstGeom prst="rect">
            <a:avLst/>
          </a:prstGeom>
          <a:noFill/>
        </p:spPr>
        <p:txBody>
          <a:bodyPr wrap="none" rtlCol="0">
            <a:spAutoFit/>
          </a:bodyPr>
          <a:lstStyle/>
          <a:p>
            <a:pPr marL="0" marR="0" lvl="0" indent="0" algn="l">
              <a:lnSpc>
                <a:spcPct val="120000"/>
              </a:lnSpc>
            </a:pPr>
            <a:r>
              <a:rPr lang="zh-CN" altLang="en-US" sz="1400" b="0" dirty="0">
                <a:solidFill>
                  <a:schemeClr val="tx1"/>
                </a:solidFill>
              </a:rPr>
              <a:t>Analyze the code lines near the log statements directly.</a:t>
            </a:r>
            <a:endParaRPr lang="en-US" dirty="0"/>
          </a:p>
        </p:txBody>
      </p:sp>
      <p:sp>
        <p:nvSpPr>
          <p:cNvPr id="7" name="error-symbol_14199"/>
          <p:cNvSpPr/>
          <p:nvPr/>
        </p:nvSpPr>
        <p:spPr>
          <a:xfrm>
            <a:off x="5987271" y="1267433"/>
            <a:ext cx="498540" cy="456453"/>
          </a:xfrm>
          <a:custGeom>
            <a:avLst/>
            <a:gdLst>
              <a:gd name="T0" fmla="*/ 567 w 567"/>
              <a:gd name="T1" fmla="*/ 143 h 579"/>
              <a:gd name="T2" fmla="*/ 517 w 567"/>
              <a:gd name="T3" fmla="*/ 49 h 579"/>
              <a:gd name="T4" fmla="*/ 418 w 567"/>
              <a:gd name="T5" fmla="*/ 0 h 579"/>
              <a:gd name="T6" fmla="*/ 283 w 567"/>
              <a:gd name="T7" fmla="*/ 140 h 579"/>
              <a:gd name="T8" fmla="*/ 149 w 567"/>
              <a:gd name="T9" fmla="*/ 0 h 579"/>
              <a:gd name="T10" fmla="*/ 56 w 567"/>
              <a:gd name="T11" fmla="*/ 58 h 579"/>
              <a:gd name="T12" fmla="*/ 0 w 567"/>
              <a:gd name="T13" fmla="*/ 143 h 579"/>
              <a:gd name="T14" fmla="*/ 140 w 567"/>
              <a:gd name="T15" fmla="*/ 288 h 579"/>
              <a:gd name="T16" fmla="*/ 0 w 567"/>
              <a:gd name="T17" fmla="*/ 434 h 579"/>
              <a:gd name="T18" fmla="*/ 63 w 567"/>
              <a:gd name="T19" fmla="*/ 534 h 579"/>
              <a:gd name="T20" fmla="*/ 149 w 567"/>
              <a:gd name="T21" fmla="*/ 577 h 579"/>
              <a:gd name="T22" fmla="*/ 283 w 567"/>
              <a:gd name="T23" fmla="*/ 437 h 579"/>
              <a:gd name="T24" fmla="*/ 418 w 567"/>
              <a:gd name="T25" fmla="*/ 577 h 579"/>
              <a:gd name="T26" fmla="*/ 513 w 567"/>
              <a:gd name="T27" fmla="*/ 532 h 579"/>
              <a:gd name="T28" fmla="*/ 567 w 567"/>
              <a:gd name="T29" fmla="*/ 434 h 579"/>
              <a:gd name="T30" fmla="*/ 427 w 567"/>
              <a:gd name="T31" fmla="*/ 288 h 579"/>
              <a:gd name="T32" fmla="*/ 567 w 567"/>
              <a:gd name="T33" fmla="*/ 143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7" h="579">
                <a:moveTo>
                  <a:pt x="567" y="143"/>
                </a:moveTo>
                <a:cubicBezTo>
                  <a:pt x="567" y="143"/>
                  <a:pt x="556" y="84"/>
                  <a:pt x="517" y="49"/>
                </a:cubicBezTo>
                <a:cubicBezTo>
                  <a:pt x="478" y="14"/>
                  <a:pt x="418" y="0"/>
                  <a:pt x="418" y="0"/>
                </a:cubicBezTo>
                <a:lnTo>
                  <a:pt x="283" y="140"/>
                </a:lnTo>
                <a:lnTo>
                  <a:pt x="149" y="0"/>
                </a:lnTo>
                <a:cubicBezTo>
                  <a:pt x="149" y="0"/>
                  <a:pt x="100" y="16"/>
                  <a:pt x="56" y="58"/>
                </a:cubicBezTo>
                <a:cubicBezTo>
                  <a:pt x="13" y="99"/>
                  <a:pt x="0" y="143"/>
                  <a:pt x="0" y="143"/>
                </a:cubicBezTo>
                <a:lnTo>
                  <a:pt x="140" y="288"/>
                </a:lnTo>
                <a:lnTo>
                  <a:pt x="0" y="434"/>
                </a:lnTo>
                <a:cubicBezTo>
                  <a:pt x="0" y="434"/>
                  <a:pt x="13" y="493"/>
                  <a:pt x="63" y="534"/>
                </a:cubicBezTo>
                <a:cubicBezTo>
                  <a:pt x="113" y="575"/>
                  <a:pt x="149" y="577"/>
                  <a:pt x="149" y="577"/>
                </a:cubicBezTo>
                <a:lnTo>
                  <a:pt x="283" y="437"/>
                </a:lnTo>
                <a:lnTo>
                  <a:pt x="418" y="577"/>
                </a:lnTo>
                <a:cubicBezTo>
                  <a:pt x="418" y="577"/>
                  <a:pt x="465" y="579"/>
                  <a:pt x="513" y="532"/>
                </a:cubicBezTo>
                <a:cubicBezTo>
                  <a:pt x="561" y="486"/>
                  <a:pt x="567" y="434"/>
                  <a:pt x="567" y="434"/>
                </a:cubicBezTo>
                <a:lnTo>
                  <a:pt x="427" y="288"/>
                </a:lnTo>
                <a:lnTo>
                  <a:pt x="567" y="14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组合 12"/>
          <p:cNvGrpSpPr/>
          <p:nvPr/>
        </p:nvGrpSpPr>
        <p:grpSpPr>
          <a:xfrm>
            <a:off x="670649" y="1919048"/>
            <a:ext cx="6188549" cy="2804353"/>
            <a:chOff x="660400" y="352180"/>
            <a:chExt cx="5773476" cy="6435195"/>
          </a:xfrm>
        </p:grpSpPr>
        <p:sp>
          <p:nvSpPr>
            <p:cNvPr id="8" name="矩形: 圆角 4"/>
            <p:cNvSpPr/>
            <p:nvPr/>
          </p:nvSpPr>
          <p:spPr>
            <a:xfrm>
              <a:off x="660400" y="352180"/>
              <a:ext cx="5773476" cy="6435195"/>
            </a:xfrm>
            <a:prstGeom prst="roundRect">
              <a:avLst>
                <a:gd name="adj" fmla="val 0"/>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p>
          </p:txBody>
        </p:sp>
        <p:grpSp>
          <p:nvGrpSpPr>
            <p:cNvPr id="12" name="组合 11"/>
            <p:cNvGrpSpPr/>
            <p:nvPr/>
          </p:nvGrpSpPr>
          <p:grpSpPr>
            <a:xfrm>
              <a:off x="1414951" y="2218154"/>
              <a:ext cx="4745600" cy="1125539"/>
              <a:chOff x="1377049" y="2876323"/>
              <a:chExt cx="4745600" cy="1125539"/>
            </a:xfrm>
          </p:grpSpPr>
          <p:sp>
            <p:nvSpPr>
              <p:cNvPr id="9" name="Text1"/>
              <p:cNvSpPr txBox="1"/>
              <p:nvPr/>
            </p:nvSpPr>
            <p:spPr>
              <a:xfrm>
                <a:off x="1377049" y="2876323"/>
                <a:ext cx="4745600" cy="1125539"/>
              </a:xfrm>
              <a:prstGeom prst="rect">
                <a:avLst/>
              </a:prstGeom>
              <a:noFill/>
            </p:spPr>
            <p:txBody>
              <a:bodyPr wrap="square">
                <a:noAutofit/>
              </a:bodyPr>
              <a:lstStyle/>
              <a:p>
                <a:pPr marL="285750" marR="0" lvl="0" indent="-285750" algn="l">
                  <a:lnSpc>
                    <a:spcPct val="120000"/>
                  </a:lnSpc>
                  <a:buFont typeface="Arial" panose="020B0604020202020204" pitchFamily="34" charset="0"/>
                  <a:buChar char="•"/>
                </a:pPr>
                <a:r>
                  <a:rPr lang="zh-CN" altLang="en-US" sz="1400" dirty="0">
                    <a:solidFill>
                      <a:schemeClr val="tx1"/>
                    </a:solidFill>
                  </a:rPr>
                  <a:t>Inter-method analysis: Identify the system's call graph, including direct and indirect function call relationships.</a:t>
                </a:r>
                <a:endParaRPr lang="en-US" dirty="0"/>
              </a:p>
              <a:p>
                <a:pPr marL="285750" marR="0" lvl="0" indent="-285750" algn="l">
                  <a:lnSpc>
                    <a:spcPct val="120000"/>
                  </a:lnSpc>
                  <a:buFont typeface="Arial" panose="020B0604020202020204" pitchFamily="34" charset="0"/>
                  <a:buChar char="•"/>
                </a:pPr>
                <a:endParaRPr lang="en-US" dirty="0"/>
              </a:p>
              <a:p>
                <a:pPr marL="285750" marR="0" lvl="0" indent="-285750" algn="l">
                  <a:lnSpc>
                    <a:spcPct val="120000"/>
                  </a:lnSpc>
                  <a:buFont typeface="Arial" panose="020B0604020202020204" pitchFamily="34" charset="0"/>
                  <a:buChar char="•"/>
                </a:pPr>
                <a:r>
                  <a:rPr lang="zh-CN" altLang="en-US" sz="1400" dirty="0">
                    <a:solidFill>
                      <a:schemeClr val="tx1"/>
                    </a:solidFill>
                  </a:rPr>
                  <a:t>Intra-method analysis: Analyze the control flow within each method to determine potential execution paths.</a:t>
                </a:r>
                <a:endParaRPr lang="en-US" dirty="0"/>
              </a:p>
            </p:txBody>
          </p:sp>
        </p:grpSp>
        <p:sp>
          <p:nvSpPr>
            <p:cNvPr id="10" name="Number1"/>
            <p:cNvSpPr/>
            <p:nvPr/>
          </p:nvSpPr>
          <p:spPr>
            <a:xfrm>
              <a:off x="738067" y="2370580"/>
              <a:ext cx="561313" cy="15657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77500" lnSpcReduction="20000"/>
            </a:bodyPr>
            <a:lstStyle/>
            <a:p>
              <a:pPr algn="ctr"/>
              <a:r>
                <a:rPr lang="en-US" altLang="zh-CN" sz="6000" dirty="0">
                  <a:solidFill>
                    <a:schemeClr val="accent1"/>
                  </a:solidFill>
                </a:rPr>
                <a:t>1</a:t>
              </a:r>
              <a:endParaRPr lang="zh-CN" altLang="en-US" sz="6000" dirty="0">
                <a:solidFill>
                  <a:schemeClr val="accent1"/>
                </a:solidFill>
              </a:endParaRPr>
            </a:p>
          </p:txBody>
        </p:sp>
      </p:grpSp>
      <p:sp>
        <p:nvSpPr>
          <p:cNvPr id="21" name="文本框"/>
          <p:cNvSpPr txBox="1"/>
          <p:nvPr/>
        </p:nvSpPr>
        <p:spPr>
          <a:xfrm>
            <a:off x="1652501" y="2089009"/>
            <a:ext cx="5206725" cy="341250"/>
          </a:xfrm>
          <a:prstGeom prst="rect">
            <a:avLst/>
          </a:prstGeom>
          <a:noFill/>
        </p:spPr>
        <p:txBody>
          <a:bodyPr wrap="none" rtlCol="0">
            <a:spAutoFit/>
          </a:bodyPr>
          <a:lstStyle/>
          <a:p>
            <a:pPr marL="0" marR="0" lvl="0" indent="0" algn="l">
              <a:lnSpc>
                <a:spcPct val="120000"/>
              </a:lnSpc>
            </a:pPr>
            <a:r>
              <a:rPr lang="zh-CN" altLang="en-US" sz="1400" b="1" dirty="0">
                <a:solidFill>
                  <a:schemeClr val="tx1"/>
                </a:solidFill>
              </a:rPr>
              <a:t>Constructing a Cross-Method Control Flow Graph (ICFG)</a:t>
            </a:r>
            <a:endParaRPr lang="en-US" dirty="0"/>
          </a:p>
        </p:txBody>
      </p:sp>
      <p:pic>
        <p:nvPicPr>
          <p:cNvPr id="11" name="图片 10"/>
          <p:cNvPicPr>
            <a:picLocks noChangeAspect="1"/>
          </p:cNvPicPr>
          <p:nvPr/>
        </p:nvPicPr>
        <p:blipFill>
          <a:blip r:embed="rId2"/>
          <a:stretch>
            <a:fillRect/>
          </a:stretch>
        </p:blipFill>
        <p:spPr>
          <a:xfrm>
            <a:off x="7383780" y="1608455"/>
            <a:ext cx="3781425" cy="1323975"/>
          </a:xfrm>
          <a:prstGeom prst="rect">
            <a:avLst/>
          </a:prstGeom>
        </p:spPr>
      </p:pic>
      <p:pic>
        <p:nvPicPr>
          <p:cNvPr id="13" name="图片 12"/>
          <p:cNvPicPr>
            <a:picLocks noChangeAspect="1"/>
          </p:cNvPicPr>
          <p:nvPr/>
        </p:nvPicPr>
        <p:blipFill>
          <a:blip r:embed="rId3"/>
          <a:stretch>
            <a:fillRect/>
          </a:stretch>
        </p:blipFill>
        <p:spPr>
          <a:xfrm>
            <a:off x="7461250" y="3222625"/>
            <a:ext cx="3543300" cy="27622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fontScale="96430"/>
          </a:bodyPr>
          <a:lstStyle/>
          <a:p>
            <a:pPr marL="0" marR="0" lvl="0" indent="0" algn="l">
              <a:lnSpc>
                <a:spcPct val="100000"/>
              </a:lnSpc>
            </a:pPr>
            <a:r>
              <a:rPr lang="zh-CN" altLang="en-US" sz="2800" b="1" dirty="0">
                <a:solidFill>
                  <a:schemeClr val="accent1"/>
                </a:solidFill>
              </a:rPr>
              <a:t> II : Execution Path Reconstruction</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t>12</a:t>
            </a:fld>
            <a:endParaRPr lang="en-US"/>
          </a:p>
        </p:txBody>
      </p:sp>
      <p:sp>
        <p:nvSpPr>
          <p:cNvPr id="6" name="文本框"/>
          <p:cNvSpPr txBox="1"/>
          <p:nvPr/>
        </p:nvSpPr>
        <p:spPr>
          <a:xfrm>
            <a:off x="1084971" y="1267347"/>
            <a:ext cx="168000" cy="341250"/>
          </a:xfrm>
          <a:prstGeom prst="rect">
            <a:avLst/>
          </a:prstGeom>
          <a:noFill/>
        </p:spPr>
        <p:txBody>
          <a:bodyPr wrap="none" rtlCol="0">
            <a:spAutoFit/>
          </a:bodyPr>
          <a:lstStyle/>
          <a:p>
            <a:pPr marL="0" marR="0" lvl="0" indent="0" algn="l">
              <a:lnSpc>
                <a:spcPct val="120000"/>
              </a:lnSpc>
            </a:pPr>
            <a:endParaRPr lang="en-US" dirty="0"/>
          </a:p>
        </p:txBody>
      </p:sp>
      <p:grpSp>
        <p:nvGrpSpPr>
          <p:cNvPr id="20" name="组合 12"/>
          <p:cNvGrpSpPr/>
          <p:nvPr/>
        </p:nvGrpSpPr>
        <p:grpSpPr>
          <a:xfrm>
            <a:off x="377579" y="1608389"/>
            <a:ext cx="6188549" cy="4139469"/>
            <a:chOff x="386986" y="-932165"/>
            <a:chExt cx="5773476" cy="9498907"/>
          </a:xfrm>
        </p:grpSpPr>
        <p:sp>
          <p:nvSpPr>
            <p:cNvPr id="7" name="矩形: 圆角 4"/>
            <p:cNvSpPr/>
            <p:nvPr/>
          </p:nvSpPr>
          <p:spPr>
            <a:xfrm>
              <a:off x="386986" y="-932165"/>
              <a:ext cx="5773476" cy="9498907"/>
            </a:xfrm>
            <a:prstGeom prst="roundRect">
              <a:avLst>
                <a:gd name="adj" fmla="val 0"/>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p>
          </p:txBody>
        </p:sp>
        <p:grpSp>
          <p:nvGrpSpPr>
            <p:cNvPr id="12" name="组合 11"/>
            <p:cNvGrpSpPr/>
            <p:nvPr/>
          </p:nvGrpSpPr>
          <p:grpSpPr>
            <a:xfrm>
              <a:off x="1203649" y="467462"/>
              <a:ext cx="4745600" cy="1125539"/>
              <a:chOff x="1377049" y="2876323"/>
              <a:chExt cx="4745600" cy="1125539"/>
            </a:xfrm>
          </p:grpSpPr>
          <p:sp>
            <p:nvSpPr>
              <p:cNvPr id="8" name="Text1"/>
              <p:cNvSpPr txBox="1"/>
              <p:nvPr/>
            </p:nvSpPr>
            <p:spPr>
              <a:xfrm>
                <a:off x="1377049" y="2876323"/>
                <a:ext cx="4745600" cy="1125539"/>
              </a:xfrm>
              <a:prstGeom prst="rect">
                <a:avLst/>
              </a:prstGeom>
              <a:noFill/>
            </p:spPr>
            <p:txBody>
              <a:bodyPr wrap="square">
                <a:noAutofit/>
              </a:bodyPr>
              <a:lstStyle/>
              <a:p>
                <a:pPr marL="285750" marR="0" lvl="0" indent="-285750" algn="l">
                  <a:lnSpc>
                    <a:spcPct val="120000"/>
                  </a:lnSpc>
                  <a:buFont typeface="+mj-lt"/>
                  <a:buAutoNum type="arabicPeriod"/>
                </a:pPr>
                <a:r>
                  <a:rPr lang="zh-CN" altLang="en-US" sz="1400" dirty="0">
                    <a:solidFill>
                      <a:schemeClr val="tx1"/>
                    </a:solidFill>
                  </a:rPr>
                  <a:t>COCA locates the RPC call point from the client to the server by parsing the RPC IDL file.</a:t>
                </a:r>
                <a:endParaRPr lang="en-US" dirty="0"/>
              </a:p>
              <a:p>
                <a:pPr marL="285750" marR="0" lvl="0" indent="-285750" algn="l">
                  <a:lnSpc>
                    <a:spcPct val="120000"/>
                  </a:lnSpc>
                  <a:buFont typeface="+mj-lt"/>
                  <a:buAutoNum type="arabicPeriod"/>
                </a:pPr>
                <a:endParaRPr lang="en-US" dirty="0"/>
              </a:p>
              <a:p>
                <a:pPr marL="285750" marR="0" lvl="0" indent="-285750" algn="l">
                  <a:lnSpc>
                    <a:spcPct val="120000"/>
                  </a:lnSpc>
                  <a:buFont typeface="+mj-lt"/>
                  <a:buAutoNum type="arabicPeriod"/>
                </a:pPr>
                <a:r>
                  <a:rPr lang="zh-CN" altLang="en-US" sz="1400" dirty="0">
                    <a:solidFill>
                      <a:schemeClr val="tx1"/>
                    </a:solidFill>
                  </a:rPr>
                  <a:t>COCA further identifies the actual implementation functions on the server side. </a:t>
                </a:r>
                <a:endParaRPr lang="en-US" dirty="0"/>
              </a:p>
              <a:p>
                <a:pPr marL="0" marR="0" lvl="0" indent="0" algn="l">
                  <a:lnSpc>
                    <a:spcPct val="120000"/>
                  </a:lnSpc>
                </a:pPr>
                <a:r>
                  <a:rPr lang="zh-CN" altLang="en-US" sz="1400" dirty="0">
                    <a:solidFill>
                      <a:schemeClr val="tx1"/>
                    </a:solidFill>
                  </a:rPr>
                  <a:t> ResourceTrack -&gt;ResourceTrackService</a:t>
                </a:r>
                <a:endParaRPr lang="en-US" dirty="0"/>
              </a:p>
              <a:p>
                <a:pPr marL="0" marR="0" lvl="0" indent="0" algn="l">
                  <a:lnSpc>
                    <a:spcPct val="120000"/>
                  </a:lnSpc>
                </a:pPr>
                <a:r>
                  <a:rPr lang="zh-CN" altLang="en-US" sz="1400" dirty="0">
                    <a:solidFill>
                      <a:schemeClr val="tx1"/>
                    </a:solidFill>
                  </a:rPr>
                  <a:t> Fuzzy matching based on substrings</a:t>
                </a:r>
                <a:endParaRPr lang="en-US" dirty="0"/>
              </a:p>
              <a:p>
                <a:pPr marL="0" marR="0" lvl="0" indent="0" algn="l">
                  <a:lnSpc>
                    <a:spcPct val="120000"/>
                  </a:lnSpc>
                </a:pPr>
                <a:r>
                  <a:rPr lang="zh-CN" altLang="en-US" sz="1400" dirty="0">
                    <a:solidFill>
                      <a:schemeClr val="tx1"/>
                    </a:solidFill>
                  </a:rPr>
                  <a:t> Check the declaration information of the class</a:t>
                </a:r>
                <a:endParaRPr lang="en-US" dirty="0"/>
              </a:p>
              <a:p>
                <a:pPr marL="0" marR="0" lvl="0" indent="0" algn="l">
                  <a:lnSpc>
                    <a:spcPct val="120000"/>
                  </a:lnSpc>
                </a:pPr>
                <a:endParaRPr lang="en-US" dirty="0"/>
              </a:p>
              <a:p>
                <a:pPr marL="0" marR="0" lvl="0" indent="0" algn="l">
                  <a:lnSpc>
                    <a:spcPct val="120000"/>
                  </a:lnSpc>
                </a:pPr>
                <a:endParaRPr lang="en-US" dirty="0"/>
              </a:p>
              <a:p>
                <a:pPr marL="0" marR="0" lvl="0" indent="0" algn="l">
                  <a:lnSpc>
                    <a:spcPct val="120000"/>
                  </a:lnSpc>
                </a:pPr>
                <a:r>
                  <a:rPr lang="zh-CN" altLang="en-US" sz="1400" dirty="0">
                    <a:solidFill>
                      <a:schemeClr val="tx1"/>
                    </a:solidFill>
                  </a:rPr>
                  <a:t>3.Client-to-server call stack bridge</a:t>
                </a:r>
                <a:endParaRPr lang="en-US" dirty="0"/>
              </a:p>
              <a:p>
                <a:pPr marL="285750" marR="0" lvl="0" indent="-285750" algn="l">
                  <a:lnSpc>
                    <a:spcPct val="120000"/>
                  </a:lnSpc>
                  <a:buFont typeface="+mj-lt"/>
                  <a:buAutoNum type="arabicPeriod"/>
                </a:pPr>
                <a:endParaRPr lang="en-US" dirty="0"/>
              </a:p>
              <a:p>
                <a:pPr marL="285750" marR="0" lvl="0" indent="-285750" algn="l">
                  <a:lnSpc>
                    <a:spcPct val="120000"/>
                  </a:lnSpc>
                  <a:buFont typeface="+mj-lt"/>
                  <a:buAutoNum type="arabicPeriod"/>
                </a:pPr>
                <a:endParaRPr lang="en-US" dirty="0"/>
              </a:p>
              <a:p>
                <a:pPr marL="285750" marR="0" lvl="0" indent="-285750" algn="l">
                  <a:lnSpc>
                    <a:spcPct val="120000"/>
                  </a:lnSpc>
                  <a:buFont typeface="+mj-lt"/>
                  <a:buAutoNum type="arabicPeriod"/>
                </a:pPr>
                <a:endParaRPr lang="en-US" dirty="0"/>
              </a:p>
              <a:p>
                <a:pPr marL="285750" marR="0" lvl="0" indent="-285750" algn="l">
                  <a:lnSpc>
                    <a:spcPct val="120000"/>
                  </a:lnSpc>
                  <a:buFont typeface="+mj-lt"/>
                  <a:buAutoNum type="arabicPeriod"/>
                </a:pPr>
                <a:endParaRPr lang="en-US" dirty="0"/>
              </a:p>
              <a:p>
                <a:pPr marL="285750" marR="0" lvl="0" indent="-285750" algn="l">
                  <a:lnSpc>
                    <a:spcPct val="120000"/>
                  </a:lnSpc>
                  <a:buFont typeface="+mj-lt"/>
                  <a:buAutoNum type="arabicPeriod"/>
                </a:pPr>
                <a:endParaRPr lang="en-US" dirty="0"/>
              </a:p>
              <a:p>
                <a:pPr marL="285750" marR="0" lvl="0" indent="-285750" algn="l">
                  <a:lnSpc>
                    <a:spcPct val="120000"/>
                  </a:lnSpc>
                  <a:buFont typeface="+mj-lt"/>
                  <a:buAutoNum type="arabicPeriod"/>
                </a:pPr>
                <a:endParaRPr lang="en-US" dirty="0"/>
              </a:p>
            </p:txBody>
          </p:sp>
        </p:grpSp>
        <p:sp>
          <p:nvSpPr>
            <p:cNvPr id="10" name="Number1"/>
            <p:cNvSpPr/>
            <p:nvPr/>
          </p:nvSpPr>
          <p:spPr>
            <a:xfrm>
              <a:off x="738067" y="2370580"/>
              <a:ext cx="630941" cy="18701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83330" lnSpcReduction="10000"/>
            </a:bodyPr>
            <a:lstStyle/>
            <a:p>
              <a:pPr marL="0" marR="0" lvl="0" indent="0" algn="ctr"/>
              <a:r>
                <a:rPr lang="zh-CN" altLang="en-US" sz="6000" dirty="0">
                  <a:solidFill>
                    <a:schemeClr val="accent1"/>
                  </a:solidFill>
                  <a:latin typeface="Arial" panose="020B0604020202020204"/>
                  <a:ea typeface="Arial" panose="020B0604020202020204"/>
                </a:rPr>
                <a:t>2</a:t>
              </a:r>
              <a:endParaRPr lang="en-US" dirty="0"/>
            </a:p>
          </p:txBody>
        </p:sp>
      </p:grpSp>
      <p:sp>
        <p:nvSpPr>
          <p:cNvPr id="21" name="文本框"/>
          <p:cNvSpPr txBox="1"/>
          <p:nvPr/>
        </p:nvSpPr>
        <p:spPr>
          <a:xfrm>
            <a:off x="1304210" y="1742791"/>
            <a:ext cx="2101575" cy="341250"/>
          </a:xfrm>
          <a:prstGeom prst="rect">
            <a:avLst/>
          </a:prstGeom>
          <a:noFill/>
        </p:spPr>
        <p:txBody>
          <a:bodyPr wrap="none" rtlCol="0">
            <a:spAutoFit/>
          </a:bodyPr>
          <a:lstStyle/>
          <a:p>
            <a:pPr marL="0" marR="0" lvl="0" indent="0" algn="l">
              <a:lnSpc>
                <a:spcPct val="120000"/>
              </a:lnSpc>
            </a:pPr>
            <a:r>
              <a:rPr lang="zh-CN" altLang="en-US" sz="1400" b="1" dirty="0">
                <a:solidFill>
                  <a:schemeClr val="tx1"/>
                </a:solidFill>
              </a:rPr>
              <a:t>RPC bridging method</a:t>
            </a:r>
            <a:endParaRPr lang="en-US" dirty="0"/>
          </a:p>
        </p:txBody>
      </p:sp>
      <p:sp>
        <p:nvSpPr>
          <p:cNvPr id="23" name="文本框"/>
          <p:cNvSpPr txBox="1"/>
          <p:nvPr/>
        </p:nvSpPr>
        <p:spPr>
          <a:xfrm>
            <a:off x="3230025" y="4308847"/>
            <a:ext cx="3225525" cy="303150"/>
          </a:xfrm>
          <a:prstGeom prst="rect">
            <a:avLst/>
          </a:prstGeom>
          <a:noFill/>
        </p:spPr>
        <p:txBody>
          <a:bodyPr wrap="none" rtlCol="0">
            <a:spAutoFit/>
          </a:bodyPr>
          <a:lstStyle/>
          <a:p>
            <a:pPr marL="0" marR="0" lvl="0" indent="0" algn="l">
              <a:lnSpc>
                <a:spcPct val="120000"/>
              </a:lnSpc>
            </a:pPr>
            <a:r>
              <a:rPr lang="zh-CN" altLang="en-US" sz="1200" b="0" dirty="0">
                <a:solidFill>
                  <a:schemeClr val="tx1"/>
                </a:solidFill>
              </a:rPr>
              <a:t>e.g : class XXX extends ResourceTrackBase</a:t>
            </a:r>
            <a:endParaRPr lang="en-US" dirty="0"/>
          </a:p>
        </p:txBody>
      </p:sp>
      <p:pic>
        <p:nvPicPr>
          <p:cNvPr id="9" name="图片 8"/>
          <p:cNvPicPr>
            <a:picLocks noChangeAspect="1"/>
          </p:cNvPicPr>
          <p:nvPr/>
        </p:nvPicPr>
        <p:blipFill>
          <a:blip r:embed="rId2"/>
          <a:srcRect r="5253"/>
          <a:stretch>
            <a:fillRect/>
          </a:stretch>
        </p:blipFill>
        <p:spPr>
          <a:xfrm>
            <a:off x="6455410" y="1562100"/>
            <a:ext cx="5658485" cy="3733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2ecbe858-4a49-4d05-af2d-9176820cad5f.source.4.zh-Hans.pptx"/>
          <p:cNvGrpSpPr/>
          <p:nvPr/>
        </p:nvGrpSpPr>
        <p:grpSpPr>
          <a:xfrm>
            <a:off x="0" y="1130300"/>
            <a:ext cx="11531603" cy="5003800"/>
            <a:chOff x="0" y="1130300"/>
            <a:chExt cx="11531603" cy="5003800"/>
          </a:xfrm>
        </p:grpSpPr>
        <p:sp>
          <p:nvSpPr>
            <p:cNvPr id="37" name="任意多边形: 形状 36"/>
            <p:cNvSpPr/>
            <p:nvPr/>
          </p:nvSpPr>
          <p:spPr>
            <a:xfrm>
              <a:off x="0" y="2198725"/>
              <a:ext cx="11531603" cy="3767859"/>
            </a:xfrm>
            <a:custGeom>
              <a:avLst/>
              <a:gdLst>
                <a:gd name="connsiteX0" fmla="*/ 11525760 w 11531603"/>
                <a:gd name="connsiteY0" fmla="*/ 1887145 h 3767859"/>
                <a:gd name="connsiteX1" fmla="*/ 10702699 w 11531603"/>
                <a:gd name="connsiteY1" fmla="*/ 2620864 h 3767859"/>
                <a:gd name="connsiteX2" fmla="*/ 10808330 w 11531603"/>
                <a:gd name="connsiteY2" fmla="*/ 2263248 h 3767859"/>
                <a:gd name="connsiteX3" fmla="*/ 10811360 w 11531603"/>
                <a:gd name="connsiteY3" fmla="*/ 2230416 h 3767859"/>
                <a:gd name="connsiteX4" fmla="*/ 10469116 w 11531603"/>
                <a:gd name="connsiteY4" fmla="*/ 2220092 h 3767859"/>
                <a:gd name="connsiteX5" fmla="*/ 2671 w 11531603"/>
                <a:gd name="connsiteY5" fmla="*/ 3767037 h 3767859"/>
                <a:gd name="connsiteX6" fmla="*/ 0 w 11531603"/>
                <a:gd name="connsiteY6" fmla="*/ 3767859 h 3767859"/>
                <a:gd name="connsiteX7" fmla="*/ 0 w 11531603"/>
                <a:gd name="connsiteY7" fmla="*/ 2039306 h 3767859"/>
                <a:gd name="connsiteX8" fmla="*/ 10967299 w 11531603"/>
                <a:gd name="connsiteY8" fmla="*/ 2039306 h 3767859"/>
                <a:gd name="connsiteX9" fmla="*/ 10967299 w 11531603"/>
                <a:gd name="connsiteY9" fmla="*/ 2194682 h 3767859"/>
                <a:gd name="connsiteX10" fmla="*/ 10702699 w 11531603"/>
                <a:gd name="connsiteY10" fmla="*/ 1142562 h 3767859"/>
                <a:gd name="connsiteX11" fmla="*/ 10702926 w 11531603"/>
                <a:gd name="connsiteY11" fmla="*/ 1143205 h 3767859"/>
                <a:gd name="connsiteX12" fmla="*/ 10702699 w 11531603"/>
                <a:gd name="connsiteY12" fmla="*/ 1143002 h 3767859"/>
                <a:gd name="connsiteX13" fmla="*/ 0 w 11531603"/>
                <a:gd name="connsiteY13" fmla="*/ 0 h 3767859"/>
                <a:gd name="connsiteX14" fmla="*/ 2671 w 11531603"/>
                <a:gd name="connsiteY14" fmla="*/ 822 h 3767859"/>
                <a:gd name="connsiteX15" fmla="*/ 10469116 w 11531603"/>
                <a:gd name="connsiteY15" fmla="*/ 1547771 h 3767859"/>
                <a:gd name="connsiteX16" fmla="*/ 10811769 w 11531603"/>
                <a:gd name="connsiteY16" fmla="*/ 1537435 h 3767859"/>
                <a:gd name="connsiteX17" fmla="*/ 10808330 w 11531603"/>
                <a:gd name="connsiteY17" fmla="*/ 1500178 h 3767859"/>
                <a:gd name="connsiteX18" fmla="*/ 10764317 w 11531603"/>
                <a:gd name="connsiteY18" fmla="*/ 1316885 h 3767859"/>
                <a:gd name="connsiteX19" fmla="*/ 10702926 w 11531603"/>
                <a:gd name="connsiteY19" fmla="*/ 1143205 h 3767859"/>
                <a:gd name="connsiteX20" fmla="*/ 10712008 w 11531603"/>
                <a:gd name="connsiteY20" fmla="*/ 1151301 h 3767859"/>
                <a:gd name="connsiteX21" fmla="*/ 11531603 w 11531603"/>
                <a:gd name="connsiteY21" fmla="*/ 1881936 h 3767859"/>
                <a:gd name="connsiteX22" fmla="*/ 11530220 w 11531603"/>
                <a:gd name="connsiteY22" fmla="*/ 1883169 h 3767859"/>
                <a:gd name="connsiteX23" fmla="*/ 10967299 w 11531603"/>
                <a:gd name="connsiteY23" fmla="*/ 1573176 h 3767859"/>
                <a:gd name="connsiteX24" fmla="*/ 10967299 w 11531603"/>
                <a:gd name="connsiteY24" fmla="*/ 1728553 h 3767859"/>
                <a:gd name="connsiteX25" fmla="*/ 0 w 11531603"/>
                <a:gd name="connsiteY25" fmla="*/ 1728553 h 376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531603" h="3767859">
                  <a:moveTo>
                    <a:pt x="11525760" y="1887145"/>
                  </a:moveTo>
                  <a:lnTo>
                    <a:pt x="10702699" y="2620864"/>
                  </a:lnTo>
                  <a:cubicBezTo>
                    <a:pt x="10749646" y="2508303"/>
                    <a:pt x="10784857" y="2387769"/>
                    <a:pt x="10808330" y="2263248"/>
                  </a:cubicBezTo>
                  <a:lnTo>
                    <a:pt x="10811360" y="2230416"/>
                  </a:lnTo>
                  <a:lnTo>
                    <a:pt x="10469116" y="2220092"/>
                  </a:lnTo>
                  <a:cubicBezTo>
                    <a:pt x="5452191" y="2124713"/>
                    <a:pt x="318620" y="3670342"/>
                    <a:pt x="2671" y="3767037"/>
                  </a:cubicBezTo>
                  <a:lnTo>
                    <a:pt x="0" y="3767859"/>
                  </a:lnTo>
                  <a:lnTo>
                    <a:pt x="0" y="2039306"/>
                  </a:lnTo>
                  <a:lnTo>
                    <a:pt x="10967299" y="2039306"/>
                  </a:lnTo>
                  <a:lnTo>
                    <a:pt x="10967299" y="2194682"/>
                  </a:lnTo>
                  <a:close/>
                  <a:moveTo>
                    <a:pt x="10702699" y="1142562"/>
                  </a:moveTo>
                  <a:lnTo>
                    <a:pt x="10702926" y="1143205"/>
                  </a:lnTo>
                  <a:lnTo>
                    <a:pt x="10702699" y="1143002"/>
                  </a:lnTo>
                  <a:close/>
                  <a:moveTo>
                    <a:pt x="0" y="0"/>
                  </a:moveTo>
                  <a:lnTo>
                    <a:pt x="2671" y="822"/>
                  </a:lnTo>
                  <a:cubicBezTo>
                    <a:pt x="318620" y="97517"/>
                    <a:pt x="5452191" y="1643146"/>
                    <a:pt x="10469116" y="1547771"/>
                  </a:cubicBezTo>
                  <a:lnTo>
                    <a:pt x="10811769" y="1537435"/>
                  </a:lnTo>
                  <a:lnTo>
                    <a:pt x="10808330" y="1500178"/>
                  </a:lnTo>
                  <a:cubicBezTo>
                    <a:pt x="10796593" y="1437918"/>
                    <a:pt x="10781922" y="1376654"/>
                    <a:pt x="10764317" y="1316885"/>
                  </a:cubicBezTo>
                  <a:lnTo>
                    <a:pt x="10702926" y="1143205"/>
                  </a:lnTo>
                  <a:lnTo>
                    <a:pt x="10712008" y="1151301"/>
                  </a:lnTo>
                  <a:cubicBezTo>
                    <a:pt x="10803074" y="1232483"/>
                    <a:pt x="11531603" y="1881936"/>
                    <a:pt x="11531603" y="1881936"/>
                  </a:cubicBezTo>
                  <a:lnTo>
                    <a:pt x="11530220" y="1883169"/>
                  </a:lnTo>
                  <a:lnTo>
                    <a:pt x="10967299" y="1573176"/>
                  </a:lnTo>
                  <a:lnTo>
                    <a:pt x="10967299" y="1728553"/>
                  </a:lnTo>
                  <a:lnTo>
                    <a:pt x="0" y="1728553"/>
                  </a:lnTo>
                  <a:close/>
                </a:path>
              </a:pathLst>
            </a:custGeom>
            <a:gradFill flip="none" rotWithShape="1">
              <a:gsLst>
                <a:gs pos="0">
                  <a:schemeClr val="accent1">
                    <a:alpha val="50000"/>
                  </a:schemeClr>
                </a:gs>
                <a:gs pos="100000">
                  <a:schemeClr val="accent1">
                    <a:alpha val="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ym typeface="Arial" panose="020B0604020202020204" pitchFamily="34" charset="0"/>
              </a:endParaRPr>
            </a:p>
          </p:txBody>
        </p:sp>
        <p:grpSp>
          <p:nvGrpSpPr>
            <p:cNvPr id="4" name="组合 3"/>
            <p:cNvGrpSpPr/>
            <p:nvPr/>
          </p:nvGrpSpPr>
          <p:grpSpPr>
            <a:xfrm>
              <a:off x="660398" y="1130300"/>
              <a:ext cx="10858502" cy="5003800"/>
              <a:chOff x="660398" y="1130300"/>
              <a:chExt cx="10858502" cy="5003800"/>
            </a:xfrm>
          </p:grpSpPr>
          <p:sp>
            <p:nvSpPr>
              <p:cNvPr id="3" name="Title"/>
              <p:cNvSpPr/>
              <p:nvPr/>
            </p:nvSpPr>
            <p:spPr>
              <a:xfrm>
                <a:off x="660400" y="1130300"/>
                <a:ext cx="10858500" cy="5154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a:r>
                  <a:rPr lang="zh-CN" altLang="en-US" sz="2400" b="1" dirty="0">
                    <a:solidFill>
                      <a:schemeClr val="tx1"/>
                    </a:solidFill>
                  </a:rPr>
                  <a:t>Two-stage indexing and retrieval methods</a:t>
                </a:r>
                <a:endParaRPr lang="en-US" dirty="0"/>
              </a:p>
            </p:txBody>
          </p:sp>
          <p:grpSp>
            <p:nvGrpSpPr>
              <p:cNvPr id="25" name="组合 24"/>
              <p:cNvGrpSpPr/>
              <p:nvPr/>
            </p:nvGrpSpPr>
            <p:grpSpPr>
              <a:xfrm>
                <a:off x="660398" y="2116215"/>
                <a:ext cx="3804791" cy="2123766"/>
                <a:chOff x="660398" y="2116215"/>
                <a:chExt cx="3804791" cy="2123766"/>
              </a:xfrm>
            </p:grpSpPr>
            <p:sp>
              <p:nvSpPr>
                <p:cNvPr id="5" name="Number1"/>
                <p:cNvSpPr/>
                <p:nvPr/>
              </p:nvSpPr>
              <p:spPr>
                <a:xfrm>
                  <a:off x="683523" y="3927763"/>
                  <a:ext cx="649977" cy="312218"/>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10000"/>
                    </a:lnSpc>
                  </a:pPr>
                  <a:r>
                    <a:rPr lang="en-US" altLang="zh-CN" sz="1600" dirty="0">
                      <a:latin typeface="Arial" panose="020B0604020202020204" pitchFamily="34" charset="0"/>
                      <a:ea typeface="微软雅黑" panose="020B0503020204020204" pitchFamily="34" charset="-122"/>
                      <a:sym typeface="Arial" panose="020B0604020202020204" pitchFamily="34" charset="0"/>
                    </a:rPr>
                    <a:t>1</a:t>
                  </a:r>
                  <a:endParaRPr lang="zh-CN" altLang="en-US" sz="16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Bullet1"/>
                <p:cNvSpPr/>
                <p:nvPr/>
              </p:nvSpPr>
              <p:spPr>
                <a:xfrm>
                  <a:off x="660398" y="2116215"/>
                  <a:ext cx="3804791" cy="481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a:lnSpc>
                      <a:spcPct val="120000"/>
                    </a:lnSpc>
                  </a:pPr>
                  <a:r>
                    <a:rPr lang="zh-CN" altLang="en-US" sz="1800" b="1" dirty="0">
                      <a:solidFill>
                        <a:schemeClr val="tx1"/>
                      </a:solidFill>
                    </a:rPr>
                    <a:t>Method-level index building</a:t>
                  </a:r>
                  <a:endParaRPr lang="en-US" dirty="0"/>
                </a:p>
              </p:txBody>
            </p:sp>
            <p:sp>
              <p:nvSpPr>
                <p:cNvPr id="7" name="Text1"/>
                <p:cNvSpPr/>
                <p:nvPr/>
              </p:nvSpPr>
              <p:spPr>
                <a:xfrm>
                  <a:off x="660400" y="2724994"/>
                  <a:ext cx="3804789" cy="952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fontScale="9083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a:lnSpc>
                      <a:spcPct val="120000"/>
                    </a:lnSpc>
                  </a:pPr>
                  <a:r>
                    <a:rPr lang="zh-CN" altLang="en-US" sz="1200" dirty="0">
                      <a:solidFill>
                        <a:schemeClr val="tx1"/>
                      </a:solidFill>
                    </a:rPr>
                    <a:t>COCA creates index entries on a method-by-method basis, recording method signatures and their associated document information, and automatically generates standardized specifications using large language models.</a:t>
                  </a:r>
                  <a:endParaRPr lang="en-US" dirty="0"/>
                </a:p>
              </p:txBody>
            </p:sp>
          </p:grpSp>
          <p:grpSp>
            <p:nvGrpSpPr>
              <p:cNvPr id="26" name="组合 25"/>
              <p:cNvGrpSpPr/>
              <p:nvPr/>
            </p:nvGrpSpPr>
            <p:grpSpPr>
              <a:xfrm>
                <a:off x="3011635" y="3927763"/>
                <a:ext cx="3804791" cy="2206337"/>
                <a:chOff x="3011635" y="3927763"/>
                <a:chExt cx="3804791" cy="2206337"/>
              </a:xfrm>
            </p:grpSpPr>
            <p:sp>
              <p:nvSpPr>
                <p:cNvPr id="9" name="Number2"/>
                <p:cNvSpPr/>
                <p:nvPr/>
              </p:nvSpPr>
              <p:spPr>
                <a:xfrm>
                  <a:off x="3034760" y="3927763"/>
                  <a:ext cx="649977" cy="312218"/>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10000"/>
                    </a:lnSpc>
                  </a:pPr>
                  <a:r>
                    <a:rPr lang="en-US" altLang="zh-CN" sz="1600" dirty="0">
                      <a:latin typeface="Arial" panose="020B0604020202020204" pitchFamily="34" charset="0"/>
                      <a:ea typeface="微软雅黑" panose="020B0503020204020204" pitchFamily="34" charset="-122"/>
                      <a:sym typeface="Arial" panose="020B0604020202020204" pitchFamily="34" charset="0"/>
                    </a:rPr>
                    <a:t>2</a:t>
                  </a:r>
                  <a:endParaRPr lang="zh-CN" altLang="en-US" sz="1600" dirty="0">
                    <a:latin typeface="Arial" panose="020B0604020202020204" pitchFamily="34" charset="0"/>
                    <a:ea typeface="微软雅黑" panose="020B0503020204020204" pitchFamily="34" charset="-122"/>
                    <a:sym typeface="Arial" panose="020B0604020202020204" pitchFamily="34" charset="0"/>
                  </a:endParaRPr>
                </a:p>
              </p:txBody>
            </p:sp>
            <p:sp>
              <p:nvSpPr>
                <p:cNvPr id="10" name="Bullet2"/>
                <p:cNvSpPr/>
                <p:nvPr/>
              </p:nvSpPr>
              <p:spPr>
                <a:xfrm>
                  <a:off x="3011635" y="4572821"/>
                  <a:ext cx="3804791" cy="481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fontScale="9639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a:lnSpc>
                      <a:spcPct val="120000"/>
                    </a:lnSpc>
                  </a:pPr>
                  <a:r>
                    <a:rPr lang="zh-CN" altLang="en-US" sz="1800" b="1" dirty="0">
                      <a:solidFill>
                        <a:schemeClr val="tx1"/>
                      </a:solidFill>
                    </a:rPr>
                    <a:t>Execution path context integration</a:t>
                  </a:r>
                  <a:endParaRPr lang="en-US" dirty="0"/>
                </a:p>
              </p:txBody>
            </p:sp>
            <p:sp>
              <p:nvSpPr>
                <p:cNvPr id="11" name="Text2"/>
                <p:cNvSpPr/>
                <p:nvPr/>
              </p:nvSpPr>
              <p:spPr>
                <a:xfrm>
                  <a:off x="3011637" y="5181600"/>
                  <a:ext cx="3804789" cy="952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fontScale="9917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a:lnSpc>
                      <a:spcPct val="120000"/>
                    </a:lnSpc>
                  </a:pPr>
                  <a:r>
                    <a:rPr lang="zh-CN" altLang="en-US" sz="1200" dirty="0">
                      <a:solidFill>
                        <a:schemeClr val="tx1"/>
                      </a:solidFill>
                    </a:rPr>
                    <a:t>The system will uniformly input problem reports, execution path analysis results before failures, and the constructed method-level index into the backbone large language model.</a:t>
                  </a:r>
                  <a:endParaRPr lang="en-US" dirty="0"/>
                </a:p>
              </p:txBody>
            </p:sp>
          </p:grpSp>
          <p:grpSp>
            <p:nvGrpSpPr>
              <p:cNvPr id="27" name="组合 26"/>
              <p:cNvGrpSpPr/>
              <p:nvPr/>
            </p:nvGrpSpPr>
            <p:grpSpPr>
              <a:xfrm>
                <a:off x="5362872" y="2116215"/>
                <a:ext cx="3804791" cy="2123766"/>
                <a:chOff x="5362872" y="2116215"/>
                <a:chExt cx="3804791" cy="2123766"/>
              </a:xfrm>
            </p:grpSpPr>
            <p:sp>
              <p:nvSpPr>
                <p:cNvPr id="13" name="Number3"/>
                <p:cNvSpPr/>
                <p:nvPr/>
              </p:nvSpPr>
              <p:spPr>
                <a:xfrm>
                  <a:off x="5385997" y="3927763"/>
                  <a:ext cx="649977" cy="312218"/>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10000"/>
                    </a:lnSpc>
                  </a:pPr>
                  <a:r>
                    <a:rPr lang="en-US" altLang="zh-CN" sz="1600" dirty="0">
                      <a:latin typeface="Arial" panose="020B0604020202020204" pitchFamily="34" charset="0"/>
                      <a:ea typeface="微软雅黑" panose="020B0503020204020204" pitchFamily="34" charset="-122"/>
                      <a:sym typeface="Arial" panose="020B0604020202020204" pitchFamily="34" charset="0"/>
                    </a:rPr>
                    <a:t>3</a:t>
                  </a:r>
                  <a:endParaRPr lang="zh-CN" altLang="en-US" sz="1600" dirty="0">
                    <a:latin typeface="Arial" panose="020B0604020202020204" pitchFamily="34" charset="0"/>
                    <a:ea typeface="微软雅黑" panose="020B0503020204020204" pitchFamily="34" charset="-122"/>
                    <a:sym typeface="Arial" panose="020B0604020202020204" pitchFamily="34" charset="0"/>
                  </a:endParaRPr>
                </a:p>
              </p:txBody>
            </p:sp>
            <p:sp>
              <p:nvSpPr>
                <p:cNvPr id="14" name="Bullet3"/>
                <p:cNvSpPr/>
                <p:nvPr/>
              </p:nvSpPr>
              <p:spPr>
                <a:xfrm>
                  <a:off x="5362872" y="2116215"/>
                  <a:ext cx="3804791" cy="481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fontScale="9639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a:lnSpc>
                      <a:spcPct val="120000"/>
                    </a:lnSpc>
                  </a:pPr>
                  <a:r>
                    <a:rPr lang="zh-CN" altLang="en-US" sz="1800" b="1" dirty="0">
                      <a:solidFill>
                        <a:schemeClr val="tx1"/>
                      </a:solidFill>
                    </a:rPr>
                    <a:t>Key Method: Signature Reasoning</a:t>
                  </a:r>
                  <a:endParaRPr lang="en-US" dirty="0"/>
                </a:p>
              </p:txBody>
            </p:sp>
            <p:sp>
              <p:nvSpPr>
                <p:cNvPr id="15" name="Text3"/>
                <p:cNvSpPr/>
                <p:nvPr/>
              </p:nvSpPr>
              <p:spPr>
                <a:xfrm>
                  <a:off x="5362874" y="2724994"/>
                  <a:ext cx="3804789" cy="952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a:lnSpc>
                      <a:spcPct val="120000"/>
                    </a:lnSpc>
                  </a:pPr>
                  <a:r>
                    <a:rPr lang="zh-CN" altLang="en-US" sz="1200" dirty="0">
                      <a:solidFill>
                        <a:schemeClr val="tx1"/>
                      </a:solidFill>
                    </a:rPr>
                    <a:t>Large language models, based on a holistic understanding of the problem and code, output a list of key method signatures that may involve faults or aid in understanding.</a:t>
                  </a:r>
                  <a:endParaRPr lang="en-US" dirty="0"/>
                </a:p>
              </p:txBody>
            </p:sp>
          </p:grpSp>
          <p:grpSp>
            <p:nvGrpSpPr>
              <p:cNvPr id="28" name="组合 27"/>
              <p:cNvGrpSpPr/>
              <p:nvPr/>
            </p:nvGrpSpPr>
            <p:grpSpPr>
              <a:xfrm>
                <a:off x="7714109" y="3927763"/>
                <a:ext cx="3804791" cy="2206337"/>
                <a:chOff x="7714109" y="3927763"/>
                <a:chExt cx="3804791" cy="2206337"/>
              </a:xfrm>
            </p:grpSpPr>
            <p:sp>
              <p:nvSpPr>
                <p:cNvPr id="17" name="Number4"/>
                <p:cNvSpPr/>
                <p:nvPr/>
              </p:nvSpPr>
              <p:spPr>
                <a:xfrm>
                  <a:off x="7737234" y="3927763"/>
                  <a:ext cx="649977" cy="312218"/>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10000"/>
                    </a:lnSpc>
                  </a:pPr>
                  <a:r>
                    <a:rPr lang="en-US" altLang="zh-CN" sz="1600" dirty="0">
                      <a:latin typeface="Arial" panose="020B0604020202020204" pitchFamily="34" charset="0"/>
                      <a:ea typeface="微软雅黑" panose="020B0503020204020204" pitchFamily="34" charset="-122"/>
                      <a:sym typeface="Arial" panose="020B0604020202020204" pitchFamily="34" charset="0"/>
                    </a:rPr>
                    <a:t>4</a:t>
                  </a:r>
                  <a:endParaRPr lang="zh-CN" altLang="en-US" sz="1600" dirty="0">
                    <a:latin typeface="Arial" panose="020B0604020202020204" pitchFamily="34" charset="0"/>
                    <a:ea typeface="微软雅黑" panose="020B0503020204020204" pitchFamily="34" charset="-122"/>
                    <a:sym typeface="Arial" panose="020B0604020202020204" pitchFamily="34" charset="0"/>
                  </a:endParaRPr>
                </a:p>
              </p:txBody>
            </p:sp>
            <p:sp>
              <p:nvSpPr>
                <p:cNvPr id="18" name="Bullet4"/>
                <p:cNvSpPr/>
                <p:nvPr/>
              </p:nvSpPr>
              <p:spPr>
                <a:xfrm>
                  <a:off x="7714109" y="4572821"/>
                  <a:ext cx="3804791" cy="481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a:lnSpc>
                      <a:spcPct val="120000"/>
                    </a:lnSpc>
                  </a:pPr>
                  <a:r>
                    <a:rPr lang="zh-CN" altLang="en-US" sz="1800" b="1" dirty="0">
                      <a:solidFill>
                        <a:schemeClr val="tx1"/>
                      </a:solidFill>
                    </a:rPr>
                    <a:t>Target code snippet extraction</a:t>
                  </a:r>
                  <a:endParaRPr lang="en-US" dirty="0"/>
                </a:p>
              </p:txBody>
            </p:sp>
            <p:sp>
              <p:nvSpPr>
                <p:cNvPr id="19" name="Text4"/>
                <p:cNvSpPr/>
                <p:nvPr/>
              </p:nvSpPr>
              <p:spPr>
                <a:xfrm>
                  <a:off x="7714111" y="5181600"/>
                  <a:ext cx="3804789" cy="952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a:lnSpc>
                      <a:spcPct val="120000"/>
                    </a:lnSpc>
                  </a:pPr>
                  <a:r>
                    <a:rPr lang="zh-CN" altLang="en-US" sz="1200" dirty="0">
                      <a:solidFill>
                        <a:schemeClr val="tx1"/>
                      </a:solidFill>
                    </a:rPr>
                    <a:t>COCA precisely retrieves the corresponding complete method implementation from the original codebase based on the method signature recommended by the model.</a:t>
                  </a:r>
                  <a:endParaRPr lang="en-US" dirty="0"/>
                </a:p>
              </p:txBody>
            </p:sp>
          </p:grpSp>
        </p:grpSp>
      </p:grpSp>
      <p:sp>
        <p:nvSpPr>
          <p:cNvPr id="8" name="标题 7"/>
          <p:cNvSpPr>
            <a:spLocks noGrp="1"/>
          </p:cNvSpPr>
          <p:nvPr>
            <p:ph type="title" hasCustomPrompt="1"/>
          </p:nvPr>
        </p:nvSpPr>
        <p:spPr/>
        <p:txBody>
          <a:bodyPr>
            <a:normAutofit/>
          </a:bodyPr>
          <a:lstStyle/>
          <a:p>
            <a:pPr marL="0" marR="0" lvl="0" indent="0" algn="l">
              <a:lnSpc>
                <a:spcPct val="100000"/>
              </a:lnSpc>
            </a:pPr>
            <a:r>
              <a:rPr lang="zh-CN" altLang="en-US" sz="2800" b="1" dirty="0">
                <a:solidFill>
                  <a:schemeClr val="accent1"/>
                </a:solidFill>
              </a:rPr>
              <a:t> III : Failure-Related Code Profiling</a:t>
            </a:r>
            <a:endParaRPr lang="en-US" dirty="0"/>
          </a:p>
        </p:txBody>
      </p:sp>
      <p:sp>
        <p:nvSpPr>
          <p:cNvPr id="12" name="日期占位符 11"/>
          <p:cNvSpPr>
            <a:spLocks noGrp="1"/>
          </p:cNvSpPr>
          <p:nvPr>
            <p:ph type="dt" sz="half" idx="10"/>
          </p:nvPr>
        </p:nvSpPr>
        <p:spPr/>
        <p:txBody>
          <a:bodyPr/>
          <a:lstStyle/>
          <a:p>
            <a:endParaRPr lang="en-US"/>
          </a:p>
        </p:txBody>
      </p:sp>
      <p:sp>
        <p:nvSpPr>
          <p:cNvPr id="16" name="页脚占位符 15"/>
          <p:cNvSpPr>
            <a:spLocks noGrp="1"/>
          </p:cNvSpPr>
          <p:nvPr>
            <p:ph type="ftr" sz="quarter" idx="11"/>
          </p:nvPr>
        </p:nvSpPr>
        <p:spPr/>
        <p:txBody>
          <a:bodyPr/>
          <a:lstStyle/>
          <a:p>
            <a:endParaRPr lang="en-US" dirty="0"/>
          </a:p>
        </p:txBody>
      </p:sp>
      <p:sp>
        <p:nvSpPr>
          <p:cNvPr id="20" name="灯片编号占位符 19"/>
          <p:cNvSpPr>
            <a:spLocks noGrp="1"/>
          </p:cNvSpPr>
          <p:nvPr>
            <p:ph type="sldNum" sz="quarter" idx="12"/>
          </p:nvPr>
        </p:nvSpPr>
        <p:spPr/>
        <p:txBody>
          <a:bodyPr/>
          <a:lstStyle/>
          <a:p>
            <a:fld id="{C8BB1146-E542-4D4E-B8E9-6919A11DDD48}"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202acc66-c13b-4580-a23e-a6d3076f7762.source.2.zh-Hans.pptx"/>
          <p:cNvGrpSpPr/>
          <p:nvPr/>
        </p:nvGrpSpPr>
        <p:grpSpPr>
          <a:xfrm>
            <a:off x="470929" y="1101400"/>
            <a:ext cx="10868061" cy="4867943"/>
            <a:chOff x="660400" y="1266157"/>
            <a:chExt cx="10868061" cy="4867943"/>
          </a:xfrm>
        </p:grpSpPr>
        <p:sp>
          <p:nvSpPr>
            <p:cNvPr id="21" name="Title"/>
            <p:cNvSpPr txBox="1"/>
            <p:nvPr/>
          </p:nvSpPr>
          <p:spPr>
            <a:xfrm>
              <a:off x="670658" y="1266157"/>
              <a:ext cx="9082040" cy="647224"/>
            </a:xfrm>
            <a:prstGeom prst="rect">
              <a:avLst/>
            </a:prstGeom>
            <a:noFill/>
          </p:spPr>
          <p:txBody>
            <a:bodyPr vert="horz" wrap="square" rtlCol="0" anchor="ctr" anchorCtr="0">
              <a:normAutofit fontScale="79170" lnSpcReduction="10000"/>
            </a:bodyPr>
            <a:lstStyle/>
            <a:p>
              <a:pPr marL="0" marR="0" lvl="0" indent="0" algn="l"/>
              <a:r>
                <a:rPr lang="zh-CN" altLang="en-US" sz="2400" b="1" dirty="0">
                  <a:solidFill>
                    <a:schemeClr val="tx1"/>
                  </a:solidFill>
                </a:rPr>
                <a:t>Root cause analysis and localization are achieved through contextual learning and structured prompts.</a:t>
              </a:r>
              <a:endParaRPr lang="en-US" dirty="0"/>
            </a:p>
          </p:txBody>
        </p:sp>
        <p:sp>
          <p:nvSpPr>
            <p:cNvPr id="22" name="箭头: 五边形 21"/>
            <p:cNvSpPr/>
            <p:nvPr/>
          </p:nvSpPr>
          <p:spPr bwMode="auto">
            <a:xfrm>
              <a:off x="6110449" y="2222970"/>
              <a:ext cx="5418012" cy="603768"/>
            </a:xfrm>
            <a:prstGeom prst="homePlate">
              <a:avLst>
                <a:gd name="adj" fmla="val 26100"/>
              </a:avLst>
            </a:prstGeom>
            <a:noFill/>
            <a:ln w="6350">
              <a:solidFill>
                <a:schemeClr val="accent1"/>
              </a:solidFill>
            </a:ln>
            <a:effectLst/>
          </p:spPr>
          <p:txBody>
            <a:bodyPr wrap="square" lIns="91440" tIns="45720" rIns="91440" bIns="45720" anchor="ctr">
              <a:normAutofit/>
            </a:bodyPr>
            <a:lstStyle/>
            <a:p>
              <a:pPr algn="ctr"/>
              <a:endParaRPr/>
            </a:p>
          </p:txBody>
        </p:sp>
        <p:sp>
          <p:nvSpPr>
            <p:cNvPr id="23" name="箭头: 五边形 22"/>
            <p:cNvSpPr/>
            <p:nvPr/>
          </p:nvSpPr>
          <p:spPr bwMode="auto">
            <a:xfrm flipH="1">
              <a:off x="678440" y="3024861"/>
              <a:ext cx="5424951" cy="619096"/>
            </a:xfrm>
            <a:prstGeom prst="homePlate">
              <a:avLst>
                <a:gd name="adj" fmla="val 26100"/>
              </a:avLst>
            </a:prstGeom>
            <a:noFill/>
            <a:ln w="6350">
              <a:solidFill>
                <a:schemeClr val="tx1">
                  <a:alpha val="50000"/>
                </a:schemeClr>
              </a:solidFill>
            </a:ln>
            <a:effectLst/>
          </p:spPr>
          <p:txBody>
            <a:bodyPr wrap="square" lIns="91440" tIns="45720" rIns="91440" bIns="45720" anchor="ctr">
              <a:normAutofit/>
            </a:bodyPr>
            <a:lstStyle/>
            <a:p>
              <a:pPr algn="ctr"/>
              <a:endParaRPr/>
            </a:p>
          </p:txBody>
        </p:sp>
        <p:sp>
          <p:nvSpPr>
            <p:cNvPr id="45" name="任意多边形: 形状 44"/>
            <p:cNvSpPr/>
            <p:nvPr/>
          </p:nvSpPr>
          <p:spPr bwMode="auto">
            <a:xfrm>
              <a:off x="5611883" y="3005407"/>
              <a:ext cx="997855" cy="397186"/>
            </a:xfrm>
            <a:custGeom>
              <a:avLst/>
              <a:gdLst>
                <a:gd name="T0" fmla="*/ 1065832 w 21600"/>
                <a:gd name="T1" fmla="*/ 370019 h 21600"/>
                <a:gd name="T2" fmla="*/ 1065832 w 21600"/>
                <a:gd name="T3" fmla="*/ 370019 h 21600"/>
                <a:gd name="T4" fmla="*/ 1065832 w 21600"/>
                <a:gd name="T5" fmla="*/ 370019 h 21600"/>
                <a:gd name="T6" fmla="*/ 1065832 w 21600"/>
                <a:gd name="T7" fmla="*/ 37001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0" y="9469"/>
                  </a:lnTo>
                  <a:lnTo>
                    <a:pt x="10800" y="21600"/>
                  </a:lnTo>
                  <a:lnTo>
                    <a:pt x="21600" y="9469"/>
                  </a:lnTo>
                  <a:lnTo>
                    <a:pt x="10800" y="0"/>
                  </a:lnTo>
                  <a:close/>
                </a:path>
              </a:pathLst>
            </a:custGeom>
            <a:solidFill>
              <a:schemeClr val="accent2">
                <a:lumMod val="20000"/>
                <a:lumOff val="80000"/>
              </a:schemeClr>
            </a:solidFill>
            <a:ln>
              <a:noFill/>
            </a:ln>
            <a:effectLst/>
          </p:spPr>
          <p:txBody>
            <a:bodyPr wrap="square" lIns="91440" tIns="45720" rIns="91440" bIns="45720" anchor="ctr">
              <a:normAutofit/>
            </a:bodyPr>
            <a:lstStyle/>
            <a:p>
              <a:pPr algn="ctr"/>
              <a:endParaRPr/>
            </a:p>
          </p:txBody>
        </p:sp>
        <p:sp>
          <p:nvSpPr>
            <p:cNvPr id="46" name="任意多边形: 形状 45"/>
            <p:cNvSpPr/>
            <p:nvPr/>
          </p:nvSpPr>
          <p:spPr bwMode="auto">
            <a:xfrm>
              <a:off x="6111183" y="3175872"/>
              <a:ext cx="888633" cy="1204343"/>
            </a:xfrm>
            <a:custGeom>
              <a:avLst/>
              <a:gdLst>
                <a:gd name="T0" fmla="*/ 949170 w 21600"/>
                <a:gd name="T1" fmla="*/ 1121967 h 21600"/>
                <a:gd name="T2" fmla="*/ 949170 w 21600"/>
                <a:gd name="T3" fmla="*/ 1121967 h 21600"/>
                <a:gd name="T4" fmla="*/ 949170 w 21600"/>
                <a:gd name="T5" fmla="*/ 1121967 h 21600"/>
                <a:gd name="T6" fmla="*/ 949170 w 21600"/>
                <a:gd name="T7" fmla="*/ 112196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1661" y="0"/>
                  </a:moveTo>
                  <a:lnTo>
                    <a:pt x="0" y="3801"/>
                  </a:lnTo>
                  <a:lnTo>
                    <a:pt x="0" y="21600"/>
                  </a:lnTo>
                  <a:lnTo>
                    <a:pt x="21600" y="14559"/>
                  </a:lnTo>
                  <a:lnTo>
                    <a:pt x="11661" y="0"/>
                  </a:lnTo>
                  <a:close/>
                </a:path>
              </a:pathLst>
            </a:custGeom>
            <a:solidFill>
              <a:schemeClr val="accent2"/>
            </a:solidFill>
            <a:ln>
              <a:noFill/>
            </a:ln>
            <a:effectLst/>
          </p:spPr>
          <p:txBody>
            <a:bodyPr wrap="square" lIns="91440" tIns="45720" rIns="91440" bIns="45720" anchor="ctr">
              <a:normAutofit/>
            </a:bodyPr>
            <a:lstStyle/>
            <a:p>
              <a:pPr algn="ctr"/>
              <a:endParaRPr dirty="0"/>
            </a:p>
          </p:txBody>
        </p:sp>
        <p:sp>
          <p:nvSpPr>
            <p:cNvPr id="47" name="任意多边形: 形状 46"/>
            <p:cNvSpPr/>
            <p:nvPr/>
          </p:nvSpPr>
          <p:spPr bwMode="auto">
            <a:xfrm>
              <a:off x="5195887" y="3175872"/>
              <a:ext cx="915293" cy="1204343"/>
            </a:xfrm>
            <a:custGeom>
              <a:avLst/>
              <a:gdLst>
                <a:gd name="T0" fmla="*/ 949963 w 21600"/>
                <a:gd name="T1" fmla="*/ 1121967 h 21600"/>
                <a:gd name="T2" fmla="*/ 949963 w 21600"/>
                <a:gd name="T3" fmla="*/ 1121967 h 21600"/>
                <a:gd name="T4" fmla="*/ 949963 w 21600"/>
                <a:gd name="T5" fmla="*/ 1121967 h 21600"/>
                <a:gd name="T6" fmla="*/ 949963 w 21600"/>
                <a:gd name="T7" fmla="*/ 112196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9938" y="0"/>
                  </a:moveTo>
                  <a:lnTo>
                    <a:pt x="0" y="14559"/>
                  </a:lnTo>
                  <a:lnTo>
                    <a:pt x="21600" y="21600"/>
                  </a:lnTo>
                  <a:lnTo>
                    <a:pt x="21600" y="3801"/>
                  </a:lnTo>
                  <a:lnTo>
                    <a:pt x="9938" y="0"/>
                  </a:lnTo>
                  <a:close/>
                </a:path>
              </a:pathLst>
            </a:custGeom>
            <a:solidFill>
              <a:schemeClr val="accent2">
                <a:lumMod val="40000"/>
                <a:lumOff val="60000"/>
              </a:schemeClr>
            </a:solidFill>
            <a:ln>
              <a:noFill/>
            </a:ln>
            <a:effectLst/>
          </p:spPr>
          <p:txBody>
            <a:bodyPr wrap="square" lIns="91440" tIns="45720" rIns="91440" bIns="45720" anchor="ctr">
              <a:normAutofit/>
            </a:bodyPr>
            <a:lstStyle/>
            <a:p>
              <a:pPr algn="ctr"/>
              <a:endParaRPr/>
            </a:p>
          </p:txBody>
        </p:sp>
        <p:sp>
          <p:nvSpPr>
            <p:cNvPr id="48" name="任意多边形: 形状 47"/>
            <p:cNvSpPr/>
            <p:nvPr/>
          </p:nvSpPr>
          <p:spPr bwMode="auto">
            <a:xfrm>
              <a:off x="6110452" y="2222971"/>
              <a:ext cx="404938" cy="981030"/>
            </a:xfrm>
            <a:custGeom>
              <a:avLst/>
              <a:gdLst>
                <a:gd name="T0" fmla="*/ 432267 w 21600"/>
                <a:gd name="T1" fmla="*/ 913958 h 21600"/>
                <a:gd name="T2" fmla="*/ 432267 w 21600"/>
                <a:gd name="T3" fmla="*/ 913958 h 21600"/>
                <a:gd name="T4" fmla="*/ 432267 w 21600"/>
                <a:gd name="T5" fmla="*/ 913958 h 21600"/>
                <a:gd name="T6" fmla="*/ 432267 w 21600"/>
                <a:gd name="T7" fmla="*/ 91395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0" y="21600"/>
                  </a:lnTo>
                  <a:lnTo>
                    <a:pt x="21599" y="17667"/>
                  </a:lnTo>
                  <a:lnTo>
                    <a:pt x="0" y="0"/>
                  </a:lnTo>
                  <a:close/>
                </a:path>
              </a:pathLst>
            </a:custGeom>
            <a:solidFill>
              <a:schemeClr val="accent1"/>
            </a:solidFill>
            <a:ln>
              <a:noFill/>
            </a:ln>
            <a:effectLst/>
          </p:spPr>
          <p:txBody>
            <a:bodyPr wrap="square" lIns="91440" tIns="45720" rIns="91440" bIns="45720" anchor="ctr">
              <a:normAutofit/>
            </a:bodyPr>
            <a:lstStyle/>
            <a:p>
              <a:pPr algn="ctr"/>
              <a:endParaRPr/>
            </a:p>
          </p:txBody>
        </p:sp>
        <p:sp>
          <p:nvSpPr>
            <p:cNvPr id="49" name="任意多边形: 形状 48"/>
            <p:cNvSpPr/>
            <p:nvPr/>
          </p:nvSpPr>
          <p:spPr bwMode="auto">
            <a:xfrm>
              <a:off x="5706252" y="2222972"/>
              <a:ext cx="404197" cy="981030"/>
            </a:xfrm>
            <a:custGeom>
              <a:avLst/>
              <a:gdLst>
                <a:gd name="T0" fmla="*/ 431474 w 21600"/>
                <a:gd name="T1" fmla="*/ 913958 h 21600"/>
                <a:gd name="T2" fmla="*/ 431474 w 21600"/>
                <a:gd name="T3" fmla="*/ 913958 h 21600"/>
                <a:gd name="T4" fmla="*/ 431474 w 21600"/>
                <a:gd name="T5" fmla="*/ 913958 h 21600"/>
                <a:gd name="T6" fmla="*/ 431474 w 21600"/>
                <a:gd name="T7" fmla="*/ 91395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599" y="0"/>
                  </a:moveTo>
                  <a:lnTo>
                    <a:pt x="0" y="17667"/>
                  </a:lnTo>
                  <a:lnTo>
                    <a:pt x="21599" y="21600"/>
                  </a:lnTo>
                  <a:lnTo>
                    <a:pt x="21599" y="0"/>
                  </a:lnTo>
                  <a:close/>
                </a:path>
              </a:pathLst>
            </a:custGeom>
            <a:solidFill>
              <a:schemeClr val="accent1">
                <a:lumMod val="20000"/>
                <a:lumOff val="80000"/>
              </a:schemeClr>
            </a:solidFill>
            <a:ln>
              <a:noFill/>
            </a:ln>
            <a:effectLst/>
          </p:spPr>
          <p:txBody>
            <a:bodyPr wrap="square" lIns="91440" tIns="45720" rIns="91440" bIns="45720" anchor="ctr">
              <a:normAutofit/>
            </a:bodyPr>
            <a:lstStyle/>
            <a:p>
              <a:pPr algn="ctr"/>
              <a:endParaRPr/>
            </a:p>
          </p:txBody>
        </p:sp>
        <p:grpSp>
          <p:nvGrpSpPr>
            <p:cNvPr id="52" name="组合 51"/>
            <p:cNvGrpSpPr/>
            <p:nvPr/>
          </p:nvGrpSpPr>
          <p:grpSpPr>
            <a:xfrm>
              <a:off x="5871147" y="2255897"/>
              <a:ext cx="5647753" cy="3878203"/>
              <a:chOff x="5871147" y="2255897"/>
              <a:chExt cx="5647753" cy="3878203"/>
            </a:xfrm>
          </p:grpSpPr>
          <p:sp>
            <p:nvSpPr>
              <p:cNvPr id="38" name="Bullet1"/>
              <p:cNvSpPr/>
              <p:nvPr/>
            </p:nvSpPr>
            <p:spPr bwMode="auto">
              <a:xfrm>
                <a:off x="7092337" y="2255897"/>
                <a:ext cx="4242414" cy="53339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p:spPr>
            <p:txBody>
              <a:bodyPr wrap="square" lIns="91440" tIns="45720" rIns="91440" bIns="45720" anchor="ctr">
                <a:normAutofit/>
              </a:bodyPr>
              <a:lstStyle/>
              <a:p>
                <a:pPr marL="0" marR="0" lvl="0" indent="0" algn="l"/>
                <a:r>
                  <a:rPr lang="zh-CN" altLang="en-US" sz="1800" b="1" dirty="0">
                    <a:solidFill>
                      <a:schemeClr val="tx1"/>
                    </a:solidFill>
                  </a:rPr>
                  <a:t>In-context Learning</a:t>
                </a:r>
                <a:endParaRPr lang="en-US" dirty="0"/>
              </a:p>
            </p:txBody>
          </p:sp>
          <p:sp>
            <p:nvSpPr>
              <p:cNvPr id="39" name="Text1"/>
              <p:cNvSpPr/>
              <p:nvPr/>
            </p:nvSpPr>
            <p:spPr>
              <a:xfrm>
                <a:off x="7092337" y="2842875"/>
                <a:ext cx="4426563" cy="3291225"/>
              </a:xfrm>
              <a:prstGeom prst="rect">
                <a:avLst/>
              </a:prstGeom>
            </p:spPr>
            <p:txBody>
              <a:bodyPr wrap="square" lIns="91440" tIns="45720" rIns="91440" bIns="45720" anchor="t">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a:lnSpc>
                    <a:spcPct val="120000"/>
                  </a:lnSpc>
                </a:pPr>
                <a:r>
                  <a:rPr lang="zh-CN" altLang="en-US" sz="1200" dirty="0">
                    <a:solidFill>
                      <a:schemeClr val="tx1"/>
                    </a:solidFill>
                  </a:rPr>
                  <a:t>The BM25 similarity algorithm selects five of the most relevant reports from historical issue reports as examples and uses a keyword weighting mechanism to improve the accuracy of component-level and fault type matching, overcoming the instability of vector embedding methods in the description of highly heterogeneous problems.</a:t>
                </a:r>
                <a:endParaRPr lang="en-US" dirty="0"/>
              </a:p>
            </p:txBody>
          </p:sp>
          <p:sp>
            <p:nvSpPr>
              <p:cNvPr id="40" name="IconBackground1"/>
              <p:cNvSpPr/>
              <p:nvPr/>
            </p:nvSpPr>
            <p:spPr>
              <a:xfrm>
                <a:off x="5871147" y="2683207"/>
                <a:ext cx="433238" cy="433238"/>
              </a:xfrm>
              <a:prstGeom prst="ellipse">
                <a:avLst/>
              </a:prstGeom>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Icon1"/>
              <p:cNvSpPr/>
              <p:nvPr/>
            </p:nvSpPr>
            <p:spPr bwMode="auto">
              <a:xfrm>
                <a:off x="5984226" y="2774203"/>
                <a:ext cx="209317" cy="260194"/>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83091" h="600512">
                    <a:moveTo>
                      <a:pt x="242921" y="254713"/>
                    </a:moveTo>
                    <a:cubicBezTo>
                      <a:pt x="240591" y="254713"/>
                      <a:pt x="238619" y="256682"/>
                      <a:pt x="238619" y="259187"/>
                    </a:cubicBezTo>
                    <a:lnTo>
                      <a:pt x="238619" y="287463"/>
                    </a:lnTo>
                    <a:lnTo>
                      <a:pt x="247402" y="287463"/>
                    </a:lnTo>
                    <a:lnTo>
                      <a:pt x="247402" y="259187"/>
                    </a:lnTo>
                    <a:cubicBezTo>
                      <a:pt x="247402" y="256682"/>
                      <a:pt x="245431" y="254713"/>
                      <a:pt x="242921" y="254713"/>
                    </a:cubicBezTo>
                    <a:close/>
                    <a:moveTo>
                      <a:pt x="242921" y="163621"/>
                    </a:moveTo>
                    <a:lnTo>
                      <a:pt x="195776" y="202635"/>
                    </a:lnTo>
                    <a:lnTo>
                      <a:pt x="195776" y="287463"/>
                    </a:lnTo>
                    <a:lnTo>
                      <a:pt x="214598" y="287463"/>
                    </a:lnTo>
                    <a:lnTo>
                      <a:pt x="214598" y="259187"/>
                    </a:lnTo>
                    <a:cubicBezTo>
                      <a:pt x="214598" y="243617"/>
                      <a:pt x="227326" y="230911"/>
                      <a:pt x="242921" y="230911"/>
                    </a:cubicBezTo>
                    <a:cubicBezTo>
                      <a:pt x="258516" y="230911"/>
                      <a:pt x="271244" y="243617"/>
                      <a:pt x="271244" y="259187"/>
                    </a:cubicBezTo>
                    <a:lnTo>
                      <a:pt x="271244" y="287463"/>
                    </a:lnTo>
                    <a:lnTo>
                      <a:pt x="290245" y="287463"/>
                    </a:lnTo>
                    <a:lnTo>
                      <a:pt x="290245" y="202635"/>
                    </a:lnTo>
                    <a:close/>
                    <a:moveTo>
                      <a:pt x="235392" y="139103"/>
                    </a:moveTo>
                    <a:cubicBezTo>
                      <a:pt x="239694" y="135345"/>
                      <a:pt x="246148" y="135345"/>
                      <a:pt x="250629" y="139103"/>
                    </a:cubicBezTo>
                    <a:lnTo>
                      <a:pt x="309784" y="187960"/>
                    </a:lnTo>
                    <a:cubicBezTo>
                      <a:pt x="312473" y="190108"/>
                      <a:pt x="314086" y="193508"/>
                      <a:pt x="314086" y="197087"/>
                    </a:cubicBezTo>
                    <a:lnTo>
                      <a:pt x="314086" y="299275"/>
                    </a:lnTo>
                    <a:cubicBezTo>
                      <a:pt x="314086" y="305896"/>
                      <a:pt x="308708" y="311265"/>
                      <a:pt x="302255" y="311265"/>
                    </a:cubicBezTo>
                    <a:lnTo>
                      <a:pt x="183766" y="311265"/>
                    </a:lnTo>
                    <a:cubicBezTo>
                      <a:pt x="177134" y="311265"/>
                      <a:pt x="171756" y="305896"/>
                      <a:pt x="171756" y="299275"/>
                    </a:cubicBezTo>
                    <a:lnTo>
                      <a:pt x="171756" y="197087"/>
                    </a:lnTo>
                    <a:cubicBezTo>
                      <a:pt x="171756" y="193508"/>
                      <a:pt x="173369" y="190108"/>
                      <a:pt x="176237" y="187960"/>
                    </a:cubicBezTo>
                    <a:close/>
                    <a:moveTo>
                      <a:pt x="242938" y="94160"/>
                    </a:moveTo>
                    <a:cubicBezTo>
                      <a:pt x="166214" y="94160"/>
                      <a:pt x="103652" y="156628"/>
                      <a:pt x="103652" y="233236"/>
                    </a:cubicBezTo>
                    <a:cubicBezTo>
                      <a:pt x="103652" y="310023"/>
                      <a:pt x="166214" y="372490"/>
                      <a:pt x="242938" y="372490"/>
                    </a:cubicBezTo>
                    <a:cubicBezTo>
                      <a:pt x="319842" y="372490"/>
                      <a:pt x="382225" y="310023"/>
                      <a:pt x="382225" y="233236"/>
                    </a:cubicBezTo>
                    <a:cubicBezTo>
                      <a:pt x="382225" y="156628"/>
                      <a:pt x="319842" y="94160"/>
                      <a:pt x="242938" y="94160"/>
                    </a:cubicBezTo>
                    <a:close/>
                    <a:moveTo>
                      <a:pt x="242938" y="70354"/>
                    </a:moveTo>
                    <a:cubicBezTo>
                      <a:pt x="332928" y="70354"/>
                      <a:pt x="406246" y="143382"/>
                      <a:pt x="406246" y="233236"/>
                    </a:cubicBezTo>
                    <a:cubicBezTo>
                      <a:pt x="406246" y="323089"/>
                      <a:pt x="332928" y="396296"/>
                      <a:pt x="242938" y="396296"/>
                    </a:cubicBezTo>
                    <a:cubicBezTo>
                      <a:pt x="152949" y="396296"/>
                      <a:pt x="79810" y="323089"/>
                      <a:pt x="79810" y="233236"/>
                    </a:cubicBezTo>
                    <a:cubicBezTo>
                      <a:pt x="79810" y="143382"/>
                      <a:pt x="152949" y="70354"/>
                      <a:pt x="242938" y="70354"/>
                    </a:cubicBezTo>
                    <a:close/>
                    <a:moveTo>
                      <a:pt x="241635" y="35798"/>
                    </a:moveTo>
                    <a:cubicBezTo>
                      <a:pt x="128167" y="35798"/>
                      <a:pt x="35851" y="127978"/>
                      <a:pt x="35851" y="241100"/>
                    </a:cubicBezTo>
                    <a:cubicBezTo>
                      <a:pt x="35851" y="330058"/>
                      <a:pt x="174235" y="489001"/>
                      <a:pt x="241635" y="557376"/>
                    </a:cubicBezTo>
                    <a:cubicBezTo>
                      <a:pt x="308856" y="489001"/>
                      <a:pt x="447240" y="330058"/>
                      <a:pt x="447240" y="241279"/>
                    </a:cubicBezTo>
                    <a:cubicBezTo>
                      <a:pt x="447240" y="127978"/>
                      <a:pt x="354924" y="35798"/>
                      <a:pt x="241635" y="35798"/>
                    </a:cubicBezTo>
                    <a:close/>
                    <a:moveTo>
                      <a:pt x="241635" y="0"/>
                    </a:moveTo>
                    <a:cubicBezTo>
                      <a:pt x="374821" y="0"/>
                      <a:pt x="483091" y="108110"/>
                      <a:pt x="483091" y="241279"/>
                    </a:cubicBezTo>
                    <a:cubicBezTo>
                      <a:pt x="483091" y="370510"/>
                      <a:pt x="263504" y="586372"/>
                      <a:pt x="254004" y="595500"/>
                    </a:cubicBezTo>
                    <a:cubicBezTo>
                      <a:pt x="250598" y="598901"/>
                      <a:pt x="246117" y="600512"/>
                      <a:pt x="241635" y="600512"/>
                    </a:cubicBezTo>
                    <a:cubicBezTo>
                      <a:pt x="236975" y="600512"/>
                      <a:pt x="232493" y="598901"/>
                      <a:pt x="229087" y="595500"/>
                    </a:cubicBezTo>
                    <a:cubicBezTo>
                      <a:pt x="219587" y="586372"/>
                      <a:pt x="0" y="370510"/>
                      <a:pt x="0" y="241279"/>
                    </a:cubicBezTo>
                    <a:cubicBezTo>
                      <a:pt x="0" y="108110"/>
                      <a:pt x="108270" y="0"/>
                      <a:pt x="241635" y="0"/>
                    </a:cubicBezTo>
                    <a:close/>
                  </a:path>
                </a:pathLst>
              </a:custGeom>
              <a:solidFill>
                <a:srgbClr val="FFFFFF"/>
              </a:solidFill>
              <a:ln>
                <a:noFill/>
              </a:ln>
            </p:spPr>
            <p:txBody>
              <a:bodyPr wrap="square" lIns="91440" tIns="45720" rIns="91440" bIns="45720" anchor="ctr">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grpSp>
        <p:grpSp>
          <p:nvGrpSpPr>
            <p:cNvPr id="53" name="组合 52"/>
            <p:cNvGrpSpPr/>
            <p:nvPr/>
          </p:nvGrpSpPr>
          <p:grpSpPr>
            <a:xfrm>
              <a:off x="660400" y="3033737"/>
              <a:ext cx="5643985" cy="3100363"/>
              <a:chOff x="660400" y="3033737"/>
              <a:chExt cx="5643985" cy="3100363"/>
            </a:xfrm>
          </p:grpSpPr>
          <p:sp>
            <p:nvSpPr>
              <p:cNvPr id="34" name="Bullet2"/>
              <p:cNvSpPr/>
              <p:nvPr/>
            </p:nvSpPr>
            <p:spPr bwMode="auto">
              <a:xfrm flipH="1">
                <a:off x="918352" y="3033737"/>
                <a:ext cx="3880261" cy="6013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p:spPr>
            <p:txBody>
              <a:bodyPr wrap="square" lIns="91440" tIns="45720" rIns="91440" bIns="45720" anchor="ctr">
                <a:normAutofit/>
              </a:bodyPr>
              <a:lstStyle/>
              <a:p>
                <a:pPr marL="0" marR="0" lvl="0" indent="0" algn="l"/>
                <a:r>
                  <a:rPr lang="zh-CN" altLang="en-US" sz="1800" b="1" dirty="0">
                    <a:solidFill>
                      <a:schemeClr val="tx1"/>
                    </a:solidFill>
                  </a:rPr>
                  <a:t>Diagnosis Result Inference</a:t>
                </a:r>
                <a:endParaRPr lang="en-US" dirty="0"/>
              </a:p>
            </p:txBody>
          </p:sp>
          <p:sp>
            <p:nvSpPr>
              <p:cNvPr id="35" name="Text2"/>
              <p:cNvSpPr/>
              <p:nvPr/>
            </p:nvSpPr>
            <p:spPr>
              <a:xfrm>
                <a:off x="660400" y="3658618"/>
                <a:ext cx="4160165" cy="2475482"/>
              </a:xfrm>
              <a:prstGeom prst="rect">
                <a:avLst/>
              </a:prstGeom>
            </p:spPr>
            <p:txBody>
              <a:bodyPr wrap="square" lIns="91440" tIns="45720" rIns="91440" bIns="45720" anchor="t">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a:lnSpc>
                    <a:spcPct val="120000"/>
                  </a:lnSpc>
                </a:pPr>
                <a:r>
                  <a:rPr lang="zh-CN" altLang="en-US" sz="1200" dirty="0">
                    <a:solidFill>
                      <a:schemeClr val="tx1"/>
                    </a:solidFill>
                  </a:rPr>
                  <a:t>Based on the current issue report, the execution path prior to the failure, and key code snippets, the model uses structured clues to reason and outputs two core results: first, a concise and clear root cause summary; and second, the location of the potential root cause within the relevant code or component.</a:t>
                </a:r>
                <a:endParaRPr lang="en-US" dirty="0"/>
              </a:p>
            </p:txBody>
          </p:sp>
          <p:sp>
            <p:nvSpPr>
              <p:cNvPr id="36" name="IconBackground2"/>
              <p:cNvSpPr/>
              <p:nvPr/>
            </p:nvSpPr>
            <p:spPr>
              <a:xfrm>
                <a:off x="5871147" y="3651516"/>
                <a:ext cx="433238" cy="433238"/>
              </a:xfrm>
              <a:prstGeom prst="ellipse">
                <a:avLst/>
              </a:prstGeom>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Icon2"/>
              <p:cNvSpPr/>
              <p:nvPr/>
            </p:nvSpPr>
            <p:spPr bwMode="auto">
              <a:xfrm>
                <a:off x="5958787" y="3765678"/>
                <a:ext cx="260194" cy="200700"/>
              </a:xfrm>
              <a:custGeom>
                <a:avLst/>
                <a:gdLst>
                  <a:gd name="T0" fmla="*/ 1107 w 11268"/>
                  <a:gd name="T1" fmla="*/ 4470 h 8693"/>
                  <a:gd name="T2" fmla="*/ 3225 w 11268"/>
                  <a:gd name="T3" fmla="*/ 2419 h 8693"/>
                  <a:gd name="T4" fmla="*/ 3226 w 11268"/>
                  <a:gd name="T5" fmla="*/ 2225 h 8693"/>
                  <a:gd name="T6" fmla="*/ 3226 w 11268"/>
                  <a:gd name="T7" fmla="*/ 1345 h 8693"/>
                  <a:gd name="T8" fmla="*/ 0 w 11268"/>
                  <a:gd name="T9" fmla="*/ 4470 h 8693"/>
                  <a:gd name="T10" fmla="*/ 3226 w 11268"/>
                  <a:gd name="T11" fmla="*/ 7594 h 8693"/>
                  <a:gd name="T12" fmla="*/ 3226 w 11268"/>
                  <a:gd name="T13" fmla="*/ 6714 h 8693"/>
                  <a:gd name="T14" fmla="*/ 3225 w 11268"/>
                  <a:gd name="T15" fmla="*/ 6520 h 8693"/>
                  <a:gd name="T16" fmla="*/ 1107 w 11268"/>
                  <a:gd name="T17" fmla="*/ 4470 h 8693"/>
                  <a:gd name="T18" fmla="*/ 10161 w 11268"/>
                  <a:gd name="T19" fmla="*/ 4410 h 8693"/>
                  <a:gd name="T20" fmla="*/ 8043 w 11268"/>
                  <a:gd name="T21" fmla="*/ 2360 h 8693"/>
                  <a:gd name="T22" fmla="*/ 8042 w 11268"/>
                  <a:gd name="T23" fmla="*/ 2166 h 8693"/>
                  <a:gd name="T24" fmla="*/ 8042 w 11268"/>
                  <a:gd name="T25" fmla="*/ 1286 h 8693"/>
                  <a:gd name="T26" fmla="*/ 11268 w 11268"/>
                  <a:gd name="T27" fmla="*/ 4410 h 8693"/>
                  <a:gd name="T28" fmla="*/ 8042 w 11268"/>
                  <a:gd name="T29" fmla="*/ 7535 h 8693"/>
                  <a:gd name="T30" fmla="*/ 8042 w 11268"/>
                  <a:gd name="T31" fmla="*/ 6654 h 8693"/>
                  <a:gd name="T32" fmla="*/ 8043 w 11268"/>
                  <a:gd name="T33" fmla="*/ 6460 h 8693"/>
                  <a:gd name="T34" fmla="*/ 10161 w 11268"/>
                  <a:gd name="T35" fmla="*/ 4410 h 8693"/>
                  <a:gd name="T36" fmla="*/ 5125 w 11268"/>
                  <a:gd name="T37" fmla="*/ 8693 h 8693"/>
                  <a:gd name="T38" fmla="*/ 4155 w 11268"/>
                  <a:gd name="T39" fmla="*/ 8693 h 8693"/>
                  <a:gd name="T40" fmla="*/ 6143 w 11268"/>
                  <a:gd name="T41" fmla="*/ 0 h 8693"/>
                  <a:gd name="T42" fmla="*/ 7113 w 11268"/>
                  <a:gd name="T43" fmla="*/ 0 h 8693"/>
                  <a:gd name="T44" fmla="*/ 5125 w 11268"/>
                  <a:gd name="T45" fmla="*/ 8693 h 8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268" h="8693">
                    <a:moveTo>
                      <a:pt x="1107" y="4470"/>
                    </a:moveTo>
                    <a:lnTo>
                      <a:pt x="3225" y="2419"/>
                    </a:lnTo>
                    <a:lnTo>
                      <a:pt x="3226" y="2225"/>
                    </a:lnTo>
                    <a:lnTo>
                      <a:pt x="3226" y="1345"/>
                    </a:lnTo>
                    <a:lnTo>
                      <a:pt x="0" y="4470"/>
                    </a:lnTo>
                    <a:lnTo>
                      <a:pt x="3226" y="7594"/>
                    </a:lnTo>
                    <a:lnTo>
                      <a:pt x="3226" y="6714"/>
                    </a:lnTo>
                    <a:lnTo>
                      <a:pt x="3225" y="6520"/>
                    </a:lnTo>
                    <a:lnTo>
                      <a:pt x="1107" y="4470"/>
                    </a:lnTo>
                    <a:close/>
                    <a:moveTo>
                      <a:pt x="10161" y="4410"/>
                    </a:moveTo>
                    <a:lnTo>
                      <a:pt x="8043" y="2360"/>
                    </a:lnTo>
                    <a:lnTo>
                      <a:pt x="8042" y="2166"/>
                    </a:lnTo>
                    <a:lnTo>
                      <a:pt x="8042" y="1286"/>
                    </a:lnTo>
                    <a:lnTo>
                      <a:pt x="11268" y="4410"/>
                    </a:lnTo>
                    <a:lnTo>
                      <a:pt x="8042" y="7535"/>
                    </a:lnTo>
                    <a:lnTo>
                      <a:pt x="8042" y="6654"/>
                    </a:lnTo>
                    <a:lnTo>
                      <a:pt x="8043" y="6460"/>
                    </a:lnTo>
                    <a:lnTo>
                      <a:pt x="10161" y="4410"/>
                    </a:lnTo>
                    <a:close/>
                    <a:moveTo>
                      <a:pt x="5125" y="8693"/>
                    </a:moveTo>
                    <a:lnTo>
                      <a:pt x="4155" y="8693"/>
                    </a:lnTo>
                    <a:lnTo>
                      <a:pt x="6143" y="0"/>
                    </a:lnTo>
                    <a:lnTo>
                      <a:pt x="7113" y="0"/>
                    </a:lnTo>
                    <a:lnTo>
                      <a:pt x="5125" y="8693"/>
                    </a:lnTo>
                    <a:close/>
                  </a:path>
                </a:pathLst>
              </a:custGeom>
              <a:solidFill>
                <a:srgbClr val="FFFFFF"/>
              </a:solidFill>
              <a:ln>
                <a:noFill/>
              </a:ln>
            </p:spPr>
            <p:txBody>
              <a:bodyPr wrap="square" lIns="91440" tIns="45720" rIns="91440" bIns="45720" anchor="ctr">
                <a:normAutofit fontScale="4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grpSp>
      </p:grpSp>
      <p:sp>
        <p:nvSpPr>
          <p:cNvPr id="2" name="标题 1"/>
          <p:cNvSpPr>
            <a:spLocks noGrp="1"/>
          </p:cNvSpPr>
          <p:nvPr>
            <p:ph type="title" hasCustomPrompt="1"/>
          </p:nvPr>
        </p:nvSpPr>
        <p:spPr/>
        <p:txBody>
          <a:bodyPr>
            <a:normAutofit/>
          </a:bodyPr>
          <a:lstStyle/>
          <a:p>
            <a:pPr marL="0" marR="0" lvl="0" indent="0" algn="l">
              <a:lnSpc>
                <a:spcPct val="100000"/>
              </a:lnSpc>
            </a:pPr>
            <a:r>
              <a:rPr lang="zh-CN" altLang="en-US" sz="2800" b="1" dirty="0">
                <a:solidFill>
                  <a:schemeClr val="accent1"/>
                </a:solidFill>
              </a:rPr>
              <a:t>IV :  Root Cause Inference</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t>14</a:t>
            </a:fld>
            <a:endParaRPr lang="en-US"/>
          </a:p>
        </p:txBody>
      </p:sp>
      <p:pic>
        <p:nvPicPr>
          <p:cNvPr id="6" name="图片 5">
            <a:extLst>
              <a:ext uri="{FF2B5EF4-FFF2-40B4-BE49-F238E27FC236}">
                <a16:creationId xmlns:a16="http://schemas.microsoft.com/office/drawing/2014/main" id="{13358390-7951-C433-B8FB-DD3AC0960B6A}"/>
              </a:ext>
            </a:extLst>
          </p:cNvPr>
          <p:cNvPicPr>
            <a:picLocks noChangeAspect="1"/>
          </p:cNvPicPr>
          <p:nvPr/>
        </p:nvPicPr>
        <p:blipFill>
          <a:blip r:embed="rId2"/>
          <a:stretch>
            <a:fillRect/>
          </a:stretch>
        </p:blipFill>
        <p:spPr>
          <a:xfrm>
            <a:off x="4830668" y="4607002"/>
            <a:ext cx="4732559" cy="166875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42128a8c-3440-4571-bedf-8942cb5465c0.source.6.zh-Hans.pptx"/>
          <p:cNvGrpSpPr/>
          <p:nvPr/>
        </p:nvGrpSpPr>
        <p:grpSpPr>
          <a:xfrm>
            <a:off x="660400" y="1130300"/>
            <a:ext cx="10861336" cy="5003800"/>
            <a:chOff x="660400" y="1130300"/>
            <a:chExt cx="10861336" cy="5003800"/>
          </a:xfrm>
        </p:grpSpPr>
        <p:grpSp>
          <p:nvGrpSpPr>
            <p:cNvPr id="16" name="组合 15"/>
            <p:cNvGrpSpPr/>
            <p:nvPr/>
          </p:nvGrpSpPr>
          <p:grpSpPr>
            <a:xfrm>
              <a:off x="5125350" y="1561192"/>
              <a:ext cx="6396385" cy="555673"/>
              <a:chOff x="2419913" y="1305981"/>
              <a:chExt cx="8650843" cy="783328"/>
            </a:xfrm>
          </p:grpSpPr>
          <p:grpSp>
            <p:nvGrpSpPr>
              <p:cNvPr id="78" name="组合 77"/>
              <p:cNvGrpSpPr/>
              <p:nvPr/>
            </p:nvGrpSpPr>
            <p:grpSpPr>
              <a:xfrm>
                <a:off x="3251284" y="1548211"/>
                <a:ext cx="7819472" cy="541098"/>
                <a:chOff x="3251284" y="1548211"/>
                <a:chExt cx="7819472" cy="541098"/>
              </a:xfrm>
            </p:grpSpPr>
            <p:sp>
              <p:nvSpPr>
                <p:cNvPr id="80" name="Bullet1"/>
                <p:cNvSpPr/>
                <p:nvPr/>
              </p:nvSpPr>
              <p:spPr>
                <a:xfrm>
                  <a:off x="3251284" y="1548211"/>
                  <a:ext cx="7819472" cy="5410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marL="0" marR="0" lvl="0" indent="0" algn="l"/>
                  <a:r>
                    <a:rPr lang="zh-CN" altLang="en-US" sz="1600" b="1" dirty="0">
                      <a:solidFill>
                        <a:schemeClr val="tx1"/>
                      </a:solidFill>
                    </a:rPr>
                    <a:t>RQ1: How effective is COCA in RCA compared with</a:t>
                  </a:r>
                  <a:endParaRPr lang="en-US" dirty="0"/>
                </a:p>
                <a:p>
                  <a:pPr marL="0" marR="0" lvl="0" indent="0" algn="l"/>
                  <a:r>
                    <a:rPr lang="zh-CN" altLang="en-US" sz="1600" b="1" dirty="0">
                      <a:solidFill>
                        <a:schemeClr val="tx1"/>
                      </a:solidFill>
                    </a:rPr>
                    <a:t>existing methods?</a:t>
                  </a:r>
                  <a:endParaRPr lang="en-US" dirty="0"/>
                </a:p>
                <a:p>
                  <a:pPr marL="0" marR="0" lvl="0" indent="0" algn="l"/>
                  <a:endParaRPr lang="en-US" dirty="0"/>
                </a:p>
              </p:txBody>
            </p:sp>
          </p:grpSp>
          <p:sp>
            <p:nvSpPr>
              <p:cNvPr id="79" name="Number1"/>
              <p:cNvSpPr txBox="1"/>
              <p:nvPr/>
            </p:nvSpPr>
            <p:spPr>
              <a:xfrm>
                <a:off x="2419913" y="1305981"/>
                <a:ext cx="486885" cy="507489"/>
              </a:xfrm>
              <a:prstGeom prst="ellipse">
                <a:avLst/>
              </a:prstGeom>
              <a:solidFill>
                <a:schemeClr val="accent1"/>
              </a:solidFill>
            </p:spPr>
            <p:txBody>
              <a:bodyPr wrap="none" lIns="91440" tIns="45720" rIns="91440" bIns="45720" rtlCol="0" anchor="ctr" anchorCtr="0">
                <a:normAutofit fontScale="62500" lnSpcReduction="20000"/>
              </a:bodyPr>
              <a:lstStyle>
                <a:defPPr>
                  <a:defRPr lang="zh-CN"/>
                </a:defPPr>
                <a:lvl1pPr algn="ctr">
                  <a:defRPr kumimoji="1" sz="2800" b="1">
                    <a:solidFill>
                      <a:schemeClr val="bg1"/>
                    </a:solidFill>
                    <a:cs typeface="+mn-ea"/>
                  </a:defRPr>
                </a:lvl1pPr>
              </a:lstStyle>
              <a:p>
                <a:pPr>
                  <a:lnSpc>
                    <a:spcPct val="120000"/>
                  </a:lnSpc>
                </a:pPr>
                <a:r>
                  <a:rPr lang="en-US" altLang="zh-CN" sz="1600" dirty="0">
                    <a:solidFill>
                      <a:srgbClr val="FFFFFF"/>
                    </a:solidFill>
                    <a:sym typeface="+mn-lt"/>
                  </a:rPr>
                  <a:t>1</a:t>
                </a:r>
                <a:endParaRPr lang="zh-CN" altLang="en-US" sz="1600" dirty="0">
                  <a:solidFill>
                    <a:srgbClr val="FFFFFF"/>
                  </a:solidFill>
                  <a:sym typeface="+mn-lt"/>
                </a:endParaRPr>
              </a:p>
            </p:txBody>
          </p:sp>
        </p:grpSp>
        <p:grpSp>
          <p:nvGrpSpPr>
            <p:cNvPr id="22" name="组合 21"/>
            <p:cNvGrpSpPr/>
            <p:nvPr/>
          </p:nvGrpSpPr>
          <p:grpSpPr>
            <a:xfrm>
              <a:off x="5125407" y="4545048"/>
              <a:ext cx="6396329" cy="380689"/>
              <a:chOff x="1788535" y="2541327"/>
              <a:chExt cx="8650766" cy="536656"/>
            </a:xfrm>
          </p:grpSpPr>
          <p:grpSp>
            <p:nvGrpSpPr>
              <p:cNvPr id="74" name="组合 73"/>
              <p:cNvGrpSpPr/>
              <p:nvPr/>
            </p:nvGrpSpPr>
            <p:grpSpPr>
              <a:xfrm>
                <a:off x="2619829" y="2541327"/>
                <a:ext cx="7819472" cy="536656"/>
                <a:chOff x="2619829" y="2541327"/>
                <a:chExt cx="7819472" cy="536656"/>
              </a:xfrm>
            </p:grpSpPr>
            <p:sp>
              <p:nvSpPr>
                <p:cNvPr id="76" name="Bullet2"/>
                <p:cNvSpPr/>
                <p:nvPr/>
              </p:nvSpPr>
              <p:spPr>
                <a:xfrm>
                  <a:off x="2619829" y="2541327"/>
                  <a:ext cx="7819472" cy="5366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marL="0" marR="0" lvl="0" indent="0" algn="l"/>
                  <a:r>
                    <a:rPr lang="zh-CN" altLang="en-US" sz="1600" b="1" dirty="0">
                      <a:solidFill>
                        <a:schemeClr val="tx1"/>
                      </a:solidFill>
                    </a:rPr>
                    <a:t>RQ3: How generalizable is COCA with different backbone models?</a:t>
                  </a:r>
                  <a:endParaRPr lang="en-US" dirty="0"/>
                </a:p>
                <a:p>
                  <a:pPr marL="0" marR="0" lvl="0" indent="0" algn="l"/>
                  <a:endParaRPr lang="en-US" dirty="0"/>
                </a:p>
              </p:txBody>
            </p:sp>
          </p:grpSp>
          <p:sp>
            <p:nvSpPr>
              <p:cNvPr id="75" name="Number2"/>
              <p:cNvSpPr txBox="1"/>
              <p:nvPr/>
            </p:nvSpPr>
            <p:spPr>
              <a:xfrm>
                <a:off x="1788535" y="2570471"/>
                <a:ext cx="486885" cy="507491"/>
              </a:xfrm>
              <a:prstGeom prst="ellipse">
                <a:avLst/>
              </a:prstGeom>
              <a:solidFill>
                <a:schemeClr val="accent1"/>
              </a:solidFill>
            </p:spPr>
            <p:txBody>
              <a:bodyPr wrap="none" lIns="91440" tIns="45720" rIns="91440" bIns="45720" rtlCol="0" anchor="ctr" anchorCtr="0">
                <a:normAutofit fontScale="62500" lnSpcReduction="20000"/>
              </a:bodyPr>
              <a:lstStyle>
                <a:defPPr>
                  <a:defRPr lang="zh-CN"/>
                </a:defPPr>
                <a:lvl1pPr algn="ctr">
                  <a:defRPr kumimoji="1" sz="2800" b="1">
                    <a:solidFill>
                      <a:schemeClr val="bg1"/>
                    </a:solidFill>
                    <a:cs typeface="+mn-ea"/>
                  </a:defRPr>
                </a:lvl1pPr>
              </a:lstStyle>
              <a:p>
                <a:pPr marL="0" marR="0" lvl="0" indent="0" algn="ctr">
                  <a:lnSpc>
                    <a:spcPct val="120000"/>
                  </a:lnSpc>
                </a:pPr>
                <a:r>
                  <a:rPr lang="zh-CN" altLang="en-US" sz="1600" b="1" dirty="0">
                    <a:solidFill>
                      <a:srgbClr val="FFFFFF"/>
                    </a:solidFill>
                    <a:latin typeface="Arial" panose="020B0604020202020204"/>
                    <a:ea typeface="Arial" panose="020B0604020202020204"/>
                  </a:rPr>
                  <a:t>3</a:t>
                </a:r>
                <a:endParaRPr lang="en-US" dirty="0"/>
              </a:p>
            </p:txBody>
          </p:sp>
        </p:grpSp>
        <p:grpSp>
          <p:nvGrpSpPr>
            <p:cNvPr id="23" name="组合 22"/>
            <p:cNvGrpSpPr/>
            <p:nvPr/>
          </p:nvGrpSpPr>
          <p:grpSpPr>
            <a:xfrm>
              <a:off x="5122571" y="2913471"/>
              <a:ext cx="6396473" cy="918802"/>
              <a:chOff x="1157158" y="3834962"/>
              <a:chExt cx="8650961" cy="1295228"/>
            </a:xfrm>
          </p:grpSpPr>
          <p:grpSp>
            <p:nvGrpSpPr>
              <p:cNvPr id="70" name="组合 69"/>
              <p:cNvGrpSpPr/>
              <p:nvPr/>
            </p:nvGrpSpPr>
            <p:grpSpPr>
              <a:xfrm>
                <a:off x="1988645" y="3993880"/>
                <a:ext cx="7819474" cy="1136310"/>
                <a:chOff x="1988451" y="3801355"/>
                <a:chExt cx="7819474" cy="1136310"/>
              </a:xfrm>
            </p:grpSpPr>
            <p:sp>
              <p:nvSpPr>
                <p:cNvPr id="72" name="Bullet3"/>
                <p:cNvSpPr/>
                <p:nvPr/>
              </p:nvSpPr>
              <p:spPr>
                <a:xfrm>
                  <a:off x="1988451" y="3801355"/>
                  <a:ext cx="7819472" cy="5410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marL="0" marR="0" lvl="0" indent="0" algn="l"/>
                  <a:r>
                    <a:rPr lang="zh-CN" altLang="en-US" sz="1600" b="1" dirty="0">
                      <a:solidFill>
                        <a:schemeClr val="tx1"/>
                      </a:solidFill>
                    </a:rPr>
                    <a:t>RQ2: What are the impacts of different phases in COCA?</a:t>
                  </a:r>
                  <a:endParaRPr lang="en-US" dirty="0"/>
                </a:p>
              </p:txBody>
            </p:sp>
          </p:grpSp>
          <p:sp>
            <p:nvSpPr>
              <p:cNvPr id="71" name="Number3"/>
              <p:cNvSpPr txBox="1"/>
              <p:nvPr/>
            </p:nvSpPr>
            <p:spPr>
              <a:xfrm>
                <a:off x="1157158" y="3834962"/>
                <a:ext cx="486885" cy="507489"/>
              </a:xfrm>
              <a:prstGeom prst="ellipse">
                <a:avLst/>
              </a:prstGeom>
              <a:solidFill>
                <a:schemeClr val="accent1"/>
              </a:solidFill>
            </p:spPr>
            <p:txBody>
              <a:bodyPr wrap="none" lIns="91440" tIns="45720" rIns="91440" bIns="45720" rtlCol="0" anchor="ctr" anchorCtr="0">
                <a:noAutofit/>
              </a:bodyPr>
              <a:lstStyle>
                <a:defPPr>
                  <a:defRPr lang="zh-CN"/>
                </a:defPPr>
                <a:lvl1pPr algn="ctr">
                  <a:defRPr kumimoji="1" sz="2800" b="1">
                    <a:solidFill>
                      <a:schemeClr val="bg1"/>
                    </a:solidFill>
                    <a:cs typeface="+mn-ea"/>
                  </a:defRPr>
                </a:lvl1pPr>
              </a:lstStyle>
              <a:p>
                <a:pPr marL="0" marR="0" lvl="0" indent="0" algn="ctr">
                  <a:lnSpc>
                    <a:spcPct val="120000"/>
                  </a:lnSpc>
                </a:pPr>
                <a:r>
                  <a:rPr lang="zh-CN" altLang="en-US" sz="1600" b="1" dirty="0">
                    <a:solidFill>
                      <a:srgbClr val="FFFFFF"/>
                    </a:solidFill>
                    <a:latin typeface="Arial" panose="020B0604020202020204"/>
                    <a:ea typeface="Arial" panose="020B0604020202020204"/>
                  </a:rPr>
                  <a:t>2</a:t>
                </a:r>
                <a:endParaRPr lang="en-US" dirty="0"/>
              </a:p>
            </p:txBody>
          </p:sp>
        </p:grpSp>
        <p:sp>
          <p:nvSpPr>
            <p:cNvPr id="3" name="PictureMisc1"/>
            <p:cNvSpPr/>
            <p:nvPr/>
          </p:nvSpPr>
          <p:spPr>
            <a:xfrm>
              <a:off x="673096" y="1130300"/>
              <a:ext cx="3835403" cy="3987800"/>
            </a:xfrm>
            <a:prstGeom prst="round2SameRect">
              <a:avLst>
                <a:gd name="adj1" fmla="val 50000"/>
                <a:gd name="adj2" fmla="val 0"/>
              </a:avLst>
            </a:prstGeom>
            <a:blipFill>
              <a:blip r:embed="rId2"/>
              <a:stretch>
                <a:fillRect t="-22134" b="-22134"/>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lang="en-US" sz="1600">
                <a:solidFill>
                  <a:schemeClr val="tx1"/>
                </a:solidFill>
                <a:cs typeface="+mn-ea"/>
                <a:sym typeface="+mn-lt"/>
              </a:endParaRPr>
            </a:p>
          </p:txBody>
        </p:sp>
        <p:sp>
          <p:nvSpPr>
            <p:cNvPr id="4" name="Title"/>
            <p:cNvSpPr/>
            <p:nvPr/>
          </p:nvSpPr>
          <p:spPr>
            <a:xfrm>
              <a:off x="660400" y="5162550"/>
              <a:ext cx="3848099" cy="9715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a:r>
                <a:rPr lang="zh-CN" altLang="en-US" sz="2000" b="1" dirty="0">
                  <a:solidFill>
                    <a:schemeClr val="tx1"/>
                  </a:solidFill>
                </a:rPr>
                <a:t>question</a:t>
              </a:r>
              <a:endParaRPr lang="en-US" dirty="0"/>
            </a:p>
          </p:txBody>
        </p:sp>
      </p:grpSp>
      <p:sp>
        <p:nvSpPr>
          <p:cNvPr id="2" name="标题 1"/>
          <p:cNvSpPr>
            <a:spLocks noGrp="1"/>
          </p:cNvSpPr>
          <p:nvPr>
            <p:ph type="title" hasCustomPrompt="1"/>
          </p:nvPr>
        </p:nvSpPr>
        <p:spPr/>
        <p:txBody>
          <a:bodyPr>
            <a:normAutofit/>
          </a:bodyPr>
          <a:lstStyle/>
          <a:p>
            <a:pPr marL="0" marR="0" lvl="0" indent="0" algn="l">
              <a:lnSpc>
                <a:spcPct val="100000"/>
              </a:lnSpc>
            </a:pPr>
            <a:r>
              <a:rPr lang="zh-CN" altLang="en-US" sz="2800" b="1" dirty="0">
                <a:solidFill>
                  <a:schemeClr val="accent1"/>
                </a:solidFill>
              </a:rPr>
              <a:t>EXPERIMENT SETUP</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a:bodyPr>
          <a:lstStyle/>
          <a:p>
            <a:pPr marL="0" marR="0" lvl="0" indent="0" algn="l">
              <a:lnSpc>
                <a:spcPct val="100000"/>
              </a:lnSpc>
            </a:pPr>
            <a:r>
              <a:rPr lang="zh-CN" altLang="en-US" sz="2800" b="1" dirty="0">
                <a:solidFill>
                  <a:schemeClr val="accent1"/>
                </a:solidFill>
              </a:rPr>
              <a:t>Dataset</a:t>
            </a:r>
            <a:endParaRPr lang="en-US" dirty="0"/>
          </a:p>
        </p:txBody>
      </p:sp>
      <p:pic>
        <p:nvPicPr>
          <p:cNvPr id="3" name="图片 2"/>
          <p:cNvPicPr>
            <a:picLocks noChangeAspect="1"/>
          </p:cNvPicPr>
          <p:nvPr/>
        </p:nvPicPr>
        <p:blipFill>
          <a:blip r:embed="rId2"/>
          <a:stretch>
            <a:fillRect/>
          </a:stretch>
        </p:blipFill>
        <p:spPr>
          <a:xfrm>
            <a:off x="447675" y="1364615"/>
            <a:ext cx="11596370" cy="34296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6720caff-d6db-49a1-ade6-02a2334159cd.source.5.zh-Hans.pptx"/>
          <p:cNvGrpSpPr/>
          <p:nvPr/>
        </p:nvGrpSpPr>
        <p:grpSpPr>
          <a:xfrm>
            <a:off x="716591" y="1578087"/>
            <a:ext cx="10511689" cy="4149614"/>
            <a:chOff x="716591" y="1578087"/>
            <a:chExt cx="10511689" cy="4149614"/>
          </a:xfrm>
        </p:grpSpPr>
        <p:grpSp>
          <p:nvGrpSpPr>
            <p:cNvPr id="4" name="组合 3"/>
            <p:cNvGrpSpPr/>
            <p:nvPr/>
          </p:nvGrpSpPr>
          <p:grpSpPr>
            <a:xfrm>
              <a:off x="820163" y="1619294"/>
              <a:ext cx="6540809" cy="1893788"/>
              <a:chOff x="660400" y="2309282"/>
              <a:chExt cx="3206682" cy="1893788"/>
            </a:xfrm>
          </p:grpSpPr>
          <p:sp>
            <p:nvSpPr>
              <p:cNvPr id="62" name="椭圆 61"/>
              <p:cNvSpPr/>
              <p:nvPr/>
            </p:nvSpPr>
            <p:spPr>
              <a:xfrm>
                <a:off x="660400" y="2469574"/>
                <a:ext cx="159794" cy="15979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p>
                <a:pPr algn="ctr"/>
                <a:endParaRPr lang="zh-CN" altLang="en-US"/>
              </a:p>
            </p:txBody>
          </p:sp>
          <p:sp>
            <p:nvSpPr>
              <p:cNvPr id="63" name="Text1"/>
              <p:cNvSpPr/>
              <p:nvPr/>
            </p:nvSpPr>
            <p:spPr bwMode="auto">
              <a:xfrm>
                <a:off x="851575" y="2803309"/>
                <a:ext cx="3015507" cy="1399761"/>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a:lnSpc>
                    <a:spcPct val="120000"/>
                  </a:lnSpc>
                  <a:buFont typeface="Arial" panose="020B0604020202020204" pitchFamily="34" charset="0"/>
                  <a:buChar char="•"/>
                </a:pPr>
                <a:r>
                  <a:rPr lang="zh-CN" altLang="en-US" sz="1200" dirty="0">
                    <a:solidFill>
                      <a:schemeClr val="tx1"/>
                    </a:solidFill>
                  </a:rPr>
                  <a:t>Classic text similarity metrics such as </a:t>
                </a:r>
                <a:r>
                  <a:rPr lang="zh-CN" altLang="en-US" sz="1200" b="1" dirty="0">
                    <a:solidFill>
                      <a:schemeClr val="tx1"/>
                    </a:solidFill>
                  </a:rPr>
                  <a:t>BLEU, METEOR, and RO</a:t>
                </a:r>
                <a:r>
                  <a:rPr lang="zh-CN" altLang="en-US" sz="1200" b="0" dirty="0">
                    <a:solidFill>
                      <a:schemeClr val="tx1"/>
                    </a:solidFill>
                  </a:rPr>
                  <a:t>UGE</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200" dirty="0">
                    <a:solidFill>
                      <a:schemeClr val="tx1"/>
                    </a:solidFill>
                  </a:rPr>
                  <a:t>The generated root cause summaries and the true summaries are vectorized using </a:t>
                </a:r>
                <a:r>
                  <a:rPr lang="zh-CN" altLang="en-US" sz="1200" b="1" dirty="0">
                    <a:solidFill>
                      <a:schemeClr val="tx1"/>
                    </a:solidFill>
                  </a:rPr>
                  <a:t>OpenAI's embedding model,</a:t>
                </a:r>
                <a:r>
                  <a:rPr lang="zh-CN" altLang="en-US" sz="1200" dirty="0">
                    <a:solidFill>
                      <a:schemeClr val="tx1"/>
                    </a:solidFill>
                  </a:rPr>
                  <a:t> and their semantic similarity is calculated.</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200" dirty="0">
                    <a:solidFill>
                      <a:schemeClr val="tx1"/>
                    </a:solidFill>
                  </a:rPr>
                  <a:t>The manual evaluation metric—</a:t>
                </a:r>
                <a:r>
                  <a:rPr lang="zh-CN" altLang="en-US" sz="1200" b="1" dirty="0">
                    <a:solidFill>
                      <a:schemeClr val="tx1"/>
                    </a:solidFill>
                  </a:rPr>
                  <a:t>Usefulness</a:t>
                </a:r>
                <a:r>
                  <a:rPr lang="zh-CN" altLang="en-US" sz="1200" dirty="0">
                    <a:solidFill>
                      <a:schemeClr val="tx1"/>
                    </a:solidFill>
                  </a:rPr>
                  <a:t>—is used to measure the practicality of summaries in actual fault diagnosis.</a:t>
                </a:r>
                <a:endParaRPr lang="en-US" dirty="0"/>
              </a:p>
              <a:p>
                <a:pPr marL="171450" marR="0" lvl="0" indent="-171450" algn="l">
                  <a:lnSpc>
                    <a:spcPct val="120000"/>
                  </a:lnSpc>
                  <a:buFont typeface="Arial" panose="020B0604020202020204" pitchFamily="34" charset="0"/>
                  <a:buChar char="•"/>
                </a:pPr>
                <a:endParaRPr lang="en-US" dirty="0"/>
              </a:p>
            </p:txBody>
          </p:sp>
          <p:sp>
            <p:nvSpPr>
              <p:cNvPr id="64" name="Bullet1"/>
              <p:cNvSpPr txBox="1"/>
              <p:nvPr/>
            </p:nvSpPr>
            <p:spPr bwMode="auto">
              <a:xfrm>
                <a:off x="851575" y="2309282"/>
                <a:ext cx="2729825" cy="494028"/>
              </a:xfrm>
              <a:prstGeom prst="rect">
                <a:avLst/>
              </a:prstGeom>
              <a:noFill/>
              <a:ln>
                <a:noFill/>
              </a:ln>
            </p:spPr>
            <p:txBody>
              <a:bodyPr wrap="square" lIns="91440" tIns="45720" rIns="91440" bIns="45720" anchor="ctr" anchorCtr="0">
                <a:normAutofit fontScale="9278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a:r>
                  <a:rPr lang="zh-CN" altLang="en-US" sz="1800" b="1" dirty="0">
                    <a:solidFill>
                      <a:schemeClr val="tx1"/>
                    </a:solidFill>
                  </a:rPr>
                  <a:t>Root Cause Summarization:</a:t>
                </a:r>
                <a:endParaRPr lang="en-US" dirty="0"/>
              </a:p>
            </p:txBody>
          </p:sp>
        </p:grpSp>
        <p:grpSp>
          <p:nvGrpSpPr>
            <p:cNvPr id="8" name="组合 7"/>
            <p:cNvGrpSpPr/>
            <p:nvPr/>
          </p:nvGrpSpPr>
          <p:grpSpPr>
            <a:xfrm>
              <a:off x="716591" y="4096247"/>
              <a:ext cx="6555192" cy="1429400"/>
              <a:chOff x="660400" y="2309282"/>
              <a:chExt cx="3182289" cy="1429400"/>
            </a:xfrm>
          </p:grpSpPr>
          <p:sp>
            <p:nvSpPr>
              <p:cNvPr id="39" name="椭圆 38"/>
              <p:cNvSpPr/>
              <p:nvPr/>
            </p:nvSpPr>
            <p:spPr>
              <a:xfrm>
                <a:off x="660400" y="2469574"/>
                <a:ext cx="159794" cy="15979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p>
                <a:pPr algn="ctr"/>
                <a:endParaRPr lang="zh-CN" altLang="en-US"/>
              </a:p>
            </p:txBody>
          </p:sp>
          <p:sp>
            <p:nvSpPr>
              <p:cNvPr id="40" name="Text5"/>
              <p:cNvSpPr/>
              <p:nvPr/>
            </p:nvSpPr>
            <p:spPr bwMode="auto">
              <a:xfrm>
                <a:off x="851575" y="2803309"/>
                <a:ext cx="2991114" cy="935373"/>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a:lnSpc>
                    <a:spcPct val="120000"/>
                  </a:lnSpc>
                </a:pPr>
                <a:r>
                  <a:rPr lang="zh-CN" altLang="en-US" sz="1200" dirty="0">
                    <a:solidFill>
                      <a:schemeClr val="tx1"/>
                    </a:solidFill>
                  </a:rPr>
                  <a:t>The </a:t>
                </a:r>
                <a:r>
                  <a:rPr lang="zh-CN" altLang="en-US" sz="1200" b="1" dirty="0">
                    <a:solidFill>
                      <a:schemeClr val="tx1"/>
                    </a:solidFill>
                  </a:rPr>
                  <a:t>Exact Match</a:t>
                </a:r>
                <a:r>
                  <a:rPr lang="zh-CN" altLang="en-US" sz="1200" dirty="0">
                    <a:solidFill>
                      <a:schemeClr val="tx1"/>
                    </a:solidFill>
                  </a:rPr>
                  <a:t> metric ：used to determine whether the set of root cause components predicted by the model is completely consistent with the set of true root cause components.</a:t>
                </a:r>
                <a:endParaRPr lang="en-US" dirty="0"/>
              </a:p>
              <a:p>
                <a:pPr marL="0" marR="0" lvl="0" indent="0" algn="l">
                  <a:lnSpc>
                    <a:spcPct val="120000"/>
                  </a:lnSpc>
                </a:pPr>
                <a:endParaRPr lang="en-US" dirty="0"/>
              </a:p>
              <a:p>
                <a:pPr marL="0" marR="0" lvl="0" indent="0" algn="l">
                  <a:lnSpc>
                    <a:spcPct val="120000"/>
                  </a:lnSpc>
                </a:pPr>
                <a:r>
                  <a:rPr lang="zh-CN" altLang="en-US" sz="1200" dirty="0">
                    <a:solidFill>
                      <a:schemeClr val="tx1"/>
                    </a:solidFill>
                  </a:rPr>
                  <a:t>The </a:t>
                </a:r>
                <a:r>
                  <a:rPr lang="zh-CN" altLang="en-US" sz="1200" b="1" dirty="0">
                    <a:solidFill>
                      <a:schemeClr val="tx1"/>
                    </a:solidFill>
                  </a:rPr>
                  <a:t>Top-k</a:t>
                </a:r>
                <a:r>
                  <a:rPr lang="zh-CN" altLang="en-US" sz="1200" dirty="0">
                    <a:solidFill>
                      <a:schemeClr val="tx1"/>
                    </a:solidFill>
                  </a:rPr>
                  <a:t> metric ： used to evaluate whether a model can cover the true root causes among candidate results.</a:t>
                </a:r>
                <a:endParaRPr lang="en-US" dirty="0"/>
              </a:p>
            </p:txBody>
          </p:sp>
          <p:sp>
            <p:nvSpPr>
              <p:cNvPr id="41" name="Bullet5"/>
              <p:cNvSpPr txBox="1"/>
              <p:nvPr/>
            </p:nvSpPr>
            <p:spPr bwMode="auto">
              <a:xfrm>
                <a:off x="851575" y="2309282"/>
                <a:ext cx="2729825" cy="494028"/>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a:r>
                  <a:rPr lang="zh-CN" altLang="en-US" sz="1800" b="1" dirty="0">
                    <a:solidFill>
                      <a:schemeClr val="tx1"/>
                    </a:solidFill>
                  </a:rPr>
                  <a:t>Root Cause Localization</a:t>
                </a:r>
                <a:endParaRPr lang="en-US" dirty="0"/>
              </a:p>
            </p:txBody>
          </p:sp>
        </p:grpSp>
        <p:grpSp>
          <p:nvGrpSpPr>
            <p:cNvPr id="10" name="组合 9"/>
            <p:cNvGrpSpPr/>
            <p:nvPr/>
          </p:nvGrpSpPr>
          <p:grpSpPr>
            <a:xfrm>
              <a:off x="7653131" y="1578087"/>
              <a:ext cx="3575149" cy="4149614"/>
              <a:chOff x="7325049" y="1538882"/>
              <a:chExt cx="3458454" cy="3625310"/>
            </a:xfrm>
          </p:grpSpPr>
          <p:grpSp>
            <p:nvGrpSpPr>
              <p:cNvPr id="11" name="组合 10"/>
              <p:cNvGrpSpPr/>
              <p:nvPr/>
            </p:nvGrpSpPr>
            <p:grpSpPr>
              <a:xfrm>
                <a:off x="7325049" y="1538882"/>
                <a:ext cx="3458454" cy="3625310"/>
                <a:chOff x="7325049" y="1538882"/>
                <a:chExt cx="3458454" cy="3625310"/>
              </a:xfrm>
            </p:grpSpPr>
            <p:sp>
              <p:nvSpPr>
                <p:cNvPr id="19" name="任意多边形: 形状 18"/>
                <p:cNvSpPr/>
                <p:nvPr/>
              </p:nvSpPr>
              <p:spPr bwMode="gray">
                <a:xfrm>
                  <a:off x="7601368" y="4077792"/>
                  <a:ext cx="2842122" cy="462375"/>
                </a:xfrm>
                <a:custGeom>
                  <a:avLst/>
                  <a:gdLst>
                    <a:gd name="T0" fmla="*/ 0 w 3947"/>
                    <a:gd name="T1" fmla="*/ 459 h 460"/>
                    <a:gd name="T2" fmla="*/ 3573 w 3947"/>
                    <a:gd name="T3" fmla="*/ 459 h 460"/>
                    <a:gd name="T4" fmla="*/ 3946 w 3947"/>
                    <a:gd name="T5" fmla="*/ 0 h 460"/>
                    <a:gd name="T6" fmla="*/ 505 w 3947"/>
                    <a:gd name="T7" fmla="*/ 0 h 460"/>
                    <a:gd name="T8" fmla="*/ 0 w 3947"/>
                    <a:gd name="T9" fmla="*/ 459 h 460"/>
                  </a:gdLst>
                  <a:ahLst/>
                  <a:cxnLst>
                    <a:cxn ang="0">
                      <a:pos x="T0" y="T1"/>
                    </a:cxn>
                    <a:cxn ang="0">
                      <a:pos x="T2" y="T3"/>
                    </a:cxn>
                    <a:cxn ang="0">
                      <a:pos x="T4" y="T5"/>
                    </a:cxn>
                    <a:cxn ang="0">
                      <a:pos x="T6" y="T7"/>
                    </a:cxn>
                    <a:cxn ang="0">
                      <a:pos x="T8" y="T9"/>
                    </a:cxn>
                  </a:cxnLst>
                  <a:rect l="0" t="0" r="r" b="b"/>
                  <a:pathLst>
                    <a:path w="3947" h="460">
                      <a:moveTo>
                        <a:pt x="0" y="459"/>
                      </a:moveTo>
                      <a:lnTo>
                        <a:pt x="3573" y="459"/>
                      </a:lnTo>
                      <a:lnTo>
                        <a:pt x="3946" y="0"/>
                      </a:lnTo>
                      <a:lnTo>
                        <a:pt x="505" y="0"/>
                      </a:lnTo>
                      <a:lnTo>
                        <a:pt x="0" y="459"/>
                      </a:lnTo>
                    </a:path>
                  </a:pathLst>
                </a:custGeom>
                <a:solidFill>
                  <a:schemeClr val="bg1">
                    <a:lumMod val="85000"/>
                  </a:schemeClr>
                </a:solidFill>
                <a:ln>
                  <a:noFill/>
                </a:ln>
                <a:effectLst/>
              </p:spPr>
              <p:txBody>
                <a:bodyPr wrap="square" lIns="91440" tIns="45720" rIns="91440" bIns="45720" anchor="ctr">
                  <a:normAutofit/>
                </a:bodyPr>
                <a:lstStyle/>
                <a:p>
                  <a:pPr algn="ctr"/>
                  <a:endParaRPr/>
                </a:p>
              </p:txBody>
            </p:sp>
            <p:sp>
              <p:nvSpPr>
                <p:cNvPr id="20" name="任意多边形: 形状 19"/>
                <p:cNvSpPr/>
                <p:nvPr/>
              </p:nvSpPr>
              <p:spPr bwMode="gray">
                <a:xfrm>
                  <a:off x="9854968" y="3463798"/>
                  <a:ext cx="539178" cy="982393"/>
                </a:xfrm>
                <a:custGeom>
                  <a:avLst/>
                  <a:gdLst>
                    <a:gd name="T0" fmla="*/ 382 w 749"/>
                    <a:gd name="T1" fmla="*/ 976 h 977"/>
                    <a:gd name="T2" fmla="*/ 0 w 749"/>
                    <a:gd name="T3" fmla="*/ 342 h 977"/>
                    <a:gd name="T4" fmla="*/ 280 w 749"/>
                    <a:gd name="T5" fmla="*/ 0 h 977"/>
                    <a:gd name="T6" fmla="*/ 748 w 749"/>
                    <a:gd name="T7" fmla="*/ 538 h 977"/>
                    <a:gd name="T8" fmla="*/ 382 w 749"/>
                    <a:gd name="T9" fmla="*/ 976 h 977"/>
                  </a:gdLst>
                  <a:ahLst/>
                  <a:cxnLst>
                    <a:cxn ang="0">
                      <a:pos x="T0" y="T1"/>
                    </a:cxn>
                    <a:cxn ang="0">
                      <a:pos x="T2" y="T3"/>
                    </a:cxn>
                    <a:cxn ang="0">
                      <a:pos x="T4" y="T5"/>
                    </a:cxn>
                    <a:cxn ang="0">
                      <a:pos x="T6" y="T7"/>
                    </a:cxn>
                    <a:cxn ang="0">
                      <a:pos x="T8" y="T9"/>
                    </a:cxn>
                  </a:cxnLst>
                  <a:rect l="0" t="0" r="r" b="b"/>
                  <a:pathLst>
                    <a:path w="749" h="977">
                      <a:moveTo>
                        <a:pt x="382" y="976"/>
                      </a:moveTo>
                      <a:lnTo>
                        <a:pt x="0" y="342"/>
                      </a:lnTo>
                      <a:lnTo>
                        <a:pt x="280" y="0"/>
                      </a:lnTo>
                      <a:lnTo>
                        <a:pt x="748" y="538"/>
                      </a:lnTo>
                      <a:lnTo>
                        <a:pt x="382" y="976"/>
                      </a:lnTo>
                    </a:path>
                  </a:pathLst>
                </a:custGeom>
                <a:solidFill>
                  <a:schemeClr val="accent1">
                    <a:lumMod val="75000"/>
                  </a:schemeClr>
                </a:solidFill>
                <a:ln>
                  <a:noFill/>
                </a:ln>
                <a:effectLst/>
              </p:spPr>
              <p:txBody>
                <a:bodyPr wrap="square" lIns="91440" tIns="45720" rIns="91440" bIns="45720" anchor="ctr">
                  <a:normAutofit/>
                </a:bodyPr>
                <a:lstStyle/>
                <a:p>
                  <a:pPr algn="ctr"/>
                  <a:endParaRPr/>
                </a:p>
              </p:txBody>
            </p:sp>
            <p:sp>
              <p:nvSpPr>
                <p:cNvPr id="21" name="任意多边形: 形状 20"/>
                <p:cNvSpPr/>
                <p:nvPr/>
              </p:nvSpPr>
              <p:spPr bwMode="gray">
                <a:xfrm>
                  <a:off x="7924335" y="3463798"/>
                  <a:ext cx="2135181" cy="345843"/>
                </a:xfrm>
                <a:custGeom>
                  <a:avLst/>
                  <a:gdLst>
                    <a:gd name="T0" fmla="*/ 0 w 2964"/>
                    <a:gd name="T1" fmla="*/ 343 h 344"/>
                    <a:gd name="T2" fmla="*/ 2684 w 2964"/>
                    <a:gd name="T3" fmla="*/ 343 h 344"/>
                    <a:gd name="T4" fmla="*/ 2963 w 2964"/>
                    <a:gd name="T5" fmla="*/ 0 h 344"/>
                    <a:gd name="T6" fmla="*/ 531 w 2964"/>
                    <a:gd name="T7" fmla="*/ 1 h 344"/>
                    <a:gd name="T8" fmla="*/ 0 w 2964"/>
                    <a:gd name="T9" fmla="*/ 343 h 344"/>
                  </a:gdLst>
                  <a:ahLst/>
                  <a:cxnLst>
                    <a:cxn ang="0">
                      <a:pos x="T0" y="T1"/>
                    </a:cxn>
                    <a:cxn ang="0">
                      <a:pos x="T2" y="T3"/>
                    </a:cxn>
                    <a:cxn ang="0">
                      <a:pos x="T4" y="T5"/>
                    </a:cxn>
                    <a:cxn ang="0">
                      <a:pos x="T6" y="T7"/>
                    </a:cxn>
                    <a:cxn ang="0">
                      <a:pos x="T8" y="T9"/>
                    </a:cxn>
                  </a:cxnLst>
                  <a:rect l="0" t="0" r="r" b="b"/>
                  <a:pathLst>
                    <a:path w="2964" h="344">
                      <a:moveTo>
                        <a:pt x="0" y="343"/>
                      </a:moveTo>
                      <a:lnTo>
                        <a:pt x="2684" y="343"/>
                      </a:lnTo>
                      <a:lnTo>
                        <a:pt x="2963" y="0"/>
                      </a:lnTo>
                      <a:lnTo>
                        <a:pt x="531" y="1"/>
                      </a:lnTo>
                      <a:lnTo>
                        <a:pt x="0" y="343"/>
                      </a:lnTo>
                    </a:path>
                  </a:pathLst>
                </a:custGeom>
                <a:solidFill>
                  <a:schemeClr val="accent1">
                    <a:lumMod val="60000"/>
                    <a:lumOff val="40000"/>
                  </a:schemeClr>
                </a:solidFill>
                <a:ln>
                  <a:noFill/>
                </a:ln>
                <a:effectLst/>
              </p:spPr>
              <p:txBody>
                <a:bodyPr wrap="square" lIns="91440" tIns="45720" rIns="91440" bIns="45720" anchor="ctr">
                  <a:normAutofit/>
                </a:bodyPr>
                <a:lstStyle/>
                <a:p>
                  <a:pPr algn="ctr"/>
                  <a:endParaRPr/>
                </a:p>
              </p:txBody>
            </p:sp>
            <p:sp>
              <p:nvSpPr>
                <p:cNvPr id="22" name="任意多边形: 形状 21"/>
                <p:cNvSpPr/>
                <p:nvPr/>
              </p:nvSpPr>
              <p:spPr bwMode="gray">
                <a:xfrm>
                  <a:off x="7654298" y="3808387"/>
                  <a:ext cx="2478783" cy="637804"/>
                </a:xfrm>
                <a:custGeom>
                  <a:avLst/>
                  <a:gdLst>
                    <a:gd name="T0" fmla="*/ 0 w 3443"/>
                    <a:gd name="T1" fmla="*/ 633 h 634"/>
                    <a:gd name="T2" fmla="*/ 3442 w 3443"/>
                    <a:gd name="T3" fmla="*/ 633 h 634"/>
                    <a:gd name="T4" fmla="*/ 3060 w 3443"/>
                    <a:gd name="T5" fmla="*/ 0 h 634"/>
                    <a:gd name="T6" fmla="*/ 377 w 3443"/>
                    <a:gd name="T7" fmla="*/ 0 h 634"/>
                    <a:gd name="T8" fmla="*/ 0 w 3443"/>
                    <a:gd name="T9" fmla="*/ 633 h 634"/>
                  </a:gdLst>
                  <a:ahLst/>
                  <a:cxnLst>
                    <a:cxn ang="0">
                      <a:pos x="T0" y="T1"/>
                    </a:cxn>
                    <a:cxn ang="0">
                      <a:pos x="T2" y="T3"/>
                    </a:cxn>
                    <a:cxn ang="0">
                      <a:pos x="T4" y="T5"/>
                    </a:cxn>
                    <a:cxn ang="0">
                      <a:pos x="T6" y="T7"/>
                    </a:cxn>
                    <a:cxn ang="0">
                      <a:pos x="T8" y="T9"/>
                    </a:cxn>
                  </a:cxnLst>
                  <a:rect l="0" t="0" r="r" b="b"/>
                  <a:pathLst>
                    <a:path w="3443" h="634">
                      <a:moveTo>
                        <a:pt x="0" y="633"/>
                      </a:moveTo>
                      <a:lnTo>
                        <a:pt x="3442" y="633"/>
                      </a:lnTo>
                      <a:lnTo>
                        <a:pt x="3060" y="0"/>
                      </a:lnTo>
                      <a:lnTo>
                        <a:pt x="377" y="0"/>
                      </a:lnTo>
                      <a:lnTo>
                        <a:pt x="0" y="633"/>
                      </a:lnTo>
                    </a:path>
                  </a:pathLst>
                </a:custGeom>
                <a:solidFill>
                  <a:schemeClr val="accent1"/>
                </a:solidFill>
                <a:ln>
                  <a:noFill/>
                </a:ln>
                <a:effectLst/>
              </p:spPr>
              <p:txBody>
                <a:bodyPr wrap="square" lIns="91440" tIns="45720" rIns="91440" bIns="45720" anchor="ctr">
                  <a:normAutofit/>
                </a:bodyPr>
                <a:lstStyle/>
                <a:p>
                  <a:pPr algn="ctr"/>
                  <a:endParaRPr/>
                </a:p>
              </p:txBody>
            </p:sp>
            <p:sp>
              <p:nvSpPr>
                <p:cNvPr id="23" name="任意多边形: 形状 22"/>
                <p:cNvSpPr/>
                <p:nvPr/>
              </p:nvSpPr>
              <p:spPr bwMode="gray">
                <a:xfrm>
                  <a:off x="8245513" y="2856070"/>
                  <a:ext cx="1425548" cy="230563"/>
                </a:xfrm>
                <a:custGeom>
                  <a:avLst/>
                  <a:gdLst>
                    <a:gd name="T0" fmla="*/ 0 w 1980"/>
                    <a:gd name="T1" fmla="*/ 228 h 229"/>
                    <a:gd name="T2" fmla="*/ 1791 w 1980"/>
                    <a:gd name="T3" fmla="*/ 228 h 229"/>
                    <a:gd name="T4" fmla="*/ 1979 w 1980"/>
                    <a:gd name="T5" fmla="*/ 0 h 229"/>
                    <a:gd name="T6" fmla="*/ 500 w 1980"/>
                    <a:gd name="T7" fmla="*/ 0 h 229"/>
                    <a:gd name="T8" fmla="*/ 0 w 1980"/>
                    <a:gd name="T9" fmla="*/ 228 h 229"/>
                  </a:gdLst>
                  <a:ahLst/>
                  <a:cxnLst>
                    <a:cxn ang="0">
                      <a:pos x="T0" y="T1"/>
                    </a:cxn>
                    <a:cxn ang="0">
                      <a:pos x="T2" y="T3"/>
                    </a:cxn>
                    <a:cxn ang="0">
                      <a:pos x="T4" y="T5"/>
                    </a:cxn>
                    <a:cxn ang="0">
                      <a:pos x="T6" y="T7"/>
                    </a:cxn>
                    <a:cxn ang="0">
                      <a:pos x="T8" y="T9"/>
                    </a:cxn>
                  </a:cxnLst>
                  <a:rect l="0" t="0" r="r" b="b"/>
                  <a:pathLst>
                    <a:path w="1980" h="229">
                      <a:moveTo>
                        <a:pt x="0" y="228"/>
                      </a:moveTo>
                      <a:lnTo>
                        <a:pt x="1791" y="228"/>
                      </a:lnTo>
                      <a:lnTo>
                        <a:pt x="1979" y="0"/>
                      </a:lnTo>
                      <a:lnTo>
                        <a:pt x="500" y="0"/>
                      </a:lnTo>
                      <a:lnTo>
                        <a:pt x="0" y="228"/>
                      </a:lnTo>
                    </a:path>
                  </a:pathLst>
                </a:custGeom>
                <a:solidFill>
                  <a:schemeClr val="bg1">
                    <a:lumMod val="85000"/>
                  </a:schemeClr>
                </a:solidFill>
                <a:ln>
                  <a:noFill/>
                </a:ln>
                <a:effectLst/>
              </p:spPr>
              <p:txBody>
                <a:bodyPr wrap="square" lIns="91440" tIns="45720" rIns="91440" bIns="45720" anchor="ctr">
                  <a:normAutofit fontScale="77500" lnSpcReduction="20000"/>
                </a:bodyPr>
                <a:lstStyle/>
                <a:p>
                  <a:pPr algn="ctr"/>
                  <a:endParaRPr/>
                </a:p>
              </p:txBody>
            </p:sp>
            <p:sp>
              <p:nvSpPr>
                <p:cNvPr id="24" name="任意多边形: 形状 23"/>
                <p:cNvSpPr/>
                <p:nvPr/>
              </p:nvSpPr>
              <p:spPr bwMode="gray">
                <a:xfrm>
                  <a:off x="8572069" y="2239563"/>
                  <a:ext cx="711427" cy="111522"/>
                </a:xfrm>
                <a:custGeom>
                  <a:avLst/>
                  <a:gdLst>
                    <a:gd name="T0" fmla="*/ 0 w 987"/>
                    <a:gd name="T1" fmla="*/ 109 h 110"/>
                    <a:gd name="T2" fmla="*/ 889 w 987"/>
                    <a:gd name="T3" fmla="*/ 109 h 110"/>
                    <a:gd name="T4" fmla="*/ 986 w 987"/>
                    <a:gd name="T5" fmla="*/ 0 h 110"/>
                    <a:gd name="T6" fmla="*/ 308 w 987"/>
                    <a:gd name="T7" fmla="*/ 0 h 110"/>
                    <a:gd name="T8" fmla="*/ 0 w 987"/>
                    <a:gd name="T9" fmla="*/ 109 h 110"/>
                  </a:gdLst>
                  <a:ahLst/>
                  <a:cxnLst>
                    <a:cxn ang="0">
                      <a:pos x="T0" y="T1"/>
                    </a:cxn>
                    <a:cxn ang="0">
                      <a:pos x="T2" y="T3"/>
                    </a:cxn>
                    <a:cxn ang="0">
                      <a:pos x="T4" y="T5"/>
                    </a:cxn>
                    <a:cxn ang="0">
                      <a:pos x="T6" y="T7"/>
                    </a:cxn>
                    <a:cxn ang="0">
                      <a:pos x="T8" y="T9"/>
                    </a:cxn>
                  </a:cxnLst>
                  <a:rect l="0" t="0" r="r" b="b"/>
                  <a:pathLst>
                    <a:path w="987" h="110">
                      <a:moveTo>
                        <a:pt x="0" y="109"/>
                      </a:moveTo>
                      <a:lnTo>
                        <a:pt x="889" y="109"/>
                      </a:lnTo>
                      <a:lnTo>
                        <a:pt x="986" y="0"/>
                      </a:lnTo>
                      <a:lnTo>
                        <a:pt x="308" y="0"/>
                      </a:lnTo>
                      <a:lnTo>
                        <a:pt x="0" y="109"/>
                      </a:lnTo>
                    </a:path>
                  </a:pathLst>
                </a:custGeom>
                <a:solidFill>
                  <a:schemeClr val="bg1">
                    <a:lumMod val="85000"/>
                  </a:schemeClr>
                </a:solidFill>
                <a:ln>
                  <a:noFill/>
                </a:ln>
                <a:effectLst/>
              </p:spPr>
              <p:txBody>
                <a:bodyPr wrap="square" lIns="91440" tIns="45720" rIns="91440" bIns="45720" anchor="ctr">
                  <a:normAutofit fontScale="25000" lnSpcReduction="20000"/>
                </a:bodyPr>
                <a:lstStyle/>
                <a:p>
                  <a:pPr algn="ctr"/>
                  <a:endParaRPr/>
                </a:p>
              </p:txBody>
            </p:sp>
            <p:sp>
              <p:nvSpPr>
                <p:cNvPr id="25" name="任意多边形: 形状 24"/>
                <p:cNvSpPr/>
                <p:nvPr/>
              </p:nvSpPr>
              <p:spPr bwMode="gray">
                <a:xfrm>
                  <a:off x="10173451" y="4077792"/>
                  <a:ext cx="610052" cy="1085142"/>
                </a:xfrm>
                <a:custGeom>
                  <a:avLst/>
                  <a:gdLst>
                    <a:gd name="T0" fmla="*/ 399 w 847"/>
                    <a:gd name="T1" fmla="*/ 1078 h 1079"/>
                    <a:gd name="T2" fmla="*/ 0 w 847"/>
                    <a:gd name="T3" fmla="*/ 459 h 1079"/>
                    <a:gd name="T4" fmla="*/ 374 w 847"/>
                    <a:gd name="T5" fmla="*/ 0 h 1079"/>
                    <a:gd name="T6" fmla="*/ 846 w 847"/>
                    <a:gd name="T7" fmla="*/ 536 h 1079"/>
                    <a:gd name="T8" fmla="*/ 399 w 847"/>
                    <a:gd name="T9" fmla="*/ 1078 h 1079"/>
                  </a:gdLst>
                  <a:ahLst/>
                  <a:cxnLst>
                    <a:cxn ang="0">
                      <a:pos x="T0" y="T1"/>
                    </a:cxn>
                    <a:cxn ang="0">
                      <a:pos x="T2" y="T3"/>
                    </a:cxn>
                    <a:cxn ang="0">
                      <a:pos x="T4" y="T5"/>
                    </a:cxn>
                    <a:cxn ang="0">
                      <a:pos x="T6" y="T7"/>
                    </a:cxn>
                    <a:cxn ang="0">
                      <a:pos x="T8" y="T9"/>
                    </a:cxn>
                  </a:cxnLst>
                  <a:rect l="0" t="0" r="r" b="b"/>
                  <a:pathLst>
                    <a:path w="847" h="1079">
                      <a:moveTo>
                        <a:pt x="399" y="1078"/>
                      </a:moveTo>
                      <a:lnTo>
                        <a:pt x="0" y="459"/>
                      </a:lnTo>
                      <a:lnTo>
                        <a:pt x="374" y="0"/>
                      </a:lnTo>
                      <a:lnTo>
                        <a:pt x="846" y="536"/>
                      </a:lnTo>
                      <a:lnTo>
                        <a:pt x="399" y="1078"/>
                      </a:lnTo>
                    </a:path>
                  </a:pathLst>
                </a:custGeom>
                <a:solidFill>
                  <a:schemeClr val="bg2">
                    <a:lumMod val="75000"/>
                  </a:schemeClr>
                </a:solidFill>
                <a:ln>
                  <a:noFill/>
                </a:ln>
                <a:effectLst/>
              </p:spPr>
              <p:txBody>
                <a:bodyPr wrap="square" lIns="91440" tIns="45720" rIns="91440" bIns="45720" anchor="ctr">
                  <a:normAutofit/>
                </a:bodyPr>
                <a:lstStyle/>
                <a:p>
                  <a:pPr algn="ctr"/>
                  <a:endParaRPr/>
                </a:p>
              </p:txBody>
            </p:sp>
            <p:sp>
              <p:nvSpPr>
                <p:cNvPr id="26" name="任意多边形: 形状 25"/>
                <p:cNvSpPr/>
                <p:nvPr/>
              </p:nvSpPr>
              <p:spPr bwMode="gray">
                <a:xfrm>
                  <a:off x="9528496" y="2856068"/>
                  <a:ext cx="471894" cy="853332"/>
                </a:xfrm>
                <a:custGeom>
                  <a:avLst/>
                  <a:gdLst>
                    <a:gd name="T0" fmla="*/ 0 w 655"/>
                    <a:gd name="T1" fmla="*/ 230 h 849"/>
                    <a:gd name="T2" fmla="*/ 387 w 655"/>
                    <a:gd name="T3" fmla="*/ 848 h 849"/>
                    <a:gd name="T4" fmla="*/ 654 w 655"/>
                    <a:gd name="T5" fmla="*/ 531 h 849"/>
                    <a:gd name="T6" fmla="*/ 188 w 655"/>
                    <a:gd name="T7" fmla="*/ 0 h 849"/>
                    <a:gd name="T8" fmla="*/ 0 w 655"/>
                    <a:gd name="T9" fmla="*/ 230 h 849"/>
                  </a:gdLst>
                  <a:ahLst/>
                  <a:cxnLst>
                    <a:cxn ang="0">
                      <a:pos x="T0" y="T1"/>
                    </a:cxn>
                    <a:cxn ang="0">
                      <a:pos x="T2" y="T3"/>
                    </a:cxn>
                    <a:cxn ang="0">
                      <a:pos x="T4" y="T5"/>
                    </a:cxn>
                    <a:cxn ang="0">
                      <a:pos x="T6" y="T7"/>
                    </a:cxn>
                    <a:cxn ang="0">
                      <a:pos x="T8" y="T9"/>
                    </a:cxn>
                  </a:cxnLst>
                  <a:rect l="0" t="0" r="r" b="b"/>
                  <a:pathLst>
                    <a:path w="655" h="849">
                      <a:moveTo>
                        <a:pt x="0" y="230"/>
                      </a:moveTo>
                      <a:lnTo>
                        <a:pt x="387" y="848"/>
                      </a:lnTo>
                      <a:lnTo>
                        <a:pt x="654" y="531"/>
                      </a:lnTo>
                      <a:lnTo>
                        <a:pt x="188" y="0"/>
                      </a:lnTo>
                      <a:lnTo>
                        <a:pt x="0" y="230"/>
                      </a:lnTo>
                    </a:path>
                  </a:pathLst>
                </a:custGeom>
                <a:solidFill>
                  <a:schemeClr val="bg2">
                    <a:lumMod val="75000"/>
                  </a:schemeClr>
                </a:solidFill>
                <a:ln>
                  <a:noFill/>
                </a:ln>
                <a:effectLst/>
              </p:spPr>
              <p:txBody>
                <a:bodyPr wrap="square" lIns="91440" tIns="45720" rIns="91440" bIns="45720" anchor="ctr">
                  <a:normAutofit/>
                </a:bodyPr>
                <a:lstStyle/>
                <a:p>
                  <a:pPr algn="ctr"/>
                  <a:endParaRPr/>
                </a:p>
              </p:txBody>
            </p:sp>
            <p:sp>
              <p:nvSpPr>
                <p:cNvPr id="27" name="任意多边形: 形状 26"/>
                <p:cNvSpPr/>
                <p:nvPr/>
              </p:nvSpPr>
              <p:spPr bwMode="gray">
                <a:xfrm>
                  <a:off x="9214417" y="2239565"/>
                  <a:ext cx="406401" cy="743060"/>
                </a:xfrm>
                <a:custGeom>
                  <a:avLst/>
                  <a:gdLst>
                    <a:gd name="T0" fmla="*/ 385 w 564"/>
                    <a:gd name="T1" fmla="*/ 737 h 738"/>
                    <a:gd name="T2" fmla="*/ 563 w 564"/>
                    <a:gd name="T3" fmla="*/ 527 h 738"/>
                    <a:gd name="T4" fmla="*/ 97 w 564"/>
                    <a:gd name="T5" fmla="*/ 0 h 738"/>
                    <a:gd name="T6" fmla="*/ 0 w 564"/>
                    <a:gd name="T7" fmla="*/ 111 h 738"/>
                    <a:gd name="T8" fmla="*/ 385 w 564"/>
                    <a:gd name="T9" fmla="*/ 737 h 738"/>
                  </a:gdLst>
                  <a:ahLst/>
                  <a:cxnLst>
                    <a:cxn ang="0">
                      <a:pos x="T0" y="T1"/>
                    </a:cxn>
                    <a:cxn ang="0">
                      <a:pos x="T2" y="T3"/>
                    </a:cxn>
                    <a:cxn ang="0">
                      <a:pos x="T4" y="T5"/>
                    </a:cxn>
                    <a:cxn ang="0">
                      <a:pos x="T6" y="T7"/>
                    </a:cxn>
                    <a:cxn ang="0">
                      <a:pos x="T8" y="T9"/>
                    </a:cxn>
                  </a:cxnLst>
                  <a:rect l="0" t="0" r="r" b="b"/>
                  <a:pathLst>
                    <a:path w="564" h="738">
                      <a:moveTo>
                        <a:pt x="385" y="737"/>
                      </a:moveTo>
                      <a:lnTo>
                        <a:pt x="563" y="527"/>
                      </a:lnTo>
                      <a:lnTo>
                        <a:pt x="97" y="0"/>
                      </a:lnTo>
                      <a:lnTo>
                        <a:pt x="0" y="111"/>
                      </a:lnTo>
                      <a:lnTo>
                        <a:pt x="385" y="737"/>
                      </a:lnTo>
                    </a:path>
                  </a:pathLst>
                </a:custGeom>
                <a:solidFill>
                  <a:schemeClr val="bg2">
                    <a:lumMod val="75000"/>
                  </a:schemeClr>
                </a:solidFill>
                <a:ln>
                  <a:noFill/>
                </a:ln>
                <a:effectLst/>
              </p:spPr>
              <p:txBody>
                <a:bodyPr wrap="square" lIns="91440" tIns="45720" rIns="91440" bIns="45720" anchor="ctr">
                  <a:normAutofit/>
                </a:bodyPr>
                <a:lstStyle/>
                <a:p>
                  <a:pPr algn="ctr"/>
                  <a:endParaRPr/>
                </a:p>
              </p:txBody>
            </p:sp>
            <p:sp>
              <p:nvSpPr>
                <p:cNvPr id="29" name="任意多边形: 形状 28"/>
                <p:cNvSpPr/>
                <p:nvPr/>
              </p:nvSpPr>
              <p:spPr bwMode="gray">
                <a:xfrm>
                  <a:off x="7325049" y="4537665"/>
                  <a:ext cx="3137279" cy="626527"/>
                </a:xfrm>
                <a:custGeom>
                  <a:avLst/>
                  <a:gdLst>
                    <a:gd name="T0" fmla="*/ 383 w 4357"/>
                    <a:gd name="T1" fmla="*/ 0 h 623"/>
                    <a:gd name="T2" fmla="*/ 3954 w 4357"/>
                    <a:gd name="T3" fmla="*/ 0 h 623"/>
                    <a:gd name="T4" fmla="*/ 4356 w 4357"/>
                    <a:gd name="T5" fmla="*/ 622 h 623"/>
                    <a:gd name="T6" fmla="*/ 0 w 4357"/>
                    <a:gd name="T7" fmla="*/ 622 h 623"/>
                    <a:gd name="T8" fmla="*/ 383 w 4357"/>
                    <a:gd name="T9" fmla="*/ 0 h 623"/>
                  </a:gdLst>
                  <a:ahLst/>
                  <a:cxnLst>
                    <a:cxn ang="0">
                      <a:pos x="T0" y="T1"/>
                    </a:cxn>
                    <a:cxn ang="0">
                      <a:pos x="T2" y="T3"/>
                    </a:cxn>
                    <a:cxn ang="0">
                      <a:pos x="T4" y="T5"/>
                    </a:cxn>
                    <a:cxn ang="0">
                      <a:pos x="T6" y="T7"/>
                    </a:cxn>
                    <a:cxn ang="0">
                      <a:pos x="T8" y="T9"/>
                    </a:cxn>
                  </a:cxnLst>
                  <a:rect l="0" t="0" r="r" b="b"/>
                  <a:pathLst>
                    <a:path w="4357" h="623">
                      <a:moveTo>
                        <a:pt x="383" y="0"/>
                      </a:moveTo>
                      <a:lnTo>
                        <a:pt x="3954" y="0"/>
                      </a:lnTo>
                      <a:lnTo>
                        <a:pt x="4356" y="622"/>
                      </a:lnTo>
                      <a:lnTo>
                        <a:pt x="0" y="622"/>
                      </a:lnTo>
                      <a:lnTo>
                        <a:pt x="383" y="0"/>
                      </a:lnTo>
                    </a:path>
                  </a:pathLst>
                </a:custGeom>
                <a:solidFill>
                  <a:schemeClr val="bg2"/>
                </a:solidFill>
                <a:ln>
                  <a:noFill/>
                </a:ln>
                <a:effectLst/>
              </p:spPr>
              <p:txBody>
                <a:bodyPr wrap="square" lIns="91440" tIns="45720" rIns="91440" bIns="45720" anchor="ctr">
                  <a:normAutofit/>
                </a:bodyPr>
                <a:lstStyle/>
                <a:p>
                  <a:pPr algn="ctr"/>
                  <a:endParaRPr/>
                </a:p>
              </p:txBody>
            </p:sp>
            <p:sp>
              <p:nvSpPr>
                <p:cNvPr id="30" name="任意多边形: 形状 29"/>
                <p:cNvSpPr/>
                <p:nvPr/>
              </p:nvSpPr>
              <p:spPr bwMode="gray">
                <a:xfrm>
                  <a:off x="7970989" y="3085381"/>
                  <a:ext cx="1844511" cy="624023"/>
                </a:xfrm>
                <a:custGeom>
                  <a:avLst/>
                  <a:gdLst>
                    <a:gd name="T0" fmla="*/ 0 w 2561"/>
                    <a:gd name="T1" fmla="*/ 620 h 621"/>
                    <a:gd name="T2" fmla="*/ 2560 w 2561"/>
                    <a:gd name="T3" fmla="*/ 620 h 621"/>
                    <a:gd name="T4" fmla="*/ 2172 w 2561"/>
                    <a:gd name="T5" fmla="*/ 0 h 621"/>
                    <a:gd name="T6" fmla="*/ 382 w 2561"/>
                    <a:gd name="T7" fmla="*/ 0 h 621"/>
                    <a:gd name="T8" fmla="*/ 0 w 2561"/>
                    <a:gd name="T9" fmla="*/ 620 h 621"/>
                  </a:gdLst>
                  <a:ahLst/>
                  <a:cxnLst>
                    <a:cxn ang="0">
                      <a:pos x="T0" y="T1"/>
                    </a:cxn>
                    <a:cxn ang="0">
                      <a:pos x="T2" y="T3"/>
                    </a:cxn>
                    <a:cxn ang="0">
                      <a:pos x="T4" y="T5"/>
                    </a:cxn>
                    <a:cxn ang="0">
                      <a:pos x="T6" y="T7"/>
                    </a:cxn>
                    <a:cxn ang="0">
                      <a:pos x="T8" y="T9"/>
                    </a:cxn>
                  </a:cxnLst>
                  <a:rect l="0" t="0" r="r" b="b"/>
                  <a:pathLst>
                    <a:path w="2561" h="621">
                      <a:moveTo>
                        <a:pt x="0" y="620"/>
                      </a:moveTo>
                      <a:lnTo>
                        <a:pt x="2560" y="620"/>
                      </a:lnTo>
                      <a:lnTo>
                        <a:pt x="2172" y="0"/>
                      </a:lnTo>
                      <a:lnTo>
                        <a:pt x="382" y="0"/>
                      </a:lnTo>
                      <a:lnTo>
                        <a:pt x="0" y="620"/>
                      </a:lnTo>
                    </a:path>
                  </a:pathLst>
                </a:custGeom>
                <a:solidFill>
                  <a:schemeClr val="bg2"/>
                </a:solidFill>
                <a:ln>
                  <a:noFill/>
                </a:ln>
                <a:effectLst/>
              </p:spPr>
              <p:txBody>
                <a:bodyPr wrap="square" lIns="91440" tIns="45720" rIns="91440" bIns="45720" anchor="ctr">
                  <a:normAutofit/>
                </a:bodyPr>
                <a:lstStyle/>
                <a:p>
                  <a:pPr algn="ctr"/>
                  <a:endParaRPr/>
                </a:p>
              </p:txBody>
            </p:sp>
            <p:sp>
              <p:nvSpPr>
                <p:cNvPr id="31" name="任意多边形: 形状 30"/>
                <p:cNvSpPr/>
                <p:nvPr/>
              </p:nvSpPr>
              <p:spPr bwMode="gray">
                <a:xfrm>
                  <a:off x="8292162" y="2349830"/>
                  <a:ext cx="1201262" cy="632792"/>
                </a:xfrm>
                <a:custGeom>
                  <a:avLst/>
                  <a:gdLst>
                    <a:gd name="T0" fmla="*/ 0 w 1669"/>
                    <a:gd name="T1" fmla="*/ 628 h 629"/>
                    <a:gd name="T2" fmla="*/ 1668 w 1669"/>
                    <a:gd name="T3" fmla="*/ 628 h 629"/>
                    <a:gd name="T4" fmla="*/ 1281 w 1669"/>
                    <a:gd name="T5" fmla="*/ 0 h 629"/>
                    <a:gd name="T6" fmla="*/ 388 w 1669"/>
                    <a:gd name="T7" fmla="*/ 0 h 629"/>
                    <a:gd name="T8" fmla="*/ 0 w 1669"/>
                    <a:gd name="T9" fmla="*/ 628 h 629"/>
                  </a:gdLst>
                  <a:ahLst/>
                  <a:cxnLst>
                    <a:cxn ang="0">
                      <a:pos x="T0" y="T1"/>
                    </a:cxn>
                    <a:cxn ang="0">
                      <a:pos x="T2" y="T3"/>
                    </a:cxn>
                    <a:cxn ang="0">
                      <a:pos x="T4" y="T5"/>
                    </a:cxn>
                    <a:cxn ang="0">
                      <a:pos x="T6" y="T7"/>
                    </a:cxn>
                    <a:cxn ang="0">
                      <a:pos x="T8" y="T9"/>
                    </a:cxn>
                  </a:cxnLst>
                  <a:rect l="0" t="0" r="r" b="b"/>
                  <a:pathLst>
                    <a:path w="1669" h="629">
                      <a:moveTo>
                        <a:pt x="0" y="628"/>
                      </a:moveTo>
                      <a:lnTo>
                        <a:pt x="1668" y="628"/>
                      </a:lnTo>
                      <a:lnTo>
                        <a:pt x="1281" y="0"/>
                      </a:lnTo>
                      <a:lnTo>
                        <a:pt x="388" y="0"/>
                      </a:lnTo>
                      <a:lnTo>
                        <a:pt x="0" y="628"/>
                      </a:lnTo>
                    </a:path>
                  </a:pathLst>
                </a:custGeom>
                <a:solidFill>
                  <a:schemeClr val="bg2"/>
                </a:solidFill>
                <a:ln>
                  <a:noFill/>
                </a:ln>
                <a:effectLst/>
              </p:spPr>
              <p:txBody>
                <a:bodyPr wrap="square" lIns="91440" tIns="45720" rIns="91440" bIns="45720" anchor="ctr">
                  <a:normAutofit/>
                </a:bodyPr>
                <a:lstStyle/>
                <a:p>
                  <a:pPr algn="ctr"/>
                  <a:endParaRPr/>
                </a:p>
              </p:txBody>
            </p:sp>
            <p:grpSp>
              <p:nvGrpSpPr>
                <p:cNvPr id="32" name="组合 31"/>
                <p:cNvGrpSpPr/>
                <p:nvPr/>
              </p:nvGrpSpPr>
              <p:grpSpPr>
                <a:xfrm>
                  <a:off x="8610381" y="1538882"/>
                  <a:ext cx="789783" cy="708190"/>
                  <a:chOff x="4811545" y="296567"/>
                  <a:chExt cx="1269728" cy="983578"/>
                </a:xfrm>
              </p:grpSpPr>
              <p:sp>
                <p:nvSpPr>
                  <p:cNvPr id="34" name="任意多边形: 形状 33"/>
                  <p:cNvSpPr/>
                  <p:nvPr/>
                </p:nvSpPr>
                <p:spPr>
                  <a:xfrm rot="2355866">
                    <a:off x="4916024" y="503192"/>
                    <a:ext cx="1165249" cy="563391"/>
                  </a:xfrm>
                  <a:custGeom>
                    <a:avLst/>
                    <a:gdLst>
                      <a:gd name="connsiteX0" fmla="*/ 0 w 966555"/>
                      <a:gd name="connsiteY0" fmla="*/ 0 h 522116"/>
                      <a:gd name="connsiteX1" fmla="*/ 889451 w 966555"/>
                      <a:gd name="connsiteY1" fmla="*/ 339114 h 522116"/>
                      <a:gd name="connsiteX2" fmla="*/ 966483 w 966555"/>
                      <a:gd name="connsiteY2" fmla="*/ 368484 h 522116"/>
                      <a:gd name="connsiteX3" fmla="*/ 966527 w 966555"/>
                      <a:gd name="connsiteY3" fmla="*/ 448653 h 522116"/>
                      <a:gd name="connsiteX4" fmla="*/ 938997 w 966555"/>
                      <a:gd name="connsiteY4" fmla="*/ 480564 h 522116"/>
                      <a:gd name="connsiteX5" fmla="*/ 938997 w 966555"/>
                      <a:gd name="connsiteY5" fmla="*/ 480565 h 522116"/>
                      <a:gd name="connsiteX6" fmla="*/ 966527 w 966555"/>
                      <a:gd name="connsiteY6" fmla="*/ 448654 h 522116"/>
                      <a:gd name="connsiteX7" fmla="*/ 966552 w 966555"/>
                      <a:gd name="connsiteY7" fmla="*/ 494523 h 522116"/>
                      <a:gd name="connsiteX8" fmla="*/ 966555 w 966555"/>
                      <a:gd name="connsiteY8" fmla="*/ 500420 h 522116"/>
                      <a:gd name="connsiteX9" fmla="*/ 938008 w 966555"/>
                      <a:gd name="connsiteY9" fmla="*/ 522116 h 522116"/>
                      <a:gd name="connsiteX10" fmla="*/ 903149 w 966555"/>
                      <a:gd name="connsiteY10" fmla="*/ 522116 h 522116"/>
                      <a:gd name="connsiteX11" fmla="*/ 889452 w 966555"/>
                      <a:gd name="connsiteY11" fmla="*/ 522116 h 522116"/>
                      <a:gd name="connsiteX12" fmla="*/ 889451 w 966555"/>
                      <a:gd name="connsiteY12" fmla="*/ 455466 h 522116"/>
                      <a:gd name="connsiteX13" fmla="*/ 889451 w 966555"/>
                      <a:gd name="connsiteY13" fmla="*/ 455465 h 522116"/>
                      <a:gd name="connsiteX14" fmla="*/ 15264 w 966555"/>
                      <a:gd name="connsiteY14" fmla="*/ 12622 h 52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6555" h="522116">
                        <a:moveTo>
                          <a:pt x="0" y="0"/>
                        </a:moveTo>
                        <a:lnTo>
                          <a:pt x="889451" y="339114"/>
                        </a:lnTo>
                        <a:lnTo>
                          <a:pt x="966483" y="368484"/>
                        </a:lnTo>
                        <a:lnTo>
                          <a:pt x="966527" y="448653"/>
                        </a:lnTo>
                        <a:lnTo>
                          <a:pt x="938997" y="480564"/>
                        </a:lnTo>
                        <a:lnTo>
                          <a:pt x="938997" y="480565"/>
                        </a:lnTo>
                        <a:lnTo>
                          <a:pt x="966527" y="448654"/>
                        </a:lnTo>
                        <a:lnTo>
                          <a:pt x="966552" y="494523"/>
                        </a:lnTo>
                        <a:lnTo>
                          <a:pt x="966555" y="500420"/>
                        </a:lnTo>
                        <a:lnTo>
                          <a:pt x="938008" y="522116"/>
                        </a:lnTo>
                        <a:lnTo>
                          <a:pt x="903149" y="522116"/>
                        </a:lnTo>
                        <a:lnTo>
                          <a:pt x="889452" y="522116"/>
                        </a:lnTo>
                        <a:lnTo>
                          <a:pt x="889451" y="455466"/>
                        </a:lnTo>
                        <a:lnTo>
                          <a:pt x="889451" y="455465"/>
                        </a:lnTo>
                        <a:lnTo>
                          <a:pt x="15264" y="12622"/>
                        </a:lnTo>
                        <a:close/>
                      </a:path>
                    </a:pathLst>
                  </a:custGeom>
                  <a:solidFill>
                    <a:schemeClr val="bg2">
                      <a:lumMod val="75000"/>
                    </a:schemeClr>
                  </a:solidFill>
                  <a:ln>
                    <a:noFill/>
                  </a:ln>
                  <a:effectLst/>
                </p:spPr>
                <p:txBody>
                  <a:bodyPr wrap="square" lIns="91440" tIns="45720" rIns="91440" bIns="45720" anchor="ctr">
                    <a:noAutofit/>
                  </a:bodyPr>
                  <a:lstStyle/>
                  <a:p>
                    <a:pPr algn="ctr"/>
                    <a:endParaRPr lang="zh-CN" altLang="en-US"/>
                  </a:p>
                </p:txBody>
              </p:sp>
              <p:sp>
                <p:nvSpPr>
                  <p:cNvPr id="35" name="等腰三角形 34"/>
                  <p:cNvSpPr/>
                  <p:nvPr/>
                </p:nvSpPr>
                <p:spPr>
                  <a:xfrm>
                    <a:off x="4811545" y="296567"/>
                    <a:ext cx="946150" cy="983578"/>
                  </a:xfrm>
                  <a:prstGeom prst="triangle">
                    <a:avLst/>
                  </a:prstGeom>
                  <a:solidFill>
                    <a:schemeClr val="bg2"/>
                  </a:solidFill>
                  <a:ln>
                    <a:noFill/>
                  </a:ln>
                  <a:effectLst/>
                </p:spPr>
                <p:txBody>
                  <a:bodyPr wrap="square" lIns="91440" tIns="45720" rIns="91440" bIns="45720" anchor="ctr">
                    <a:normAutofit/>
                  </a:bodyPr>
                  <a:lstStyle/>
                  <a:p>
                    <a:pPr algn="ctr"/>
                    <a:endParaRPr lang="zh-CN" altLang="en-US">
                      <a:solidFill>
                        <a:schemeClr val="tx1"/>
                      </a:solidFill>
                    </a:endParaRPr>
                  </a:p>
                </p:txBody>
              </p:sp>
            </p:grpSp>
          </p:grpSp>
          <p:sp>
            <p:nvSpPr>
              <p:cNvPr id="12" name="Icon1"/>
              <p:cNvSpPr/>
              <p:nvPr/>
            </p:nvSpPr>
            <p:spPr bwMode="auto">
              <a:xfrm>
                <a:off x="8781539" y="1938869"/>
                <a:ext cx="249749" cy="202348"/>
              </a:xfrm>
              <a:custGeom>
                <a:avLst/>
                <a:gdLst>
                  <a:gd name="connsiteX0" fmla="*/ 225848 w 603052"/>
                  <a:gd name="connsiteY0" fmla="*/ 128732 h 488595"/>
                  <a:gd name="connsiteX1" fmla="*/ 163985 w 603052"/>
                  <a:gd name="connsiteY1" fmla="*/ 289262 h 488595"/>
                  <a:gd name="connsiteX2" fmla="*/ 288552 w 603052"/>
                  <a:gd name="connsiteY2" fmla="*/ 289262 h 488595"/>
                  <a:gd name="connsiteX3" fmla="*/ 230196 w 603052"/>
                  <a:gd name="connsiteY3" fmla="*/ 9244 h 488595"/>
                  <a:gd name="connsiteX4" fmla="*/ 263162 w 603052"/>
                  <a:gd name="connsiteY4" fmla="*/ 9244 h 488595"/>
                  <a:gd name="connsiteX5" fmla="*/ 418870 w 603052"/>
                  <a:gd name="connsiteY5" fmla="*/ 411551 h 488595"/>
                  <a:gd name="connsiteX6" fmla="*/ 429251 w 603052"/>
                  <a:gd name="connsiteY6" fmla="*/ 430742 h 488595"/>
                  <a:gd name="connsiteX7" fmla="*/ 445383 w 603052"/>
                  <a:gd name="connsiteY7" fmla="*/ 445030 h 488595"/>
                  <a:gd name="connsiteX8" fmla="*/ 463338 w 603052"/>
                  <a:gd name="connsiteY8" fmla="*/ 452034 h 488595"/>
                  <a:gd name="connsiteX9" fmla="*/ 482556 w 603052"/>
                  <a:gd name="connsiteY9" fmla="*/ 455256 h 488595"/>
                  <a:gd name="connsiteX10" fmla="*/ 487466 w 603052"/>
                  <a:gd name="connsiteY10" fmla="*/ 455536 h 488595"/>
                  <a:gd name="connsiteX11" fmla="*/ 487466 w 603052"/>
                  <a:gd name="connsiteY11" fmla="*/ 488595 h 488595"/>
                  <a:gd name="connsiteX12" fmla="*/ 284764 w 603052"/>
                  <a:gd name="connsiteY12" fmla="*/ 488595 h 488595"/>
                  <a:gd name="connsiteX13" fmla="*/ 284764 w 603052"/>
                  <a:gd name="connsiteY13" fmla="*/ 455536 h 488595"/>
                  <a:gd name="connsiteX14" fmla="*/ 289534 w 603052"/>
                  <a:gd name="connsiteY14" fmla="*/ 455256 h 488595"/>
                  <a:gd name="connsiteX15" fmla="*/ 330635 w 603052"/>
                  <a:gd name="connsiteY15" fmla="*/ 448953 h 488595"/>
                  <a:gd name="connsiteX16" fmla="*/ 343821 w 603052"/>
                  <a:gd name="connsiteY16" fmla="*/ 441809 h 488595"/>
                  <a:gd name="connsiteX17" fmla="*/ 343260 w 603052"/>
                  <a:gd name="connsiteY17" fmla="*/ 435365 h 488595"/>
                  <a:gd name="connsiteX18" fmla="*/ 341577 w 603052"/>
                  <a:gd name="connsiteY18" fmla="*/ 428921 h 488595"/>
                  <a:gd name="connsiteX19" fmla="*/ 304403 w 603052"/>
                  <a:gd name="connsiteY19" fmla="*/ 328484 h 488595"/>
                  <a:gd name="connsiteX20" fmla="*/ 148695 w 603052"/>
                  <a:gd name="connsiteY20" fmla="*/ 328484 h 488595"/>
                  <a:gd name="connsiteX21" fmla="*/ 135228 w 603052"/>
                  <a:gd name="connsiteY21" fmla="*/ 364765 h 488595"/>
                  <a:gd name="connsiteX22" fmla="*/ 124847 w 603052"/>
                  <a:gd name="connsiteY22" fmla="*/ 396003 h 488595"/>
                  <a:gd name="connsiteX23" fmla="*/ 119236 w 603052"/>
                  <a:gd name="connsiteY23" fmla="*/ 418275 h 488595"/>
                  <a:gd name="connsiteX24" fmla="*/ 117693 w 603052"/>
                  <a:gd name="connsiteY24" fmla="*/ 431583 h 488595"/>
                  <a:gd name="connsiteX25" fmla="*/ 134807 w 603052"/>
                  <a:gd name="connsiteY25" fmla="*/ 447132 h 488595"/>
                  <a:gd name="connsiteX26" fmla="*/ 179836 w 603052"/>
                  <a:gd name="connsiteY26" fmla="*/ 455256 h 488595"/>
                  <a:gd name="connsiteX27" fmla="*/ 184606 w 603052"/>
                  <a:gd name="connsiteY27" fmla="*/ 455536 h 488595"/>
                  <a:gd name="connsiteX28" fmla="*/ 184606 w 603052"/>
                  <a:gd name="connsiteY28" fmla="*/ 488455 h 488595"/>
                  <a:gd name="connsiteX29" fmla="*/ 0 w 603052"/>
                  <a:gd name="connsiteY29" fmla="*/ 488455 h 488595"/>
                  <a:gd name="connsiteX30" fmla="*/ 0 w 603052"/>
                  <a:gd name="connsiteY30" fmla="*/ 455676 h 488595"/>
                  <a:gd name="connsiteX31" fmla="*/ 4629 w 603052"/>
                  <a:gd name="connsiteY31" fmla="*/ 455256 h 488595"/>
                  <a:gd name="connsiteX32" fmla="*/ 25110 w 603052"/>
                  <a:gd name="connsiteY32" fmla="*/ 451614 h 488595"/>
                  <a:gd name="connsiteX33" fmla="*/ 44468 w 603052"/>
                  <a:gd name="connsiteY33" fmla="*/ 444050 h 488595"/>
                  <a:gd name="connsiteX34" fmla="*/ 63406 w 603052"/>
                  <a:gd name="connsiteY34" fmla="*/ 426820 h 488595"/>
                  <a:gd name="connsiteX35" fmla="*/ 76732 w 603052"/>
                  <a:gd name="connsiteY35" fmla="*/ 401326 h 488595"/>
                  <a:gd name="connsiteX36" fmla="*/ 153745 w 603052"/>
                  <a:gd name="connsiteY36" fmla="*/ 205775 h 488595"/>
                  <a:gd name="connsiteX37" fmla="*/ 228934 w 603052"/>
                  <a:gd name="connsiteY37" fmla="*/ 12466 h 488595"/>
                  <a:gd name="connsiteX38" fmla="*/ 541202 w 603052"/>
                  <a:gd name="connsiteY38" fmla="*/ 0 h 488595"/>
                  <a:gd name="connsiteX39" fmla="*/ 603052 w 603052"/>
                  <a:gd name="connsiteY39" fmla="*/ 102109 h 488595"/>
                  <a:gd name="connsiteX40" fmla="*/ 556349 w 603052"/>
                  <a:gd name="connsiteY40" fmla="*/ 102109 h 488595"/>
                  <a:gd name="connsiteX41" fmla="*/ 556349 w 603052"/>
                  <a:gd name="connsiteY41" fmla="*/ 381264 h 488595"/>
                  <a:gd name="connsiteX42" fmla="*/ 603052 w 603052"/>
                  <a:gd name="connsiteY42" fmla="*/ 381264 h 488595"/>
                  <a:gd name="connsiteX43" fmla="*/ 541202 w 603052"/>
                  <a:gd name="connsiteY43" fmla="*/ 483373 h 488595"/>
                  <a:gd name="connsiteX44" fmla="*/ 479351 w 603052"/>
                  <a:gd name="connsiteY44" fmla="*/ 381264 h 488595"/>
                  <a:gd name="connsiteX45" fmla="*/ 526054 w 603052"/>
                  <a:gd name="connsiteY45" fmla="*/ 381264 h 488595"/>
                  <a:gd name="connsiteX46" fmla="*/ 526054 w 603052"/>
                  <a:gd name="connsiteY46" fmla="*/ 102109 h 488595"/>
                  <a:gd name="connsiteX47" fmla="*/ 479351 w 603052"/>
                  <a:gd name="connsiteY47" fmla="*/ 102109 h 48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3052" h="488595">
                    <a:moveTo>
                      <a:pt x="225848" y="128732"/>
                    </a:moveTo>
                    <a:lnTo>
                      <a:pt x="163985" y="289262"/>
                    </a:lnTo>
                    <a:lnTo>
                      <a:pt x="288552" y="289262"/>
                    </a:lnTo>
                    <a:close/>
                    <a:moveTo>
                      <a:pt x="230196" y="9244"/>
                    </a:moveTo>
                    <a:lnTo>
                      <a:pt x="263162" y="9244"/>
                    </a:lnTo>
                    <a:lnTo>
                      <a:pt x="418870" y="411551"/>
                    </a:lnTo>
                    <a:cubicBezTo>
                      <a:pt x="421956" y="419536"/>
                      <a:pt x="425323" y="425980"/>
                      <a:pt x="429251" y="430742"/>
                    </a:cubicBezTo>
                    <a:cubicBezTo>
                      <a:pt x="433038" y="435645"/>
                      <a:pt x="438369" y="440408"/>
                      <a:pt x="445383" y="445030"/>
                    </a:cubicBezTo>
                    <a:cubicBezTo>
                      <a:pt x="449731" y="447692"/>
                      <a:pt x="455903" y="450073"/>
                      <a:pt x="463338" y="452034"/>
                    </a:cubicBezTo>
                    <a:cubicBezTo>
                      <a:pt x="471053" y="453995"/>
                      <a:pt x="477506" y="455116"/>
                      <a:pt x="482556" y="455256"/>
                    </a:cubicBezTo>
                    <a:lnTo>
                      <a:pt x="487466" y="455536"/>
                    </a:lnTo>
                    <a:lnTo>
                      <a:pt x="487466" y="488595"/>
                    </a:lnTo>
                    <a:lnTo>
                      <a:pt x="284764" y="488595"/>
                    </a:lnTo>
                    <a:lnTo>
                      <a:pt x="284764" y="455536"/>
                    </a:lnTo>
                    <a:lnTo>
                      <a:pt x="289534" y="455256"/>
                    </a:lnTo>
                    <a:cubicBezTo>
                      <a:pt x="305946" y="454276"/>
                      <a:pt x="319834" y="452174"/>
                      <a:pt x="330635" y="448953"/>
                    </a:cubicBezTo>
                    <a:cubicBezTo>
                      <a:pt x="341156" y="445871"/>
                      <a:pt x="343821" y="442929"/>
                      <a:pt x="343821" y="441809"/>
                    </a:cubicBezTo>
                    <a:cubicBezTo>
                      <a:pt x="343821" y="439988"/>
                      <a:pt x="343681" y="437886"/>
                      <a:pt x="343260" y="435365"/>
                    </a:cubicBezTo>
                    <a:cubicBezTo>
                      <a:pt x="342839" y="432843"/>
                      <a:pt x="342278" y="430742"/>
                      <a:pt x="341577" y="428921"/>
                    </a:cubicBezTo>
                    <a:lnTo>
                      <a:pt x="304403" y="328484"/>
                    </a:lnTo>
                    <a:lnTo>
                      <a:pt x="148695" y="328484"/>
                    </a:lnTo>
                    <a:cubicBezTo>
                      <a:pt x="143224" y="342212"/>
                      <a:pt x="138735" y="354399"/>
                      <a:pt x="135228" y="364765"/>
                    </a:cubicBezTo>
                    <a:cubicBezTo>
                      <a:pt x="131300" y="376111"/>
                      <a:pt x="127934" y="386477"/>
                      <a:pt x="124847" y="396003"/>
                    </a:cubicBezTo>
                    <a:cubicBezTo>
                      <a:pt x="122182" y="405108"/>
                      <a:pt x="120218" y="412532"/>
                      <a:pt x="119236" y="418275"/>
                    </a:cubicBezTo>
                    <a:cubicBezTo>
                      <a:pt x="118114" y="423738"/>
                      <a:pt x="117693" y="428221"/>
                      <a:pt x="117693" y="431583"/>
                    </a:cubicBezTo>
                    <a:cubicBezTo>
                      <a:pt x="117693" y="437886"/>
                      <a:pt x="123445" y="443069"/>
                      <a:pt x="134807" y="447132"/>
                    </a:cubicBezTo>
                    <a:cubicBezTo>
                      <a:pt x="147993" y="451754"/>
                      <a:pt x="163143" y="454416"/>
                      <a:pt x="179836" y="455256"/>
                    </a:cubicBezTo>
                    <a:lnTo>
                      <a:pt x="184606" y="455536"/>
                    </a:lnTo>
                    <a:lnTo>
                      <a:pt x="184606" y="488455"/>
                    </a:lnTo>
                    <a:lnTo>
                      <a:pt x="0" y="488455"/>
                    </a:lnTo>
                    <a:lnTo>
                      <a:pt x="0" y="455676"/>
                    </a:lnTo>
                    <a:lnTo>
                      <a:pt x="4629" y="455256"/>
                    </a:lnTo>
                    <a:cubicBezTo>
                      <a:pt x="9960" y="454836"/>
                      <a:pt x="16833" y="453715"/>
                      <a:pt x="25110" y="451614"/>
                    </a:cubicBezTo>
                    <a:cubicBezTo>
                      <a:pt x="32965" y="449793"/>
                      <a:pt x="39558" y="447132"/>
                      <a:pt x="44468" y="444050"/>
                    </a:cubicBezTo>
                    <a:cubicBezTo>
                      <a:pt x="52604" y="438587"/>
                      <a:pt x="58917" y="432703"/>
                      <a:pt x="63406" y="426820"/>
                    </a:cubicBezTo>
                    <a:cubicBezTo>
                      <a:pt x="67895" y="420797"/>
                      <a:pt x="72383" y="412252"/>
                      <a:pt x="76732" y="401326"/>
                    </a:cubicBezTo>
                    <a:cubicBezTo>
                      <a:pt x="100018" y="343473"/>
                      <a:pt x="125970" y="277636"/>
                      <a:pt x="153745" y="205775"/>
                    </a:cubicBezTo>
                    <a:cubicBezTo>
                      <a:pt x="181800" y="133494"/>
                      <a:pt x="206910" y="69058"/>
                      <a:pt x="228934" y="12466"/>
                    </a:cubicBezTo>
                    <a:close/>
                    <a:moveTo>
                      <a:pt x="541202" y="0"/>
                    </a:moveTo>
                    <a:lnTo>
                      <a:pt x="603052" y="102109"/>
                    </a:lnTo>
                    <a:lnTo>
                      <a:pt x="556349" y="102109"/>
                    </a:lnTo>
                    <a:lnTo>
                      <a:pt x="556349" y="381264"/>
                    </a:lnTo>
                    <a:lnTo>
                      <a:pt x="603052" y="381264"/>
                    </a:lnTo>
                    <a:lnTo>
                      <a:pt x="541202" y="483373"/>
                    </a:lnTo>
                    <a:lnTo>
                      <a:pt x="479351" y="381264"/>
                    </a:lnTo>
                    <a:lnTo>
                      <a:pt x="526054" y="381264"/>
                    </a:lnTo>
                    <a:lnTo>
                      <a:pt x="526054" y="102109"/>
                    </a:lnTo>
                    <a:lnTo>
                      <a:pt x="479351" y="102109"/>
                    </a:lnTo>
                    <a:close/>
                  </a:path>
                </a:pathLst>
              </a:custGeom>
              <a:solidFill>
                <a:schemeClr val="accent1"/>
              </a:solidFill>
              <a:ln>
                <a:noFill/>
              </a:ln>
            </p:spPr>
            <p:txBody>
              <a:bodyPr wrap="square" lIns="91440" tIns="45720" rIns="91440" bIns="45720" anchor="ctr">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13" name="Icon2"/>
              <p:cNvSpPr/>
              <p:nvPr/>
            </p:nvSpPr>
            <p:spPr bwMode="auto">
              <a:xfrm>
                <a:off x="8781539" y="2541850"/>
                <a:ext cx="296896" cy="294103"/>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chemeClr val="accent1"/>
              </a:solidFill>
              <a:ln>
                <a:noFill/>
              </a:ln>
            </p:spPr>
            <p:txBody>
              <a:bodyPr wrap="square" lIns="91440" tIns="45720" rIns="91440" bIns="45720" anchor="ctr">
                <a:normAutofit fontScale="925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14" name="Icon3"/>
              <p:cNvSpPr/>
              <p:nvPr/>
            </p:nvSpPr>
            <p:spPr bwMode="auto">
              <a:xfrm>
                <a:off x="8811712" y="3304425"/>
                <a:ext cx="295396" cy="293486"/>
              </a:xfrm>
              <a:custGeom>
                <a:avLst/>
                <a:gdLst>
                  <a:gd name="T0" fmla="*/ 9116 w 11275"/>
                  <a:gd name="T1" fmla="*/ 4696 h 11201"/>
                  <a:gd name="T2" fmla="*/ 9016 w 11275"/>
                  <a:gd name="T3" fmla="*/ 799 h 11201"/>
                  <a:gd name="T4" fmla="*/ 799 w 11275"/>
                  <a:gd name="T5" fmla="*/ 899 h 11201"/>
                  <a:gd name="T6" fmla="*/ 899 w 11275"/>
                  <a:gd name="T7" fmla="*/ 10390 h 11201"/>
                  <a:gd name="T8" fmla="*/ 4907 w 11275"/>
                  <a:gd name="T9" fmla="*/ 10790 h 11201"/>
                  <a:gd name="T10" fmla="*/ 399 w 11275"/>
                  <a:gd name="T11" fmla="*/ 11189 h 11201"/>
                  <a:gd name="T12" fmla="*/ 0 w 11275"/>
                  <a:gd name="T13" fmla="*/ 400 h 11201"/>
                  <a:gd name="T14" fmla="*/ 9515 w 11275"/>
                  <a:gd name="T15" fmla="*/ 0 h 11201"/>
                  <a:gd name="T16" fmla="*/ 9915 w 11275"/>
                  <a:gd name="T17" fmla="*/ 4696 h 11201"/>
                  <a:gd name="T18" fmla="*/ 1835 w 11275"/>
                  <a:gd name="T19" fmla="*/ 2573 h 11201"/>
                  <a:gd name="T20" fmla="*/ 8117 w 11275"/>
                  <a:gd name="T21" fmla="*/ 2972 h 11201"/>
                  <a:gd name="T22" fmla="*/ 1835 w 11275"/>
                  <a:gd name="T23" fmla="*/ 3372 h 11201"/>
                  <a:gd name="T24" fmla="*/ 1835 w 11275"/>
                  <a:gd name="T25" fmla="*/ 2573 h 11201"/>
                  <a:gd name="T26" fmla="*/ 4545 w 11275"/>
                  <a:gd name="T27" fmla="*/ 5145 h 11201"/>
                  <a:gd name="T28" fmla="*/ 4545 w 11275"/>
                  <a:gd name="T29" fmla="*/ 5944 h 11201"/>
                  <a:gd name="T30" fmla="*/ 1498 w 11275"/>
                  <a:gd name="T31" fmla="*/ 5545 h 11201"/>
                  <a:gd name="T32" fmla="*/ 1898 w 11275"/>
                  <a:gd name="T33" fmla="*/ 7718 h 11201"/>
                  <a:gd name="T34" fmla="*/ 4945 w 11275"/>
                  <a:gd name="T35" fmla="*/ 8117 h 11201"/>
                  <a:gd name="T36" fmla="*/ 1898 w 11275"/>
                  <a:gd name="T37" fmla="*/ 8517 h 11201"/>
                  <a:gd name="T38" fmla="*/ 1898 w 11275"/>
                  <a:gd name="T39" fmla="*/ 7718 h 11201"/>
                  <a:gd name="T40" fmla="*/ 6244 w 11275"/>
                  <a:gd name="T41" fmla="*/ 5145 h 11201"/>
                  <a:gd name="T42" fmla="*/ 6244 w 11275"/>
                  <a:gd name="T43" fmla="*/ 5944 h 11201"/>
                  <a:gd name="T44" fmla="*/ 5295 w 11275"/>
                  <a:gd name="T45" fmla="*/ 5545 h 11201"/>
                  <a:gd name="T46" fmla="*/ 9074 w 11275"/>
                  <a:gd name="T47" fmla="*/ 6037 h 11201"/>
                  <a:gd name="T48" fmla="*/ 10721 w 11275"/>
                  <a:gd name="T49" fmla="*/ 11116 h 11201"/>
                  <a:gd name="T50" fmla="*/ 6356 w 11275"/>
                  <a:gd name="T51" fmla="*/ 11201 h 11201"/>
                  <a:gd name="T52" fmla="*/ 5641 w 11275"/>
                  <a:gd name="T53" fmla="*/ 10044 h 11201"/>
                  <a:gd name="T54" fmla="*/ 8717 w 11275"/>
                  <a:gd name="T55" fmla="*/ 5679 h 11201"/>
                  <a:gd name="T56" fmla="*/ 8455 w 11275"/>
                  <a:gd name="T57" fmla="*/ 6572 h 11201"/>
                  <a:gd name="T58" fmla="*/ 6434 w 11275"/>
                  <a:gd name="T59" fmla="*/ 10257 h 11201"/>
                  <a:gd name="T60" fmla="*/ 10208 w 11275"/>
                  <a:gd name="T61" fmla="*/ 10401 h 11201"/>
                  <a:gd name="T62" fmla="*/ 8455 w 11275"/>
                  <a:gd name="T63" fmla="*/ 6572 h 11201"/>
                  <a:gd name="T64" fmla="*/ 8754 w 11275"/>
                  <a:gd name="T65" fmla="*/ 7730 h 11201"/>
                  <a:gd name="T66" fmla="*/ 8354 w 11275"/>
                  <a:gd name="T67" fmla="*/ 9204 h 11201"/>
                  <a:gd name="T68" fmla="*/ 7954 w 11275"/>
                  <a:gd name="T69" fmla="*/ 7730 h 11201"/>
                  <a:gd name="T70" fmla="*/ 8354 w 11275"/>
                  <a:gd name="T71" fmla="*/ 10203 h 11201"/>
                  <a:gd name="T72" fmla="*/ 8354 w 11275"/>
                  <a:gd name="T73" fmla="*/ 9404 h 11201"/>
                  <a:gd name="T74" fmla="*/ 8354 w 11275"/>
                  <a:gd name="T75" fmla="*/ 10203 h 11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275" h="11201">
                    <a:moveTo>
                      <a:pt x="9515" y="5095"/>
                    </a:moveTo>
                    <a:cubicBezTo>
                      <a:pt x="9295" y="5095"/>
                      <a:pt x="9116" y="4916"/>
                      <a:pt x="9116" y="4696"/>
                    </a:cubicBezTo>
                    <a:lnTo>
                      <a:pt x="9116" y="899"/>
                    </a:lnTo>
                    <a:cubicBezTo>
                      <a:pt x="9116" y="844"/>
                      <a:pt x="9071" y="799"/>
                      <a:pt x="9016" y="799"/>
                    </a:cubicBezTo>
                    <a:lnTo>
                      <a:pt x="899" y="799"/>
                    </a:lnTo>
                    <a:cubicBezTo>
                      <a:pt x="844" y="799"/>
                      <a:pt x="799" y="844"/>
                      <a:pt x="799" y="899"/>
                    </a:cubicBezTo>
                    <a:lnTo>
                      <a:pt x="799" y="10290"/>
                    </a:lnTo>
                    <a:cubicBezTo>
                      <a:pt x="799" y="10345"/>
                      <a:pt x="844" y="10390"/>
                      <a:pt x="899" y="10390"/>
                    </a:cubicBezTo>
                    <a:lnTo>
                      <a:pt x="4508" y="10390"/>
                    </a:lnTo>
                    <a:cubicBezTo>
                      <a:pt x="4728" y="10390"/>
                      <a:pt x="4907" y="10569"/>
                      <a:pt x="4907" y="10790"/>
                    </a:cubicBezTo>
                    <a:cubicBezTo>
                      <a:pt x="4907" y="11010"/>
                      <a:pt x="4728" y="11189"/>
                      <a:pt x="4508" y="11189"/>
                    </a:cubicBezTo>
                    <a:lnTo>
                      <a:pt x="399" y="11189"/>
                    </a:lnTo>
                    <a:cubicBezTo>
                      <a:pt x="179" y="11189"/>
                      <a:pt x="0" y="11010"/>
                      <a:pt x="0" y="10790"/>
                    </a:cubicBezTo>
                    <a:lnTo>
                      <a:pt x="0" y="400"/>
                    </a:lnTo>
                    <a:cubicBezTo>
                      <a:pt x="0" y="179"/>
                      <a:pt x="179" y="0"/>
                      <a:pt x="399" y="0"/>
                    </a:cubicBezTo>
                    <a:lnTo>
                      <a:pt x="9515" y="0"/>
                    </a:lnTo>
                    <a:cubicBezTo>
                      <a:pt x="9736" y="0"/>
                      <a:pt x="9915" y="179"/>
                      <a:pt x="9915" y="400"/>
                    </a:cubicBezTo>
                    <a:lnTo>
                      <a:pt x="9915" y="4696"/>
                    </a:lnTo>
                    <a:cubicBezTo>
                      <a:pt x="9915" y="4916"/>
                      <a:pt x="9736" y="5095"/>
                      <a:pt x="9515" y="5095"/>
                    </a:cubicBezTo>
                    <a:close/>
                    <a:moveTo>
                      <a:pt x="1835" y="2573"/>
                    </a:moveTo>
                    <a:lnTo>
                      <a:pt x="7717" y="2573"/>
                    </a:lnTo>
                    <a:cubicBezTo>
                      <a:pt x="7938" y="2573"/>
                      <a:pt x="8117" y="2752"/>
                      <a:pt x="8117" y="2972"/>
                    </a:cubicBezTo>
                    <a:cubicBezTo>
                      <a:pt x="8117" y="3193"/>
                      <a:pt x="7938" y="3372"/>
                      <a:pt x="7717" y="3372"/>
                    </a:cubicBezTo>
                    <a:lnTo>
                      <a:pt x="1835" y="3372"/>
                    </a:lnTo>
                    <a:cubicBezTo>
                      <a:pt x="1615" y="3372"/>
                      <a:pt x="1436" y="3193"/>
                      <a:pt x="1436" y="2972"/>
                    </a:cubicBezTo>
                    <a:cubicBezTo>
                      <a:pt x="1436" y="2752"/>
                      <a:pt x="1615" y="2573"/>
                      <a:pt x="1835" y="2573"/>
                    </a:cubicBezTo>
                    <a:close/>
                    <a:moveTo>
                      <a:pt x="1898" y="5145"/>
                    </a:moveTo>
                    <a:lnTo>
                      <a:pt x="4545" y="5145"/>
                    </a:lnTo>
                    <a:cubicBezTo>
                      <a:pt x="4766" y="5145"/>
                      <a:pt x="4945" y="5324"/>
                      <a:pt x="4945" y="5545"/>
                    </a:cubicBezTo>
                    <a:cubicBezTo>
                      <a:pt x="4945" y="5766"/>
                      <a:pt x="4766" y="5944"/>
                      <a:pt x="4545" y="5944"/>
                    </a:cubicBezTo>
                    <a:lnTo>
                      <a:pt x="1898" y="5944"/>
                    </a:lnTo>
                    <a:cubicBezTo>
                      <a:pt x="1677" y="5944"/>
                      <a:pt x="1498" y="5766"/>
                      <a:pt x="1498" y="5545"/>
                    </a:cubicBezTo>
                    <a:cubicBezTo>
                      <a:pt x="1498" y="5324"/>
                      <a:pt x="1677" y="5145"/>
                      <a:pt x="1898" y="5145"/>
                    </a:cubicBezTo>
                    <a:close/>
                    <a:moveTo>
                      <a:pt x="1898" y="7718"/>
                    </a:moveTo>
                    <a:lnTo>
                      <a:pt x="4545" y="7718"/>
                    </a:lnTo>
                    <a:cubicBezTo>
                      <a:pt x="4766" y="7718"/>
                      <a:pt x="4945" y="7897"/>
                      <a:pt x="4945" y="8117"/>
                    </a:cubicBezTo>
                    <a:cubicBezTo>
                      <a:pt x="4945" y="8338"/>
                      <a:pt x="4766" y="8517"/>
                      <a:pt x="4545" y="8517"/>
                    </a:cubicBezTo>
                    <a:lnTo>
                      <a:pt x="1898" y="8517"/>
                    </a:lnTo>
                    <a:cubicBezTo>
                      <a:pt x="1677" y="8517"/>
                      <a:pt x="1498" y="8338"/>
                      <a:pt x="1498" y="8117"/>
                    </a:cubicBezTo>
                    <a:cubicBezTo>
                      <a:pt x="1498" y="7897"/>
                      <a:pt x="1677" y="7718"/>
                      <a:pt x="1898" y="7718"/>
                    </a:cubicBezTo>
                    <a:close/>
                    <a:moveTo>
                      <a:pt x="5694" y="5145"/>
                    </a:moveTo>
                    <a:lnTo>
                      <a:pt x="6244" y="5145"/>
                    </a:lnTo>
                    <a:cubicBezTo>
                      <a:pt x="6464" y="5145"/>
                      <a:pt x="6643" y="5324"/>
                      <a:pt x="6643" y="5545"/>
                    </a:cubicBezTo>
                    <a:cubicBezTo>
                      <a:pt x="6643" y="5766"/>
                      <a:pt x="6464" y="5944"/>
                      <a:pt x="6244" y="5944"/>
                    </a:cubicBezTo>
                    <a:lnTo>
                      <a:pt x="5694" y="5944"/>
                    </a:lnTo>
                    <a:cubicBezTo>
                      <a:pt x="5473" y="5944"/>
                      <a:pt x="5295" y="5766"/>
                      <a:pt x="5295" y="5545"/>
                    </a:cubicBezTo>
                    <a:cubicBezTo>
                      <a:pt x="5295" y="5324"/>
                      <a:pt x="5473" y="5145"/>
                      <a:pt x="5694" y="5145"/>
                    </a:cubicBezTo>
                    <a:close/>
                    <a:moveTo>
                      <a:pt x="9074" y="6037"/>
                    </a:moveTo>
                    <a:lnTo>
                      <a:pt x="11078" y="10044"/>
                    </a:lnTo>
                    <a:cubicBezTo>
                      <a:pt x="11275" y="10439"/>
                      <a:pt x="11115" y="10919"/>
                      <a:pt x="10721" y="11116"/>
                    </a:cubicBezTo>
                    <a:cubicBezTo>
                      <a:pt x="10610" y="11172"/>
                      <a:pt x="10487" y="11201"/>
                      <a:pt x="10363" y="11201"/>
                    </a:cubicBezTo>
                    <a:lnTo>
                      <a:pt x="6356" y="11201"/>
                    </a:lnTo>
                    <a:cubicBezTo>
                      <a:pt x="5915" y="11201"/>
                      <a:pt x="5557" y="10843"/>
                      <a:pt x="5557" y="10401"/>
                    </a:cubicBezTo>
                    <a:cubicBezTo>
                      <a:pt x="5557" y="10277"/>
                      <a:pt x="5586" y="10155"/>
                      <a:pt x="5641" y="10044"/>
                    </a:cubicBezTo>
                    <a:lnTo>
                      <a:pt x="7645" y="6037"/>
                    </a:lnTo>
                    <a:cubicBezTo>
                      <a:pt x="7842" y="5642"/>
                      <a:pt x="8322" y="5482"/>
                      <a:pt x="8717" y="5679"/>
                    </a:cubicBezTo>
                    <a:cubicBezTo>
                      <a:pt x="8872" y="5757"/>
                      <a:pt x="8997" y="5882"/>
                      <a:pt x="9074" y="6037"/>
                    </a:cubicBezTo>
                    <a:close/>
                    <a:moveTo>
                      <a:pt x="8455" y="6572"/>
                    </a:moveTo>
                    <a:cubicBezTo>
                      <a:pt x="8418" y="6498"/>
                      <a:pt x="8313" y="6498"/>
                      <a:pt x="8276" y="6572"/>
                    </a:cubicBezTo>
                    <a:lnTo>
                      <a:pt x="6434" y="10257"/>
                    </a:lnTo>
                    <a:cubicBezTo>
                      <a:pt x="6401" y="10323"/>
                      <a:pt x="6449" y="10401"/>
                      <a:pt x="6523" y="10401"/>
                    </a:cubicBezTo>
                    <a:lnTo>
                      <a:pt x="10208" y="10401"/>
                    </a:lnTo>
                    <a:cubicBezTo>
                      <a:pt x="10283" y="10401"/>
                      <a:pt x="10331" y="10323"/>
                      <a:pt x="10298" y="10257"/>
                    </a:cubicBezTo>
                    <a:lnTo>
                      <a:pt x="8455" y="6572"/>
                    </a:lnTo>
                    <a:close/>
                    <a:moveTo>
                      <a:pt x="8354" y="7331"/>
                    </a:moveTo>
                    <a:cubicBezTo>
                      <a:pt x="8575" y="7331"/>
                      <a:pt x="8754" y="7509"/>
                      <a:pt x="8754" y="7730"/>
                    </a:cubicBezTo>
                    <a:lnTo>
                      <a:pt x="8754" y="8804"/>
                    </a:lnTo>
                    <a:cubicBezTo>
                      <a:pt x="8754" y="9025"/>
                      <a:pt x="8575" y="9204"/>
                      <a:pt x="8354" y="9204"/>
                    </a:cubicBezTo>
                    <a:cubicBezTo>
                      <a:pt x="8133" y="9204"/>
                      <a:pt x="7954" y="9025"/>
                      <a:pt x="7954" y="8804"/>
                    </a:cubicBezTo>
                    <a:lnTo>
                      <a:pt x="7954" y="7730"/>
                    </a:lnTo>
                    <a:cubicBezTo>
                      <a:pt x="7954" y="7509"/>
                      <a:pt x="8133" y="7331"/>
                      <a:pt x="8354" y="7331"/>
                    </a:cubicBezTo>
                    <a:close/>
                    <a:moveTo>
                      <a:pt x="8354" y="10203"/>
                    </a:moveTo>
                    <a:cubicBezTo>
                      <a:pt x="8133" y="10203"/>
                      <a:pt x="7954" y="10024"/>
                      <a:pt x="7954" y="9803"/>
                    </a:cubicBezTo>
                    <a:cubicBezTo>
                      <a:pt x="7954" y="9582"/>
                      <a:pt x="8133" y="9404"/>
                      <a:pt x="8354" y="9404"/>
                    </a:cubicBezTo>
                    <a:cubicBezTo>
                      <a:pt x="8575" y="9404"/>
                      <a:pt x="8754" y="9582"/>
                      <a:pt x="8754" y="9803"/>
                    </a:cubicBezTo>
                    <a:cubicBezTo>
                      <a:pt x="8754" y="10024"/>
                      <a:pt x="8575" y="10203"/>
                      <a:pt x="8354" y="10203"/>
                    </a:cubicBezTo>
                    <a:close/>
                  </a:path>
                </a:pathLst>
              </a:custGeom>
              <a:solidFill>
                <a:schemeClr val="accent1"/>
              </a:solidFill>
              <a:ln>
                <a:noFill/>
              </a:ln>
            </p:spPr>
            <p:txBody>
              <a:bodyPr wrap="square" lIns="91440" tIns="45720" rIns="91440" bIns="45720" anchor="ctr">
                <a:normAutofit fontScale="925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15" name="Icon4"/>
              <p:cNvSpPr/>
              <p:nvPr/>
            </p:nvSpPr>
            <p:spPr bwMode="auto">
              <a:xfrm>
                <a:off x="8781539" y="3974939"/>
                <a:ext cx="314347" cy="313987"/>
              </a:xfrm>
              <a:custGeom>
                <a:avLst/>
                <a:gdLst>
                  <a:gd name="T0" fmla="*/ 11122 w 12710"/>
                  <a:gd name="T1" fmla="*/ 4365 h 12698"/>
                  <a:gd name="T2" fmla="*/ 6360 w 12710"/>
                  <a:gd name="T3" fmla="*/ 0 h 12698"/>
                  <a:gd name="T4" fmla="*/ 1598 w 12710"/>
                  <a:gd name="T5" fmla="*/ 4365 h 12698"/>
                  <a:gd name="T6" fmla="*/ 11 w 12710"/>
                  <a:gd name="T7" fmla="*/ 6349 h 12698"/>
                  <a:gd name="T8" fmla="*/ 11 w 12710"/>
                  <a:gd name="T9" fmla="*/ 7143 h 12698"/>
                  <a:gd name="T10" fmla="*/ 1995 w 12710"/>
                  <a:gd name="T11" fmla="*/ 9127 h 12698"/>
                  <a:gd name="T12" fmla="*/ 3186 w 12710"/>
                  <a:gd name="T13" fmla="*/ 9127 h 12698"/>
                  <a:gd name="T14" fmla="*/ 3186 w 12710"/>
                  <a:gd name="T15" fmla="*/ 4364 h 12698"/>
                  <a:gd name="T16" fmla="*/ 2392 w 12710"/>
                  <a:gd name="T17" fmla="*/ 4364 h 12698"/>
                  <a:gd name="T18" fmla="*/ 6360 w 12710"/>
                  <a:gd name="T19" fmla="*/ 793 h 12698"/>
                  <a:gd name="T20" fmla="*/ 10328 w 12710"/>
                  <a:gd name="T21" fmla="*/ 4364 h 12698"/>
                  <a:gd name="T22" fmla="*/ 9534 w 12710"/>
                  <a:gd name="T23" fmla="*/ 4364 h 12698"/>
                  <a:gd name="T24" fmla="*/ 9534 w 12710"/>
                  <a:gd name="T25" fmla="*/ 9127 h 12698"/>
                  <a:gd name="T26" fmla="*/ 10328 w 12710"/>
                  <a:gd name="T27" fmla="*/ 9127 h 12698"/>
                  <a:gd name="T28" fmla="*/ 6757 w 12710"/>
                  <a:gd name="T29" fmla="*/ 11983 h 12698"/>
                  <a:gd name="T30" fmla="*/ 5963 w 12710"/>
                  <a:gd name="T31" fmla="*/ 11903 h 12698"/>
                  <a:gd name="T32" fmla="*/ 5963 w 12710"/>
                  <a:gd name="T33" fmla="*/ 12618 h 12698"/>
                  <a:gd name="T34" fmla="*/ 6757 w 12710"/>
                  <a:gd name="T35" fmla="*/ 12698 h 12698"/>
                  <a:gd name="T36" fmla="*/ 11042 w 12710"/>
                  <a:gd name="T37" fmla="*/ 9127 h 12698"/>
                  <a:gd name="T38" fmla="*/ 11122 w 12710"/>
                  <a:gd name="T39" fmla="*/ 8333 h 12698"/>
                  <a:gd name="T40" fmla="*/ 10328 w 12710"/>
                  <a:gd name="T41" fmla="*/ 8333 h 12698"/>
                  <a:gd name="T42" fmla="*/ 10328 w 12710"/>
                  <a:gd name="T43" fmla="*/ 5158 h 12698"/>
                  <a:gd name="T44" fmla="*/ 10884 w 12710"/>
                  <a:gd name="T45" fmla="*/ 5158 h 12698"/>
                  <a:gd name="T46" fmla="*/ 11915 w 12710"/>
                  <a:gd name="T47" fmla="*/ 6508 h 12698"/>
                  <a:gd name="T48" fmla="*/ 11915 w 12710"/>
                  <a:gd name="T49" fmla="*/ 7063 h 12698"/>
                  <a:gd name="T50" fmla="*/ 10884 w 12710"/>
                  <a:gd name="T51" fmla="*/ 8413 h 12698"/>
                  <a:gd name="T52" fmla="*/ 11122 w 12710"/>
                  <a:gd name="T53" fmla="*/ 8413 h 12698"/>
                  <a:gd name="T54" fmla="*/ 11042 w 12710"/>
                  <a:gd name="T55" fmla="*/ 9206 h 12698"/>
                  <a:gd name="T56" fmla="*/ 12709 w 12710"/>
                  <a:gd name="T57" fmla="*/ 7143 h 12698"/>
                  <a:gd name="T58" fmla="*/ 12709 w 12710"/>
                  <a:gd name="T59" fmla="*/ 6349 h 12698"/>
                  <a:gd name="T60" fmla="*/ 11122 w 12710"/>
                  <a:gd name="T61" fmla="*/ 4365 h 12698"/>
                  <a:gd name="T62" fmla="*/ 1836 w 12710"/>
                  <a:gd name="T63" fmla="*/ 5159 h 12698"/>
                  <a:gd name="T64" fmla="*/ 2392 w 12710"/>
                  <a:gd name="T65" fmla="*/ 5159 h 12698"/>
                  <a:gd name="T66" fmla="*/ 2392 w 12710"/>
                  <a:gd name="T67" fmla="*/ 8413 h 12698"/>
                  <a:gd name="T68" fmla="*/ 1836 w 12710"/>
                  <a:gd name="T69" fmla="*/ 8413 h 12698"/>
                  <a:gd name="T70" fmla="*/ 805 w 12710"/>
                  <a:gd name="T71" fmla="*/ 6983 h 12698"/>
                  <a:gd name="T72" fmla="*/ 805 w 12710"/>
                  <a:gd name="T73" fmla="*/ 6508 h 12698"/>
                  <a:gd name="T74" fmla="*/ 1836 w 12710"/>
                  <a:gd name="T75" fmla="*/ 5159 h 12698"/>
                  <a:gd name="T76" fmla="*/ 1836 w 12710"/>
                  <a:gd name="T77" fmla="*/ 5159 h 12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710" h="12698">
                    <a:moveTo>
                      <a:pt x="11122" y="4365"/>
                    </a:moveTo>
                    <a:cubicBezTo>
                      <a:pt x="10963" y="1905"/>
                      <a:pt x="8900" y="0"/>
                      <a:pt x="6360" y="0"/>
                    </a:cubicBezTo>
                    <a:cubicBezTo>
                      <a:pt x="3820" y="0"/>
                      <a:pt x="1836" y="1905"/>
                      <a:pt x="1598" y="4365"/>
                    </a:cubicBezTo>
                    <a:cubicBezTo>
                      <a:pt x="725" y="4603"/>
                      <a:pt x="11" y="5396"/>
                      <a:pt x="11" y="6349"/>
                    </a:cubicBezTo>
                    <a:lnTo>
                      <a:pt x="11" y="7143"/>
                    </a:lnTo>
                    <a:cubicBezTo>
                      <a:pt x="0" y="8243"/>
                      <a:pt x="895" y="9137"/>
                      <a:pt x="1995" y="9127"/>
                    </a:cubicBezTo>
                    <a:lnTo>
                      <a:pt x="3186" y="9127"/>
                    </a:lnTo>
                    <a:lnTo>
                      <a:pt x="3186" y="4364"/>
                    </a:lnTo>
                    <a:lnTo>
                      <a:pt x="2392" y="4364"/>
                    </a:lnTo>
                    <a:cubicBezTo>
                      <a:pt x="2630" y="2381"/>
                      <a:pt x="4297" y="793"/>
                      <a:pt x="6360" y="793"/>
                    </a:cubicBezTo>
                    <a:cubicBezTo>
                      <a:pt x="8424" y="793"/>
                      <a:pt x="10090" y="2380"/>
                      <a:pt x="10328" y="4364"/>
                    </a:cubicBezTo>
                    <a:lnTo>
                      <a:pt x="9534" y="4364"/>
                    </a:lnTo>
                    <a:lnTo>
                      <a:pt x="9534" y="9127"/>
                    </a:lnTo>
                    <a:lnTo>
                      <a:pt x="10328" y="9127"/>
                    </a:lnTo>
                    <a:cubicBezTo>
                      <a:pt x="9931" y="10713"/>
                      <a:pt x="8503" y="11983"/>
                      <a:pt x="6757" y="11983"/>
                    </a:cubicBezTo>
                    <a:cubicBezTo>
                      <a:pt x="6519" y="11983"/>
                      <a:pt x="6202" y="11983"/>
                      <a:pt x="5963" y="11903"/>
                    </a:cubicBezTo>
                    <a:lnTo>
                      <a:pt x="5963" y="12618"/>
                    </a:lnTo>
                    <a:cubicBezTo>
                      <a:pt x="6202" y="12698"/>
                      <a:pt x="6519" y="12698"/>
                      <a:pt x="6757" y="12698"/>
                    </a:cubicBezTo>
                    <a:cubicBezTo>
                      <a:pt x="8900" y="12698"/>
                      <a:pt x="10725" y="11111"/>
                      <a:pt x="11042" y="9127"/>
                    </a:cubicBezTo>
                    <a:cubicBezTo>
                      <a:pt x="11122" y="8888"/>
                      <a:pt x="11122" y="8650"/>
                      <a:pt x="11122" y="8333"/>
                    </a:cubicBezTo>
                    <a:lnTo>
                      <a:pt x="10328" y="8333"/>
                    </a:lnTo>
                    <a:lnTo>
                      <a:pt x="10328" y="5158"/>
                    </a:lnTo>
                    <a:lnTo>
                      <a:pt x="10884" y="5158"/>
                    </a:lnTo>
                    <a:cubicBezTo>
                      <a:pt x="11438" y="5158"/>
                      <a:pt x="11915" y="5714"/>
                      <a:pt x="11915" y="6508"/>
                    </a:cubicBezTo>
                    <a:lnTo>
                      <a:pt x="11915" y="7063"/>
                    </a:lnTo>
                    <a:cubicBezTo>
                      <a:pt x="11915" y="7777"/>
                      <a:pt x="11438" y="8413"/>
                      <a:pt x="10884" y="8413"/>
                    </a:cubicBezTo>
                    <a:lnTo>
                      <a:pt x="11122" y="8413"/>
                    </a:lnTo>
                    <a:cubicBezTo>
                      <a:pt x="11122" y="8651"/>
                      <a:pt x="11122" y="8889"/>
                      <a:pt x="11042" y="9206"/>
                    </a:cubicBezTo>
                    <a:cubicBezTo>
                      <a:pt x="11994" y="8967"/>
                      <a:pt x="12709" y="8095"/>
                      <a:pt x="12709" y="7143"/>
                    </a:cubicBezTo>
                    <a:lnTo>
                      <a:pt x="12709" y="6349"/>
                    </a:lnTo>
                    <a:cubicBezTo>
                      <a:pt x="12710" y="5396"/>
                      <a:pt x="11995" y="4602"/>
                      <a:pt x="11122" y="4365"/>
                    </a:cubicBezTo>
                    <a:close/>
                    <a:moveTo>
                      <a:pt x="1836" y="5159"/>
                    </a:moveTo>
                    <a:lnTo>
                      <a:pt x="2392" y="5159"/>
                    </a:lnTo>
                    <a:lnTo>
                      <a:pt x="2392" y="8413"/>
                    </a:lnTo>
                    <a:lnTo>
                      <a:pt x="1836" y="8413"/>
                    </a:lnTo>
                    <a:cubicBezTo>
                      <a:pt x="1282" y="8333"/>
                      <a:pt x="805" y="7777"/>
                      <a:pt x="805" y="6983"/>
                    </a:cubicBezTo>
                    <a:lnTo>
                      <a:pt x="805" y="6508"/>
                    </a:lnTo>
                    <a:cubicBezTo>
                      <a:pt x="805" y="5715"/>
                      <a:pt x="1281" y="5159"/>
                      <a:pt x="1836" y="5159"/>
                    </a:cubicBezTo>
                    <a:close/>
                    <a:moveTo>
                      <a:pt x="1836" y="5159"/>
                    </a:moveTo>
                    <a:close/>
                  </a:path>
                </a:pathLst>
              </a:custGeom>
              <a:solidFill>
                <a:srgbClr val="FFFFFF"/>
              </a:solidFill>
              <a:ln>
                <a:noFill/>
              </a:ln>
            </p:spPr>
            <p:txBody>
              <a:bodyPr wrap="square" lIns="91440" tIns="45720" rIns="91440" bIns="45720" anchor="ctr">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16" name="Icon5"/>
              <p:cNvSpPr/>
              <p:nvPr/>
            </p:nvSpPr>
            <p:spPr bwMode="auto">
              <a:xfrm>
                <a:off x="8757545" y="4751442"/>
                <a:ext cx="362334" cy="317679"/>
              </a:xfrm>
              <a:custGeom>
                <a:avLst/>
                <a:gdLst>
                  <a:gd name="T0" fmla="*/ 9002 w 9195"/>
                  <a:gd name="T1" fmla="*/ 3977 h 8061"/>
                  <a:gd name="T2" fmla="*/ 6887 w 9195"/>
                  <a:gd name="T3" fmla="*/ 601 h 8061"/>
                  <a:gd name="T4" fmla="*/ 6693 w 9195"/>
                  <a:gd name="T5" fmla="*/ 422 h 8061"/>
                  <a:gd name="T6" fmla="*/ 4472 w 9195"/>
                  <a:gd name="T7" fmla="*/ 0 h 8061"/>
                  <a:gd name="T8" fmla="*/ 2246 w 9195"/>
                  <a:gd name="T9" fmla="*/ 442 h 8061"/>
                  <a:gd name="T10" fmla="*/ 2170 w 9195"/>
                  <a:gd name="T11" fmla="*/ 3573 h 8061"/>
                  <a:gd name="T12" fmla="*/ 121 w 9195"/>
                  <a:gd name="T13" fmla="*/ 3997 h 8061"/>
                  <a:gd name="T14" fmla="*/ 0 w 9195"/>
                  <a:gd name="T15" fmla="*/ 7186 h 8061"/>
                  <a:gd name="T16" fmla="*/ 2414 w 9195"/>
                  <a:gd name="T17" fmla="*/ 8060 h 8061"/>
                  <a:gd name="T18" fmla="*/ 2513 w 9195"/>
                  <a:gd name="T19" fmla="*/ 8061 h 8061"/>
                  <a:gd name="T20" fmla="*/ 6848 w 9195"/>
                  <a:gd name="T21" fmla="*/ 8060 h 8061"/>
                  <a:gd name="T22" fmla="*/ 6947 w 9195"/>
                  <a:gd name="T23" fmla="*/ 8061 h 8061"/>
                  <a:gd name="T24" fmla="*/ 9195 w 9195"/>
                  <a:gd name="T25" fmla="*/ 7201 h 8061"/>
                  <a:gd name="T26" fmla="*/ 9049 w 9195"/>
                  <a:gd name="T27" fmla="*/ 3996 h 8061"/>
                  <a:gd name="T28" fmla="*/ 342 w 9195"/>
                  <a:gd name="T29" fmla="*/ 7054 h 8061"/>
                  <a:gd name="T30" fmla="*/ 2294 w 9195"/>
                  <a:gd name="T31" fmla="*/ 4840 h 8061"/>
                  <a:gd name="T32" fmla="*/ 2423 w 9195"/>
                  <a:gd name="T33" fmla="*/ 4511 h 8061"/>
                  <a:gd name="T34" fmla="*/ 2364 w 9195"/>
                  <a:gd name="T35" fmla="*/ 3886 h 8061"/>
                  <a:gd name="T36" fmla="*/ 2423 w 9195"/>
                  <a:gd name="T37" fmla="*/ 4511 h 8061"/>
                  <a:gd name="T38" fmla="*/ 2637 w 9195"/>
                  <a:gd name="T39" fmla="*/ 7652 h 8061"/>
                  <a:gd name="T40" fmla="*/ 4419 w 9195"/>
                  <a:gd name="T41" fmla="*/ 4357 h 8061"/>
                  <a:gd name="T42" fmla="*/ 4419 w 9195"/>
                  <a:gd name="T43" fmla="*/ 3947 h 8061"/>
                  <a:gd name="T44" fmla="*/ 2470 w 9195"/>
                  <a:gd name="T45" fmla="*/ 794 h 8061"/>
                  <a:gd name="T46" fmla="*/ 4419 w 9195"/>
                  <a:gd name="T47" fmla="*/ 3947 h 8061"/>
                  <a:gd name="T48" fmla="*/ 3129 w 9195"/>
                  <a:gd name="T49" fmla="*/ 605 h 8061"/>
                  <a:gd name="T50" fmla="*/ 5887 w 9195"/>
                  <a:gd name="T51" fmla="*/ 606 h 8061"/>
                  <a:gd name="T52" fmla="*/ 4762 w 9195"/>
                  <a:gd name="T53" fmla="*/ 1240 h 8061"/>
                  <a:gd name="T54" fmla="*/ 6587 w 9195"/>
                  <a:gd name="T55" fmla="*/ 3580 h 8061"/>
                  <a:gd name="T56" fmla="*/ 4762 w 9195"/>
                  <a:gd name="T57" fmla="*/ 1240 h 8061"/>
                  <a:gd name="T58" fmla="*/ 4774 w 9195"/>
                  <a:gd name="T59" fmla="*/ 7054 h 8061"/>
                  <a:gd name="T60" fmla="*/ 6726 w 9195"/>
                  <a:gd name="T61" fmla="*/ 4840 h 8061"/>
                  <a:gd name="T62" fmla="*/ 6855 w 9195"/>
                  <a:gd name="T63" fmla="*/ 4511 h 8061"/>
                  <a:gd name="T64" fmla="*/ 6111 w 9195"/>
                  <a:gd name="T65" fmla="*/ 4026 h 8061"/>
                  <a:gd name="T66" fmla="*/ 8199 w 9195"/>
                  <a:gd name="T67" fmla="*/ 4166 h 8061"/>
                  <a:gd name="T68" fmla="*/ 8852 w 9195"/>
                  <a:gd name="T69" fmla="*/ 7081 h 8061"/>
                  <a:gd name="T70" fmla="*/ 7069 w 9195"/>
                  <a:gd name="T71" fmla="*/ 4821 h 8061"/>
                  <a:gd name="T72" fmla="*/ 8852 w 9195"/>
                  <a:gd name="T73" fmla="*/ 7081 h 80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195" h="8061">
                    <a:moveTo>
                      <a:pt x="9049" y="3996"/>
                    </a:moveTo>
                    <a:cubicBezTo>
                      <a:pt x="9034" y="3989"/>
                      <a:pt x="9019" y="3981"/>
                      <a:pt x="9002" y="3977"/>
                    </a:cubicBezTo>
                    <a:lnTo>
                      <a:pt x="6927" y="3557"/>
                    </a:lnTo>
                    <a:lnTo>
                      <a:pt x="6887" y="601"/>
                    </a:lnTo>
                    <a:cubicBezTo>
                      <a:pt x="6887" y="512"/>
                      <a:pt x="6827" y="450"/>
                      <a:pt x="6740" y="440"/>
                    </a:cubicBezTo>
                    <a:cubicBezTo>
                      <a:pt x="6725" y="432"/>
                      <a:pt x="6710" y="426"/>
                      <a:pt x="6693" y="422"/>
                    </a:cubicBezTo>
                    <a:lnTo>
                      <a:pt x="4534" y="0"/>
                    </a:lnTo>
                    <a:lnTo>
                      <a:pt x="4472" y="0"/>
                    </a:lnTo>
                    <a:lnTo>
                      <a:pt x="2304" y="421"/>
                    </a:lnTo>
                    <a:cubicBezTo>
                      <a:pt x="2283" y="425"/>
                      <a:pt x="2263" y="432"/>
                      <a:pt x="2246" y="442"/>
                    </a:cubicBezTo>
                    <a:cubicBezTo>
                      <a:pt x="2174" y="461"/>
                      <a:pt x="2125" y="520"/>
                      <a:pt x="2125" y="600"/>
                    </a:cubicBezTo>
                    <a:lnTo>
                      <a:pt x="2170" y="3573"/>
                    </a:lnTo>
                    <a:lnTo>
                      <a:pt x="179" y="3975"/>
                    </a:lnTo>
                    <a:cubicBezTo>
                      <a:pt x="158" y="3978"/>
                      <a:pt x="138" y="3987"/>
                      <a:pt x="121" y="3997"/>
                    </a:cubicBezTo>
                    <a:cubicBezTo>
                      <a:pt x="49" y="4017"/>
                      <a:pt x="0" y="4077"/>
                      <a:pt x="0" y="4160"/>
                    </a:cubicBezTo>
                    <a:lnTo>
                      <a:pt x="0" y="7186"/>
                    </a:lnTo>
                    <a:cubicBezTo>
                      <a:pt x="0" y="7269"/>
                      <a:pt x="50" y="7339"/>
                      <a:pt x="120" y="7356"/>
                    </a:cubicBezTo>
                    <a:lnTo>
                      <a:pt x="2414" y="8060"/>
                    </a:lnTo>
                    <a:lnTo>
                      <a:pt x="2465" y="8061"/>
                    </a:lnTo>
                    <a:lnTo>
                      <a:pt x="2513" y="8061"/>
                    </a:lnTo>
                    <a:lnTo>
                      <a:pt x="4620" y="7376"/>
                    </a:lnTo>
                    <a:lnTo>
                      <a:pt x="6848" y="8060"/>
                    </a:lnTo>
                    <a:lnTo>
                      <a:pt x="6899" y="8061"/>
                    </a:lnTo>
                    <a:lnTo>
                      <a:pt x="6947" y="8061"/>
                    </a:lnTo>
                    <a:lnTo>
                      <a:pt x="9080" y="7369"/>
                    </a:lnTo>
                    <a:cubicBezTo>
                      <a:pt x="9149" y="7334"/>
                      <a:pt x="9195" y="7266"/>
                      <a:pt x="9195" y="7201"/>
                    </a:cubicBezTo>
                    <a:lnTo>
                      <a:pt x="9195" y="4162"/>
                    </a:lnTo>
                    <a:cubicBezTo>
                      <a:pt x="9194" y="4071"/>
                      <a:pt x="9134" y="4007"/>
                      <a:pt x="9049" y="3996"/>
                    </a:cubicBezTo>
                    <a:close/>
                    <a:moveTo>
                      <a:pt x="2294" y="7654"/>
                    </a:moveTo>
                    <a:lnTo>
                      <a:pt x="342" y="7054"/>
                    </a:lnTo>
                    <a:lnTo>
                      <a:pt x="342" y="4359"/>
                    </a:lnTo>
                    <a:lnTo>
                      <a:pt x="2294" y="4840"/>
                    </a:lnTo>
                    <a:lnTo>
                      <a:pt x="2294" y="7654"/>
                    </a:lnTo>
                    <a:close/>
                    <a:moveTo>
                      <a:pt x="2423" y="4511"/>
                    </a:moveTo>
                    <a:lnTo>
                      <a:pt x="999" y="4165"/>
                    </a:lnTo>
                    <a:lnTo>
                      <a:pt x="2364" y="3886"/>
                    </a:lnTo>
                    <a:lnTo>
                      <a:pt x="3704" y="4181"/>
                    </a:lnTo>
                    <a:lnTo>
                      <a:pt x="2423" y="4511"/>
                    </a:lnTo>
                    <a:close/>
                    <a:moveTo>
                      <a:pt x="4419" y="7081"/>
                    </a:moveTo>
                    <a:lnTo>
                      <a:pt x="2637" y="7652"/>
                    </a:lnTo>
                    <a:lnTo>
                      <a:pt x="2637" y="4821"/>
                    </a:lnTo>
                    <a:lnTo>
                      <a:pt x="4419" y="4357"/>
                    </a:lnTo>
                    <a:lnTo>
                      <a:pt x="4419" y="7081"/>
                    </a:lnTo>
                    <a:close/>
                    <a:moveTo>
                      <a:pt x="4419" y="3947"/>
                    </a:moveTo>
                    <a:lnTo>
                      <a:pt x="2514" y="3562"/>
                    </a:lnTo>
                    <a:lnTo>
                      <a:pt x="2470" y="794"/>
                    </a:lnTo>
                    <a:lnTo>
                      <a:pt x="4419" y="1259"/>
                    </a:lnTo>
                    <a:lnTo>
                      <a:pt x="4419" y="3947"/>
                    </a:lnTo>
                    <a:close/>
                    <a:moveTo>
                      <a:pt x="4548" y="939"/>
                    </a:moveTo>
                    <a:lnTo>
                      <a:pt x="3129" y="605"/>
                    </a:lnTo>
                    <a:lnTo>
                      <a:pt x="4505" y="334"/>
                    </a:lnTo>
                    <a:lnTo>
                      <a:pt x="5887" y="606"/>
                    </a:lnTo>
                    <a:lnTo>
                      <a:pt x="4548" y="939"/>
                    </a:lnTo>
                    <a:close/>
                    <a:moveTo>
                      <a:pt x="4762" y="1240"/>
                    </a:moveTo>
                    <a:lnTo>
                      <a:pt x="6548" y="791"/>
                    </a:lnTo>
                    <a:lnTo>
                      <a:pt x="6587" y="3580"/>
                    </a:lnTo>
                    <a:lnTo>
                      <a:pt x="4762" y="3947"/>
                    </a:lnTo>
                    <a:lnTo>
                      <a:pt x="4762" y="1240"/>
                    </a:lnTo>
                    <a:close/>
                    <a:moveTo>
                      <a:pt x="6726" y="7654"/>
                    </a:moveTo>
                    <a:lnTo>
                      <a:pt x="4774" y="7054"/>
                    </a:lnTo>
                    <a:lnTo>
                      <a:pt x="4774" y="4359"/>
                    </a:lnTo>
                    <a:lnTo>
                      <a:pt x="6726" y="4840"/>
                    </a:lnTo>
                    <a:lnTo>
                      <a:pt x="6726" y="7654"/>
                    </a:lnTo>
                    <a:close/>
                    <a:moveTo>
                      <a:pt x="6855" y="4511"/>
                    </a:moveTo>
                    <a:lnTo>
                      <a:pt x="5459" y="4171"/>
                    </a:lnTo>
                    <a:lnTo>
                      <a:pt x="6111" y="4026"/>
                    </a:lnTo>
                    <a:lnTo>
                      <a:pt x="6814" y="3884"/>
                    </a:lnTo>
                    <a:lnTo>
                      <a:pt x="8199" y="4166"/>
                    </a:lnTo>
                    <a:lnTo>
                      <a:pt x="6855" y="4511"/>
                    </a:lnTo>
                    <a:close/>
                    <a:moveTo>
                      <a:pt x="8852" y="7081"/>
                    </a:moveTo>
                    <a:lnTo>
                      <a:pt x="7069" y="7654"/>
                    </a:lnTo>
                    <a:lnTo>
                      <a:pt x="7069" y="4821"/>
                    </a:lnTo>
                    <a:lnTo>
                      <a:pt x="8852" y="4357"/>
                    </a:lnTo>
                    <a:lnTo>
                      <a:pt x="8852" y="7081"/>
                    </a:lnTo>
                    <a:close/>
                  </a:path>
                </a:pathLst>
              </a:custGeom>
              <a:solidFill>
                <a:schemeClr val="accent1"/>
              </a:solidFill>
              <a:ln>
                <a:noFill/>
              </a:ln>
            </p:spPr>
            <p:txBody>
              <a:bodyPr wrap="square" lIns="91440" tIns="45720" rIns="91440" bIns="45720" anchor="ctr">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grpSp>
      </p:grpSp>
      <p:sp>
        <p:nvSpPr>
          <p:cNvPr id="2" name="标题 1"/>
          <p:cNvSpPr>
            <a:spLocks noGrp="1"/>
          </p:cNvSpPr>
          <p:nvPr>
            <p:ph type="title" hasCustomPrompt="1"/>
          </p:nvPr>
        </p:nvSpPr>
        <p:spPr/>
        <p:txBody>
          <a:bodyPr>
            <a:normAutofit/>
          </a:bodyPr>
          <a:lstStyle/>
          <a:p>
            <a:pPr marL="0" marR="0" lvl="0" indent="0" algn="l">
              <a:lnSpc>
                <a:spcPct val="100000"/>
              </a:lnSpc>
            </a:pPr>
            <a:r>
              <a:rPr lang="zh-CN" altLang="en-US" sz="2800" b="1" dirty="0">
                <a:solidFill>
                  <a:schemeClr val="accent1"/>
                </a:solidFill>
              </a:rPr>
              <a:t>Evaluation Metrics</a:t>
            </a:r>
            <a:endParaRPr lang="en-US" dirty="0"/>
          </a:p>
        </p:txBody>
      </p:sp>
      <p:sp>
        <p:nvSpPr>
          <p:cNvPr id="3" name="日期占位符 2"/>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6720caff-d6db-49a1-ade6-02a2334159cd.source.5.zh-Hans.pptx"/>
          <p:cNvGrpSpPr/>
          <p:nvPr/>
        </p:nvGrpSpPr>
        <p:grpSpPr>
          <a:xfrm>
            <a:off x="716591" y="1578087"/>
            <a:ext cx="10511689" cy="4149614"/>
            <a:chOff x="716591" y="1578087"/>
            <a:chExt cx="10511689" cy="4149614"/>
          </a:xfrm>
        </p:grpSpPr>
        <p:grpSp>
          <p:nvGrpSpPr>
            <p:cNvPr id="4" name="组合 3"/>
            <p:cNvGrpSpPr/>
            <p:nvPr/>
          </p:nvGrpSpPr>
          <p:grpSpPr>
            <a:xfrm>
              <a:off x="820163" y="1619294"/>
              <a:ext cx="6540809" cy="1893788"/>
              <a:chOff x="660400" y="2309282"/>
              <a:chExt cx="3206682" cy="1893788"/>
            </a:xfrm>
          </p:grpSpPr>
          <p:sp>
            <p:nvSpPr>
              <p:cNvPr id="62" name="椭圆 61"/>
              <p:cNvSpPr/>
              <p:nvPr/>
            </p:nvSpPr>
            <p:spPr>
              <a:xfrm>
                <a:off x="660400" y="2469574"/>
                <a:ext cx="159794" cy="15979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p>
                <a:pPr algn="ctr"/>
                <a:endParaRPr lang="zh-CN" altLang="en-US"/>
              </a:p>
            </p:txBody>
          </p:sp>
          <p:sp>
            <p:nvSpPr>
              <p:cNvPr id="63" name="Text1"/>
              <p:cNvSpPr/>
              <p:nvPr/>
            </p:nvSpPr>
            <p:spPr bwMode="auto">
              <a:xfrm>
                <a:off x="851575" y="2803309"/>
                <a:ext cx="3015507" cy="1399761"/>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a:lnSpc>
                    <a:spcPct val="120000"/>
                  </a:lnSpc>
                  <a:buFont typeface="Arial" panose="020B0604020202020204" pitchFamily="34" charset="0"/>
                  <a:buChar char="•"/>
                </a:pPr>
                <a:r>
                  <a:rPr lang="zh-CN" altLang="en-US" sz="1200" dirty="0">
                    <a:solidFill>
                      <a:schemeClr val="tx1"/>
                    </a:solidFill>
                  </a:rPr>
                  <a:t>This is because these two methods are most similar to COCA in their RCA workflow and can simultaneously support both root cause summarization and root cause localization. </a:t>
                </a:r>
                <a:endParaRPr lang="en-US" dirty="0"/>
              </a:p>
              <a:p>
                <a:pPr marL="171450" marR="0" lvl="0" indent="-171450" algn="l">
                  <a:lnSpc>
                    <a:spcPct val="120000"/>
                  </a:lnSpc>
                  <a:buFont typeface="Arial" panose="020B0604020202020204" pitchFamily="34" charset="0"/>
                  <a:buChar char="•"/>
                </a:pPr>
                <a:endParaRPr lang="en-US" dirty="0"/>
              </a:p>
              <a:p>
                <a:pPr marL="171450" marR="0" lvl="0" indent="-171450" algn="l">
                  <a:lnSpc>
                    <a:spcPct val="120000"/>
                  </a:lnSpc>
                  <a:buFont typeface="Arial" panose="020B0604020202020204" pitchFamily="34" charset="0"/>
                  <a:buChar char="•"/>
                </a:pPr>
                <a:r>
                  <a:rPr lang="zh-CN" altLang="en-US" sz="1200" dirty="0">
                    <a:solidFill>
                      <a:schemeClr val="tx1"/>
                    </a:solidFill>
                  </a:rPr>
                  <a:t>Furthermore, they both rely on historical issue reports as a knowledge source to improve diagnostic performance, making the comparison more targeted. </a:t>
                </a:r>
                <a:endParaRPr lang="en-US" dirty="0"/>
              </a:p>
            </p:txBody>
          </p:sp>
          <p:sp>
            <p:nvSpPr>
              <p:cNvPr id="64" name="Bullet1"/>
              <p:cNvSpPr txBox="1"/>
              <p:nvPr/>
            </p:nvSpPr>
            <p:spPr bwMode="auto">
              <a:xfrm>
                <a:off x="851575" y="2309282"/>
                <a:ext cx="2729825" cy="494028"/>
              </a:xfrm>
              <a:prstGeom prst="rect">
                <a:avLst/>
              </a:prstGeom>
              <a:noFill/>
              <a:ln>
                <a:noFill/>
              </a:ln>
            </p:spPr>
            <p:txBody>
              <a:bodyPr wrap="square" lIns="91440" tIns="45720" rIns="91440" bIns="45720" anchor="ctr" anchorCtr="0">
                <a:normAutofit fontScale="7778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a:r>
                  <a:rPr lang="zh-CN" altLang="en-US" sz="1800" b="1" dirty="0">
                    <a:solidFill>
                      <a:schemeClr val="tx1"/>
                    </a:solidFill>
                  </a:rPr>
                  <a:t>We selected RCACopilot  and ReAct as the primary baseline methods.</a:t>
                </a:r>
                <a:endParaRPr lang="en-US" dirty="0"/>
              </a:p>
            </p:txBody>
          </p:sp>
        </p:grpSp>
        <p:grpSp>
          <p:nvGrpSpPr>
            <p:cNvPr id="8" name="组合 7"/>
            <p:cNvGrpSpPr/>
            <p:nvPr/>
          </p:nvGrpSpPr>
          <p:grpSpPr>
            <a:xfrm>
              <a:off x="716591" y="4096247"/>
              <a:ext cx="6555192" cy="1429400"/>
              <a:chOff x="660400" y="2309282"/>
              <a:chExt cx="3182289" cy="1429400"/>
            </a:xfrm>
          </p:grpSpPr>
          <p:sp>
            <p:nvSpPr>
              <p:cNvPr id="39" name="椭圆 38"/>
              <p:cNvSpPr/>
              <p:nvPr/>
            </p:nvSpPr>
            <p:spPr>
              <a:xfrm>
                <a:off x="660400" y="2469574"/>
                <a:ext cx="159794" cy="15979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p>
                <a:pPr algn="ctr"/>
                <a:endParaRPr lang="zh-CN" altLang="en-US"/>
              </a:p>
            </p:txBody>
          </p:sp>
          <p:sp>
            <p:nvSpPr>
              <p:cNvPr id="40" name="Text5"/>
              <p:cNvSpPr/>
              <p:nvPr/>
            </p:nvSpPr>
            <p:spPr bwMode="auto">
              <a:xfrm>
                <a:off x="851575" y="2803309"/>
                <a:ext cx="2991114" cy="935373"/>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a:lnSpc>
                    <a:spcPct val="120000"/>
                  </a:lnSpc>
                </a:pPr>
                <a:r>
                  <a:rPr lang="zh-CN" altLang="en-US" sz="1200" dirty="0">
                    <a:solidFill>
                      <a:schemeClr val="tx1"/>
                    </a:solidFill>
                  </a:rPr>
                  <a:t>This involves providing a large language model with only five fixed examples to illustrate the task without using any additional analytical information. This comparison visually reflects the performance ceiling when relying solely on the model's own capabilities.</a:t>
                </a:r>
                <a:endParaRPr lang="en-US" dirty="0"/>
              </a:p>
            </p:txBody>
          </p:sp>
          <p:sp>
            <p:nvSpPr>
              <p:cNvPr id="41" name="Bullet5"/>
              <p:cNvSpPr txBox="1"/>
              <p:nvPr/>
            </p:nvSpPr>
            <p:spPr bwMode="auto">
              <a:xfrm>
                <a:off x="851575" y="2309282"/>
                <a:ext cx="2729825" cy="494028"/>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a:r>
                  <a:rPr lang="zh-CN" altLang="en-US" sz="1800" b="1" dirty="0">
                    <a:solidFill>
                      <a:schemeClr val="tx1"/>
                    </a:solidFill>
                  </a:rPr>
                  <a:t>Basic Model Comparison</a:t>
                </a:r>
                <a:endParaRPr lang="en-US" dirty="0"/>
              </a:p>
            </p:txBody>
          </p:sp>
        </p:grpSp>
        <p:grpSp>
          <p:nvGrpSpPr>
            <p:cNvPr id="10" name="组合 9"/>
            <p:cNvGrpSpPr/>
            <p:nvPr/>
          </p:nvGrpSpPr>
          <p:grpSpPr>
            <a:xfrm>
              <a:off x="7653131" y="1578087"/>
              <a:ext cx="3575149" cy="4149614"/>
              <a:chOff x="7325049" y="1538882"/>
              <a:chExt cx="3458454" cy="3625310"/>
            </a:xfrm>
          </p:grpSpPr>
          <p:grpSp>
            <p:nvGrpSpPr>
              <p:cNvPr id="11" name="组合 10"/>
              <p:cNvGrpSpPr/>
              <p:nvPr/>
            </p:nvGrpSpPr>
            <p:grpSpPr>
              <a:xfrm>
                <a:off x="7325049" y="1538882"/>
                <a:ext cx="3458454" cy="3625310"/>
                <a:chOff x="7325049" y="1538882"/>
                <a:chExt cx="3458454" cy="3625310"/>
              </a:xfrm>
            </p:grpSpPr>
            <p:sp>
              <p:nvSpPr>
                <p:cNvPr id="19" name="任意多边形: 形状 18"/>
                <p:cNvSpPr/>
                <p:nvPr/>
              </p:nvSpPr>
              <p:spPr bwMode="gray">
                <a:xfrm>
                  <a:off x="7601368" y="4077792"/>
                  <a:ext cx="2842122" cy="462375"/>
                </a:xfrm>
                <a:custGeom>
                  <a:avLst/>
                  <a:gdLst>
                    <a:gd name="T0" fmla="*/ 0 w 3947"/>
                    <a:gd name="T1" fmla="*/ 459 h 460"/>
                    <a:gd name="T2" fmla="*/ 3573 w 3947"/>
                    <a:gd name="T3" fmla="*/ 459 h 460"/>
                    <a:gd name="T4" fmla="*/ 3946 w 3947"/>
                    <a:gd name="T5" fmla="*/ 0 h 460"/>
                    <a:gd name="T6" fmla="*/ 505 w 3947"/>
                    <a:gd name="T7" fmla="*/ 0 h 460"/>
                    <a:gd name="T8" fmla="*/ 0 w 3947"/>
                    <a:gd name="T9" fmla="*/ 459 h 460"/>
                  </a:gdLst>
                  <a:ahLst/>
                  <a:cxnLst>
                    <a:cxn ang="0">
                      <a:pos x="T0" y="T1"/>
                    </a:cxn>
                    <a:cxn ang="0">
                      <a:pos x="T2" y="T3"/>
                    </a:cxn>
                    <a:cxn ang="0">
                      <a:pos x="T4" y="T5"/>
                    </a:cxn>
                    <a:cxn ang="0">
                      <a:pos x="T6" y="T7"/>
                    </a:cxn>
                    <a:cxn ang="0">
                      <a:pos x="T8" y="T9"/>
                    </a:cxn>
                  </a:cxnLst>
                  <a:rect l="0" t="0" r="r" b="b"/>
                  <a:pathLst>
                    <a:path w="3947" h="460">
                      <a:moveTo>
                        <a:pt x="0" y="459"/>
                      </a:moveTo>
                      <a:lnTo>
                        <a:pt x="3573" y="459"/>
                      </a:lnTo>
                      <a:lnTo>
                        <a:pt x="3946" y="0"/>
                      </a:lnTo>
                      <a:lnTo>
                        <a:pt x="505" y="0"/>
                      </a:lnTo>
                      <a:lnTo>
                        <a:pt x="0" y="459"/>
                      </a:lnTo>
                    </a:path>
                  </a:pathLst>
                </a:custGeom>
                <a:solidFill>
                  <a:schemeClr val="bg1">
                    <a:lumMod val="85000"/>
                  </a:schemeClr>
                </a:solidFill>
                <a:ln>
                  <a:noFill/>
                </a:ln>
                <a:effectLst/>
              </p:spPr>
              <p:txBody>
                <a:bodyPr wrap="square" lIns="91440" tIns="45720" rIns="91440" bIns="45720" anchor="ctr">
                  <a:normAutofit/>
                </a:bodyPr>
                <a:lstStyle/>
                <a:p>
                  <a:pPr algn="ctr"/>
                  <a:endParaRPr/>
                </a:p>
              </p:txBody>
            </p:sp>
            <p:sp>
              <p:nvSpPr>
                <p:cNvPr id="20" name="任意多边形: 形状 19"/>
                <p:cNvSpPr/>
                <p:nvPr/>
              </p:nvSpPr>
              <p:spPr bwMode="gray">
                <a:xfrm>
                  <a:off x="9854968" y="3463798"/>
                  <a:ext cx="539178" cy="982393"/>
                </a:xfrm>
                <a:custGeom>
                  <a:avLst/>
                  <a:gdLst>
                    <a:gd name="T0" fmla="*/ 382 w 749"/>
                    <a:gd name="T1" fmla="*/ 976 h 977"/>
                    <a:gd name="T2" fmla="*/ 0 w 749"/>
                    <a:gd name="T3" fmla="*/ 342 h 977"/>
                    <a:gd name="T4" fmla="*/ 280 w 749"/>
                    <a:gd name="T5" fmla="*/ 0 h 977"/>
                    <a:gd name="T6" fmla="*/ 748 w 749"/>
                    <a:gd name="T7" fmla="*/ 538 h 977"/>
                    <a:gd name="T8" fmla="*/ 382 w 749"/>
                    <a:gd name="T9" fmla="*/ 976 h 977"/>
                  </a:gdLst>
                  <a:ahLst/>
                  <a:cxnLst>
                    <a:cxn ang="0">
                      <a:pos x="T0" y="T1"/>
                    </a:cxn>
                    <a:cxn ang="0">
                      <a:pos x="T2" y="T3"/>
                    </a:cxn>
                    <a:cxn ang="0">
                      <a:pos x="T4" y="T5"/>
                    </a:cxn>
                    <a:cxn ang="0">
                      <a:pos x="T6" y="T7"/>
                    </a:cxn>
                    <a:cxn ang="0">
                      <a:pos x="T8" y="T9"/>
                    </a:cxn>
                  </a:cxnLst>
                  <a:rect l="0" t="0" r="r" b="b"/>
                  <a:pathLst>
                    <a:path w="749" h="977">
                      <a:moveTo>
                        <a:pt x="382" y="976"/>
                      </a:moveTo>
                      <a:lnTo>
                        <a:pt x="0" y="342"/>
                      </a:lnTo>
                      <a:lnTo>
                        <a:pt x="280" y="0"/>
                      </a:lnTo>
                      <a:lnTo>
                        <a:pt x="748" y="538"/>
                      </a:lnTo>
                      <a:lnTo>
                        <a:pt x="382" y="976"/>
                      </a:lnTo>
                    </a:path>
                  </a:pathLst>
                </a:custGeom>
                <a:solidFill>
                  <a:schemeClr val="accent1">
                    <a:lumMod val="75000"/>
                  </a:schemeClr>
                </a:solidFill>
                <a:ln>
                  <a:noFill/>
                </a:ln>
                <a:effectLst/>
              </p:spPr>
              <p:txBody>
                <a:bodyPr wrap="square" lIns="91440" tIns="45720" rIns="91440" bIns="45720" anchor="ctr">
                  <a:normAutofit/>
                </a:bodyPr>
                <a:lstStyle/>
                <a:p>
                  <a:pPr algn="ctr"/>
                  <a:endParaRPr/>
                </a:p>
              </p:txBody>
            </p:sp>
            <p:sp>
              <p:nvSpPr>
                <p:cNvPr id="21" name="任意多边形: 形状 20"/>
                <p:cNvSpPr/>
                <p:nvPr/>
              </p:nvSpPr>
              <p:spPr bwMode="gray">
                <a:xfrm>
                  <a:off x="7924335" y="3463798"/>
                  <a:ext cx="2135181" cy="345843"/>
                </a:xfrm>
                <a:custGeom>
                  <a:avLst/>
                  <a:gdLst>
                    <a:gd name="T0" fmla="*/ 0 w 2964"/>
                    <a:gd name="T1" fmla="*/ 343 h 344"/>
                    <a:gd name="T2" fmla="*/ 2684 w 2964"/>
                    <a:gd name="T3" fmla="*/ 343 h 344"/>
                    <a:gd name="T4" fmla="*/ 2963 w 2964"/>
                    <a:gd name="T5" fmla="*/ 0 h 344"/>
                    <a:gd name="T6" fmla="*/ 531 w 2964"/>
                    <a:gd name="T7" fmla="*/ 1 h 344"/>
                    <a:gd name="T8" fmla="*/ 0 w 2964"/>
                    <a:gd name="T9" fmla="*/ 343 h 344"/>
                  </a:gdLst>
                  <a:ahLst/>
                  <a:cxnLst>
                    <a:cxn ang="0">
                      <a:pos x="T0" y="T1"/>
                    </a:cxn>
                    <a:cxn ang="0">
                      <a:pos x="T2" y="T3"/>
                    </a:cxn>
                    <a:cxn ang="0">
                      <a:pos x="T4" y="T5"/>
                    </a:cxn>
                    <a:cxn ang="0">
                      <a:pos x="T6" y="T7"/>
                    </a:cxn>
                    <a:cxn ang="0">
                      <a:pos x="T8" y="T9"/>
                    </a:cxn>
                  </a:cxnLst>
                  <a:rect l="0" t="0" r="r" b="b"/>
                  <a:pathLst>
                    <a:path w="2964" h="344">
                      <a:moveTo>
                        <a:pt x="0" y="343"/>
                      </a:moveTo>
                      <a:lnTo>
                        <a:pt x="2684" y="343"/>
                      </a:lnTo>
                      <a:lnTo>
                        <a:pt x="2963" y="0"/>
                      </a:lnTo>
                      <a:lnTo>
                        <a:pt x="531" y="1"/>
                      </a:lnTo>
                      <a:lnTo>
                        <a:pt x="0" y="343"/>
                      </a:lnTo>
                    </a:path>
                  </a:pathLst>
                </a:custGeom>
                <a:solidFill>
                  <a:schemeClr val="accent1">
                    <a:lumMod val="60000"/>
                    <a:lumOff val="40000"/>
                  </a:schemeClr>
                </a:solidFill>
                <a:ln>
                  <a:noFill/>
                </a:ln>
                <a:effectLst/>
              </p:spPr>
              <p:txBody>
                <a:bodyPr wrap="square" lIns="91440" tIns="45720" rIns="91440" bIns="45720" anchor="ctr">
                  <a:normAutofit/>
                </a:bodyPr>
                <a:lstStyle/>
                <a:p>
                  <a:pPr algn="ctr"/>
                  <a:endParaRPr/>
                </a:p>
              </p:txBody>
            </p:sp>
            <p:sp>
              <p:nvSpPr>
                <p:cNvPr id="22" name="任意多边形: 形状 21"/>
                <p:cNvSpPr/>
                <p:nvPr/>
              </p:nvSpPr>
              <p:spPr bwMode="gray">
                <a:xfrm>
                  <a:off x="7654298" y="3808387"/>
                  <a:ext cx="2478783" cy="637804"/>
                </a:xfrm>
                <a:custGeom>
                  <a:avLst/>
                  <a:gdLst>
                    <a:gd name="T0" fmla="*/ 0 w 3443"/>
                    <a:gd name="T1" fmla="*/ 633 h 634"/>
                    <a:gd name="T2" fmla="*/ 3442 w 3443"/>
                    <a:gd name="T3" fmla="*/ 633 h 634"/>
                    <a:gd name="T4" fmla="*/ 3060 w 3443"/>
                    <a:gd name="T5" fmla="*/ 0 h 634"/>
                    <a:gd name="T6" fmla="*/ 377 w 3443"/>
                    <a:gd name="T7" fmla="*/ 0 h 634"/>
                    <a:gd name="T8" fmla="*/ 0 w 3443"/>
                    <a:gd name="T9" fmla="*/ 633 h 634"/>
                  </a:gdLst>
                  <a:ahLst/>
                  <a:cxnLst>
                    <a:cxn ang="0">
                      <a:pos x="T0" y="T1"/>
                    </a:cxn>
                    <a:cxn ang="0">
                      <a:pos x="T2" y="T3"/>
                    </a:cxn>
                    <a:cxn ang="0">
                      <a:pos x="T4" y="T5"/>
                    </a:cxn>
                    <a:cxn ang="0">
                      <a:pos x="T6" y="T7"/>
                    </a:cxn>
                    <a:cxn ang="0">
                      <a:pos x="T8" y="T9"/>
                    </a:cxn>
                  </a:cxnLst>
                  <a:rect l="0" t="0" r="r" b="b"/>
                  <a:pathLst>
                    <a:path w="3443" h="634">
                      <a:moveTo>
                        <a:pt x="0" y="633"/>
                      </a:moveTo>
                      <a:lnTo>
                        <a:pt x="3442" y="633"/>
                      </a:lnTo>
                      <a:lnTo>
                        <a:pt x="3060" y="0"/>
                      </a:lnTo>
                      <a:lnTo>
                        <a:pt x="377" y="0"/>
                      </a:lnTo>
                      <a:lnTo>
                        <a:pt x="0" y="633"/>
                      </a:lnTo>
                    </a:path>
                  </a:pathLst>
                </a:custGeom>
                <a:solidFill>
                  <a:schemeClr val="accent1"/>
                </a:solidFill>
                <a:ln>
                  <a:noFill/>
                </a:ln>
                <a:effectLst/>
              </p:spPr>
              <p:txBody>
                <a:bodyPr wrap="square" lIns="91440" tIns="45720" rIns="91440" bIns="45720" anchor="ctr">
                  <a:normAutofit/>
                </a:bodyPr>
                <a:lstStyle/>
                <a:p>
                  <a:pPr algn="ctr"/>
                  <a:endParaRPr/>
                </a:p>
              </p:txBody>
            </p:sp>
            <p:sp>
              <p:nvSpPr>
                <p:cNvPr id="23" name="任意多边形: 形状 22"/>
                <p:cNvSpPr/>
                <p:nvPr/>
              </p:nvSpPr>
              <p:spPr bwMode="gray">
                <a:xfrm>
                  <a:off x="8245513" y="2856070"/>
                  <a:ext cx="1425548" cy="230563"/>
                </a:xfrm>
                <a:custGeom>
                  <a:avLst/>
                  <a:gdLst>
                    <a:gd name="T0" fmla="*/ 0 w 1980"/>
                    <a:gd name="T1" fmla="*/ 228 h 229"/>
                    <a:gd name="T2" fmla="*/ 1791 w 1980"/>
                    <a:gd name="T3" fmla="*/ 228 h 229"/>
                    <a:gd name="T4" fmla="*/ 1979 w 1980"/>
                    <a:gd name="T5" fmla="*/ 0 h 229"/>
                    <a:gd name="T6" fmla="*/ 500 w 1980"/>
                    <a:gd name="T7" fmla="*/ 0 h 229"/>
                    <a:gd name="T8" fmla="*/ 0 w 1980"/>
                    <a:gd name="T9" fmla="*/ 228 h 229"/>
                  </a:gdLst>
                  <a:ahLst/>
                  <a:cxnLst>
                    <a:cxn ang="0">
                      <a:pos x="T0" y="T1"/>
                    </a:cxn>
                    <a:cxn ang="0">
                      <a:pos x="T2" y="T3"/>
                    </a:cxn>
                    <a:cxn ang="0">
                      <a:pos x="T4" y="T5"/>
                    </a:cxn>
                    <a:cxn ang="0">
                      <a:pos x="T6" y="T7"/>
                    </a:cxn>
                    <a:cxn ang="0">
                      <a:pos x="T8" y="T9"/>
                    </a:cxn>
                  </a:cxnLst>
                  <a:rect l="0" t="0" r="r" b="b"/>
                  <a:pathLst>
                    <a:path w="1980" h="229">
                      <a:moveTo>
                        <a:pt x="0" y="228"/>
                      </a:moveTo>
                      <a:lnTo>
                        <a:pt x="1791" y="228"/>
                      </a:lnTo>
                      <a:lnTo>
                        <a:pt x="1979" y="0"/>
                      </a:lnTo>
                      <a:lnTo>
                        <a:pt x="500" y="0"/>
                      </a:lnTo>
                      <a:lnTo>
                        <a:pt x="0" y="228"/>
                      </a:lnTo>
                    </a:path>
                  </a:pathLst>
                </a:custGeom>
                <a:solidFill>
                  <a:schemeClr val="bg1">
                    <a:lumMod val="85000"/>
                  </a:schemeClr>
                </a:solidFill>
                <a:ln>
                  <a:noFill/>
                </a:ln>
                <a:effectLst/>
              </p:spPr>
              <p:txBody>
                <a:bodyPr wrap="square" lIns="91440" tIns="45720" rIns="91440" bIns="45720" anchor="ctr">
                  <a:normAutofit fontScale="77500" lnSpcReduction="20000"/>
                </a:bodyPr>
                <a:lstStyle/>
                <a:p>
                  <a:pPr algn="ctr"/>
                  <a:endParaRPr/>
                </a:p>
              </p:txBody>
            </p:sp>
            <p:sp>
              <p:nvSpPr>
                <p:cNvPr id="24" name="任意多边形: 形状 23"/>
                <p:cNvSpPr/>
                <p:nvPr/>
              </p:nvSpPr>
              <p:spPr bwMode="gray">
                <a:xfrm>
                  <a:off x="8572069" y="2239563"/>
                  <a:ext cx="711427" cy="111522"/>
                </a:xfrm>
                <a:custGeom>
                  <a:avLst/>
                  <a:gdLst>
                    <a:gd name="T0" fmla="*/ 0 w 987"/>
                    <a:gd name="T1" fmla="*/ 109 h 110"/>
                    <a:gd name="T2" fmla="*/ 889 w 987"/>
                    <a:gd name="T3" fmla="*/ 109 h 110"/>
                    <a:gd name="T4" fmla="*/ 986 w 987"/>
                    <a:gd name="T5" fmla="*/ 0 h 110"/>
                    <a:gd name="T6" fmla="*/ 308 w 987"/>
                    <a:gd name="T7" fmla="*/ 0 h 110"/>
                    <a:gd name="T8" fmla="*/ 0 w 987"/>
                    <a:gd name="T9" fmla="*/ 109 h 110"/>
                  </a:gdLst>
                  <a:ahLst/>
                  <a:cxnLst>
                    <a:cxn ang="0">
                      <a:pos x="T0" y="T1"/>
                    </a:cxn>
                    <a:cxn ang="0">
                      <a:pos x="T2" y="T3"/>
                    </a:cxn>
                    <a:cxn ang="0">
                      <a:pos x="T4" y="T5"/>
                    </a:cxn>
                    <a:cxn ang="0">
                      <a:pos x="T6" y="T7"/>
                    </a:cxn>
                    <a:cxn ang="0">
                      <a:pos x="T8" y="T9"/>
                    </a:cxn>
                  </a:cxnLst>
                  <a:rect l="0" t="0" r="r" b="b"/>
                  <a:pathLst>
                    <a:path w="987" h="110">
                      <a:moveTo>
                        <a:pt x="0" y="109"/>
                      </a:moveTo>
                      <a:lnTo>
                        <a:pt x="889" y="109"/>
                      </a:lnTo>
                      <a:lnTo>
                        <a:pt x="986" y="0"/>
                      </a:lnTo>
                      <a:lnTo>
                        <a:pt x="308" y="0"/>
                      </a:lnTo>
                      <a:lnTo>
                        <a:pt x="0" y="109"/>
                      </a:lnTo>
                    </a:path>
                  </a:pathLst>
                </a:custGeom>
                <a:solidFill>
                  <a:schemeClr val="bg1">
                    <a:lumMod val="85000"/>
                  </a:schemeClr>
                </a:solidFill>
                <a:ln>
                  <a:noFill/>
                </a:ln>
                <a:effectLst/>
              </p:spPr>
              <p:txBody>
                <a:bodyPr wrap="square" lIns="91440" tIns="45720" rIns="91440" bIns="45720" anchor="ctr">
                  <a:normAutofit fontScale="25000" lnSpcReduction="20000"/>
                </a:bodyPr>
                <a:lstStyle/>
                <a:p>
                  <a:pPr algn="ctr"/>
                  <a:endParaRPr/>
                </a:p>
              </p:txBody>
            </p:sp>
            <p:sp>
              <p:nvSpPr>
                <p:cNvPr id="25" name="任意多边形: 形状 24"/>
                <p:cNvSpPr/>
                <p:nvPr/>
              </p:nvSpPr>
              <p:spPr bwMode="gray">
                <a:xfrm>
                  <a:off x="10173451" y="4077792"/>
                  <a:ext cx="610052" cy="1085142"/>
                </a:xfrm>
                <a:custGeom>
                  <a:avLst/>
                  <a:gdLst>
                    <a:gd name="T0" fmla="*/ 399 w 847"/>
                    <a:gd name="T1" fmla="*/ 1078 h 1079"/>
                    <a:gd name="T2" fmla="*/ 0 w 847"/>
                    <a:gd name="T3" fmla="*/ 459 h 1079"/>
                    <a:gd name="T4" fmla="*/ 374 w 847"/>
                    <a:gd name="T5" fmla="*/ 0 h 1079"/>
                    <a:gd name="T6" fmla="*/ 846 w 847"/>
                    <a:gd name="T7" fmla="*/ 536 h 1079"/>
                    <a:gd name="T8" fmla="*/ 399 w 847"/>
                    <a:gd name="T9" fmla="*/ 1078 h 1079"/>
                  </a:gdLst>
                  <a:ahLst/>
                  <a:cxnLst>
                    <a:cxn ang="0">
                      <a:pos x="T0" y="T1"/>
                    </a:cxn>
                    <a:cxn ang="0">
                      <a:pos x="T2" y="T3"/>
                    </a:cxn>
                    <a:cxn ang="0">
                      <a:pos x="T4" y="T5"/>
                    </a:cxn>
                    <a:cxn ang="0">
                      <a:pos x="T6" y="T7"/>
                    </a:cxn>
                    <a:cxn ang="0">
                      <a:pos x="T8" y="T9"/>
                    </a:cxn>
                  </a:cxnLst>
                  <a:rect l="0" t="0" r="r" b="b"/>
                  <a:pathLst>
                    <a:path w="847" h="1079">
                      <a:moveTo>
                        <a:pt x="399" y="1078"/>
                      </a:moveTo>
                      <a:lnTo>
                        <a:pt x="0" y="459"/>
                      </a:lnTo>
                      <a:lnTo>
                        <a:pt x="374" y="0"/>
                      </a:lnTo>
                      <a:lnTo>
                        <a:pt x="846" y="536"/>
                      </a:lnTo>
                      <a:lnTo>
                        <a:pt x="399" y="1078"/>
                      </a:lnTo>
                    </a:path>
                  </a:pathLst>
                </a:custGeom>
                <a:solidFill>
                  <a:schemeClr val="bg2">
                    <a:lumMod val="75000"/>
                  </a:schemeClr>
                </a:solidFill>
                <a:ln>
                  <a:noFill/>
                </a:ln>
                <a:effectLst/>
              </p:spPr>
              <p:txBody>
                <a:bodyPr wrap="square" lIns="91440" tIns="45720" rIns="91440" bIns="45720" anchor="ctr">
                  <a:normAutofit/>
                </a:bodyPr>
                <a:lstStyle/>
                <a:p>
                  <a:pPr algn="ctr"/>
                  <a:endParaRPr/>
                </a:p>
              </p:txBody>
            </p:sp>
            <p:sp>
              <p:nvSpPr>
                <p:cNvPr id="26" name="任意多边形: 形状 25"/>
                <p:cNvSpPr/>
                <p:nvPr/>
              </p:nvSpPr>
              <p:spPr bwMode="gray">
                <a:xfrm>
                  <a:off x="9528496" y="2856068"/>
                  <a:ext cx="471894" cy="853332"/>
                </a:xfrm>
                <a:custGeom>
                  <a:avLst/>
                  <a:gdLst>
                    <a:gd name="T0" fmla="*/ 0 w 655"/>
                    <a:gd name="T1" fmla="*/ 230 h 849"/>
                    <a:gd name="T2" fmla="*/ 387 w 655"/>
                    <a:gd name="T3" fmla="*/ 848 h 849"/>
                    <a:gd name="T4" fmla="*/ 654 w 655"/>
                    <a:gd name="T5" fmla="*/ 531 h 849"/>
                    <a:gd name="T6" fmla="*/ 188 w 655"/>
                    <a:gd name="T7" fmla="*/ 0 h 849"/>
                    <a:gd name="T8" fmla="*/ 0 w 655"/>
                    <a:gd name="T9" fmla="*/ 230 h 849"/>
                  </a:gdLst>
                  <a:ahLst/>
                  <a:cxnLst>
                    <a:cxn ang="0">
                      <a:pos x="T0" y="T1"/>
                    </a:cxn>
                    <a:cxn ang="0">
                      <a:pos x="T2" y="T3"/>
                    </a:cxn>
                    <a:cxn ang="0">
                      <a:pos x="T4" y="T5"/>
                    </a:cxn>
                    <a:cxn ang="0">
                      <a:pos x="T6" y="T7"/>
                    </a:cxn>
                    <a:cxn ang="0">
                      <a:pos x="T8" y="T9"/>
                    </a:cxn>
                  </a:cxnLst>
                  <a:rect l="0" t="0" r="r" b="b"/>
                  <a:pathLst>
                    <a:path w="655" h="849">
                      <a:moveTo>
                        <a:pt x="0" y="230"/>
                      </a:moveTo>
                      <a:lnTo>
                        <a:pt x="387" y="848"/>
                      </a:lnTo>
                      <a:lnTo>
                        <a:pt x="654" y="531"/>
                      </a:lnTo>
                      <a:lnTo>
                        <a:pt x="188" y="0"/>
                      </a:lnTo>
                      <a:lnTo>
                        <a:pt x="0" y="230"/>
                      </a:lnTo>
                    </a:path>
                  </a:pathLst>
                </a:custGeom>
                <a:solidFill>
                  <a:schemeClr val="bg2">
                    <a:lumMod val="75000"/>
                  </a:schemeClr>
                </a:solidFill>
                <a:ln>
                  <a:noFill/>
                </a:ln>
                <a:effectLst/>
              </p:spPr>
              <p:txBody>
                <a:bodyPr wrap="square" lIns="91440" tIns="45720" rIns="91440" bIns="45720" anchor="ctr">
                  <a:normAutofit/>
                </a:bodyPr>
                <a:lstStyle/>
                <a:p>
                  <a:pPr algn="ctr"/>
                  <a:endParaRPr/>
                </a:p>
              </p:txBody>
            </p:sp>
            <p:sp>
              <p:nvSpPr>
                <p:cNvPr id="27" name="任意多边形: 形状 26"/>
                <p:cNvSpPr/>
                <p:nvPr/>
              </p:nvSpPr>
              <p:spPr bwMode="gray">
                <a:xfrm>
                  <a:off x="9214417" y="2239565"/>
                  <a:ext cx="406401" cy="743060"/>
                </a:xfrm>
                <a:custGeom>
                  <a:avLst/>
                  <a:gdLst>
                    <a:gd name="T0" fmla="*/ 385 w 564"/>
                    <a:gd name="T1" fmla="*/ 737 h 738"/>
                    <a:gd name="T2" fmla="*/ 563 w 564"/>
                    <a:gd name="T3" fmla="*/ 527 h 738"/>
                    <a:gd name="T4" fmla="*/ 97 w 564"/>
                    <a:gd name="T5" fmla="*/ 0 h 738"/>
                    <a:gd name="T6" fmla="*/ 0 w 564"/>
                    <a:gd name="T7" fmla="*/ 111 h 738"/>
                    <a:gd name="T8" fmla="*/ 385 w 564"/>
                    <a:gd name="T9" fmla="*/ 737 h 738"/>
                  </a:gdLst>
                  <a:ahLst/>
                  <a:cxnLst>
                    <a:cxn ang="0">
                      <a:pos x="T0" y="T1"/>
                    </a:cxn>
                    <a:cxn ang="0">
                      <a:pos x="T2" y="T3"/>
                    </a:cxn>
                    <a:cxn ang="0">
                      <a:pos x="T4" y="T5"/>
                    </a:cxn>
                    <a:cxn ang="0">
                      <a:pos x="T6" y="T7"/>
                    </a:cxn>
                    <a:cxn ang="0">
                      <a:pos x="T8" y="T9"/>
                    </a:cxn>
                  </a:cxnLst>
                  <a:rect l="0" t="0" r="r" b="b"/>
                  <a:pathLst>
                    <a:path w="564" h="738">
                      <a:moveTo>
                        <a:pt x="385" y="737"/>
                      </a:moveTo>
                      <a:lnTo>
                        <a:pt x="563" y="527"/>
                      </a:lnTo>
                      <a:lnTo>
                        <a:pt x="97" y="0"/>
                      </a:lnTo>
                      <a:lnTo>
                        <a:pt x="0" y="111"/>
                      </a:lnTo>
                      <a:lnTo>
                        <a:pt x="385" y="737"/>
                      </a:lnTo>
                    </a:path>
                  </a:pathLst>
                </a:custGeom>
                <a:solidFill>
                  <a:schemeClr val="bg2">
                    <a:lumMod val="75000"/>
                  </a:schemeClr>
                </a:solidFill>
                <a:ln>
                  <a:noFill/>
                </a:ln>
                <a:effectLst/>
              </p:spPr>
              <p:txBody>
                <a:bodyPr wrap="square" lIns="91440" tIns="45720" rIns="91440" bIns="45720" anchor="ctr">
                  <a:normAutofit/>
                </a:bodyPr>
                <a:lstStyle/>
                <a:p>
                  <a:pPr algn="ctr"/>
                  <a:endParaRPr/>
                </a:p>
              </p:txBody>
            </p:sp>
            <p:sp>
              <p:nvSpPr>
                <p:cNvPr id="29" name="任意多边形: 形状 28"/>
                <p:cNvSpPr/>
                <p:nvPr/>
              </p:nvSpPr>
              <p:spPr bwMode="gray">
                <a:xfrm>
                  <a:off x="7325049" y="4537665"/>
                  <a:ext cx="3137279" cy="626527"/>
                </a:xfrm>
                <a:custGeom>
                  <a:avLst/>
                  <a:gdLst>
                    <a:gd name="T0" fmla="*/ 383 w 4357"/>
                    <a:gd name="T1" fmla="*/ 0 h 623"/>
                    <a:gd name="T2" fmla="*/ 3954 w 4357"/>
                    <a:gd name="T3" fmla="*/ 0 h 623"/>
                    <a:gd name="T4" fmla="*/ 4356 w 4357"/>
                    <a:gd name="T5" fmla="*/ 622 h 623"/>
                    <a:gd name="T6" fmla="*/ 0 w 4357"/>
                    <a:gd name="T7" fmla="*/ 622 h 623"/>
                    <a:gd name="T8" fmla="*/ 383 w 4357"/>
                    <a:gd name="T9" fmla="*/ 0 h 623"/>
                  </a:gdLst>
                  <a:ahLst/>
                  <a:cxnLst>
                    <a:cxn ang="0">
                      <a:pos x="T0" y="T1"/>
                    </a:cxn>
                    <a:cxn ang="0">
                      <a:pos x="T2" y="T3"/>
                    </a:cxn>
                    <a:cxn ang="0">
                      <a:pos x="T4" y="T5"/>
                    </a:cxn>
                    <a:cxn ang="0">
                      <a:pos x="T6" y="T7"/>
                    </a:cxn>
                    <a:cxn ang="0">
                      <a:pos x="T8" y="T9"/>
                    </a:cxn>
                  </a:cxnLst>
                  <a:rect l="0" t="0" r="r" b="b"/>
                  <a:pathLst>
                    <a:path w="4357" h="623">
                      <a:moveTo>
                        <a:pt x="383" y="0"/>
                      </a:moveTo>
                      <a:lnTo>
                        <a:pt x="3954" y="0"/>
                      </a:lnTo>
                      <a:lnTo>
                        <a:pt x="4356" y="622"/>
                      </a:lnTo>
                      <a:lnTo>
                        <a:pt x="0" y="622"/>
                      </a:lnTo>
                      <a:lnTo>
                        <a:pt x="383" y="0"/>
                      </a:lnTo>
                    </a:path>
                  </a:pathLst>
                </a:custGeom>
                <a:solidFill>
                  <a:schemeClr val="bg2"/>
                </a:solidFill>
                <a:ln>
                  <a:noFill/>
                </a:ln>
                <a:effectLst/>
              </p:spPr>
              <p:txBody>
                <a:bodyPr wrap="square" lIns="91440" tIns="45720" rIns="91440" bIns="45720" anchor="ctr">
                  <a:normAutofit/>
                </a:bodyPr>
                <a:lstStyle/>
                <a:p>
                  <a:pPr algn="ctr"/>
                  <a:endParaRPr/>
                </a:p>
              </p:txBody>
            </p:sp>
            <p:sp>
              <p:nvSpPr>
                <p:cNvPr id="30" name="任意多边形: 形状 29"/>
                <p:cNvSpPr/>
                <p:nvPr/>
              </p:nvSpPr>
              <p:spPr bwMode="gray">
                <a:xfrm>
                  <a:off x="7970989" y="3085381"/>
                  <a:ext cx="1844511" cy="624023"/>
                </a:xfrm>
                <a:custGeom>
                  <a:avLst/>
                  <a:gdLst>
                    <a:gd name="T0" fmla="*/ 0 w 2561"/>
                    <a:gd name="T1" fmla="*/ 620 h 621"/>
                    <a:gd name="T2" fmla="*/ 2560 w 2561"/>
                    <a:gd name="T3" fmla="*/ 620 h 621"/>
                    <a:gd name="T4" fmla="*/ 2172 w 2561"/>
                    <a:gd name="T5" fmla="*/ 0 h 621"/>
                    <a:gd name="T6" fmla="*/ 382 w 2561"/>
                    <a:gd name="T7" fmla="*/ 0 h 621"/>
                    <a:gd name="T8" fmla="*/ 0 w 2561"/>
                    <a:gd name="T9" fmla="*/ 620 h 621"/>
                  </a:gdLst>
                  <a:ahLst/>
                  <a:cxnLst>
                    <a:cxn ang="0">
                      <a:pos x="T0" y="T1"/>
                    </a:cxn>
                    <a:cxn ang="0">
                      <a:pos x="T2" y="T3"/>
                    </a:cxn>
                    <a:cxn ang="0">
                      <a:pos x="T4" y="T5"/>
                    </a:cxn>
                    <a:cxn ang="0">
                      <a:pos x="T6" y="T7"/>
                    </a:cxn>
                    <a:cxn ang="0">
                      <a:pos x="T8" y="T9"/>
                    </a:cxn>
                  </a:cxnLst>
                  <a:rect l="0" t="0" r="r" b="b"/>
                  <a:pathLst>
                    <a:path w="2561" h="621">
                      <a:moveTo>
                        <a:pt x="0" y="620"/>
                      </a:moveTo>
                      <a:lnTo>
                        <a:pt x="2560" y="620"/>
                      </a:lnTo>
                      <a:lnTo>
                        <a:pt x="2172" y="0"/>
                      </a:lnTo>
                      <a:lnTo>
                        <a:pt x="382" y="0"/>
                      </a:lnTo>
                      <a:lnTo>
                        <a:pt x="0" y="620"/>
                      </a:lnTo>
                    </a:path>
                  </a:pathLst>
                </a:custGeom>
                <a:solidFill>
                  <a:schemeClr val="bg2"/>
                </a:solidFill>
                <a:ln>
                  <a:noFill/>
                </a:ln>
                <a:effectLst/>
              </p:spPr>
              <p:txBody>
                <a:bodyPr wrap="square" lIns="91440" tIns="45720" rIns="91440" bIns="45720" anchor="ctr">
                  <a:normAutofit/>
                </a:bodyPr>
                <a:lstStyle/>
                <a:p>
                  <a:pPr algn="ctr"/>
                  <a:endParaRPr/>
                </a:p>
              </p:txBody>
            </p:sp>
            <p:sp>
              <p:nvSpPr>
                <p:cNvPr id="31" name="任意多边形: 形状 30"/>
                <p:cNvSpPr/>
                <p:nvPr/>
              </p:nvSpPr>
              <p:spPr bwMode="gray">
                <a:xfrm>
                  <a:off x="8292162" y="2349830"/>
                  <a:ext cx="1201262" cy="632792"/>
                </a:xfrm>
                <a:custGeom>
                  <a:avLst/>
                  <a:gdLst>
                    <a:gd name="T0" fmla="*/ 0 w 1669"/>
                    <a:gd name="T1" fmla="*/ 628 h 629"/>
                    <a:gd name="T2" fmla="*/ 1668 w 1669"/>
                    <a:gd name="T3" fmla="*/ 628 h 629"/>
                    <a:gd name="T4" fmla="*/ 1281 w 1669"/>
                    <a:gd name="T5" fmla="*/ 0 h 629"/>
                    <a:gd name="T6" fmla="*/ 388 w 1669"/>
                    <a:gd name="T7" fmla="*/ 0 h 629"/>
                    <a:gd name="T8" fmla="*/ 0 w 1669"/>
                    <a:gd name="T9" fmla="*/ 628 h 629"/>
                  </a:gdLst>
                  <a:ahLst/>
                  <a:cxnLst>
                    <a:cxn ang="0">
                      <a:pos x="T0" y="T1"/>
                    </a:cxn>
                    <a:cxn ang="0">
                      <a:pos x="T2" y="T3"/>
                    </a:cxn>
                    <a:cxn ang="0">
                      <a:pos x="T4" y="T5"/>
                    </a:cxn>
                    <a:cxn ang="0">
                      <a:pos x="T6" y="T7"/>
                    </a:cxn>
                    <a:cxn ang="0">
                      <a:pos x="T8" y="T9"/>
                    </a:cxn>
                  </a:cxnLst>
                  <a:rect l="0" t="0" r="r" b="b"/>
                  <a:pathLst>
                    <a:path w="1669" h="629">
                      <a:moveTo>
                        <a:pt x="0" y="628"/>
                      </a:moveTo>
                      <a:lnTo>
                        <a:pt x="1668" y="628"/>
                      </a:lnTo>
                      <a:lnTo>
                        <a:pt x="1281" y="0"/>
                      </a:lnTo>
                      <a:lnTo>
                        <a:pt x="388" y="0"/>
                      </a:lnTo>
                      <a:lnTo>
                        <a:pt x="0" y="628"/>
                      </a:lnTo>
                    </a:path>
                  </a:pathLst>
                </a:custGeom>
                <a:solidFill>
                  <a:schemeClr val="bg2"/>
                </a:solidFill>
                <a:ln>
                  <a:noFill/>
                </a:ln>
                <a:effectLst/>
              </p:spPr>
              <p:txBody>
                <a:bodyPr wrap="square" lIns="91440" tIns="45720" rIns="91440" bIns="45720" anchor="ctr">
                  <a:normAutofit/>
                </a:bodyPr>
                <a:lstStyle/>
                <a:p>
                  <a:pPr algn="ctr"/>
                  <a:endParaRPr/>
                </a:p>
              </p:txBody>
            </p:sp>
            <p:grpSp>
              <p:nvGrpSpPr>
                <p:cNvPr id="32" name="组合 31"/>
                <p:cNvGrpSpPr/>
                <p:nvPr/>
              </p:nvGrpSpPr>
              <p:grpSpPr>
                <a:xfrm>
                  <a:off x="8610381" y="1538882"/>
                  <a:ext cx="789783" cy="708190"/>
                  <a:chOff x="4811545" y="296567"/>
                  <a:chExt cx="1269728" cy="983578"/>
                </a:xfrm>
              </p:grpSpPr>
              <p:sp>
                <p:nvSpPr>
                  <p:cNvPr id="34" name="任意多边形: 形状 33"/>
                  <p:cNvSpPr/>
                  <p:nvPr/>
                </p:nvSpPr>
                <p:spPr>
                  <a:xfrm rot="2355866">
                    <a:off x="4916024" y="503192"/>
                    <a:ext cx="1165249" cy="563391"/>
                  </a:xfrm>
                  <a:custGeom>
                    <a:avLst/>
                    <a:gdLst>
                      <a:gd name="connsiteX0" fmla="*/ 0 w 966555"/>
                      <a:gd name="connsiteY0" fmla="*/ 0 h 522116"/>
                      <a:gd name="connsiteX1" fmla="*/ 889451 w 966555"/>
                      <a:gd name="connsiteY1" fmla="*/ 339114 h 522116"/>
                      <a:gd name="connsiteX2" fmla="*/ 966483 w 966555"/>
                      <a:gd name="connsiteY2" fmla="*/ 368484 h 522116"/>
                      <a:gd name="connsiteX3" fmla="*/ 966527 w 966555"/>
                      <a:gd name="connsiteY3" fmla="*/ 448653 h 522116"/>
                      <a:gd name="connsiteX4" fmla="*/ 938997 w 966555"/>
                      <a:gd name="connsiteY4" fmla="*/ 480564 h 522116"/>
                      <a:gd name="connsiteX5" fmla="*/ 938997 w 966555"/>
                      <a:gd name="connsiteY5" fmla="*/ 480565 h 522116"/>
                      <a:gd name="connsiteX6" fmla="*/ 966527 w 966555"/>
                      <a:gd name="connsiteY6" fmla="*/ 448654 h 522116"/>
                      <a:gd name="connsiteX7" fmla="*/ 966552 w 966555"/>
                      <a:gd name="connsiteY7" fmla="*/ 494523 h 522116"/>
                      <a:gd name="connsiteX8" fmla="*/ 966555 w 966555"/>
                      <a:gd name="connsiteY8" fmla="*/ 500420 h 522116"/>
                      <a:gd name="connsiteX9" fmla="*/ 938008 w 966555"/>
                      <a:gd name="connsiteY9" fmla="*/ 522116 h 522116"/>
                      <a:gd name="connsiteX10" fmla="*/ 903149 w 966555"/>
                      <a:gd name="connsiteY10" fmla="*/ 522116 h 522116"/>
                      <a:gd name="connsiteX11" fmla="*/ 889452 w 966555"/>
                      <a:gd name="connsiteY11" fmla="*/ 522116 h 522116"/>
                      <a:gd name="connsiteX12" fmla="*/ 889451 w 966555"/>
                      <a:gd name="connsiteY12" fmla="*/ 455466 h 522116"/>
                      <a:gd name="connsiteX13" fmla="*/ 889451 w 966555"/>
                      <a:gd name="connsiteY13" fmla="*/ 455465 h 522116"/>
                      <a:gd name="connsiteX14" fmla="*/ 15264 w 966555"/>
                      <a:gd name="connsiteY14" fmla="*/ 12622 h 52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6555" h="522116">
                        <a:moveTo>
                          <a:pt x="0" y="0"/>
                        </a:moveTo>
                        <a:lnTo>
                          <a:pt x="889451" y="339114"/>
                        </a:lnTo>
                        <a:lnTo>
                          <a:pt x="966483" y="368484"/>
                        </a:lnTo>
                        <a:lnTo>
                          <a:pt x="966527" y="448653"/>
                        </a:lnTo>
                        <a:lnTo>
                          <a:pt x="938997" y="480564"/>
                        </a:lnTo>
                        <a:lnTo>
                          <a:pt x="938997" y="480565"/>
                        </a:lnTo>
                        <a:lnTo>
                          <a:pt x="966527" y="448654"/>
                        </a:lnTo>
                        <a:lnTo>
                          <a:pt x="966552" y="494523"/>
                        </a:lnTo>
                        <a:lnTo>
                          <a:pt x="966555" y="500420"/>
                        </a:lnTo>
                        <a:lnTo>
                          <a:pt x="938008" y="522116"/>
                        </a:lnTo>
                        <a:lnTo>
                          <a:pt x="903149" y="522116"/>
                        </a:lnTo>
                        <a:lnTo>
                          <a:pt x="889452" y="522116"/>
                        </a:lnTo>
                        <a:lnTo>
                          <a:pt x="889451" y="455466"/>
                        </a:lnTo>
                        <a:lnTo>
                          <a:pt x="889451" y="455465"/>
                        </a:lnTo>
                        <a:lnTo>
                          <a:pt x="15264" y="12622"/>
                        </a:lnTo>
                        <a:close/>
                      </a:path>
                    </a:pathLst>
                  </a:custGeom>
                  <a:solidFill>
                    <a:schemeClr val="bg2">
                      <a:lumMod val="75000"/>
                    </a:schemeClr>
                  </a:solidFill>
                  <a:ln>
                    <a:noFill/>
                  </a:ln>
                  <a:effectLst/>
                </p:spPr>
                <p:txBody>
                  <a:bodyPr wrap="square" lIns="91440" tIns="45720" rIns="91440" bIns="45720" anchor="ctr">
                    <a:noAutofit/>
                  </a:bodyPr>
                  <a:lstStyle/>
                  <a:p>
                    <a:pPr algn="ctr"/>
                    <a:endParaRPr lang="zh-CN" altLang="en-US"/>
                  </a:p>
                </p:txBody>
              </p:sp>
              <p:sp>
                <p:nvSpPr>
                  <p:cNvPr id="35" name="等腰三角形 34"/>
                  <p:cNvSpPr/>
                  <p:nvPr/>
                </p:nvSpPr>
                <p:spPr>
                  <a:xfrm>
                    <a:off x="4811545" y="296567"/>
                    <a:ext cx="946150" cy="983578"/>
                  </a:xfrm>
                  <a:prstGeom prst="triangle">
                    <a:avLst/>
                  </a:prstGeom>
                  <a:solidFill>
                    <a:schemeClr val="bg2"/>
                  </a:solidFill>
                  <a:ln>
                    <a:noFill/>
                  </a:ln>
                  <a:effectLst/>
                </p:spPr>
                <p:txBody>
                  <a:bodyPr wrap="square" lIns="91440" tIns="45720" rIns="91440" bIns="45720" anchor="ctr">
                    <a:normAutofit/>
                  </a:bodyPr>
                  <a:lstStyle/>
                  <a:p>
                    <a:pPr algn="ctr"/>
                    <a:endParaRPr lang="zh-CN" altLang="en-US">
                      <a:solidFill>
                        <a:schemeClr val="tx1"/>
                      </a:solidFill>
                    </a:endParaRPr>
                  </a:p>
                </p:txBody>
              </p:sp>
            </p:grpSp>
          </p:grpSp>
          <p:sp>
            <p:nvSpPr>
              <p:cNvPr id="12" name="Icon1"/>
              <p:cNvSpPr/>
              <p:nvPr/>
            </p:nvSpPr>
            <p:spPr bwMode="auto">
              <a:xfrm>
                <a:off x="8781539" y="1938869"/>
                <a:ext cx="249749" cy="202348"/>
              </a:xfrm>
              <a:custGeom>
                <a:avLst/>
                <a:gdLst>
                  <a:gd name="connsiteX0" fmla="*/ 225848 w 603052"/>
                  <a:gd name="connsiteY0" fmla="*/ 128732 h 488595"/>
                  <a:gd name="connsiteX1" fmla="*/ 163985 w 603052"/>
                  <a:gd name="connsiteY1" fmla="*/ 289262 h 488595"/>
                  <a:gd name="connsiteX2" fmla="*/ 288552 w 603052"/>
                  <a:gd name="connsiteY2" fmla="*/ 289262 h 488595"/>
                  <a:gd name="connsiteX3" fmla="*/ 230196 w 603052"/>
                  <a:gd name="connsiteY3" fmla="*/ 9244 h 488595"/>
                  <a:gd name="connsiteX4" fmla="*/ 263162 w 603052"/>
                  <a:gd name="connsiteY4" fmla="*/ 9244 h 488595"/>
                  <a:gd name="connsiteX5" fmla="*/ 418870 w 603052"/>
                  <a:gd name="connsiteY5" fmla="*/ 411551 h 488595"/>
                  <a:gd name="connsiteX6" fmla="*/ 429251 w 603052"/>
                  <a:gd name="connsiteY6" fmla="*/ 430742 h 488595"/>
                  <a:gd name="connsiteX7" fmla="*/ 445383 w 603052"/>
                  <a:gd name="connsiteY7" fmla="*/ 445030 h 488595"/>
                  <a:gd name="connsiteX8" fmla="*/ 463338 w 603052"/>
                  <a:gd name="connsiteY8" fmla="*/ 452034 h 488595"/>
                  <a:gd name="connsiteX9" fmla="*/ 482556 w 603052"/>
                  <a:gd name="connsiteY9" fmla="*/ 455256 h 488595"/>
                  <a:gd name="connsiteX10" fmla="*/ 487466 w 603052"/>
                  <a:gd name="connsiteY10" fmla="*/ 455536 h 488595"/>
                  <a:gd name="connsiteX11" fmla="*/ 487466 w 603052"/>
                  <a:gd name="connsiteY11" fmla="*/ 488595 h 488595"/>
                  <a:gd name="connsiteX12" fmla="*/ 284764 w 603052"/>
                  <a:gd name="connsiteY12" fmla="*/ 488595 h 488595"/>
                  <a:gd name="connsiteX13" fmla="*/ 284764 w 603052"/>
                  <a:gd name="connsiteY13" fmla="*/ 455536 h 488595"/>
                  <a:gd name="connsiteX14" fmla="*/ 289534 w 603052"/>
                  <a:gd name="connsiteY14" fmla="*/ 455256 h 488595"/>
                  <a:gd name="connsiteX15" fmla="*/ 330635 w 603052"/>
                  <a:gd name="connsiteY15" fmla="*/ 448953 h 488595"/>
                  <a:gd name="connsiteX16" fmla="*/ 343821 w 603052"/>
                  <a:gd name="connsiteY16" fmla="*/ 441809 h 488595"/>
                  <a:gd name="connsiteX17" fmla="*/ 343260 w 603052"/>
                  <a:gd name="connsiteY17" fmla="*/ 435365 h 488595"/>
                  <a:gd name="connsiteX18" fmla="*/ 341577 w 603052"/>
                  <a:gd name="connsiteY18" fmla="*/ 428921 h 488595"/>
                  <a:gd name="connsiteX19" fmla="*/ 304403 w 603052"/>
                  <a:gd name="connsiteY19" fmla="*/ 328484 h 488595"/>
                  <a:gd name="connsiteX20" fmla="*/ 148695 w 603052"/>
                  <a:gd name="connsiteY20" fmla="*/ 328484 h 488595"/>
                  <a:gd name="connsiteX21" fmla="*/ 135228 w 603052"/>
                  <a:gd name="connsiteY21" fmla="*/ 364765 h 488595"/>
                  <a:gd name="connsiteX22" fmla="*/ 124847 w 603052"/>
                  <a:gd name="connsiteY22" fmla="*/ 396003 h 488595"/>
                  <a:gd name="connsiteX23" fmla="*/ 119236 w 603052"/>
                  <a:gd name="connsiteY23" fmla="*/ 418275 h 488595"/>
                  <a:gd name="connsiteX24" fmla="*/ 117693 w 603052"/>
                  <a:gd name="connsiteY24" fmla="*/ 431583 h 488595"/>
                  <a:gd name="connsiteX25" fmla="*/ 134807 w 603052"/>
                  <a:gd name="connsiteY25" fmla="*/ 447132 h 488595"/>
                  <a:gd name="connsiteX26" fmla="*/ 179836 w 603052"/>
                  <a:gd name="connsiteY26" fmla="*/ 455256 h 488595"/>
                  <a:gd name="connsiteX27" fmla="*/ 184606 w 603052"/>
                  <a:gd name="connsiteY27" fmla="*/ 455536 h 488595"/>
                  <a:gd name="connsiteX28" fmla="*/ 184606 w 603052"/>
                  <a:gd name="connsiteY28" fmla="*/ 488455 h 488595"/>
                  <a:gd name="connsiteX29" fmla="*/ 0 w 603052"/>
                  <a:gd name="connsiteY29" fmla="*/ 488455 h 488595"/>
                  <a:gd name="connsiteX30" fmla="*/ 0 w 603052"/>
                  <a:gd name="connsiteY30" fmla="*/ 455676 h 488595"/>
                  <a:gd name="connsiteX31" fmla="*/ 4629 w 603052"/>
                  <a:gd name="connsiteY31" fmla="*/ 455256 h 488595"/>
                  <a:gd name="connsiteX32" fmla="*/ 25110 w 603052"/>
                  <a:gd name="connsiteY32" fmla="*/ 451614 h 488595"/>
                  <a:gd name="connsiteX33" fmla="*/ 44468 w 603052"/>
                  <a:gd name="connsiteY33" fmla="*/ 444050 h 488595"/>
                  <a:gd name="connsiteX34" fmla="*/ 63406 w 603052"/>
                  <a:gd name="connsiteY34" fmla="*/ 426820 h 488595"/>
                  <a:gd name="connsiteX35" fmla="*/ 76732 w 603052"/>
                  <a:gd name="connsiteY35" fmla="*/ 401326 h 488595"/>
                  <a:gd name="connsiteX36" fmla="*/ 153745 w 603052"/>
                  <a:gd name="connsiteY36" fmla="*/ 205775 h 488595"/>
                  <a:gd name="connsiteX37" fmla="*/ 228934 w 603052"/>
                  <a:gd name="connsiteY37" fmla="*/ 12466 h 488595"/>
                  <a:gd name="connsiteX38" fmla="*/ 541202 w 603052"/>
                  <a:gd name="connsiteY38" fmla="*/ 0 h 488595"/>
                  <a:gd name="connsiteX39" fmla="*/ 603052 w 603052"/>
                  <a:gd name="connsiteY39" fmla="*/ 102109 h 488595"/>
                  <a:gd name="connsiteX40" fmla="*/ 556349 w 603052"/>
                  <a:gd name="connsiteY40" fmla="*/ 102109 h 488595"/>
                  <a:gd name="connsiteX41" fmla="*/ 556349 w 603052"/>
                  <a:gd name="connsiteY41" fmla="*/ 381264 h 488595"/>
                  <a:gd name="connsiteX42" fmla="*/ 603052 w 603052"/>
                  <a:gd name="connsiteY42" fmla="*/ 381264 h 488595"/>
                  <a:gd name="connsiteX43" fmla="*/ 541202 w 603052"/>
                  <a:gd name="connsiteY43" fmla="*/ 483373 h 488595"/>
                  <a:gd name="connsiteX44" fmla="*/ 479351 w 603052"/>
                  <a:gd name="connsiteY44" fmla="*/ 381264 h 488595"/>
                  <a:gd name="connsiteX45" fmla="*/ 526054 w 603052"/>
                  <a:gd name="connsiteY45" fmla="*/ 381264 h 488595"/>
                  <a:gd name="connsiteX46" fmla="*/ 526054 w 603052"/>
                  <a:gd name="connsiteY46" fmla="*/ 102109 h 488595"/>
                  <a:gd name="connsiteX47" fmla="*/ 479351 w 603052"/>
                  <a:gd name="connsiteY47" fmla="*/ 102109 h 48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3052" h="488595">
                    <a:moveTo>
                      <a:pt x="225848" y="128732"/>
                    </a:moveTo>
                    <a:lnTo>
                      <a:pt x="163985" y="289262"/>
                    </a:lnTo>
                    <a:lnTo>
                      <a:pt x="288552" y="289262"/>
                    </a:lnTo>
                    <a:close/>
                    <a:moveTo>
                      <a:pt x="230196" y="9244"/>
                    </a:moveTo>
                    <a:lnTo>
                      <a:pt x="263162" y="9244"/>
                    </a:lnTo>
                    <a:lnTo>
                      <a:pt x="418870" y="411551"/>
                    </a:lnTo>
                    <a:cubicBezTo>
                      <a:pt x="421956" y="419536"/>
                      <a:pt x="425323" y="425980"/>
                      <a:pt x="429251" y="430742"/>
                    </a:cubicBezTo>
                    <a:cubicBezTo>
                      <a:pt x="433038" y="435645"/>
                      <a:pt x="438369" y="440408"/>
                      <a:pt x="445383" y="445030"/>
                    </a:cubicBezTo>
                    <a:cubicBezTo>
                      <a:pt x="449731" y="447692"/>
                      <a:pt x="455903" y="450073"/>
                      <a:pt x="463338" y="452034"/>
                    </a:cubicBezTo>
                    <a:cubicBezTo>
                      <a:pt x="471053" y="453995"/>
                      <a:pt x="477506" y="455116"/>
                      <a:pt x="482556" y="455256"/>
                    </a:cubicBezTo>
                    <a:lnTo>
                      <a:pt x="487466" y="455536"/>
                    </a:lnTo>
                    <a:lnTo>
                      <a:pt x="487466" y="488595"/>
                    </a:lnTo>
                    <a:lnTo>
                      <a:pt x="284764" y="488595"/>
                    </a:lnTo>
                    <a:lnTo>
                      <a:pt x="284764" y="455536"/>
                    </a:lnTo>
                    <a:lnTo>
                      <a:pt x="289534" y="455256"/>
                    </a:lnTo>
                    <a:cubicBezTo>
                      <a:pt x="305946" y="454276"/>
                      <a:pt x="319834" y="452174"/>
                      <a:pt x="330635" y="448953"/>
                    </a:cubicBezTo>
                    <a:cubicBezTo>
                      <a:pt x="341156" y="445871"/>
                      <a:pt x="343821" y="442929"/>
                      <a:pt x="343821" y="441809"/>
                    </a:cubicBezTo>
                    <a:cubicBezTo>
                      <a:pt x="343821" y="439988"/>
                      <a:pt x="343681" y="437886"/>
                      <a:pt x="343260" y="435365"/>
                    </a:cubicBezTo>
                    <a:cubicBezTo>
                      <a:pt x="342839" y="432843"/>
                      <a:pt x="342278" y="430742"/>
                      <a:pt x="341577" y="428921"/>
                    </a:cubicBezTo>
                    <a:lnTo>
                      <a:pt x="304403" y="328484"/>
                    </a:lnTo>
                    <a:lnTo>
                      <a:pt x="148695" y="328484"/>
                    </a:lnTo>
                    <a:cubicBezTo>
                      <a:pt x="143224" y="342212"/>
                      <a:pt x="138735" y="354399"/>
                      <a:pt x="135228" y="364765"/>
                    </a:cubicBezTo>
                    <a:cubicBezTo>
                      <a:pt x="131300" y="376111"/>
                      <a:pt x="127934" y="386477"/>
                      <a:pt x="124847" y="396003"/>
                    </a:cubicBezTo>
                    <a:cubicBezTo>
                      <a:pt x="122182" y="405108"/>
                      <a:pt x="120218" y="412532"/>
                      <a:pt x="119236" y="418275"/>
                    </a:cubicBezTo>
                    <a:cubicBezTo>
                      <a:pt x="118114" y="423738"/>
                      <a:pt x="117693" y="428221"/>
                      <a:pt x="117693" y="431583"/>
                    </a:cubicBezTo>
                    <a:cubicBezTo>
                      <a:pt x="117693" y="437886"/>
                      <a:pt x="123445" y="443069"/>
                      <a:pt x="134807" y="447132"/>
                    </a:cubicBezTo>
                    <a:cubicBezTo>
                      <a:pt x="147993" y="451754"/>
                      <a:pt x="163143" y="454416"/>
                      <a:pt x="179836" y="455256"/>
                    </a:cubicBezTo>
                    <a:lnTo>
                      <a:pt x="184606" y="455536"/>
                    </a:lnTo>
                    <a:lnTo>
                      <a:pt x="184606" y="488455"/>
                    </a:lnTo>
                    <a:lnTo>
                      <a:pt x="0" y="488455"/>
                    </a:lnTo>
                    <a:lnTo>
                      <a:pt x="0" y="455676"/>
                    </a:lnTo>
                    <a:lnTo>
                      <a:pt x="4629" y="455256"/>
                    </a:lnTo>
                    <a:cubicBezTo>
                      <a:pt x="9960" y="454836"/>
                      <a:pt x="16833" y="453715"/>
                      <a:pt x="25110" y="451614"/>
                    </a:cubicBezTo>
                    <a:cubicBezTo>
                      <a:pt x="32965" y="449793"/>
                      <a:pt x="39558" y="447132"/>
                      <a:pt x="44468" y="444050"/>
                    </a:cubicBezTo>
                    <a:cubicBezTo>
                      <a:pt x="52604" y="438587"/>
                      <a:pt x="58917" y="432703"/>
                      <a:pt x="63406" y="426820"/>
                    </a:cubicBezTo>
                    <a:cubicBezTo>
                      <a:pt x="67895" y="420797"/>
                      <a:pt x="72383" y="412252"/>
                      <a:pt x="76732" y="401326"/>
                    </a:cubicBezTo>
                    <a:cubicBezTo>
                      <a:pt x="100018" y="343473"/>
                      <a:pt x="125970" y="277636"/>
                      <a:pt x="153745" y="205775"/>
                    </a:cubicBezTo>
                    <a:cubicBezTo>
                      <a:pt x="181800" y="133494"/>
                      <a:pt x="206910" y="69058"/>
                      <a:pt x="228934" y="12466"/>
                    </a:cubicBezTo>
                    <a:close/>
                    <a:moveTo>
                      <a:pt x="541202" y="0"/>
                    </a:moveTo>
                    <a:lnTo>
                      <a:pt x="603052" y="102109"/>
                    </a:lnTo>
                    <a:lnTo>
                      <a:pt x="556349" y="102109"/>
                    </a:lnTo>
                    <a:lnTo>
                      <a:pt x="556349" y="381264"/>
                    </a:lnTo>
                    <a:lnTo>
                      <a:pt x="603052" y="381264"/>
                    </a:lnTo>
                    <a:lnTo>
                      <a:pt x="541202" y="483373"/>
                    </a:lnTo>
                    <a:lnTo>
                      <a:pt x="479351" y="381264"/>
                    </a:lnTo>
                    <a:lnTo>
                      <a:pt x="526054" y="381264"/>
                    </a:lnTo>
                    <a:lnTo>
                      <a:pt x="526054" y="102109"/>
                    </a:lnTo>
                    <a:lnTo>
                      <a:pt x="479351" y="102109"/>
                    </a:lnTo>
                    <a:close/>
                  </a:path>
                </a:pathLst>
              </a:custGeom>
              <a:solidFill>
                <a:schemeClr val="accent1"/>
              </a:solidFill>
              <a:ln>
                <a:noFill/>
              </a:ln>
            </p:spPr>
            <p:txBody>
              <a:bodyPr wrap="square" lIns="91440" tIns="45720" rIns="91440" bIns="45720" anchor="ctr">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13" name="Icon2"/>
              <p:cNvSpPr/>
              <p:nvPr/>
            </p:nvSpPr>
            <p:spPr bwMode="auto">
              <a:xfrm>
                <a:off x="8781539" y="2541850"/>
                <a:ext cx="296896" cy="294103"/>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chemeClr val="accent1"/>
              </a:solidFill>
              <a:ln>
                <a:noFill/>
              </a:ln>
            </p:spPr>
            <p:txBody>
              <a:bodyPr wrap="square" lIns="91440" tIns="45720" rIns="91440" bIns="45720" anchor="ctr">
                <a:normAutofit fontScale="925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14" name="Icon3"/>
              <p:cNvSpPr/>
              <p:nvPr/>
            </p:nvSpPr>
            <p:spPr bwMode="auto">
              <a:xfrm>
                <a:off x="8811712" y="3304425"/>
                <a:ext cx="295396" cy="293486"/>
              </a:xfrm>
              <a:custGeom>
                <a:avLst/>
                <a:gdLst>
                  <a:gd name="T0" fmla="*/ 9116 w 11275"/>
                  <a:gd name="T1" fmla="*/ 4696 h 11201"/>
                  <a:gd name="T2" fmla="*/ 9016 w 11275"/>
                  <a:gd name="T3" fmla="*/ 799 h 11201"/>
                  <a:gd name="T4" fmla="*/ 799 w 11275"/>
                  <a:gd name="T5" fmla="*/ 899 h 11201"/>
                  <a:gd name="T6" fmla="*/ 899 w 11275"/>
                  <a:gd name="T7" fmla="*/ 10390 h 11201"/>
                  <a:gd name="T8" fmla="*/ 4907 w 11275"/>
                  <a:gd name="T9" fmla="*/ 10790 h 11201"/>
                  <a:gd name="T10" fmla="*/ 399 w 11275"/>
                  <a:gd name="T11" fmla="*/ 11189 h 11201"/>
                  <a:gd name="T12" fmla="*/ 0 w 11275"/>
                  <a:gd name="T13" fmla="*/ 400 h 11201"/>
                  <a:gd name="T14" fmla="*/ 9515 w 11275"/>
                  <a:gd name="T15" fmla="*/ 0 h 11201"/>
                  <a:gd name="T16" fmla="*/ 9915 w 11275"/>
                  <a:gd name="T17" fmla="*/ 4696 h 11201"/>
                  <a:gd name="T18" fmla="*/ 1835 w 11275"/>
                  <a:gd name="T19" fmla="*/ 2573 h 11201"/>
                  <a:gd name="T20" fmla="*/ 8117 w 11275"/>
                  <a:gd name="T21" fmla="*/ 2972 h 11201"/>
                  <a:gd name="T22" fmla="*/ 1835 w 11275"/>
                  <a:gd name="T23" fmla="*/ 3372 h 11201"/>
                  <a:gd name="T24" fmla="*/ 1835 w 11275"/>
                  <a:gd name="T25" fmla="*/ 2573 h 11201"/>
                  <a:gd name="T26" fmla="*/ 4545 w 11275"/>
                  <a:gd name="T27" fmla="*/ 5145 h 11201"/>
                  <a:gd name="T28" fmla="*/ 4545 w 11275"/>
                  <a:gd name="T29" fmla="*/ 5944 h 11201"/>
                  <a:gd name="T30" fmla="*/ 1498 w 11275"/>
                  <a:gd name="T31" fmla="*/ 5545 h 11201"/>
                  <a:gd name="T32" fmla="*/ 1898 w 11275"/>
                  <a:gd name="T33" fmla="*/ 7718 h 11201"/>
                  <a:gd name="T34" fmla="*/ 4945 w 11275"/>
                  <a:gd name="T35" fmla="*/ 8117 h 11201"/>
                  <a:gd name="T36" fmla="*/ 1898 w 11275"/>
                  <a:gd name="T37" fmla="*/ 8517 h 11201"/>
                  <a:gd name="T38" fmla="*/ 1898 w 11275"/>
                  <a:gd name="T39" fmla="*/ 7718 h 11201"/>
                  <a:gd name="T40" fmla="*/ 6244 w 11275"/>
                  <a:gd name="T41" fmla="*/ 5145 h 11201"/>
                  <a:gd name="T42" fmla="*/ 6244 w 11275"/>
                  <a:gd name="T43" fmla="*/ 5944 h 11201"/>
                  <a:gd name="T44" fmla="*/ 5295 w 11275"/>
                  <a:gd name="T45" fmla="*/ 5545 h 11201"/>
                  <a:gd name="T46" fmla="*/ 9074 w 11275"/>
                  <a:gd name="T47" fmla="*/ 6037 h 11201"/>
                  <a:gd name="T48" fmla="*/ 10721 w 11275"/>
                  <a:gd name="T49" fmla="*/ 11116 h 11201"/>
                  <a:gd name="T50" fmla="*/ 6356 w 11275"/>
                  <a:gd name="T51" fmla="*/ 11201 h 11201"/>
                  <a:gd name="T52" fmla="*/ 5641 w 11275"/>
                  <a:gd name="T53" fmla="*/ 10044 h 11201"/>
                  <a:gd name="T54" fmla="*/ 8717 w 11275"/>
                  <a:gd name="T55" fmla="*/ 5679 h 11201"/>
                  <a:gd name="T56" fmla="*/ 8455 w 11275"/>
                  <a:gd name="T57" fmla="*/ 6572 h 11201"/>
                  <a:gd name="T58" fmla="*/ 6434 w 11275"/>
                  <a:gd name="T59" fmla="*/ 10257 h 11201"/>
                  <a:gd name="T60" fmla="*/ 10208 w 11275"/>
                  <a:gd name="T61" fmla="*/ 10401 h 11201"/>
                  <a:gd name="T62" fmla="*/ 8455 w 11275"/>
                  <a:gd name="T63" fmla="*/ 6572 h 11201"/>
                  <a:gd name="T64" fmla="*/ 8754 w 11275"/>
                  <a:gd name="T65" fmla="*/ 7730 h 11201"/>
                  <a:gd name="T66" fmla="*/ 8354 w 11275"/>
                  <a:gd name="T67" fmla="*/ 9204 h 11201"/>
                  <a:gd name="T68" fmla="*/ 7954 w 11275"/>
                  <a:gd name="T69" fmla="*/ 7730 h 11201"/>
                  <a:gd name="T70" fmla="*/ 8354 w 11275"/>
                  <a:gd name="T71" fmla="*/ 10203 h 11201"/>
                  <a:gd name="T72" fmla="*/ 8354 w 11275"/>
                  <a:gd name="T73" fmla="*/ 9404 h 11201"/>
                  <a:gd name="T74" fmla="*/ 8354 w 11275"/>
                  <a:gd name="T75" fmla="*/ 10203 h 11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275" h="11201">
                    <a:moveTo>
                      <a:pt x="9515" y="5095"/>
                    </a:moveTo>
                    <a:cubicBezTo>
                      <a:pt x="9295" y="5095"/>
                      <a:pt x="9116" y="4916"/>
                      <a:pt x="9116" y="4696"/>
                    </a:cubicBezTo>
                    <a:lnTo>
                      <a:pt x="9116" y="899"/>
                    </a:lnTo>
                    <a:cubicBezTo>
                      <a:pt x="9116" y="844"/>
                      <a:pt x="9071" y="799"/>
                      <a:pt x="9016" y="799"/>
                    </a:cubicBezTo>
                    <a:lnTo>
                      <a:pt x="899" y="799"/>
                    </a:lnTo>
                    <a:cubicBezTo>
                      <a:pt x="844" y="799"/>
                      <a:pt x="799" y="844"/>
                      <a:pt x="799" y="899"/>
                    </a:cubicBezTo>
                    <a:lnTo>
                      <a:pt x="799" y="10290"/>
                    </a:lnTo>
                    <a:cubicBezTo>
                      <a:pt x="799" y="10345"/>
                      <a:pt x="844" y="10390"/>
                      <a:pt x="899" y="10390"/>
                    </a:cubicBezTo>
                    <a:lnTo>
                      <a:pt x="4508" y="10390"/>
                    </a:lnTo>
                    <a:cubicBezTo>
                      <a:pt x="4728" y="10390"/>
                      <a:pt x="4907" y="10569"/>
                      <a:pt x="4907" y="10790"/>
                    </a:cubicBezTo>
                    <a:cubicBezTo>
                      <a:pt x="4907" y="11010"/>
                      <a:pt x="4728" y="11189"/>
                      <a:pt x="4508" y="11189"/>
                    </a:cubicBezTo>
                    <a:lnTo>
                      <a:pt x="399" y="11189"/>
                    </a:lnTo>
                    <a:cubicBezTo>
                      <a:pt x="179" y="11189"/>
                      <a:pt x="0" y="11010"/>
                      <a:pt x="0" y="10790"/>
                    </a:cubicBezTo>
                    <a:lnTo>
                      <a:pt x="0" y="400"/>
                    </a:lnTo>
                    <a:cubicBezTo>
                      <a:pt x="0" y="179"/>
                      <a:pt x="179" y="0"/>
                      <a:pt x="399" y="0"/>
                    </a:cubicBezTo>
                    <a:lnTo>
                      <a:pt x="9515" y="0"/>
                    </a:lnTo>
                    <a:cubicBezTo>
                      <a:pt x="9736" y="0"/>
                      <a:pt x="9915" y="179"/>
                      <a:pt x="9915" y="400"/>
                    </a:cubicBezTo>
                    <a:lnTo>
                      <a:pt x="9915" y="4696"/>
                    </a:lnTo>
                    <a:cubicBezTo>
                      <a:pt x="9915" y="4916"/>
                      <a:pt x="9736" y="5095"/>
                      <a:pt x="9515" y="5095"/>
                    </a:cubicBezTo>
                    <a:close/>
                    <a:moveTo>
                      <a:pt x="1835" y="2573"/>
                    </a:moveTo>
                    <a:lnTo>
                      <a:pt x="7717" y="2573"/>
                    </a:lnTo>
                    <a:cubicBezTo>
                      <a:pt x="7938" y="2573"/>
                      <a:pt x="8117" y="2752"/>
                      <a:pt x="8117" y="2972"/>
                    </a:cubicBezTo>
                    <a:cubicBezTo>
                      <a:pt x="8117" y="3193"/>
                      <a:pt x="7938" y="3372"/>
                      <a:pt x="7717" y="3372"/>
                    </a:cubicBezTo>
                    <a:lnTo>
                      <a:pt x="1835" y="3372"/>
                    </a:lnTo>
                    <a:cubicBezTo>
                      <a:pt x="1615" y="3372"/>
                      <a:pt x="1436" y="3193"/>
                      <a:pt x="1436" y="2972"/>
                    </a:cubicBezTo>
                    <a:cubicBezTo>
                      <a:pt x="1436" y="2752"/>
                      <a:pt x="1615" y="2573"/>
                      <a:pt x="1835" y="2573"/>
                    </a:cubicBezTo>
                    <a:close/>
                    <a:moveTo>
                      <a:pt x="1898" y="5145"/>
                    </a:moveTo>
                    <a:lnTo>
                      <a:pt x="4545" y="5145"/>
                    </a:lnTo>
                    <a:cubicBezTo>
                      <a:pt x="4766" y="5145"/>
                      <a:pt x="4945" y="5324"/>
                      <a:pt x="4945" y="5545"/>
                    </a:cubicBezTo>
                    <a:cubicBezTo>
                      <a:pt x="4945" y="5766"/>
                      <a:pt x="4766" y="5944"/>
                      <a:pt x="4545" y="5944"/>
                    </a:cubicBezTo>
                    <a:lnTo>
                      <a:pt x="1898" y="5944"/>
                    </a:lnTo>
                    <a:cubicBezTo>
                      <a:pt x="1677" y="5944"/>
                      <a:pt x="1498" y="5766"/>
                      <a:pt x="1498" y="5545"/>
                    </a:cubicBezTo>
                    <a:cubicBezTo>
                      <a:pt x="1498" y="5324"/>
                      <a:pt x="1677" y="5145"/>
                      <a:pt x="1898" y="5145"/>
                    </a:cubicBezTo>
                    <a:close/>
                    <a:moveTo>
                      <a:pt x="1898" y="7718"/>
                    </a:moveTo>
                    <a:lnTo>
                      <a:pt x="4545" y="7718"/>
                    </a:lnTo>
                    <a:cubicBezTo>
                      <a:pt x="4766" y="7718"/>
                      <a:pt x="4945" y="7897"/>
                      <a:pt x="4945" y="8117"/>
                    </a:cubicBezTo>
                    <a:cubicBezTo>
                      <a:pt x="4945" y="8338"/>
                      <a:pt x="4766" y="8517"/>
                      <a:pt x="4545" y="8517"/>
                    </a:cubicBezTo>
                    <a:lnTo>
                      <a:pt x="1898" y="8517"/>
                    </a:lnTo>
                    <a:cubicBezTo>
                      <a:pt x="1677" y="8517"/>
                      <a:pt x="1498" y="8338"/>
                      <a:pt x="1498" y="8117"/>
                    </a:cubicBezTo>
                    <a:cubicBezTo>
                      <a:pt x="1498" y="7897"/>
                      <a:pt x="1677" y="7718"/>
                      <a:pt x="1898" y="7718"/>
                    </a:cubicBezTo>
                    <a:close/>
                    <a:moveTo>
                      <a:pt x="5694" y="5145"/>
                    </a:moveTo>
                    <a:lnTo>
                      <a:pt x="6244" y="5145"/>
                    </a:lnTo>
                    <a:cubicBezTo>
                      <a:pt x="6464" y="5145"/>
                      <a:pt x="6643" y="5324"/>
                      <a:pt x="6643" y="5545"/>
                    </a:cubicBezTo>
                    <a:cubicBezTo>
                      <a:pt x="6643" y="5766"/>
                      <a:pt x="6464" y="5944"/>
                      <a:pt x="6244" y="5944"/>
                    </a:cubicBezTo>
                    <a:lnTo>
                      <a:pt x="5694" y="5944"/>
                    </a:lnTo>
                    <a:cubicBezTo>
                      <a:pt x="5473" y="5944"/>
                      <a:pt x="5295" y="5766"/>
                      <a:pt x="5295" y="5545"/>
                    </a:cubicBezTo>
                    <a:cubicBezTo>
                      <a:pt x="5295" y="5324"/>
                      <a:pt x="5473" y="5145"/>
                      <a:pt x="5694" y="5145"/>
                    </a:cubicBezTo>
                    <a:close/>
                    <a:moveTo>
                      <a:pt x="9074" y="6037"/>
                    </a:moveTo>
                    <a:lnTo>
                      <a:pt x="11078" y="10044"/>
                    </a:lnTo>
                    <a:cubicBezTo>
                      <a:pt x="11275" y="10439"/>
                      <a:pt x="11115" y="10919"/>
                      <a:pt x="10721" y="11116"/>
                    </a:cubicBezTo>
                    <a:cubicBezTo>
                      <a:pt x="10610" y="11172"/>
                      <a:pt x="10487" y="11201"/>
                      <a:pt x="10363" y="11201"/>
                    </a:cubicBezTo>
                    <a:lnTo>
                      <a:pt x="6356" y="11201"/>
                    </a:lnTo>
                    <a:cubicBezTo>
                      <a:pt x="5915" y="11201"/>
                      <a:pt x="5557" y="10843"/>
                      <a:pt x="5557" y="10401"/>
                    </a:cubicBezTo>
                    <a:cubicBezTo>
                      <a:pt x="5557" y="10277"/>
                      <a:pt x="5586" y="10155"/>
                      <a:pt x="5641" y="10044"/>
                    </a:cubicBezTo>
                    <a:lnTo>
                      <a:pt x="7645" y="6037"/>
                    </a:lnTo>
                    <a:cubicBezTo>
                      <a:pt x="7842" y="5642"/>
                      <a:pt x="8322" y="5482"/>
                      <a:pt x="8717" y="5679"/>
                    </a:cubicBezTo>
                    <a:cubicBezTo>
                      <a:pt x="8872" y="5757"/>
                      <a:pt x="8997" y="5882"/>
                      <a:pt x="9074" y="6037"/>
                    </a:cubicBezTo>
                    <a:close/>
                    <a:moveTo>
                      <a:pt x="8455" y="6572"/>
                    </a:moveTo>
                    <a:cubicBezTo>
                      <a:pt x="8418" y="6498"/>
                      <a:pt x="8313" y="6498"/>
                      <a:pt x="8276" y="6572"/>
                    </a:cubicBezTo>
                    <a:lnTo>
                      <a:pt x="6434" y="10257"/>
                    </a:lnTo>
                    <a:cubicBezTo>
                      <a:pt x="6401" y="10323"/>
                      <a:pt x="6449" y="10401"/>
                      <a:pt x="6523" y="10401"/>
                    </a:cubicBezTo>
                    <a:lnTo>
                      <a:pt x="10208" y="10401"/>
                    </a:lnTo>
                    <a:cubicBezTo>
                      <a:pt x="10283" y="10401"/>
                      <a:pt x="10331" y="10323"/>
                      <a:pt x="10298" y="10257"/>
                    </a:cubicBezTo>
                    <a:lnTo>
                      <a:pt x="8455" y="6572"/>
                    </a:lnTo>
                    <a:close/>
                    <a:moveTo>
                      <a:pt x="8354" y="7331"/>
                    </a:moveTo>
                    <a:cubicBezTo>
                      <a:pt x="8575" y="7331"/>
                      <a:pt x="8754" y="7509"/>
                      <a:pt x="8754" y="7730"/>
                    </a:cubicBezTo>
                    <a:lnTo>
                      <a:pt x="8754" y="8804"/>
                    </a:lnTo>
                    <a:cubicBezTo>
                      <a:pt x="8754" y="9025"/>
                      <a:pt x="8575" y="9204"/>
                      <a:pt x="8354" y="9204"/>
                    </a:cubicBezTo>
                    <a:cubicBezTo>
                      <a:pt x="8133" y="9204"/>
                      <a:pt x="7954" y="9025"/>
                      <a:pt x="7954" y="8804"/>
                    </a:cubicBezTo>
                    <a:lnTo>
                      <a:pt x="7954" y="7730"/>
                    </a:lnTo>
                    <a:cubicBezTo>
                      <a:pt x="7954" y="7509"/>
                      <a:pt x="8133" y="7331"/>
                      <a:pt x="8354" y="7331"/>
                    </a:cubicBezTo>
                    <a:close/>
                    <a:moveTo>
                      <a:pt x="8354" y="10203"/>
                    </a:moveTo>
                    <a:cubicBezTo>
                      <a:pt x="8133" y="10203"/>
                      <a:pt x="7954" y="10024"/>
                      <a:pt x="7954" y="9803"/>
                    </a:cubicBezTo>
                    <a:cubicBezTo>
                      <a:pt x="7954" y="9582"/>
                      <a:pt x="8133" y="9404"/>
                      <a:pt x="8354" y="9404"/>
                    </a:cubicBezTo>
                    <a:cubicBezTo>
                      <a:pt x="8575" y="9404"/>
                      <a:pt x="8754" y="9582"/>
                      <a:pt x="8754" y="9803"/>
                    </a:cubicBezTo>
                    <a:cubicBezTo>
                      <a:pt x="8754" y="10024"/>
                      <a:pt x="8575" y="10203"/>
                      <a:pt x="8354" y="10203"/>
                    </a:cubicBezTo>
                    <a:close/>
                  </a:path>
                </a:pathLst>
              </a:custGeom>
              <a:solidFill>
                <a:schemeClr val="accent1"/>
              </a:solidFill>
              <a:ln>
                <a:noFill/>
              </a:ln>
            </p:spPr>
            <p:txBody>
              <a:bodyPr wrap="square" lIns="91440" tIns="45720" rIns="91440" bIns="45720" anchor="ctr">
                <a:normAutofit fontScale="925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15" name="Icon4"/>
              <p:cNvSpPr/>
              <p:nvPr/>
            </p:nvSpPr>
            <p:spPr bwMode="auto">
              <a:xfrm>
                <a:off x="8781539" y="3974939"/>
                <a:ext cx="314347" cy="313987"/>
              </a:xfrm>
              <a:custGeom>
                <a:avLst/>
                <a:gdLst>
                  <a:gd name="T0" fmla="*/ 11122 w 12710"/>
                  <a:gd name="T1" fmla="*/ 4365 h 12698"/>
                  <a:gd name="T2" fmla="*/ 6360 w 12710"/>
                  <a:gd name="T3" fmla="*/ 0 h 12698"/>
                  <a:gd name="T4" fmla="*/ 1598 w 12710"/>
                  <a:gd name="T5" fmla="*/ 4365 h 12698"/>
                  <a:gd name="T6" fmla="*/ 11 w 12710"/>
                  <a:gd name="T7" fmla="*/ 6349 h 12698"/>
                  <a:gd name="T8" fmla="*/ 11 w 12710"/>
                  <a:gd name="T9" fmla="*/ 7143 h 12698"/>
                  <a:gd name="T10" fmla="*/ 1995 w 12710"/>
                  <a:gd name="T11" fmla="*/ 9127 h 12698"/>
                  <a:gd name="T12" fmla="*/ 3186 w 12710"/>
                  <a:gd name="T13" fmla="*/ 9127 h 12698"/>
                  <a:gd name="T14" fmla="*/ 3186 w 12710"/>
                  <a:gd name="T15" fmla="*/ 4364 h 12698"/>
                  <a:gd name="T16" fmla="*/ 2392 w 12710"/>
                  <a:gd name="T17" fmla="*/ 4364 h 12698"/>
                  <a:gd name="T18" fmla="*/ 6360 w 12710"/>
                  <a:gd name="T19" fmla="*/ 793 h 12698"/>
                  <a:gd name="T20" fmla="*/ 10328 w 12710"/>
                  <a:gd name="T21" fmla="*/ 4364 h 12698"/>
                  <a:gd name="T22" fmla="*/ 9534 w 12710"/>
                  <a:gd name="T23" fmla="*/ 4364 h 12698"/>
                  <a:gd name="T24" fmla="*/ 9534 w 12710"/>
                  <a:gd name="T25" fmla="*/ 9127 h 12698"/>
                  <a:gd name="T26" fmla="*/ 10328 w 12710"/>
                  <a:gd name="T27" fmla="*/ 9127 h 12698"/>
                  <a:gd name="T28" fmla="*/ 6757 w 12710"/>
                  <a:gd name="T29" fmla="*/ 11983 h 12698"/>
                  <a:gd name="T30" fmla="*/ 5963 w 12710"/>
                  <a:gd name="T31" fmla="*/ 11903 h 12698"/>
                  <a:gd name="T32" fmla="*/ 5963 w 12710"/>
                  <a:gd name="T33" fmla="*/ 12618 h 12698"/>
                  <a:gd name="T34" fmla="*/ 6757 w 12710"/>
                  <a:gd name="T35" fmla="*/ 12698 h 12698"/>
                  <a:gd name="T36" fmla="*/ 11042 w 12710"/>
                  <a:gd name="T37" fmla="*/ 9127 h 12698"/>
                  <a:gd name="T38" fmla="*/ 11122 w 12710"/>
                  <a:gd name="T39" fmla="*/ 8333 h 12698"/>
                  <a:gd name="T40" fmla="*/ 10328 w 12710"/>
                  <a:gd name="T41" fmla="*/ 8333 h 12698"/>
                  <a:gd name="T42" fmla="*/ 10328 w 12710"/>
                  <a:gd name="T43" fmla="*/ 5158 h 12698"/>
                  <a:gd name="T44" fmla="*/ 10884 w 12710"/>
                  <a:gd name="T45" fmla="*/ 5158 h 12698"/>
                  <a:gd name="T46" fmla="*/ 11915 w 12710"/>
                  <a:gd name="T47" fmla="*/ 6508 h 12698"/>
                  <a:gd name="T48" fmla="*/ 11915 w 12710"/>
                  <a:gd name="T49" fmla="*/ 7063 h 12698"/>
                  <a:gd name="T50" fmla="*/ 10884 w 12710"/>
                  <a:gd name="T51" fmla="*/ 8413 h 12698"/>
                  <a:gd name="T52" fmla="*/ 11122 w 12710"/>
                  <a:gd name="T53" fmla="*/ 8413 h 12698"/>
                  <a:gd name="T54" fmla="*/ 11042 w 12710"/>
                  <a:gd name="T55" fmla="*/ 9206 h 12698"/>
                  <a:gd name="T56" fmla="*/ 12709 w 12710"/>
                  <a:gd name="T57" fmla="*/ 7143 h 12698"/>
                  <a:gd name="T58" fmla="*/ 12709 w 12710"/>
                  <a:gd name="T59" fmla="*/ 6349 h 12698"/>
                  <a:gd name="T60" fmla="*/ 11122 w 12710"/>
                  <a:gd name="T61" fmla="*/ 4365 h 12698"/>
                  <a:gd name="T62" fmla="*/ 1836 w 12710"/>
                  <a:gd name="T63" fmla="*/ 5159 h 12698"/>
                  <a:gd name="T64" fmla="*/ 2392 w 12710"/>
                  <a:gd name="T65" fmla="*/ 5159 h 12698"/>
                  <a:gd name="T66" fmla="*/ 2392 w 12710"/>
                  <a:gd name="T67" fmla="*/ 8413 h 12698"/>
                  <a:gd name="T68" fmla="*/ 1836 w 12710"/>
                  <a:gd name="T69" fmla="*/ 8413 h 12698"/>
                  <a:gd name="T70" fmla="*/ 805 w 12710"/>
                  <a:gd name="T71" fmla="*/ 6983 h 12698"/>
                  <a:gd name="T72" fmla="*/ 805 w 12710"/>
                  <a:gd name="T73" fmla="*/ 6508 h 12698"/>
                  <a:gd name="T74" fmla="*/ 1836 w 12710"/>
                  <a:gd name="T75" fmla="*/ 5159 h 12698"/>
                  <a:gd name="T76" fmla="*/ 1836 w 12710"/>
                  <a:gd name="T77" fmla="*/ 5159 h 12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710" h="12698">
                    <a:moveTo>
                      <a:pt x="11122" y="4365"/>
                    </a:moveTo>
                    <a:cubicBezTo>
                      <a:pt x="10963" y="1905"/>
                      <a:pt x="8900" y="0"/>
                      <a:pt x="6360" y="0"/>
                    </a:cubicBezTo>
                    <a:cubicBezTo>
                      <a:pt x="3820" y="0"/>
                      <a:pt x="1836" y="1905"/>
                      <a:pt x="1598" y="4365"/>
                    </a:cubicBezTo>
                    <a:cubicBezTo>
                      <a:pt x="725" y="4603"/>
                      <a:pt x="11" y="5396"/>
                      <a:pt x="11" y="6349"/>
                    </a:cubicBezTo>
                    <a:lnTo>
                      <a:pt x="11" y="7143"/>
                    </a:lnTo>
                    <a:cubicBezTo>
                      <a:pt x="0" y="8243"/>
                      <a:pt x="895" y="9137"/>
                      <a:pt x="1995" y="9127"/>
                    </a:cubicBezTo>
                    <a:lnTo>
                      <a:pt x="3186" y="9127"/>
                    </a:lnTo>
                    <a:lnTo>
                      <a:pt x="3186" y="4364"/>
                    </a:lnTo>
                    <a:lnTo>
                      <a:pt x="2392" y="4364"/>
                    </a:lnTo>
                    <a:cubicBezTo>
                      <a:pt x="2630" y="2381"/>
                      <a:pt x="4297" y="793"/>
                      <a:pt x="6360" y="793"/>
                    </a:cubicBezTo>
                    <a:cubicBezTo>
                      <a:pt x="8424" y="793"/>
                      <a:pt x="10090" y="2380"/>
                      <a:pt x="10328" y="4364"/>
                    </a:cubicBezTo>
                    <a:lnTo>
                      <a:pt x="9534" y="4364"/>
                    </a:lnTo>
                    <a:lnTo>
                      <a:pt x="9534" y="9127"/>
                    </a:lnTo>
                    <a:lnTo>
                      <a:pt x="10328" y="9127"/>
                    </a:lnTo>
                    <a:cubicBezTo>
                      <a:pt x="9931" y="10713"/>
                      <a:pt x="8503" y="11983"/>
                      <a:pt x="6757" y="11983"/>
                    </a:cubicBezTo>
                    <a:cubicBezTo>
                      <a:pt x="6519" y="11983"/>
                      <a:pt x="6202" y="11983"/>
                      <a:pt x="5963" y="11903"/>
                    </a:cubicBezTo>
                    <a:lnTo>
                      <a:pt x="5963" y="12618"/>
                    </a:lnTo>
                    <a:cubicBezTo>
                      <a:pt x="6202" y="12698"/>
                      <a:pt x="6519" y="12698"/>
                      <a:pt x="6757" y="12698"/>
                    </a:cubicBezTo>
                    <a:cubicBezTo>
                      <a:pt x="8900" y="12698"/>
                      <a:pt x="10725" y="11111"/>
                      <a:pt x="11042" y="9127"/>
                    </a:cubicBezTo>
                    <a:cubicBezTo>
                      <a:pt x="11122" y="8888"/>
                      <a:pt x="11122" y="8650"/>
                      <a:pt x="11122" y="8333"/>
                    </a:cubicBezTo>
                    <a:lnTo>
                      <a:pt x="10328" y="8333"/>
                    </a:lnTo>
                    <a:lnTo>
                      <a:pt x="10328" y="5158"/>
                    </a:lnTo>
                    <a:lnTo>
                      <a:pt x="10884" y="5158"/>
                    </a:lnTo>
                    <a:cubicBezTo>
                      <a:pt x="11438" y="5158"/>
                      <a:pt x="11915" y="5714"/>
                      <a:pt x="11915" y="6508"/>
                    </a:cubicBezTo>
                    <a:lnTo>
                      <a:pt x="11915" y="7063"/>
                    </a:lnTo>
                    <a:cubicBezTo>
                      <a:pt x="11915" y="7777"/>
                      <a:pt x="11438" y="8413"/>
                      <a:pt x="10884" y="8413"/>
                    </a:cubicBezTo>
                    <a:lnTo>
                      <a:pt x="11122" y="8413"/>
                    </a:lnTo>
                    <a:cubicBezTo>
                      <a:pt x="11122" y="8651"/>
                      <a:pt x="11122" y="8889"/>
                      <a:pt x="11042" y="9206"/>
                    </a:cubicBezTo>
                    <a:cubicBezTo>
                      <a:pt x="11994" y="8967"/>
                      <a:pt x="12709" y="8095"/>
                      <a:pt x="12709" y="7143"/>
                    </a:cubicBezTo>
                    <a:lnTo>
                      <a:pt x="12709" y="6349"/>
                    </a:lnTo>
                    <a:cubicBezTo>
                      <a:pt x="12710" y="5396"/>
                      <a:pt x="11995" y="4602"/>
                      <a:pt x="11122" y="4365"/>
                    </a:cubicBezTo>
                    <a:close/>
                    <a:moveTo>
                      <a:pt x="1836" y="5159"/>
                    </a:moveTo>
                    <a:lnTo>
                      <a:pt x="2392" y="5159"/>
                    </a:lnTo>
                    <a:lnTo>
                      <a:pt x="2392" y="8413"/>
                    </a:lnTo>
                    <a:lnTo>
                      <a:pt x="1836" y="8413"/>
                    </a:lnTo>
                    <a:cubicBezTo>
                      <a:pt x="1282" y="8333"/>
                      <a:pt x="805" y="7777"/>
                      <a:pt x="805" y="6983"/>
                    </a:cubicBezTo>
                    <a:lnTo>
                      <a:pt x="805" y="6508"/>
                    </a:lnTo>
                    <a:cubicBezTo>
                      <a:pt x="805" y="5715"/>
                      <a:pt x="1281" y="5159"/>
                      <a:pt x="1836" y="5159"/>
                    </a:cubicBezTo>
                    <a:close/>
                    <a:moveTo>
                      <a:pt x="1836" y="5159"/>
                    </a:moveTo>
                    <a:close/>
                  </a:path>
                </a:pathLst>
              </a:custGeom>
              <a:solidFill>
                <a:srgbClr val="FFFFFF"/>
              </a:solidFill>
              <a:ln>
                <a:noFill/>
              </a:ln>
            </p:spPr>
            <p:txBody>
              <a:bodyPr wrap="square" lIns="91440" tIns="45720" rIns="91440" bIns="45720" anchor="ctr">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16" name="Icon5"/>
              <p:cNvSpPr/>
              <p:nvPr/>
            </p:nvSpPr>
            <p:spPr bwMode="auto">
              <a:xfrm>
                <a:off x="8757545" y="4751442"/>
                <a:ext cx="362334" cy="317679"/>
              </a:xfrm>
              <a:custGeom>
                <a:avLst/>
                <a:gdLst>
                  <a:gd name="T0" fmla="*/ 9002 w 9195"/>
                  <a:gd name="T1" fmla="*/ 3977 h 8061"/>
                  <a:gd name="T2" fmla="*/ 6887 w 9195"/>
                  <a:gd name="T3" fmla="*/ 601 h 8061"/>
                  <a:gd name="T4" fmla="*/ 6693 w 9195"/>
                  <a:gd name="T5" fmla="*/ 422 h 8061"/>
                  <a:gd name="T6" fmla="*/ 4472 w 9195"/>
                  <a:gd name="T7" fmla="*/ 0 h 8061"/>
                  <a:gd name="T8" fmla="*/ 2246 w 9195"/>
                  <a:gd name="T9" fmla="*/ 442 h 8061"/>
                  <a:gd name="T10" fmla="*/ 2170 w 9195"/>
                  <a:gd name="T11" fmla="*/ 3573 h 8061"/>
                  <a:gd name="T12" fmla="*/ 121 w 9195"/>
                  <a:gd name="T13" fmla="*/ 3997 h 8061"/>
                  <a:gd name="T14" fmla="*/ 0 w 9195"/>
                  <a:gd name="T15" fmla="*/ 7186 h 8061"/>
                  <a:gd name="T16" fmla="*/ 2414 w 9195"/>
                  <a:gd name="T17" fmla="*/ 8060 h 8061"/>
                  <a:gd name="T18" fmla="*/ 2513 w 9195"/>
                  <a:gd name="T19" fmla="*/ 8061 h 8061"/>
                  <a:gd name="T20" fmla="*/ 6848 w 9195"/>
                  <a:gd name="T21" fmla="*/ 8060 h 8061"/>
                  <a:gd name="T22" fmla="*/ 6947 w 9195"/>
                  <a:gd name="T23" fmla="*/ 8061 h 8061"/>
                  <a:gd name="T24" fmla="*/ 9195 w 9195"/>
                  <a:gd name="T25" fmla="*/ 7201 h 8061"/>
                  <a:gd name="T26" fmla="*/ 9049 w 9195"/>
                  <a:gd name="T27" fmla="*/ 3996 h 8061"/>
                  <a:gd name="T28" fmla="*/ 342 w 9195"/>
                  <a:gd name="T29" fmla="*/ 7054 h 8061"/>
                  <a:gd name="T30" fmla="*/ 2294 w 9195"/>
                  <a:gd name="T31" fmla="*/ 4840 h 8061"/>
                  <a:gd name="T32" fmla="*/ 2423 w 9195"/>
                  <a:gd name="T33" fmla="*/ 4511 h 8061"/>
                  <a:gd name="T34" fmla="*/ 2364 w 9195"/>
                  <a:gd name="T35" fmla="*/ 3886 h 8061"/>
                  <a:gd name="T36" fmla="*/ 2423 w 9195"/>
                  <a:gd name="T37" fmla="*/ 4511 h 8061"/>
                  <a:gd name="T38" fmla="*/ 2637 w 9195"/>
                  <a:gd name="T39" fmla="*/ 7652 h 8061"/>
                  <a:gd name="T40" fmla="*/ 4419 w 9195"/>
                  <a:gd name="T41" fmla="*/ 4357 h 8061"/>
                  <a:gd name="T42" fmla="*/ 4419 w 9195"/>
                  <a:gd name="T43" fmla="*/ 3947 h 8061"/>
                  <a:gd name="T44" fmla="*/ 2470 w 9195"/>
                  <a:gd name="T45" fmla="*/ 794 h 8061"/>
                  <a:gd name="T46" fmla="*/ 4419 w 9195"/>
                  <a:gd name="T47" fmla="*/ 3947 h 8061"/>
                  <a:gd name="T48" fmla="*/ 3129 w 9195"/>
                  <a:gd name="T49" fmla="*/ 605 h 8061"/>
                  <a:gd name="T50" fmla="*/ 5887 w 9195"/>
                  <a:gd name="T51" fmla="*/ 606 h 8061"/>
                  <a:gd name="T52" fmla="*/ 4762 w 9195"/>
                  <a:gd name="T53" fmla="*/ 1240 h 8061"/>
                  <a:gd name="T54" fmla="*/ 6587 w 9195"/>
                  <a:gd name="T55" fmla="*/ 3580 h 8061"/>
                  <a:gd name="T56" fmla="*/ 4762 w 9195"/>
                  <a:gd name="T57" fmla="*/ 1240 h 8061"/>
                  <a:gd name="T58" fmla="*/ 4774 w 9195"/>
                  <a:gd name="T59" fmla="*/ 7054 h 8061"/>
                  <a:gd name="T60" fmla="*/ 6726 w 9195"/>
                  <a:gd name="T61" fmla="*/ 4840 h 8061"/>
                  <a:gd name="T62" fmla="*/ 6855 w 9195"/>
                  <a:gd name="T63" fmla="*/ 4511 h 8061"/>
                  <a:gd name="T64" fmla="*/ 6111 w 9195"/>
                  <a:gd name="T65" fmla="*/ 4026 h 8061"/>
                  <a:gd name="T66" fmla="*/ 8199 w 9195"/>
                  <a:gd name="T67" fmla="*/ 4166 h 8061"/>
                  <a:gd name="T68" fmla="*/ 8852 w 9195"/>
                  <a:gd name="T69" fmla="*/ 7081 h 8061"/>
                  <a:gd name="T70" fmla="*/ 7069 w 9195"/>
                  <a:gd name="T71" fmla="*/ 4821 h 8061"/>
                  <a:gd name="T72" fmla="*/ 8852 w 9195"/>
                  <a:gd name="T73" fmla="*/ 7081 h 80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195" h="8061">
                    <a:moveTo>
                      <a:pt x="9049" y="3996"/>
                    </a:moveTo>
                    <a:cubicBezTo>
                      <a:pt x="9034" y="3989"/>
                      <a:pt x="9019" y="3981"/>
                      <a:pt x="9002" y="3977"/>
                    </a:cubicBezTo>
                    <a:lnTo>
                      <a:pt x="6927" y="3557"/>
                    </a:lnTo>
                    <a:lnTo>
                      <a:pt x="6887" y="601"/>
                    </a:lnTo>
                    <a:cubicBezTo>
                      <a:pt x="6887" y="512"/>
                      <a:pt x="6827" y="450"/>
                      <a:pt x="6740" y="440"/>
                    </a:cubicBezTo>
                    <a:cubicBezTo>
                      <a:pt x="6725" y="432"/>
                      <a:pt x="6710" y="426"/>
                      <a:pt x="6693" y="422"/>
                    </a:cubicBezTo>
                    <a:lnTo>
                      <a:pt x="4534" y="0"/>
                    </a:lnTo>
                    <a:lnTo>
                      <a:pt x="4472" y="0"/>
                    </a:lnTo>
                    <a:lnTo>
                      <a:pt x="2304" y="421"/>
                    </a:lnTo>
                    <a:cubicBezTo>
                      <a:pt x="2283" y="425"/>
                      <a:pt x="2263" y="432"/>
                      <a:pt x="2246" y="442"/>
                    </a:cubicBezTo>
                    <a:cubicBezTo>
                      <a:pt x="2174" y="461"/>
                      <a:pt x="2125" y="520"/>
                      <a:pt x="2125" y="600"/>
                    </a:cubicBezTo>
                    <a:lnTo>
                      <a:pt x="2170" y="3573"/>
                    </a:lnTo>
                    <a:lnTo>
                      <a:pt x="179" y="3975"/>
                    </a:lnTo>
                    <a:cubicBezTo>
                      <a:pt x="158" y="3978"/>
                      <a:pt x="138" y="3987"/>
                      <a:pt x="121" y="3997"/>
                    </a:cubicBezTo>
                    <a:cubicBezTo>
                      <a:pt x="49" y="4017"/>
                      <a:pt x="0" y="4077"/>
                      <a:pt x="0" y="4160"/>
                    </a:cubicBezTo>
                    <a:lnTo>
                      <a:pt x="0" y="7186"/>
                    </a:lnTo>
                    <a:cubicBezTo>
                      <a:pt x="0" y="7269"/>
                      <a:pt x="50" y="7339"/>
                      <a:pt x="120" y="7356"/>
                    </a:cubicBezTo>
                    <a:lnTo>
                      <a:pt x="2414" y="8060"/>
                    </a:lnTo>
                    <a:lnTo>
                      <a:pt x="2465" y="8061"/>
                    </a:lnTo>
                    <a:lnTo>
                      <a:pt x="2513" y="8061"/>
                    </a:lnTo>
                    <a:lnTo>
                      <a:pt x="4620" y="7376"/>
                    </a:lnTo>
                    <a:lnTo>
                      <a:pt x="6848" y="8060"/>
                    </a:lnTo>
                    <a:lnTo>
                      <a:pt x="6899" y="8061"/>
                    </a:lnTo>
                    <a:lnTo>
                      <a:pt x="6947" y="8061"/>
                    </a:lnTo>
                    <a:lnTo>
                      <a:pt x="9080" y="7369"/>
                    </a:lnTo>
                    <a:cubicBezTo>
                      <a:pt x="9149" y="7334"/>
                      <a:pt x="9195" y="7266"/>
                      <a:pt x="9195" y="7201"/>
                    </a:cubicBezTo>
                    <a:lnTo>
                      <a:pt x="9195" y="4162"/>
                    </a:lnTo>
                    <a:cubicBezTo>
                      <a:pt x="9194" y="4071"/>
                      <a:pt x="9134" y="4007"/>
                      <a:pt x="9049" y="3996"/>
                    </a:cubicBezTo>
                    <a:close/>
                    <a:moveTo>
                      <a:pt x="2294" y="7654"/>
                    </a:moveTo>
                    <a:lnTo>
                      <a:pt x="342" y="7054"/>
                    </a:lnTo>
                    <a:lnTo>
                      <a:pt x="342" y="4359"/>
                    </a:lnTo>
                    <a:lnTo>
                      <a:pt x="2294" y="4840"/>
                    </a:lnTo>
                    <a:lnTo>
                      <a:pt x="2294" y="7654"/>
                    </a:lnTo>
                    <a:close/>
                    <a:moveTo>
                      <a:pt x="2423" y="4511"/>
                    </a:moveTo>
                    <a:lnTo>
                      <a:pt x="999" y="4165"/>
                    </a:lnTo>
                    <a:lnTo>
                      <a:pt x="2364" y="3886"/>
                    </a:lnTo>
                    <a:lnTo>
                      <a:pt x="3704" y="4181"/>
                    </a:lnTo>
                    <a:lnTo>
                      <a:pt x="2423" y="4511"/>
                    </a:lnTo>
                    <a:close/>
                    <a:moveTo>
                      <a:pt x="4419" y="7081"/>
                    </a:moveTo>
                    <a:lnTo>
                      <a:pt x="2637" y="7652"/>
                    </a:lnTo>
                    <a:lnTo>
                      <a:pt x="2637" y="4821"/>
                    </a:lnTo>
                    <a:lnTo>
                      <a:pt x="4419" y="4357"/>
                    </a:lnTo>
                    <a:lnTo>
                      <a:pt x="4419" y="7081"/>
                    </a:lnTo>
                    <a:close/>
                    <a:moveTo>
                      <a:pt x="4419" y="3947"/>
                    </a:moveTo>
                    <a:lnTo>
                      <a:pt x="2514" y="3562"/>
                    </a:lnTo>
                    <a:lnTo>
                      <a:pt x="2470" y="794"/>
                    </a:lnTo>
                    <a:lnTo>
                      <a:pt x="4419" y="1259"/>
                    </a:lnTo>
                    <a:lnTo>
                      <a:pt x="4419" y="3947"/>
                    </a:lnTo>
                    <a:close/>
                    <a:moveTo>
                      <a:pt x="4548" y="939"/>
                    </a:moveTo>
                    <a:lnTo>
                      <a:pt x="3129" y="605"/>
                    </a:lnTo>
                    <a:lnTo>
                      <a:pt x="4505" y="334"/>
                    </a:lnTo>
                    <a:lnTo>
                      <a:pt x="5887" y="606"/>
                    </a:lnTo>
                    <a:lnTo>
                      <a:pt x="4548" y="939"/>
                    </a:lnTo>
                    <a:close/>
                    <a:moveTo>
                      <a:pt x="4762" y="1240"/>
                    </a:moveTo>
                    <a:lnTo>
                      <a:pt x="6548" y="791"/>
                    </a:lnTo>
                    <a:lnTo>
                      <a:pt x="6587" y="3580"/>
                    </a:lnTo>
                    <a:lnTo>
                      <a:pt x="4762" y="3947"/>
                    </a:lnTo>
                    <a:lnTo>
                      <a:pt x="4762" y="1240"/>
                    </a:lnTo>
                    <a:close/>
                    <a:moveTo>
                      <a:pt x="6726" y="7654"/>
                    </a:moveTo>
                    <a:lnTo>
                      <a:pt x="4774" y="7054"/>
                    </a:lnTo>
                    <a:lnTo>
                      <a:pt x="4774" y="4359"/>
                    </a:lnTo>
                    <a:lnTo>
                      <a:pt x="6726" y="4840"/>
                    </a:lnTo>
                    <a:lnTo>
                      <a:pt x="6726" y="7654"/>
                    </a:lnTo>
                    <a:close/>
                    <a:moveTo>
                      <a:pt x="6855" y="4511"/>
                    </a:moveTo>
                    <a:lnTo>
                      <a:pt x="5459" y="4171"/>
                    </a:lnTo>
                    <a:lnTo>
                      <a:pt x="6111" y="4026"/>
                    </a:lnTo>
                    <a:lnTo>
                      <a:pt x="6814" y="3884"/>
                    </a:lnTo>
                    <a:lnTo>
                      <a:pt x="8199" y="4166"/>
                    </a:lnTo>
                    <a:lnTo>
                      <a:pt x="6855" y="4511"/>
                    </a:lnTo>
                    <a:close/>
                    <a:moveTo>
                      <a:pt x="8852" y="7081"/>
                    </a:moveTo>
                    <a:lnTo>
                      <a:pt x="7069" y="7654"/>
                    </a:lnTo>
                    <a:lnTo>
                      <a:pt x="7069" y="4821"/>
                    </a:lnTo>
                    <a:lnTo>
                      <a:pt x="8852" y="4357"/>
                    </a:lnTo>
                    <a:lnTo>
                      <a:pt x="8852" y="7081"/>
                    </a:lnTo>
                    <a:close/>
                  </a:path>
                </a:pathLst>
              </a:custGeom>
              <a:solidFill>
                <a:schemeClr val="accent1"/>
              </a:solidFill>
              <a:ln>
                <a:noFill/>
              </a:ln>
            </p:spPr>
            <p:txBody>
              <a:bodyPr wrap="square" lIns="91440" tIns="45720" rIns="91440" bIns="45720" anchor="ctr">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grpSp>
      </p:grpSp>
      <p:sp>
        <p:nvSpPr>
          <p:cNvPr id="2" name="标题 1"/>
          <p:cNvSpPr>
            <a:spLocks noGrp="1"/>
          </p:cNvSpPr>
          <p:nvPr>
            <p:ph type="title" hasCustomPrompt="1"/>
          </p:nvPr>
        </p:nvSpPr>
        <p:spPr/>
        <p:txBody>
          <a:bodyPr>
            <a:normAutofit/>
          </a:bodyPr>
          <a:lstStyle/>
          <a:p>
            <a:pPr marL="0" marR="0" lvl="0" indent="0" algn="l">
              <a:lnSpc>
                <a:spcPct val="100000"/>
              </a:lnSpc>
            </a:pPr>
            <a:r>
              <a:rPr lang="zh-CN" altLang="en-US" sz="2800" b="1" dirty="0">
                <a:solidFill>
                  <a:schemeClr val="accent1"/>
                </a:solidFill>
              </a:rPr>
              <a:t>Comparative Methods</a:t>
            </a:r>
            <a:endParaRPr lang="en-US" dirty="0"/>
          </a:p>
        </p:txBody>
      </p:sp>
      <p:sp>
        <p:nvSpPr>
          <p:cNvPr id="3" name="日期占位符 2"/>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a:bodyPr>
          <a:lstStyle/>
          <a:p>
            <a:pPr marL="0" marR="0" lvl="0" indent="0" algn="l">
              <a:lnSpc>
                <a:spcPct val="100000"/>
              </a:lnSpc>
            </a:pPr>
            <a:r>
              <a:rPr lang="zh-CN" altLang="en-US" sz="2800" b="1" dirty="0">
                <a:solidFill>
                  <a:schemeClr val="accent1"/>
                </a:solidFill>
              </a:rPr>
              <a:t>RQ1: Effectiveness of COCA</a:t>
            </a:r>
            <a:endParaRPr lang="en-US" dirty="0"/>
          </a:p>
        </p:txBody>
      </p:sp>
      <p:pic>
        <p:nvPicPr>
          <p:cNvPr id="3" name="图片 2"/>
          <p:cNvPicPr>
            <a:picLocks noChangeAspect="1"/>
          </p:cNvPicPr>
          <p:nvPr/>
        </p:nvPicPr>
        <p:blipFill>
          <a:blip r:embed="rId2"/>
          <a:stretch>
            <a:fillRect/>
          </a:stretch>
        </p:blipFill>
        <p:spPr>
          <a:xfrm>
            <a:off x="1353185" y="1260475"/>
            <a:ext cx="9486265" cy="50539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a:bodyPr>
          <a:lstStyle/>
          <a:p>
            <a:pPr marL="0" marR="0" lvl="0" indent="0" algn="l">
              <a:lnSpc>
                <a:spcPct val="100000"/>
              </a:lnSpc>
            </a:pPr>
            <a:r>
              <a:rPr lang="zh-CN" altLang="en-US" sz="2800" b="1" dirty="0">
                <a:solidFill>
                  <a:schemeClr val="accent1"/>
                </a:solidFill>
              </a:rPr>
              <a:t>RQ2: Impact of different phases in COCA</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t>20</a:t>
            </a:fld>
            <a:endParaRPr lang="en-US"/>
          </a:p>
        </p:txBody>
      </p:sp>
      <p:pic>
        <p:nvPicPr>
          <p:cNvPr id="6" name="图片 5"/>
          <p:cNvPicPr>
            <a:picLocks noChangeAspect="1"/>
          </p:cNvPicPr>
          <p:nvPr/>
        </p:nvPicPr>
        <p:blipFill>
          <a:blip r:embed="rId2"/>
          <a:srcRect r="1268"/>
          <a:stretch>
            <a:fillRect/>
          </a:stretch>
        </p:blipFill>
        <p:spPr>
          <a:xfrm>
            <a:off x="127000" y="1962785"/>
            <a:ext cx="12065000" cy="29324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a:bodyPr>
          <a:lstStyle/>
          <a:p>
            <a:pPr marL="0" marR="0" lvl="0" indent="0" algn="l">
              <a:lnSpc>
                <a:spcPct val="100000"/>
              </a:lnSpc>
            </a:pPr>
            <a:r>
              <a:rPr lang="zh-CN" altLang="en-US" sz="2800" b="1" dirty="0">
                <a:solidFill>
                  <a:schemeClr val="accent1"/>
                </a:solidFill>
              </a:rPr>
              <a:t>RQ3: Generalizability of COCA</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t>21</a:t>
            </a:fld>
            <a:endParaRPr lang="en-US"/>
          </a:p>
        </p:txBody>
      </p:sp>
      <p:pic>
        <p:nvPicPr>
          <p:cNvPr id="6" name="图片 5"/>
          <p:cNvPicPr>
            <a:picLocks noChangeAspect="1"/>
          </p:cNvPicPr>
          <p:nvPr/>
        </p:nvPicPr>
        <p:blipFill>
          <a:blip r:embed="rId2"/>
          <a:stretch>
            <a:fillRect/>
          </a:stretch>
        </p:blipFill>
        <p:spPr>
          <a:xfrm>
            <a:off x="1292860" y="1414145"/>
            <a:ext cx="9372600" cy="40290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hasCustomPrompt="1"/>
          </p:nvPr>
        </p:nvSpPr>
        <p:spPr/>
        <p:txBody>
          <a:bodyPr/>
          <a:lstStyle/>
          <a:p>
            <a:r>
              <a:rPr lang="zh-CN" altLang="en-US" dirty="0"/>
              <a:t>Thank You</a:t>
            </a:r>
            <a:endParaRPr lang="en-US" dirty="0"/>
          </a:p>
        </p:txBody>
      </p:sp>
      <p:sp>
        <p:nvSpPr>
          <p:cNvPr id="13" name="文本占位符 12"/>
          <p:cNvSpPr>
            <a:spLocks noGrp="1"/>
          </p:cNvSpPr>
          <p:nvPr>
            <p:ph type="body" sz="quarter" idx="13" hasCustomPrompt="1"/>
          </p:nvPr>
        </p:nvSpPr>
        <p:spPr/>
        <p:txBody>
          <a:bodyPr>
            <a:normAutofit fontScale="62500" lnSpcReduction="20000"/>
          </a:bodyPr>
          <a:lstStyle/>
          <a:p>
            <a:r>
              <a:rPr lang="zh-CN" altLang="en-US" dirty="0"/>
              <a:t>Enhancing root cause analysis through code knowledge integration in distributed systems</a:t>
            </a:r>
            <a:endParaRPr lang="en-US" dirty="0"/>
          </a:p>
        </p:txBody>
      </p:sp>
      <p:sp>
        <p:nvSpPr>
          <p:cNvPr id="15" name="文本占位符 14"/>
          <p:cNvSpPr>
            <a:spLocks noGrp="1"/>
          </p:cNvSpPr>
          <p:nvPr>
            <p:ph type="body" sz="quarter" idx="14" hasCustomPrompt="1"/>
          </p:nvPr>
        </p:nvSpPr>
        <p:spPr/>
        <p:txBody>
          <a:bodyPr/>
          <a:lstStyle/>
          <a:p>
            <a:r>
              <a:rPr lang="zh-CN" altLang="en-US" dirty="0"/>
              <a:t>2025/12/20</a:t>
            </a:r>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IGC" val="{&quot;Label&quot;:&quot;1&quot;,&quot;ContentProducer&quot;:&quot;\u6210\u90fd\u8292\u610f\u8f6f\u4ef6\u6280\u672f\u6709\u9650\u516c\u53f8&quot;,&quot;ProduceID&quot;:&quot;263d963edddba12d5fa1f101d4a4f4a7&quot;,&quot;ReservedCode1&quot;:&quot;a5a503ff78ff01e810fe3d020cff6dae027d496a7762ea11fdb7abe22bb77540&quot;,&quot;ContentPropagator&quot;:&quot;\u6210\u90fd\u8292\u610f\u8f6f\u4ef6\u6280\u672f\u6709\u9650\u516c\u53f8&quot;,&quot;PropagateID&quot;:&quot;263d963edddba12d5fa1f101d4a4f4a7&quot;,&quot;ReservedCode2&quot;:&quot;a5a503ff78ff01e810fe3d020cff6dae027d496a7762ea11fdb7abe22bb77540&quot;}"/>
  <p:tag name="TASKID" val="de57ce81cac2b38dd21d65ec3ea219bf"/>
  <p:tag name="THEMEID" val="2d85f150-6c8c-4aa7-8553-7d91be1a9841-theme"/>
</p:tagLst>
</file>

<file path=ppt/theme/theme1.xml><?xml version="1.0" encoding="utf-8"?>
<a:theme xmlns:a="http://schemas.openxmlformats.org/drawingml/2006/main" name="Designed by iSlide">
  <a:themeElements>
    <a:clrScheme name="iSlide">
      <a:dk1>
        <a:srgbClr val="000000"/>
      </a:dk1>
      <a:lt1>
        <a:srgbClr val="FFFFFF"/>
      </a:lt1>
      <a:dk2>
        <a:srgbClr val="778495"/>
      </a:dk2>
      <a:lt2>
        <a:srgbClr val="F0F0F0"/>
      </a:lt2>
      <a:accent1>
        <a:srgbClr val="205497"/>
      </a:accent1>
      <a:accent2>
        <a:srgbClr val="178AA1"/>
      </a:accent2>
      <a:accent3>
        <a:srgbClr val="40A693"/>
      </a:accent3>
      <a:accent4>
        <a:srgbClr val="5268A5"/>
      </a:accent4>
      <a:accent5>
        <a:srgbClr val="5E5CA2"/>
      </a:accent5>
      <a:accent6>
        <a:srgbClr val="778495"/>
      </a:accent6>
      <a:hlink>
        <a:srgbClr val="4276AA"/>
      </a:hlink>
      <a:folHlink>
        <a:srgbClr val="BFBFBF"/>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 Presentation Template</Template>
  <TotalTime>37</TotalTime>
  <Words>1452</Words>
  <Application>Microsoft Office PowerPoint</Application>
  <PresentationFormat>宽屏</PresentationFormat>
  <Paragraphs>196</Paragraphs>
  <Slides>22</Slides>
  <Notes>0</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22</vt:i4>
      </vt:variant>
    </vt:vector>
  </HeadingPairs>
  <TitlesOfParts>
    <vt:vector size="24" baseType="lpstr">
      <vt:lpstr>Arial</vt:lpstr>
      <vt:lpstr>Designed by iSlide</vt:lpstr>
      <vt:lpstr>COCA: Generative Root Cause Analysis for Distributed Systems with Code Knowledge</vt:lpstr>
      <vt:lpstr>Background</vt:lpstr>
      <vt:lpstr>Background</vt:lpstr>
      <vt:lpstr>Background</vt:lpstr>
      <vt:lpstr>COCA</vt:lpstr>
      <vt:lpstr>Challenges of Integrating Code Knowledge into RCA</vt:lpstr>
      <vt:lpstr>COCA Flowchart</vt:lpstr>
      <vt:lpstr>Issue Reports in Distributed Systems</vt:lpstr>
      <vt:lpstr>I : Logging Source Retrieval</vt:lpstr>
      <vt:lpstr>I : Logging Source Retrieval</vt:lpstr>
      <vt:lpstr> II: Execution Path Reconstruction</vt:lpstr>
      <vt:lpstr> II : Execution Path Reconstruction</vt:lpstr>
      <vt:lpstr> III : Failure-Related Code Profiling</vt:lpstr>
      <vt:lpstr>IV :  Root Cause Inference</vt:lpstr>
      <vt:lpstr>EXPERIMENT SETUP</vt:lpstr>
      <vt:lpstr>Dataset</vt:lpstr>
      <vt:lpstr>Evaluation Metrics</vt:lpstr>
      <vt:lpstr>Comparative Methods</vt:lpstr>
      <vt:lpstr>RQ1: Effectiveness of COCA</vt:lpstr>
      <vt:lpstr>RQ2: Impact of different phases in COCA</vt:lpstr>
      <vt:lpstr>RQ3: Generalizability of COCA</vt:lpstr>
      <vt:lpstr>Thank You</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iSlide</dc:creator>
  <cp:lastModifiedBy>金hui 牛</cp:lastModifiedBy>
  <cp:revision>5</cp:revision>
  <cp:lastPrinted>2025-01-09T00:00:00Z</cp:lastPrinted>
  <dcterms:created xsi:type="dcterms:W3CDTF">2025-01-09T00:00:00Z</dcterms:created>
  <dcterms:modified xsi:type="dcterms:W3CDTF">2025-12-21T11:11:40Z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2d85f150-6c8c-4aa7-8553-7d91be1a9841</vt:lpwstr>
  </property>
  <property fmtid="{D5CDD505-2E9C-101B-9397-08002B2CF9AE}" pid="3" name="ICV">
    <vt:lpwstr>FF2E66BE5EA14B028E8D118D5436A79B_12</vt:lpwstr>
  </property>
  <property fmtid="{D5CDD505-2E9C-101B-9397-08002B2CF9AE}" pid="4" name="KSOProductBuildVer">
    <vt:lpwstr>2052-12.1.0.24034</vt:lpwstr>
  </property>
</Properties>
</file>