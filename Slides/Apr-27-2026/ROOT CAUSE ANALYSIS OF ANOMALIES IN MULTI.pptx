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9" r:id="rId4"/>
    <p:sldId id="263" r:id="rId5"/>
    <p:sldId id="295" r:id="rId6"/>
    <p:sldId id="265" r:id="rId7"/>
    <p:sldId id="267" r:id="rId8"/>
    <p:sldId id="296" r:id="rId9"/>
    <p:sldId id="284" r:id="rId10"/>
    <p:sldId id="300" r:id="rId11"/>
    <p:sldId id="301" r:id="rId12"/>
    <p:sldId id="302" r:id="rId13"/>
    <p:sldId id="285" r:id="rId14"/>
    <p:sldId id="303" r:id="rId15"/>
    <p:sldId id="304" r:id="rId16"/>
    <p:sldId id="305" r:id="rId17"/>
    <p:sldId id="278" r:id="rId18"/>
    <p:sldId id="277" r:id="rId19"/>
    <p:sldId id="279" r:id="rId20"/>
    <p:sldId id="288" r:id="rId21"/>
    <p:sldId id="281" r:id="rId22"/>
    <p:sldId id="282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3617" autoAdjust="0"/>
  </p:normalViewPr>
  <p:slideViewPr>
    <p:cSldViewPr snapToGrid="0">
      <p:cViewPr varScale="1">
        <p:scale>
          <a:sx n="92" d="100"/>
          <a:sy n="92" d="100"/>
        </p:scale>
        <p:origin x="1110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73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5549F5-1CC0-4F34-88F6-5945530E48D1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2BA46B-E1B2-4520-80B7-3F1B8A68F9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931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dirty="0"/>
              <a:t>基于格兰杰因果发现的多元时间序列异常根因分析</a:t>
            </a:r>
            <a:r>
              <a:rPr lang="en-US" altLang="zh-CN" dirty="0"/>
              <a:t>,ICLR 2025,</a:t>
            </a:r>
            <a:r>
              <a:rPr lang="zh-CN" altLang="en-US" dirty="0"/>
              <a:t>犹他州立大学</a:t>
            </a:r>
            <a:endParaRPr lang="zh-CN" altLang="en-US" b="1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BA46B-E1B2-4520-80B7-3F1B8A68F93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329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将从六个方面介绍这篇文章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BA46B-E1B2-4520-80B7-3F1B8A68F93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514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多元时间序列数据的根因分析（即识别异常的潜在诱因）在诸多领域有广泛应用。首先我们简要介绍多元时间序列和异常，多元时间序列本质上是一组有序序列，其中每个数据点由多个实值变量组成。比如发电或者医学，在这样的系统中，可能出现异常现象。这些异常可能由多种原因引起，可能是数据测量错误或者不同寻常的事件，总之识别和理解异常的根本原因是至关重要的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BA46B-E1B2-4520-80B7-3F1B8A68F93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887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2</a:t>
            </a:r>
            <a:r>
              <a:rPr lang="zh-CN" altLang="en-US" dirty="0"/>
              <a:t>挑战。根因分析的一个主要挑战来源于系统依赖关系的复杂性，在现实系统中，故障通常不是孤立的，它们会传播到各个地方，使得根因分析更具挑战。以水处理厂这类信息物理系统为例，系统搭载水位、</a:t>
            </a:r>
            <a:r>
              <a:rPr lang="en-US" altLang="zh-CN" dirty="0"/>
              <a:t>pH </a:t>
            </a:r>
            <a:r>
              <a:rPr lang="zh-CN" altLang="en-US" dirty="0"/>
              <a:t>值、电导率等多类传感器，生成多元时间序列数据。若攻击者过量投放氢氧化钠，会导致 </a:t>
            </a:r>
            <a:r>
              <a:rPr lang="en-US" altLang="zh-CN" dirty="0"/>
              <a:t>pH </a:t>
            </a:r>
            <a:r>
              <a:rPr lang="zh-CN" altLang="en-US" dirty="0"/>
              <a:t>值、电导率等指标出现异常读数。根因分析的目标正是定位这类异常行为的源头，即便时间序列数据会对其他指标产生连锁反应。本文提出一种一体化方法，将格兰杰因果发现与根因分析深度融合。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BA46B-E1B2-4520-80B7-3F1B8A68F93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0417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在深入探讨前先了解预备知识。首先是格兰杰因果关系，常用于建模多元时间序列的因果关系，核心假设为：若已知 </a:t>
            </a:r>
            <a:r>
              <a:rPr lang="en-US" altLang="zh-CN" dirty="0"/>
              <a:t>X </a:t>
            </a:r>
            <a:r>
              <a:rPr lang="zh-CN" altLang="en-US" dirty="0"/>
              <a:t>的历史信息能提升对 </a:t>
            </a:r>
            <a:r>
              <a:rPr lang="en-US" altLang="zh-CN" dirty="0"/>
              <a:t>Y </a:t>
            </a:r>
            <a:r>
              <a:rPr lang="zh-CN" altLang="en-US" dirty="0"/>
              <a:t>未来值的预测效果，则</a:t>
            </a:r>
            <a:r>
              <a:rPr lang="en-US" altLang="zh-CN" dirty="0"/>
              <a:t>X </a:t>
            </a:r>
            <a:r>
              <a:rPr lang="zh-CN" altLang="en-US" dirty="0"/>
              <a:t>格兰杰导致 </a:t>
            </a:r>
            <a:r>
              <a:rPr lang="en-US" altLang="zh-CN" dirty="0"/>
              <a:t>Y</a:t>
            </a:r>
            <a:r>
              <a:rPr lang="zh-CN" altLang="en-US" dirty="0"/>
              <a:t>。近年来非线性格兰杰因果性也被提出，设平稳时间序列为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X=(x1​,...,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xt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​,...,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xT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​)</a:t>
            </a:r>
            <a:r>
              <a:rPr lang="zh-CN" altLang="en-US" dirty="0"/>
              <a:t>，假设真实数据生成机制为下面这个公式：</a:t>
            </a:r>
            <a:endParaRPr lang="zh-CN" altLang="en-US" b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其中，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x≤t−1(j)​=[⋯,xt−2(j)​,xt−1(j)​]</a:t>
            </a:r>
            <a:r>
              <a:rPr lang="zh-CN" altLang="en-US" dirty="0"/>
              <a:t>表示序列 </a:t>
            </a:r>
            <a:r>
              <a:rPr lang="en-US" altLang="zh-CN" dirty="0"/>
              <a:t>j </a:t>
            </a:r>
            <a:r>
              <a:rPr lang="zh-CN" altLang="en-US" dirty="0"/>
              <a:t>的历史数据；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ut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(j)​∈u(j)</a:t>
            </a:r>
            <a:r>
              <a:rPr lang="zh-CN" altLang="en-US" dirty="0"/>
              <a:t>为 </a:t>
            </a:r>
            <a:r>
              <a:rPr lang="en-US" altLang="zh-CN" dirty="0"/>
              <a:t>t </a:t>
            </a:r>
            <a:r>
              <a:rPr lang="zh-CN" altLang="en-US" dirty="0"/>
              <a:t>时刻时间序列 </a:t>
            </a:r>
            <a:r>
              <a:rPr lang="en-US" altLang="zh-CN" dirty="0"/>
              <a:t>j 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外生变量</a:t>
            </a:r>
            <a:r>
              <a:rPr lang="zh-CN" altLang="en-US" dirty="0"/>
              <a:t>；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f(j)(⋅)</a:t>
            </a:r>
            <a:r>
              <a:rPr lang="zh-CN" altLang="en-US" dirty="0"/>
              <a:t>为刻画历史值对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x(j)</a:t>
            </a:r>
            <a:r>
              <a:rPr lang="zh-CN" altLang="en-US" dirty="0"/>
              <a:t>未来值影响的函数。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若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f(j)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KaTeX_Main"/>
              </a:rPr>
              <a:t>函数</a:t>
            </a:r>
            <a:r>
              <a:rPr lang="zh-CN" altLang="en-US" dirty="0"/>
              <a:t>依赖于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x≤t−1(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)​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KaTeX_Main"/>
              </a:rPr>
              <a:t>（历史数据）</a:t>
            </a:r>
            <a:r>
              <a:rPr lang="zh-CN" altLang="en-US" dirty="0"/>
              <a:t>，则时间序列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格兰杰导致 </a:t>
            </a:r>
            <a:r>
              <a:rPr lang="en-US" altLang="zh-CN" dirty="0"/>
              <a:t>j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BA46B-E1B2-4520-80B7-3F1B8A68F93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621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我们将异常的根因视作对结构因果模型中外生变量的干预，也就是我们提出的 “外生干预”。正常状态下外生变量服从稳定分布，异常发生时则受到干预。我们提出一种新型格兰杰因果发现方法，首先利用格兰杰因果来挖掘时间序列中的因果关系；接着，通过编码器显式计算外生变量，解码器则模拟格兰杰因果性定义的数据生成机制，预测当前时刻值。最终，借助学习到的格兰杰因果关系，我们能够在根因识别过程中捕捉复杂的下游影响路径，实现更准确、更具可解释性的异常诊断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BA46B-E1B2-4520-80B7-3F1B8A68F93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587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现在我们介绍方法实现的细节，</a:t>
            </a:r>
            <a:r>
              <a:rPr lang="zh-CN" altLang="en-US" dirty="0"/>
              <a:t>我们将异常的根因视作对结构因果模型中外生变量的干预，本文聚焦于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单个或多个时间序列受外生干预</a:t>
            </a:r>
            <a:r>
              <a:rPr lang="zh-CN" altLang="en-US" dirty="0"/>
              <a:t>引发的异常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x~t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(j)​</a:t>
            </a:r>
            <a:r>
              <a:rPr lang="zh-CN" altLang="en-US" dirty="0"/>
              <a:t>，该异常会导致其外生变量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u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KaTeX_Main"/>
              </a:rPr>
              <a:t>点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t(j)​</a:t>
            </a:r>
            <a:r>
              <a:rPr lang="zh-CN" altLang="en-US" dirty="0"/>
              <a:t>显著偏离正常值，可定义为：其中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u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KaTeX_Main"/>
              </a:rPr>
              <a:t>点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t(j)​=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ut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(j)​+</a:t>
            </a:r>
            <a:r>
              <a:rPr lang="el-GR" altLang="zh-CN" b="0" dirty="0">
                <a:solidFill>
                  <a:srgbClr val="000000"/>
                </a:solidFill>
                <a:effectLst/>
                <a:latin typeface="KaTeX_Main"/>
              </a:rPr>
              <a:t>ϵ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t(j)​</a:t>
            </a:r>
            <a:r>
              <a:rPr lang="zh-CN" altLang="en-US" dirty="0"/>
              <a:t>，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KaTeX_Main"/>
              </a:rPr>
              <a:t>一批西龙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t(j)​</a:t>
            </a:r>
            <a:r>
              <a:rPr lang="zh-CN" altLang="en-US" dirty="0"/>
              <a:t>为异常项。由外生干预引发的异常时间序列可分为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点异常</a:t>
            </a:r>
            <a:r>
              <a:rPr lang="zh-CN" altLang="en-US" dirty="0"/>
              <a:t>（某时间步对特定时间序列实施外生干预）与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序列异常</a:t>
            </a:r>
            <a:r>
              <a:rPr lang="zh-CN" altLang="en-US" dirty="0"/>
              <a:t>（外生干预沿因果结构模型时序传播，或在多个时间步持续实施外生干预）。所以我们定义：根因识别是定位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特定时间步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ui-sans-serif"/>
              </a:rPr>
              <a:t>t 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上，外生变量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u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KaTeX_Main"/>
              </a:rPr>
              <a:t>点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t(j)​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异常的时间序列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ui-sans-serif"/>
              </a:rPr>
              <a:t>/ 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变量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ui-sans-serif"/>
              </a:rPr>
              <a:t>(j)</a:t>
            </a:r>
            <a:r>
              <a:rPr lang="zh-CN" altLang="en-US" dirty="0"/>
              <a:t>。</a:t>
            </a:r>
            <a:endParaRPr lang="zh-CN" altLang="en-US" b="0" dirty="0">
              <a:solidFill>
                <a:srgbClr val="000000"/>
              </a:solidFill>
              <a:effectLst/>
              <a:latin typeface="ui-sans-serif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BA46B-E1B2-4520-80B7-3F1B8A68F93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4691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以下是本文提出方案的框架，本文开发了一个编码器解码器结构，在正常的数据中学习格兰杰因果关系，然后利用所学到的因果结构进行根因分析，识别特定时间步里面异常的外生变量。接下来我们会解释框架中的每个组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BA46B-E1B2-4520-80B7-3F1B8A68F93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0720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为建模数据生成过程（即因果关系与外生变量分布），我们采用编码器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-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解码器结构模拟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溯因推理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与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演绎推理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：</a:t>
            </a:r>
          </a:p>
          <a:p>
            <a:pPr algn="l"/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溯因推理：寻找最合理的解释，即推导生成观测时间序列的最可能外生变量（诱因），</a:t>
            </a:r>
            <a:r>
              <a:rPr lang="zh-CN" altLang="en-US" dirty="0"/>
              <a:t>基于格兰杰因果性，</a:t>
            </a:r>
            <a:r>
              <a:rPr lang="en-US" altLang="zh-CN" dirty="0"/>
              <a:t>t </a:t>
            </a:r>
            <a:r>
              <a:rPr lang="zh-CN" altLang="en-US" dirty="0"/>
              <a:t>时刻时间序列值等于历史时间序列的函数值加当前时刻外生项，在模拟溯因推理时，编码器基于观测数据推导外生变量，将公式 </a:t>
            </a:r>
            <a:r>
              <a:rPr lang="en-US" altLang="zh-CN" dirty="0"/>
              <a:t>(1) </a:t>
            </a:r>
            <a:r>
              <a:rPr lang="zh-CN" altLang="en-US" dirty="0"/>
              <a:t>改写为：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ut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​:=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xt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​−f(x≤t−1​)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KaTeX_Main"/>
              </a:rPr>
              <a:t>。</a:t>
            </a:r>
            <a:endParaRPr lang="zh-CN" altLang="en-US" b="0" dirty="0">
              <a:solidFill>
                <a:srgbClr val="000000"/>
              </a:solidFill>
              <a:effectLst/>
              <a:latin typeface="ui-sans-serif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BA46B-E1B2-4520-80B7-3F1B8A68F93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9918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dirty="0"/>
              <a:t>演绎推理：从已知诱因推导结果，即从外生变量重构观测数据。通过递归拆解前序时间步（将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xt−1​</a:t>
            </a:r>
            <a:r>
              <a:rPr lang="zh-CN" altLang="en-US" dirty="0"/>
              <a:t>用其前序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xt−2​</a:t>
            </a:r>
            <a:r>
              <a:rPr lang="zh-CN" altLang="en-US" dirty="0"/>
              <a:t>表示，依此类推至首个时间步），可将公式改写为外生变量的函数形式：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xt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​=f(u≤t−1​)+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ut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​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KaTeX_Main"/>
              </a:rPr>
              <a:t>。</a:t>
            </a:r>
            <a:r>
              <a:rPr lang="zh-CN" altLang="en-US" dirty="0"/>
              <a:t>该式表明，</a:t>
            </a:r>
            <a:r>
              <a:rPr lang="en-US" altLang="zh-CN" dirty="0"/>
              <a:t>t </a:t>
            </a:r>
            <a:r>
              <a:rPr lang="zh-CN" altLang="en-US" dirty="0"/>
              <a:t>时刻观测数据可表示为所有前序外生变量的函数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f~​(⋅)</a:t>
            </a:r>
            <a:r>
              <a:rPr lang="zh-CN" altLang="en-US" dirty="0"/>
              <a:t>。在编码器 </a:t>
            </a:r>
            <a:r>
              <a:rPr lang="en-US" altLang="zh-CN" dirty="0"/>
              <a:t>- </a:t>
            </a:r>
            <a:r>
              <a:rPr lang="zh-CN" altLang="en-US" dirty="0"/>
              <a:t>解码器框架中，该函数充当解码器，直接从外生变量重构观测数据。</a:t>
            </a:r>
            <a:endParaRPr lang="zh-CN" altLang="en-US" b="0" dirty="0">
              <a:solidFill>
                <a:srgbClr val="000000"/>
              </a:solidFill>
              <a:effectLst/>
              <a:latin typeface="ui-sans-serif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BA46B-E1B2-4520-80B7-3F1B8A68F93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3759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dirty="0"/>
              <a:t>基于以上分析，我们构建编码器 </a:t>
            </a:r>
            <a:r>
              <a:rPr lang="en-US" altLang="zh-CN" dirty="0"/>
              <a:t>- </a:t>
            </a:r>
            <a:r>
              <a:rPr lang="zh-CN" altLang="en-US" dirty="0"/>
              <a:t>解码器结构：编码器以历史时间序列值为输入，学习格兰杰因果关系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f(⋅)</a:t>
            </a:r>
            <a:r>
              <a:rPr lang="zh-CN" altLang="en-US" dirty="0"/>
              <a:t>并计算外生变量；解码器以编码器输出的外生变量为输入，重构当前时刻时间序列值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xt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​</a:t>
            </a:r>
            <a:r>
              <a:rPr lang="zh-CN" altLang="en-US" dirty="0"/>
              <a:t>。给定正常多元时间序列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X=(x1​,...,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xt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​,...,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xT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​)</a:t>
            </a:r>
            <a:r>
              <a:rPr lang="zh-CN" altLang="en-US" dirty="0"/>
              <a:t>，定义长度为 </a:t>
            </a:r>
            <a:r>
              <a:rPr lang="en-US" altLang="zh-CN" dirty="0"/>
              <a:t>K </a:t>
            </a:r>
            <a:r>
              <a:rPr lang="zh-CN" altLang="en-US" dirty="0"/>
              <a:t>的窗口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Wt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​=(xt−K+1​,...,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xt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​)</a:t>
            </a:r>
            <a:r>
              <a:rPr lang="zh-CN" altLang="en-US" dirty="0"/>
              <a:t>，将时间序列 </a:t>
            </a:r>
            <a:r>
              <a:rPr lang="en-US" altLang="zh-CN" dirty="0"/>
              <a:t>x </a:t>
            </a:r>
            <a:r>
              <a:rPr lang="zh-CN" altLang="en-US" dirty="0"/>
              <a:t>转换为滑动窗口序列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W=(WK​,WK+1​,...,WT​)</a:t>
            </a:r>
            <a:r>
              <a:rPr lang="zh-CN" altLang="en-US" dirty="0"/>
              <a:t>。首先学习窗口内时间序列的格兰杰因果性，即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窗口因果图。</a:t>
            </a:r>
            <a:endParaRPr lang="zh-CN" altLang="en-US" b="0" dirty="0">
              <a:solidFill>
                <a:srgbClr val="000000"/>
              </a:solidFill>
              <a:effectLst/>
              <a:latin typeface="ui-sans-serif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BA46B-E1B2-4520-80B7-3F1B8A68F93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8989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现在我们将编码器解码器结构直接集成到格兰杰因果发现中，首先引入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k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个神经网络参数化格兰杰因果，每个神经网络都会学习过去观测数据间的因果关系，然后编码器得到外生干扰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ui-sans-serif"/>
              </a:rPr>
              <a:t>ut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BA46B-E1B2-4520-80B7-3F1B8A68F93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3686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dirty="0"/>
              <a:t>接下来是解码，解码器基于外生变量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Ut​</a:t>
            </a:r>
            <a:r>
              <a:rPr lang="zh-CN" altLang="en-US" dirty="0"/>
              <a:t>重构输入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xt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​</a:t>
            </a:r>
            <a:r>
              <a:rPr lang="zh-CN" altLang="en-US" dirty="0"/>
              <a:t>。理论上，当前时刻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xt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​</a:t>
            </a:r>
            <a:r>
              <a:rPr lang="zh-CN" altLang="en-US" dirty="0"/>
              <a:t>需由所有前序时间步的外生变量计算，但时间序列可能无限长，因此不现实。为解决这一问题，我们对长度为 </a:t>
            </a:r>
            <a:r>
              <a:rPr lang="en-US" altLang="zh-CN" dirty="0"/>
              <a:t>n </a:t>
            </a:r>
            <a:r>
              <a:rPr lang="zh-CN" altLang="en-US" dirty="0"/>
              <a:t>的子序列迭代替换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xt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−k​</a:t>
            </a:r>
            <a:r>
              <a:rPr lang="zh-CN" altLang="en-US" dirty="0"/>
              <a:t>与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xt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−(k+1)​</a:t>
            </a:r>
            <a:r>
              <a:rPr lang="zh-CN" altLang="en-US" dirty="0"/>
              <a:t>，推导出命题 </a:t>
            </a:r>
            <a:r>
              <a:rPr lang="en-US" altLang="zh-CN" dirty="0"/>
              <a:t>1:</a:t>
            </a:r>
            <a:r>
              <a:rPr lang="zh-CN" altLang="en-US" dirty="0"/>
              <a:t>当前时刻值</a:t>
            </a:r>
            <a:r>
              <a:rPr lang="en-US" altLang="zh-CN" dirty="0" err="1"/>
              <a:t>xt</a:t>
            </a:r>
            <a:r>
              <a:rPr lang="en-US" altLang="zh-CN" dirty="0"/>
              <a:t>​</a:t>
            </a:r>
            <a:r>
              <a:rPr lang="zh-CN" altLang="en-US" dirty="0"/>
              <a:t>可由前一窗口</a:t>
            </a:r>
            <a:r>
              <a:rPr lang="en-US" altLang="zh-CN" dirty="0"/>
              <a:t>[ut−1​,...,</a:t>
            </a:r>
            <a:r>
              <a:rPr lang="en-US" altLang="zh-CN" dirty="0" err="1"/>
              <a:t>ut</a:t>
            </a:r>
            <a:r>
              <a:rPr lang="en-US" altLang="zh-CN" dirty="0"/>
              <a:t>−K​]</a:t>
            </a:r>
            <a:r>
              <a:rPr lang="zh-CN" altLang="en-US" dirty="0"/>
              <a:t>的外生变量，与前前窗口</a:t>
            </a:r>
            <a:r>
              <a:rPr lang="en-US" altLang="zh-CN" dirty="0"/>
              <a:t>[xt−K−1​,...,xt−2K​]</a:t>
            </a:r>
            <a:r>
              <a:rPr lang="zh-CN" altLang="en-US" dirty="0"/>
              <a:t>的观测时间序列推导得出</a:t>
            </a:r>
            <a:r>
              <a:rPr lang="en-US" altLang="zh-CN" dirty="0"/>
              <a:t>.</a:t>
            </a:r>
            <a:r>
              <a:rPr lang="zh-CN" altLang="en-US" dirty="0"/>
              <a:t>我们设计融合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观测时间序列</a:t>
            </a:r>
            <a:r>
              <a:rPr lang="zh-CN" altLang="en-US" dirty="0"/>
              <a:t>与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外生变量</a:t>
            </a:r>
            <a:r>
              <a:rPr lang="zh-CN" altLang="en-US" dirty="0"/>
              <a:t>的解码器结构：用神经网络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ωˉθˉk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​​</a:t>
            </a:r>
            <a:r>
              <a:rPr lang="zh-CN" altLang="en-US" dirty="0"/>
              <a:t>参数化外生变量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ut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−k​</a:t>
            </a:r>
            <a:r>
              <a:rPr lang="zh-CN" altLang="en-US" dirty="0"/>
              <a:t>对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xt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​</a:t>
            </a:r>
            <a:r>
              <a:rPr lang="zh-CN" altLang="en-US" dirty="0"/>
              <a:t>的影响，用神经网络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ωˉθˉk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​′​</a:t>
            </a:r>
            <a:r>
              <a:rPr lang="zh-CN" altLang="en-US" dirty="0"/>
              <a:t>参数化观测时间序列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xt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−K−k​</a:t>
            </a:r>
            <a:r>
              <a:rPr lang="zh-CN" altLang="en-US" dirty="0"/>
              <a:t>对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xt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​</a:t>
            </a:r>
            <a:r>
              <a:rPr lang="zh-CN" altLang="en-US" dirty="0"/>
              <a:t>的影响。解码器按以下公式计算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xt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​</a:t>
            </a:r>
            <a:r>
              <a:rPr lang="zh-CN" altLang="en-US" dirty="0"/>
              <a:t>：</a:t>
            </a:r>
            <a:r>
              <a:rPr lang="en-US" altLang="zh-CN" dirty="0"/>
              <a:t>,</a:t>
            </a:r>
            <a:r>
              <a:rPr lang="zh-CN" altLang="en-US" dirty="0"/>
              <a:t>其中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x^t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​</a:t>
            </a:r>
            <a:r>
              <a:rPr lang="zh-CN" altLang="en-US" dirty="0"/>
              <a:t>为 </a:t>
            </a:r>
            <a:r>
              <a:rPr lang="en-US" altLang="zh-CN" dirty="0"/>
              <a:t>t </a:t>
            </a:r>
            <a:r>
              <a:rPr lang="zh-CN" altLang="en-US" dirty="0"/>
              <a:t>时刻重构值，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ut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−k​</a:t>
            </a:r>
            <a:r>
              <a:rPr lang="zh-CN" altLang="en-US" dirty="0"/>
              <a:t>由上一页定义的编码器计算。</a:t>
            </a:r>
            <a:endParaRPr lang="en-US" altLang="zh-CN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BA46B-E1B2-4520-80B7-3F1B8A68F93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2609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dirty="0"/>
              <a:t>为保障推导的外生变量相互独立，我们约束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Ut​</a:t>
            </a:r>
            <a:r>
              <a:rPr lang="zh-CN" altLang="en-US" dirty="0"/>
              <a:t>的分布服从各向同性标准高斯分布 </a:t>
            </a:r>
            <a:r>
              <a:rPr lang="en-US" altLang="zh-CN" dirty="0"/>
              <a:t>Q</a:t>
            </a:r>
            <a:r>
              <a:rPr lang="zh-CN" altLang="en-US" dirty="0"/>
              <a:t>。假设外生变量服从多元高斯分布，采用 </a:t>
            </a:r>
            <a:r>
              <a:rPr lang="en-US" altLang="zh-CN" dirty="0"/>
              <a:t>KL </a:t>
            </a:r>
            <a:r>
              <a:rPr lang="zh-CN" altLang="en-US" dirty="0"/>
              <a:t>散度量化分布差异，独立性约束可表示为：其中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μQ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​=0</a:t>
            </a:r>
            <a:r>
              <a:rPr lang="zh-CN" altLang="en-US" dirty="0"/>
              <a:t>、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KaTeX_Main"/>
              </a:rPr>
              <a:t>∑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Q​=I</a:t>
            </a:r>
            <a:r>
              <a:rPr lang="zh-CN" altLang="en-US" dirty="0"/>
              <a:t>为各向同性标准高斯分布 </a:t>
            </a:r>
            <a:r>
              <a:rPr lang="en-US" altLang="zh-CN" dirty="0"/>
              <a:t>Q </a:t>
            </a:r>
            <a:r>
              <a:rPr lang="zh-CN" altLang="en-US" dirty="0"/>
              <a:t>的均值与协方差矩阵；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μt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​</a:t>
            </a:r>
            <a:r>
              <a:rPr lang="zh-CN" altLang="en-US" dirty="0"/>
              <a:t>、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KaTeX_Main"/>
              </a:rPr>
              <a:t>∑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t​</a:t>
            </a:r>
            <a:r>
              <a:rPr lang="zh-CN" altLang="en-US" dirty="0"/>
              <a:t>为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Ut​</a:t>
            </a:r>
            <a:r>
              <a:rPr lang="zh-CN" altLang="en-US" dirty="0"/>
              <a:t>的均值与协方差矩阵。</a:t>
            </a:r>
            <a:endParaRPr lang="zh-CN" altLang="en-US" b="0" dirty="0">
              <a:solidFill>
                <a:srgbClr val="000000"/>
              </a:solidFill>
              <a:effectLst/>
              <a:latin typeface="ui-sans-serif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BA46B-E1B2-4520-80B7-3F1B8A68F93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078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dirty="0"/>
              <a:t>给定长度为 </a:t>
            </a:r>
            <a:r>
              <a:rPr lang="en-US" altLang="zh-CN" dirty="0"/>
              <a:t>T </a:t>
            </a:r>
            <a:r>
              <a:rPr lang="zh-CN" altLang="en-US" dirty="0"/>
              <a:t>的时间序列，训练的目标函数如下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，第一项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||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ui-sans-serif"/>
              </a:rPr>
              <a:t>xt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^-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ui-sans-serif"/>
              </a:rPr>
              <a:t>xt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||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是重构误差，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DtKL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​</a:t>
            </a:r>
            <a:r>
              <a:rPr lang="zh-CN" altLang="en-US" dirty="0"/>
              <a:t>为上一页定义的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Ut​</a:t>
            </a:r>
            <a:r>
              <a:rPr lang="zh-CN" altLang="en-US" dirty="0"/>
              <a:t>独立性约束，后面这一块是对系数矩阵的稀疏性施加的</a:t>
            </a:r>
            <a:r>
              <a:rPr lang="en-US" altLang="zh-CN" dirty="0"/>
              <a:t>L1</a:t>
            </a:r>
            <a:r>
              <a:rPr lang="zh-CN" altLang="en-US" dirty="0"/>
              <a:t>和</a:t>
            </a:r>
            <a:r>
              <a:rPr lang="en-US" altLang="zh-CN" dirty="0"/>
              <a:t>L2</a:t>
            </a:r>
            <a:r>
              <a:rPr lang="zh-CN" altLang="en-US" dirty="0"/>
              <a:t>范数惩罚，第二行是平滑性惩罚项，定义为</a:t>
            </a:r>
            <a:r>
              <a:rPr lang="en-US" altLang="zh-CN" dirty="0"/>
              <a:t>S(Ωt+1​,</a:t>
            </a:r>
            <a:r>
              <a:rPr lang="en-US" altLang="zh-CN" dirty="0" err="1"/>
              <a:t>Ωt</a:t>
            </a:r>
            <a:r>
              <a:rPr lang="en-US" altLang="zh-CN" dirty="0"/>
              <a:t>​)=∥Ωt+1​−</a:t>
            </a:r>
            <a:r>
              <a:rPr lang="en-US" altLang="zh-CN" dirty="0" err="1"/>
              <a:t>Ωt</a:t>
            </a:r>
            <a:r>
              <a:rPr lang="en-US" altLang="zh-CN" dirty="0"/>
              <a:t>​∥2​</a:t>
            </a:r>
            <a:r>
              <a:rPr lang="zh-CN" altLang="en-US" dirty="0"/>
              <a:t>，保证系统矩阵随时间平滑的变化。</a:t>
            </a:r>
            <a:endParaRPr lang="zh-CN" altLang="en-US" b="0" dirty="0">
              <a:solidFill>
                <a:srgbClr val="000000"/>
              </a:solidFill>
              <a:effectLst/>
              <a:latin typeface="ui-sans-serif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BA46B-E1B2-4520-80B7-3F1B8A68F93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6795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dirty="0"/>
              <a:t>4.3</a:t>
            </a:r>
            <a:r>
              <a:rPr lang="zh-CN" altLang="en-US" dirty="0"/>
              <a:t>根因分析。在正常时间序列上完成训练后，编码器可近似拟合外生变量</a:t>
            </a:r>
            <a:r>
              <a:rPr lang="en-US" altLang="zh-CN" dirty="0"/>
              <a:t>.</a:t>
            </a:r>
            <a:r>
              <a:rPr lang="zh-CN" altLang="en-US" dirty="0"/>
              <a:t>当新时间步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t∗</a:t>
            </a:r>
            <a:r>
              <a:rPr lang="zh-CN" altLang="en-US" dirty="0"/>
              <a:t>到达时，首先通过编码器按公式推导外生变量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ut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​∗, </a:t>
            </a:r>
            <a:r>
              <a:rPr lang="zh-CN" altLang="en-US" dirty="0"/>
              <a:t>随后对每个时间序列的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KaTeX_Main"/>
              </a:rPr>
              <a:t>ut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∗(j)​</a:t>
            </a:r>
            <a:r>
              <a:rPr lang="zh-CN" altLang="en-US" dirty="0"/>
              <a:t>计算 </a:t>
            </a:r>
            <a:r>
              <a:rPr lang="en-US" altLang="zh-CN" dirty="0"/>
              <a:t>z </a:t>
            </a:r>
            <a:r>
              <a:rPr lang="zh-CN" altLang="en-US" dirty="0"/>
              <a:t>分数作为根因得分：，其中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μ(j)</a:t>
            </a:r>
            <a:r>
              <a:rPr lang="zh-CN" altLang="en-US" dirty="0"/>
              <a:t>、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KaTeX_Main"/>
              </a:rPr>
              <a:t>σ(j)</a:t>
            </a:r>
            <a:r>
              <a:rPr lang="zh-CN" altLang="en-US" dirty="0"/>
              <a:t>为正常数据中第 </a:t>
            </a:r>
            <a:r>
              <a:rPr lang="en-US" altLang="zh-CN" dirty="0"/>
              <a:t>j </a:t>
            </a:r>
            <a:r>
              <a:rPr lang="zh-CN" altLang="en-US" dirty="0"/>
              <a:t>个时间序列外生变量的均值与标准差。最后采用 ** 流式峰值超限（</a:t>
            </a:r>
            <a:r>
              <a:rPr lang="en-US" altLang="zh-CN" dirty="0"/>
              <a:t>SPOT</a:t>
            </a:r>
            <a:r>
              <a:rPr lang="zh-CN" altLang="en-US" dirty="0"/>
              <a:t>）** 算法（</a:t>
            </a:r>
            <a:r>
              <a:rPr lang="en-US" altLang="zh-CN" dirty="0" err="1"/>
              <a:t>Siffer</a:t>
            </a:r>
            <a:r>
              <a:rPr lang="en-US" altLang="zh-CN" dirty="0"/>
              <a:t> </a:t>
            </a:r>
            <a:r>
              <a:rPr lang="zh-CN" altLang="en-US" dirty="0"/>
              <a:t>等，</a:t>
            </a:r>
            <a:r>
              <a:rPr lang="en-US" altLang="zh-CN" dirty="0"/>
              <a:t>2017</a:t>
            </a:r>
            <a:r>
              <a:rPr lang="zh-CN" altLang="en-US" dirty="0"/>
              <a:t>）动态确定潜在根因的判定阈值。根因得分超过阈值即为根因。</a:t>
            </a:r>
            <a:endParaRPr lang="zh-CN" altLang="en-US" b="0" dirty="0">
              <a:solidFill>
                <a:srgbClr val="000000"/>
              </a:solidFill>
              <a:effectLst/>
              <a:latin typeface="ui-sans-serif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BA46B-E1B2-4520-80B7-3F1B8A68F93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3685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r>
              <a:rPr lang="zh-CN" altLang="en-US" dirty="0"/>
              <a:t>我们在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ui-sans-serif"/>
              </a:rPr>
              <a:t>4 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个合成数据集</a:t>
            </a:r>
            <a:r>
              <a:rPr lang="zh-CN" altLang="en-US" dirty="0"/>
              <a:t>与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ui-sans-serif"/>
              </a:rPr>
              <a:t>2 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个真实数据集</a:t>
            </a:r>
            <a:r>
              <a:rPr lang="zh-CN" altLang="en-US" dirty="0"/>
              <a:t>上开展实验。训练集的总时间步数量，测试集的序列数量，测试集序列的平均长度，测试集中每个序列的平均 “根变量” 数量。</a:t>
            </a:r>
            <a:endParaRPr lang="zh-CN" altLang="en-US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BA46B-E1B2-4520-80B7-3F1B8A68F93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413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基线模型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因果发现基线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：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VAR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、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ui-sans-serif"/>
              </a:rPr>
              <a:t>cMLP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、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ui-sans-serif"/>
              </a:rPr>
              <a:t>cLSTM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、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TCDF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、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ui-sans-serif"/>
              </a:rPr>
              <a:t>eSRU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、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PCMCI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、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PCMCI+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、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GVAR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、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CUTS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；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根因识别基线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：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ϵ-Diagnosis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、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RCD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、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CIRCA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（所有基线通过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ui-sans-serif"/>
              </a:rPr>
              <a:t>PyRCD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库实现，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Liu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等，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2023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）。</a:t>
            </a:r>
            <a:endParaRPr lang="en-US" altLang="zh-CN" b="0" dirty="0">
              <a:solidFill>
                <a:srgbClr val="000000"/>
              </a:solidFill>
              <a:effectLst/>
              <a:latin typeface="ui-sans-serif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zh-CN" altLang="en-US" dirty="0"/>
              <a:t>评估指标</a:t>
            </a:r>
            <a:endParaRPr lang="en-US" altLang="zh-CN" b="0" dirty="0">
              <a:solidFill>
                <a:srgbClr val="000000"/>
              </a:solidFill>
              <a:effectLst/>
              <a:latin typeface="ui-sans-seri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因果发现</a:t>
            </a:r>
            <a:r>
              <a:rPr lang="zh-CN" altLang="en-US" dirty="0"/>
              <a:t>：采用通用指标，包括 </a:t>
            </a:r>
            <a:r>
              <a:rPr lang="en-US" altLang="zh-CN" dirty="0"/>
              <a:t>F1</a:t>
            </a:r>
            <a:r>
              <a:rPr lang="zh-CN" altLang="en-US" dirty="0"/>
              <a:t>、</a:t>
            </a:r>
            <a:r>
              <a:rPr lang="en-US" altLang="zh-CN" dirty="0"/>
              <a:t>AUC-ROC</a:t>
            </a:r>
            <a:r>
              <a:rPr lang="zh-CN" altLang="en-US" dirty="0"/>
              <a:t>、</a:t>
            </a:r>
            <a:r>
              <a:rPr lang="en-US" altLang="zh-CN" dirty="0"/>
              <a:t>AUC-PR </a:t>
            </a:r>
            <a:r>
              <a:rPr lang="zh-CN" altLang="en-US" dirty="0"/>
              <a:t>与汉明距离（</a:t>
            </a:r>
            <a:r>
              <a:rPr lang="en-US" altLang="zh-CN" dirty="0"/>
              <a:t>HD</a:t>
            </a:r>
            <a:r>
              <a:rPr lang="zh-CN" altLang="en-US" dirty="0"/>
              <a:t>）。</a:t>
            </a:r>
            <a:r>
              <a:rPr lang="en-US" altLang="zh-CN" dirty="0"/>
              <a:t>F1</a:t>
            </a:r>
            <a:r>
              <a:rPr lang="zh-CN" altLang="en-US" dirty="0"/>
              <a:t>、</a:t>
            </a:r>
            <a:r>
              <a:rPr lang="en-US" altLang="zh-CN" dirty="0"/>
              <a:t>AUC-ROC</a:t>
            </a:r>
            <a:r>
              <a:rPr lang="zh-CN" altLang="en-US" dirty="0"/>
              <a:t>、</a:t>
            </a:r>
            <a:r>
              <a:rPr lang="en-US" altLang="zh-CN" dirty="0"/>
              <a:t>AUC-PR </a:t>
            </a:r>
            <a:r>
              <a:rPr lang="zh-CN" altLang="en-US" dirty="0"/>
              <a:t>衡量边发现的准确率，汉明距离计算学习到的因果图与真实因果图的不一致边比例。 </a:t>
            </a:r>
            <a:endParaRPr lang="en-US" altLang="zh-CN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根因识别</a:t>
            </a:r>
            <a:r>
              <a:rPr lang="zh-CN" altLang="en-US" dirty="0"/>
              <a:t>：参照现有工作（</a:t>
            </a:r>
            <a:r>
              <a:rPr lang="en-US" altLang="zh-CN" dirty="0"/>
              <a:t>Ikram </a:t>
            </a:r>
            <a:r>
              <a:rPr lang="zh-CN" altLang="en-US" dirty="0"/>
              <a:t>等，</a:t>
            </a:r>
            <a:r>
              <a:rPr lang="en-US" altLang="zh-CN" dirty="0"/>
              <a:t>2022</a:t>
            </a:r>
            <a:r>
              <a:rPr lang="zh-CN" altLang="en-US" dirty="0"/>
              <a:t>；</a:t>
            </a:r>
            <a:r>
              <a:rPr lang="en-US" altLang="zh-CN" dirty="0"/>
              <a:t>Li </a:t>
            </a:r>
            <a:r>
              <a:rPr lang="zh-CN" altLang="en-US" dirty="0"/>
              <a:t>等，</a:t>
            </a:r>
            <a:r>
              <a:rPr lang="en-US" altLang="zh-CN" dirty="0"/>
              <a:t>2022</a:t>
            </a:r>
            <a:r>
              <a:rPr lang="zh-CN" altLang="en-US" dirty="0"/>
              <a:t>；</a:t>
            </a:r>
            <a:r>
              <a:rPr lang="en-US" altLang="zh-CN" dirty="0"/>
              <a:t>Yu </a:t>
            </a:r>
            <a:r>
              <a:rPr lang="zh-CN" altLang="en-US" dirty="0"/>
              <a:t>等，</a:t>
            </a:r>
            <a:r>
              <a:rPr lang="en-US" altLang="zh-CN" dirty="0"/>
              <a:t>2021</a:t>
            </a:r>
            <a:r>
              <a:rPr lang="zh-CN" altLang="en-US" dirty="0"/>
              <a:t>；</a:t>
            </a:r>
            <a:r>
              <a:rPr lang="en-US" altLang="zh-CN" dirty="0"/>
              <a:t>Ma </a:t>
            </a:r>
            <a:r>
              <a:rPr lang="zh-CN" altLang="en-US" dirty="0"/>
              <a:t>等，</a:t>
            </a:r>
            <a:r>
              <a:rPr lang="en-US" altLang="zh-CN" dirty="0"/>
              <a:t>2020</a:t>
            </a:r>
            <a:r>
              <a:rPr lang="zh-CN" altLang="en-US" dirty="0"/>
              <a:t>），采用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ui-sans-serif"/>
              </a:rPr>
              <a:t>Top-K 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召回率（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ui-sans-serif"/>
              </a:rPr>
              <a:t>AC@K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）</a:t>
            </a:r>
            <a:r>
              <a:rPr lang="zh-CN" altLang="en-US" dirty="0"/>
              <a:t>，量化在根因得分最高的前 </a:t>
            </a:r>
            <a:r>
              <a:rPr lang="en-US" altLang="zh-CN" dirty="0"/>
              <a:t>K </a:t>
            </a:r>
            <a:r>
              <a:rPr lang="zh-CN" altLang="en-US" dirty="0"/>
              <a:t>个变量列表中识别出正确根因的概率。</a:t>
            </a:r>
            <a:endParaRPr lang="zh-CN" altLang="en-US" b="0" dirty="0">
              <a:solidFill>
                <a:srgbClr val="000000"/>
              </a:solidFill>
              <a:effectLst/>
              <a:latin typeface="ui-sans-serif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BA46B-E1B2-4520-80B7-3F1B8A68F93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9510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dirty="0"/>
              <a:t>下表展示了 </a:t>
            </a:r>
            <a:r>
              <a:rPr lang="en-US" altLang="zh-CN" dirty="0"/>
              <a:t>AERCA </a:t>
            </a:r>
            <a:r>
              <a:rPr lang="zh-CN" altLang="en-US" dirty="0"/>
              <a:t>与基线模型的因果发现结果，</a:t>
            </a:r>
            <a:r>
              <a:rPr lang="en-US" altLang="zh-CN" dirty="0"/>
              <a:t>AERCA </a:t>
            </a:r>
            <a:r>
              <a:rPr lang="zh-CN" altLang="en-US" dirty="0"/>
              <a:t>在线性数据集上实现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完美性能</a:t>
            </a:r>
            <a:r>
              <a:rPr lang="zh-CN" altLang="en-US" dirty="0"/>
              <a:t>（</a:t>
            </a:r>
            <a:r>
              <a:rPr lang="en-US" altLang="zh-CN" dirty="0"/>
              <a:t>F1</a:t>
            </a:r>
            <a:r>
              <a:rPr lang="zh-CN" altLang="en-US" dirty="0"/>
              <a:t>、</a:t>
            </a:r>
            <a:r>
              <a:rPr lang="en-US" altLang="zh-CN" dirty="0"/>
              <a:t>AUC-PR</a:t>
            </a:r>
            <a:r>
              <a:rPr lang="zh-CN" altLang="en-US" dirty="0"/>
              <a:t>、</a:t>
            </a:r>
            <a:r>
              <a:rPr lang="en-US" altLang="zh-CN" dirty="0"/>
              <a:t>AUC-ROC </a:t>
            </a:r>
            <a:r>
              <a:rPr lang="zh-CN" altLang="en-US" dirty="0"/>
              <a:t>均为 </a:t>
            </a:r>
            <a:r>
              <a:rPr lang="en-US" altLang="zh-CN" dirty="0"/>
              <a:t>1</a:t>
            </a:r>
            <a:r>
              <a:rPr lang="zh-CN" altLang="en-US" dirty="0"/>
              <a:t>，汉明距离为 </a:t>
            </a:r>
            <a:r>
              <a:rPr lang="en-US" altLang="zh-CN" dirty="0"/>
              <a:t>0</a:t>
            </a:r>
            <a:r>
              <a:rPr lang="zh-CN" altLang="en-US" dirty="0"/>
              <a:t>）；在三个更具挑战的非线性数据集上，</a:t>
            </a:r>
            <a:r>
              <a:rPr lang="en-US" altLang="zh-CN" dirty="0"/>
              <a:t>AERCA </a:t>
            </a:r>
            <a:r>
              <a:rPr lang="zh-CN" altLang="en-US" dirty="0"/>
              <a:t>取得高 </a:t>
            </a:r>
            <a:r>
              <a:rPr lang="en-US" altLang="zh-CN" dirty="0"/>
              <a:t>F1</a:t>
            </a:r>
            <a:r>
              <a:rPr lang="zh-CN" altLang="en-US" dirty="0"/>
              <a:t>、</a:t>
            </a:r>
            <a:r>
              <a:rPr lang="en-US" altLang="zh-CN" dirty="0"/>
              <a:t>AUC-PR</a:t>
            </a:r>
            <a:r>
              <a:rPr lang="zh-CN" altLang="en-US" dirty="0"/>
              <a:t>、</a:t>
            </a:r>
            <a:r>
              <a:rPr lang="en-US" altLang="zh-CN" dirty="0"/>
              <a:t>AUC-ROC </a:t>
            </a:r>
            <a:r>
              <a:rPr lang="zh-CN" altLang="en-US" dirty="0"/>
              <a:t>与极低的汉明距离，证明其能有效发现非线性因果关系。</a:t>
            </a:r>
            <a:endParaRPr lang="zh-CN" altLang="en-US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BA46B-E1B2-4520-80B7-3F1B8A68F93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7120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75D03-1E8E-65CF-9933-68B6990E7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0704DF-5FE0-34C4-27F3-69505026F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F086BB-4570-BAA3-784A-1917F1F8C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AERCA </a:t>
            </a:r>
            <a:r>
              <a:rPr lang="zh-CN" altLang="en-US" dirty="0"/>
              <a:t>在除 </a:t>
            </a:r>
            <a:r>
              <a:rPr lang="en-US" altLang="zh-CN" dirty="0" err="1"/>
              <a:t>SWaT</a:t>
            </a:r>
            <a:r>
              <a:rPr lang="en-US" altLang="zh-CN" dirty="0"/>
              <a:t> </a:t>
            </a:r>
            <a:r>
              <a:rPr lang="zh-CN" altLang="en-US" dirty="0"/>
              <a:t>外的所有数据集上均表现卓越，即便在 </a:t>
            </a:r>
            <a:r>
              <a:rPr lang="en-US" altLang="zh-CN" dirty="0"/>
              <a:t>AC@1 </a:t>
            </a:r>
            <a:r>
              <a:rPr lang="zh-CN" altLang="en-US" dirty="0"/>
              <a:t>指标上也能精准识别根因得分最高的时间序列。</a:t>
            </a:r>
            <a:r>
              <a:rPr lang="en-US" altLang="zh-CN" dirty="0" err="1"/>
              <a:t>SWaT</a:t>
            </a:r>
            <a:r>
              <a:rPr lang="en-US" altLang="zh-CN" dirty="0"/>
              <a:t> </a:t>
            </a:r>
            <a:r>
              <a:rPr lang="zh-CN" altLang="en-US" dirty="0"/>
              <a:t>数据集上所有方法性能均下降，原因是数据违反模型假设（如外生变量独立性），且存在隐藏混淆变量、瞬时效应等复杂因果关系。但 </a:t>
            </a:r>
            <a:r>
              <a:rPr lang="en-US" altLang="zh-CN" dirty="0"/>
              <a:t>AERCA </a:t>
            </a:r>
            <a:r>
              <a:rPr lang="zh-CN" altLang="en-US" dirty="0"/>
              <a:t>的根因识别准确率仍显著高于基线模型。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4020E2-DFC3-E4B8-D1DF-60D22E6C1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BA46B-E1B2-4520-80B7-3F1B8A68F93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5286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r>
              <a:rPr lang="zh-CN" altLang="en-US" dirty="0"/>
              <a:t>接下来是消融实验，图 结果显示，在线性、非线性、洛特卡 </a:t>
            </a:r>
            <a:r>
              <a:rPr lang="en-US" altLang="zh-CN" dirty="0"/>
              <a:t>- </a:t>
            </a:r>
            <a:r>
              <a:rPr lang="zh-CN" altLang="en-US" dirty="0"/>
              <a:t>沃尔泰拉数据集上，移除独立性约束后 </a:t>
            </a:r>
            <a:r>
              <a:rPr lang="en-US" altLang="zh-CN" dirty="0"/>
              <a:t>AERCA </a:t>
            </a:r>
            <a:r>
              <a:rPr lang="zh-CN" altLang="en-US" dirty="0"/>
              <a:t>性能大幅下降；洛伦兹 </a:t>
            </a:r>
            <a:r>
              <a:rPr lang="en-US" altLang="zh-CN" dirty="0"/>
              <a:t>96 </a:t>
            </a:r>
            <a:r>
              <a:rPr lang="zh-CN" altLang="en-US" dirty="0"/>
              <a:t>数据集上影响较小，但性能仍低于添加约束的版本。实验证明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外生变量独立性约束对因果发现至关重要</a:t>
            </a:r>
            <a:r>
              <a:rPr lang="zh-CN" altLang="en-US" dirty="0"/>
              <a:t>。</a:t>
            </a:r>
            <a:endParaRPr lang="zh-CN" altLang="en-US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BA46B-E1B2-4520-80B7-3F1B8A68F93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7045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dirty="0"/>
              <a:t>本文提出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ui-sans-serif"/>
              </a:rPr>
              <a:t>AERCA</a:t>
            </a:r>
            <a:r>
              <a:rPr lang="zh-CN" altLang="en-US" dirty="0"/>
              <a:t>方法，通过格兰杰因果发现实现多元时间序列异常根因分析。</a:t>
            </a:r>
            <a:r>
              <a:rPr lang="en-US" altLang="zh-CN" dirty="0"/>
              <a:t>AERCA </a:t>
            </a:r>
            <a:r>
              <a:rPr lang="zh-CN" altLang="en-US" dirty="0"/>
              <a:t>假设异常由外生变量的外部干预引发，在模拟数据生成过程时显式考虑外生变量。在正常时间序列数据上训练后，</a:t>
            </a:r>
            <a:r>
              <a:rPr lang="en-US" altLang="zh-CN" dirty="0"/>
              <a:t>AERCA </a:t>
            </a:r>
            <a:r>
              <a:rPr lang="zh-CN" altLang="en-US" dirty="0"/>
              <a:t>可学习时间序列间的因果关系并推导外生变量；部署阶段，显著偏离正常水平的外生变量会被赋予高根因得分。在多个数据集上的实验表明，</a:t>
            </a:r>
            <a:r>
              <a:rPr lang="en-US" altLang="zh-CN" dirty="0"/>
              <a:t>AERCA </a:t>
            </a:r>
            <a:r>
              <a:rPr lang="zh-CN" altLang="en-US" dirty="0"/>
              <a:t>在因果发现与根因识别任务上均达到最优性能。</a:t>
            </a:r>
            <a:endParaRPr lang="zh-CN" altLang="en-US" b="0" dirty="0">
              <a:solidFill>
                <a:srgbClr val="000000"/>
              </a:solidFill>
              <a:effectLst/>
              <a:latin typeface="ui-sans-serif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BA46B-E1B2-4520-80B7-3F1B8A68F93F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038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63FB01-8937-E1E8-FC3D-C574094437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963F5C1-E01F-623B-2514-EFD5E150AE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CB002E-7D2B-D249-A4FD-13FC14530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DE36-5A53-4DC6-8B2E-3D9E1353942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82CF2D-BEC4-900D-09D9-B218911AD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666173-E753-B4C1-AA9E-BEF532FFE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95E4-A034-47B1-B3D2-EC8B6BFEAF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361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E12EFD-6D7C-503F-765D-0793388D3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B652E3-896F-46A7-592B-4AE693701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A75B38-ABCD-614E-CDCA-CAAB81447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DE36-5A53-4DC6-8B2E-3D9E1353942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71854E-FE47-B763-C148-7D76E83AF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7F75DB-5F9D-A537-23E0-DE2CCF800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95E4-A034-47B1-B3D2-EC8B6BFEAF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175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09DE69-06EF-5C3F-10D6-DE33ADDA9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374163-024C-7E5F-BD4C-2B3F6C6C8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BB6E43-2ED9-E13C-99C4-A178CB290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DE36-5A53-4DC6-8B2E-3D9E1353942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43BB9F-01D9-AD9F-30BF-A7C795C5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53D144-81F0-A9E4-3657-34461C9D6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95E4-A034-47B1-B3D2-EC8B6BFEAF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3627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E8AA75-96A5-584F-D146-D3AD17A62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BFE031-3361-C948-0A09-BA99B482B0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354D976-A6A0-C22A-860A-4B0319531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E8A809-A7AA-73A0-5DB8-1022E400C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DE36-5A53-4DC6-8B2E-3D9E1353942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C8DD4D-17CA-60E2-51D7-F6E0F6D89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4889B7-521D-A60F-B556-E71F9B901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95E4-A034-47B1-B3D2-EC8B6BFEAF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57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7C6DBC-04C3-42FD-54F9-DC540E455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DF785-8F5B-11D2-8840-AD321903D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C27F26-4CF4-5AA7-7FFA-FDDF16E485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4477AF4-705C-E12A-3FDA-F9250DD065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9E9664C-F4ED-B5AE-0152-715D1250A6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E7FA51-722C-642A-3635-30386613A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DE36-5A53-4DC6-8B2E-3D9E1353942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9420FC9-C3B5-A96E-63D6-8D2E974EB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0809531-9B1E-AD0E-062B-CFA900881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95E4-A034-47B1-B3D2-EC8B6BFEAF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23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2E026-630F-BA4C-3038-6100D6391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52450D-6E5B-F6B1-B0DC-8CF6C7A5B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DE36-5A53-4DC6-8B2E-3D9E1353942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163B42-22F4-8902-BC96-660E19CFF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1FC034C-93E8-0A57-FDC1-25111B39F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95E4-A034-47B1-B3D2-EC8B6BFEAF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470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5FEB1A8-CD11-7D02-1406-8F7926A5B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DE36-5A53-4DC6-8B2E-3D9E1353942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5A9BE81-E616-2182-1EC5-D1582DD60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64B0AE-E055-37CA-1A00-C80B488B9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95E4-A034-47B1-B3D2-EC8B6BFEAF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506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6E07D1-A67D-A281-518D-622E198B9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77A667-B80F-657E-149E-A4474652A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FE8B05-F288-CC62-5E97-32BFC14C5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681916-53EC-DFAB-B039-5D749A33F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DE36-5A53-4DC6-8B2E-3D9E1353942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D84BF1-CFFC-4ACE-A3EF-EF7408A31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CFED01-D541-AB8F-2346-EDE679936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95E4-A034-47B1-B3D2-EC8B6BFEAF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05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9994E0-870A-F75F-81A6-805DDC364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E5B8796-2898-CD63-62DA-83697C25DD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F1531B-2A99-D210-A72A-019077DD26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26392D-E96B-9179-F165-84B117909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DE36-5A53-4DC6-8B2E-3D9E1353942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0A38F4-364C-9A62-706E-82C40C5FA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CB356B-55EB-E3C3-7243-5480FECD8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95E4-A034-47B1-B3D2-EC8B6BFEAF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185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5973B5-8CDB-637E-1325-30E82665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C3CF88-741C-A31E-6AD9-048F562DC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74C692-A84F-148C-4544-175D234C1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DE36-5A53-4DC6-8B2E-3D9E1353942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4F4FB5-5B43-F3DE-E5F1-FAE6C33A6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890155-18A1-EE8A-45C0-C61CF83B1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95E4-A034-47B1-B3D2-EC8B6BFEAF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528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D3F1AB3-AC82-B313-E23B-89FE786249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1062C6-3BDF-1867-51AE-6F349156D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2B622E-1491-A257-A68B-A807A6F70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DE36-5A53-4DC6-8B2E-3D9E1353942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2A6B94-2DC7-AEA6-3D38-CCDD538D8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57E947-0FAF-CEB5-9FD5-7B9F5EB03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595E4-A034-47B1-B3D2-EC8B6BFEAF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768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8A31C8B-12E1-5DDB-40A1-4BB97A8E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9C121B-F094-49D6-5762-852F13843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198A28-5E5F-6758-52B8-31795059A4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91DE36-5A53-4DC6-8B2E-3D9E1353942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8D8A2B-D0AA-7149-4855-242F0354F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9343F2-6C68-0683-356E-7B55B2FF2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3595E4-A034-47B1-B3D2-EC8B6BFEAF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897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4DA7E30-879A-28D4-13B1-AED7D977BE7E}"/>
              </a:ext>
            </a:extLst>
          </p:cNvPr>
          <p:cNvSpPr txBox="1"/>
          <p:nvPr/>
        </p:nvSpPr>
        <p:spPr>
          <a:xfrm>
            <a:off x="1017868" y="849438"/>
            <a:ext cx="102015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Root Cause Analysis if Anomalies in Multivariate Time Series through Granger Causal</a:t>
            </a:r>
          </a:p>
          <a:p>
            <a:pPr algn="ctr"/>
            <a:r>
              <a:rPr lang="en-US" altLang="zh-CN" sz="3200" dirty="0"/>
              <a:t>Discovery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3D83160-5E89-90B4-6690-2DD53FAD3DD5}"/>
              </a:ext>
            </a:extLst>
          </p:cNvPr>
          <p:cNvSpPr txBox="1"/>
          <p:nvPr/>
        </p:nvSpPr>
        <p:spPr>
          <a:xfrm>
            <a:off x="923635" y="3477930"/>
            <a:ext cx="10344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Xiao Han, Saima </a:t>
            </a:r>
            <a:r>
              <a:rPr lang="en-US" altLang="zh-CN" sz="2400" dirty="0" err="1"/>
              <a:t>Absar</a:t>
            </a:r>
            <a:r>
              <a:rPr lang="en-US" altLang="zh-CN" sz="2400" dirty="0"/>
              <a:t>, Lu Zhang, </a:t>
            </a:r>
            <a:r>
              <a:rPr lang="en-US" altLang="zh-CN" sz="2400" dirty="0" err="1"/>
              <a:t>Shuhan</a:t>
            </a:r>
            <a:r>
              <a:rPr lang="en-US" altLang="zh-CN" sz="2400" dirty="0"/>
              <a:t> Yuan</a:t>
            </a:r>
            <a:endParaRPr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90547BB-ED81-9DEE-DF5B-8F4C9584658E}"/>
              </a:ext>
            </a:extLst>
          </p:cNvPr>
          <p:cNvSpPr txBox="1"/>
          <p:nvPr/>
        </p:nvSpPr>
        <p:spPr>
          <a:xfrm>
            <a:off x="3939309" y="4805875"/>
            <a:ext cx="4313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ICLR 2025</a:t>
            </a:r>
            <a:endParaRPr lang="zh-CN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4B9F1D-CFB3-767A-9D36-3391BE7845A8}"/>
              </a:ext>
            </a:extLst>
          </p:cNvPr>
          <p:cNvSpPr txBox="1"/>
          <p:nvPr/>
        </p:nvSpPr>
        <p:spPr>
          <a:xfrm>
            <a:off x="4857859" y="5608452"/>
            <a:ext cx="2521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23 Jan , 2025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22338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3C321AA5-BA3B-7FC7-6B37-E772F5393D0D}"/>
              </a:ext>
            </a:extLst>
          </p:cNvPr>
          <p:cNvSpPr>
            <a:spLocks noGrp="1"/>
          </p:cNvSpPr>
          <p:nvPr/>
        </p:nvSpPr>
        <p:spPr>
          <a:xfrm>
            <a:off x="838200" y="11926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CE4009A-611D-C576-03BA-A2CF76254033}"/>
              </a:ext>
            </a:extLst>
          </p:cNvPr>
          <p:cNvSpPr>
            <a:spLocks noGrp="1"/>
          </p:cNvSpPr>
          <p:nvPr/>
        </p:nvSpPr>
        <p:spPr>
          <a:xfrm>
            <a:off x="838200" y="1444832"/>
            <a:ext cx="10515600" cy="4351338"/>
          </a:xfrm>
          <a:prstGeom prst="rect">
            <a:avLst/>
          </a:prstGeom>
        </p:spPr>
        <p:txBody>
          <a:bodyPr vert="horz" lIns="91440" tIns="45720" rIns="91440" bIns="45720" numCol="1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/>
              <a:t>1. Introduction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2. Challenges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3. Preliminaries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4. Methodology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5. Experiments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6. Conclusion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775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081C8D6-BF06-BCB6-6B60-DF551B3CF340}"/>
              </a:ext>
            </a:extLst>
          </p:cNvPr>
          <p:cNvSpPr txBox="1"/>
          <p:nvPr/>
        </p:nvSpPr>
        <p:spPr>
          <a:xfrm>
            <a:off x="176323" y="203200"/>
            <a:ext cx="83791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1. Introduction</a:t>
            </a:r>
            <a:endParaRPr lang="zh-CN" altLang="en-US" sz="4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3772A4C-361B-54EA-FF4B-C536F7D7C1DF}"/>
              </a:ext>
            </a:extLst>
          </p:cNvPr>
          <p:cNvSpPr txBox="1"/>
          <p:nvPr/>
        </p:nvSpPr>
        <p:spPr>
          <a:xfrm>
            <a:off x="0" y="1271447"/>
            <a:ext cx="6028391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0000"/>
                </a:solidFill>
              </a:rPr>
              <a:t>Multivariate Time Series: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</a:rPr>
              <a:t>A set of ordered sequences of real values.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C11D621-D1AB-6724-0625-4F6C128C3E5A}"/>
              </a:ext>
            </a:extLst>
          </p:cNvPr>
          <p:cNvSpPr txBox="1"/>
          <p:nvPr/>
        </p:nvSpPr>
        <p:spPr>
          <a:xfrm>
            <a:off x="-1711" y="2831402"/>
            <a:ext cx="6028391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0000"/>
                </a:solidFill>
              </a:rPr>
              <a:t>Anomalies in Time Series: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</a:rPr>
              <a:t>Erroneous data measurement procedure.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</a:rPr>
              <a:t>Unusual events.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37C463-D933-B1CD-13FC-B6CB3B5959EB}"/>
              </a:ext>
            </a:extLst>
          </p:cNvPr>
          <p:cNvSpPr txBox="1"/>
          <p:nvPr/>
        </p:nvSpPr>
        <p:spPr>
          <a:xfrm>
            <a:off x="-3421" y="5059182"/>
            <a:ext cx="6028391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0000"/>
                </a:solidFill>
              </a:rPr>
              <a:t>Root Cause Analysis: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</a:rPr>
              <a:t>Identify the underlying causes of an anomaly in multivariate time series data.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AB32014-3990-6D69-1B29-6CC137192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810" y="1271447"/>
            <a:ext cx="5519746" cy="508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324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081C8D6-BF06-BCB6-6B60-DF551B3CF340}"/>
              </a:ext>
            </a:extLst>
          </p:cNvPr>
          <p:cNvSpPr txBox="1"/>
          <p:nvPr/>
        </p:nvSpPr>
        <p:spPr>
          <a:xfrm>
            <a:off x="350981" y="203200"/>
            <a:ext cx="83791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2. Challenge </a:t>
            </a:r>
            <a:endParaRPr lang="zh-CN" altLang="en-US" sz="4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EF8EADD-379F-F7A7-F4D7-52CE60B5F1ED}"/>
              </a:ext>
            </a:extLst>
          </p:cNvPr>
          <p:cNvSpPr txBox="1"/>
          <p:nvPr/>
        </p:nvSpPr>
        <p:spPr>
          <a:xfrm>
            <a:off x="472610" y="1333091"/>
            <a:ext cx="1089061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000000"/>
                </a:solidFill>
              </a:rPr>
              <a:t>Challenge : Systems often have intricate dependencies, where failures propagate across components, making it difficult to isolate the root cause</a:t>
            </a:r>
            <a:r>
              <a:rPr lang="en-US" altLang="zh-CN" sz="2400" b="1" dirty="0">
                <a:solidFill>
                  <a:srgbClr val="000000"/>
                </a:solidFill>
              </a:rPr>
              <a:t>.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F489FE5-CC29-4BA0-62A5-0986EA583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656" y="3120779"/>
            <a:ext cx="9316750" cy="221010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9D9EAFE-4FC1-39B8-0375-7A36182415FF}"/>
              </a:ext>
            </a:extLst>
          </p:cNvPr>
          <p:cNvSpPr txBox="1"/>
          <p:nvPr/>
        </p:nvSpPr>
        <p:spPr>
          <a:xfrm>
            <a:off x="470900" y="5574609"/>
            <a:ext cx="10890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0000"/>
                </a:solidFill>
              </a:rPr>
              <a:t>We propose a comprehensive approach that inherently integrates Granger causal dis </a:t>
            </a:r>
            <a:r>
              <a:rPr lang="en-US" altLang="zh-CN" sz="2400" b="1" dirty="0" err="1">
                <a:solidFill>
                  <a:srgbClr val="000000"/>
                </a:solidFill>
              </a:rPr>
              <a:t>covery</a:t>
            </a:r>
            <a:r>
              <a:rPr lang="en-US" altLang="zh-CN" sz="2400" b="1" dirty="0">
                <a:solidFill>
                  <a:srgbClr val="000000"/>
                </a:solidFill>
              </a:rPr>
              <a:t> with root cause analysis.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0137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081C8D6-BF06-BCB6-6B60-DF551B3CF340}"/>
              </a:ext>
            </a:extLst>
          </p:cNvPr>
          <p:cNvSpPr txBox="1"/>
          <p:nvPr/>
        </p:nvSpPr>
        <p:spPr>
          <a:xfrm>
            <a:off x="350981" y="203200"/>
            <a:ext cx="837913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3. Preliminaries</a:t>
            </a:r>
          </a:p>
          <a:p>
            <a:endParaRPr lang="zh-CN" altLang="en-US" sz="4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C90FFC4-2F02-CBBB-24AB-4D3FD9F7C787}"/>
              </a:ext>
            </a:extLst>
          </p:cNvPr>
          <p:cNvSpPr txBox="1"/>
          <p:nvPr/>
        </p:nvSpPr>
        <p:spPr>
          <a:xfrm>
            <a:off x="123290" y="1137885"/>
            <a:ext cx="11928297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000000"/>
                </a:solidFill>
              </a:rPr>
              <a:t>Granger causality :</a:t>
            </a:r>
          </a:p>
          <a:p>
            <a:pPr marL="1200150" lvl="2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</a:rPr>
              <a:t>A statistical concept used to identify directional relationships between time series.</a:t>
            </a:r>
          </a:p>
          <a:p>
            <a:pPr marL="1200150" lvl="2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</a:rPr>
              <a:t>If past values of time series X improve predictions of series Y, then X is said to Granger-cause 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519002-4A55-8ACB-D9B5-A2220961D8BD}"/>
                  </a:ext>
                </a:extLst>
              </p:cNvPr>
              <p:cNvSpPr txBox="1"/>
              <p:nvPr/>
            </p:nvSpPr>
            <p:spPr>
              <a:xfrm>
                <a:off x="121580" y="3417040"/>
                <a:ext cx="11930007" cy="29844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lvl="1" indent="-285750">
                  <a:spcBef>
                    <a:spcPts val="4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800" b="1" dirty="0">
                    <a:solidFill>
                      <a:srgbClr val="000000"/>
                    </a:solidFill>
                  </a:rPr>
                  <a:t>Modern technical formulation (Tank et al., 2021; Assaad et al., 2022):</a:t>
                </a:r>
              </a:p>
              <a:p>
                <a:pPr marL="1200150" lvl="2" indent="-285750">
                  <a:spcBef>
                    <a:spcPts val="4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Let a stationary time-series as X=(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</a:rPr>
                  <a:t>​,...,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</a:rPr>
                  <a:t>​​,...,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</a:rPr>
                  <a:t>​​).  Suppose that the true data generation mechanism is defined in the form of.</a:t>
                </a:r>
              </a:p>
              <a:p>
                <a:pPr lvl="2"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sSup>
                        <m:sSupPr>
                          <m:ctrlPr>
                            <a:rPr lang="en-US" altLang="zh-CN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altLang="zh-CN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4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bSup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1≤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altLang="zh-CN" sz="2400" dirty="0">
                  <a:solidFill>
                    <a:srgbClr val="000000"/>
                  </a:solidFill>
                </a:endParaRPr>
              </a:p>
              <a:p>
                <a:pPr marL="1200150" lvl="2" indent="-285750">
                  <a:spcBef>
                    <a:spcPts val="4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The time series </a:t>
                </a:r>
                <a:r>
                  <a:rPr lang="en-US" altLang="zh-CN" sz="2400" dirty="0" err="1">
                    <a:solidFill>
                      <a:srgbClr val="000000"/>
                    </a:solidFill>
                  </a:rPr>
                  <a:t>i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 Granger causes j,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</a:rPr>
                  <a:t> depends 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</a:rPr>
                  <a:t>, i.e.</a:t>
                </a:r>
              </a:p>
              <a:p>
                <a:pPr lvl="2">
                  <a:spcBef>
                    <a:spcPts val="400"/>
                  </a:spcBef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: 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d>
                          </m:sup>
                        </m:sSubSup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d>
                          </m:sup>
                        </m:sSubSup>
                      </m:e>
                    </m:d>
                  </m:oMath>
                </a14:m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519002-4A55-8ACB-D9B5-A2220961D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80" y="3417040"/>
                <a:ext cx="11930007" cy="2984471"/>
              </a:xfrm>
              <a:prstGeom prst="rect">
                <a:avLst/>
              </a:prstGeom>
              <a:blipFill>
                <a:blip r:embed="rId3"/>
                <a:stretch>
                  <a:fillRect t="-2454" r="-13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5EE7A2FE-590D-00B0-F878-C14074F33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4797" y="82192"/>
            <a:ext cx="4610743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801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081C8D6-BF06-BCB6-6B60-DF551B3CF340}"/>
              </a:ext>
            </a:extLst>
          </p:cNvPr>
          <p:cNvSpPr txBox="1"/>
          <p:nvPr/>
        </p:nvSpPr>
        <p:spPr>
          <a:xfrm>
            <a:off x="350981" y="203200"/>
            <a:ext cx="83791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4. AERCA Overview </a:t>
            </a:r>
            <a:endParaRPr lang="zh-CN" altLang="en-US" sz="4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68FEFB-03C7-F3AD-054E-C75FAF6B2AB8}"/>
              </a:ext>
            </a:extLst>
          </p:cNvPr>
          <p:cNvSpPr txBox="1"/>
          <p:nvPr/>
        </p:nvSpPr>
        <p:spPr>
          <a:xfrm>
            <a:off x="92466" y="1379489"/>
            <a:ext cx="1130157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sz="2600" b="1" i="0" dirty="0">
                <a:solidFill>
                  <a:srgbClr val="000000"/>
                </a:solidFill>
                <a:effectLst/>
              </a:rPr>
              <a:t>We treat root cause of anomaly as an intervention on the exogenous variables in a structural causal model—exogenous intervention</a:t>
            </a:r>
            <a:r>
              <a:rPr lang="en-US" altLang="zh-CN" sz="2400" i="0" dirty="0">
                <a:solidFill>
                  <a:srgbClr val="000000"/>
                </a:solidFill>
                <a:effectLst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sz="2600" b="1" i="0" dirty="0">
                <a:solidFill>
                  <a:srgbClr val="000000"/>
                </a:solidFill>
                <a:effectLst/>
              </a:rPr>
              <a:t>Leverage Granger causality to discover causal relationships in time series</a:t>
            </a:r>
            <a:r>
              <a:rPr lang="en-US" altLang="zh-CN" sz="2600" b="1" dirty="0">
                <a:solidFill>
                  <a:srgbClr val="000000"/>
                </a:solidFill>
              </a:rPr>
              <a:t>.</a:t>
            </a:r>
            <a:endParaRPr lang="en-US" altLang="zh-CN" sz="2600" b="1" i="0" dirty="0">
              <a:solidFill>
                <a:srgbClr val="000000"/>
              </a:solidFill>
              <a:effectLst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2400" i="0" dirty="0">
                <a:solidFill>
                  <a:srgbClr val="000000"/>
                </a:solidFill>
                <a:effectLst/>
              </a:rPr>
              <a:t>Explicitly derive exogenous variables by developing an encoder-decoder structure for modeling both abductive reasoning and deductive reasoning processes.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2400" i="0" dirty="0">
                <a:solidFill>
                  <a:srgbClr val="000000"/>
                </a:solidFill>
                <a:effectLst/>
              </a:rPr>
              <a:t>Integrate encoder-decoder into Granger causal discovery.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2400" i="0" dirty="0">
                <a:solidFill>
                  <a:srgbClr val="000000"/>
                </a:solidFill>
                <a:effectLst/>
              </a:rPr>
              <a:t>Propose a simple yet effective approach to explicitly force the independence of exogenous variables.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sz="2600" b="1" i="0" dirty="0">
                <a:solidFill>
                  <a:srgbClr val="000000"/>
                </a:solidFill>
                <a:effectLst/>
              </a:rPr>
              <a:t>Use the learned Granger causal relationships to capture complex downstream influences during root cause identification.</a:t>
            </a:r>
          </a:p>
        </p:txBody>
      </p:sp>
    </p:spTree>
    <p:extLst>
      <p:ext uri="{BB962C8B-B14F-4D97-AF65-F5344CB8AC3E}">
        <p14:creationId xmlns:p14="http://schemas.microsoft.com/office/powerpoint/2010/main" val="4204734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081C8D6-BF06-BCB6-6B60-DF551B3CF340}"/>
              </a:ext>
            </a:extLst>
          </p:cNvPr>
          <p:cNvSpPr txBox="1"/>
          <p:nvPr/>
        </p:nvSpPr>
        <p:spPr>
          <a:xfrm>
            <a:off x="350981" y="203200"/>
            <a:ext cx="83791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4.1.1 Problem Formulation</a:t>
            </a:r>
            <a:endParaRPr lang="zh-CN" altLang="en-US" sz="4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68FEFB-03C7-F3AD-054E-C75FAF6B2AB8}"/>
              </a:ext>
            </a:extLst>
          </p:cNvPr>
          <p:cNvSpPr txBox="1"/>
          <p:nvPr/>
        </p:nvSpPr>
        <p:spPr>
          <a:xfrm>
            <a:off x="-123289" y="2813757"/>
            <a:ext cx="54562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altLang="zh-CN" sz="2400" i="0" dirty="0">
              <a:solidFill>
                <a:srgbClr val="000000"/>
              </a:solidFill>
              <a:effectLst/>
            </a:endParaRPr>
          </a:p>
          <a:p>
            <a:pPr lvl="1" algn="l"/>
            <a:endParaRPr lang="en-US" altLang="zh-CN" sz="2400" i="0" dirty="0">
              <a:solidFill>
                <a:srgbClr val="000000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CB5CF32-CAAA-524F-46BA-52FE0200F710}"/>
                  </a:ext>
                </a:extLst>
              </p:cNvPr>
              <p:cNvSpPr txBox="1"/>
              <p:nvPr/>
            </p:nvSpPr>
            <p:spPr>
              <a:xfrm>
                <a:off x="61644" y="1297297"/>
                <a:ext cx="11301573" cy="47938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lvl="1" indent="-285750" algn="l">
                  <a:spcBef>
                    <a:spcPts val="4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600" b="1" i="0" dirty="0">
                    <a:solidFill>
                      <a:srgbClr val="000000"/>
                    </a:solidFill>
                    <a:effectLst/>
                  </a:rPr>
                  <a:t>Treat root cause of anomaly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CN" sz="2600" b="1" i="0" dirty="0">
                    <a:solidFill>
                      <a:srgbClr val="000000"/>
                    </a:solidFill>
                    <a:effectLst/>
                  </a:rPr>
                  <a:t>as exogenous interventions:</a:t>
                </a:r>
                <a:endParaRPr lang="en-US" altLang="zh-CN" sz="2400" b="1" dirty="0">
                  <a:solidFill>
                    <a:srgbClr val="000000"/>
                  </a:solidFill>
                </a:endParaRPr>
              </a:p>
              <a:p>
                <a:pPr lvl="1" algn="l"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altLang="zh-CN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4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̇"/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altLang="zh-CN" sz="2400" i="0" dirty="0">
                  <a:solidFill>
                    <a:srgbClr val="000000"/>
                  </a:solidFill>
                  <a:effectLst/>
                </a:endParaRPr>
              </a:p>
              <a:p>
                <a:pPr lvl="1" algn="ctr">
                  <a:spcBef>
                    <a:spcPts val="400"/>
                  </a:spcBef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sz="24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d>
                          </m:sup>
                        </m:sSubSup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p>
                    </m:sSub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p>
                    </m:sSub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1≤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2400" i="0" dirty="0">
                  <a:solidFill>
                    <a:srgbClr val="000000"/>
                  </a:solidFill>
                  <a:effectLst/>
                </a:endParaRPr>
              </a:p>
              <a:p>
                <a:pPr marL="1200150" lvl="2" indent="-285750">
                  <a:spcBef>
                    <a:spcPts val="4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400" i="0" dirty="0">
                    <a:solidFill>
                      <a:srgbClr val="000000"/>
                    </a:solidFill>
                    <a:effectLst/>
                  </a:rPr>
                  <a:t>Definition 1. The root cause identification is to locate the time series/variables (j) at specific time step(s) t with the abnormal exogenous variable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̇"/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altLang="zh-CN" sz="2400" i="0" dirty="0">
                    <a:solidFill>
                      <a:srgbClr val="000000"/>
                    </a:solidFill>
                    <a:effectLst/>
                  </a:rPr>
                  <a:t>.</a:t>
                </a:r>
              </a:p>
              <a:p>
                <a:pPr marL="742950" lvl="1" indent="-285750" algn="l">
                  <a:spcBef>
                    <a:spcPts val="4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600" b="1" i="0" dirty="0">
                    <a:solidFill>
                      <a:srgbClr val="000000"/>
                    </a:solidFill>
                    <a:effectLst/>
                  </a:rPr>
                  <a:t>Considerations:</a:t>
                </a:r>
              </a:p>
              <a:p>
                <a:pPr marL="1200150" lvl="2" indent="-285750">
                  <a:spcBef>
                    <a:spcPts val="4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600" i="0" dirty="0">
                    <a:solidFill>
                      <a:srgbClr val="000000"/>
                    </a:solidFill>
                    <a:effectLst/>
                  </a:rPr>
                  <a:t>Anomaly can be either a point anomaly or a sequential anomaly.</a:t>
                </a:r>
              </a:p>
              <a:p>
                <a:pPr marL="1200150" lvl="2" indent="-285750">
                  <a:spcBef>
                    <a:spcPts val="4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600" i="0" dirty="0">
                    <a:solidFill>
                      <a:srgbClr val="000000"/>
                    </a:solidFill>
                    <a:effectLst/>
                  </a:rPr>
                  <a:t>An informative root cause analysis should show not just the time series but also the time steps receiving the exogenous intervention.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CB5CF32-CAAA-524F-46BA-52FE0200F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44" y="1297297"/>
                <a:ext cx="11301573" cy="4793813"/>
              </a:xfrm>
              <a:prstGeom prst="rect">
                <a:avLst/>
              </a:prstGeom>
              <a:blipFill>
                <a:blip r:embed="rId3"/>
                <a:stretch>
                  <a:fillRect b="-22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962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081C8D6-BF06-BCB6-6B60-DF551B3CF340}"/>
              </a:ext>
            </a:extLst>
          </p:cNvPr>
          <p:cNvSpPr txBox="1"/>
          <p:nvPr/>
        </p:nvSpPr>
        <p:spPr>
          <a:xfrm>
            <a:off x="350981" y="203200"/>
            <a:ext cx="83791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4.1.2 Framework</a:t>
            </a:r>
            <a:endParaRPr lang="zh-CN" altLang="en-US" sz="4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68FEFB-03C7-F3AD-054E-C75FAF6B2AB8}"/>
              </a:ext>
            </a:extLst>
          </p:cNvPr>
          <p:cNvSpPr txBox="1"/>
          <p:nvPr/>
        </p:nvSpPr>
        <p:spPr>
          <a:xfrm>
            <a:off x="-123289" y="2813757"/>
            <a:ext cx="54562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altLang="zh-CN" sz="2400" i="0" dirty="0">
              <a:solidFill>
                <a:srgbClr val="000000"/>
              </a:solidFill>
              <a:effectLst/>
            </a:endParaRPr>
          </a:p>
          <a:p>
            <a:pPr lvl="1" algn="l"/>
            <a:endParaRPr lang="en-US" altLang="zh-CN" sz="240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87152F2-87ED-1058-7223-18B652899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723" y="1084099"/>
            <a:ext cx="9650553" cy="536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574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081C8D6-BF06-BCB6-6B60-DF551B3CF340}"/>
              </a:ext>
            </a:extLst>
          </p:cNvPr>
          <p:cNvSpPr txBox="1"/>
          <p:nvPr/>
        </p:nvSpPr>
        <p:spPr>
          <a:xfrm>
            <a:off x="350981" y="203200"/>
            <a:ext cx="101183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4.2 Granger Causal Discovery</a:t>
            </a:r>
            <a:endParaRPr lang="zh-CN" altLang="en-US" sz="4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9096387-E5C9-080E-8216-68A82481810D}"/>
              </a:ext>
            </a:extLst>
          </p:cNvPr>
          <p:cNvSpPr txBox="1"/>
          <p:nvPr/>
        </p:nvSpPr>
        <p:spPr>
          <a:xfrm>
            <a:off x="66138" y="1363332"/>
            <a:ext cx="1170804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600" b="1" dirty="0"/>
              <a:t>Derive a universal mapping between endogenous and exogenous variables, for both abductive and deductive reasoning.</a:t>
            </a:r>
            <a:endParaRPr lang="en-US" altLang="zh-CN" sz="2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600" b="1" i="0" dirty="0">
                <a:solidFill>
                  <a:srgbClr val="000000"/>
                </a:solidFill>
                <a:effectLst/>
              </a:rPr>
              <a:t>Abductive reasoning:</a:t>
            </a:r>
            <a:r>
              <a:rPr lang="en-US" altLang="zh-CN" sz="2600" i="0" dirty="0">
                <a:solidFill>
                  <a:srgbClr val="000000"/>
                </a:solidFill>
                <a:effectLst/>
              </a:rPr>
              <a:t> to seek the most plausible explanations, i.e., to infer the most likely exogenous variables (causes) that could have generated the observed time series data.	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B685E0E-BB6A-7433-E2AC-94F460385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4001231"/>
            <a:ext cx="10216988" cy="19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500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081C8D6-BF06-BCB6-6B60-DF551B3CF340}"/>
              </a:ext>
            </a:extLst>
          </p:cNvPr>
          <p:cNvSpPr txBox="1"/>
          <p:nvPr/>
        </p:nvSpPr>
        <p:spPr>
          <a:xfrm>
            <a:off x="350981" y="203200"/>
            <a:ext cx="101183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4.2 Granger Causal Discovery</a:t>
            </a:r>
            <a:endParaRPr lang="zh-CN" altLang="en-US" sz="4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9096387-E5C9-080E-8216-68A82481810D}"/>
              </a:ext>
            </a:extLst>
          </p:cNvPr>
          <p:cNvSpPr txBox="1"/>
          <p:nvPr/>
        </p:nvSpPr>
        <p:spPr>
          <a:xfrm>
            <a:off x="436002" y="1414702"/>
            <a:ext cx="1100940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600" b="1" i="0" dirty="0">
                <a:solidFill>
                  <a:srgbClr val="000000"/>
                </a:solidFill>
                <a:effectLst/>
              </a:rPr>
              <a:t>Deductive reasoning: </a:t>
            </a:r>
            <a:r>
              <a:rPr lang="en-US" altLang="zh-CN" sz="2600" i="0" dirty="0">
                <a:solidFill>
                  <a:srgbClr val="000000"/>
                </a:solidFill>
                <a:effectLst/>
              </a:rPr>
              <a:t>to derive effects from known causes, i.e., reconstructing the observed data from exogenous variables.	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F294F90-5CAF-6B04-04F5-C8A2F731A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440" y="3241618"/>
            <a:ext cx="9269119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464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081C8D6-BF06-BCB6-6B60-DF551B3CF340}"/>
              </a:ext>
            </a:extLst>
          </p:cNvPr>
          <p:cNvSpPr txBox="1"/>
          <p:nvPr/>
        </p:nvSpPr>
        <p:spPr>
          <a:xfrm>
            <a:off x="350981" y="203200"/>
            <a:ext cx="101183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4.2 Granger Causal Discovery</a:t>
            </a:r>
            <a:endParaRPr lang="zh-CN" altLang="en-US" sz="4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6CBDC1C-7B82-1EA0-55DE-50A321FF5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63" y="1421687"/>
            <a:ext cx="11027474" cy="464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198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081C8D6-BF06-BCB6-6B60-DF551B3CF340}"/>
              </a:ext>
            </a:extLst>
          </p:cNvPr>
          <p:cNvSpPr txBox="1"/>
          <p:nvPr/>
        </p:nvSpPr>
        <p:spPr>
          <a:xfrm>
            <a:off x="350981" y="203200"/>
            <a:ext cx="101183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4.2 Granger Causal Discovery</a:t>
            </a:r>
            <a:endParaRPr lang="zh-CN" altLang="en-US" sz="4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C538C67-EFFB-FC2E-E50D-120EF4D9C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293" y="1416655"/>
            <a:ext cx="10477119" cy="479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150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A13981C-E492-9284-B7C3-37886A718296}"/>
                  </a:ext>
                </a:extLst>
              </p:cNvPr>
              <p:cNvSpPr txBox="1"/>
              <p:nvPr/>
            </p:nvSpPr>
            <p:spPr>
              <a:xfrm>
                <a:off x="61644" y="1297297"/>
                <a:ext cx="11301573" cy="2534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lvl="1" indent="-285750">
                  <a:spcBef>
                    <a:spcPts val="4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600" b="1" i="0" dirty="0">
                    <a:solidFill>
                      <a:srgbClr val="000000"/>
                    </a:solidFill>
                    <a:effectLst/>
                  </a:rPr>
                  <a:t>Formulate decoder: reconstructing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6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zh-CN" sz="2600" b="1" dirty="0">
                    <a:solidFill>
                      <a:srgbClr val="000000"/>
                    </a:solidFill>
                  </a:rPr>
                  <a:t>​ </a:t>
                </a:r>
                <a:r>
                  <a:rPr lang="en-US" altLang="zh-CN" sz="2600" b="1" i="0" dirty="0">
                    <a:solidFill>
                      <a:srgbClr val="000000"/>
                    </a:solidFill>
                    <a:effectLst/>
                  </a:rPr>
                  <a:t>​with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2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sz="2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600" b="1" i="0" dirty="0">
                    <a:solidFill>
                      <a:srgbClr val="000000"/>
                    </a:solidFill>
                    <a:effectLst/>
                  </a:rPr>
                  <a:t>​and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26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zh-CN" sz="2600" b="1" dirty="0">
                    <a:solidFill>
                      <a:srgbClr val="000000"/>
                    </a:solidFill>
                  </a:rPr>
                  <a:t>​</a:t>
                </a:r>
                <a:r>
                  <a:rPr lang="en-US" altLang="zh-CN" sz="2600" b="1" i="0" dirty="0">
                    <a:solidFill>
                      <a:srgbClr val="000000"/>
                    </a:solidFill>
                    <a:effectLst/>
                  </a:rPr>
                  <a:t> will be computational expensive.</a:t>
                </a:r>
                <a:endParaRPr lang="en-US" altLang="zh-CN" sz="2400" b="1" dirty="0">
                  <a:solidFill>
                    <a:srgbClr val="000000"/>
                  </a:solidFill>
                </a:endParaRPr>
              </a:p>
              <a:p>
                <a:pPr marL="1200150" lvl="2" indent="-285750">
                  <a:spcBef>
                    <a:spcPts val="4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400" i="0" dirty="0">
                    <a:solidFill>
                      <a:srgbClr val="000000"/>
                    </a:solidFill>
                    <a:effectLst/>
                  </a:rPr>
                  <a:t>Proposition: The value at the current time step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400" b="1" dirty="0">
                    <a:solidFill>
                      <a:srgbClr val="000000"/>
                    </a:solidFill>
                  </a:rPr>
                  <a:t>​</a:t>
                </a:r>
                <a:r>
                  <a:rPr lang="en-US" altLang="zh-CN" sz="2400" i="0" dirty="0">
                    <a:solidFill>
                      <a:srgbClr val="000000"/>
                    </a:solidFill>
                    <a:effectLst/>
                  </a:rPr>
                  <a:t> can be derived by the exogenous variables from a previous window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4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i="0" dirty="0">
                    <a:solidFill>
                      <a:srgbClr val="000000"/>
                    </a:solidFill>
                    <a:effectLst/>
                  </a:rPr>
                  <a:t>​,…,</a:t>
                </a:r>
                <a:r>
                  <a:rPr lang="en-US" altLang="zh-CN" sz="2400" b="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i="0" dirty="0">
                    <a:solidFill>
                      <a:srgbClr val="000000"/>
                    </a:solidFill>
                    <a:effectLst/>
                  </a:rPr>
                  <a:t>​] and the observed time series from a previous window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4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i="0" dirty="0">
                    <a:solidFill>
                      <a:srgbClr val="000000"/>
                    </a:solidFill>
                    <a:effectLst/>
                  </a:rPr>
                  <a:t>​,…,</a:t>
                </a:r>
                <a:r>
                  <a:rPr lang="en-US" altLang="zh-CN" sz="2400" b="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i="0" dirty="0">
                    <a:solidFill>
                      <a:srgbClr val="000000"/>
                    </a:solidFill>
                    <a:effectLst/>
                  </a:rPr>
                  <a:t>].</a:t>
                </a:r>
              </a:p>
              <a:p>
                <a:pPr marL="742950" lvl="1" indent="-285750" algn="l">
                  <a:spcBef>
                    <a:spcPts val="4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600" b="1" i="0" dirty="0">
                    <a:solidFill>
                      <a:srgbClr val="000000"/>
                    </a:solidFill>
                    <a:effectLst/>
                  </a:rPr>
                  <a:t>Reformulate decoder: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A13981C-E492-9284-B7C3-37886A718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44" y="1297297"/>
                <a:ext cx="11301573" cy="2534027"/>
              </a:xfrm>
              <a:prstGeom prst="rect">
                <a:avLst/>
              </a:prstGeom>
              <a:blipFill>
                <a:blip r:embed="rId3"/>
                <a:stretch>
                  <a:fillRect t="-2892" b="-40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39C017AF-53B3-AB46-7A1E-0971C4B95428}"/>
              </a:ext>
            </a:extLst>
          </p:cNvPr>
          <p:cNvSpPr txBox="1"/>
          <p:nvPr/>
        </p:nvSpPr>
        <p:spPr>
          <a:xfrm>
            <a:off x="350981" y="203200"/>
            <a:ext cx="101183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4.2 Granger Causal Discovery</a:t>
            </a:r>
            <a:endParaRPr lang="zh-CN" altLang="en-US" sz="4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6F70728-5B09-126F-6CD9-CF9C891E3F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128" y="4125202"/>
            <a:ext cx="9165238" cy="202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376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A13981C-E492-9284-B7C3-37886A718296}"/>
              </a:ext>
            </a:extLst>
          </p:cNvPr>
          <p:cNvSpPr txBox="1"/>
          <p:nvPr/>
        </p:nvSpPr>
        <p:spPr>
          <a:xfrm>
            <a:off x="61644" y="1297297"/>
            <a:ext cx="11301573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2600" b="1" dirty="0">
                <a:solidFill>
                  <a:srgbClr val="000000"/>
                </a:solidFill>
              </a:rPr>
              <a:t>Enforce independence between the derived exogenous variables.</a:t>
            </a:r>
            <a:endParaRPr lang="en-US" altLang="zh-CN" sz="2400" b="1" dirty="0">
              <a:solidFill>
                <a:srgbClr val="000000"/>
              </a:solidFill>
            </a:endParaRPr>
          </a:p>
          <a:p>
            <a:pPr marL="1200150" lvl="2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</a:rPr>
              <a:t>Ensure that the distribution of Ut​ adheres to an isotropic standard Gaussian distribution Q.</a:t>
            </a:r>
          </a:p>
          <a:p>
            <a:pPr marL="1200150" lvl="2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2400" i="0" dirty="0">
                <a:solidFill>
                  <a:srgbClr val="000000"/>
                </a:solidFill>
                <a:effectLst/>
              </a:rPr>
              <a:t>Applying the KL divergence to quantify the distribution difference</a:t>
            </a:r>
            <a:r>
              <a:rPr lang="en-US" altLang="zh-CN" sz="2400" dirty="0">
                <a:solidFill>
                  <a:srgbClr val="000000"/>
                </a:solidFill>
              </a:rPr>
              <a:t>.</a:t>
            </a:r>
            <a:endParaRPr lang="en-US" altLang="zh-CN" sz="2400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C017AF-53B3-AB46-7A1E-0971C4B95428}"/>
              </a:ext>
            </a:extLst>
          </p:cNvPr>
          <p:cNvSpPr txBox="1"/>
          <p:nvPr/>
        </p:nvSpPr>
        <p:spPr>
          <a:xfrm>
            <a:off x="350981" y="203200"/>
            <a:ext cx="101183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4.2 Granger Causal Discovery</a:t>
            </a:r>
            <a:endParaRPr lang="zh-CN" altLang="en-US" sz="4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58405E-32A1-6A53-598E-C90D7D9D0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75" y="3498148"/>
            <a:ext cx="9920000" cy="23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613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A13981C-E492-9284-B7C3-37886A718296}"/>
              </a:ext>
            </a:extLst>
          </p:cNvPr>
          <p:cNvSpPr txBox="1"/>
          <p:nvPr/>
        </p:nvSpPr>
        <p:spPr>
          <a:xfrm>
            <a:off x="61644" y="1790459"/>
            <a:ext cx="11301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000000"/>
                </a:solidFill>
              </a:rPr>
              <a:t>Objective Function: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C017AF-53B3-AB46-7A1E-0971C4B95428}"/>
              </a:ext>
            </a:extLst>
          </p:cNvPr>
          <p:cNvSpPr txBox="1"/>
          <p:nvPr/>
        </p:nvSpPr>
        <p:spPr>
          <a:xfrm>
            <a:off x="350981" y="203200"/>
            <a:ext cx="101183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4.2 Granger Causal Discovery</a:t>
            </a:r>
            <a:endParaRPr lang="zh-CN" altLang="en-US" sz="4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C0C96AD-9140-07F3-AE29-2838C07C2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766" y="2726513"/>
            <a:ext cx="899160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779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A13981C-E492-9284-B7C3-37886A718296}"/>
              </a:ext>
            </a:extLst>
          </p:cNvPr>
          <p:cNvSpPr txBox="1"/>
          <p:nvPr/>
        </p:nvSpPr>
        <p:spPr>
          <a:xfrm>
            <a:off x="544525" y="4811076"/>
            <a:ext cx="11301573" cy="1343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2600" b="1" dirty="0">
                <a:solidFill>
                  <a:srgbClr val="000000"/>
                </a:solidFill>
              </a:rPr>
              <a:t>Adopt streaming peaks-over-threshold (SPOT) (</a:t>
            </a:r>
            <a:r>
              <a:rPr lang="en-US" altLang="zh-CN" sz="2600" b="1" dirty="0" err="1">
                <a:solidFill>
                  <a:srgbClr val="000000"/>
                </a:solidFill>
              </a:rPr>
              <a:t>Siffer</a:t>
            </a:r>
            <a:r>
              <a:rPr lang="en-US" altLang="zh-CN" sz="2600" b="1" dirty="0">
                <a:solidFill>
                  <a:srgbClr val="000000"/>
                </a:solidFill>
              </a:rPr>
              <a:t> et al., 2017) to dynamically determine the threshold of labeling the potential root cause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C017AF-53B3-AB46-7A1E-0971C4B95428}"/>
              </a:ext>
            </a:extLst>
          </p:cNvPr>
          <p:cNvSpPr txBox="1"/>
          <p:nvPr/>
        </p:nvSpPr>
        <p:spPr>
          <a:xfrm>
            <a:off x="350981" y="203200"/>
            <a:ext cx="101183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4.3 Root Cause Localization</a:t>
            </a:r>
            <a:endParaRPr lang="zh-CN" altLang="en-US" sz="4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FDF1509-10DA-C922-3400-D809FD651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19" y="1426805"/>
            <a:ext cx="10104762" cy="31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44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081C8D6-BF06-BCB6-6B60-DF551B3CF340}"/>
              </a:ext>
            </a:extLst>
          </p:cNvPr>
          <p:cNvSpPr txBox="1"/>
          <p:nvPr/>
        </p:nvSpPr>
        <p:spPr>
          <a:xfrm>
            <a:off x="350981" y="203200"/>
            <a:ext cx="97485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5.1 Experiment Setup </a:t>
            </a:r>
            <a:endParaRPr lang="zh-CN" altLang="en-US" sz="4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628A4E1-A347-B128-F18C-499A5DFE87B7}"/>
              </a:ext>
            </a:extLst>
          </p:cNvPr>
          <p:cNvSpPr txBox="1"/>
          <p:nvPr/>
        </p:nvSpPr>
        <p:spPr>
          <a:xfrm>
            <a:off x="0" y="1403298"/>
            <a:ext cx="119757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000000"/>
                </a:solidFill>
              </a:rPr>
              <a:t>Datasets </a:t>
            </a:r>
            <a:r>
              <a:rPr lang="en-US" altLang="zh-CN" sz="2800" dirty="0">
                <a:solidFill>
                  <a:srgbClr val="000000"/>
                </a:solidFill>
              </a:rPr>
              <a:t>: We conduct experiments on four synthetic and two real-world datasets.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6A2D07E-6455-C55F-3CEE-3D4228461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464" y="3346390"/>
            <a:ext cx="10686255" cy="2402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25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081C8D6-BF06-BCB6-6B60-DF551B3CF340}"/>
              </a:ext>
            </a:extLst>
          </p:cNvPr>
          <p:cNvSpPr txBox="1"/>
          <p:nvPr/>
        </p:nvSpPr>
        <p:spPr>
          <a:xfrm>
            <a:off x="350981" y="203200"/>
            <a:ext cx="97485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5.1 Experiment Setup </a:t>
            </a:r>
            <a:endParaRPr lang="zh-CN" altLang="en-US" sz="4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4472CD0-6917-2738-4BD0-64F3A3500A7F}"/>
              </a:ext>
            </a:extLst>
          </p:cNvPr>
          <p:cNvSpPr txBox="1"/>
          <p:nvPr/>
        </p:nvSpPr>
        <p:spPr>
          <a:xfrm>
            <a:off x="1" y="1166132"/>
            <a:ext cx="11975708" cy="551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000000"/>
                </a:solidFill>
              </a:rPr>
              <a:t>Baselines: </a:t>
            </a:r>
            <a:r>
              <a:rPr lang="en-US" altLang="zh-CN" sz="2800" dirty="0">
                <a:solidFill>
                  <a:srgbClr val="000000"/>
                </a:solidFill>
              </a:rPr>
              <a:t>VAR</a:t>
            </a:r>
            <a:r>
              <a:rPr lang="zh-CN" altLang="en-US" sz="2800" dirty="0">
                <a:solidFill>
                  <a:srgbClr val="000000"/>
                </a:solidFill>
              </a:rPr>
              <a:t>、</a:t>
            </a:r>
            <a:r>
              <a:rPr lang="en-US" altLang="zh-CN" sz="2800" dirty="0" err="1">
                <a:solidFill>
                  <a:srgbClr val="000000"/>
                </a:solidFill>
              </a:rPr>
              <a:t>cMLP</a:t>
            </a:r>
            <a:r>
              <a:rPr lang="zh-CN" altLang="en-US" sz="2800" dirty="0">
                <a:solidFill>
                  <a:srgbClr val="000000"/>
                </a:solidFill>
              </a:rPr>
              <a:t>、</a:t>
            </a:r>
            <a:r>
              <a:rPr lang="en-US" altLang="zh-CN" sz="2800" dirty="0" err="1">
                <a:solidFill>
                  <a:srgbClr val="000000"/>
                </a:solidFill>
              </a:rPr>
              <a:t>cLSTM</a:t>
            </a:r>
            <a:r>
              <a:rPr lang="zh-CN" altLang="en-US" sz="2800" dirty="0">
                <a:solidFill>
                  <a:srgbClr val="000000"/>
                </a:solidFill>
              </a:rPr>
              <a:t>、</a:t>
            </a:r>
            <a:r>
              <a:rPr lang="en-US" altLang="zh-CN" sz="2800" dirty="0">
                <a:solidFill>
                  <a:srgbClr val="000000"/>
                </a:solidFill>
              </a:rPr>
              <a:t>TCDF</a:t>
            </a:r>
            <a:r>
              <a:rPr lang="zh-CN" altLang="en-US" sz="2800" dirty="0">
                <a:solidFill>
                  <a:srgbClr val="000000"/>
                </a:solidFill>
              </a:rPr>
              <a:t>、</a:t>
            </a:r>
            <a:r>
              <a:rPr lang="en-US" altLang="zh-CN" sz="2800" dirty="0" err="1">
                <a:solidFill>
                  <a:srgbClr val="000000"/>
                </a:solidFill>
              </a:rPr>
              <a:t>eSRU</a:t>
            </a:r>
            <a:r>
              <a:rPr lang="zh-CN" altLang="en-US" sz="2800" dirty="0">
                <a:solidFill>
                  <a:srgbClr val="000000"/>
                </a:solidFill>
              </a:rPr>
              <a:t>、</a:t>
            </a:r>
            <a:r>
              <a:rPr lang="en-US" altLang="zh-CN" sz="2800" dirty="0">
                <a:solidFill>
                  <a:srgbClr val="000000"/>
                </a:solidFill>
              </a:rPr>
              <a:t>PCMCI</a:t>
            </a:r>
            <a:r>
              <a:rPr lang="zh-CN" altLang="en-US" sz="2800" dirty="0">
                <a:solidFill>
                  <a:srgbClr val="000000"/>
                </a:solidFill>
              </a:rPr>
              <a:t>、</a:t>
            </a:r>
            <a:r>
              <a:rPr lang="en-US" altLang="zh-CN" sz="2800" dirty="0">
                <a:solidFill>
                  <a:srgbClr val="000000"/>
                </a:solidFill>
              </a:rPr>
              <a:t>PCMCI+</a:t>
            </a:r>
            <a:r>
              <a:rPr lang="zh-CN" altLang="en-US" sz="2800" dirty="0">
                <a:solidFill>
                  <a:srgbClr val="000000"/>
                </a:solidFill>
              </a:rPr>
              <a:t>、</a:t>
            </a:r>
            <a:r>
              <a:rPr lang="en-US" altLang="zh-CN" sz="2800" dirty="0">
                <a:solidFill>
                  <a:srgbClr val="000000"/>
                </a:solidFill>
              </a:rPr>
              <a:t>GVAR</a:t>
            </a:r>
            <a:r>
              <a:rPr lang="zh-CN" altLang="en-US" sz="2800" dirty="0">
                <a:solidFill>
                  <a:srgbClr val="000000"/>
                </a:solidFill>
              </a:rPr>
              <a:t>、</a:t>
            </a:r>
            <a:r>
              <a:rPr lang="en-US" altLang="zh-CN" sz="2800" dirty="0">
                <a:solidFill>
                  <a:srgbClr val="000000"/>
                </a:solidFill>
              </a:rPr>
              <a:t>CUTS.</a:t>
            </a:r>
            <a:r>
              <a:rPr lang="el-GR" altLang="zh-CN" sz="2800" dirty="0">
                <a:solidFill>
                  <a:srgbClr val="000000"/>
                </a:solidFill>
              </a:rPr>
              <a:t> ϵ-</a:t>
            </a:r>
            <a:r>
              <a:rPr lang="en-US" altLang="zh-CN" sz="2800" dirty="0">
                <a:solidFill>
                  <a:srgbClr val="000000"/>
                </a:solidFill>
              </a:rPr>
              <a:t>Diagnosis</a:t>
            </a:r>
            <a:r>
              <a:rPr lang="zh-CN" altLang="en-US" sz="2800" dirty="0">
                <a:solidFill>
                  <a:srgbClr val="000000"/>
                </a:solidFill>
              </a:rPr>
              <a:t>、</a:t>
            </a:r>
            <a:r>
              <a:rPr lang="en-US" altLang="zh-CN" sz="2800" dirty="0">
                <a:solidFill>
                  <a:srgbClr val="000000"/>
                </a:solidFill>
              </a:rPr>
              <a:t>RCD</a:t>
            </a:r>
            <a:r>
              <a:rPr lang="zh-CN" altLang="en-US" sz="2800" dirty="0">
                <a:solidFill>
                  <a:srgbClr val="000000"/>
                </a:solidFill>
              </a:rPr>
              <a:t>、</a:t>
            </a:r>
            <a:r>
              <a:rPr lang="en-US" altLang="zh-CN" sz="2800" dirty="0">
                <a:solidFill>
                  <a:srgbClr val="000000"/>
                </a:solidFill>
              </a:rPr>
              <a:t>CIRCA.</a:t>
            </a:r>
          </a:p>
          <a:p>
            <a:pPr marL="742950" lvl="1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2800" b="1" dirty="0"/>
              <a:t>Evaluation Metrics: </a:t>
            </a:r>
            <a:r>
              <a:rPr lang="en-US" altLang="zh-CN" sz="2800" dirty="0"/>
              <a:t> </a:t>
            </a:r>
          </a:p>
          <a:p>
            <a:pPr marL="1200150" lvl="2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2800" dirty="0"/>
              <a:t>Causal Discovery: </a:t>
            </a:r>
          </a:p>
          <a:p>
            <a:pPr marL="1657350" lvl="3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2800" dirty="0"/>
              <a:t>F1</a:t>
            </a:r>
            <a:r>
              <a:rPr lang="zh-CN" altLang="en-US" sz="2800" dirty="0"/>
              <a:t>、</a:t>
            </a:r>
            <a:r>
              <a:rPr lang="en-US" altLang="zh-CN" sz="2800" dirty="0"/>
              <a:t>AUC-ROC</a:t>
            </a:r>
            <a:r>
              <a:rPr lang="zh-CN" altLang="en-US" sz="2800" dirty="0"/>
              <a:t>、</a:t>
            </a:r>
            <a:r>
              <a:rPr lang="en-US" altLang="zh-CN" sz="2800" dirty="0"/>
              <a:t>AUC-PR</a:t>
            </a:r>
          </a:p>
          <a:p>
            <a:pPr marL="2114550" lvl="4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2600" dirty="0"/>
              <a:t>quantify the correctness of edge discovery.</a:t>
            </a:r>
          </a:p>
          <a:p>
            <a:pPr marL="1657350" lvl="3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2800" dirty="0"/>
              <a:t>HD</a:t>
            </a:r>
          </a:p>
          <a:p>
            <a:pPr marL="2114550" lvl="4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2600" dirty="0"/>
              <a:t>calculate the proportion of disagreeing edges between the learned causal graph and the ground truth causal graph.</a:t>
            </a:r>
          </a:p>
          <a:p>
            <a:pPr marL="1200150" lvl="2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2800" dirty="0"/>
              <a:t>Root Cause Analysis: AC@K.</a:t>
            </a:r>
          </a:p>
          <a:p>
            <a:pPr marL="1657350" lvl="3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2600" dirty="0"/>
              <a:t>quantify the probability of identifying the correct root cause in the list of variables with the top-k highest root cause scores.</a:t>
            </a:r>
          </a:p>
        </p:txBody>
      </p:sp>
    </p:spTree>
    <p:extLst>
      <p:ext uri="{BB962C8B-B14F-4D97-AF65-F5344CB8AC3E}">
        <p14:creationId xmlns:p14="http://schemas.microsoft.com/office/powerpoint/2010/main" val="1687684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081C8D6-BF06-BCB6-6B60-DF551B3CF340}"/>
              </a:ext>
            </a:extLst>
          </p:cNvPr>
          <p:cNvSpPr txBox="1"/>
          <p:nvPr/>
        </p:nvSpPr>
        <p:spPr>
          <a:xfrm>
            <a:off x="350981" y="203200"/>
            <a:ext cx="97485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5.2 Performance Comparison</a:t>
            </a:r>
            <a:endParaRPr lang="zh-CN" altLang="en-US" sz="4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4472CD0-6917-2738-4BD0-64F3A3500A7F}"/>
              </a:ext>
            </a:extLst>
          </p:cNvPr>
          <p:cNvSpPr txBox="1"/>
          <p:nvPr/>
        </p:nvSpPr>
        <p:spPr>
          <a:xfrm>
            <a:off x="1" y="1340015"/>
            <a:ext cx="267362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0000"/>
                </a:solidFill>
              </a:rPr>
              <a:t>AERCA achieves superior performance in all datasets.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9F033B1-4DE9-7CFC-A5B6-88C5F387A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934" y="1429414"/>
            <a:ext cx="9347235" cy="476792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9D3A580-2D42-06EE-B9E6-A7EEA9D0DD40}"/>
              </a:ext>
            </a:extLst>
          </p:cNvPr>
          <p:cNvSpPr txBox="1"/>
          <p:nvPr/>
        </p:nvSpPr>
        <p:spPr>
          <a:xfrm>
            <a:off x="3316" y="3529943"/>
            <a:ext cx="26736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0000"/>
                </a:solidFill>
              </a:rPr>
              <a:t>No baseline approaches can achieve satisfactory performance on either Nonlinear or Lorenz96 datasets.</a:t>
            </a:r>
          </a:p>
        </p:txBody>
      </p:sp>
    </p:spTree>
    <p:extLst>
      <p:ext uri="{BB962C8B-B14F-4D97-AF65-F5344CB8AC3E}">
        <p14:creationId xmlns:p14="http://schemas.microsoft.com/office/powerpoint/2010/main" val="2301970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52821-4E11-9A6F-F71A-B5B0712E4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2235C99-BB69-07A6-E3F7-5FC2DE7BA806}"/>
              </a:ext>
            </a:extLst>
          </p:cNvPr>
          <p:cNvSpPr txBox="1"/>
          <p:nvPr/>
        </p:nvSpPr>
        <p:spPr>
          <a:xfrm>
            <a:off x="350981" y="203200"/>
            <a:ext cx="97485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5.2 Performance Comparison</a:t>
            </a:r>
            <a:endParaRPr lang="zh-CN" altLang="en-US" sz="4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6641E3D-7360-D3D1-1C76-EA88BE7C156B}"/>
              </a:ext>
            </a:extLst>
          </p:cNvPr>
          <p:cNvSpPr txBox="1"/>
          <p:nvPr/>
        </p:nvSpPr>
        <p:spPr>
          <a:xfrm>
            <a:off x="0" y="1070792"/>
            <a:ext cx="40554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</a:rPr>
              <a:t>AERCA shows exceptional performance across all datasets, excluding the </a:t>
            </a:r>
            <a:r>
              <a:rPr lang="en-US" altLang="zh-CN" sz="2400" dirty="0" err="1">
                <a:solidFill>
                  <a:srgbClr val="000000"/>
                </a:solidFill>
              </a:rPr>
              <a:t>SWaT</a:t>
            </a:r>
            <a:r>
              <a:rPr lang="en-US" altLang="zh-CN" sz="2400" dirty="0">
                <a:solidFill>
                  <a:srgbClr val="000000"/>
                </a:solidFill>
              </a:rPr>
              <a:t> dataset, even at the AC@1 metric.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D7E767A-2C34-A9A3-7CBF-10F13BF71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458" y="1101018"/>
            <a:ext cx="7659169" cy="517279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187712E-E25A-4225-5FBB-2803CF7A02B9}"/>
              </a:ext>
            </a:extLst>
          </p:cNvPr>
          <p:cNvSpPr txBox="1"/>
          <p:nvPr/>
        </p:nvSpPr>
        <p:spPr>
          <a:xfrm>
            <a:off x="3315" y="3409795"/>
            <a:ext cx="405545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For the </a:t>
            </a:r>
            <a:r>
              <a:rPr lang="en-US" altLang="zh-CN" sz="2400" dirty="0" err="1"/>
              <a:t>SWaT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dataset,we</a:t>
            </a:r>
            <a:r>
              <a:rPr lang="en-US" altLang="zh-CN" sz="2400" dirty="0"/>
              <a:t> observe that the performance of all methods declines, likely due to violations of assumptions and the presence of complex causal relationships.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972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081C8D6-BF06-BCB6-6B60-DF551B3CF340}"/>
              </a:ext>
            </a:extLst>
          </p:cNvPr>
          <p:cNvSpPr txBox="1"/>
          <p:nvPr/>
        </p:nvSpPr>
        <p:spPr>
          <a:xfrm>
            <a:off x="350981" y="203200"/>
            <a:ext cx="97485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5.3 Ablation Study </a:t>
            </a:r>
            <a:endParaRPr lang="zh-CN" altLang="en-US" sz="4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4472CD0-6917-2738-4BD0-64F3A3500A7F}"/>
              </a:ext>
            </a:extLst>
          </p:cNvPr>
          <p:cNvSpPr txBox="1"/>
          <p:nvPr/>
        </p:nvSpPr>
        <p:spPr>
          <a:xfrm>
            <a:off x="0" y="1110537"/>
            <a:ext cx="113118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zh-CN" sz="2800" dirty="0"/>
              <a:t>To show the importance of the independent constraint for causal discovery, we conduct the ablation study to compare the performance of causal discovery. </a:t>
            </a:r>
            <a:endParaRPr lang="en-US" altLang="zh-CN" sz="2800" dirty="0">
              <a:solidFill>
                <a:srgbClr val="00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F2B8F07-4B36-0676-B2A6-14D888976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447" y="2726209"/>
            <a:ext cx="7839105" cy="355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4248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081C8D6-BF06-BCB6-6B60-DF551B3CF340}"/>
              </a:ext>
            </a:extLst>
          </p:cNvPr>
          <p:cNvSpPr txBox="1"/>
          <p:nvPr/>
        </p:nvSpPr>
        <p:spPr>
          <a:xfrm>
            <a:off x="350981" y="203200"/>
            <a:ext cx="97485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6. Conclusion </a:t>
            </a:r>
            <a:endParaRPr lang="zh-CN" altLang="en-US" sz="4400" dirty="0"/>
          </a:p>
        </p:txBody>
      </p:sp>
      <p:sp>
        <p:nvSpPr>
          <p:cNvPr id="3" name="内容占位符 6">
            <a:extLst>
              <a:ext uri="{FF2B5EF4-FFF2-40B4-BE49-F238E27FC236}">
                <a16:creationId xmlns:a16="http://schemas.microsoft.com/office/drawing/2014/main" id="{630B4939-53A9-0F0D-94AC-321E78DE633A}"/>
              </a:ext>
            </a:extLst>
          </p:cNvPr>
          <p:cNvSpPr>
            <a:spLocks noGrp="1"/>
          </p:cNvSpPr>
          <p:nvPr/>
        </p:nvSpPr>
        <p:spPr>
          <a:xfrm>
            <a:off x="838200" y="1386346"/>
            <a:ext cx="11059274" cy="49548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dirty="0"/>
              <a:t>We have developed AERCA for the root cause analysis of anomalies in multivariate time series through Granger causal discovery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/>
              <a:t>anomalies are caused by external interventions on exogenous variables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/>
              <a:t>explicitly considers the exogenous variables when simulating the data generation process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/>
              <a:t>learn the causal relationships among time series as well as derive the exogenous variables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/>
              <a:t>exogenous variables that deviate from normal values will be assigned high root cause scores.</a:t>
            </a:r>
          </a:p>
        </p:txBody>
      </p:sp>
    </p:spTree>
    <p:extLst>
      <p:ext uri="{BB962C8B-B14F-4D97-AF65-F5344CB8AC3E}">
        <p14:creationId xmlns:p14="http://schemas.microsoft.com/office/powerpoint/2010/main" val="2785504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19737</TotalTime>
  <Words>3243</Words>
  <Application>Microsoft Office PowerPoint</Application>
  <PresentationFormat>宽屏</PresentationFormat>
  <Paragraphs>145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Inter</vt:lpstr>
      <vt:lpstr>KaTeX_Main</vt:lpstr>
      <vt:lpstr>ui-sans-serif</vt:lpstr>
      <vt:lpstr>等线</vt:lpstr>
      <vt:lpstr>等线 Light</vt:lpstr>
      <vt:lpstr>Arial</vt:lpstr>
      <vt:lpstr>Cambria Math</vt:lpstr>
      <vt:lpstr>Montserrat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tingfeng</dc:creator>
  <cp:lastModifiedBy>tingfeng</cp:lastModifiedBy>
  <cp:revision>302</cp:revision>
  <dcterms:created xsi:type="dcterms:W3CDTF">2025-11-24T07:21:15Z</dcterms:created>
  <dcterms:modified xsi:type="dcterms:W3CDTF">2026-04-24T07:54:49Z</dcterms:modified>
</cp:coreProperties>
</file>