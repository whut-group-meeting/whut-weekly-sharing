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58" r:id="rId4"/>
    <p:sldId id="259" r:id="rId6"/>
    <p:sldId id="260" r:id="rId7"/>
    <p:sldId id="261" r:id="rId8"/>
    <p:sldId id="273" r:id="rId9"/>
    <p:sldId id="274" r:id="rId10"/>
    <p:sldId id="275" r:id="rId11"/>
    <p:sldId id="276" r:id="rId12"/>
    <p:sldId id="262" r:id="rId13"/>
    <p:sldId id="263" r:id="rId14"/>
    <p:sldId id="264"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2"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42"/>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p:nvPr>
        </p:nvSpPr>
        <p:spPr>
          <a:xfrm>
            <a:off x="987425" y="3201988"/>
            <a:ext cx="7897813" cy="3033712"/>
          </a:xfrm>
        </p:spPr>
        <p:txBody>
          <a:bodyPr wrap="square" lIns="90553" tIns="45277" rIns="90553" bIns="45277" anchor="t" anchorCtr="0"/>
          <a:lstStyle/>
          <a:p>
            <a:pPr lvl="0" defTabSz="914400" eaLnBrk="1" hangingPunct="1">
              <a:spcBef>
                <a:spcPct val="0"/>
              </a:spcBef>
            </a:pPr>
            <a:endParaRPr lang="zh-CN" altLang="en-US" dirty="0"/>
          </a:p>
        </p:txBody>
      </p:sp>
      <p:sp>
        <p:nvSpPr>
          <p:cNvPr id="19460" name="灯片编号占位符 3"/>
          <p:cNvSpPr txBox="1">
            <a:spLocks noGrp="1"/>
          </p:cNvSpPr>
          <p:nvPr>
            <p:ph type="sldNum" sz="quarter"/>
          </p:nvPr>
        </p:nvSpPr>
        <p:spPr>
          <a:xfrm>
            <a:off x="5591175" y="6402388"/>
            <a:ext cx="4276725" cy="336550"/>
          </a:xfrm>
          <a:prstGeom prst="rect">
            <a:avLst/>
          </a:prstGeom>
          <a:noFill/>
          <a:ln w="9525">
            <a:noFill/>
          </a:ln>
        </p:spPr>
        <p:txBody>
          <a:bodyPr lIns="90553" tIns="45277" rIns="90553" bIns="45277"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p:nvPr>
        </p:nvSpPr>
        <p:spPr>
          <a:xfrm>
            <a:off x="987425" y="3201988"/>
            <a:ext cx="7897813" cy="3033712"/>
          </a:xfrm>
        </p:spPr>
        <p:txBody>
          <a:bodyPr wrap="square" lIns="90553" tIns="45277" rIns="90553" bIns="45277" anchor="t" anchorCtr="0"/>
          <a:lstStyle/>
          <a:p>
            <a:pPr lvl="0" defTabSz="914400" eaLnBrk="1" hangingPunct="1">
              <a:spcBef>
                <a:spcPct val="0"/>
              </a:spcBef>
            </a:pPr>
            <a:endParaRPr lang="zh-CN" altLang="en-US" dirty="0"/>
          </a:p>
        </p:txBody>
      </p:sp>
      <p:sp>
        <p:nvSpPr>
          <p:cNvPr id="19460" name="灯片编号占位符 3"/>
          <p:cNvSpPr txBox="1">
            <a:spLocks noGrp="1"/>
          </p:cNvSpPr>
          <p:nvPr>
            <p:ph type="sldNum" sz="quarter"/>
          </p:nvPr>
        </p:nvSpPr>
        <p:spPr>
          <a:xfrm>
            <a:off x="5591175" y="6402388"/>
            <a:ext cx="4276725" cy="336550"/>
          </a:xfrm>
          <a:prstGeom prst="rect">
            <a:avLst/>
          </a:prstGeom>
          <a:noFill/>
          <a:ln w="9525">
            <a:noFill/>
          </a:ln>
        </p:spPr>
        <p:txBody>
          <a:bodyPr lIns="90553" tIns="45277" rIns="90553" bIns="45277"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p:nvPr>
        </p:nvSpPr>
        <p:spPr>
          <a:xfrm>
            <a:off x="987425" y="3201988"/>
            <a:ext cx="7897813" cy="3033712"/>
          </a:xfrm>
        </p:spPr>
        <p:txBody>
          <a:bodyPr wrap="square" lIns="90553" tIns="45277" rIns="90553" bIns="45277" anchor="t" anchorCtr="0"/>
          <a:lstStyle/>
          <a:p>
            <a:pPr lvl="0" defTabSz="914400" eaLnBrk="1" hangingPunct="1">
              <a:spcBef>
                <a:spcPct val="0"/>
              </a:spcBef>
            </a:pPr>
            <a:endParaRPr lang="zh-CN" altLang="en-US" dirty="0"/>
          </a:p>
        </p:txBody>
      </p:sp>
      <p:sp>
        <p:nvSpPr>
          <p:cNvPr id="19460" name="灯片编号占位符 3"/>
          <p:cNvSpPr txBox="1">
            <a:spLocks noGrp="1"/>
          </p:cNvSpPr>
          <p:nvPr>
            <p:ph type="sldNum" sz="quarter"/>
          </p:nvPr>
        </p:nvSpPr>
        <p:spPr>
          <a:xfrm>
            <a:off x="5591175" y="6402388"/>
            <a:ext cx="4276725" cy="336550"/>
          </a:xfrm>
          <a:prstGeom prst="rect">
            <a:avLst/>
          </a:prstGeom>
          <a:noFill/>
          <a:ln w="9525">
            <a:noFill/>
          </a:ln>
        </p:spPr>
        <p:txBody>
          <a:bodyPr lIns="90553" tIns="45277" rIns="90553" bIns="45277"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p:nvPr>
        </p:nvSpPr>
        <p:spPr>
          <a:xfrm>
            <a:off x="987425" y="3201988"/>
            <a:ext cx="7897813" cy="3033712"/>
          </a:xfrm>
        </p:spPr>
        <p:txBody>
          <a:bodyPr wrap="square" lIns="90553" tIns="45277" rIns="90553" bIns="45277" anchor="t" anchorCtr="0"/>
          <a:lstStyle/>
          <a:p>
            <a:pPr lvl="0" defTabSz="914400" eaLnBrk="1" hangingPunct="1">
              <a:spcBef>
                <a:spcPct val="0"/>
              </a:spcBef>
            </a:pPr>
            <a:endParaRPr lang="zh-CN" altLang="en-US" dirty="0"/>
          </a:p>
        </p:txBody>
      </p:sp>
      <p:sp>
        <p:nvSpPr>
          <p:cNvPr id="19460" name="灯片编号占位符 3"/>
          <p:cNvSpPr txBox="1">
            <a:spLocks noGrp="1"/>
          </p:cNvSpPr>
          <p:nvPr>
            <p:ph type="sldNum" sz="quarter"/>
          </p:nvPr>
        </p:nvSpPr>
        <p:spPr>
          <a:xfrm>
            <a:off x="5591175" y="6402388"/>
            <a:ext cx="4276725" cy="336550"/>
          </a:xfrm>
          <a:prstGeom prst="rect">
            <a:avLst/>
          </a:prstGeom>
          <a:noFill/>
          <a:ln w="9525">
            <a:noFill/>
          </a:ln>
        </p:spPr>
        <p:txBody>
          <a:bodyPr lIns="90553" tIns="45277" rIns="90553" bIns="45277"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p:nvPr>
        </p:nvSpPr>
        <p:spPr>
          <a:xfrm>
            <a:off x="987425" y="3201988"/>
            <a:ext cx="7897813" cy="3033712"/>
          </a:xfrm>
        </p:spPr>
        <p:txBody>
          <a:bodyPr wrap="square" lIns="90553" tIns="45277" rIns="90553" bIns="45277" anchor="t" anchorCtr="0"/>
          <a:lstStyle/>
          <a:p>
            <a:pPr lvl="0" defTabSz="914400" eaLnBrk="1" hangingPunct="1">
              <a:spcBef>
                <a:spcPct val="0"/>
              </a:spcBef>
            </a:pPr>
            <a:endParaRPr lang="zh-CN" altLang="en-US" dirty="0"/>
          </a:p>
        </p:txBody>
      </p:sp>
      <p:sp>
        <p:nvSpPr>
          <p:cNvPr id="19460" name="灯片编号占位符 3"/>
          <p:cNvSpPr txBox="1">
            <a:spLocks noGrp="1"/>
          </p:cNvSpPr>
          <p:nvPr>
            <p:ph type="sldNum" sz="quarter"/>
          </p:nvPr>
        </p:nvSpPr>
        <p:spPr>
          <a:xfrm>
            <a:off x="5591175" y="6402388"/>
            <a:ext cx="4276725" cy="336550"/>
          </a:xfrm>
          <a:prstGeom prst="rect">
            <a:avLst/>
          </a:prstGeom>
          <a:noFill/>
          <a:ln w="9525">
            <a:noFill/>
          </a:ln>
        </p:spPr>
        <p:txBody>
          <a:bodyPr lIns="90553" tIns="45277" rIns="90553" bIns="45277"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p:nvPr>
        </p:nvSpPr>
        <p:spPr>
          <a:xfrm>
            <a:off x="987425" y="3201988"/>
            <a:ext cx="7897813" cy="3033712"/>
          </a:xfrm>
        </p:spPr>
        <p:txBody>
          <a:bodyPr wrap="square" lIns="90553" tIns="45277" rIns="90553" bIns="45277" anchor="t" anchorCtr="0"/>
          <a:lstStyle/>
          <a:p>
            <a:pPr lvl="0" defTabSz="914400" eaLnBrk="1" hangingPunct="1">
              <a:spcBef>
                <a:spcPct val="0"/>
              </a:spcBef>
            </a:pPr>
            <a:endParaRPr lang="zh-CN" altLang="en-US" dirty="0"/>
          </a:p>
        </p:txBody>
      </p:sp>
      <p:sp>
        <p:nvSpPr>
          <p:cNvPr id="19460" name="灯片编号占位符 3"/>
          <p:cNvSpPr txBox="1">
            <a:spLocks noGrp="1"/>
          </p:cNvSpPr>
          <p:nvPr>
            <p:ph type="sldNum" sz="quarter"/>
          </p:nvPr>
        </p:nvSpPr>
        <p:spPr>
          <a:xfrm>
            <a:off x="5591175" y="6402388"/>
            <a:ext cx="4276725" cy="336550"/>
          </a:xfrm>
          <a:prstGeom prst="rect">
            <a:avLst/>
          </a:prstGeom>
          <a:noFill/>
          <a:ln w="9525">
            <a:noFill/>
          </a:ln>
        </p:spPr>
        <p:txBody>
          <a:bodyPr lIns="90553" tIns="45277" rIns="90553" bIns="45277"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p:nvPr>
        </p:nvSpPr>
        <p:spPr>
          <a:xfrm>
            <a:off x="987425" y="3201988"/>
            <a:ext cx="7897813" cy="3033712"/>
          </a:xfrm>
        </p:spPr>
        <p:txBody>
          <a:bodyPr wrap="square" lIns="90553" tIns="45277" rIns="90553" bIns="45277" anchor="t" anchorCtr="0"/>
          <a:lstStyle/>
          <a:p>
            <a:pPr lvl="0" defTabSz="914400" eaLnBrk="1" hangingPunct="1">
              <a:spcBef>
                <a:spcPct val="0"/>
              </a:spcBef>
            </a:pPr>
            <a:endParaRPr lang="zh-CN" altLang="en-US" dirty="0"/>
          </a:p>
        </p:txBody>
      </p:sp>
      <p:sp>
        <p:nvSpPr>
          <p:cNvPr id="19460" name="灯片编号占位符 3"/>
          <p:cNvSpPr txBox="1">
            <a:spLocks noGrp="1"/>
          </p:cNvSpPr>
          <p:nvPr>
            <p:ph type="sldNum" sz="quarter"/>
          </p:nvPr>
        </p:nvSpPr>
        <p:spPr>
          <a:xfrm>
            <a:off x="5591175" y="6402388"/>
            <a:ext cx="4276725" cy="336550"/>
          </a:xfrm>
          <a:prstGeom prst="rect">
            <a:avLst/>
          </a:prstGeom>
          <a:noFill/>
          <a:ln w="9525">
            <a:noFill/>
          </a:ln>
        </p:spPr>
        <p:txBody>
          <a:bodyPr lIns="90553" tIns="45277" rIns="90553" bIns="45277"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p:nvPr>
        </p:nvSpPr>
        <p:spPr>
          <a:xfrm>
            <a:off x="987425" y="3201988"/>
            <a:ext cx="7897813" cy="3033712"/>
          </a:xfrm>
        </p:spPr>
        <p:txBody>
          <a:bodyPr wrap="square" lIns="90553" tIns="45277" rIns="90553" bIns="45277" anchor="t" anchorCtr="0"/>
          <a:lstStyle/>
          <a:p>
            <a:pPr lvl="0" defTabSz="914400" eaLnBrk="1" hangingPunct="1">
              <a:spcBef>
                <a:spcPct val="0"/>
              </a:spcBef>
            </a:pPr>
            <a:endParaRPr lang="zh-CN" altLang="en-US" dirty="0"/>
          </a:p>
        </p:txBody>
      </p:sp>
      <p:sp>
        <p:nvSpPr>
          <p:cNvPr id="19460" name="灯片编号占位符 3"/>
          <p:cNvSpPr txBox="1">
            <a:spLocks noGrp="1"/>
          </p:cNvSpPr>
          <p:nvPr>
            <p:ph type="sldNum" sz="quarter"/>
          </p:nvPr>
        </p:nvSpPr>
        <p:spPr>
          <a:xfrm>
            <a:off x="5591175" y="6402388"/>
            <a:ext cx="4276725" cy="336550"/>
          </a:xfrm>
          <a:prstGeom prst="rect">
            <a:avLst/>
          </a:prstGeom>
          <a:noFill/>
          <a:ln w="9525">
            <a:noFill/>
          </a:ln>
        </p:spPr>
        <p:txBody>
          <a:bodyPr lIns="90553" tIns="45277" rIns="90553" bIns="45277"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p:nvPr>
        </p:nvSpPr>
        <p:spPr>
          <a:xfrm>
            <a:off x="987425" y="3201988"/>
            <a:ext cx="7897813" cy="3033712"/>
          </a:xfrm>
        </p:spPr>
        <p:txBody>
          <a:bodyPr wrap="square" lIns="90553" tIns="45277" rIns="90553" bIns="45277" anchor="t" anchorCtr="0"/>
          <a:lstStyle/>
          <a:p>
            <a:pPr lvl="0" defTabSz="914400" eaLnBrk="1" hangingPunct="1">
              <a:spcBef>
                <a:spcPct val="0"/>
              </a:spcBef>
            </a:pPr>
            <a:endParaRPr lang="zh-CN" altLang="en-US" dirty="0"/>
          </a:p>
        </p:txBody>
      </p:sp>
      <p:sp>
        <p:nvSpPr>
          <p:cNvPr id="19460" name="灯片编号占位符 3"/>
          <p:cNvSpPr txBox="1">
            <a:spLocks noGrp="1"/>
          </p:cNvSpPr>
          <p:nvPr>
            <p:ph type="sldNum" sz="quarter"/>
          </p:nvPr>
        </p:nvSpPr>
        <p:spPr>
          <a:xfrm>
            <a:off x="5591175" y="6402388"/>
            <a:ext cx="4276725" cy="336550"/>
          </a:xfrm>
          <a:prstGeom prst="rect">
            <a:avLst/>
          </a:prstGeom>
          <a:noFill/>
          <a:ln w="9525">
            <a:noFill/>
          </a:ln>
        </p:spPr>
        <p:txBody>
          <a:bodyPr lIns="90553" tIns="45277" rIns="90553" bIns="45277"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p:nvPr>
        </p:nvSpPr>
        <p:spPr>
          <a:xfrm>
            <a:off x="987425" y="3201988"/>
            <a:ext cx="7897813" cy="3033712"/>
          </a:xfrm>
        </p:spPr>
        <p:txBody>
          <a:bodyPr wrap="square" lIns="90553" tIns="45277" rIns="90553" bIns="45277" anchor="t" anchorCtr="0"/>
          <a:lstStyle/>
          <a:p>
            <a:pPr lvl="0" defTabSz="914400" eaLnBrk="1" hangingPunct="1">
              <a:spcBef>
                <a:spcPct val="0"/>
              </a:spcBef>
            </a:pPr>
            <a:endParaRPr lang="zh-CN" altLang="en-US" dirty="0"/>
          </a:p>
        </p:txBody>
      </p:sp>
      <p:sp>
        <p:nvSpPr>
          <p:cNvPr id="19460" name="灯片编号占位符 3"/>
          <p:cNvSpPr txBox="1">
            <a:spLocks noGrp="1"/>
          </p:cNvSpPr>
          <p:nvPr>
            <p:ph type="sldNum" sz="quarter"/>
          </p:nvPr>
        </p:nvSpPr>
        <p:spPr>
          <a:xfrm>
            <a:off x="5591175" y="6402388"/>
            <a:ext cx="4276725" cy="336550"/>
          </a:xfrm>
          <a:prstGeom prst="rect">
            <a:avLst/>
          </a:prstGeom>
          <a:noFill/>
          <a:ln w="9525">
            <a:noFill/>
          </a:ln>
        </p:spPr>
        <p:txBody>
          <a:bodyPr lIns="90553" tIns="45277" rIns="90553" bIns="45277"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a:solidFill>
              <a:srgbClr val="000000">
                <a:alpha val="100000"/>
              </a:srgbClr>
            </a:solidFill>
            <a:miter lim="800000"/>
          </a:ln>
        </p:spPr>
      </p:sp>
      <p:sp>
        <p:nvSpPr>
          <p:cNvPr id="19459" name="备注占位符 2"/>
          <p:cNvSpPr>
            <a:spLocks noGrp="1"/>
          </p:cNvSpPr>
          <p:nvPr>
            <p:ph type="body"/>
          </p:nvPr>
        </p:nvSpPr>
        <p:spPr>
          <a:xfrm>
            <a:off x="987425" y="3201988"/>
            <a:ext cx="7897813" cy="3033712"/>
          </a:xfrm>
        </p:spPr>
        <p:txBody>
          <a:bodyPr wrap="square" lIns="90553" tIns="45277" rIns="90553" bIns="45277" anchor="t" anchorCtr="0"/>
          <a:lstStyle/>
          <a:p>
            <a:pPr lvl="0" defTabSz="914400" eaLnBrk="1" hangingPunct="1">
              <a:spcBef>
                <a:spcPct val="0"/>
              </a:spcBef>
            </a:pPr>
            <a:endParaRPr lang="zh-CN" altLang="en-US" dirty="0"/>
          </a:p>
        </p:txBody>
      </p:sp>
      <p:sp>
        <p:nvSpPr>
          <p:cNvPr id="19460" name="灯片编号占位符 3"/>
          <p:cNvSpPr txBox="1">
            <a:spLocks noGrp="1"/>
          </p:cNvSpPr>
          <p:nvPr>
            <p:ph type="sldNum" sz="quarter"/>
          </p:nvPr>
        </p:nvSpPr>
        <p:spPr>
          <a:xfrm>
            <a:off x="5591175" y="6402388"/>
            <a:ext cx="4276725" cy="336550"/>
          </a:xfrm>
          <a:prstGeom prst="rect">
            <a:avLst/>
          </a:prstGeom>
          <a:noFill/>
          <a:ln w="9525">
            <a:noFill/>
          </a:ln>
        </p:spPr>
        <p:txBody>
          <a:bodyPr lIns="90553" tIns="45277" rIns="90553" bIns="45277" anchor="b" anchorCtr="0"/>
          <a:lstStyle/>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38430" y="740410"/>
            <a:ext cx="11915140" cy="1325245"/>
          </a:xfrm>
        </p:spPr>
        <p:txBody>
          <a:bodyPr>
            <a:normAutofit/>
          </a:bodyPr>
          <a:p>
            <a:pPr marL="0" indent="0" algn="ctr" latinLnBrk="0"/>
            <a:r>
              <a:rPr lang="en-US" altLang="zh-CN" sz="3000">
                <a:latin typeface="Times New Roman" panose="02020603050405020304" pitchFamily="18" charset="0"/>
                <a:cs typeface="Times New Roman" panose="02020603050405020304" pitchFamily="18" charset="0"/>
              </a:rPr>
              <a:t>SYMPHONY: Synergistic Multi-agent Planning with</a:t>
            </a:r>
            <a:br>
              <a:rPr lang="en-US" altLang="zh-CN" sz="3000">
                <a:latin typeface="Times New Roman" panose="02020603050405020304" pitchFamily="18" charset="0"/>
                <a:cs typeface="Times New Roman" panose="02020603050405020304" pitchFamily="18" charset="0"/>
              </a:rPr>
            </a:br>
            <a:r>
              <a:rPr lang="en-US" altLang="zh-CN" sz="3000">
                <a:latin typeface="Times New Roman" panose="02020603050405020304" pitchFamily="18" charset="0"/>
                <a:cs typeface="Times New Roman" panose="02020603050405020304" pitchFamily="18" charset="0"/>
              </a:rPr>
              <a:t>Heterogeneous Language Model Assembly</a:t>
            </a:r>
            <a:endParaRPr lang="en-US" altLang="zh-CN" sz="3000">
              <a:latin typeface="Times New Roman" panose="02020603050405020304" pitchFamily="18" charset="0"/>
              <a:cs typeface="Times New Roman" panose="02020603050405020304" pitchFamily="18" charset="0"/>
            </a:endParaRPr>
          </a:p>
        </p:txBody>
      </p:sp>
      <p:sp>
        <p:nvSpPr>
          <p:cNvPr id="6" name="内容占位符 2"/>
          <p:cNvSpPr>
            <a:spLocks noGrp="1"/>
          </p:cNvSpPr>
          <p:nvPr/>
        </p:nvSpPr>
        <p:spPr>
          <a:xfrm>
            <a:off x="1342390" y="2526030"/>
            <a:ext cx="9610725" cy="1056640"/>
          </a:xfrm>
          <a:prstGeom prst="rect">
            <a:avLst/>
          </a:prstGeom>
          <a:noFill/>
          <a:ln w="9525">
            <a:noFill/>
          </a:ln>
        </p:spPr>
        <p:txBody>
          <a:bodyPr lIns="77925" tIns="38963" rIns="77925" bIns="38963"/>
          <a:lstStyle>
            <a:lvl1pPr marL="157480" indent="-157480" algn="l" defTabSz="631825" rtl="0" eaLnBrk="0" fontAlgn="base" hangingPunct="0">
              <a:lnSpc>
                <a:spcPct val="90000"/>
              </a:lnSpc>
              <a:spcBef>
                <a:spcPts val="690"/>
              </a:spcBef>
              <a:spcAft>
                <a:spcPct val="0"/>
              </a:spcAft>
              <a:buFont typeface="Arial" panose="020B0604020202020204" pitchFamily="34" charset="0"/>
              <a:buChar char="•"/>
              <a:defRPr sz="1900" kern="1200">
                <a:solidFill>
                  <a:sysClr val="windowText" lastClr="000000"/>
                </a:solidFill>
                <a:latin typeface="等线" panose="02010600030101010101" charset="-122"/>
                <a:ea typeface="+mn-ea"/>
                <a:cs typeface="等线" panose="02010600030101010101" charset="-122"/>
              </a:defRPr>
            </a:lvl1pPr>
            <a:lvl2pPr marL="474980" indent="-157480" algn="l" defTabSz="631825" rtl="0" eaLnBrk="0" fontAlgn="base" hangingPunct="0">
              <a:lnSpc>
                <a:spcPct val="90000"/>
              </a:lnSpc>
              <a:spcBef>
                <a:spcPts val="340"/>
              </a:spcBef>
              <a:spcAft>
                <a:spcPct val="0"/>
              </a:spcAft>
              <a:buFont typeface="Arial" panose="020B0604020202020204" pitchFamily="34" charset="0"/>
              <a:buChar char="•"/>
              <a:defRPr sz="1600" kern="1200">
                <a:solidFill>
                  <a:sysClr val="windowText" lastClr="000000"/>
                </a:solidFill>
                <a:latin typeface="等线" panose="02010600030101010101" charset="-122"/>
                <a:ea typeface="+mn-ea"/>
                <a:cs typeface="等线" panose="02010600030101010101" charset="-122"/>
              </a:defRPr>
            </a:lvl2pPr>
            <a:lvl3pPr marL="790575" indent="-157480" algn="l" defTabSz="631825" rtl="0" eaLnBrk="0" fontAlgn="base" hangingPunct="0">
              <a:lnSpc>
                <a:spcPct val="90000"/>
              </a:lnSpc>
              <a:spcBef>
                <a:spcPts val="340"/>
              </a:spcBef>
              <a:spcAft>
                <a:spcPct val="0"/>
              </a:spcAft>
              <a:buFont typeface="Arial" panose="020B0604020202020204" pitchFamily="34" charset="0"/>
              <a:buChar char="•"/>
              <a:defRPr sz="1400" kern="1200">
                <a:solidFill>
                  <a:sysClr val="windowText" lastClr="000000"/>
                </a:solidFill>
                <a:latin typeface="等线" panose="02010600030101010101" charset="-122"/>
                <a:ea typeface="+mn-ea"/>
                <a:cs typeface="等线" panose="02010600030101010101" charset="-122"/>
              </a:defRPr>
            </a:lvl3pPr>
            <a:lvl4pPr marL="1106805" indent="-157480" algn="l" defTabSz="631825" rtl="0" eaLnBrk="0" fontAlgn="base" hangingPunct="0">
              <a:lnSpc>
                <a:spcPct val="90000"/>
              </a:lnSpc>
              <a:spcBef>
                <a:spcPts val="340"/>
              </a:spcBef>
              <a:spcAft>
                <a:spcPct val="0"/>
              </a:spcAft>
              <a:buFont typeface="Arial" panose="020B0604020202020204" pitchFamily="34" charset="0"/>
              <a:buChar char="•"/>
              <a:defRPr sz="1200" kern="1200">
                <a:solidFill>
                  <a:sysClr val="windowText" lastClr="000000"/>
                </a:solidFill>
                <a:latin typeface="等线" panose="02010600030101010101" charset="-122"/>
                <a:ea typeface="+mn-ea"/>
                <a:cs typeface="等线" panose="02010600030101010101" charset="-122"/>
              </a:defRPr>
            </a:lvl4pPr>
            <a:lvl5pPr marL="1424305" indent="-157480" algn="l" defTabSz="631825" rtl="0" eaLnBrk="0" fontAlgn="base" hangingPunct="0">
              <a:lnSpc>
                <a:spcPct val="90000"/>
              </a:lnSpc>
              <a:spcBef>
                <a:spcPts val="340"/>
              </a:spcBef>
              <a:spcAft>
                <a:spcPct val="0"/>
              </a:spcAft>
              <a:buFont typeface="Arial" panose="020B0604020202020204" pitchFamily="34" charset="0"/>
              <a:buChar char="•"/>
              <a:defRPr sz="1200" kern="1200">
                <a:solidFill>
                  <a:sysClr val="windowText" lastClr="000000"/>
                </a:solidFill>
                <a:latin typeface="等线" panose="02010600030101010101" charset="-122"/>
                <a:ea typeface="+mn-ea"/>
                <a:cs typeface="等线" panose="02010600030101010101" charset="-122"/>
              </a:defRPr>
            </a:lvl5pPr>
            <a:lvl6pPr marL="1741170" indent="-158115" algn="l" defTabSz="633095" rtl="0" eaLnBrk="1" latinLnBrk="0" hangingPunct="1">
              <a:lnSpc>
                <a:spcPct val="90000"/>
              </a:lnSpc>
              <a:spcBef>
                <a:spcPts val="345"/>
              </a:spcBef>
              <a:buFont typeface="Arial" panose="020B0604020202020204" pitchFamily="34" charset="0"/>
              <a:buChar char="•"/>
              <a:defRPr sz="1200" kern="1200">
                <a:solidFill>
                  <a:sysClr val="windowText" lastClr="000000"/>
                </a:solidFill>
                <a:latin typeface="等线" panose="02010600030101010101" charset="-122"/>
                <a:ea typeface="+mn-ea"/>
                <a:cs typeface="+mn-ea"/>
              </a:defRPr>
            </a:lvl6pPr>
            <a:lvl7pPr marL="2057400" indent="-158115" algn="l" defTabSz="633095" rtl="0" eaLnBrk="1" latinLnBrk="0" hangingPunct="1">
              <a:lnSpc>
                <a:spcPct val="90000"/>
              </a:lnSpc>
              <a:spcBef>
                <a:spcPts val="345"/>
              </a:spcBef>
              <a:buFont typeface="Arial" panose="020B0604020202020204" pitchFamily="34" charset="0"/>
              <a:buChar char="•"/>
              <a:defRPr sz="1200" kern="1200">
                <a:solidFill>
                  <a:sysClr val="windowText" lastClr="000000"/>
                </a:solidFill>
                <a:latin typeface="等线" panose="02010600030101010101" charset="-122"/>
                <a:ea typeface="+mn-ea"/>
                <a:cs typeface="+mn-ea"/>
              </a:defRPr>
            </a:lvl7pPr>
            <a:lvl8pPr marL="2374265" indent="-158115" algn="l" defTabSz="633095" rtl="0" eaLnBrk="1" latinLnBrk="0" hangingPunct="1">
              <a:lnSpc>
                <a:spcPct val="90000"/>
              </a:lnSpc>
              <a:spcBef>
                <a:spcPts val="345"/>
              </a:spcBef>
              <a:buFont typeface="Arial" panose="020B0604020202020204" pitchFamily="34" charset="0"/>
              <a:buChar char="•"/>
              <a:defRPr sz="1200" kern="1200">
                <a:solidFill>
                  <a:sysClr val="windowText" lastClr="000000"/>
                </a:solidFill>
                <a:latin typeface="等线" panose="02010600030101010101" charset="-122"/>
                <a:ea typeface="+mn-ea"/>
                <a:cs typeface="+mn-ea"/>
              </a:defRPr>
            </a:lvl8pPr>
            <a:lvl9pPr marL="2691130" indent="-158115" algn="l" defTabSz="633095" rtl="0" eaLnBrk="1" latinLnBrk="0" hangingPunct="1">
              <a:lnSpc>
                <a:spcPct val="90000"/>
              </a:lnSpc>
              <a:spcBef>
                <a:spcPts val="345"/>
              </a:spcBef>
              <a:buFont typeface="Arial" panose="020B0604020202020204" pitchFamily="34" charset="0"/>
              <a:buChar char="•"/>
              <a:defRPr sz="1200" kern="1200">
                <a:solidFill>
                  <a:sysClr val="windowText" lastClr="000000"/>
                </a:solidFill>
                <a:latin typeface="等线" panose="02010600030101010101" charset="-122"/>
                <a:ea typeface="+mn-ea"/>
                <a:cs typeface="+mn-ea"/>
              </a:defRPr>
            </a:lvl9pPr>
          </a:lstStyle>
          <a:p>
            <a:pPr marL="0" indent="0" algn="ctr" latinLnBrk="0">
              <a:lnSpc>
                <a:spcPts val="2000"/>
              </a:lnSpc>
              <a:spcBef>
                <a:spcPts val="0"/>
              </a:spcBef>
              <a:buNone/>
            </a:pPr>
            <a:r>
              <a:rPr lang="en-US" altLang="zh-CN">
                <a:latin typeface="Times New Roman" panose="02020603050405020304" pitchFamily="18" charset="0"/>
                <a:cs typeface="Times New Roman" panose="02020603050405020304" pitchFamily="18" charset="0"/>
              </a:rPr>
              <a:t>Wei Zhu Zhiwen Tang∗ Kun Yue</a:t>
            </a:r>
            <a:endParaRPr lang="en-US" altLang="zh-CN">
              <a:latin typeface="Times New Roman" panose="02020603050405020304" pitchFamily="18" charset="0"/>
              <a:cs typeface="Times New Roman" panose="02020603050405020304" pitchFamily="18" charset="0"/>
            </a:endParaRPr>
          </a:p>
          <a:p>
            <a:pPr marL="0" indent="0" algn="ctr" latinLnBrk="0">
              <a:lnSpc>
                <a:spcPts val="2000"/>
              </a:lnSpc>
              <a:spcBef>
                <a:spcPts val="0"/>
              </a:spcBef>
              <a:buNone/>
            </a:pPr>
            <a:endParaRPr lang="en-US" altLang="zh-CN">
              <a:latin typeface="Times New Roman" panose="02020603050405020304" pitchFamily="18" charset="0"/>
              <a:cs typeface="Times New Roman" panose="02020603050405020304" pitchFamily="18" charset="0"/>
            </a:endParaRPr>
          </a:p>
          <a:p>
            <a:pPr marL="0" indent="0" algn="ctr" latinLnBrk="0">
              <a:lnSpc>
                <a:spcPts val="2000"/>
              </a:lnSpc>
              <a:spcBef>
                <a:spcPts val="0"/>
              </a:spcBef>
              <a:buNone/>
            </a:pPr>
            <a:r>
              <a:rPr lang="en-US" altLang="zh-CN" sz="1800">
                <a:latin typeface="Times New Roman" panose="02020603050405020304" pitchFamily="18" charset="0"/>
                <a:cs typeface="Times New Roman" panose="02020603050405020304" pitchFamily="18" charset="0"/>
              </a:rPr>
              <a:t>NeurIPS</a:t>
            </a:r>
            <a:endParaRPr lang="en-US" altLang="zh-CN" sz="1800">
              <a:latin typeface="Times New Roman" panose="02020603050405020304" pitchFamily="18" charset="0"/>
              <a:cs typeface="Times New Roman" panose="02020603050405020304" pitchFamily="18" charset="0"/>
            </a:endParaRPr>
          </a:p>
          <a:p>
            <a:pPr marL="0" indent="0" algn="ctr" latinLnBrk="0">
              <a:lnSpc>
                <a:spcPts val="2000"/>
              </a:lnSpc>
              <a:spcBef>
                <a:spcPts val="0"/>
              </a:spcBef>
              <a:buNone/>
            </a:pPr>
            <a:endParaRPr lang="en-US" altLang="zh-CN" sz="1800">
              <a:latin typeface="Times New Roman" panose="02020603050405020304" pitchFamily="18" charset="0"/>
              <a:cs typeface="Times New Roman" panose="02020603050405020304" pitchFamily="18" charset="0"/>
            </a:endParaRPr>
          </a:p>
          <a:p>
            <a:pPr marL="0" indent="0" algn="ctr" latinLnBrk="0">
              <a:lnSpc>
                <a:spcPct val="90000"/>
              </a:lnSpc>
              <a:spcBef>
                <a:spcPts val="0"/>
              </a:spcBef>
              <a:buNone/>
            </a:pPr>
            <a:r>
              <a:rPr lang="en-US" altLang="zh-CN" sz="1800">
                <a:latin typeface="Times New Roman" panose="02020603050405020304" pitchFamily="18" charset="0"/>
                <a:cs typeface="Times New Roman" panose="02020603050405020304" pitchFamily="18" charset="0"/>
              </a:rPr>
              <a:t> 19 Sept 2025</a:t>
            </a:r>
            <a:endParaRPr lang="en-US" altLang="zh-CN"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86613" y="119016"/>
            <a:ext cx="2693670" cy="9124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rPr>
              <a:t>Outline</a:t>
            </a:r>
            <a:endParaRPr kumimoji="0" lang="zh-CN" altLang="en-US"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9" name="文本框 8"/>
          <p:cNvSpPr txBox="1"/>
          <p:nvPr/>
        </p:nvSpPr>
        <p:spPr>
          <a:xfrm>
            <a:off x="462803" y="229077"/>
            <a:ext cx="11265647" cy="748030"/>
          </a:xfrm>
          <a:prstGeom prst="rect">
            <a:avLst/>
          </a:prstGeom>
          <a:noFill/>
        </p:spPr>
        <p:txBody>
          <a:bodyPr vert="horz" wrap="square" rtlCol="0">
            <a:spAutoFit/>
          </a:bodyPr>
          <a:lstStyle/>
          <a:p>
            <a:pPr lvl="0">
              <a:defRPr/>
            </a:pPr>
            <a:r>
              <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rPr>
              <a:t>Monte Carlo Tree Search (MCTS)</a:t>
            </a:r>
            <a:endPar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endParaRPr>
          </a:p>
        </p:txBody>
      </p:sp>
      <p:cxnSp>
        <p:nvCxnSpPr>
          <p:cNvPr id="11" name="直接连接符 34"/>
          <p:cNvCxnSpPr/>
          <p:nvPr/>
        </p:nvCxnSpPr>
        <p:spPr>
          <a:xfrm>
            <a:off x="1052389" y="1134291"/>
            <a:ext cx="11139611" cy="0"/>
          </a:xfrm>
          <a:prstGeom prst="line">
            <a:avLst/>
          </a:prstGeom>
          <a:ln>
            <a:solidFill>
              <a:srgbClr val="05489B"/>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483" y="1134291"/>
            <a:ext cx="1064872" cy="0"/>
          </a:xfrm>
          <a:prstGeom prst="line">
            <a:avLst/>
          </a:prstGeom>
          <a:ln w="57150">
            <a:solidFill>
              <a:srgbClr val="05489B"/>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 name="文本框 4"/>
              <p:cNvSpPr txBox="1"/>
              <p:nvPr/>
            </p:nvSpPr>
            <p:spPr>
              <a:xfrm>
                <a:off x="260985" y="1769110"/>
                <a:ext cx="7425690" cy="2332990"/>
              </a:xfrm>
              <a:prstGeom prst="rect">
                <a:avLst/>
              </a:prstGeom>
            </p:spPr>
            <p:txBody>
              <a:bodyPr wrap="square">
                <a:noAutofit/>
              </a:bodyPr>
              <a:p>
                <a:pPr algn="just"/>
                <a:r>
                  <a:rPr lang="en-US" altLang="zh-CN">
                    <a:latin typeface="Times New Roman" panose="02020603050405020304" pitchFamily="18" charset="0"/>
                    <a:cs typeface="Times New Roman" panose="02020603050405020304" pitchFamily="18" charset="0"/>
                  </a:rPr>
                  <a:t>Selection.  Starting from the root, descend the tree by choosing at each visited node s the action.</a:t>
                </a:r>
                <a:endParaRPr lang="en-US" altLang="zh-CN">
                  <a:latin typeface="Times New Roman" panose="02020603050405020304" pitchFamily="18" charset="0"/>
                  <a:cs typeface="Times New Roman" panose="02020603050405020304" pitchFamily="18" charset="0"/>
                </a:endParaRPr>
              </a:p>
              <a:p>
                <a:pPr algn="just"/>
                <a:endParaRPr lang="zh-CN" altLang="en-US">
                  <a:latin typeface="Times New Roman" panose="02020603050405020304" pitchFamily="18" charset="0"/>
                  <a:cs typeface="Times New Roman" panose="02020603050405020304" pitchFamily="18" charset="0"/>
                </a:endParaRPr>
              </a:p>
              <a:p>
                <a:pPr algn="just"/>
                <a:endParaRPr lang="zh-CN" altLang="en-US">
                  <a:latin typeface="Times New Roman" panose="02020603050405020304" pitchFamily="18" charset="0"/>
                  <a:cs typeface="Times New Roman" panose="02020603050405020304" pitchFamily="18" charset="0"/>
                </a:endParaRPr>
              </a:p>
              <a:p>
                <a:pPr algn="just"/>
                <a:r>
                  <a:rPr lang="en-US" altLang="zh-CN">
                    <a:latin typeface="Times New Roman" panose="02020603050405020304" pitchFamily="18" charset="0"/>
                    <a:cs typeface="Times New Roman" panose="02020603050405020304" pitchFamily="18" charset="0"/>
                  </a:rPr>
                  <a:t>Expansion. Upon reaching a leaf node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𝑠</m:t>
                        </m:r>
                      </m:e>
                      <m:sub>
                        <m:r>
                          <a:rPr lang="en-US" altLang="zh-CN" i="1">
                            <a:latin typeface="Cambria Math" panose="02040503050406030204" charset="0"/>
                            <a:cs typeface="Cambria Math" panose="02040503050406030204" charset="0"/>
                          </a:rPr>
                          <m:t>𝐿</m:t>
                        </m:r>
                      </m:sub>
                    </m:sSub>
                  </m:oMath>
                </a14:m>
                <a:r>
                  <a:rPr lang="en-US" altLang="zh-CN">
                    <a:latin typeface="Times New Roman" panose="02020603050405020304" pitchFamily="18" charset="0"/>
                    <a:cs typeface="Times New Roman" panose="02020603050405020304" pitchFamily="18" charset="0"/>
                  </a:rPr>
                  <a:t> with untried actions, expand by adding one (or more) child node(s) corresponding to an unexplored action a ∈ A.</a:t>
                </a:r>
                <a:endParaRPr lang="en-US" altLang="zh-CN">
                  <a:latin typeface="Times New Roman" panose="02020603050405020304" pitchFamily="18" charset="0"/>
                  <a:cs typeface="Times New Roman" panose="02020603050405020304" pitchFamily="18" charset="0"/>
                </a:endParaRPr>
              </a:p>
              <a:p>
                <a:pPr algn="just"/>
                <a:endParaRPr lang="en-US" altLang="zh-CN">
                  <a:latin typeface="Times New Roman" panose="02020603050405020304" pitchFamily="18" charset="0"/>
                  <a:cs typeface="Times New Roman" panose="02020603050405020304" pitchFamily="18" charset="0"/>
                </a:endParaRPr>
              </a:p>
              <a:p>
                <a:pPr algn="just"/>
                <a:endParaRPr lang="en-US" altLang="zh-CN">
                  <a:latin typeface="Times New Roman" panose="02020603050405020304" pitchFamily="18" charset="0"/>
                  <a:cs typeface="Times New Roman" panose="02020603050405020304" pitchFamily="18" charset="0"/>
                </a:endParaRPr>
              </a:p>
              <a:p>
                <a:pPr algn="just"/>
                <a:r>
                  <a:rPr lang="en-US" altLang="zh-CN">
                    <a:latin typeface="Times New Roman" panose="02020603050405020304" pitchFamily="18" charset="0"/>
                    <a:cs typeface="Times New Roman" panose="02020603050405020304" pitchFamily="18" charset="0"/>
                  </a:rPr>
                  <a:t>Simulation(Rollout). From the new node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𝑠</m:t>
                        </m:r>
                      </m:e>
                      <m:sub>
                        <m:r>
                          <a:rPr lang="en-US" altLang="zh-CN" i="1">
                            <a:latin typeface="Cambria Math" panose="02040503050406030204" charset="0"/>
                            <a:cs typeface="Cambria Math" panose="02040503050406030204" charset="0"/>
                          </a:rPr>
                          <m:t>𝐿</m:t>
                        </m:r>
                      </m:sub>
                    </m:sSub>
                  </m:oMath>
                </a14:m>
                <a:r>
                  <a:rPr lang="en-US" altLang="zh-CN">
                    <a:latin typeface="Times New Roman" panose="02020603050405020304" pitchFamily="18" charset="0"/>
                    <a:cs typeface="Times New Roman" panose="02020603050405020304" pitchFamily="18" charset="0"/>
                  </a:rPr>
                  <a:t> , execute a trajectory of length T under the lightweight policy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𝜋</m:t>
                        </m:r>
                      </m:e>
                      <m:sub>
                        <m:r>
                          <a:rPr lang="en-US" altLang="zh-CN" i="1">
                            <a:latin typeface="Cambria Math" panose="02040503050406030204" charset="0"/>
                            <a:cs typeface="Cambria Math" panose="02040503050406030204" charset="0"/>
                          </a:rPr>
                          <m:t>𝑟𝑜𝑙𝑙𝑜𝑢𝑡</m:t>
                        </m:r>
                      </m:sub>
                    </m:sSub>
                  </m:oMath>
                </a14:m>
                <a:r>
                  <a:rPr lang="en-US" altLang="zh-CN">
                    <a:latin typeface="Times New Roman" panose="02020603050405020304" pitchFamily="18" charset="0"/>
                    <a:cs typeface="Times New Roman" panose="02020603050405020304" pitchFamily="18" charset="0"/>
                  </a:rPr>
                  <a:t>, accumulating the discounted sum to estimate the value of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𝑠</m:t>
                        </m:r>
                      </m:e>
                      <m:sub>
                        <m:r>
                          <a:rPr lang="en-US" altLang="zh-CN" i="1">
                            <a:latin typeface="Cambria Math" panose="02040503050406030204" charset="0"/>
                            <a:cs typeface="Cambria Math" panose="02040503050406030204" charset="0"/>
                          </a:rPr>
                          <m:t>𝐿</m:t>
                        </m:r>
                      </m:sub>
                    </m:sSub>
                  </m:oMath>
                </a14:m>
                <a:r>
                  <a:rPr lang="en-US" altLang="zh-CN">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a:p>
                <a:pPr algn="just"/>
                <a:endParaRPr lang="en-US" altLang="zh-CN">
                  <a:latin typeface="Times New Roman" panose="02020603050405020304" pitchFamily="18" charset="0"/>
                  <a:cs typeface="Times New Roman" panose="02020603050405020304" pitchFamily="18" charset="0"/>
                </a:endParaRPr>
              </a:p>
              <a:p>
                <a:pPr algn="just"/>
                <a:endParaRPr lang="en-US" altLang="zh-CN">
                  <a:latin typeface="Times New Roman" panose="02020603050405020304" pitchFamily="18" charset="0"/>
                  <a:cs typeface="Times New Roman" panose="02020603050405020304" pitchFamily="18" charset="0"/>
                </a:endParaRPr>
              </a:p>
              <a:p>
                <a:pPr algn="just"/>
                <a:r>
                  <a:rPr lang="en-US" altLang="zh-CN">
                    <a:latin typeface="Times New Roman" panose="02020603050405020304" pitchFamily="18" charset="0"/>
                    <a:cs typeface="Times New Roman" panose="02020603050405020304" pitchFamily="18" charset="0"/>
                  </a:rPr>
                  <a:t>Backpropagation.Propagate Rsim up the path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𝑠</m:t>
                        </m:r>
                      </m:e>
                      <m:sub>
                        <m:r>
                          <a:rPr lang="en-US" altLang="zh-CN" i="1">
                            <a:latin typeface="Cambria Math" panose="02040503050406030204" charset="0"/>
                            <a:cs typeface="Cambria Math" panose="02040503050406030204" charset="0"/>
                          </a:rPr>
                          <m:t>0</m:t>
                        </m:r>
                      </m:sub>
                    </m:sSub>
                  </m:oMath>
                </a14:m>
                <a:r>
                  <a:rPr lang="en-US" altLang="zh-CN">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0</m:t>
                        </m:r>
                      </m:sub>
                    </m:sSub>
                  </m:oMath>
                </a14:m>
                <a:r>
                  <a:rPr lang="en-US" altLang="zh-CN">
                    <a:latin typeface="Times New Roman" panose="02020603050405020304" pitchFamily="18" charset="0"/>
                    <a:cs typeface="Times New Roman" panose="02020603050405020304" pitchFamily="18" charset="0"/>
                  </a:rPr>
                  <a:t>), · · ·,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𝑠</m:t>
                        </m:r>
                      </m:e>
                      <m:sub>
                        <m:r>
                          <a:rPr lang="en-US" altLang="zh-CN" i="1">
                            <a:latin typeface="Cambria Math" panose="02040503050406030204" charset="0"/>
                            <a:cs typeface="Cambria Math" panose="02040503050406030204" charset="0"/>
                          </a:rPr>
                          <m:t>𝐿</m:t>
                        </m:r>
                      </m:sub>
                    </m:sSub>
                  </m:oMath>
                </a14:m>
                <a:r>
                  <a:rPr lang="en-US" altLang="zh-CN">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𝑎</m:t>
                        </m:r>
                      </m:e>
                      <m:sub>
                        <m:r>
                          <a:rPr lang="en-US" altLang="zh-CN" i="1">
                            <a:latin typeface="Cambria Math" panose="02040503050406030204" charset="0"/>
                            <a:cs typeface="Cambria Math" panose="02040503050406030204" charset="0"/>
                          </a:rPr>
                          <m:t>𝐿</m:t>
                        </m:r>
                      </m:sub>
                    </m:sSub>
                  </m:oMath>
                </a14:m>
                <a:r>
                  <a:rPr lang="en-US" altLang="zh-CN">
                    <a:latin typeface="Times New Roman" panose="02020603050405020304" pitchFamily="18" charset="0"/>
                    <a:cs typeface="Times New Roman" panose="02020603050405020304" pitchFamily="18" charset="0"/>
                  </a:rPr>
                  <a:t>), updating each edge s, a encountered.</a:t>
                </a:r>
                <a:endParaRPr lang="en-US" altLang="zh-CN">
                  <a:latin typeface="Times New Roman" panose="02020603050405020304" pitchFamily="18" charset="0"/>
                  <a:cs typeface="Times New Roman" panose="020206030504050203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60985" y="1769110"/>
                <a:ext cx="7425690" cy="2332990"/>
              </a:xfrm>
              <a:prstGeom prst="rect">
                <a:avLst/>
              </a:prstGeom>
              <a:blipFill rotWithShape="1">
                <a:blip r:embed="rId1"/>
                <a:stretch>
                  <a:fillRect b="-90093"/>
                </a:stretch>
              </a:blipFill>
            </p:spPr>
            <p:txBody>
              <a:bodyPr/>
              <a:lstStyle/>
              <a:p>
                <a:r>
                  <a:rPr lang="zh-CN" altLang="en-US">
                    <a:noFill/>
                  </a:rPr>
                  <a:t> </a:t>
                </a:r>
              </a:p>
            </p:txBody>
          </p:sp>
        </mc:Fallback>
      </mc:AlternateContent>
      <p:pic>
        <p:nvPicPr>
          <p:cNvPr id="2" name="图片 1"/>
          <p:cNvPicPr>
            <a:picLocks noChangeAspect="1"/>
          </p:cNvPicPr>
          <p:nvPr/>
        </p:nvPicPr>
        <p:blipFill>
          <a:blip r:embed="rId2"/>
          <a:stretch>
            <a:fillRect/>
          </a:stretch>
        </p:blipFill>
        <p:spPr>
          <a:xfrm>
            <a:off x="8041640" y="1877695"/>
            <a:ext cx="3940175" cy="4030345"/>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86613" y="119016"/>
            <a:ext cx="2693670" cy="9124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rPr>
              <a:t>Outline</a:t>
            </a:r>
            <a:endParaRPr kumimoji="0" lang="zh-CN" altLang="en-US"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9" name="文本框 8"/>
          <p:cNvSpPr txBox="1"/>
          <p:nvPr/>
        </p:nvSpPr>
        <p:spPr>
          <a:xfrm>
            <a:off x="462803" y="229077"/>
            <a:ext cx="11265647" cy="748030"/>
          </a:xfrm>
          <a:prstGeom prst="rect">
            <a:avLst/>
          </a:prstGeom>
          <a:noFill/>
        </p:spPr>
        <p:txBody>
          <a:bodyPr vert="horz" wrap="square" rtlCol="0">
            <a:spAutoFit/>
          </a:bodyPr>
          <a:lstStyle/>
          <a:p>
            <a:pPr lvl="0">
              <a:defRPr/>
            </a:pPr>
            <a:r>
              <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rPr>
              <a:t>Research Background</a:t>
            </a:r>
            <a:endPar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endParaRPr>
          </a:p>
        </p:txBody>
      </p:sp>
      <p:cxnSp>
        <p:nvCxnSpPr>
          <p:cNvPr id="11" name="直接连接符 34"/>
          <p:cNvCxnSpPr/>
          <p:nvPr/>
        </p:nvCxnSpPr>
        <p:spPr>
          <a:xfrm>
            <a:off x="1052389" y="1134291"/>
            <a:ext cx="11139611" cy="0"/>
          </a:xfrm>
          <a:prstGeom prst="line">
            <a:avLst/>
          </a:prstGeom>
          <a:ln>
            <a:solidFill>
              <a:srgbClr val="05489B"/>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483" y="1134291"/>
            <a:ext cx="1064872" cy="0"/>
          </a:xfrm>
          <a:prstGeom prst="line">
            <a:avLst/>
          </a:prstGeom>
          <a:ln w="57150">
            <a:solidFill>
              <a:srgbClr val="05489B"/>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462915" y="2719070"/>
            <a:ext cx="10393680" cy="2332990"/>
          </a:xfrm>
          <a:prstGeom prst="rect">
            <a:avLst/>
          </a:prstGeom>
        </p:spPr>
        <p:txBody>
          <a:bodyPr wrap="square">
            <a:noAutofit/>
          </a:bodyPr>
          <a:p>
            <a:pPr algn="just"/>
            <a:r>
              <a:rPr lang="en-US" altLang="zh-CN">
                <a:latin typeface="Times New Roman" panose="02020603050405020304" pitchFamily="18" charset="0"/>
                <a:cs typeface="Times New Roman" panose="02020603050405020304" pitchFamily="18" charset="0"/>
              </a:rPr>
              <a:t>Integration of LLM-based Agents and MCTS: The integration of large language models (LLMs) with planning algorithms, such as Monte Carlo Tree Search (MCTS), has shown promise in enhancing the decision-making processes of autonomous agents for complex tasks.</a:t>
            </a:r>
            <a:endParaRPr lang="en-US" altLang="zh-CN">
              <a:latin typeface="Times New Roman" panose="02020603050405020304" pitchFamily="18" charset="0"/>
              <a:cs typeface="Times New Roman" panose="02020603050405020304" pitchFamily="18" charset="0"/>
            </a:endParaRPr>
          </a:p>
          <a:p>
            <a:pPr algn="just"/>
            <a:endParaRPr lang="zh-CN" altLang="en-US">
              <a:latin typeface="Times New Roman" panose="02020603050405020304" pitchFamily="18" charset="0"/>
              <a:cs typeface="Times New Roman" panose="02020603050405020304" pitchFamily="18" charset="0"/>
            </a:endParaRPr>
          </a:p>
          <a:p>
            <a:pPr algn="just"/>
            <a:r>
              <a:rPr lang="en-US" altLang="zh-CN">
                <a:latin typeface="Times New Roman" panose="02020603050405020304" pitchFamily="18" charset="0"/>
                <a:cs typeface="Times New Roman" panose="02020603050405020304" pitchFamily="18" charset="0"/>
              </a:rPr>
              <a:t>Limitations of Single-Model Paradigm: Existing methods predominantly adopt a single-model paradigm during MCTS planning, relying on the stochasticity of a single LLM to generate diverse action branches. However, this approach often produces highly similar outputs that reflect the model's dominant reasoning pattern, leading to narrow and redundant search trajectories.</a:t>
            </a:r>
            <a:endParaRPr lang="en-US" altLang="zh-CN">
              <a:latin typeface="Times New Roman" panose="02020603050405020304" pitchFamily="18" charset="0"/>
              <a:cs typeface="Times New Roman" panose="02020603050405020304" pitchFamily="18" charset="0"/>
            </a:endParaRPr>
          </a:p>
          <a:p>
            <a:pPr algn="just"/>
            <a:endParaRPr lang="en-US" altLang="zh-CN">
              <a:latin typeface="Times New Roman" panose="02020603050405020304" pitchFamily="18" charset="0"/>
              <a:cs typeface="Times New Roman" panose="02020603050405020304" pitchFamily="18" charset="0"/>
            </a:endParaRPr>
          </a:p>
          <a:p>
            <a:pPr algn="just"/>
            <a:endParaRPr lang="en-US" altLang="zh-CN">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86613" y="119016"/>
            <a:ext cx="2693670" cy="9124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rPr>
              <a:t>Outline</a:t>
            </a:r>
            <a:endParaRPr kumimoji="0" lang="zh-CN" altLang="en-US"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9" name="文本框 8"/>
          <p:cNvSpPr txBox="1"/>
          <p:nvPr/>
        </p:nvSpPr>
        <p:spPr>
          <a:xfrm>
            <a:off x="462803" y="229077"/>
            <a:ext cx="11265647" cy="748030"/>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rPr>
              <a:t> Current Deficiencies</a:t>
            </a:r>
            <a:endPar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endParaRPr>
          </a:p>
        </p:txBody>
      </p:sp>
      <p:cxnSp>
        <p:nvCxnSpPr>
          <p:cNvPr id="11" name="直接连接符 34"/>
          <p:cNvCxnSpPr/>
          <p:nvPr/>
        </p:nvCxnSpPr>
        <p:spPr>
          <a:xfrm>
            <a:off x="1052389" y="1134291"/>
            <a:ext cx="11139611" cy="0"/>
          </a:xfrm>
          <a:prstGeom prst="line">
            <a:avLst/>
          </a:prstGeom>
          <a:ln>
            <a:solidFill>
              <a:srgbClr val="05489B"/>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483" y="1134291"/>
            <a:ext cx="1064872" cy="0"/>
          </a:xfrm>
          <a:prstGeom prst="line">
            <a:avLst/>
          </a:prstGeom>
          <a:ln w="57150">
            <a:solidFill>
              <a:srgbClr val="05489B"/>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23875" y="2810510"/>
            <a:ext cx="10393680" cy="2332990"/>
          </a:xfrm>
          <a:prstGeom prst="rect">
            <a:avLst/>
          </a:prstGeom>
        </p:spPr>
        <p:txBody>
          <a:bodyPr wrap="square">
            <a:noAutofit/>
          </a:bodyPr>
          <a:p>
            <a:pPr algn="just"/>
            <a:r>
              <a:rPr lang="en-US" altLang="zh-CN">
                <a:latin typeface="Times New Roman" panose="02020603050405020304" pitchFamily="18" charset="0"/>
                <a:cs typeface="Times New Roman" panose="02020603050405020304" pitchFamily="18" charset="0"/>
              </a:rPr>
              <a:t>Susceptibility to Local Optima: When the search tree is populated with highly similar branches, the planner becomes susceptible to local optima, and its ability to discover novel or unexpected solutions is greatly diminished.</a:t>
            </a:r>
            <a:endParaRPr lang="en-US" altLang="zh-CN">
              <a:latin typeface="Times New Roman" panose="02020603050405020304" pitchFamily="18" charset="0"/>
              <a:cs typeface="Times New Roman" panose="02020603050405020304" pitchFamily="18" charset="0"/>
            </a:endParaRPr>
          </a:p>
          <a:p>
            <a:pPr algn="just"/>
            <a:endParaRPr lang="zh-CN" altLang="en-US">
              <a:latin typeface="Times New Roman" panose="02020603050405020304" pitchFamily="18" charset="0"/>
              <a:cs typeface="Times New Roman" panose="02020603050405020304" pitchFamily="18" charset="0"/>
            </a:endParaRPr>
          </a:p>
          <a:p>
            <a:pPr algn="just"/>
            <a:r>
              <a:rPr lang="en-US" altLang="zh-CN">
                <a:latin typeface="Times New Roman" panose="02020603050405020304" pitchFamily="18" charset="0"/>
                <a:cs typeface="Times New Roman" panose="02020603050405020304" pitchFamily="18" charset="0"/>
              </a:rPr>
              <a:t>Failure in Complex Tasks and High Computational Overhead: In particularly challenging tasks that require compositional reasoning or multi-step tool use, the agent may fail to identify the correct solution path altogether. Even in cases where the solution is eventually found, the process may involve excessive sampling and token consumption, incurring significant computational overhead.</a:t>
            </a:r>
            <a:endParaRPr lang="en-US" altLang="zh-CN">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86613" y="119016"/>
            <a:ext cx="2693670" cy="9124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rPr>
              <a:t>Outline</a:t>
            </a:r>
            <a:endParaRPr kumimoji="0" lang="zh-CN" altLang="en-US"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9" name="文本框 8"/>
          <p:cNvSpPr txBox="1"/>
          <p:nvPr/>
        </p:nvSpPr>
        <p:spPr>
          <a:xfrm>
            <a:off x="462803" y="229077"/>
            <a:ext cx="11265647" cy="748030"/>
          </a:xfrm>
          <a:prstGeom prst="rect">
            <a:avLst/>
          </a:prstGeom>
          <a:noFill/>
        </p:spPr>
        <p:txBody>
          <a:bodyPr vert="horz" wrap="square" rtlCol="0">
            <a:spAutoFit/>
          </a:bodyPr>
          <a:lstStyle/>
          <a:p>
            <a:pPr lvl="0">
              <a:defRPr/>
            </a:pPr>
            <a:r>
              <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rPr>
              <a:t>SYMPHONY System Overview</a:t>
            </a:r>
            <a:endPar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endParaRPr>
          </a:p>
        </p:txBody>
      </p:sp>
      <p:cxnSp>
        <p:nvCxnSpPr>
          <p:cNvPr id="11" name="直接连接符 34"/>
          <p:cNvCxnSpPr/>
          <p:nvPr/>
        </p:nvCxnSpPr>
        <p:spPr>
          <a:xfrm>
            <a:off x="1052389" y="1134291"/>
            <a:ext cx="11139611" cy="0"/>
          </a:xfrm>
          <a:prstGeom prst="line">
            <a:avLst/>
          </a:prstGeom>
          <a:ln>
            <a:solidFill>
              <a:srgbClr val="05489B"/>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483" y="1134291"/>
            <a:ext cx="1064872" cy="0"/>
          </a:xfrm>
          <a:prstGeom prst="line">
            <a:avLst/>
          </a:prstGeom>
          <a:ln w="57150">
            <a:solidFill>
              <a:srgbClr val="05489B"/>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052830" y="5666740"/>
            <a:ext cx="9803765" cy="439420"/>
          </a:xfrm>
          <a:prstGeom prst="rect">
            <a:avLst/>
          </a:prstGeom>
        </p:spPr>
        <p:txBody>
          <a:bodyPr wrap="square">
            <a:noAutofit/>
          </a:bodyPr>
          <a:p>
            <a:pPr algn="just"/>
            <a:r>
              <a:rPr lang="en-US" altLang="zh-CN">
                <a:latin typeface="Times New Roman" panose="02020603050405020304" pitchFamily="18" charset="0"/>
                <a:cs typeface="Times New Roman" panose="02020603050405020304" pitchFamily="18" charset="0"/>
              </a:rPr>
              <a:t>Pool-wise Memory Sharing</a:t>
            </a:r>
            <a:r>
              <a:rPr lang="zh-CN" altLang="en-US">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rPr>
              <a:t>When an exploration path fails, an agent generates a natural language reflection detailing the root cause. This insight is stored in a global memory pool and broadcasted as context (via prompt) to all heterogeneous agents during subsequent planning.</a:t>
            </a:r>
            <a:endParaRPr lang="zh-CN" altLang="en-US">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1221105" y="1185545"/>
            <a:ext cx="9467850" cy="442976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86613" y="119016"/>
            <a:ext cx="2693670" cy="9124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rPr>
              <a:t>Outline</a:t>
            </a:r>
            <a:endParaRPr kumimoji="0" lang="zh-CN" altLang="en-US"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9" name="文本框 8"/>
          <p:cNvSpPr txBox="1"/>
          <p:nvPr/>
        </p:nvSpPr>
        <p:spPr>
          <a:xfrm>
            <a:off x="462803" y="229077"/>
            <a:ext cx="11265647" cy="748030"/>
          </a:xfrm>
          <a:prstGeom prst="rect">
            <a:avLst/>
          </a:prstGeom>
          <a:noFill/>
        </p:spPr>
        <p:txBody>
          <a:bodyPr vert="horz" wrap="square" rtlCol="0">
            <a:spAutoFit/>
          </a:bodyPr>
          <a:lstStyle/>
          <a:p>
            <a:pPr lvl="0">
              <a:defRPr/>
            </a:pPr>
            <a:r>
              <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rPr>
              <a:t>SYMPHONY System Overview</a:t>
            </a:r>
            <a:endPar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endParaRPr>
          </a:p>
        </p:txBody>
      </p:sp>
      <p:cxnSp>
        <p:nvCxnSpPr>
          <p:cNvPr id="11" name="直接连接符 34"/>
          <p:cNvCxnSpPr/>
          <p:nvPr/>
        </p:nvCxnSpPr>
        <p:spPr>
          <a:xfrm>
            <a:off x="1052389" y="1134291"/>
            <a:ext cx="11139611" cy="0"/>
          </a:xfrm>
          <a:prstGeom prst="line">
            <a:avLst/>
          </a:prstGeom>
          <a:ln>
            <a:solidFill>
              <a:srgbClr val="05489B"/>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483" y="1134291"/>
            <a:ext cx="1064872" cy="0"/>
          </a:xfrm>
          <a:prstGeom prst="line">
            <a:avLst/>
          </a:prstGeom>
          <a:ln w="57150">
            <a:solidFill>
              <a:srgbClr val="05489B"/>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052830" y="5666740"/>
            <a:ext cx="9803765" cy="439420"/>
          </a:xfrm>
          <a:prstGeom prst="rect">
            <a:avLst/>
          </a:prstGeom>
        </p:spPr>
        <p:txBody>
          <a:bodyPr wrap="square">
            <a:noAutofit/>
          </a:bodyPr>
          <a:p>
            <a:pPr algn="just"/>
            <a:r>
              <a:rPr lang="en-US" altLang="zh-CN">
                <a:latin typeface="Times New Roman" panose="02020603050405020304" pitchFamily="18" charset="0"/>
                <a:cs typeface="Times New Roman" panose="02020603050405020304" pitchFamily="18" charset="0"/>
              </a:rPr>
              <a:t>Heterogeneous Agent Pool:To overcome the homogenous reasoning patterns inherent in single-model paradigms, SYMPHONY maintains a diverse pool of large language models (LLMs) characterized by distinct pre-training backgrounds and reasoning styles. During the tree expansion phase, different models are scheduled to generate candidate actions for the same state.</a:t>
            </a:r>
            <a:endParaRPr lang="en-US" altLang="zh-CN">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1221105" y="1185545"/>
            <a:ext cx="9467850" cy="442976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86613" y="119016"/>
            <a:ext cx="2693670" cy="9124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rPr>
              <a:t>Outline</a:t>
            </a:r>
            <a:endParaRPr kumimoji="0" lang="zh-CN" altLang="en-US"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9" name="文本框 8"/>
          <p:cNvSpPr txBox="1"/>
          <p:nvPr/>
        </p:nvSpPr>
        <p:spPr>
          <a:xfrm>
            <a:off x="462803" y="229077"/>
            <a:ext cx="11265647" cy="748030"/>
          </a:xfrm>
          <a:prstGeom prst="rect">
            <a:avLst/>
          </a:prstGeom>
          <a:noFill/>
        </p:spPr>
        <p:txBody>
          <a:bodyPr vert="horz" wrap="square" rtlCol="0">
            <a:spAutoFit/>
          </a:bodyPr>
          <a:lstStyle/>
          <a:p>
            <a:pPr lvl="0">
              <a:defRPr/>
            </a:pPr>
            <a:r>
              <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rPr>
              <a:t>SYMPHONY System Overview</a:t>
            </a:r>
            <a:endPar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endParaRPr>
          </a:p>
        </p:txBody>
      </p:sp>
      <p:cxnSp>
        <p:nvCxnSpPr>
          <p:cNvPr id="11" name="直接连接符 34"/>
          <p:cNvCxnSpPr/>
          <p:nvPr/>
        </p:nvCxnSpPr>
        <p:spPr>
          <a:xfrm>
            <a:off x="1052389" y="1134291"/>
            <a:ext cx="11139611" cy="0"/>
          </a:xfrm>
          <a:prstGeom prst="line">
            <a:avLst/>
          </a:prstGeom>
          <a:ln>
            <a:solidFill>
              <a:srgbClr val="05489B"/>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483" y="1134291"/>
            <a:ext cx="1064872" cy="0"/>
          </a:xfrm>
          <a:prstGeom prst="line">
            <a:avLst/>
          </a:prstGeom>
          <a:ln w="57150">
            <a:solidFill>
              <a:srgbClr val="05489B"/>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052830" y="5880735"/>
            <a:ext cx="9803765" cy="439420"/>
          </a:xfrm>
          <a:prstGeom prst="rect">
            <a:avLst/>
          </a:prstGeom>
        </p:spPr>
        <p:txBody>
          <a:bodyPr wrap="square">
            <a:noAutofit/>
          </a:bodyPr>
          <a:p>
            <a:pPr algn="just"/>
            <a:r>
              <a:rPr lang="en-US" altLang="zh-CN">
                <a:latin typeface="Times New Roman" panose="02020603050405020304" pitchFamily="18" charset="0"/>
                <a:cs typeface="Times New Roman" panose="02020603050405020304" pitchFamily="18" charset="0"/>
              </a:rPr>
              <a:t>Agent Scheduling</a:t>
            </a:r>
            <a:r>
              <a:rPr lang="zh-CN" altLang="en-US">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a:p>
            <a:pPr algn="just"/>
            <a:endParaRPr lang="en-US" altLang="zh-CN">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1221105" y="1185545"/>
            <a:ext cx="9467850" cy="4429760"/>
          </a:xfrm>
          <a:prstGeom prst="rect">
            <a:avLst/>
          </a:prstGeom>
        </p:spPr>
      </p:pic>
      <p:graphicFrame>
        <p:nvGraphicFramePr>
          <p:cNvPr id="3" name="对象 2">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2" imgW="114300" imgH="215900" progId="Equation.KSEE3">
                  <p:embed/>
                </p:oleObj>
              </mc:Choice>
              <mc:Fallback>
                <p:oleObj name="" r:id="rId2" imgW="114300" imgH="215900" progId="Equation.KSEE3">
                  <p:embed/>
                  <p:pic>
                    <p:nvPicPr>
                      <p:cNvPr id="0" name="图片 1024"/>
                      <p:cNvPicPr/>
                      <p:nvPr/>
                    </p:nvPicPr>
                    <p:blipFill>
                      <a:blip r:embed="rId3"/>
                      <a:stretch>
                        <a:fillRect/>
                      </a:stretch>
                    </p:blipFill>
                    <p:spPr>
                      <a:xfrm>
                        <a:off x="6038850" y="3321050"/>
                        <a:ext cx="114300" cy="215900"/>
                      </a:xfrm>
                      <a:prstGeom prst="rect">
                        <a:avLst/>
                      </a:prstGeom>
                    </p:spPr>
                  </p:pic>
                </p:oleObj>
              </mc:Fallback>
            </mc:AlternateContent>
          </a:graphicData>
        </a:graphic>
      </p:graphicFrame>
      <p:pic>
        <p:nvPicPr>
          <p:cNvPr id="14" name="图片 13"/>
          <p:cNvPicPr>
            <a:picLocks noChangeAspect="1"/>
          </p:cNvPicPr>
          <p:nvPr/>
        </p:nvPicPr>
        <p:blipFill>
          <a:blip r:embed="rId4"/>
          <a:stretch>
            <a:fillRect/>
          </a:stretch>
        </p:blipFill>
        <p:spPr>
          <a:xfrm>
            <a:off x="3001645" y="5666740"/>
            <a:ext cx="5124450" cy="1007110"/>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86613" y="119016"/>
            <a:ext cx="2693670" cy="9124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rPr>
              <a:t>Outline</a:t>
            </a:r>
            <a:endParaRPr kumimoji="0" lang="zh-CN" altLang="en-US"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9" name="文本框 8"/>
          <p:cNvSpPr txBox="1"/>
          <p:nvPr/>
        </p:nvSpPr>
        <p:spPr>
          <a:xfrm>
            <a:off x="462803" y="229077"/>
            <a:ext cx="11265647" cy="748030"/>
          </a:xfrm>
          <a:prstGeom prst="rect">
            <a:avLst/>
          </a:prstGeom>
          <a:noFill/>
        </p:spPr>
        <p:txBody>
          <a:bodyPr vert="horz" wrap="square" rtlCol="0">
            <a:spAutoFit/>
          </a:bodyPr>
          <a:lstStyle/>
          <a:p>
            <a:pPr lvl="0">
              <a:defRPr/>
            </a:pPr>
            <a:r>
              <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rPr>
              <a:t>SYMPHONY System Overview</a:t>
            </a:r>
            <a:endPar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endParaRPr>
          </a:p>
        </p:txBody>
      </p:sp>
      <p:cxnSp>
        <p:nvCxnSpPr>
          <p:cNvPr id="11" name="直接连接符 34"/>
          <p:cNvCxnSpPr/>
          <p:nvPr/>
        </p:nvCxnSpPr>
        <p:spPr>
          <a:xfrm>
            <a:off x="1052389" y="1134291"/>
            <a:ext cx="11139611" cy="0"/>
          </a:xfrm>
          <a:prstGeom prst="line">
            <a:avLst/>
          </a:prstGeom>
          <a:ln>
            <a:solidFill>
              <a:srgbClr val="05489B"/>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483" y="1134291"/>
            <a:ext cx="1064872" cy="0"/>
          </a:xfrm>
          <a:prstGeom prst="line">
            <a:avLst/>
          </a:prstGeom>
          <a:ln w="57150">
            <a:solidFill>
              <a:srgbClr val="05489B"/>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1"/>
          <a:stretch>
            <a:fillRect/>
          </a:stretch>
        </p:blipFill>
        <p:spPr>
          <a:xfrm>
            <a:off x="1221105" y="1185545"/>
            <a:ext cx="9467850" cy="4429760"/>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86613" y="119016"/>
            <a:ext cx="2693670" cy="9124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rPr>
              <a:t>Outline</a:t>
            </a:r>
            <a:endParaRPr kumimoji="0" lang="zh-CN" altLang="en-US"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9" name="文本框 8"/>
          <p:cNvSpPr txBox="1"/>
          <p:nvPr/>
        </p:nvSpPr>
        <p:spPr>
          <a:xfrm>
            <a:off x="462803" y="229077"/>
            <a:ext cx="11265647" cy="748030"/>
          </a:xfrm>
          <a:prstGeom prst="rect">
            <a:avLst/>
          </a:prstGeom>
          <a:noFill/>
        </p:spPr>
        <p:txBody>
          <a:bodyPr vert="horz" wrap="square" rtlCol="0">
            <a:spAutoFit/>
          </a:bodyPr>
          <a:lstStyle/>
          <a:p>
            <a:pPr lvl="0">
              <a:defRPr/>
            </a:pPr>
            <a:r>
              <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rPr>
              <a:t>Experiment Settings</a:t>
            </a:r>
            <a:endPar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endParaRPr>
          </a:p>
        </p:txBody>
      </p:sp>
      <p:cxnSp>
        <p:nvCxnSpPr>
          <p:cNvPr id="11" name="直接连接符 34"/>
          <p:cNvCxnSpPr/>
          <p:nvPr/>
        </p:nvCxnSpPr>
        <p:spPr>
          <a:xfrm>
            <a:off x="1052389" y="1134291"/>
            <a:ext cx="11139611" cy="0"/>
          </a:xfrm>
          <a:prstGeom prst="line">
            <a:avLst/>
          </a:prstGeom>
          <a:ln>
            <a:solidFill>
              <a:srgbClr val="05489B"/>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483" y="1134291"/>
            <a:ext cx="1064872" cy="0"/>
          </a:xfrm>
          <a:prstGeom prst="line">
            <a:avLst/>
          </a:prstGeom>
          <a:ln w="57150">
            <a:solidFill>
              <a:srgbClr val="05489B"/>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462915" y="2365375"/>
            <a:ext cx="10393680" cy="2332990"/>
          </a:xfrm>
          <a:prstGeom prst="rect">
            <a:avLst/>
          </a:prstGeom>
        </p:spPr>
        <p:txBody>
          <a:bodyPr wrap="square">
            <a:noAutofit/>
          </a:bodyPr>
          <a:p>
            <a:pPr algn="just"/>
            <a:r>
              <a:rPr lang="en-US" altLang="zh-CN">
                <a:latin typeface="Times New Roman" panose="02020603050405020304" pitchFamily="18" charset="0"/>
                <a:cs typeface="Times New Roman" panose="02020603050405020304" pitchFamily="18" charset="0"/>
              </a:rPr>
              <a:t>SYMPHONY supports flexible agent composition and is compatible with a range of language models under different computational constraints. We evaluate two deployment configurations: SYMPHONY-S, designed for consumer-grade hardware, and SYMPHONY-L, which leverages large-scale foundation models via cloud-based APIs.</a:t>
            </a:r>
            <a:endParaRPr lang="en-US" altLang="zh-CN">
              <a:latin typeface="Times New Roman" panose="02020603050405020304" pitchFamily="18" charset="0"/>
              <a:cs typeface="Times New Roman" panose="02020603050405020304" pitchFamily="18" charset="0"/>
            </a:endParaRPr>
          </a:p>
          <a:p>
            <a:pPr algn="just"/>
            <a:endParaRPr lang="en-US" altLang="zh-CN">
              <a:latin typeface="Times New Roman" panose="02020603050405020304" pitchFamily="18" charset="0"/>
              <a:cs typeface="Times New Roman" panose="02020603050405020304" pitchFamily="18" charset="0"/>
            </a:endParaRPr>
          </a:p>
          <a:p>
            <a:pPr algn="just"/>
            <a:r>
              <a:rPr lang="en-US" altLang="zh-CN">
                <a:latin typeface="Times New Roman" panose="02020603050405020304" pitchFamily="18" charset="0"/>
                <a:cs typeface="Times New Roman" panose="02020603050405020304" pitchFamily="18" charset="0"/>
              </a:rPr>
              <a:t>SYMPHONY-S comprises open-source models that can be executed locally, including Qwen2.5-7B-Instruct-1M, Mistral-7B-Instruct-v0.3, and Llama-3.1-8B-Instruct. This configuration supports efficient inference with minimal deployment cost. In contrast, SYMPHONY-L comprises high-performance models: GPT-4, Qwen-Max (2024-09-19), and DeepSeek-V3 (2025-03-24) , which operate through API endpoints within inference-as-a-service infrastructures.</a:t>
            </a:r>
            <a:endParaRPr lang="en-US" altLang="zh-CN">
              <a:latin typeface="Times New Roman" panose="02020603050405020304" pitchFamily="18" charset="0"/>
              <a:cs typeface="Times New Roman" panose="02020603050405020304" pitchFamily="18" charset="0"/>
            </a:endParaRPr>
          </a:p>
          <a:p>
            <a:pPr algn="just"/>
            <a:endParaRPr lang="en-US" altLang="zh-CN">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86613" y="119016"/>
            <a:ext cx="2693670" cy="9124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rPr>
              <a:t>Outline</a:t>
            </a:r>
            <a:endParaRPr kumimoji="0" lang="zh-CN" altLang="en-US"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9" name="文本框 8"/>
          <p:cNvSpPr txBox="1"/>
          <p:nvPr/>
        </p:nvSpPr>
        <p:spPr>
          <a:xfrm>
            <a:off x="462803" y="229077"/>
            <a:ext cx="11265647" cy="748030"/>
          </a:xfrm>
          <a:prstGeom prst="rect">
            <a:avLst/>
          </a:prstGeom>
          <a:noFill/>
        </p:spPr>
        <p:txBody>
          <a:bodyPr vert="horz" wrap="square" rtlCol="0">
            <a:spAutoFit/>
          </a:bodyPr>
          <a:lstStyle/>
          <a:p>
            <a:pPr lvl="0">
              <a:defRPr/>
            </a:pPr>
            <a:r>
              <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rPr>
              <a:t>Experiments</a:t>
            </a:r>
            <a:endPar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endParaRPr>
          </a:p>
        </p:txBody>
      </p:sp>
      <p:cxnSp>
        <p:nvCxnSpPr>
          <p:cNvPr id="11" name="直接连接符 34"/>
          <p:cNvCxnSpPr/>
          <p:nvPr/>
        </p:nvCxnSpPr>
        <p:spPr>
          <a:xfrm>
            <a:off x="1052389" y="1134291"/>
            <a:ext cx="11139611" cy="0"/>
          </a:xfrm>
          <a:prstGeom prst="line">
            <a:avLst/>
          </a:prstGeom>
          <a:ln>
            <a:solidFill>
              <a:srgbClr val="05489B"/>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483" y="1134291"/>
            <a:ext cx="1064872" cy="0"/>
          </a:xfrm>
          <a:prstGeom prst="line">
            <a:avLst/>
          </a:prstGeom>
          <a:ln w="57150">
            <a:solidFill>
              <a:srgbClr val="05489B"/>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052195" y="5974715"/>
            <a:ext cx="9838055" cy="515620"/>
          </a:xfrm>
          <a:prstGeom prst="rect">
            <a:avLst/>
          </a:prstGeom>
        </p:spPr>
        <p:txBody>
          <a:bodyPr wrap="square">
            <a:noAutofit/>
          </a:bodyPr>
          <a:p>
            <a:pPr algn="just"/>
            <a:r>
              <a:rPr lang="en-US" altLang="zh-CN">
                <a:latin typeface="Times New Roman" panose="02020603050405020304" pitchFamily="18" charset="0"/>
                <a:cs typeface="Times New Roman" panose="02020603050405020304" pitchFamily="18" charset="0"/>
              </a:rPr>
              <a:t>Note: Metrics are normalized to the [0,1] range; A dash (–) marks those not reported in the publication.</a:t>
            </a:r>
            <a:endParaRPr lang="zh-CN" altLang="en-US">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1052195" y="1692275"/>
            <a:ext cx="9591675" cy="3724275"/>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86613" y="119016"/>
            <a:ext cx="2693670" cy="9124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rPr>
              <a:t>Outline</a:t>
            </a:r>
            <a:endParaRPr kumimoji="0" lang="zh-CN" altLang="en-US"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9" name="文本框 8"/>
          <p:cNvSpPr txBox="1"/>
          <p:nvPr/>
        </p:nvSpPr>
        <p:spPr>
          <a:xfrm>
            <a:off x="462803" y="229077"/>
            <a:ext cx="11265647" cy="748030"/>
          </a:xfrm>
          <a:prstGeom prst="rect">
            <a:avLst/>
          </a:prstGeom>
          <a:noFill/>
        </p:spPr>
        <p:txBody>
          <a:bodyPr vert="horz" wrap="square" rtlCol="0">
            <a:spAutoFit/>
          </a:bodyPr>
          <a:lstStyle/>
          <a:p>
            <a:pPr lvl="0">
              <a:defRPr/>
            </a:pPr>
            <a:r>
              <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rPr>
              <a:t>Diversity Analysis</a:t>
            </a:r>
            <a:endPar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endParaRPr>
          </a:p>
        </p:txBody>
      </p:sp>
      <p:cxnSp>
        <p:nvCxnSpPr>
          <p:cNvPr id="11" name="直接连接符 34"/>
          <p:cNvCxnSpPr/>
          <p:nvPr/>
        </p:nvCxnSpPr>
        <p:spPr>
          <a:xfrm>
            <a:off x="1052389" y="1134291"/>
            <a:ext cx="11139611" cy="0"/>
          </a:xfrm>
          <a:prstGeom prst="line">
            <a:avLst/>
          </a:prstGeom>
          <a:ln>
            <a:solidFill>
              <a:srgbClr val="05489B"/>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483" y="1134291"/>
            <a:ext cx="1064872" cy="0"/>
          </a:xfrm>
          <a:prstGeom prst="line">
            <a:avLst/>
          </a:prstGeom>
          <a:ln w="57150">
            <a:solidFill>
              <a:srgbClr val="05489B"/>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370330" y="5655945"/>
            <a:ext cx="9249410" cy="947420"/>
          </a:xfrm>
          <a:prstGeom prst="rect">
            <a:avLst/>
          </a:prstGeom>
        </p:spPr>
        <p:txBody>
          <a:bodyPr wrap="square">
            <a:noAutofit/>
          </a:bodyPr>
          <a:p>
            <a:pPr algn="just"/>
            <a:r>
              <a:rPr lang="en-US" altLang="zh-CN">
                <a:latin typeface="Times New Roman" panose="02020603050405020304" pitchFamily="18" charset="0"/>
                <a:cs typeface="Times New Roman" panose="02020603050405020304" pitchFamily="18" charset="0"/>
              </a:rPr>
              <a:t>Figure 2: Branch Diversity vs. Task Performance. Bars and left y-axis shows the branch diversity, while lineplot and right y-axis shows the task performance.</a:t>
            </a:r>
            <a:endParaRPr lang="zh-CN" altLang="en-US">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1370330" y="1290955"/>
            <a:ext cx="9248775" cy="4105275"/>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86613" y="119016"/>
            <a:ext cx="2693670" cy="9124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rPr>
              <a:t>Outline</a:t>
            </a:r>
            <a:endParaRPr kumimoji="0" lang="zh-CN" altLang="en-US" sz="533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9" name="文本框 8"/>
          <p:cNvSpPr txBox="1"/>
          <p:nvPr/>
        </p:nvSpPr>
        <p:spPr>
          <a:xfrm>
            <a:off x="462803" y="229077"/>
            <a:ext cx="11265647" cy="748030"/>
          </a:xfrm>
          <a:prstGeom prst="rect">
            <a:avLst/>
          </a:prstGeom>
          <a:noFill/>
        </p:spPr>
        <p:txBody>
          <a:bodyPr vert="horz" wrap="square" rtlCol="0">
            <a:spAutoFit/>
          </a:bodyPr>
          <a:lstStyle/>
          <a:p>
            <a:pPr lvl="0">
              <a:defRPr/>
            </a:pPr>
            <a:r>
              <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rPr>
              <a:t>Efficiency and Cost</a:t>
            </a:r>
            <a:endParaRPr lang="en-US" altLang="zh-CN" sz="4265" b="1" dirty="0">
              <a:solidFill>
                <a:srgbClr val="00489A"/>
              </a:solidFill>
              <a:latin typeface="微软雅黑" panose="020B0503020204020204" charset="-122"/>
              <a:ea typeface="微软雅黑" panose="020B0503020204020204" charset="-122"/>
              <a:sym typeface="Source Han Serif SC" panose="02020400000000000000" pitchFamily="18" charset="-122"/>
            </a:endParaRPr>
          </a:p>
        </p:txBody>
      </p:sp>
      <p:cxnSp>
        <p:nvCxnSpPr>
          <p:cNvPr id="11" name="直接连接符 34"/>
          <p:cNvCxnSpPr/>
          <p:nvPr/>
        </p:nvCxnSpPr>
        <p:spPr>
          <a:xfrm>
            <a:off x="1052389" y="1134291"/>
            <a:ext cx="11139611" cy="0"/>
          </a:xfrm>
          <a:prstGeom prst="line">
            <a:avLst/>
          </a:prstGeom>
          <a:ln>
            <a:solidFill>
              <a:srgbClr val="05489B"/>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483" y="1134291"/>
            <a:ext cx="1064872" cy="0"/>
          </a:xfrm>
          <a:prstGeom prst="line">
            <a:avLst/>
          </a:prstGeom>
          <a:ln w="57150">
            <a:solidFill>
              <a:srgbClr val="05489B"/>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462915" y="5273675"/>
            <a:ext cx="5132070" cy="647700"/>
          </a:xfrm>
          <a:prstGeom prst="rect">
            <a:avLst/>
          </a:prstGeom>
        </p:spPr>
        <p:txBody>
          <a:bodyPr wrap="square">
            <a:noAutofit/>
          </a:bodyPr>
          <a:p>
            <a:pPr algn="just"/>
            <a:r>
              <a:rPr lang="en-US" altLang="zh-CN">
                <a:latin typeface="Times New Roman" panose="02020603050405020304" pitchFamily="18" charset="0"/>
                <a:cs typeface="Times New Roman" panose="02020603050405020304" pitchFamily="18" charset="0"/>
              </a:rPr>
              <a:t>Table 4: Comparison of the search tree size on HotpotQA.</a:t>
            </a:r>
            <a:endParaRPr lang="zh-CN" altLang="en-US">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374650" y="1864995"/>
            <a:ext cx="5400675" cy="2924175"/>
          </a:xfrm>
          <a:prstGeom prst="rect">
            <a:avLst/>
          </a:prstGeom>
        </p:spPr>
      </p:pic>
      <p:pic>
        <p:nvPicPr>
          <p:cNvPr id="3" name="图片 2"/>
          <p:cNvPicPr>
            <a:picLocks noChangeAspect="1"/>
          </p:cNvPicPr>
          <p:nvPr/>
        </p:nvPicPr>
        <p:blipFill>
          <a:blip r:embed="rId2"/>
          <a:stretch>
            <a:fillRect/>
          </a:stretch>
        </p:blipFill>
        <p:spPr>
          <a:xfrm>
            <a:off x="6216015" y="1864995"/>
            <a:ext cx="5779135" cy="2838450"/>
          </a:xfrm>
          <a:prstGeom prst="rect">
            <a:avLst/>
          </a:prstGeom>
        </p:spPr>
      </p:pic>
      <p:sp>
        <p:nvSpPr>
          <p:cNvPr id="4" name="文本框 3"/>
          <p:cNvSpPr txBox="1"/>
          <p:nvPr/>
        </p:nvSpPr>
        <p:spPr>
          <a:xfrm>
            <a:off x="6216015" y="5147945"/>
            <a:ext cx="5938520" cy="1476375"/>
          </a:xfrm>
          <a:prstGeom prst="rect">
            <a:avLst/>
          </a:prstGeom>
          <a:noFill/>
        </p:spPr>
        <p:txBody>
          <a:bodyPr wrap="square" rtlCol="0" anchor="t">
            <a:spAutoFit/>
          </a:bodyPr>
          <a:p>
            <a:pPr algn="just"/>
            <a:r>
              <a:rPr lang="en-US" altLang="zh-CN">
                <a:latin typeface="Times New Roman" panose="02020603050405020304" pitchFamily="18" charset="0"/>
                <a:ea typeface="宋体" panose="02010600030101010101" pitchFamily="2" charset="-122"/>
                <a:cs typeface="Times New Roman" panose="02020603050405020304" pitchFamily="18" charset="0"/>
              </a:rPr>
              <a:t>Table 6: Comparison of average token consumption per question and task performance on HotpotQA. SYMPHONY achieves the highest task accuracy while incurring the lowest token cost, effectively mitigating the computational overhead of tree-structured reasoning.</a:t>
            </a: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4232</Words>
  <Application>WPS 演示</Application>
  <PresentationFormat>宽屏</PresentationFormat>
  <Paragraphs>93</Paragraphs>
  <Slides>12</Slides>
  <Notes>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12</vt:i4>
      </vt:variant>
    </vt:vector>
  </HeadingPairs>
  <TitlesOfParts>
    <vt:vector size="25" baseType="lpstr">
      <vt:lpstr>Arial</vt:lpstr>
      <vt:lpstr>宋体</vt:lpstr>
      <vt:lpstr>Wingdings</vt:lpstr>
      <vt:lpstr>Wingdings</vt:lpstr>
      <vt:lpstr>Times New Roman</vt:lpstr>
      <vt:lpstr>等线</vt:lpstr>
      <vt:lpstr>微软雅黑</vt:lpstr>
      <vt:lpstr>Source Han Serif SC</vt:lpstr>
      <vt:lpstr>Cambria Math</vt:lpstr>
      <vt:lpstr>Arial Unicode MS</vt:lpstr>
      <vt:lpstr>Calibri</vt:lpstr>
      <vt:lpstr>WPS</vt:lpstr>
      <vt:lpstr>Equation.KSEE3</vt:lpstr>
      <vt:lpstr>SYMPHONY: Synergistic Multi-agent Planning with Heterogeneous Language Model Assembly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墨染</cp:lastModifiedBy>
  <cp:revision>159</cp:revision>
  <dcterms:created xsi:type="dcterms:W3CDTF">2019-06-19T02:08:00Z</dcterms:created>
  <dcterms:modified xsi:type="dcterms:W3CDTF">2026-03-22T05:36:40Z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559F185F56DF4A8A9FC5E40EAFCFFDD3_11</vt:lpwstr>
  </property>
</Properties>
</file>